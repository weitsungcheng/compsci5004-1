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5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2" r:id="rId31"/>
    <p:sldId id="290" r:id="rId32"/>
    <p:sldId id="291" r:id="rId33"/>
    <p:sldId id="293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20"/>
  </p:normalViewPr>
  <p:slideViewPr>
    <p:cSldViewPr>
      <p:cViewPr varScale="1">
        <p:scale>
          <a:sx n="97" d="100"/>
          <a:sy n="97" d="100"/>
        </p:scale>
        <p:origin x="78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EAA1B-E5FE-47E3-BE41-71802FFB2CED}" type="datetimeFigureOut">
              <a:rPr lang="en-GB" smtClean="0"/>
              <a:t>16/03/2023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B9EF70-8062-433E-90DE-DF72B60A81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6653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FE0FF-947A-4287-BCBD-5C393F52AC8F}" type="datetime1">
              <a:rPr lang="en-US" smtClean="0"/>
              <a:t>3/16/23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F7849-A743-4F0D-90B4-382E4BF63E7C}" type="datetime1">
              <a:rPr lang="en-US" smtClean="0"/>
              <a:t>3/16/23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5488-08E4-419B-B4BE-9E5B2BC698D6}" type="datetime1">
              <a:rPr lang="en-US" smtClean="0"/>
              <a:t>3/16/23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B12BA-2DDB-4C11-B6AB-8C41B9C1B846}" type="datetime1">
              <a:rPr lang="en-US" smtClean="0"/>
              <a:t>3/16/23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5A504-C747-48FA-A969-DC352BCE564A}" type="datetime1">
              <a:rPr lang="en-US" smtClean="0"/>
              <a:t>3/16/23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A336-B5E7-4D51-BDEE-3B4DCDF17D3A}" type="datetime1">
              <a:rPr lang="en-US" smtClean="0"/>
              <a:t>3/16/23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6EDFE-E587-4F6C-93FF-2D24FB6BBFE3}" type="datetime1">
              <a:rPr lang="en-US" smtClean="0"/>
              <a:t>3/16/23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72DC-DDEB-43FB-80B4-6E6E8346740A}" type="datetime1">
              <a:rPr lang="en-US" smtClean="0"/>
              <a:t>3/16/23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22E40-0A3B-41FE-9BA0-49560738553A}" type="datetime1">
              <a:rPr lang="en-US" smtClean="0"/>
              <a:t>3/16/23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060A5-AE21-490A-B50A-4174735A8ADE}" type="datetime1">
              <a:rPr lang="en-US" smtClean="0"/>
              <a:t>3/16/23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D7398-942A-4BA6-A66D-F1B8C7CB2793}" type="datetime1">
              <a:rPr lang="en-US" smtClean="0"/>
              <a:t>3/16/23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6675" y="188913"/>
            <a:ext cx="6142038" cy="7191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47813" y="1700213"/>
            <a:ext cx="3522662" cy="4621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2875" y="1700213"/>
            <a:ext cx="3522663" cy="4621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681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5C31B534-816C-4D09-8B3E-6175E11BD82D}" type="datetime1">
              <a:rPr lang="en-US" smtClean="0"/>
              <a:t>3/16/23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68196" y="908050"/>
            <a:ext cx="8280400" cy="1295400"/>
          </a:xfrm>
        </p:spPr>
        <p:txBody>
          <a:bodyPr/>
          <a:lstStyle/>
          <a:p>
            <a:pPr algn="ctr" eaLnBrk="1" hangingPunct="1"/>
            <a:r>
              <a:rPr lang="en-GB" altLang="en-US" sz="3600" dirty="0">
                <a:solidFill>
                  <a:schemeClr val="folHlink"/>
                </a:solidFill>
              </a:rPr>
              <a:t>12.  Hash-Table Data Structures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95626" y="3657600"/>
            <a:ext cx="8245475" cy="3638550"/>
          </a:xfrm>
        </p:spPr>
        <p:txBody>
          <a:bodyPr/>
          <a:lstStyle/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Hash-table principles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Searching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Insertion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Deletion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Hash-table design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Implementations of sets and maps using hash-tables</a:t>
            </a:r>
            <a:endParaRPr lang="en-GB" altLang="en-US" sz="2400" dirty="0"/>
          </a:p>
        </p:txBody>
      </p:sp>
      <p:sp>
        <p:nvSpPr>
          <p:cNvPr id="3076" name="Rectangle 5"/>
          <p:cNvSpPr>
            <a:spLocks noChangeArrowheads="1"/>
          </p:cNvSpPr>
          <p:nvPr/>
        </p:nvSpPr>
        <p:spPr bwMode="auto">
          <a:xfrm>
            <a:off x="1908175" y="6380163"/>
            <a:ext cx="5256213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GB" altLang="en-US" sz="2000">
                <a:solidFill>
                  <a:schemeClr val="bg1"/>
                </a:solidFill>
                <a:cs typeface="Arial" charset="0"/>
              </a:rPr>
              <a:t>© 2008 David A Watt, University of Glasgow</a:t>
            </a:r>
          </a:p>
        </p:txBody>
      </p:sp>
      <p:sp>
        <p:nvSpPr>
          <p:cNvPr id="3077" name="Rectangle 6"/>
          <p:cNvSpPr>
            <a:spLocks noChangeArrowheads="1"/>
          </p:cNvSpPr>
          <p:nvPr/>
        </p:nvSpPr>
        <p:spPr bwMode="auto">
          <a:xfrm>
            <a:off x="1870075" y="476250"/>
            <a:ext cx="39258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buFont typeface="Wingdings" pitchFamily="2" charset="2"/>
              <a:buNone/>
            </a:pPr>
            <a:r>
              <a:rPr lang="en-GB" altLang="en-US" sz="2000" dirty="0">
                <a:solidFill>
                  <a:schemeClr val="accent1">
                    <a:lumMod val="75000"/>
                  </a:schemeClr>
                </a:solidFill>
                <a:cs typeface="Arial" charset="0"/>
              </a:rPr>
              <a:t>Algorithms &amp; Data Structures (M)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908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Hash-table principles </a:t>
            </a:r>
            <a:r>
              <a:rPr lang="en-US" altLang="en-US" i="1"/>
              <a:t>(1)</a:t>
            </a:r>
            <a:endParaRPr lang="en-GB" altLang="en-US" i="1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If a map’s keys are small integers, we can represent the map by a key-indexed array. Search, insertion, and deletion are then </a:t>
            </a:r>
            <a:r>
              <a:rPr lang="en-US" altLang="en-US" i="1" dirty="0"/>
              <a:t>O</a:t>
            </a:r>
            <a:r>
              <a:rPr lang="en-US" altLang="en-US" dirty="0"/>
              <a:t>(1).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Surprisingly, we can approach this performance with keys of </a:t>
            </a:r>
            <a:r>
              <a:rPr lang="en-US" altLang="en-US" i="1" dirty="0"/>
              <a:t>any</a:t>
            </a:r>
            <a:r>
              <a:rPr lang="en-US" altLang="en-US" dirty="0"/>
              <a:t> type!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Idea: Translate each key to a small integer, and then use that integer to index an array. This is called </a:t>
            </a:r>
            <a:r>
              <a:rPr lang="en-US" altLang="en-US" b="1" dirty="0"/>
              <a:t>hashing</a:t>
            </a:r>
            <a:r>
              <a:rPr lang="en-US" altLang="en-US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A </a:t>
            </a:r>
            <a:r>
              <a:rPr lang="en-US" altLang="en-US" b="1" dirty="0"/>
              <a:t>hash-table</a:t>
            </a:r>
            <a:r>
              <a:rPr lang="en-US" altLang="en-US" dirty="0"/>
              <a:t> is an array of </a:t>
            </a:r>
            <a:r>
              <a:rPr lang="en-US" altLang="en-US" i="1" dirty="0"/>
              <a:t>m</a:t>
            </a:r>
            <a:r>
              <a:rPr lang="en-US" altLang="en-US" dirty="0"/>
              <a:t> </a:t>
            </a:r>
            <a:r>
              <a:rPr lang="en-US" altLang="en-US" b="1" dirty="0"/>
              <a:t>buckets</a:t>
            </a:r>
            <a:r>
              <a:rPr lang="en-US" altLang="en-US" dirty="0"/>
              <a:t>, together with a </a:t>
            </a:r>
            <a:r>
              <a:rPr lang="en-US" altLang="en-US" b="1" dirty="0"/>
              <a:t>hash function</a:t>
            </a:r>
            <a:r>
              <a:rPr lang="en-US" altLang="en-US" dirty="0"/>
              <a:t> </a:t>
            </a:r>
            <a:r>
              <a:rPr lang="en-US" altLang="en-US" i="1" dirty="0"/>
              <a:t>hash</a:t>
            </a:r>
            <a:r>
              <a:rPr lang="en-US" altLang="en-US" dirty="0"/>
              <a:t>(</a:t>
            </a:r>
            <a:r>
              <a:rPr lang="en-US" altLang="en-US" i="1" dirty="0"/>
              <a:t>k</a:t>
            </a:r>
            <a:r>
              <a:rPr lang="en-US" altLang="en-US" dirty="0"/>
              <a:t>) that translates each key </a:t>
            </a:r>
            <a:r>
              <a:rPr lang="en-US" altLang="en-US" i="1" dirty="0"/>
              <a:t>k</a:t>
            </a:r>
            <a:r>
              <a:rPr lang="en-US" altLang="en-US" dirty="0"/>
              <a:t> to a bucket index (in range 0…</a:t>
            </a:r>
            <a:r>
              <a:rPr lang="en-US" altLang="en-US" i="1" dirty="0"/>
              <a:t>m</a:t>
            </a:r>
            <a:r>
              <a:rPr lang="en-US" altLang="en-US" dirty="0"/>
              <a:t>–1).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722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Hash-table principles </a:t>
            </a:r>
            <a:r>
              <a:rPr lang="en-US" altLang="en-US" i="1"/>
              <a:t>(2)</a:t>
            </a:r>
            <a:endParaRPr lang="en-GB" altLang="en-US" i="1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Illustration:</a:t>
            </a:r>
          </a:p>
        </p:txBody>
      </p:sp>
      <p:graphicFrame>
        <p:nvGraphicFramePr>
          <p:cNvPr id="404576" name="Group 96"/>
          <p:cNvGraphicFramePr>
            <a:graphicFrameLocks noGrp="1"/>
          </p:cNvGraphicFramePr>
          <p:nvPr/>
        </p:nvGraphicFramePr>
        <p:xfrm>
          <a:off x="1965325" y="2746375"/>
          <a:ext cx="1528763" cy="2267458"/>
        </p:xfrm>
        <a:graphic>
          <a:graphicData uri="http://schemas.openxmlformats.org/drawingml/2006/table">
            <a:tbl>
              <a:tblPr/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1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key</a:t>
                      </a:r>
                    </a:p>
                  </a:txBody>
                  <a:tcPr marT="45733" marB="45733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value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1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3" marB="45733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1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3" marB="45733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1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3" marB="45733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1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3" marB="45733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1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</a:t>
                      </a:r>
                      <a:r>
                        <a:rPr kumimoji="0" lang="en-GB" sz="20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</a:p>
                  </a:txBody>
                  <a:tcPr marT="45733" marB="45733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GB" sz="20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" name="Group 100"/>
          <p:cNvGrpSpPr>
            <a:grpSpLocks/>
          </p:cNvGrpSpPr>
          <p:nvPr/>
        </p:nvGrpSpPr>
        <p:grpSpPr bwMode="auto">
          <a:xfrm>
            <a:off x="5543550" y="1970088"/>
            <a:ext cx="2736850" cy="3690937"/>
            <a:chOff x="3492" y="1241"/>
            <a:chExt cx="1724" cy="2325"/>
          </a:xfrm>
        </p:grpSpPr>
        <p:sp>
          <p:nvSpPr>
            <p:cNvPr id="5160" name="Text Box 31"/>
            <p:cNvSpPr txBox="1">
              <a:spLocks noChangeAspect="1" noChangeArrowheads="1"/>
            </p:cNvSpPr>
            <p:nvPr/>
          </p:nvSpPr>
          <p:spPr bwMode="auto">
            <a:xfrm>
              <a:off x="3673" y="1769"/>
              <a:ext cx="183" cy="18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noProof="1"/>
                <a:t>0</a:t>
              </a:r>
            </a:p>
          </p:txBody>
        </p:sp>
        <p:sp>
          <p:nvSpPr>
            <p:cNvPr id="5161" name="Text Box 32"/>
            <p:cNvSpPr txBox="1">
              <a:spLocks noChangeAspect="1" noChangeArrowheads="1"/>
            </p:cNvSpPr>
            <p:nvPr/>
          </p:nvSpPr>
          <p:spPr bwMode="auto">
            <a:xfrm>
              <a:off x="3673" y="1952"/>
              <a:ext cx="183" cy="18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noProof="1"/>
                <a:t>1</a:t>
              </a:r>
            </a:p>
          </p:txBody>
        </p:sp>
        <p:sp>
          <p:nvSpPr>
            <p:cNvPr id="5162" name="Text Box 33"/>
            <p:cNvSpPr txBox="1">
              <a:spLocks noChangeAspect="1" noChangeArrowheads="1"/>
            </p:cNvSpPr>
            <p:nvPr/>
          </p:nvSpPr>
          <p:spPr bwMode="auto">
            <a:xfrm>
              <a:off x="3673" y="2134"/>
              <a:ext cx="183" cy="18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noProof="1"/>
                <a:t>2</a:t>
              </a:r>
            </a:p>
          </p:txBody>
        </p:sp>
        <p:sp>
          <p:nvSpPr>
            <p:cNvPr id="5163" name="Text Box 34"/>
            <p:cNvSpPr txBox="1">
              <a:spLocks noChangeAspect="1" noChangeArrowheads="1"/>
            </p:cNvSpPr>
            <p:nvPr/>
          </p:nvSpPr>
          <p:spPr bwMode="auto">
            <a:xfrm>
              <a:off x="3673" y="2317"/>
              <a:ext cx="183" cy="18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noProof="1"/>
                <a:t>3</a:t>
              </a:r>
            </a:p>
          </p:txBody>
        </p:sp>
        <p:sp>
          <p:nvSpPr>
            <p:cNvPr id="5164" name="Text Box 35"/>
            <p:cNvSpPr txBox="1">
              <a:spLocks noChangeAspect="1" noChangeArrowheads="1"/>
            </p:cNvSpPr>
            <p:nvPr/>
          </p:nvSpPr>
          <p:spPr bwMode="auto">
            <a:xfrm>
              <a:off x="3673" y="2499"/>
              <a:ext cx="183" cy="18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noProof="1"/>
                <a:t>4</a:t>
              </a:r>
            </a:p>
          </p:txBody>
        </p:sp>
        <p:sp>
          <p:nvSpPr>
            <p:cNvPr id="5165" name="Text Box 36"/>
            <p:cNvSpPr txBox="1">
              <a:spLocks noChangeAspect="1" noChangeArrowheads="1"/>
            </p:cNvSpPr>
            <p:nvPr/>
          </p:nvSpPr>
          <p:spPr bwMode="auto">
            <a:xfrm>
              <a:off x="3674" y="2682"/>
              <a:ext cx="182" cy="18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noProof="1"/>
                <a:t>5</a:t>
              </a:r>
            </a:p>
          </p:txBody>
        </p:sp>
        <p:sp>
          <p:nvSpPr>
            <p:cNvPr id="5166" name="Text Box 37"/>
            <p:cNvSpPr txBox="1">
              <a:spLocks noChangeAspect="1" noChangeArrowheads="1"/>
            </p:cNvSpPr>
            <p:nvPr/>
          </p:nvSpPr>
          <p:spPr bwMode="auto">
            <a:xfrm>
              <a:off x="3492" y="3326"/>
              <a:ext cx="363" cy="24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i="1" noProof="1"/>
                <a:t>m</a:t>
              </a:r>
              <a:r>
                <a:rPr lang="en-GB" altLang="en-US" sz="1800" noProof="1"/>
                <a:t>–1</a:t>
              </a:r>
            </a:p>
          </p:txBody>
        </p:sp>
        <p:sp>
          <p:nvSpPr>
            <p:cNvPr id="5167" name="Text Box 38"/>
            <p:cNvSpPr txBox="1">
              <a:spLocks noChangeAspect="1" noChangeArrowheads="1"/>
            </p:cNvSpPr>
            <p:nvPr/>
          </p:nvSpPr>
          <p:spPr bwMode="auto">
            <a:xfrm>
              <a:off x="3492" y="3095"/>
              <a:ext cx="363" cy="24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i="1" noProof="1"/>
                <a:t>m</a:t>
              </a:r>
              <a:r>
                <a:rPr lang="en-GB" altLang="en-US" sz="1800" noProof="1"/>
                <a:t>–2</a:t>
              </a:r>
            </a:p>
          </p:txBody>
        </p:sp>
        <p:sp>
          <p:nvSpPr>
            <p:cNvPr id="5168" name="Rectangle 39"/>
            <p:cNvSpPr>
              <a:spLocks noChangeArrowheads="1"/>
            </p:cNvSpPr>
            <p:nvPr/>
          </p:nvSpPr>
          <p:spPr bwMode="auto">
            <a:xfrm>
              <a:off x="3880" y="1926"/>
              <a:ext cx="456" cy="17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5169" name="Rectangle 40"/>
            <p:cNvSpPr>
              <a:spLocks noChangeArrowheads="1"/>
            </p:cNvSpPr>
            <p:nvPr/>
          </p:nvSpPr>
          <p:spPr bwMode="auto">
            <a:xfrm>
              <a:off x="3880" y="2098"/>
              <a:ext cx="456" cy="17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5170" name="Rectangle 41"/>
            <p:cNvSpPr>
              <a:spLocks noChangeArrowheads="1"/>
            </p:cNvSpPr>
            <p:nvPr/>
          </p:nvSpPr>
          <p:spPr bwMode="auto">
            <a:xfrm>
              <a:off x="3880" y="2270"/>
              <a:ext cx="456" cy="17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5171" name="Rectangle 42"/>
            <p:cNvSpPr>
              <a:spLocks noChangeArrowheads="1"/>
            </p:cNvSpPr>
            <p:nvPr/>
          </p:nvSpPr>
          <p:spPr bwMode="auto">
            <a:xfrm>
              <a:off x="3880" y="2442"/>
              <a:ext cx="456" cy="17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5172" name="Rectangle 43"/>
            <p:cNvSpPr>
              <a:spLocks noChangeArrowheads="1"/>
            </p:cNvSpPr>
            <p:nvPr/>
          </p:nvSpPr>
          <p:spPr bwMode="auto">
            <a:xfrm>
              <a:off x="3880" y="2614"/>
              <a:ext cx="456" cy="17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5173" name="Rectangle 44"/>
            <p:cNvSpPr>
              <a:spLocks noChangeArrowheads="1"/>
            </p:cNvSpPr>
            <p:nvPr/>
          </p:nvSpPr>
          <p:spPr bwMode="auto">
            <a:xfrm>
              <a:off x="3880" y="2786"/>
              <a:ext cx="456" cy="17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5174" name="Rectangle 45"/>
            <p:cNvSpPr>
              <a:spLocks noChangeArrowheads="1"/>
            </p:cNvSpPr>
            <p:nvPr/>
          </p:nvSpPr>
          <p:spPr bwMode="auto">
            <a:xfrm>
              <a:off x="3880" y="2958"/>
              <a:ext cx="456" cy="17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5175" name="Rectangle 46"/>
            <p:cNvSpPr>
              <a:spLocks noChangeArrowheads="1"/>
            </p:cNvSpPr>
            <p:nvPr/>
          </p:nvSpPr>
          <p:spPr bwMode="auto">
            <a:xfrm>
              <a:off x="3880" y="3130"/>
              <a:ext cx="456" cy="17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5176" name="Rectangle 47"/>
            <p:cNvSpPr>
              <a:spLocks noChangeArrowheads="1"/>
            </p:cNvSpPr>
            <p:nvPr/>
          </p:nvSpPr>
          <p:spPr bwMode="auto">
            <a:xfrm>
              <a:off x="3880" y="3302"/>
              <a:ext cx="456" cy="17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5177" name="Rectangle 48"/>
            <p:cNvSpPr>
              <a:spLocks noChangeArrowheads="1"/>
            </p:cNvSpPr>
            <p:nvPr/>
          </p:nvSpPr>
          <p:spPr bwMode="auto">
            <a:xfrm>
              <a:off x="3880" y="1754"/>
              <a:ext cx="456" cy="17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5178" name="Freeform 49"/>
            <p:cNvSpPr>
              <a:spLocks/>
            </p:cNvSpPr>
            <p:nvPr/>
          </p:nvSpPr>
          <p:spPr bwMode="auto">
            <a:xfrm>
              <a:off x="3856" y="2828"/>
              <a:ext cx="566" cy="226"/>
            </a:xfrm>
            <a:custGeom>
              <a:avLst/>
              <a:gdLst>
                <a:gd name="T0" fmla="*/ 0 w 528"/>
                <a:gd name="T1" fmla="*/ 0 h 192"/>
                <a:gd name="T2" fmla="*/ 698 w 528"/>
                <a:gd name="T3" fmla="*/ 185 h 192"/>
                <a:gd name="T4" fmla="*/ 698 w 528"/>
                <a:gd name="T5" fmla="*/ 368 h 192"/>
                <a:gd name="T6" fmla="*/ 0 w 528"/>
                <a:gd name="T7" fmla="*/ 185 h 192"/>
                <a:gd name="T8" fmla="*/ 0 w 528"/>
                <a:gd name="T9" fmla="*/ 0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8"/>
                <a:gd name="T16" fmla="*/ 0 h 192"/>
                <a:gd name="T17" fmla="*/ 528 w 528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8" h="192">
                  <a:moveTo>
                    <a:pt x="0" y="0"/>
                  </a:moveTo>
                  <a:lnTo>
                    <a:pt x="528" y="96"/>
                  </a:lnTo>
                  <a:lnTo>
                    <a:pt x="528" y="192"/>
                  </a:lnTo>
                  <a:lnTo>
                    <a:pt x="0" y="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179" name="AutoShape 50"/>
            <p:cNvSpPr>
              <a:spLocks/>
            </p:cNvSpPr>
            <p:nvPr/>
          </p:nvSpPr>
          <p:spPr bwMode="auto">
            <a:xfrm>
              <a:off x="4474" y="1241"/>
              <a:ext cx="742" cy="465"/>
            </a:xfrm>
            <a:prstGeom prst="callout1">
              <a:avLst>
                <a:gd name="adj1" fmla="val 15486"/>
                <a:gd name="adj2" fmla="val -6468"/>
                <a:gd name="adj3" fmla="val 100644"/>
                <a:gd name="adj4" fmla="val -39352"/>
              </a:avLst>
            </a:prstGeom>
            <a:noFill/>
            <a:ln w="9525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dirty="0">
                  <a:solidFill>
                    <a:schemeClr val="accent1">
                      <a:lumMod val="75000"/>
                    </a:schemeClr>
                  </a:solidFill>
                </a:rPr>
                <a:t>hash-table </a:t>
              </a:r>
              <a:br>
                <a:rPr lang="en-GB" altLang="en-US" sz="1800" dirty="0">
                  <a:solidFill>
                    <a:schemeClr val="accent1">
                      <a:lumMod val="75000"/>
                    </a:schemeClr>
                  </a:solidFill>
                </a:rPr>
              </a:br>
              <a:r>
                <a:rPr lang="en-GB" altLang="en-US" sz="1800" dirty="0">
                  <a:solidFill>
                    <a:schemeClr val="accent1">
                      <a:lumMod val="75000"/>
                    </a:schemeClr>
                  </a:solidFill>
                </a:rPr>
                <a:t>(array of </a:t>
              </a:r>
              <a:r>
                <a:rPr lang="en-GB" altLang="en-US" sz="1800" i="1" dirty="0">
                  <a:solidFill>
                    <a:schemeClr val="accent1">
                      <a:lumMod val="75000"/>
                    </a:schemeClr>
                  </a:solidFill>
                </a:rPr>
                <a:t>m</a:t>
              </a:r>
              <a:r>
                <a:rPr lang="en-GB" altLang="en-US" sz="1800" dirty="0">
                  <a:solidFill>
                    <a:schemeClr val="accent1">
                      <a:lumMod val="75000"/>
                    </a:schemeClr>
                  </a:solidFill>
                </a:rPr>
                <a:t> buckets)</a:t>
              </a:r>
              <a:endParaRPr lang="en-GB" altLang="en-US" sz="1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endParaRPr>
            </a:p>
          </p:txBody>
        </p:sp>
      </p:grpSp>
      <p:sp>
        <p:nvSpPr>
          <p:cNvPr id="404532" name="Line 52"/>
          <p:cNvSpPr>
            <a:spLocks noChangeShapeType="1"/>
          </p:cNvSpPr>
          <p:nvPr/>
        </p:nvSpPr>
        <p:spPr bwMode="auto">
          <a:xfrm>
            <a:off x="2460625" y="3270250"/>
            <a:ext cx="3459163" cy="7699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4533" name="Line 53"/>
          <p:cNvSpPr>
            <a:spLocks noChangeShapeType="1"/>
          </p:cNvSpPr>
          <p:nvPr/>
        </p:nvSpPr>
        <p:spPr bwMode="auto">
          <a:xfrm flipV="1">
            <a:off x="2460625" y="3465513"/>
            <a:ext cx="3443288" cy="4111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4534" name="Line 54"/>
          <p:cNvSpPr>
            <a:spLocks noChangeShapeType="1"/>
          </p:cNvSpPr>
          <p:nvPr/>
        </p:nvSpPr>
        <p:spPr bwMode="auto">
          <a:xfrm>
            <a:off x="2460625" y="4149725"/>
            <a:ext cx="3479800" cy="1793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4535" name="Line 55"/>
          <p:cNvSpPr>
            <a:spLocks noChangeShapeType="1"/>
          </p:cNvSpPr>
          <p:nvPr/>
        </p:nvSpPr>
        <p:spPr bwMode="auto">
          <a:xfrm>
            <a:off x="2460625" y="3603625"/>
            <a:ext cx="3227388" cy="1409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4536" name="AutoShape 56"/>
          <p:cNvSpPr>
            <a:spLocks/>
          </p:cNvSpPr>
          <p:nvPr/>
        </p:nvSpPr>
        <p:spPr bwMode="auto">
          <a:xfrm>
            <a:off x="1979613" y="5445125"/>
            <a:ext cx="1854200" cy="715963"/>
          </a:xfrm>
          <a:prstGeom prst="callout1">
            <a:avLst>
              <a:gd name="adj1" fmla="val 15963"/>
              <a:gd name="adj2" fmla="val 104111"/>
              <a:gd name="adj3" fmla="val -120398"/>
              <a:gd name="adj4" fmla="val 125514"/>
            </a:avLst>
          </a:prstGeom>
          <a:noFill/>
          <a:ln w="9525">
            <a:solidFill>
              <a:schemeClr val="accent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hashing </a:t>
            </a:r>
            <a:b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(translating keys to bucket indices)</a:t>
            </a:r>
          </a:p>
        </p:txBody>
      </p:sp>
      <p:sp>
        <p:nvSpPr>
          <p:cNvPr id="404537" name="Line 57"/>
          <p:cNvSpPr>
            <a:spLocks noChangeShapeType="1"/>
          </p:cNvSpPr>
          <p:nvPr/>
        </p:nvSpPr>
        <p:spPr bwMode="auto">
          <a:xfrm flipV="1">
            <a:off x="2447925" y="3536950"/>
            <a:ext cx="3455988" cy="12604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3" name="Group 97"/>
          <p:cNvGrpSpPr>
            <a:grpSpLocks/>
          </p:cNvGrpSpPr>
          <p:nvPr/>
        </p:nvGrpSpPr>
        <p:grpSpPr bwMode="auto">
          <a:xfrm>
            <a:off x="3959225" y="2506663"/>
            <a:ext cx="2000250" cy="1209675"/>
            <a:chOff x="2526" y="1556"/>
            <a:chExt cx="1260" cy="762"/>
          </a:xfrm>
        </p:grpSpPr>
        <p:sp>
          <p:nvSpPr>
            <p:cNvPr id="5158" name="AutoShape 59"/>
            <p:cNvSpPr>
              <a:spLocks/>
            </p:cNvSpPr>
            <p:nvPr/>
          </p:nvSpPr>
          <p:spPr bwMode="auto">
            <a:xfrm>
              <a:off x="2526" y="1556"/>
              <a:ext cx="659" cy="151"/>
            </a:xfrm>
            <a:prstGeom prst="callout1">
              <a:avLst>
                <a:gd name="adj1" fmla="val 47681"/>
                <a:gd name="adj2" fmla="val 107282"/>
                <a:gd name="adj3" fmla="val 355630"/>
                <a:gd name="adj4" fmla="val 163278"/>
              </a:avLst>
            </a:prstGeom>
            <a:noFill/>
            <a:ln w="9525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dirty="0">
                  <a:solidFill>
                    <a:schemeClr val="accent1">
                      <a:lumMod val="75000"/>
                    </a:schemeClr>
                  </a:solidFill>
                </a:rPr>
                <a:t>collision</a:t>
              </a:r>
              <a:endParaRPr lang="en-GB" altLang="en-US" sz="1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endParaRPr>
            </a:p>
          </p:txBody>
        </p:sp>
        <p:sp>
          <p:nvSpPr>
            <p:cNvPr id="5159" name="Oval 60"/>
            <p:cNvSpPr>
              <a:spLocks noChangeArrowheads="1"/>
            </p:cNvSpPr>
            <p:nvPr/>
          </p:nvSpPr>
          <p:spPr bwMode="auto">
            <a:xfrm>
              <a:off x="3559" y="2091"/>
              <a:ext cx="227" cy="227"/>
            </a:xfrm>
            <a:prstGeom prst="ellipse">
              <a:avLst/>
            </a:prstGeom>
            <a:noFill/>
            <a:ln w="952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014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532" grpId="0" animBg="1"/>
      <p:bldP spid="404533" grpId="0" animBg="1"/>
      <p:bldP spid="404534" grpId="0" animBg="1"/>
      <p:bldP spid="404535" grpId="0" animBg="1"/>
      <p:bldP spid="404536" grpId="0" animBg="1" autoUpdateAnimBg="0"/>
      <p:bldP spid="40453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Hash-table principles </a:t>
            </a:r>
            <a:r>
              <a:rPr lang="en-US" altLang="en-US" i="1"/>
              <a:t>(3)</a:t>
            </a:r>
            <a:endParaRPr lang="en-GB" altLang="en-US" i="1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Each key </a:t>
            </a:r>
            <a:r>
              <a:rPr lang="en-US" altLang="en-US" i="1">
                <a:cs typeface="Times New Roman" pitchFamily="18" charset="0"/>
              </a:rPr>
              <a:t>k</a:t>
            </a:r>
            <a:r>
              <a:rPr lang="en-US" altLang="en-US">
                <a:cs typeface="Times New Roman" pitchFamily="18" charset="0"/>
              </a:rPr>
              <a:t> has a </a:t>
            </a:r>
            <a:r>
              <a:rPr lang="en-US" altLang="en-US" b="1">
                <a:cs typeface="Times New Roman" pitchFamily="18" charset="0"/>
              </a:rPr>
              <a:t>home bucket</a:t>
            </a:r>
            <a:r>
              <a:rPr lang="en-US" altLang="en-US">
                <a:cs typeface="Times New Roman" pitchFamily="18" charset="0"/>
              </a:rPr>
              <a:t> in the hash-table, namely the bucket with index </a:t>
            </a:r>
            <a:r>
              <a:rPr lang="en-US" altLang="en-US" i="1">
                <a:cs typeface="Times New Roman" pitchFamily="18" charset="0"/>
              </a:rPr>
              <a:t>hash</a:t>
            </a:r>
            <a:r>
              <a:rPr lang="en-US" altLang="en-US">
                <a:cs typeface="Times New Roman" pitchFamily="18" charset="0"/>
              </a:rPr>
              <a:t>(</a:t>
            </a:r>
            <a:r>
              <a:rPr lang="en-US" altLang="en-US" i="1">
                <a:cs typeface="Times New Roman" pitchFamily="18" charset="0"/>
              </a:rPr>
              <a:t>k</a:t>
            </a:r>
            <a:r>
              <a:rPr lang="en-US" altLang="en-US">
                <a:cs typeface="Times New Roman" pitchFamily="18" charset="0"/>
              </a:rPr>
              <a:t>).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To </a:t>
            </a:r>
            <a:r>
              <a:rPr lang="en-US" altLang="en-US" b="1">
                <a:cs typeface="Times New Roman" pitchFamily="18" charset="0"/>
              </a:rPr>
              <a:t>insert</a:t>
            </a:r>
            <a:r>
              <a:rPr lang="en-US" altLang="en-US">
                <a:cs typeface="Times New Roman" pitchFamily="18" charset="0"/>
              </a:rPr>
              <a:t> a new entry with key </a:t>
            </a:r>
            <a:r>
              <a:rPr lang="en-US" altLang="en-US" i="1">
                <a:cs typeface="Times New Roman" pitchFamily="18" charset="0"/>
              </a:rPr>
              <a:t>k</a:t>
            </a:r>
            <a:r>
              <a:rPr lang="en-US" altLang="en-US">
                <a:cs typeface="Times New Roman" pitchFamily="18" charset="0"/>
              </a:rPr>
              <a:t> into the hash-table, assign that entry to </a:t>
            </a:r>
            <a:r>
              <a:rPr lang="en-US" altLang="en-US" i="1">
                <a:cs typeface="Times New Roman" pitchFamily="18" charset="0"/>
              </a:rPr>
              <a:t>k</a:t>
            </a:r>
            <a:r>
              <a:rPr lang="en-US" altLang="en-US"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en-US" altLang="en-US">
                <a:cs typeface="Times New Roman" pitchFamily="18" charset="0"/>
              </a:rPr>
              <a:t>s home bucket.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If </a:t>
            </a:r>
            <a:r>
              <a:rPr lang="en-US" altLang="en-US" i="1">
                <a:cs typeface="Times New Roman" pitchFamily="18" charset="0"/>
              </a:rPr>
              <a:t>k</a:t>
            </a:r>
            <a:r>
              <a:rPr lang="en-US" altLang="en-US"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en-US" altLang="en-US">
                <a:cs typeface="Times New Roman" pitchFamily="18" charset="0"/>
              </a:rPr>
              <a:t>s home bucket is already occupied, we have a collision. This must be resolved somehow.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To </a:t>
            </a:r>
            <a:r>
              <a:rPr lang="en-US" altLang="en-US" b="1">
                <a:cs typeface="Times New Roman" pitchFamily="18" charset="0"/>
              </a:rPr>
              <a:t>search</a:t>
            </a:r>
            <a:r>
              <a:rPr lang="en-US" altLang="en-US">
                <a:cs typeface="Times New Roman" pitchFamily="18" charset="0"/>
              </a:rPr>
              <a:t> for an entry with key </a:t>
            </a:r>
            <a:r>
              <a:rPr lang="en-US" altLang="en-US" i="1">
                <a:cs typeface="Times New Roman" pitchFamily="18" charset="0"/>
              </a:rPr>
              <a:t>k</a:t>
            </a:r>
            <a:r>
              <a:rPr lang="en-US" altLang="en-US">
                <a:cs typeface="Times New Roman" pitchFamily="18" charset="0"/>
              </a:rPr>
              <a:t> in the hash-table, look in </a:t>
            </a:r>
            <a:r>
              <a:rPr lang="en-US" altLang="en-US" i="1">
                <a:cs typeface="Times New Roman" pitchFamily="18" charset="0"/>
              </a:rPr>
              <a:t>k</a:t>
            </a:r>
            <a:r>
              <a:rPr lang="en-US" altLang="en-US"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en-US" altLang="en-US">
                <a:cs typeface="Times New Roman" pitchFamily="18" charset="0"/>
              </a:rPr>
              <a:t>s home bucket.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To </a:t>
            </a:r>
            <a:r>
              <a:rPr lang="en-US" altLang="en-US" b="1">
                <a:cs typeface="Times New Roman" pitchFamily="18" charset="0"/>
              </a:rPr>
              <a:t>delete</a:t>
            </a:r>
            <a:r>
              <a:rPr lang="en-US" altLang="en-US">
                <a:cs typeface="Times New Roman" pitchFamily="18" charset="0"/>
              </a:rPr>
              <a:t> an entry with key </a:t>
            </a:r>
            <a:r>
              <a:rPr lang="en-US" altLang="en-US" i="1">
                <a:cs typeface="Times New Roman" pitchFamily="18" charset="0"/>
              </a:rPr>
              <a:t>k</a:t>
            </a:r>
            <a:r>
              <a:rPr lang="en-US" altLang="en-US">
                <a:cs typeface="Times New Roman" pitchFamily="18" charset="0"/>
              </a:rPr>
              <a:t> from the hash-table, look in </a:t>
            </a:r>
            <a:r>
              <a:rPr lang="en-US" altLang="en-US" i="1">
                <a:cs typeface="Times New Roman" pitchFamily="18" charset="0"/>
              </a:rPr>
              <a:t>k</a:t>
            </a:r>
            <a:r>
              <a:rPr lang="en-US" altLang="en-US"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en-US" altLang="en-US">
                <a:cs typeface="Times New Roman" pitchFamily="18" charset="0"/>
              </a:rPr>
              <a:t>s home bucket.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50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Hash-table principles </a:t>
            </a:r>
            <a:r>
              <a:rPr lang="en-US" altLang="en-US" i="1"/>
              <a:t>(4)</a:t>
            </a:r>
            <a:endParaRPr lang="en-GB" altLang="en-US" i="1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The hash function must be </a:t>
            </a:r>
            <a:r>
              <a:rPr lang="en-US" altLang="en-US" b="1" dirty="0">
                <a:cs typeface="Times New Roman" pitchFamily="18" charset="0"/>
              </a:rPr>
              <a:t>consistent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lvl="1" eaLnBrk="1" hangingPunct="1">
              <a:buFontTx/>
              <a:buNone/>
            </a:pPr>
            <a:r>
              <a:rPr lang="en-US" altLang="en-US" i="1" dirty="0">
                <a:cs typeface="Times New Roman" pitchFamily="18" charset="0"/>
              </a:rPr>
              <a:t>k</a:t>
            </a:r>
            <a:r>
              <a:rPr lang="en-US" altLang="en-US" baseline="-25000" dirty="0">
                <a:cs typeface="Times New Roman" pitchFamily="18" charset="0"/>
              </a:rPr>
              <a:t>1</a:t>
            </a:r>
            <a:r>
              <a:rPr lang="en-US" altLang="en-US" dirty="0">
                <a:cs typeface="Times New Roman" pitchFamily="18" charset="0"/>
              </a:rPr>
              <a:t> = </a:t>
            </a:r>
            <a:r>
              <a:rPr lang="en-US" altLang="en-US" i="1" dirty="0">
                <a:cs typeface="Times New Roman" pitchFamily="18" charset="0"/>
              </a:rPr>
              <a:t>k</a:t>
            </a:r>
            <a:r>
              <a:rPr lang="en-US" altLang="en-US" baseline="-25000" dirty="0">
                <a:cs typeface="Times New Roman" pitchFamily="18" charset="0"/>
              </a:rPr>
              <a:t>2</a:t>
            </a:r>
            <a:r>
              <a:rPr lang="en-US" altLang="en-US" dirty="0">
                <a:cs typeface="Times New Roman" pitchFamily="18" charset="0"/>
              </a:rPr>
              <a:t> implies that </a:t>
            </a:r>
            <a:r>
              <a:rPr lang="en-US" altLang="en-US" i="1" dirty="0">
                <a:cs typeface="Times New Roman" pitchFamily="18" charset="0"/>
              </a:rPr>
              <a:t>hash</a:t>
            </a:r>
            <a:r>
              <a:rPr lang="en-US" altLang="en-US" dirty="0">
                <a:cs typeface="Times New Roman" pitchFamily="18" charset="0"/>
              </a:rPr>
              <a:t>(</a:t>
            </a:r>
            <a:r>
              <a:rPr lang="en-US" altLang="en-US" i="1" dirty="0">
                <a:cs typeface="Times New Roman" pitchFamily="18" charset="0"/>
              </a:rPr>
              <a:t>k</a:t>
            </a:r>
            <a:r>
              <a:rPr lang="en-US" altLang="en-US" baseline="-25000" dirty="0">
                <a:cs typeface="Times New Roman" pitchFamily="18" charset="0"/>
              </a:rPr>
              <a:t>1</a:t>
            </a:r>
            <a:r>
              <a:rPr lang="en-US" altLang="en-US" dirty="0">
                <a:cs typeface="Times New Roman" pitchFamily="18" charset="0"/>
              </a:rPr>
              <a:t>) = </a:t>
            </a:r>
            <a:r>
              <a:rPr lang="en-US" altLang="en-US" i="1" dirty="0">
                <a:cs typeface="Times New Roman" pitchFamily="18" charset="0"/>
              </a:rPr>
              <a:t>hash</a:t>
            </a:r>
            <a:r>
              <a:rPr lang="en-US" altLang="en-US" dirty="0">
                <a:cs typeface="Times New Roman" pitchFamily="18" charset="0"/>
              </a:rPr>
              <a:t>(</a:t>
            </a:r>
            <a:r>
              <a:rPr lang="en-US" altLang="en-US" i="1" dirty="0">
                <a:cs typeface="Times New Roman" pitchFamily="18" charset="0"/>
              </a:rPr>
              <a:t>k</a:t>
            </a:r>
            <a:r>
              <a:rPr lang="en-US" altLang="en-US" baseline="-25000" dirty="0">
                <a:cs typeface="Times New Roman" pitchFamily="18" charset="0"/>
              </a:rPr>
              <a:t>2</a:t>
            </a:r>
            <a:r>
              <a:rPr lang="en-US" altLang="en-US" dirty="0">
                <a:cs typeface="Times New Roman" pitchFamily="18" charset="0"/>
              </a:rPr>
              <a:t>).</a:t>
            </a: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In general, the hash function is many-to-one.</a:t>
            </a: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Therefore different keys may share the same home bucket:</a:t>
            </a:r>
          </a:p>
          <a:p>
            <a:pPr lvl="1" eaLnBrk="1" hangingPunct="1">
              <a:buFontTx/>
              <a:buNone/>
            </a:pPr>
            <a:r>
              <a:rPr lang="en-US" altLang="en-US" i="1" dirty="0">
                <a:cs typeface="Times New Roman" pitchFamily="18" charset="0"/>
              </a:rPr>
              <a:t>k</a:t>
            </a:r>
            <a:r>
              <a:rPr lang="en-US" altLang="en-US" baseline="-25000" dirty="0">
                <a:cs typeface="Times New Roman" pitchFamily="18" charset="0"/>
              </a:rPr>
              <a:t>1</a:t>
            </a:r>
            <a:r>
              <a:rPr lang="en-US" altLang="en-US" dirty="0">
                <a:cs typeface="Times New Roman" pitchFamily="18" charset="0"/>
              </a:rPr>
              <a:t> </a:t>
            </a:r>
            <a:r>
              <a:rPr lang="en-US" altLang="en-US" dirty="0">
                <a:cs typeface="Times New Roman" pitchFamily="18" charset="0"/>
                <a:sym typeface="Symbol" pitchFamily="18" charset="2"/>
              </a:rPr>
              <a:t></a:t>
            </a:r>
            <a:r>
              <a:rPr lang="en-US" altLang="en-US" dirty="0">
                <a:cs typeface="Times New Roman" pitchFamily="18" charset="0"/>
              </a:rPr>
              <a:t> </a:t>
            </a:r>
            <a:r>
              <a:rPr lang="en-US" altLang="en-US" i="1" dirty="0">
                <a:cs typeface="Times New Roman" pitchFamily="18" charset="0"/>
              </a:rPr>
              <a:t>k</a:t>
            </a:r>
            <a:r>
              <a:rPr lang="en-US" altLang="en-US" baseline="-25000" dirty="0">
                <a:cs typeface="Times New Roman" pitchFamily="18" charset="0"/>
              </a:rPr>
              <a:t>2</a:t>
            </a:r>
            <a:r>
              <a:rPr lang="en-US" altLang="en-US" dirty="0">
                <a:cs typeface="Times New Roman" pitchFamily="18" charset="0"/>
              </a:rPr>
              <a:t> but </a:t>
            </a:r>
            <a:r>
              <a:rPr lang="en-US" altLang="en-US" i="1" dirty="0">
                <a:cs typeface="Times New Roman" pitchFamily="18" charset="0"/>
              </a:rPr>
              <a:t>hash</a:t>
            </a:r>
            <a:r>
              <a:rPr lang="en-US" altLang="en-US" dirty="0">
                <a:cs typeface="Times New Roman" pitchFamily="18" charset="0"/>
              </a:rPr>
              <a:t>(</a:t>
            </a:r>
            <a:r>
              <a:rPr lang="en-US" altLang="en-US" i="1" dirty="0">
                <a:cs typeface="Times New Roman" pitchFamily="18" charset="0"/>
              </a:rPr>
              <a:t>k</a:t>
            </a:r>
            <a:r>
              <a:rPr lang="en-US" altLang="en-US" baseline="-25000" dirty="0">
                <a:cs typeface="Times New Roman" pitchFamily="18" charset="0"/>
              </a:rPr>
              <a:t>1</a:t>
            </a:r>
            <a:r>
              <a:rPr lang="en-US" altLang="en-US" dirty="0">
                <a:cs typeface="Times New Roman" pitchFamily="18" charset="0"/>
              </a:rPr>
              <a:t>) = </a:t>
            </a:r>
            <a:r>
              <a:rPr lang="en-US" altLang="en-US" i="1" dirty="0">
                <a:cs typeface="Times New Roman" pitchFamily="18" charset="0"/>
              </a:rPr>
              <a:t>hash</a:t>
            </a:r>
            <a:r>
              <a:rPr lang="en-US" altLang="en-US" dirty="0">
                <a:cs typeface="Times New Roman" pitchFamily="18" charset="0"/>
              </a:rPr>
              <a:t>(</a:t>
            </a:r>
            <a:r>
              <a:rPr lang="en-US" altLang="en-US" i="1" dirty="0">
                <a:cs typeface="Times New Roman" pitchFamily="18" charset="0"/>
              </a:rPr>
              <a:t>k</a:t>
            </a:r>
            <a:r>
              <a:rPr lang="en-US" altLang="en-US" baseline="-25000" dirty="0">
                <a:cs typeface="Times New Roman" pitchFamily="18" charset="0"/>
              </a:rPr>
              <a:t>2</a:t>
            </a:r>
            <a:r>
              <a:rPr lang="en-US" altLang="en-US" dirty="0">
                <a:cs typeface="Times New Roman" pitchFamily="18" charset="0"/>
              </a:rPr>
              <a:t>).</a:t>
            </a:r>
          </a:p>
          <a:p>
            <a:pPr eaLnBrk="1" hangingPunct="1">
              <a:spcBef>
                <a:spcPts val="900"/>
              </a:spcBef>
              <a:buFont typeface="Wingdings" pitchFamily="2" charset="2"/>
              <a:buNone/>
            </a:pPr>
            <a:r>
              <a:rPr lang="en-US" altLang="en-US" dirty="0">
                <a:cs typeface="Times New Roman" pitchFamily="18" charset="0"/>
              </a:rPr>
              <a:t>	If this actually happens, it is called a </a:t>
            </a:r>
            <a:r>
              <a:rPr lang="en-US" altLang="en-US" b="1" dirty="0">
                <a:cs typeface="Times New Roman" pitchFamily="18" charset="0"/>
              </a:rPr>
              <a:t>collision</a:t>
            </a:r>
            <a:r>
              <a:rPr lang="en-US" altLang="en-US" dirty="0">
                <a:cs typeface="Times New Roman" pitchFamily="18" charset="0"/>
              </a:rPr>
              <a:t>.</a:t>
            </a: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Always prefer a hash function that is likely to make collisions infrequent.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336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 a hash function for words</a:t>
            </a:r>
            <a:endParaRPr lang="en-GB" alt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1787525" algn="l"/>
              </a:tabLst>
            </a:pPr>
            <a:r>
              <a:rPr lang="en-US" altLang="en-US" dirty="0">
                <a:cs typeface="Times New Roman" pitchFamily="18" charset="0"/>
              </a:rPr>
              <a:t>Suppose that the keys are English words*.</a:t>
            </a:r>
          </a:p>
          <a:p>
            <a:pPr eaLnBrk="1" hangingPunct="1">
              <a:lnSpc>
                <a:spcPct val="90000"/>
              </a:lnSpc>
              <a:tabLst>
                <a:tab pos="1787525" algn="l"/>
              </a:tabLst>
            </a:pPr>
            <a:r>
              <a:rPr lang="en-US" altLang="en-US" dirty="0">
                <a:cs typeface="Times New Roman" pitchFamily="18" charset="0"/>
              </a:rPr>
              <a:t>A possible hash function:</a:t>
            </a:r>
          </a:p>
          <a:p>
            <a:pPr lvl="1" eaLnBrk="1" hangingPunct="1">
              <a:lnSpc>
                <a:spcPct val="90000"/>
              </a:lnSpc>
              <a:buFontTx/>
              <a:buNone/>
              <a:tabLst>
                <a:tab pos="1787525" algn="l"/>
              </a:tabLst>
            </a:pPr>
            <a:r>
              <a:rPr lang="en-US" altLang="en-US" i="1" dirty="0">
                <a:cs typeface="Times New Roman" pitchFamily="18" charset="0"/>
              </a:rPr>
              <a:t>	m</a:t>
            </a:r>
            <a:r>
              <a:rPr lang="en-US" altLang="en-US" dirty="0">
                <a:cs typeface="Times New Roman" pitchFamily="18" charset="0"/>
              </a:rPr>
              <a:t>	=  26</a:t>
            </a:r>
            <a:br>
              <a:rPr lang="en-US" altLang="en-US" dirty="0">
                <a:cs typeface="Times New Roman" pitchFamily="18" charset="0"/>
              </a:rPr>
            </a:br>
            <a:r>
              <a:rPr lang="en-US" altLang="en-US" i="1" dirty="0">
                <a:cs typeface="Times New Roman" pitchFamily="18" charset="0"/>
              </a:rPr>
              <a:t>hash</a:t>
            </a:r>
            <a:r>
              <a:rPr lang="en-US" altLang="en-US" dirty="0">
                <a:cs typeface="Times New Roman" pitchFamily="18" charset="0"/>
              </a:rPr>
              <a:t>(</a:t>
            </a:r>
            <a:r>
              <a:rPr lang="en-US" altLang="en-US" i="1" dirty="0">
                <a:cs typeface="Times New Roman" pitchFamily="18" charset="0"/>
              </a:rPr>
              <a:t>k</a:t>
            </a:r>
            <a:r>
              <a:rPr lang="en-US" altLang="en-US" dirty="0">
                <a:cs typeface="Times New Roman" pitchFamily="18" charset="0"/>
              </a:rPr>
              <a:t>)	=  (initial letter of </a:t>
            </a:r>
            <a:r>
              <a:rPr lang="en-US" altLang="en-US" i="1" dirty="0">
                <a:cs typeface="Times New Roman" pitchFamily="18" charset="0"/>
              </a:rPr>
              <a:t>k</a:t>
            </a:r>
            <a:r>
              <a:rPr lang="en-US" altLang="en-US" dirty="0">
                <a:cs typeface="Times New Roman" pitchFamily="18" charset="0"/>
              </a:rPr>
              <a:t>) 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en-US" dirty="0">
                <a:cs typeface="Times New Roman" pitchFamily="18" charset="0"/>
              </a:rPr>
              <a:t> 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‘</a:t>
            </a:r>
            <a:r>
              <a:rPr lang="en-US" altLang="en-US" dirty="0">
                <a:cs typeface="Times New Roman" pitchFamily="18" charset="0"/>
              </a:rPr>
              <a:t>A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’</a:t>
            </a:r>
            <a:endParaRPr lang="en-US" altLang="en-US" i="1" dirty="0"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1787525" algn="l"/>
              </a:tabLst>
            </a:pPr>
            <a:r>
              <a:rPr lang="en-US" altLang="en-US" dirty="0">
                <a:cs typeface="Times New Roman" pitchFamily="18" charset="0"/>
              </a:rPr>
              <a:t>All words with initial letter 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‘</a:t>
            </a:r>
            <a:r>
              <a:rPr lang="en-US" altLang="en-US" dirty="0">
                <a:cs typeface="Times New Roman" pitchFamily="18" charset="0"/>
              </a:rPr>
              <a:t>A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en-US" altLang="en-US" dirty="0">
                <a:cs typeface="Times New Roman" pitchFamily="18" charset="0"/>
              </a:rPr>
              <a:t> share bucket 0; 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en-US" dirty="0">
                <a:cs typeface="Times New Roman" pitchFamily="18" charset="0"/>
              </a:rPr>
              <a:t>;</a:t>
            </a:r>
            <a:br>
              <a:rPr lang="en-US" altLang="en-US" dirty="0">
                <a:cs typeface="Times New Roman" pitchFamily="18" charset="0"/>
              </a:rPr>
            </a:br>
            <a:r>
              <a:rPr lang="en-US" altLang="en-US" dirty="0">
                <a:cs typeface="Times New Roman" pitchFamily="18" charset="0"/>
              </a:rPr>
              <a:t>all words with initial letter 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‘</a:t>
            </a:r>
            <a:r>
              <a:rPr lang="en-US" altLang="en-US" dirty="0">
                <a:cs typeface="Times New Roman" pitchFamily="18" charset="0"/>
              </a:rPr>
              <a:t>Z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en-US" altLang="en-US" dirty="0">
                <a:cs typeface="Times New Roman" pitchFamily="18" charset="0"/>
              </a:rPr>
              <a:t> share bucket 25.</a:t>
            </a:r>
          </a:p>
          <a:p>
            <a:pPr eaLnBrk="1" hangingPunct="1">
              <a:lnSpc>
                <a:spcPct val="90000"/>
              </a:lnSpc>
              <a:tabLst>
                <a:tab pos="1787525" algn="l"/>
              </a:tabLst>
            </a:pPr>
            <a:r>
              <a:rPr lang="en-US" altLang="en-US" dirty="0">
                <a:cs typeface="Times New Roman" pitchFamily="18" charset="0"/>
              </a:rPr>
              <a:t>For </a:t>
            </a:r>
            <a:r>
              <a:rPr lang="en-US" altLang="en-US" i="1" dirty="0">
                <a:cs typeface="Times New Roman" pitchFamily="18" charset="0"/>
              </a:rPr>
              <a:t>illustrative</a:t>
            </a:r>
            <a:r>
              <a:rPr lang="en-US" altLang="en-US" dirty="0">
                <a:cs typeface="Times New Roman" pitchFamily="18" charset="0"/>
              </a:rPr>
              <a:t> purposes, this is a convenient choice.</a:t>
            </a:r>
          </a:p>
          <a:p>
            <a:pPr eaLnBrk="1" hangingPunct="1">
              <a:lnSpc>
                <a:spcPct val="90000"/>
              </a:lnSpc>
              <a:tabLst>
                <a:tab pos="1787525" algn="l"/>
              </a:tabLst>
            </a:pPr>
            <a:r>
              <a:rPr lang="en-US" altLang="en-US" dirty="0">
                <a:cs typeface="Times New Roman" pitchFamily="18" charset="0"/>
              </a:rPr>
              <a:t>For </a:t>
            </a:r>
            <a:r>
              <a:rPr lang="en-US" altLang="en-US" i="1" dirty="0">
                <a:cs typeface="Times New Roman" pitchFamily="18" charset="0"/>
              </a:rPr>
              <a:t>practical</a:t>
            </a:r>
            <a:r>
              <a:rPr lang="en-US" altLang="en-US" dirty="0">
                <a:cs typeface="Times New Roman" pitchFamily="18" charset="0"/>
              </a:rPr>
              <a:t> purposes, this is a poor choice: collisions are likely to be </a:t>
            </a:r>
            <a:r>
              <a:rPr lang="en-US" altLang="en-US" dirty="0" err="1">
                <a:cs typeface="Times New Roman" pitchFamily="18" charset="0"/>
              </a:rPr>
              <a:t>freq</a:t>
            </a:r>
            <a:endParaRPr lang="en-US" altLang="en-US" dirty="0"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1787525" algn="l"/>
              </a:tabLst>
            </a:pPr>
            <a:endParaRPr lang="en-US" altLang="en-US" dirty="0">
              <a:cs typeface="Times New Roman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  <a:tabLst>
                <a:tab pos="1787525" algn="l"/>
              </a:tabLst>
            </a:pPr>
            <a:r>
              <a:rPr lang="en-US" altLang="en-US" dirty="0">
                <a:cs typeface="Times New Roman" pitchFamily="18" charset="0"/>
              </a:rPr>
              <a:t>*Assume for now all start with a capital letter, or first letter is capitalized before being added to </a:t>
            </a:r>
            <a:r>
              <a:rPr lang="en-US" altLang="en-US" dirty="0" err="1">
                <a:cs typeface="Times New Roman" pitchFamily="18" charset="0"/>
              </a:rPr>
              <a:t>hashtable</a:t>
            </a:r>
            <a:endParaRPr lang="en-US" altLang="en-US" dirty="0"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609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Hashing in Java </a:t>
            </a:r>
            <a:r>
              <a:rPr lang="en-US" altLang="en-US" i="1"/>
              <a:t>(1)</a:t>
            </a:r>
            <a:endParaRPr lang="en-GB" altLang="en-US" i="1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</a:tabLst>
            </a:pPr>
            <a:r>
              <a:rPr lang="en-US" altLang="en-US" dirty="0">
                <a:cs typeface="Times New Roman" pitchFamily="18" charset="0"/>
              </a:rPr>
              <a:t>hash method in class </a:t>
            </a:r>
            <a:r>
              <a:rPr lang="en-US" altLang="en-US" dirty="0">
                <a:latin typeface="Courier New" pitchFamily="49" charset="0"/>
                <a:cs typeface="Times New Roman" pitchFamily="18" charset="0"/>
              </a:rPr>
              <a:t>Object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</a:tabLst>
            </a:pP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	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hashCode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>
                <a:cs typeface="Times New Roman" pitchFamily="18" charset="0"/>
              </a:rPr>
              <a:t>Translate this object to an integer, such that 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x.equals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(y)</a:t>
            </a:r>
            <a:r>
              <a:rPr lang="en-US" altLang="en-US" sz="2000" dirty="0">
                <a:cs typeface="Times New Roman" pitchFamily="18" charset="0"/>
              </a:rPr>
              <a:t> implies that 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x.hashcode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()</a:t>
            </a:r>
            <a:r>
              <a:rPr lang="en-US" altLang="en-US" sz="2000" dirty="0">
                <a:cs typeface="Times New Roman" pitchFamily="18" charset="0"/>
              </a:rPr>
              <a:t>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==</a:t>
            </a:r>
            <a:r>
              <a:rPr lang="en-US" altLang="en-US" sz="2000" dirty="0"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y.hashcode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()</a:t>
            </a:r>
            <a:r>
              <a:rPr lang="en-US" altLang="en-US" sz="2000" dirty="0">
                <a:cs typeface="Times New Roman" pitchFamily="18" charset="0"/>
              </a:rPr>
              <a:t>.</a:t>
            </a:r>
          </a:p>
          <a:p>
            <a:pPr eaLnBrk="1" hangingPunct="1">
              <a:tabLst>
                <a:tab pos="723900" algn="l"/>
                <a:tab pos="1077913" algn="l"/>
              </a:tabLst>
            </a:pPr>
            <a:r>
              <a:rPr lang="en-US" altLang="en-US" dirty="0">
                <a:cs typeface="Times New Roman" pitchFamily="18" charset="0"/>
              </a:rPr>
              <a:t>Note that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hashCode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en-US" dirty="0">
                <a:cs typeface="Times New Roman" pitchFamily="18" charset="0"/>
              </a:rPr>
              <a:t>is consistent. </a:t>
            </a:r>
          </a:p>
          <a:p>
            <a:pPr eaLnBrk="1" hangingPunct="1">
              <a:tabLst>
                <a:tab pos="723900" algn="l"/>
                <a:tab pos="1077913" algn="l"/>
              </a:tabLst>
            </a:pPr>
            <a:r>
              <a:rPr lang="en-US" altLang="en-US" dirty="0">
                <a:cs typeface="Times New Roman" pitchFamily="18" charset="0"/>
              </a:rPr>
              <a:t>We can use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hashCode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()</a:t>
            </a:r>
            <a:r>
              <a:rPr lang="en-US" altLang="en-US" dirty="0">
                <a:cs typeface="Times New Roman" pitchFamily="18" charset="0"/>
              </a:rPr>
              <a:t> to implement a hash function for a hash-table with </a:t>
            </a:r>
            <a:r>
              <a:rPr lang="en-US" altLang="en-US" i="1" dirty="0">
                <a:cs typeface="Times New Roman" pitchFamily="18" charset="0"/>
              </a:rPr>
              <a:t>m</a:t>
            </a:r>
            <a:r>
              <a:rPr lang="en-US" altLang="en-US" dirty="0">
                <a:cs typeface="Times New Roman" pitchFamily="18" charset="0"/>
              </a:rPr>
              <a:t> buckets: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</a:tabLst>
            </a:pP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hash(Object k) {</a:t>
            </a:r>
            <a:b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Math.abs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k.hashCode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()) % </a:t>
            </a: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85028" name="AutoShape 4"/>
          <p:cNvSpPr>
            <a:spLocks/>
          </p:cNvSpPr>
          <p:nvPr/>
        </p:nvSpPr>
        <p:spPr bwMode="auto">
          <a:xfrm>
            <a:off x="863600" y="5980113"/>
            <a:ext cx="2087563" cy="509587"/>
          </a:xfrm>
          <a:prstGeom prst="callout1">
            <a:avLst>
              <a:gd name="adj1" fmla="val 8449"/>
              <a:gd name="adj2" fmla="val 100806"/>
              <a:gd name="adj3" fmla="val -159893"/>
              <a:gd name="adj4" fmla="val 107219"/>
            </a:avLst>
          </a:prstGeom>
          <a:noFill/>
          <a:ln w="9525">
            <a:solidFill>
              <a:schemeClr val="accent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 err="1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Math.abs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 returns a nonnegative integer.</a:t>
            </a:r>
            <a:endParaRPr lang="en-GB" altLang="en-US" sz="1800" dirty="0">
              <a:solidFill>
                <a:schemeClr val="accent1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385029" name="AutoShape 5"/>
          <p:cNvSpPr>
            <a:spLocks/>
          </p:cNvSpPr>
          <p:nvPr/>
        </p:nvSpPr>
        <p:spPr bwMode="auto">
          <a:xfrm>
            <a:off x="3267075" y="5980113"/>
            <a:ext cx="3284538" cy="503237"/>
          </a:xfrm>
          <a:prstGeom prst="callout1">
            <a:avLst>
              <a:gd name="adj1" fmla="val 25074"/>
              <a:gd name="adj2" fmla="val 99787"/>
              <a:gd name="adj3" fmla="val -151216"/>
              <a:gd name="adj4" fmla="val 90881"/>
            </a:avLst>
          </a:prstGeom>
          <a:noFill/>
          <a:ln w="9525">
            <a:solidFill>
              <a:schemeClr val="accent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Modulo-</a:t>
            </a:r>
            <a:r>
              <a:rPr lang="en-GB" altLang="en-US" sz="1800" i="1" dirty="0">
                <a:solidFill>
                  <a:schemeClr val="accent1">
                    <a:lumMod val="75000"/>
                  </a:schemeClr>
                </a:solidFill>
              </a:rPr>
              <a:t>m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 arithmetic then gives an integer in the range 0…</a:t>
            </a:r>
            <a:r>
              <a:rPr lang="en-GB" altLang="en-US" sz="1800" i="1" dirty="0">
                <a:solidFill>
                  <a:schemeClr val="accent1">
                    <a:lumMod val="75000"/>
                  </a:schemeClr>
                </a:solidFill>
              </a:rPr>
              <a:t>m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–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1.</a:t>
            </a:r>
            <a:endParaRPr lang="en-GB" altLang="en-US" sz="1800" dirty="0">
              <a:solidFill>
                <a:schemeClr val="accent1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730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5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5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5028" grpId="0" animBg="1" autoUpdateAnimBg="0"/>
      <p:bldP spid="385029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457200"/>
            <a:ext cx="6142038" cy="719137"/>
          </a:xfrm>
        </p:spPr>
        <p:txBody>
          <a:bodyPr/>
          <a:lstStyle/>
          <a:p>
            <a:pPr eaLnBrk="1" hangingPunct="1"/>
            <a:r>
              <a:rPr lang="en-US" altLang="en-US" dirty="0"/>
              <a:t>Hashing in Java </a:t>
            </a:r>
            <a:r>
              <a:rPr lang="en-US" altLang="en-US" i="1" dirty="0"/>
              <a:t>(2)</a:t>
            </a:r>
            <a:endParaRPr lang="en-GB" altLang="en-US" i="1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47813" y="1700213"/>
            <a:ext cx="7200900" cy="4621212"/>
          </a:xfrm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Each subclass of 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Object</a:t>
            </a:r>
            <a:r>
              <a:rPr lang="en-US" altLang="en-US">
                <a:cs typeface="Times New Roman" pitchFamily="18" charset="0"/>
              </a:rPr>
              <a:t> should override 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hashCode</a:t>
            </a:r>
            <a:r>
              <a:rPr lang="en-US" altLang="en-US">
                <a:cs typeface="Times New Roman" pitchFamily="18" charset="0"/>
              </a:rPr>
              <a:t>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Examples:</a:t>
            </a:r>
          </a:p>
        </p:txBody>
      </p:sp>
      <p:graphicFrame>
        <p:nvGraphicFramePr>
          <p:cNvPr id="407607" name="Group 55"/>
          <p:cNvGraphicFramePr>
            <a:graphicFrameLocks noGrp="1"/>
          </p:cNvGraphicFramePr>
          <p:nvPr>
            <p:ph sz="half" idx="2"/>
          </p:nvPr>
        </p:nvGraphicFramePr>
        <p:xfrm>
          <a:off x="2016125" y="3213100"/>
          <a:ext cx="6948488" cy="2179639"/>
        </p:xfrm>
        <a:graphic>
          <a:graphicData uri="http://schemas.openxmlformats.org/drawingml/2006/table">
            <a:tbl>
              <a:tblPr/>
              <a:tblGrid>
                <a:gridCol w="1306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1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Class of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k</a:t>
                      </a:r>
                      <a:endParaRPr kumimoji="0" lang="en-GB" sz="2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Result of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k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.hashCode()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String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weighted sum of characters of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k</a:t>
                      </a:r>
                      <a:endParaRPr kumimoji="0" lang="en-GB" sz="2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Integer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integer value of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k</a:t>
                      </a:r>
                      <a:endParaRPr kumimoji="0" lang="en-GB" sz="2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07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Date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(high 32 bits of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k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 exclusive-or (low 32 bits of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k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 </a:t>
                      </a:r>
                      <a:b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</a:b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Note: a date 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k is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represented by a long integer, the number of milliseconds since 1970-01-01.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7058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7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Closed buckets </a:t>
            </a:r>
            <a:r>
              <a:rPr lang="en-US" altLang="en-US" i="1" dirty="0"/>
              <a:t>vs</a:t>
            </a:r>
            <a:r>
              <a:rPr lang="en-US" altLang="en-US" dirty="0"/>
              <a:t> open buckets</a:t>
            </a:r>
            <a:endParaRPr lang="en-GB" altLang="en-US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In an </a:t>
            </a:r>
            <a:r>
              <a:rPr lang="en-US" altLang="en-US" b="1" dirty="0">
                <a:cs typeface="Times New Roman" pitchFamily="18" charset="0"/>
              </a:rPr>
              <a:t>open-bucket hash-table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each bucket may be occupied by at most one entry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whenever there is a collision, displace the new entry to an unoccupied bucket.</a:t>
            </a: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In a </a:t>
            </a:r>
            <a:r>
              <a:rPr lang="en-US" altLang="en-US" b="1" dirty="0">
                <a:cs typeface="Times New Roman" pitchFamily="18" charset="0"/>
              </a:rPr>
              <a:t>closed-bucket hash-table</a:t>
            </a:r>
            <a:r>
              <a:rPr lang="en-US" altLang="en-US" dirty="0">
                <a:cs typeface="Times New Roman" pitchFamily="18" charset="0"/>
              </a:rPr>
              <a:t> (</a:t>
            </a:r>
            <a:r>
              <a:rPr lang="en-US" altLang="en-US" b="1" dirty="0">
                <a:cs typeface="Times New Roman" pitchFamily="18" charset="0"/>
              </a:rPr>
              <a:t>CBHT</a:t>
            </a:r>
            <a:r>
              <a:rPr lang="en-US" altLang="en-US" dirty="0">
                <a:cs typeface="Times New Roman" pitchFamily="18" charset="0"/>
              </a:rPr>
              <a:t>):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each bucket may be occupied by several entries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The destination bucket for any entry is fixed</a:t>
            </a:r>
          </a:p>
        </p:txBody>
      </p:sp>
      <p:sp>
        <p:nvSpPr>
          <p:cNvPr id="386052" name="AutoShape 4"/>
          <p:cNvSpPr>
            <a:spLocks/>
          </p:cNvSpPr>
          <p:nvPr/>
        </p:nvSpPr>
        <p:spPr bwMode="auto">
          <a:xfrm>
            <a:off x="7086600" y="1371600"/>
            <a:ext cx="1871663" cy="990601"/>
          </a:xfrm>
          <a:prstGeom prst="callout1">
            <a:avLst>
              <a:gd name="adj1" fmla="val 22644"/>
              <a:gd name="adj2" fmla="val -4069"/>
              <a:gd name="adj3" fmla="val 71684"/>
              <a:gd name="adj4" fmla="val -29254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</a:rPr>
              <a:t>not covered here: see Watt &amp; Brown</a:t>
            </a:r>
          </a:p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</a:rPr>
              <a:t>and Prosser </a:t>
            </a:r>
          </a:p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</a:rPr>
              <a:t>additional slides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048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05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Closed-bucket hash-tables </a:t>
            </a:r>
            <a:r>
              <a:rPr lang="en-US" altLang="en-US" i="1"/>
              <a:t>(1)</a:t>
            </a:r>
            <a:endParaRPr lang="en-GB" altLang="en-US" i="1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1787525" algn="l"/>
                <a:tab pos="1979613" algn="l"/>
              </a:tabLst>
            </a:pPr>
            <a:r>
              <a:rPr lang="en-US" altLang="en-US">
                <a:cs typeface="Times New Roman" pitchFamily="18" charset="0"/>
              </a:rPr>
              <a:t>Simplest implementation of a CBHT: </a:t>
            </a:r>
            <a:br>
              <a:rPr lang="en-US" altLang="en-US">
                <a:cs typeface="Times New Roman" pitchFamily="18" charset="0"/>
              </a:rPr>
            </a:br>
            <a:r>
              <a:rPr lang="en-US" altLang="en-US">
                <a:cs typeface="Times New Roman" pitchFamily="18" charset="0"/>
              </a:rPr>
              <a:t>each bucket is an</a:t>
            </a:r>
            <a:r>
              <a:rPr lang="en-US" altLang="en-US"/>
              <a:t> SLL.</a:t>
            </a:r>
          </a:p>
          <a:p>
            <a:pPr eaLnBrk="1" hangingPunct="1">
              <a:tabLst>
                <a:tab pos="1787525" algn="l"/>
                <a:tab pos="1979613" algn="l"/>
              </a:tabLst>
            </a:pPr>
            <a:r>
              <a:rPr lang="en-US" altLang="en-US"/>
              <a:t>In the following illustrations, the keys are names of chemical elements. For illustrative purposes, assume:</a:t>
            </a:r>
          </a:p>
          <a:p>
            <a:pPr lvl="1" eaLnBrk="1" hangingPunct="1">
              <a:buFontTx/>
              <a:buNone/>
              <a:tabLst>
                <a:tab pos="1787525" algn="l"/>
                <a:tab pos="1979613" algn="l"/>
              </a:tabLst>
            </a:pPr>
            <a:r>
              <a:rPr lang="en-US" altLang="en-US" i="1">
                <a:cs typeface="Times New Roman" pitchFamily="18" charset="0"/>
              </a:rPr>
              <a:t>	m</a:t>
            </a:r>
            <a:r>
              <a:rPr lang="en-US" altLang="en-US">
                <a:cs typeface="Times New Roman" pitchFamily="18" charset="0"/>
              </a:rPr>
              <a:t>	=  26</a:t>
            </a:r>
            <a:br>
              <a:rPr lang="en-US" altLang="en-US">
                <a:cs typeface="Times New Roman" pitchFamily="18" charset="0"/>
              </a:rPr>
            </a:br>
            <a:r>
              <a:rPr lang="en-US" altLang="en-US" i="1">
                <a:cs typeface="Times New Roman" pitchFamily="18" charset="0"/>
              </a:rPr>
              <a:t>hash</a:t>
            </a:r>
            <a:r>
              <a:rPr lang="en-US" altLang="en-US">
                <a:cs typeface="Times New Roman" pitchFamily="18" charset="0"/>
              </a:rPr>
              <a:t>(</a:t>
            </a:r>
            <a:r>
              <a:rPr lang="en-US" altLang="en-US" i="1">
                <a:cs typeface="Times New Roman" pitchFamily="18" charset="0"/>
              </a:rPr>
              <a:t>k</a:t>
            </a:r>
            <a:r>
              <a:rPr lang="en-US" altLang="en-US">
                <a:cs typeface="Times New Roman" pitchFamily="18" charset="0"/>
              </a:rPr>
              <a:t>)	=  (initial letter of </a:t>
            </a:r>
            <a:r>
              <a:rPr lang="en-US" altLang="en-US" i="1">
                <a:cs typeface="Times New Roman" pitchFamily="18" charset="0"/>
              </a:rPr>
              <a:t>k</a:t>
            </a:r>
            <a:r>
              <a:rPr lang="en-US" altLang="en-US">
                <a:cs typeface="Times New Roman" pitchFamily="18" charset="0"/>
              </a:rPr>
              <a:t>) </a:t>
            </a:r>
            <a:r>
              <a:rPr lang="en-US" altLang="en-US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en-US">
                <a:cs typeface="Times New Roman" pitchFamily="18" charset="0"/>
              </a:rPr>
              <a:t> </a:t>
            </a:r>
            <a:r>
              <a:rPr lang="en-US" altLang="en-US">
                <a:latin typeface="Times New Roman" pitchFamily="18" charset="0"/>
                <a:cs typeface="Times New Roman" pitchFamily="18" charset="0"/>
              </a:rPr>
              <a:t>‘</a:t>
            </a:r>
            <a:r>
              <a:rPr lang="en-US" altLang="en-US">
                <a:cs typeface="Times New Roman" pitchFamily="18" charset="0"/>
              </a:rPr>
              <a:t>A</a:t>
            </a:r>
            <a:r>
              <a:rPr lang="en-US" altLang="en-US">
                <a:latin typeface="Times New Roman" pitchFamily="18" charset="0"/>
                <a:cs typeface="Times New Roman" pitchFamily="18" charset="0"/>
              </a:rPr>
              <a:t>’</a:t>
            </a:r>
            <a:endParaRPr lang="en-US" altLang="en-US"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38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Closed-bucket hash-tables </a:t>
            </a:r>
            <a:r>
              <a:rPr lang="en-US" altLang="en-US" i="1"/>
              <a:t>(2)</a:t>
            </a:r>
            <a:endParaRPr lang="en-GB" altLang="en-US" i="1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Illustration (with no collisions):</a:t>
            </a:r>
          </a:p>
        </p:txBody>
      </p:sp>
      <p:graphicFrame>
        <p:nvGraphicFramePr>
          <p:cNvPr id="409749" name="Group 149"/>
          <p:cNvGraphicFramePr>
            <a:graphicFrameLocks noGrp="1"/>
          </p:cNvGraphicFramePr>
          <p:nvPr/>
        </p:nvGraphicFramePr>
        <p:xfrm>
          <a:off x="2011363" y="2238375"/>
          <a:ext cx="2055812" cy="2911566"/>
        </p:xfrm>
        <a:graphic>
          <a:graphicData uri="http://schemas.openxmlformats.org/drawingml/2006/table">
            <a:tbl>
              <a:tblPr/>
              <a:tblGrid>
                <a:gridCol w="1084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element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number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17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Br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35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4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Kr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36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53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9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Xe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54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2" name="Group 155"/>
          <p:cNvGrpSpPr>
            <a:grpSpLocks/>
          </p:cNvGrpSpPr>
          <p:nvPr/>
        </p:nvGrpSpPr>
        <p:grpSpPr bwMode="auto">
          <a:xfrm>
            <a:off x="4449763" y="1233488"/>
            <a:ext cx="4191000" cy="5181600"/>
            <a:chOff x="2803" y="777"/>
            <a:chExt cx="2640" cy="3264"/>
          </a:xfrm>
        </p:grpSpPr>
        <p:sp>
          <p:nvSpPr>
            <p:cNvPr id="13349" name="Rectangle 44"/>
            <p:cNvSpPr>
              <a:spLocks noChangeArrowheads="1"/>
            </p:cNvSpPr>
            <p:nvPr/>
          </p:nvSpPr>
          <p:spPr bwMode="auto">
            <a:xfrm>
              <a:off x="4387" y="777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50" name="Rectangle 37"/>
            <p:cNvSpPr>
              <a:spLocks noChangeArrowheads="1"/>
            </p:cNvSpPr>
            <p:nvPr/>
          </p:nvSpPr>
          <p:spPr bwMode="auto">
            <a:xfrm>
              <a:off x="2803" y="2223"/>
              <a:ext cx="115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is represented by</a:t>
              </a:r>
            </a:p>
          </p:txBody>
        </p:sp>
        <p:sp>
          <p:nvSpPr>
            <p:cNvPr id="13351" name="Rectangle 38"/>
            <p:cNvSpPr>
              <a:spLocks noChangeArrowheads="1"/>
            </p:cNvSpPr>
            <p:nvPr/>
          </p:nvSpPr>
          <p:spPr bwMode="auto">
            <a:xfrm>
              <a:off x="4963" y="3476"/>
              <a:ext cx="480" cy="20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tIns="5400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571500" algn="r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571500" algn="r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Xe	54</a:t>
              </a:r>
            </a:p>
          </p:txBody>
        </p:sp>
        <p:sp>
          <p:nvSpPr>
            <p:cNvPr id="13352" name="Rectangle 39"/>
            <p:cNvSpPr>
              <a:spLocks noChangeArrowheads="1"/>
            </p:cNvSpPr>
            <p:nvPr/>
          </p:nvSpPr>
          <p:spPr bwMode="auto">
            <a:xfrm>
              <a:off x="4963" y="1748"/>
              <a:ext cx="480" cy="20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tIns="5400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571500" algn="r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571500" algn="r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F	9</a:t>
              </a:r>
            </a:p>
          </p:txBody>
        </p:sp>
        <p:sp>
          <p:nvSpPr>
            <p:cNvPr id="13353" name="Rectangle 40"/>
            <p:cNvSpPr>
              <a:spLocks noChangeArrowheads="1"/>
            </p:cNvSpPr>
            <p:nvPr/>
          </p:nvSpPr>
          <p:spPr bwMode="auto">
            <a:xfrm>
              <a:off x="4963" y="3092"/>
              <a:ext cx="480" cy="20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tIns="5400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571500" algn="r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571500" algn="r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Ne	10</a:t>
              </a:r>
            </a:p>
          </p:txBody>
        </p:sp>
        <p:sp>
          <p:nvSpPr>
            <p:cNvPr id="13354" name="Rectangle 41"/>
            <p:cNvSpPr>
              <a:spLocks noChangeArrowheads="1"/>
            </p:cNvSpPr>
            <p:nvPr/>
          </p:nvSpPr>
          <p:spPr bwMode="auto">
            <a:xfrm>
              <a:off x="4963" y="2695"/>
              <a:ext cx="480" cy="20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tIns="5400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571500" algn="r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571500" algn="r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Kr	36</a:t>
              </a:r>
            </a:p>
          </p:txBody>
        </p:sp>
        <p:sp>
          <p:nvSpPr>
            <p:cNvPr id="13355" name="Rectangle 42"/>
            <p:cNvSpPr>
              <a:spLocks noChangeArrowheads="1"/>
            </p:cNvSpPr>
            <p:nvPr/>
          </p:nvSpPr>
          <p:spPr bwMode="auto">
            <a:xfrm>
              <a:off x="4963" y="2311"/>
              <a:ext cx="480" cy="20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tIns="5400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571500" algn="r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571500" algn="r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I	53</a:t>
              </a:r>
            </a:p>
          </p:txBody>
        </p:sp>
        <p:sp>
          <p:nvSpPr>
            <p:cNvPr id="13356" name="Rectangle 43"/>
            <p:cNvSpPr>
              <a:spLocks noChangeArrowheads="1"/>
            </p:cNvSpPr>
            <p:nvPr/>
          </p:nvSpPr>
          <p:spPr bwMode="auto">
            <a:xfrm>
              <a:off x="4963" y="794"/>
              <a:ext cx="480" cy="20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tIns="5400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571500" algn="r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571500" algn="r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Ar	18</a:t>
              </a:r>
            </a:p>
          </p:txBody>
        </p:sp>
        <p:sp>
          <p:nvSpPr>
            <p:cNvPr id="13357" name="Line 45"/>
            <p:cNvSpPr>
              <a:spLocks noChangeShapeType="1"/>
            </p:cNvSpPr>
            <p:nvPr/>
          </p:nvSpPr>
          <p:spPr bwMode="auto">
            <a:xfrm>
              <a:off x="4483" y="873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58" name="Rectangle 46"/>
            <p:cNvSpPr>
              <a:spLocks noChangeArrowheads="1"/>
            </p:cNvSpPr>
            <p:nvPr/>
          </p:nvSpPr>
          <p:spPr bwMode="auto">
            <a:xfrm>
              <a:off x="4173" y="807"/>
              <a:ext cx="19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0</a:t>
              </a:r>
            </a:p>
          </p:txBody>
        </p:sp>
        <p:sp>
          <p:nvSpPr>
            <p:cNvPr id="13359" name="Rectangle 47"/>
            <p:cNvSpPr>
              <a:spLocks noChangeArrowheads="1"/>
            </p:cNvSpPr>
            <p:nvPr/>
          </p:nvSpPr>
          <p:spPr bwMode="auto">
            <a:xfrm>
              <a:off x="4387" y="969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60" name="Rectangle 48"/>
            <p:cNvSpPr>
              <a:spLocks noChangeArrowheads="1"/>
            </p:cNvSpPr>
            <p:nvPr/>
          </p:nvSpPr>
          <p:spPr bwMode="auto">
            <a:xfrm>
              <a:off x="4173" y="999"/>
              <a:ext cx="19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1</a:t>
              </a:r>
            </a:p>
          </p:txBody>
        </p:sp>
        <p:sp>
          <p:nvSpPr>
            <p:cNvPr id="13361" name="Rectangle 49"/>
            <p:cNvSpPr>
              <a:spLocks noChangeArrowheads="1"/>
            </p:cNvSpPr>
            <p:nvPr/>
          </p:nvSpPr>
          <p:spPr bwMode="auto">
            <a:xfrm>
              <a:off x="4387" y="1161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62" name="Rectangle 50"/>
            <p:cNvSpPr>
              <a:spLocks noChangeArrowheads="1"/>
            </p:cNvSpPr>
            <p:nvPr/>
          </p:nvSpPr>
          <p:spPr bwMode="auto">
            <a:xfrm>
              <a:off x="4173" y="1191"/>
              <a:ext cx="19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2</a:t>
              </a:r>
            </a:p>
          </p:txBody>
        </p:sp>
        <p:sp>
          <p:nvSpPr>
            <p:cNvPr id="13363" name="Rectangle 51"/>
            <p:cNvSpPr>
              <a:spLocks noChangeArrowheads="1"/>
            </p:cNvSpPr>
            <p:nvPr/>
          </p:nvSpPr>
          <p:spPr bwMode="auto">
            <a:xfrm>
              <a:off x="4387" y="1353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64" name="Rectangle 52"/>
            <p:cNvSpPr>
              <a:spLocks noChangeArrowheads="1"/>
            </p:cNvSpPr>
            <p:nvPr/>
          </p:nvSpPr>
          <p:spPr bwMode="auto">
            <a:xfrm>
              <a:off x="4173" y="1383"/>
              <a:ext cx="19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3</a:t>
              </a:r>
            </a:p>
          </p:txBody>
        </p:sp>
        <p:sp>
          <p:nvSpPr>
            <p:cNvPr id="13365" name="Line 53"/>
            <p:cNvSpPr>
              <a:spLocks noChangeShapeType="1"/>
            </p:cNvSpPr>
            <p:nvPr/>
          </p:nvSpPr>
          <p:spPr bwMode="auto">
            <a:xfrm>
              <a:off x="4483" y="1449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66" name="Rectangle 54"/>
            <p:cNvSpPr>
              <a:spLocks noChangeArrowheads="1"/>
            </p:cNvSpPr>
            <p:nvPr/>
          </p:nvSpPr>
          <p:spPr bwMode="auto">
            <a:xfrm>
              <a:off x="4387" y="1545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67" name="Rectangle 55"/>
            <p:cNvSpPr>
              <a:spLocks noChangeArrowheads="1"/>
            </p:cNvSpPr>
            <p:nvPr/>
          </p:nvSpPr>
          <p:spPr bwMode="auto">
            <a:xfrm>
              <a:off x="4173" y="1575"/>
              <a:ext cx="19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4</a:t>
              </a:r>
            </a:p>
          </p:txBody>
        </p:sp>
        <p:sp>
          <p:nvSpPr>
            <p:cNvPr id="13368" name="Line 56"/>
            <p:cNvSpPr>
              <a:spLocks noChangeShapeType="1"/>
            </p:cNvSpPr>
            <p:nvPr/>
          </p:nvSpPr>
          <p:spPr bwMode="auto">
            <a:xfrm>
              <a:off x="4483" y="164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69" name="Rectangle 57"/>
            <p:cNvSpPr>
              <a:spLocks noChangeArrowheads="1"/>
            </p:cNvSpPr>
            <p:nvPr/>
          </p:nvSpPr>
          <p:spPr bwMode="auto">
            <a:xfrm>
              <a:off x="4387" y="1737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70" name="Rectangle 58"/>
            <p:cNvSpPr>
              <a:spLocks noChangeArrowheads="1"/>
            </p:cNvSpPr>
            <p:nvPr/>
          </p:nvSpPr>
          <p:spPr bwMode="auto">
            <a:xfrm>
              <a:off x="4173" y="1767"/>
              <a:ext cx="19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5</a:t>
              </a:r>
            </a:p>
          </p:txBody>
        </p:sp>
        <p:sp>
          <p:nvSpPr>
            <p:cNvPr id="13371" name="Rectangle 59"/>
            <p:cNvSpPr>
              <a:spLocks noChangeArrowheads="1"/>
            </p:cNvSpPr>
            <p:nvPr/>
          </p:nvSpPr>
          <p:spPr bwMode="auto">
            <a:xfrm>
              <a:off x="4387" y="1929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72" name="Rectangle 60"/>
            <p:cNvSpPr>
              <a:spLocks noChangeArrowheads="1"/>
            </p:cNvSpPr>
            <p:nvPr/>
          </p:nvSpPr>
          <p:spPr bwMode="auto">
            <a:xfrm>
              <a:off x="4173" y="1959"/>
              <a:ext cx="19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6</a:t>
              </a:r>
            </a:p>
          </p:txBody>
        </p:sp>
        <p:sp>
          <p:nvSpPr>
            <p:cNvPr id="13373" name="Line 61"/>
            <p:cNvSpPr>
              <a:spLocks noChangeShapeType="1"/>
            </p:cNvSpPr>
            <p:nvPr/>
          </p:nvSpPr>
          <p:spPr bwMode="auto">
            <a:xfrm>
              <a:off x="4483" y="202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74" name="Rectangle 62"/>
            <p:cNvSpPr>
              <a:spLocks noChangeArrowheads="1"/>
            </p:cNvSpPr>
            <p:nvPr/>
          </p:nvSpPr>
          <p:spPr bwMode="auto">
            <a:xfrm>
              <a:off x="4387" y="2121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75" name="Rectangle 63"/>
            <p:cNvSpPr>
              <a:spLocks noChangeArrowheads="1"/>
            </p:cNvSpPr>
            <p:nvPr/>
          </p:nvSpPr>
          <p:spPr bwMode="auto">
            <a:xfrm>
              <a:off x="4173" y="2151"/>
              <a:ext cx="19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7</a:t>
              </a:r>
            </a:p>
          </p:txBody>
        </p:sp>
        <p:sp>
          <p:nvSpPr>
            <p:cNvPr id="13376" name="Line 64"/>
            <p:cNvSpPr>
              <a:spLocks noChangeShapeType="1"/>
            </p:cNvSpPr>
            <p:nvPr/>
          </p:nvSpPr>
          <p:spPr bwMode="auto">
            <a:xfrm>
              <a:off x="4483" y="221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77" name="Rectangle 65"/>
            <p:cNvSpPr>
              <a:spLocks noChangeArrowheads="1"/>
            </p:cNvSpPr>
            <p:nvPr/>
          </p:nvSpPr>
          <p:spPr bwMode="auto">
            <a:xfrm>
              <a:off x="4387" y="2313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78" name="Rectangle 66"/>
            <p:cNvSpPr>
              <a:spLocks noChangeArrowheads="1"/>
            </p:cNvSpPr>
            <p:nvPr/>
          </p:nvSpPr>
          <p:spPr bwMode="auto">
            <a:xfrm>
              <a:off x="4173" y="2343"/>
              <a:ext cx="19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8</a:t>
              </a:r>
            </a:p>
          </p:txBody>
        </p:sp>
        <p:sp>
          <p:nvSpPr>
            <p:cNvPr id="13379" name="Rectangle 67"/>
            <p:cNvSpPr>
              <a:spLocks noChangeArrowheads="1"/>
            </p:cNvSpPr>
            <p:nvPr/>
          </p:nvSpPr>
          <p:spPr bwMode="auto">
            <a:xfrm>
              <a:off x="4387" y="2505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80" name="Rectangle 68"/>
            <p:cNvSpPr>
              <a:spLocks noChangeArrowheads="1"/>
            </p:cNvSpPr>
            <p:nvPr/>
          </p:nvSpPr>
          <p:spPr bwMode="auto">
            <a:xfrm>
              <a:off x="4173" y="2535"/>
              <a:ext cx="19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9</a:t>
              </a:r>
            </a:p>
          </p:txBody>
        </p:sp>
        <p:sp>
          <p:nvSpPr>
            <p:cNvPr id="13381" name="Line 69"/>
            <p:cNvSpPr>
              <a:spLocks noChangeShapeType="1"/>
            </p:cNvSpPr>
            <p:nvPr/>
          </p:nvSpPr>
          <p:spPr bwMode="auto">
            <a:xfrm>
              <a:off x="4483" y="260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82" name="Rectangle 70"/>
            <p:cNvSpPr>
              <a:spLocks noChangeArrowheads="1"/>
            </p:cNvSpPr>
            <p:nvPr/>
          </p:nvSpPr>
          <p:spPr bwMode="auto">
            <a:xfrm>
              <a:off x="4387" y="2697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83" name="Rectangle 71"/>
            <p:cNvSpPr>
              <a:spLocks noChangeArrowheads="1"/>
            </p:cNvSpPr>
            <p:nvPr/>
          </p:nvSpPr>
          <p:spPr bwMode="auto">
            <a:xfrm>
              <a:off x="4173" y="2727"/>
              <a:ext cx="19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10</a:t>
              </a:r>
            </a:p>
          </p:txBody>
        </p:sp>
        <p:sp>
          <p:nvSpPr>
            <p:cNvPr id="13384" name="Rectangle 72"/>
            <p:cNvSpPr>
              <a:spLocks noChangeArrowheads="1"/>
            </p:cNvSpPr>
            <p:nvPr/>
          </p:nvSpPr>
          <p:spPr bwMode="auto">
            <a:xfrm>
              <a:off x="4387" y="3465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85" name="Rectangle 73"/>
            <p:cNvSpPr>
              <a:spLocks noChangeArrowheads="1"/>
            </p:cNvSpPr>
            <p:nvPr/>
          </p:nvSpPr>
          <p:spPr bwMode="auto">
            <a:xfrm>
              <a:off x="4173" y="3495"/>
              <a:ext cx="19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23</a:t>
              </a:r>
            </a:p>
          </p:txBody>
        </p:sp>
        <p:sp>
          <p:nvSpPr>
            <p:cNvPr id="13386" name="Rectangle 74"/>
            <p:cNvSpPr>
              <a:spLocks noChangeArrowheads="1"/>
            </p:cNvSpPr>
            <p:nvPr/>
          </p:nvSpPr>
          <p:spPr bwMode="auto">
            <a:xfrm>
              <a:off x="4387" y="3657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87" name="Rectangle 75"/>
            <p:cNvSpPr>
              <a:spLocks noChangeArrowheads="1"/>
            </p:cNvSpPr>
            <p:nvPr/>
          </p:nvSpPr>
          <p:spPr bwMode="auto">
            <a:xfrm>
              <a:off x="4173" y="3687"/>
              <a:ext cx="19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24</a:t>
              </a:r>
            </a:p>
          </p:txBody>
        </p:sp>
        <p:sp>
          <p:nvSpPr>
            <p:cNvPr id="13388" name="Line 76"/>
            <p:cNvSpPr>
              <a:spLocks noChangeShapeType="1"/>
            </p:cNvSpPr>
            <p:nvPr/>
          </p:nvSpPr>
          <p:spPr bwMode="auto">
            <a:xfrm>
              <a:off x="4483" y="375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89" name="Rectangle 77"/>
            <p:cNvSpPr>
              <a:spLocks noChangeArrowheads="1"/>
            </p:cNvSpPr>
            <p:nvPr/>
          </p:nvSpPr>
          <p:spPr bwMode="auto">
            <a:xfrm>
              <a:off x="4387" y="3849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90" name="Rectangle 78"/>
            <p:cNvSpPr>
              <a:spLocks noChangeArrowheads="1"/>
            </p:cNvSpPr>
            <p:nvPr/>
          </p:nvSpPr>
          <p:spPr bwMode="auto">
            <a:xfrm>
              <a:off x="4173" y="3879"/>
              <a:ext cx="19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25</a:t>
              </a:r>
            </a:p>
          </p:txBody>
        </p:sp>
        <p:sp>
          <p:nvSpPr>
            <p:cNvPr id="13391" name="Line 79"/>
            <p:cNvSpPr>
              <a:spLocks noChangeShapeType="1"/>
            </p:cNvSpPr>
            <p:nvPr/>
          </p:nvSpPr>
          <p:spPr bwMode="auto">
            <a:xfrm>
              <a:off x="4483" y="394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92" name="Rectangle 80"/>
            <p:cNvSpPr>
              <a:spLocks noChangeArrowheads="1"/>
            </p:cNvSpPr>
            <p:nvPr/>
          </p:nvSpPr>
          <p:spPr bwMode="auto">
            <a:xfrm>
              <a:off x="4387" y="3273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93" name="Freeform 81"/>
            <p:cNvSpPr>
              <a:spLocks/>
            </p:cNvSpPr>
            <p:nvPr/>
          </p:nvSpPr>
          <p:spPr bwMode="auto">
            <a:xfrm>
              <a:off x="4339" y="3321"/>
              <a:ext cx="288" cy="96"/>
            </a:xfrm>
            <a:custGeom>
              <a:avLst/>
              <a:gdLst>
                <a:gd name="T0" fmla="*/ 0 w 288"/>
                <a:gd name="T1" fmla="*/ 0 h 96"/>
                <a:gd name="T2" fmla="*/ 288 w 288"/>
                <a:gd name="T3" fmla="*/ 48 h 96"/>
                <a:gd name="T4" fmla="*/ 288 w 288"/>
                <a:gd name="T5" fmla="*/ 96 h 96"/>
                <a:gd name="T6" fmla="*/ 0 w 288"/>
                <a:gd name="T7" fmla="*/ 48 h 96"/>
                <a:gd name="T8" fmla="*/ 0 w 288"/>
                <a:gd name="T9" fmla="*/ 0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8"/>
                <a:gd name="T16" fmla="*/ 0 h 96"/>
                <a:gd name="T17" fmla="*/ 288 w 288"/>
                <a:gd name="T18" fmla="*/ 96 h 9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8" h="96">
                  <a:moveTo>
                    <a:pt x="0" y="0"/>
                  </a:moveTo>
                  <a:lnTo>
                    <a:pt x="288" y="48"/>
                  </a:lnTo>
                  <a:lnTo>
                    <a:pt x="288" y="96"/>
                  </a:lnTo>
                  <a:lnTo>
                    <a:pt x="0" y="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94" name="Rectangle 82"/>
            <p:cNvSpPr>
              <a:spLocks noChangeArrowheads="1"/>
            </p:cNvSpPr>
            <p:nvPr/>
          </p:nvSpPr>
          <p:spPr bwMode="auto">
            <a:xfrm>
              <a:off x="4963" y="1302"/>
              <a:ext cx="480" cy="20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tIns="5400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571500" algn="r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571500" algn="r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Cl	17</a:t>
              </a:r>
            </a:p>
          </p:txBody>
        </p:sp>
        <p:sp>
          <p:nvSpPr>
            <p:cNvPr id="13395" name="Rectangle 83"/>
            <p:cNvSpPr>
              <a:spLocks noChangeArrowheads="1"/>
            </p:cNvSpPr>
            <p:nvPr/>
          </p:nvSpPr>
          <p:spPr bwMode="auto">
            <a:xfrm>
              <a:off x="4963" y="1044"/>
              <a:ext cx="480" cy="20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tIns="5400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571500" algn="r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571500" algn="r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Br	35</a:t>
              </a:r>
            </a:p>
          </p:txBody>
        </p:sp>
        <p:sp>
          <p:nvSpPr>
            <p:cNvPr id="13396" name="Line 84"/>
            <p:cNvSpPr>
              <a:spLocks noChangeShapeType="1"/>
            </p:cNvSpPr>
            <p:nvPr/>
          </p:nvSpPr>
          <p:spPr bwMode="auto">
            <a:xfrm>
              <a:off x="5395" y="358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97" name="Line 85"/>
            <p:cNvSpPr>
              <a:spLocks noChangeShapeType="1"/>
            </p:cNvSpPr>
            <p:nvPr/>
          </p:nvSpPr>
          <p:spPr bwMode="auto">
            <a:xfrm>
              <a:off x="5395" y="317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98" name="Line 86"/>
            <p:cNvSpPr>
              <a:spLocks noChangeShapeType="1"/>
            </p:cNvSpPr>
            <p:nvPr/>
          </p:nvSpPr>
          <p:spPr bwMode="auto">
            <a:xfrm>
              <a:off x="5395" y="89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99" name="Line 87"/>
            <p:cNvSpPr>
              <a:spLocks noChangeShapeType="1"/>
            </p:cNvSpPr>
            <p:nvPr/>
          </p:nvSpPr>
          <p:spPr bwMode="auto">
            <a:xfrm>
              <a:off x="5395" y="2409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400" name="Line 88"/>
            <p:cNvSpPr>
              <a:spLocks noChangeShapeType="1"/>
            </p:cNvSpPr>
            <p:nvPr/>
          </p:nvSpPr>
          <p:spPr bwMode="auto">
            <a:xfrm>
              <a:off x="5395" y="279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401" name="Line 89"/>
            <p:cNvSpPr>
              <a:spLocks noChangeShapeType="1"/>
            </p:cNvSpPr>
            <p:nvPr/>
          </p:nvSpPr>
          <p:spPr bwMode="auto">
            <a:xfrm>
              <a:off x="5395" y="184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402" name="Line 90"/>
            <p:cNvSpPr>
              <a:spLocks noChangeShapeType="1"/>
            </p:cNvSpPr>
            <p:nvPr/>
          </p:nvSpPr>
          <p:spPr bwMode="auto">
            <a:xfrm>
              <a:off x="5395" y="139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403" name="Line 91"/>
            <p:cNvSpPr>
              <a:spLocks noChangeShapeType="1"/>
            </p:cNvSpPr>
            <p:nvPr/>
          </p:nvSpPr>
          <p:spPr bwMode="auto">
            <a:xfrm>
              <a:off x="5395" y="114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404" name="Line 92"/>
            <p:cNvSpPr>
              <a:spLocks noChangeShapeType="1"/>
            </p:cNvSpPr>
            <p:nvPr/>
          </p:nvSpPr>
          <p:spPr bwMode="auto">
            <a:xfrm>
              <a:off x="4483" y="1065"/>
              <a:ext cx="480" cy="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405" name="Line 93"/>
            <p:cNvSpPr>
              <a:spLocks noChangeShapeType="1"/>
            </p:cNvSpPr>
            <p:nvPr/>
          </p:nvSpPr>
          <p:spPr bwMode="auto">
            <a:xfrm>
              <a:off x="4483" y="1257"/>
              <a:ext cx="480" cy="14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406" name="Line 94"/>
            <p:cNvSpPr>
              <a:spLocks noChangeShapeType="1"/>
            </p:cNvSpPr>
            <p:nvPr/>
          </p:nvSpPr>
          <p:spPr bwMode="auto">
            <a:xfrm>
              <a:off x="4483" y="1833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407" name="Line 95"/>
            <p:cNvSpPr>
              <a:spLocks noChangeShapeType="1"/>
            </p:cNvSpPr>
            <p:nvPr/>
          </p:nvSpPr>
          <p:spPr bwMode="auto">
            <a:xfrm>
              <a:off x="4483" y="2409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408" name="Line 96"/>
            <p:cNvSpPr>
              <a:spLocks noChangeShapeType="1"/>
            </p:cNvSpPr>
            <p:nvPr/>
          </p:nvSpPr>
          <p:spPr bwMode="auto">
            <a:xfrm>
              <a:off x="4483" y="2793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409" name="Line 97"/>
            <p:cNvSpPr>
              <a:spLocks noChangeShapeType="1"/>
            </p:cNvSpPr>
            <p:nvPr/>
          </p:nvSpPr>
          <p:spPr bwMode="auto">
            <a:xfrm>
              <a:off x="4483" y="3561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410" name="Rectangle 98"/>
            <p:cNvSpPr>
              <a:spLocks noChangeArrowheads="1"/>
            </p:cNvSpPr>
            <p:nvPr/>
          </p:nvSpPr>
          <p:spPr bwMode="auto">
            <a:xfrm>
              <a:off x="4387" y="3081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411" name="Rectangle 99"/>
            <p:cNvSpPr>
              <a:spLocks noChangeArrowheads="1"/>
            </p:cNvSpPr>
            <p:nvPr/>
          </p:nvSpPr>
          <p:spPr bwMode="auto">
            <a:xfrm>
              <a:off x="4173" y="3111"/>
              <a:ext cx="19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13</a:t>
              </a:r>
            </a:p>
          </p:txBody>
        </p:sp>
        <p:sp>
          <p:nvSpPr>
            <p:cNvPr id="13412" name="Line 100"/>
            <p:cNvSpPr>
              <a:spLocks noChangeShapeType="1"/>
            </p:cNvSpPr>
            <p:nvPr/>
          </p:nvSpPr>
          <p:spPr bwMode="auto">
            <a:xfrm>
              <a:off x="4483" y="3177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413" name="Rectangle 101"/>
            <p:cNvSpPr>
              <a:spLocks noChangeArrowheads="1"/>
            </p:cNvSpPr>
            <p:nvPr/>
          </p:nvSpPr>
          <p:spPr bwMode="auto">
            <a:xfrm>
              <a:off x="4387" y="2889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414" name="Freeform 102"/>
            <p:cNvSpPr>
              <a:spLocks/>
            </p:cNvSpPr>
            <p:nvPr/>
          </p:nvSpPr>
          <p:spPr bwMode="auto">
            <a:xfrm>
              <a:off x="4339" y="2937"/>
              <a:ext cx="288" cy="96"/>
            </a:xfrm>
            <a:custGeom>
              <a:avLst/>
              <a:gdLst>
                <a:gd name="T0" fmla="*/ 0 w 288"/>
                <a:gd name="T1" fmla="*/ 0 h 96"/>
                <a:gd name="T2" fmla="*/ 288 w 288"/>
                <a:gd name="T3" fmla="*/ 48 h 96"/>
                <a:gd name="T4" fmla="*/ 288 w 288"/>
                <a:gd name="T5" fmla="*/ 96 h 96"/>
                <a:gd name="T6" fmla="*/ 0 w 288"/>
                <a:gd name="T7" fmla="*/ 48 h 96"/>
                <a:gd name="T8" fmla="*/ 0 w 288"/>
                <a:gd name="T9" fmla="*/ 0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8"/>
                <a:gd name="T16" fmla="*/ 0 h 96"/>
                <a:gd name="T17" fmla="*/ 288 w 288"/>
                <a:gd name="T18" fmla="*/ 96 h 9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8" h="96">
                  <a:moveTo>
                    <a:pt x="0" y="0"/>
                  </a:moveTo>
                  <a:lnTo>
                    <a:pt x="288" y="48"/>
                  </a:lnTo>
                  <a:lnTo>
                    <a:pt x="288" y="96"/>
                  </a:lnTo>
                  <a:lnTo>
                    <a:pt x="0" y="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355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Closed-bucket hash-tables </a:t>
            </a:r>
            <a:r>
              <a:rPr lang="en-US" altLang="en-US" i="1"/>
              <a:t>(3)</a:t>
            </a:r>
            <a:endParaRPr lang="en-GB" altLang="en-US" i="1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Illustration (with collisions):</a:t>
            </a:r>
          </a:p>
        </p:txBody>
      </p:sp>
      <p:graphicFrame>
        <p:nvGraphicFramePr>
          <p:cNvPr id="410806" name="Group 182"/>
          <p:cNvGraphicFramePr>
            <a:graphicFrameLocks noGrp="1"/>
          </p:cNvGraphicFramePr>
          <p:nvPr/>
        </p:nvGraphicFramePr>
        <p:xfrm>
          <a:off x="1995488" y="2133600"/>
          <a:ext cx="2071687" cy="4254550"/>
        </p:xfrm>
        <a:graphic>
          <a:graphicData uri="http://schemas.openxmlformats.org/drawingml/2006/table">
            <a:tbl>
              <a:tblPr/>
              <a:tblGrid>
                <a:gridCol w="106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element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number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He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Li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4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Mg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4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4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Rb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37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69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Sr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38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69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Cs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55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69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Ba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56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2" name="Group 188"/>
          <p:cNvGrpSpPr>
            <a:grpSpLocks/>
          </p:cNvGrpSpPr>
          <p:nvPr/>
        </p:nvGrpSpPr>
        <p:grpSpPr bwMode="auto">
          <a:xfrm>
            <a:off x="4248150" y="1524000"/>
            <a:ext cx="4787900" cy="4876800"/>
            <a:chOff x="2676" y="960"/>
            <a:chExt cx="3016" cy="3072"/>
          </a:xfrm>
        </p:grpSpPr>
        <p:sp>
          <p:nvSpPr>
            <p:cNvPr id="14385" name="Rectangle 49"/>
            <p:cNvSpPr>
              <a:spLocks noChangeArrowheads="1"/>
            </p:cNvSpPr>
            <p:nvPr/>
          </p:nvSpPr>
          <p:spPr bwMode="auto">
            <a:xfrm>
              <a:off x="2676" y="2523"/>
              <a:ext cx="808" cy="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is represented by</a:t>
              </a:r>
            </a:p>
          </p:txBody>
        </p:sp>
        <p:sp>
          <p:nvSpPr>
            <p:cNvPr id="14386" name="Rectangle 50"/>
            <p:cNvSpPr>
              <a:spLocks noChangeArrowheads="1"/>
            </p:cNvSpPr>
            <p:nvPr/>
          </p:nvSpPr>
          <p:spPr bwMode="auto">
            <a:xfrm>
              <a:off x="3772" y="960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387" name="Rectangle 51"/>
            <p:cNvSpPr>
              <a:spLocks noChangeArrowheads="1"/>
            </p:cNvSpPr>
            <p:nvPr/>
          </p:nvSpPr>
          <p:spPr bwMode="auto">
            <a:xfrm>
              <a:off x="3560" y="996"/>
              <a:ext cx="19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0</a:t>
              </a:r>
            </a:p>
          </p:txBody>
        </p:sp>
        <p:sp>
          <p:nvSpPr>
            <p:cNvPr id="14388" name="Rectangle 52"/>
            <p:cNvSpPr>
              <a:spLocks noChangeArrowheads="1"/>
            </p:cNvSpPr>
            <p:nvPr/>
          </p:nvSpPr>
          <p:spPr bwMode="auto">
            <a:xfrm>
              <a:off x="3772" y="1152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389" name="Rectangle 53"/>
            <p:cNvSpPr>
              <a:spLocks noChangeArrowheads="1"/>
            </p:cNvSpPr>
            <p:nvPr/>
          </p:nvSpPr>
          <p:spPr bwMode="auto">
            <a:xfrm>
              <a:off x="3560" y="1188"/>
              <a:ext cx="19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1</a:t>
              </a:r>
            </a:p>
          </p:txBody>
        </p:sp>
        <p:sp>
          <p:nvSpPr>
            <p:cNvPr id="14390" name="Rectangle 54"/>
            <p:cNvSpPr>
              <a:spLocks noChangeArrowheads="1"/>
            </p:cNvSpPr>
            <p:nvPr/>
          </p:nvSpPr>
          <p:spPr bwMode="auto">
            <a:xfrm>
              <a:off x="3772" y="1344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391" name="Rectangle 55"/>
            <p:cNvSpPr>
              <a:spLocks noChangeArrowheads="1"/>
            </p:cNvSpPr>
            <p:nvPr/>
          </p:nvSpPr>
          <p:spPr bwMode="auto">
            <a:xfrm>
              <a:off x="3560" y="1380"/>
              <a:ext cx="19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2</a:t>
              </a:r>
            </a:p>
          </p:txBody>
        </p:sp>
        <p:sp>
          <p:nvSpPr>
            <p:cNvPr id="14392" name="Rectangle 56"/>
            <p:cNvSpPr>
              <a:spLocks noChangeArrowheads="1"/>
            </p:cNvSpPr>
            <p:nvPr/>
          </p:nvSpPr>
          <p:spPr bwMode="auto">
            <a:xfrm>
              <a:off x="3772" y="1728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393" name="Rectangle 57"/>
            <p:cNvSpPr>
              <a:spLocks noChangeArrowheads="1"/>
            </p:cNvSpPr>
            <p:nvPr/>
          </p:nvSpPr>
          <p:spPr bwMode="auto">
            <a:xfrm>
              <a:off x="3560" y="1764"/>
              <a:ext cx="19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7</a:t>
              </a:r>
            </a:p>
          </p:txBody>
        </p:sp>
        <p:sp>
          <p:nvSpPr>
            <p:cNvPr id="14394" name="Rectangle 58"/>
            <p:cNvSpPr>
              <a:spLocks noChangeArrowheads="1"/>
            </p:cNvSpPr>
            <p:nvPr/>
          </p:nvSpPr>
          <p:spPr bwMode="auto">
            <a:xfrm>
              <a:off x="3772" y="1920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395" name="Rectangle 59"/>
            <p:cNvSpPr>
              <a:spLocks noChangeArrowheads="1"/>
            </p:cNvSpPr>
            <p:nvPr/>
          </p:nvSpPr>
          <p:spPr bwMode="auto">
            <a:xfrm>
              <a:off x="3560" y="1956"/>
              <a:ext cx="19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8</a:t>
              </a:r>
            </a:p>
          </p:txBody>
        </p:sp>
        <p:sp>
          <p:nvSpPr>
            <p:cNvPr id="14396" name="Rectangle 60"/>
            <p:cNvSpPr>
              <a:spLocks noChangeArrowheads="1"/>
            </p:cNvSpPr>
            <p:nvPr/>
          </p:nvSpPr>
          <p:spPr bwMode="auto">
            <a:xfrm>
              <a:off x="3772" y="2112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397" name="Rectangle 61"/>
            <p:cNvSpPr>
              <a:spLocks noChangeArrowheads="1"/>
            </p:cNvSpPr>
            <p:nvPr/>
          </p:nvSpPr>
          <p:spPr bwMode="auto">
            <a:xfrm>
              <a:off x="3560" y="2148"/>
              <a:ext cx="19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9</a:t>
              </a:r>
            </a:p>
          </p:txBody>
        </p:sp>
        <p:sp>
          <p:nvSpPr>
            <p:cNvPr id="14398" name="Rectangle 62"/>
            <p:cNvSpPr>
              <a:spLocks noChangeArrowheads="1"/>
            </p:cNvSpPr>
            <p:nvPr/>
          </p:nvSpPr>
          <p:spPr bwMode="auto">
            <a:xfrm>
              <a:off x="3772" y="2304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399" name="Rectangle 63"/>
            <p:cNvSpPr>
              <a:spLocks noChangeArrowheads="1"/>
            </p:cNvSpPr>
            <p:nvPr/>
          </p:nvSpPr>
          <p:spPr bwMode="auto">
            <a:xfrm>
              <a:off x="3560" y="2340"/>
              <a:ext cx="19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10</a:t>
              </a:r>
            </a:p>
          </p:txBody>
        </p:sp>
        <p:sp>
          <p:nvSpPr>
            <p:cNvPr id="14400" name="Rectangle 64"/>
            <p:cNvSpPr>
              <a:spLocks noChangeArrowheads="1"/>
            </p:cNvSpPr>
            <p:nvPr/>
          </p:nvSpPr>
          <p:spPr bwMode="auto">
            <a:xfrm>
              <a:off x="3772" y="2496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401" name="Rectangle 65"/>
            <p:cNvSpPr>
              <a:spLocks noChangeArrowheads="1"/>
            </p:cNvSpPr>
            <p:nvPr/>
          </p:nvSpPr>
          <p:spPr bwMode="auto">
            <a:xfrm>
              <a:off x="3560" y="2532"/>
              <a:ext cx="19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11</a:t>
              </a:r>
            </a:p>
          </p:txBody>
        </p:sp>
        <p:sp>
          <p:nvSpPr>
            <p:cNvPr id="14402" name="Rectangle 66"/>
            <p:cNvSpPr>
              <a:spLocks noChangeArrowheads="1"/>
            </p:cNvSpPr>
            <p:nvPr/>
          </p:nvSpPr>
          <p:spPr bwMode="auto">
            <a:xfrm>
              <a:off x="3772" y="2688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403" name="Rectangle 67"/>
            <p:cNvSpPr>
              <a:spLocks noChangeArrowheads="1"/>
            </p:cNvSpPr>
            <p:nvPr/>
          </p:nvSpPr>
          <p:spPr bwMode="auto">
            <a:xfrm>
              <a:off x="3560" y="2724"/>
              <a:ext cx="19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12</a:t>
              </a:r>
            </a:p>
          </p:txBody>
        </p:sp>
        <p:sp>
          <p:nvSpPr>
            <p:cNvPr id="14404" name="Rectangle 68"/>
            <p:cNvSpPr>
              <a:spLocks noChangeArrowheads="1"/>
            </p:cNvSpPr>
            <p:nvPr/>
          </p:nvSpPr>
          <p:spPr bwMode="auto">
            <a:xfrm>
              <a:off x="3772" y="3840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405" name="Rectangle 69"/>
            <p:cNvSpPr>
              <a:spLocks noChangeArrowheads="1"/>
            </p:cNvSpPr>
            <p:nvPr/>
          </p:nvSpPr>
          <p:spPr bwMode="auto">
            <a:xfrm>
              <a:off x="3560" y="3876"/>
              <a:ext cx="19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25</a:t>
              </a:r>
            </a:p>
          </p:txBody>
        </p:sp>
        <p:sp>
          <p:nvSpPr>
            <p:cNvPr id="14406" name="Rectangle 71"/>
            <p:cNvSpPr>
              <a:spLocks noChangeArrowheads="1"/>
            </p:cNvSpPr>
            <p:nvPr/>
          </p:nvSpPr>
          <p:spPr bwMode="auto">
            <a:xfrm>
              <a:off x="3774" y="3072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407" name="Freeform 72"/>
            <p:cNvSpPr>
              <a:spLocks/>
            </p:cNvSpPr>
            <p:nvPr/>
          </p:nvSpPr>
          <p:spPr bwMode="auto">
            <a:xfrm>
              <a:off x="3726" y="3120"/>
              <a:ext cx="288" cy="96"/>
            </a:xfrm>
            <a:custGeom>
              <a:avLst/>
              <a:gdLst>
                <a:gd name="T0" fmla="*/ 0 w 288"/>
                <a:gd name="T1" fmla="*/ 0 h 96"/>
                <a:gd name="T2" fmla="*/ 288 w 288"/>
                <a:gd name="T3" fmla="*/ 48 h 96"/>
                <a:gd name="T4" fmla="*/ 288 w 288"/>
                <a:gd name="T5" fmla="*/ 96 h 96"/>
                <a:gd name="T6" fmla="*/ 0 w 288"/>
                <a:gd name="T7" fmla="*/ 48 h 96"/>
                <a:gd name="T8" fmla="*/ 0 w 288"/>
                <a:gd name="T9" fmla="*/ 0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8"/>
                <a:gd name="T16" fmla="*/ 0 h 96"/>
                <a:gd name="T17" fmla="*/ 288 w 288"/>
                <a:gd name="T18" fmla="*/ 96 h 9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8" h="96">
                  <a:moveTo>
                    <a:pt x="0" y="0"/>
                  </a:moveTo>
                  <a:lnTo>
                    <a:pt x="288" y="48"/>
                  </a:lnTo>
                  <a:lnTo>
                    <a:pt x="288" y="96"/>
                  </a:lnTo>
                  <a:lnTo>
                    <a:pt x="0" y="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08" name="Line 73"/>
            <p:cNvSpPr>
              <a:spLocks noChangeShapeType="1"/>
            </p:cNvSpPr>
            <p:nvPr/>
          </p:nvSpPr>
          <p:spPr bwMode="auto">
            <a:xfrm flipV="1">
              <a:off x="3868" y="1187"/>
              <a:ext cx="480" cy="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09" name="Line 74"/>
            <p:cNvSpPr>
              <a:spLocks noChangeShapeType="1"/>
            </p:cNvSpPr>
            <p:nvPr/>
          </p:nvSpPr>
          <p:spPr bwMode="auto">
            <a:xfrm flipV="1">
              <a:off x="3868" y="1421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10" name="Line 75"/>
            <p:cNvSpPr>
              <a:spLocks noChangeShapeType="1"/>
            </p:cNvSpPr>
            <p:nvPr/>
          </p:nvSpPr>
          <p:spPr bwMode="auto">
            <a:xfrm flipV="1">
              <a:off x="3868" y="2527"/>
              <a:ext cx="480" cy="4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11" name="Rectangle 76"/>
            <p:cNvSpPr>
              <a:spLocks noChangeArrowheads="1"/>
            </p:cNvSpPr>
            <p:nvPr/>
          </p:nvSpPr>
          <p:spPr bwMode="auto">
            <a:xfrm>
              <a:off x="3772" y="2880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412" name="Rectangle 77"/>
            <p:cNvSpPr>
              <a:spLocks noChangeArrowheads="1"/>
            </p:cNvSpPr>
            <p:nvPr/>
          </p:nvSpPr>
          <p:spPr bwMode="auto">
            <a:xfrm>
              <a:off x="3560" y="2916"/>
              <a:ext cx="19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13</a:t>
              </a:r>
            </a:p>
          </p:txBody>
        </p:sp>
        <p:sp>
          <p:nvSpPr>
            <p:cNvPr id="14413" name="Rectangle 78"/>
            <p:cNvSpPr>
              <a:spLocks noChangeArrowheads="1"/>
            </p:cNvSpPr>
            <p:nvPr/>
          </p:nvSpPr>
          <p:spPr bwMode="auto">
            <a:xfrm>
              <a:off x="4348" y="3535"/>
              <a:ext cx="480" cy="20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tIns="5400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571500" algn="r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571500" algn="r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Sr	38</a:t>
              </a:r>
            </a:p>
          </p:txBody>
        </p:sp>
        <p:sp>
          <p:nvSpPr>
            <p:cNvPr id="14414" name="Rectangle 79"/>
            <p:cNvSpPr>
              <a:spLocks noChangeArrowheads="1"/>
            </p:cNvSpPr>
            <p:nvPr/>
          </p:nvSpPr>
          <p:spPr bwMode="auto">
            <a:xfrm>
              <a:off x="4348" y="2143"/>
              <a:ext cx="480" cy="20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tIns="5400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571500" algn="r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571500" algn="r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K	19</a:t>
              </a:r>
            </a:p>
          </p:txBody>
        </p:sp>
        <p:sp>
          <p:nvSpPr>
            <p:cNvPr id="14415" name="Rectangle 80"/>
            <p:cNvSpPr>
              <a:spLocks noChangeArrowheads="1"/>
            </p:cNvSpPr>
            <p:nvPr/>
          </p:nvSpPr>
          <p:spPr bwMode="auto">
            <a:xfrm>
              <a:off x="4348" y="2959"/>
              <a:ext cx="480" cy="20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tIns="5400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571500" algn="r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571500" algn="r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Na	11</a:t>
              </a:r>
            </a:p>
          </p:txBody>
        </p:sp>
        <p:sp>
          <p:nvSpPr>
            <p:cNvPr id="14416" name="Rectangle 81"/>
            <p:cNvSpPr>
              <a:spLocks noChangeArrowheads="1"/>
            </p:cNvSpPr>
            <p:nvPr/>
          </p:nvSpPr>
          <p:spPr bwMode="auto">
            <a:xfrm>
              <a:off x="4348" y="2684"/>
              <a:ext cx="480" cy="20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tIns="5400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571500" algn="r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571500" algn="r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Mg	12</a:t>
              </a:r>
            </a:p>
          </p:txBody>
        </p:sp>
        <p:sp>
          <p:nvSpPr>
            <p:cNvPr id="14417" name="Rectangle 82"/>
            <p:cNvSpPr>
              <a:spLocks noChangeArrowheads="1"/>
            </p:cNvSpPr>
            <p:nvPr/>
          </p:nvSpPr>
          <p:spPr bwMode="auto">
            <a:xfrm>
              <a:off x="4348" y="2414"/>
              <a:ext cx="480" cy="20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tIns="5400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571500" algn="r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571500" algn="r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Li	3</a:t>
              </a:r>
            </a:p>
          </p:txBody>
        </p:sp>
        <p:sp>
          <p:nvSpPr>
            <p:cNvPr id="14418" name="Rectangle 83"/>
            <p:cNvSpPr>
              <a:spLocks noChangeArrowheads="1"/>
            </p:cNvSpPr>
            <p:nvPr/>
          </p:nvSpPr>
          <p:spPr bwMode="auto">
            <a:xfrm>
              <a:off x="4348" y="1062"/>
              <a:ext cx="480" cy="20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tIns="5400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571500" algn="r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571500" algn="r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Ba	56</a:t>
              </a:r>
            </a:p>
          </p:txBody>
        </p:sp>
        <p:sp>
          <p:nvSpPr>
            <p:cNvPr id="14419" name="Rectangle 84"/>
            <p:cNvSpPr>
              <a:spLocks noChangeArrowheads="1"/>
            </p:cNvSpPr>
            <p:nvPr/>
          </p:nvSpPr>
          <p:spPr bwMode="auto">
            <a:xfrm>
              <a:off x="5212" y="1321"/>
              <a:ext cx="480" cy="20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tIns="5400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571500" algn="r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571500" algn="r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Ca	20</a:t>
              </a:r>
            </a:p>
          </p:txBody>
        </p:sp>
        <p:sp>
          <p:nvSpPr>
            <p:cNvPr id="14420" name="Rectangle 85"/>
            <p:cNvSpPr>
              <a:spLocks noChangeArrowheads="1"/>
            </p:cNvSpPr>
            <p:nvPr/>
          </p:nvSpPr>
          <p:spPr bwMode="auto">
            <a:xfrm>
              <a:off x="5212" y="1056"/>
              <a:ext cx="480" cy="20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tIns="5400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571500" algn="r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571500" algn="r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Be	4</a:t>
              </a:r>
            </a:p>
          </p:txBody>
        </p:sp>
        <p:sp>
          <p:nvSpPr>
            <p:cNvPr id="14421" name="Rectangle 86"/>
            <p:cNvSpPr>
              <a:spLocks noChangeArrowheads="1"/>
            </p:cNvSpPr>
            <p:nvPr/>
          </p:nvSpPr>
          <p:spPr bwMode="auto">
            <a:xfrm>
              <a:off x="5212" y="1711"/>
              <a:ext cx="480" cy="20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tIns="5400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571500" algn="r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571500" algn="r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H	1</a:t>
              </a:r>
            </a:p>
          </p:txBody>
        </p:sp>
        <p:sp>
          <p:nvSpPr>
            <p:cNvPr id="14422" name="Rectangle 87"/>
            <p:cNvSpPr>
              <a:spLocks noChangeArrowheads="1"/>
            </p:cNvSpPr>
            <p:nvPr/>
          </p:nvSpPr>
          <p:spPr bwMode="auto">
            <a:xfrm>
              <a:off x="4348" y="1711"/>
              <a:ext cx="480" cy="20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tIns="5400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571500" algn="r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571500" algn="r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He	2</a:t>
              </a:r>
            </a:p>
          </p:txBody>
        </p:sp>
        <p:sp>
          <p:nvSpPr>
            <p:cNvPr id="14423" name="Rectangle 88"/>
            <p:cNvSpPr>
              <a:spLocks noChangeArrowheads="1"/>
            </p:cNvSpPr>
            <p:nvPr/>
          </p:nvSpPr>
          <p:spPr bwMode="auto">
            <a:xfrm>
              <a:off x="4348" y="3264"/>
              <a:ext cx="480" cy="20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tIns="5400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571500" algn="r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571500" algn="r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Rb	37</a:t>
              </a:r>
            </a:p>
          </p:txBody>
        </p:sp>
        <p:sp>
          <p:nvSpPr>
            <p:cNvPr id="14424" name="Rectangle 89"/>
            <p:cNvSpPr>
              <a:spLocks noChangeArrowheads="1"/>
            </p:cNvSpPr>
            <p:nvPr/>
          </p:nvSpPr>
          <p:spPr bwMode="auto">
            <a:xfrm>
              <a:off x="4348" y="1327"/>
              <a:ext cx="480" cy="20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tIns="5400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571500" algn="r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571500" algn="r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Cs	55</a:t>
              </a:r>
            </a:p>
          </p:txBody>
        </p:sp>
        <p:sp>
          <p:nvSpPr>
            <p:cNvPr id="14425" name="Rectangle 93"/>
            <p:cNvSpPr>
              <a:spLocks noChangeArrowheads="1"/>
            </p:cNvSpPr>
            <p:nvPr/>
          </p:nvSpPr>
          <p:spPr bwMode="auto">
            <a:xfrm>
              <a:off x="3772" y="3264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426" name="Rectangle 94"/>
            <p:cNvSpPr>
              <a:spLocks noChangeArrowheads="1"/>
            </p:cNvSpPr>
            <p:nvPr/>
          </p:nvSpPr>
          <p:spPr bwMode="auto">
            <a:xfrm>
              <a:off x="3560" y="3319"/>
              <a:ext cx="19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17</a:t>
              </a:r>
            </a:p>
          </p:txBody>
        </p:sp>
        <p:sp>
          <p:nvSpPr>
            <p:cNvPr id="14427" name="Rectangle 95"/>
            <p:cNvSpPr>
              <a:spLocks noChangeArrowheads="1"/>
            </p:cNvSpPr>
            <p:nvPr/>
          </p:nvSpPr>
          <p:spPr bwMode="auto">
            <a:xfrm>
              <a:off x="3772" y="3456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428" name="Rectangle 96"/>
            <p:cNvSpPr>
              <a:spLocks noChangeArrowheads="1"/>
            </p:cNvSpPr>
            <p:nvPr/>
          </p:nvSpPr>
          <p:spPr bwMode="auto">
            <a:xfrm>
              <a:off x="3560" y="3511"/>
              <a:ext cx="19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18</a:t>
              </a:r>
            </a:p>
          </p:txBody>
        </p:sp>
        <p:sp>
          <p:nvSpPr>
            <p:cNvPr id="14429" name="Rectangle 98"/>
            <p:cNvSpPr>
              <a:spLocks noChangeArrowheads="1"/>
            </p:cNvSpPr>
            <p:nvPr/>
          </p:nvSpPr>
          <p:spPr bwMode="auto">
            <a:xfrm>
              <a:off x="3774" y="3648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430" name="Freeform 99"/>
            <p:cNvSpPr>
              <a:spLocks/>
            </p:cNvSpPr>
            <p:nvPr/>
          </p:nvSpPr>
          <p:spPr bwMode="auto">
            <a:xfrm>
              <a:off x="3726" y="3696"/>
              <a:ext cx="288" cy="96"/>
            </a:xfrm>
            <a:custGeom>
              <a:avLst/>
              <a:gdLst>
                <a:gd name="T0" fmla="*/ 0 w 288"/>
                <a:gd name="T1" fmla="*/ 0 h 96"/>
                <a:gd name="T2" fmla="*/ 288 w 288"/>
                <a:gd name="T3" fmla="*/ 48 h 96"/>
                <a:gd name="T4" fmla="*/ 288 w 288"/>
                <a:gd name="T5" fmla="*/ 96 h 96"/>
                <a:gd name="T6" fmla="*/ 0 w 288"/>
                <a:gd name="T7" fmla="*/ 48 h 96"/>
                <a:gd name="T8" fmla="*/ 0 w 288"/>
                <a:gd name="T9" fmla="*/ 0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8"/>
                <a:gd name="T16" fmla="*/ 0 h 96"/>
                <a:gd name="T17" fmla="*/ 288 w 288"/>
                <a:gd name="T18" fmla="*/ 96 h 9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8" h="96">
                  <a:moveTo>
                    <a:pt x="0" y="0"/>
                  </a:moveTo>
                  <a:lnTo>
                    <a:pt x="288" y="48"/>
                  </a:lnTo>
                  <a:lnTo>
                    <a:pt x="288" y="96"/>
                  </a:lnTo>
                  <a:lnTo>
                    <a:pt x="0" y="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31" name="Line 100"/>
            <p:cNvSpPr>
              <a:spLocks noChangeShapeType="1"/>
            </p:cNvSpPr>
            <p:nvPr/>
          </p:nvSpPr>
          <p:spPr bwMode="auto">
            <a:xfrm>
              <a:off x="3868" y="393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32" name="Line 101"/>
            <p:cNvSpPr>
              <a:spLocks noChangeShapeType="1"/>
            </p:cNvSpPr>
            <p:nvPr/>
          </p:nvSpPr>
          <p:spPr bwMode="auto">
            <a:xfrm>
              <a:off x="3868" y="3552"/>
              <a:ext cx="48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33" name="Line 102"/>
            <p:cNvSpPr>
              <a:spLocks noChangeShapeType="1"/>
            </p:cNvSpPr>
            <p:nvPr/>
          </p:nvSpPr>
          <p:spPr bwMode="auto">
            <a:xfrm>
              <a:off x="3868" y="3379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34" name="Line 103"/>
            <p:cNvSpPr>
              <a:spLocks noChangeShapeType="1"/>
            </p:cNvSpPr>
            <p:nvPr/>
          </p:nvSpPr>
          <p:spPr bwMode="auto">
            <a:xfrm flipV="1">
              <a:off x="3868" y="2277"/>
              <a:ext cx="480" cy="12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35" name="Line 104"/>
            <p:cNvSpPr>
              <a:spLocks noChangeShapeType="1"/>
            </p:cNvSpPr>
            <p:nvPr/>
          </p:nvSpPr>
          <p:spPr bwMode="auto">
            <a:xfrm>
              <a:off x="3868" y="2784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36" name="Line 105"/>
            <p:cNvSpPr>
              <a:spLocks noChangeShapeType="1"/>
            </p:cNvSpPr>
            <p:nvPr/>
          </p:nvSpPr>
          <p:spPr bwMode="auto">
            <a:xfrm>
              <a:off x="3868" y="2976"/>
              <a:ext cx="48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37" name="Line 106"/>
            <p:cNvSpPr>
              <a:spLocks noChangeShapeType="1"/>
            </p:cNvSpPr>
            <p:nvPr/>
          </p:nvSpPr>
          <p:spPr bwMode="auto">
            <a:xfrm flipV="1">
              <a:off x="3868" y="1819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38" name="Line 107"/>
            <p:cNvSpPr>
              <a:spLocks noChangeShapeType="1"/>
            </p:cNvSpPr>
            <p:nvPr/>
          </p:nvSpPr>
          <p:spPr bwMode="auto">
            <a:xfrm>
              <a:off x="3868" y="105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39" name="Line 108"/>
            <p:cNvSpPr>
              <a:spLocks noChangeShapeType="1"/>
            </p:cNvSpPr>
            <p:nvPr/>
          </p:nvSpPr>
          <p:spPr bwMode="auto">
            <a:xfrm>
              <a:off x="3868" y="201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40" name="Line 109"/>
            <p:cNvSpPr>
              <a:spLocks noChangeShapeType="1"/>
            </p:cNvSpPr>
            <p:nvPr/>
          </p:nvSpPr>
          <p:spPr bwMode="auto">
            <a:xfrm>
              <a:off x="3868" y="220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41" name="Line 110"/>
            <p:cNvSpPr>
              <a:spLocks noChangeShapeType="1"/>
            </p:cNvSpPr>
            <p:nvPr/>
          </p:nvSpPr>
          <p:spPr bwMode="auto">
            <a:xfrm>
              <a:off x="4780" y="365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42" name="Line 111"/>
            <p:cNvSpPr>
              <a:spLocks noChangeShapeType="1"/>
            </p:cNvSpPr>
            <p:nvPr/>
          </p:nvSpPr>
          <p:spPr bwMode="auto">
            <a:xfrm>
              <a:off x="4780" y="308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43" name="Line 112"/>
            <p:cNvSpPr>
              <a:spLocks noChangeShapeType="1"/>
            </p:cNvSpPr>
            <p:nvPr/>
          </p:nvSpPr>
          <p:spPr bwMode="auto">
            <a:xfrm>
              <a:off x="4780" y="254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44" name="Line 113"/>
            <p:cNvSpPr>
              <a:spLocks noChangeShapeType="1"/>
            </p:cNvSpPr>
            <p:nvPr/>
          </p:nvSpPr>
          <p:spPr bwMode="auto">
            <a:xfrm>
              <a:off x="4780" y="281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45" name="Line 114"/>
            <p:cNvSpPr>
              <a:spLocks noChangeShapeType="1"/>
            </p:cNvSpPr>
            <p:nvPr/>
          </p:nvSpPr>
          <p:spPr bwMode="auto">
            <a:xfrm>
              <a:off x="4780" y="227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46" name="Line 115"/>
            <p:cNvSpPr>
              <a:spLocks noChangeShapeType="1"/>
            </p:cNvSpPr>
            <p:nvPr/>
          </p:nvSpPr>
          <p:spPr bwMode="auto">
            <a:xfrm>
              <a:off x="5644" y="144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47" name="Line 116"/>
            <p:cNvSpPr>
              <a:spLocks noChangeShapeType="1"/>
            </p:cNvSpPr>
            <p:nvPr/>
          </p:nvSpPr>
          <p:spPr bwMode="auto">
            <a:xfrm>
              <a:off x="5644" y="119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48" name="Line 117"/>
            <p:cNvSpPr>
              <a:spLocks noChangeShapeType="1"/>
            </p:cNvSpPr>
            <p:nvPr/>
          </p:nvSpPr>
          <p:spPr bwMode="auto">
            <a:xfrm>
              <a:off x="5644" y="184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49" name="Line 118"/>
            <p:cNvSpPr>
              <a:spLocks noChangeShapeType="1"/>
            </p:cNvSpPr>
            <p:nvPr/>
          </p:nvSpPr>
          <p:spPr bwMode="auto">
            <a:xfrm>
              <a:off x="4780" y="339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50" name="Line 119"/>
            <p:cNvSpPr>
              <a:spLocks noChangeShapeType="1"/>
            </p:cNvSpPr>
            <p:nvPr/>
          </p:nvSpPr>
          <p:spPr bwMode="auto">
            <a:xfrm flipV="1">
              <a:off x="4780" y="1187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51" name="Line 120"/>
            <p:cNvSpPr>
              <a:spLocks noChangeShapeType="1"/>
            </p:cNvSpPr>
            <p:nvPr/>
          </p:nvSpPr>
          <p:spPr bwMode="auto">
            <a:xfrm flipV="1">
              <a:off x="4780" y="1442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52" name="Line 121"/>
            <p:cNvSpPr>
              <a:spLocks noChangeShapeType="1"/>
            </p:cNvSpPr>
            <p:nvPr/>
          </p:nvSpPr>
          <p:spPr bwMode="auto">
            <a:xfrm flipV="1">
              <a:off x="4780" y="1826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53" name="Rectangle 186"/>
            <p:cNvSpPr>
              <a:spLocks noChangeArrowheads="1"/>
            </p:cNvSpPr>
            <p:nvPr/>
          </p:nvSpPr>
          <p:spPr bwMode="auto">
            <a:xfrm>
              <a:off x="3774" y="1537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454" name="Freeform 187"/>
            <p:cNvSpPr>
              <a:spLocks/>
            </p:cNvSpPr>
            <p:nvPr/>
          </p:nvSpPr>
          <p:spPr bwMode="auto">
            <a:xfrm>
              <a:off x="3726" y="1585"/>
              <a:ext cx="288" cy="96"/>
            </a:xfrm>
            <a:custGeom>
              <a:avLst/>
              <a:gdLst>
                <a:gd name="T0" fmla="*/ 0 w 288"/>
                <a:gd name="T1" fmla="*/ 0 h 96"/>
                <a:gd name="T2" fmla="*/ 288 w 288"/>
                <a:gd name="T3" fmla="*/ 48 h 96"/>
                <a:gd name="T4" fmla="*/ 288 w 288"/>
                <a:gd name="T5" fmla="*/ 96 h 96"/>
                <a:gd name="T6" fmla="*/ 0 w 288"/>
                <a:gd name="T7" fmla="*/ 48 h 96"/>
                <a:gd name="T8" fmla="*/ 0 w 288"/>
                <a:gd name="T9" fmla="*/ 0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8"/>
                <a:gd name="T16" fmla="*/ 0 h 96"/>
                <a:gd name="T17" fmla="*/ 288 w 288"/>
                <a:gd name="T18" fmla="*/ 96 h 9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8" h="96">
                  <a:moveTo>
                    <a:pt x="0" y="0"/>
                  </a:moveTo>
                  <a:lnTo>
                    <a:pt x="288" y="48"/>
                  </a:lnTo>
                  <a:lnTo>
                    <a:pt x="288" y="96"/>
                  </a:lnTo>
                  <a:lnTo>
                    <a:pt x="0" y="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437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Closed-bucket hash-tables </a:t>
            </a:r>
            <a:r>
              <a:rPr lang="en-US" altLang="en-US" i="1"/>
              <a:t>(4)</a:t>
            </a:r>
            <a:endParaRPr lang="en-GB" altLang="en-US" i="1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610600" cy="4876800"/>
          </a:xfrm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/>
              <a:t>Java class implementing CBHTs: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</a:rPr>
              <a:t>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class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CBHT&lt;K,V&gt; {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Node&lt;K,V&gt;[] buckets;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CBHT (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m)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buckets = (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new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Node&lt;K,V&gt;[]) new Node&lt;?,?&gt;[m];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hash (K key)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return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Math.abs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(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key.hashCode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())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	%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buckets.length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11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Closed-bucket hash-tables </a:t>
            </a:r>
            <a:r>
              <a:rPr lang="en-US" altLang="en-US" i="1"/>
              <a:t>(5)</a:t>
            </a:r>
            <a:endParaRPr lang="en-GB" altLang="en-US" i="1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/>
              <a:t>Java class </a:t>
            </a:r>
            <a:r>
              <a:rPr lang="en-US" altLang="en-US" i="1" dirty="0"/>
              <a:t>(continued)</a:t>
            </a:r>
            <a:r>
              <a:rPr lang="en-US" altLang="en-US" dirty="0"/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//////// </a:t>
            </a:r>
            <a:r>
              <a:rPr lang="en-US" altLang="en-US" sz="2000" dirty="0">
                <a:cs typeface="Times New Roman" pitchFamily="18" charset="0"/>
              </a:rPr>
              <a:t>Inner class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////////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static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class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Node(K,V)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// </a:t>
            </a:r>
            <a:r>
              <a:rPr lang="en-US" altLang="en-US" sz="2000" dirty="0">
                <a:cs typeface="Times New Roman" pitchFamily="18" charset="0"/>
              </a:rPr>
              <a:t>Each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Node</a:t>
            </a:r>
            <a:r>
              <a:rPr lang="en-US" altLang="en-US" sz="2000" dirty="0">
                <a:cs typeface="Times New Roman" pitchFamily="18" charset="0"/>
              </a:rPr>
              <a:t> object is a node of a CBHT.</a:t>
            </a:r>
            <a:endParaRPr lang="en-US" altLang="en-US" sz="2000" dirty="0">
              <a:latin typeface="Courier New" pitchFamily="49" charset="0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K key, V value;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Node&lt;K,V&gt; next;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Node (K key, V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val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, 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			Node&lt;K,V&gt; next)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…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}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}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10000" y="5181600"/>
            <a:ext cx="320040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GB"/>
              <a:t>See Moodle for rest of code</a:t>
            </a:r>
          </a:p>
        </p:txBody>
      </p:sp>
    </p:spTree>
    <p:extLst>
      <p:ext uri="{BB962C8B-B14F-4D97-AF65-F5344CB8AC3E}">
        <p14:creationId xmlns:p14="http://schemas.microsoft.com/office/powerpoint/2010/main" val="235406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CBHT search </a:t>
            </a:r>
            <a:r>
              <a:rPr lang="en-US" altLang="en-US" i="1"/>
              <a:t>(1)</a:t>
            </a:r>
            <a:endParaRPr lang="en-GB" altLang="en-US" i="1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b="1" dirty="0"/>
              <a:t>CBHT search algorithm</a:t>
            </a:r>
            <a:r>
              <a:rPr lang="en-US" altLang="en-US" dirty="0"/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sz="2000" dirty="0">
                <a:latin typeface="Times New Roman" pitchFamily="18" charset="0"/>
              </a:rPr>
              <a:t>	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To find which if any node of a CBHT contains an entry whose key is equal to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target-key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eaLnBrk="1" hangingPunct="1">
              <a:spcBef>
                <a:spcPts val="900"/>
              </a:spcBef>
              <a:buFont typeface="Wingdings" pitchFamily="2" charset="2"/>
              <a:buNone/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1.	Set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hash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target-key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).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2.	Find which if any node of the SLL of bucket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contains an 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entry whose key is equal to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target-key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, and terminate with 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that node as answer.</a:t>
            </a:r>
          </a:p>
          <a:p>
            <a:pPr eaLnBrk="1" hangingPunct="1">
              <a:spcBef>
                <a:spcPts val="900"/>
              </a:spcBef>
              <a:buFont typeface="Wingdings" pitchFamily="2" charset="2"/>
              <a:buNone/>
              <a:tabLst>
                <a:tab pos="723900" algn="l"/>
                <a:tab pos="1255713" algn="l"/>
                <a:tab pos="1979613" algn="l"/>
              </a:tabLst>
            </a:pPr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None/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sz="2000" dirty="0">
                <a:latin typeface="Times" pitchFamily="2" charset="0"/>
              </a:rPr>
              <a:t>   Step 2 is SLL linear search.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388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CBHT insertion and deletion </a:t>
            </a:r>
            <a:endParaRPr lang="en-GB" altLang="en-US" i="1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4070" y="4318552"/>
            <a:ext cx="8229600" cy="2209800"/>
          </a:xfrm>
          <a:noFill/>
        </p:spPr>
        <p:txBody>
          <a:bodyPr/>
          <a:lstStyle/>
          <a:p>
            <a:pPr eaLnBrk="1" hangingPunct="1"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b="1" dirty="0"/>
              <a:t>CBHT deletion algorithm</a:t>
            </a:r>
            <a:r>
              <a:rPr lang="en-US" altLang="en-US" dirty="0"/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sz="2000" dirty="0">
                <a:latin typeface="Times New Roman" pitchFamily="18" charset="0"/>
              </a:rPr>
              <a:t>	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To delete the entry (if any) whose key is equal to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key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from a CBHT:</a:t>
            </a:r>
          </a:p>
          <a:p>
            <a:pPr eaLnBrk="1" hangingPunct="1">
              <a:spcBef>
                <a:spcPts val="900"/>
              </a:spcBef>
              <a:buFont typeface="Wingdings" pitchFamily="2" charset="2"/>
              <a:buNone/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1.	Set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hash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key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).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2.	Delete the entry (if any) whose key is equal to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key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from the 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SLL of bucket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3.	Terminate.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A777574-7ABF-8BC9-D1E9-EB8AED7732E1}"/>
              </a:ext>
            </a:extLst>
          </p:cNvPr>
          <p:cNvSpPr txBox="1">
            <a:spLocks noChangeArrowheads="1"/>
          </p:cNvSpPr>
          <p:nvPr/>
        </p:nvSpPr>
        <p:spPr>
          <a:xfrm>
            <a:off x="424070" y="1346752"/>
            <a:ext cx="8229600" cy="29718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b="1" dirty="0"/>
              <a:t>CBHT insertion algorithm</a:t>
            </a:r>
            <a:r>
              <a:rPr lang="en-US" altLang="en-US" dirty="0"/>
              <a:t>:</a:t>
            </a:r>
          </a:p>
          <a:p>
            <a:pPr>
              <a:buFont typeface="Wingdings" pitchFamily="2" charset="2"/>
              <a:buNone/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sz="2000" dirty="0">
                <a:latin typeface="Times New Roman" pitchFamily="18" charset="0"/>
              </a:rPr>
              <a:t>	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To delete the entry (if any) whose key is equal to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key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from a CBHT:</a:t>
            </a:r>
          </a:p>
          <a:p>
            <a:pPr>
              <a:spcBef>
                <a:spcPts val="900"/>
              </a:spcBef>
              <a:buFont typeface="Wingdings" pitchFamily="2" charset="2"/>
              <a:buNone/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1.	Set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hash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key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).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2.	Search bucket for any entry whose key is equal to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key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 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        If found update entry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        Otherwise add new entry to front of list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3.	Terminate.</a:t>
            </a:r>
          </a:p>
          <a:p>
            <a:pPr>
              <a:spcBef>
                <a:spcPts val="900"/>
              </a:spcBef>
              <a:buFont typeface="Wingdings" pitchFamily="2" charset="2"/>
              <a:buNone/>
              <a:tabLst>
                <a:tab pos="723900" algn="l"/>
                <a:tab pos="1255713" algn="l"/>
                <a:tab pos="1979613" algn="l"/>
              </a:tabLst>
            </a:pPr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900"/>
              </a:spcBef>
              <a:buFont typeface="Wingdings" pitchFamily="2" charset="2"/>
              <a:buNone/>
              <a:tabLst>
                <a:tab pos="723900" algn="l"/>
                <a:tab pos="1255713" algn="l"/>
                <a:tab pos="1979613" algn="l"/>
              </a:tabLst>
            </a:pPr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931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CBHTs: analysis</a:t>
            </a:r>
            <a:endParaRPr lang="en-GB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47813" y="1700213"/>
            <a:ext cx="7200900" cy="4645025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cs typeface="Times New Roman" pitchFamily="18" charset="0"/>
              </a:rPr>
              <a:t>Analysis of CBHT search, insertion, and deletion algorithms (counting comparisons):</a:t>
            </a:r>
          </a:p>
          <a:p>
            <a:pPr eaLnBrk="1" hangingPunct="1">
              <a:lnSpc>
                <a:spcPct val="90000"/>
              </a:lnSpc>
              <a:spcBef>
                <a:spcPts val="900"/>
              </a:spcBef>
              <a:buClr>
                <a:srgbClr val="008000"/>
              </a:buClr>
              <a:buFont typeface="Wingdings" pitchFamily="2" charset="2"/>
              <a:buNone/>
            </a:pPr>
            <a:r>
              <a:rPr lang="en-US" altLang="en-US">
                <a:cs typeface="Times New Roman" pitchFamily="18" charset="0"/>
              </a:rPr>
              <a:t>	Let the number of entries be </a:t>
            </a:r>
            <a:r>
              <a:rPr lang="en-US" altLang="en-US" i="1">
                <a:cs typeface="Times New Roman" pitchFamily="18" charset="0"/>
              </a:rPr>
              <a:t>n</a:t>
            </a:r>
            <a:r>
              <a:rPr lang="en-US" altLang="en-US">
                <a:cs typeface="Times New Roman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cs typeface="Times New Roman" pitchFamily="18" charset="0"/>
              </a:rPr>
              <a:t>In the </a:t>
            </a:r>
            <a:r>
              <a:rPr lang="en-US" altLang="en-US" b="1">
                <a:cs typeface="Times New Roman" pitchFamily="18" charset="0"/>
              </a:rPr>
              <a:t>best case</a:t>
            </a:r>
            <a:r>
              <a:rPr lang="en-US" altLang="en-US">
                <a:cs typeface="Times New Roman" pitchFamily="18" charset="0"/>
              </a:rPr>
              <a:t>, no bucket contains more than (say) 2 entries:</a:t>
            </a:r>
          </a:p>
          <a:p>
            <a:pPr eaLnBrk="1" hangingPunct="1">
              <a:lnSpc>
                <a:spcPct val="90000"/>
              </a:lnSpc>
              <a:spcBef>
                <a:spcPts val="900"/>
              </a:spcBef>
              <a:buClr>
                <a:srgbClr val="008000"/>
              </a:buClr>
              <a:buFont typeface="Wingdings" pitchFamily="2" charset="2"/>
              <a:buNone/>
            </a:pPr>
            <a:r>
              <a:rPr lang="en-US" altLang="en-US">
                <a:cs typeface="Times New Roman" pitchFamily="18" charset="0"/>
              </a:rPr>
              <a:t>	Max. no. of comparisons  =  2</a:t>
            </a:r>
          </a:p>
          <a:p>
            <a:pPr eaLnBrk="1" hangingPunct="1">
              <a:lnSpc>
                <a:spcPct val="90000"/>
              </a:lnSpc>
              <a:spcBef>
                <a:spcPts val="900"/>
              </a:spcBef>
              <a:buClr>
                <a:srgbClr val="008000"/>
              </a:buClr>
              <a:buFont typeface="Wingdings" pitchFamily="2" charset="2"/>
              <a:buNone/>
            </a:pPr>
            <a:r>
              <a:rPr lang="en-US" altLang="en-US">
                <a:cs typeface="Times New Roman" pitchFamily="18" charset="0"/>
              </a:rPr>
              <a:t>	Best-case time complexity is </a:t>
            </a:r>
            <a:r>
              <a:rPr lang="en-US" altLang="en-US" i="1">
                <a:cs typeface="Times New Roman" pitchFamily="18" charset="0"/>
              </a:rPr>
              <a:t>O</a:t>
            </a:r>
            <a:r>
              <a:rPr lang="en-US" altLang="en-US">
                <a:cs typeface="Times New Roman" pitchFamily="18" charset="0"/>
              </a:rPr>
              <a:t>(1).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cs typeface="Times New Roman" pitchFamily="18" charset="0"/>
              </a:rPr>
              <a:t>In the </a:t>
            </a:r>
            <a:r>
              <a:rPr lang="en-US" altLang="en-US" b="1">
                <a:cs typeface="Times New Roman" pitchFamily="18" charset="0"/>
              </a:rPr>
              <a:t>worst case</a:t>
            </a:r>
            <a:r>
              <a:rPr lang="en-US" altLang="en-US">
                <a:cs typeface="Times New Roman" pitchFamily="18" charset="0"/>
              </a:rPr>
              <a:t>, one bucket contains all </a:t>
            </a:r>
            <a:r>
              <a:rPr lang="en-US" altLang="en-US" i="1">
                <a:cs typeface="Times New Roman" pitchFamily="18" charset="0"/>
              </a:rPr>
              <a:t>n</a:t>
            </a:r>
            <a:r>
              <a:rPr lang="en-US" altLang="en-US">
                <a:cs typeface="Times New Roman" pitchFamily="18" charset="0"/>
              </a:rPr>
              <a:t> entries:</a:t>
            </a:r>
          </a:p>
          <a:p>
            <a:pPr eaLnBrk="1" hangingPunct="1">
              <a:lnSpc>
                <a:spcPct val="90000"/>
              </a:lnSpc>
              <a:spcBef>
                <a:spcPts val="900"/>
              </a:spcBef>
              <a:buClr>
                <a:srgbClr val="008000"/>
              </a:buClr>
              <a:buFont typeface="Wingdings" pitchFamily="2" charset="2"/>
              <a:buNone/>
            </a:pPr>
            <a:r>
              <a:rPr lang="en-US" altLang="en-US">
                <a:cs typeface="Times New Roman" pitchFamily="18" charset="0"/>
              </a:rPr>
              <a:t>	Max. no. of comparisons  =  </a:t>
            </a:r>
            <a:r>
              <a:rPr lang="en-US" altLang="en-US" i="1">
                <a:cs typeface="Times New Roman" pitchFamily="18" charset="0"/>
              </a:rPr>
              <a:t>n</a:t>
            </a:r>
            <a:endParaRPr lang="en-US" altLang="en-US"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900"/>
              </a:spcBef>
              <a:buClr>
                <a:srgbClr val="008000"/>
              </a:buClr>
              <a:buFont typeface="Wingdings" pitchFamily="2" charset="2"/>
              <a:buNone/>
            </a:pPr>
            <a:r>
              <a:rPr lang="en-US" altLang="en-US">
                <a:cs typeface="Times New Roman" pitchFamily="18" charset="0"/>
              </a:rPr>
              <a:t>	Worst-case time complexity is </a:t>
            </a:r>
            <a:r>
              <a:rPr lang="en-US" altLang="en-US" i="1">
                <a:cs typeface="Times New Roman" pitchFamily="18" charset="0"/>
              </a:rPr>
              <a:t>O</a:t>
            </a:r>
            <a:r>
              <a:rPr lang="en-US" altLang="en-US">
                <a:cs typeface="Times New Roman" pitchFamily="18" charset="0"/>
              </a:rPr>
              <a:t>(</a:t>
            </a:r>
            <a:r>
              <a:rPr lang="en-US" altLang="en-US" i="1">
                <a:cs typeface="Times New Roman" pitchFamily="18" charset="0"/>
              </a:rPr>
              <a:t>n</a:t>
            </a:r>
            <a:r>
              <a:rPr lang="en-US" altLang="en-US">
                <a:cs typeface="Times New Roman" pitchFamily="18" charset="0"/>
              </a:rPr>
              <a:t>).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983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CBHTs: design</a:t>
            </a:r>
            <a:endParaRPr lang="en-GB" alt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CBHT design consists of: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choosing the number of buckets </a:t>
            </a:r>
            <a:r>
              <a:rPr lang="en-US" altLang="en-US" i="1">
                <a:cs typeface="Times New Roman" pitchFamily="18" charset="0"/>
              </a:rPr>
              <a:t>m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choosing the hash function </a:t>
            </a:r>
            <a:r>
              <a:rPr lang="en-US" altLang="en-US" i="1">
                <a:cs typeface="Times New Roman" pitchFamily="18" charset="0"/>
              </a:rPr>
              <a:t>hash</a:t>
            </a:r>
            <a:r>
              <a:rPr lang="en-US" altLang="en-US">
                <a:cs typeface="Times New Roman" pitchFamily="18" charset="0"/>
              </a:rPr>
              <a:t>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Design aims: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collisions should be infrequent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entries should be distributed evenly among the buckets, such that few buckets contain more than (say) 2 entries.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078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CBHTs: choosing the number of buckets</a:t>
            </a:r>
            <a:endParaRPr lang="en-GB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47813" y="1700213"/>
            <a:ext cx="7200900" cy="4860925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The </a:t>
            </a:r>
            <a:r>
              <a:rPr lang="en-US" altLang="en-US" b="1" dirty="0">
                <a:cs typeface="Times New Roman" pitchFamily="18" charset="0"/>
              </a:rPr>
              <a:t>load factor</a:t>
            </a:r>
            <a:r>
              <a:rPr lang="en-US" altLang="en-US" dirty="0">
                <a:cs typeface="Times New Roman" pitchFamily="18" charset="0"/>
              </a:rPr>
              <a:t> of a hash-table is the average number of entries per bucket, </a:t>
            </a:r>
            <a:r>
              <a:rPr lang="en-US" altLang="en-US" i="1" dirty="0">
                <a:cs typeface="Times New Roman" pitchFamily="18" charset="0"/>
              </a:rPr>
              <a:t>n</a:t>
            </a:r>
            <a:r>
              <a:rPr lang="en-US" altLang="en-US" dirty="0">
                <a:cs typeface="Times New Roman" pitchFamily="18" charset="0"/>
              </a:rPr>
              <a:t>/</a:t>
            </a:r>
            <a:r>
              <a:rPr lang="en-US" altLang="en-US" i="1" dirty="0">
                <a:cs typeface="Times New Roman" pitchFamily="18" charset="0"/>
              </a:rPr>
              <a:t>m</a:t>
            </a:r>
            <a:r>
              <a:rPr lang="en-US" altLang="en-US" dirty="0">
                <a:cs typeface="Times New Roman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If </a:t>
            </a:r>
            <a:r>
              <a:rPr lang="en-US" altLang="en-US" i="1" dirty="0">
                <a:cs typeface="Times New Roman" pitchFamily="18" charset="0"/>
              </a:rPr>
              <a:t>n</a:t>
            </a:r>
            <a:r>
              <a:rPr lang="en-US" altLang="en-US" dirty="0">
                <a:cs typeface="Times New Roman" pitchFamily="18" charset="0"/>
              </a:rPr>
              <a:t> is (roughly) predictable, choose </a:t>
            </a:r>
            <a:r>
              <a:rPr lang="en-US" altLang="en-US" i="1" dirty="0">
                <a:cs typeface="Times New Roman" pitchFamily="18" charset="0"/>
              </a:rPr>
              <a:t>m</a:t>
            </a:r>
            <a:r>
              <a:rPr lang="en-US" altLang="en-US" dirty="0">
                <a:cs typeface="Times New Roman" pitchFamily="18" charset="0"/>
              </a:rPr>
              <a:t> such that the load factor is likely to stay in range 0.5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en-US" dirty="0">
                <a:cs typeface="Times New Roman" pitchFamily="18" charset="0"/>
              </a:rPr>
              <a:t>0.75.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A load factor &lt; 0.5 wastes space.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A load factor &gt; 0.75 tends to result in some buckets having many entries.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Where possible, choose </a:t>
            </a:r>
            <a:r>
              <a:rPr lang="en-US" altLang="en-US" i="1" dirty="0">
                <a:cs typeface="Times New Roman" pitchFamily="18" charset="0"/>
              </a:rPr>
              <a:t>m</a:t>
            </a:r>
            <a:r>
              <a:rPr lang="en-US" altLang="en-US" dirty="0">
                <a:cs typeface="Times New Roman" pitchFamily="18" charset="0"/>
              </a:rPr>
              <a:t> to be a prime number.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Typically the hash function performs modulo-</a:t>
            </a:r>
            <a:r>
              <a:rPr lang="en-US" altLang="en-US" i="1" dirty="0">
                <a:cs typeface="Times New Roman" pitchFamily="18" charset="0"/>
              </a:rPr>
              <a:t>m</a:t>
            </a:r>
            <a:r>
              <a:rPr lang="en-US" altLang="en-US" dirty="0">
                <a:cs typeface="Times New Roman" pitchFamily="18" charset="0"/>
              </a:rPr>
              <a:t> arithmetic. If </a:t>
            </a:r>
            <a:r>
              <a:rPr lang="en-US" altLang="en-US" i="1" dirty="0">
                <a:cs typeface="Times New Roman" pitchFamily="18" charset="0"/>
              </a:rPr>
              <a:t>m</a:t>
            </a:r>
            <a:r>
              <a:rPr lang="en-US" altLang="en-US" dirty="0">
                <a:cs typeface="Times New Roman" pitchFamily="18" charset="0"/>
              </a:rPr>
              <a:t> is prime, the entries are more likely to be distributed evenly over the buckets, regardless of any pattern in the keys.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5553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CBHTs: choosing the hash function</a:t>
            </a:r>
            <a:endParaRPr lang="en-GB" alt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The hash function should be efficient (performing few arithmetic operations).</a:t>
            </a:r>
            <a:endParaRPr lang="en-GB" altLang="en-US">
              <a:cs typeface="Times New Roman" pitchFamily="18" charset="0"/>
            </a:endParaRPr>
          </a:p>
          <a:p>
            <a:pPr eaLnBrk="1" hangingPunct="1"/>
            <a:r>
              <a:rPr lang="en-GB" altLang="en-US">
                <a:cs typeface="Times New Roman" pitchFamily="18" charset="0"/>
              </a:rPr>
              <a:t>T</a:t>
            </a:r>
            <a:r>
              <a:rPr lang="en-US" altLang="en-US">
                <a:cs typeface="Times New Roman" pitchFamily="18" charset="0"/>
              </a:rPr>
              <a:t>he hash function should distribute the entries evenly among the buckets, regardless of any patterns in the keys.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Possible compromise: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Speed up the hash function by using only part of the key.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But beware of any patterns in that part of the key.</a:t>
            </a:r>
            <a:endParaRPr lang="en-US" alt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2948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 hash-table for words </a:t>
            </a:r>
            <a:r>
              <a:rPr lang="en-US" altLang="en-US" i="1"/>
              <a:t>(1)</a:t>
            </a:r>
            <a:endParaRPr lang="en-GB" altLang="en-US" i="1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3581400"/>
          </a:xfrm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Suppose that a hash-table will contain about 1,000 common English words.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Known patterns in the keys: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Letters vary in frequency </a:t>
            </a:r>
            <a:br>
              <a:rPr lang="en-US" altLang="en-US">
                <a:cs typeface="Times New Roman" pitchFamily="18" charset="0"/>
              </a:rPr>
            </a:br>
            <a:r>
              <a:rPr lang="en-US" altLang="en-US">
                <a:cs typeface="Times New Roman" pitchFamily="18" charset="0"/>
              </a:rPr>
              <a:t>(A, E, I, N, S, T are common; </a:t>
            </a:r>
            <a:br>
              <a:rPr lang="en-US" altLang="en-US">
                <a:cs typeface="Times New Roman" pitchFamily="18" charset="0"/>
              </a:rPr>
            </a:br>
            <a:r>
              <a:rPr lang="en-US" altLang="en-US">
                <a:cs typeface="Times New Roman" pitchFamily="18" charset="0"/>
              </a:rPr>
              <a:t>Q, X, Z are uncommon).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Word lengths vary in frequency </a:t>
            </a:r>
            <a:br>
              <a:rPr lang="en-US" altLang="en-US">
                <a:cs typeface="Times New Roman" pitchFamily="18" charset="0"/>
              </a:rPr>
            </a:br>
            <a:r>
              <a:rPr lang="en-US" altLang="en-US">
                <a:cs typeface="Times New Roman" pitchFamily="18" charset="0"/>
              </a:rPr>
              <a:t>(lengths of 4</a:t>
            </a:r>
            <a:r>
              <a:rPr lang="en-US" altLang="en-US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en-US">
                <a:cs typeface="Times New Roman" pitchFamily="18" charset="0"/>
              </a:rPr>
              <a:t>8 are common; </a:t>
            </a:r>
            <a:br>
              <a:rPr lang="en-US" altLang="en-US">
                <a:cs typeface="Times New Roman" pitchFamily="18" charset="0"/>
              </a:rPr>
            </a:br>
            <a:r>
              <a:rPr lang="en-US" altLang="en-US">
                <a:cs typeface="Times New Roman" pitchFamily="18" charset="0"/>
              </a:rPr>
              <a:t>other lengths are less common).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6096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 hash-table for words </a:t>
            </a:r>
            <a:r>
              <a:rPr lang="en-US" altLang="en-US" i="1"/>
              <a:t>(2)</a:t>
            </a:r>
            <a:endParaRPr lang="en-GB" altLang="en-US" i="1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i="1">
                <a:cs typeface="Times New Roman" pitchFamily="18" charset="0"/>
              </a:rPr>
              <a:t>hash</a:t>
            </a:r>
            <a:r>
              <a:rPr lang="en-US" altLang="en-US">
                <a:cs typeface="Times New Roman" pitchFamily="18" charset="0"/>
              </a:rPr>
              <a:t>(</a:t>
            </a:r>
            <a:r>
              <a:rPr lang="en-US" altLang="en-US" i="1">
                <a:cs typeface="Times New Roman" pitchFamily="18" charset="0"/>
              </a:rPr>
              <a:t>k</a:t>
            </a:r>
            <a:r>
              <a:rPr lang="en-US" altLang="en-US">
                <a:cs typeface="Times New Roman" pitchFamily="18" charset="0"/>
              </a:rPr>
              <a:t>) can depend on any of </a:t>
            </a:r>
            <a:r>
              <a:rPr lang="en-US" altLang="en-US" i="1">
                <a:cs typeface="Times New Roman" pitchFamily="18" charset="0"/>
              </a:rPr>
              <a:t>k</a:t>
            </a:r>
            <a:r>
              <a:rPr lang="en-US" altLang="en-US"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en-US" altLang="en-US">
                <a:cs typeface="Times New Roman" pitchFamily="18" charset="0"/>
              </a:rPr>
              <a:t>s letters and/or length.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Consider </a:t>
            </a:r>
            <a:r>
              <a:rPr lang="en-US" altLang="en-US" i="1">
                <a:cs typeface="Times New Roman" pitchFamily="18" charset="0"/>
              </a:rPr>
              <a:t>m</a:t>
            </a:r>
            <a:r>
              <a:rPr lang="en-US" altLang="en-US">
                <a:cs typeface="Times New Roman" pitchFamily="18" charset="0"/>
              </a:rPr>
              <a:t> = 20, </a:t>
            </a:r>
            <a:r>
              <a:rPr lang="en-US" altLang="en-US" i="1">
                <a:cs typeface="Times New Roman" pitchFamily="18" charset="0"/>
              </a:rPr>
              <a:t>hash</a:t>
            </a:r>
            <a:r>
              <a:rPr lang="en-US" altLang="en-US">
                <a:cs typeface="Times New Roman" pitchFamily="18" charset="0"/>
              </a:rPr>
              <a:t>(</a:t>
            </a:r>
            <a:r>
              <a:rPr lang="en-US" altLang="en-US" i="1">
                <a:cs typeface="Times New Roman" pitchFamily="18" charset="0"/>
              </a:rPr>
              <a:t>k</a:t>
            </a:r>
            <a:r>
              <a:rPr lang="en-US" altLang="en-US">
                <a:cs typeface="Times New Roman" pitchFamily="18" charset="0"/>
              </a:rPr>
              <a:t>) = length of </a:t>
            </a:r>
            <a:r>
              <a:rPr lang="en-US" altLang="en-US" i="1">
                <a:cs typeface="Times New Roman" pitchFamily="18" charset="0"/>
              </a:rPr>
              <a:t>k</a:t>
            </a:r>
            <a:r>
              <a:rPr lang="en-US" altLang="en-US">
                <a:cs typeface="Times New Roman" pitchFamily="18" charset="0"/>
              </a:rPr>
              <a:t> </a:t>
            </a:r>
            <a:r>
              <a:rPr lang="en-US" altLang="en-US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en-US">
                <a:cs typeface="Times New Roman" pitchFamily="18" charset="0"/>
              </a:rPr>
              <a:t> 1.</a:t>
            </a:r>
          </a:p>
          <a:p>
            <a:pPr lvl="1" eaLnBrk="1" hangingPunct="1">
              <a:buFontTx/>
              <a:buNone/>
            </a:pPr>
            <a:r>
              <a:rPr lang="en-US" altLang="en-US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en-US">
                <a:cs typeface="Times New Roman" pitchFamily="18" charset="0"/>
              </a:rPr>
              <a:t>	Far too few buckets. Load factor = 1000/20 = 50.</a:t>
            </a:r>
          </a:p>
          <a:p>
            <a:pPr lvl="1" eaLnBrk="1" hangingPunct="1">
              <a:buFontTx/>
              <a:buNone/>
            </a:pPr>
            <a:r>
              <a:rPr lang="en-US" altLang="en-US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en-US">
                <a:cs typeface="Times New Roman" pitchFamily="18" charset="0"/>
              </a:rPr>
              <a:t>	Very uneven distribution.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Consider </a:t>
            </a:r>
            <a:r>
              <a:rPr lang="en-US" altLang="en-US" i="1">
                <a:cs typeface="Times New Roman" pitchFamily="18" charset="0"/>
              </a:rPr>
              <a:t>m</a:t>
            </a:r>
            <a:r>
              <a:rPr lang="en-US" altLang="en-US">
                <a:cs typeface="Times New Roman" pitchFamily="18" charset="0"/>
              </a:rPr>
              <a:t> = 26, </a:t>
            </a:r>
            <a:r>
              <a:rPr lang="en-US" altLang="en-US" i="1">
                <a:cs typeface="Times New Roman" pitchFamily="18" charset="0"/>
              </a:rPr>
              <a:t>hash</a:t>
            </a:r>
            <a:r>
              <a:rPr lang="en-US" altLang="en-US">
                <a:cs typeface="Times New Roman" pitchFamily="18" charset="0"/>
              </a:rPr>
              <a:t>(</a:t>
            </a:r>
            <a:r>
              <a:rPr lang="en-US" altLang="en-US" i="1">
                <a:cs typeface="Times New Roman" pitchFamily="18" charset="0"/>
              </a:rPr>
              <a:t>k</a:t>
            </a:r>
            <a:r>
              <a:rPr lang="en-US" altLang="en-US">
                <a:cs typeface="Times New Roman" pitchFamily="18" charset="0"/>
              </a:rPr>
              <a:t>) = initial letter of </a:t>
            </a:r>
            <a:r>
              <a:rPr lang="en-US" altLang="en-US" i="1">
                <a:cs typeface="Times New Roman" pitchFamily="18" charset="0"/>
              </a:rPr>
              <a:t>k</a:t>
            </a:r>
            <a:r>
              <a:rPr lang="en-US" altLang="en-US">
                <a:cs typeface="Times New Roman" pitchFamily="18" charset="0"/>
              </a:rPr>
              <a:t> </a:t>
            </a:r>
            <a:r>
              <a:rPr lang="en-US" altLang="en-US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en-US">
                <a:cs typeface="Times New Roman" pitchFamily="18" charset="0"/>
              </a:rPr>
              <a:t> </a:t>
            </a:r>
            <a:r>
              <a:rPr lang="en-US" altLang="en-US">
                <a:latin typeface="Times New Roman" pitchFamily="18" charset="0"/>
                <a:cs typeface="Times New Roman" pitchFamily="18" charset="0"/>
              </a:rPr>
              <a:t>‘</a:t>
            </a:r>
            <a:r>
              <a:rPr lang="en-US" altLang="en-US">
                <a:cs typeface="Times New Roman" pitchFamily="18" charset="0"/>
              </a:rPr>
              <a:t>A</a:t>
            </a:r>
            <a:r>
              <a:rPr lang="en-US" altLang="en-US"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en-US" altLang="en-US">
                <a:cs typeface="Times New Roman" pitchFamily="18" charset="0"/>
              </a:rPr>
              <a:t>.</a:t>
            </a:r>
          </a:p>
          <a:p>
            <a:pPr lvl="1" eaLnBrk="1" hangingPunct="1">
              <a:buFontTx/>
              <a:buNone/>
            </a:pPr>
            <a:r>
              <a:rPr lang="en-US" altLang="en-US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en-US">
                <a:cs typeface="Times New Roman" pitchFamily="18" charset="0"/>
              </a:rPr>
              <a:t>	Far too few buckets. Load factor = 1000/26 </a:t>
            </a:r>
            <a:r>
              <a:rPr lang="en-US" altLang="en-US">
                <a:cs typeface="Times New Roman" pitchFamily="18" charset="0"/>
                <a:sym typeface="Symbol" pitchFamily="18" charset="2"/>
              </a:rPr>
              <a:t></a:t>
            </a:r>
            <a:r>
              <a:rPr lang="en-US" altLang="en-US">
                <a:cs typeface="Times New Roman" pitchFamily="18" charset="0"/>
              </a:rPr>
              <a:t> 38.</a:t>
            </a:r>
          </a:p>
          <a:p>
            <a:pPr lvl="1" eaLnBrk="1" hangingPunct="1">
              <a:buFontTx/>
              <a:buNone/>
            </a:pPr>
            <a:r>
              <a:rPr lang="en-US" altLang="en-US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en-US">
                <a:cs typeface="Times New Roman" pitchFamily="18" charset="0"/>
              </a:rPr>
              <a:t>	Very uneven distribution.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9329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 hash-table for words </a:t>
            </a:r>
            <a:r>
              <a:rPr lang="en-US" altLang="en-US" i="1"/>
              <a:t>(3)</a:t>
            </a:r>
            <a:endParaRPr lang="en-GB" altLang="en-US" i="1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Consider </a:t>
            </a:r>
            <a:r>
              <a:rPr lang="en-US" altLang="en-US" i="1" dirty="0">
                <a:cs typeface="Times New Roman" pitchFamily="18" charset="0"/>
              </a:rPr>
              <a:t>m</a:t>
            </a:r>
            <a:r>
              <a:rPr lang="en-US" altLang="en-US" dirty="0">
                <a:cs typeface="Times New Roman" pitchFamily="18" charset="0"/>
              </a:rPr>
              <a:t> = 520, </a:t>
            </a:r>
            <a:r>
              <a:rPr lang="en-US" altLang="en-US" i="1" dirty="0">
                <a:cs typeface="Times New Roman" pitchFamily="18" charset="0"/>
              </a:rPr>
              <a:t>hash</a:t>
            </a:r>
            <a:r>
              <a:rPr lang="en-US" altLang="en-US" dirty="0">
                <a:cs typeface="Times New Roman" pitchFamily="18" charset="0"/>
              </a:rPr>
              <a:t>(</a:t>
            </a:r>
            <a:r>
              <a:rPr lang="en-US" altLang="en-US" i="1" dirty="0">
                <a:cs typeface="Times New Roman" pitchFamily="18" charset="0"/>
              </a:rPr>
              <a:t>k</a:t>
            </a:r>
            <a:r>
              <a:rPr lang="en-US" altLang="en-US" dirty="0">
                <a:cs typeface="Times New Roman" pitchFamily="18" charset="0"/>
              </a:rPr>
              <a:t>) = 26 </a:t>
            </a:r>
            <a:r>
              <a:rPr lang="en-US" altLang="en-US" dirty="0">
                <a:cs typeface="Times New Roman" pitchFamily="18" charset="0"/>
                <a:sym typeface="Symbol" pitchFamily="18" charset="2"/>
              </a:rPr>
              <a:t></a:t>
            </a:r>
            <a:r>
              <a:rPr lang="en-US" altLang="en-US" dirty="0">
                <a:cs typeface="Times New Roman" pitchFamily="18" charset="0"/>
              </a:rPr>
              <a:t> (length of </a:t>
            </a:r>
            <a:r>
              <a:rPr lang="en-US" altLang="en-US" i="1" dirty="0">
                <a:cs typeface="Times New Roman" pitchFamily="18" charset="0"/>
              </a:rPr>
              <a:t>k</a:t>
            </a:r>
            <a:r>
              <a:rPr lang="en-US" altLang="en-US" dirty="0">
                <a:cs typeface="Times New Roman" pitchFamily="18" charset="0"/>
              </a:rPr>
              <a:t> 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en-US" dirty="0">
                <a:cs typeface="Times New Roman" pitchFamily="18" charset="0"/>
              </a:rPr>
              <a:t> 1) + (1</a:t>
            </a:r>
            <a:r>
              <a:rPr lang="en-US" altLang="en-US" baseline="30000" dirty="0">
                <a:cs typeface="Times New Roman" pitchFamily="18" charset="0"/>
              </a:rPr>
              <a:t>st</a:t>
            </a:r>
            <a:r>
              <a:rPr lang="en-US" altLang="en-US" dirty="0">
                <a:cs typeface="Times New Roman" pitchFamily="18" charset="0"/>
              </a:rPr>
              <a:t> letter of </a:t>
            </a:r>
            <a:r>
              <a:rPr lang="en-US" altLang="en-US" i="1" dirty="0">
                <a:cs typeface="Times New Roman" pitchFamily="18" charset="0"/>
              </a:rPr>
              <a:t>k</a:t>
            </a:r>
            <a:r>
              <a:rPr lang="en-US" altLang="en-US" dirty="0">
                <a:cs typeface="Times New Roman" pitchFamily="18" charset="0"/>
              </a:rPr>
              <a:t> 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en-US" dirty="0">
                <a:cs typeface="Times New Roman" pitchFamily="18" charset="0"/>
              </a:rPr>
              <a:t> 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‘</a:t>
            </a:r>
            <a:r>
              <a:rPr lang="en-US" altLang="en-US" dirty="0">
                <a:cs typeface="Times New Roman" pitchFamily="18" charset="0"/>
              </a:rPr>
              <a:t>A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en-US" altLang="en-US" dirty="0">
                <a:cs typeface="Times New Roman" pitchFamily="18" charset="0"/>
              </a:rPr>
              <a:t>).</a:t>
            </a:r>
          </a:p>
          <a:p>
            <a:pPr lvl="1" eaLnBrk="1" hangingPunct="1">
              <a:buFontTx/>
              <a:buNone/>
            </a:pP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en-US" dirty="0">
                <a:cs typeface="Times New Roman" pitchFamily="18" charset="0"/>
              </a:rPr>
              <a:t>	Too few buckets. Load factor = 1000/520 </a:t>
            </a:r>
            <a:r>
              <a:rPr lang="en-US" altLang="en-US" dirty="0">
                <a:cs typeface="Times New Roman" pitchFamily="18" charset="0"/>
                <a:sym typeface="Symbol" pitchFamily="18" charset="2"/>
              </a:rPr>
              <a:t></a:t>
            </a:r>
            <a:r>
              <a:rPr lang="en-US" altLang="en-US" dirty="0">
                <a:cs typeface="Times New Roman" pitchFamily="18" charset="0"/>
              </a:rPr>
              <a:t> 1.9.</a:t>
            </a:r>
          </a:p>
          <a:p>
            <a:pPr lvl="1" eaLnBrk="1" hangingPunct="1">
              <a:buFontTx/>
              <a:buNone/>
            </a:pP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en-US" dirty="0">
                <a:cs typeface="Times New Roman" pitchFamily="18" charset="0"/>
              </a:rPr>
              <a:t>	Very uneven distribution.</a:t>
            </a:r>
            <a:br>
              <a:rPr lang="en-US" altLang="en-US" dirty="0">
                <a:cs typeface="Times New Roman" pitchFamily="18" charset="0"/>
              </a:rPr>
            </a:br>
            <a:r>
              <a:rPr lang="en-US" altLang="en-US" dirty="0">
                <a:cs typeface="Times New Roman" pitchFamily="18" charset="0"/>
              </a:rPr>
              <a:t>Words of length 4 are far more common than words of length 2, so buckets 78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en-US" dirty="0">
                <a:cs typeface="Times New Roman" pitchFamily="18" charset="0"/>
              </a:rPr>
              <a:t>103 will be far more densely populated than buckets 26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–51</a:t>
            </a:r>
            <a:r>
              <a:rPr lang="en-US" altLang="en-US" dirty="0">
                <a:cs typeface="Times New Roman" pitchFamily="18" charset="0"/>
              </a:rPr>
              <a:t>.</a:t>
            </a:r>
            <a:br>
              <a:rPr lang="en-US" altLang="en-US" dirty="0">
                <a:cs typeface="Times New Roman" pitchFamily="18" charset="0"/>
              </a:rPr>
            </a:br>
            <a:r>
              <a:rPr lang="en-US" altLang="en-US" dirty="0">
                <a:cs typeface="Times New Roman" pitchFamily="18" charset="0"/>
              </a:rPr>
              <a:t>Words with 1</a:t>
            </a:r>
            <a:r>
              <a:rPr lang="en-US" altLang="en-US" baseline="30000" dirty="0">
                <a:cs typeface="Times New Roman" pitchFamily="18" charset="0"/>
              </a:rPr>
              <a:t>st</a:t>
            </a:r>
            <a:r>
              <a:rPr lang="en-US" altLang="en-US" dirty="0">
                <a:cs typeface="Times New Roman" pitchFamily="18" charset="0"/>
              </a:rPr>
              <a:t> letter 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‘</a:t>
            </a:r>
            <a:r>
              <a:rPr lang="en-US" altLang="en-US" dirty="0">
                <a:cs typeface="Times New Roman" pitchFamily="18" charset="0"/>
              </a:rPr>
              <a:t>A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en-US" altLang="en-US" dirty="0">
                <a:cs typeface="Times New Roman" pitchFamily="18" charset="0"/>
              </a:rPr>
              <a:t> are far more common than words with 1</a:t>
            </a:r>
            <a:r>
              <a:rPr lang="en-US" altLang="en-US" baseline="30000" dirty="0">
                <a:cs typeface="Times New Roman" pitchFamily="18" charset="0"/>
              </a:rPr>
              <a:t>st</a:t>
            </a:r>
            <a:r>
              <a:rPr lang="en-US" altLang="en-US" dirty="0">
                <a:cs typeface="Times New Roman" pitchFamily="18" charset="0"/>
              </a:rPr>
              <a:t> letter 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‘</a:t>
            </a:r>
            <a:r>
              <a:rPr lang="en-US" altLang="en-US" dirty="0">
                <a:cs typeface="Times New Roman" pitchFamily="18" charset="0"/>
              </a:rPr>
              <a:t>Z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en-US" altLang="en-US" dirty="0">
                <a:cs typeface="Times New Roman" pitchFamily="18" charset="0"/>
              </a:rPr>
              <a:t>, so buckets 0, 26, 52, 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en-US" dirty="0">
                <a:cs typeface="Times New Roman" pitchFamily="18" charset="0"/>
              </a:rPr>
              <a:t> will be far more densely populated than buckets 25, 51, 77, 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…</a:t>
            </a:r>
            <a:br>
              <a:rPr lang="en-US" altLang="en-US" dirty="0">
                <a:cs typeface="Times New Roman" pitchFamily="18" charset="0"/>
              </a:rPr>
            </a:br>
            <a:r>
              <a:rPr lang="en-US" altLang="en-US" dirty="0">
                <a:cs typeface="Times New Roman" pitchFamily="18" charset="0"/>
              </a:rPr>
              <a:t>And so on.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096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 hash-table for words </a:t>
            </a:r>
            <a:r>
              <a:rPr lang="en-US" altLang="en-US" i="1"/>
              <a:t>(4)</a:t>
            </a:r>
            <a:endParaRPr lang="en-GB" altLang="en-US" i="1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Consider </a:t>
            </a:r>
            <a:r>
              <a:rPr lang="en-US" altLang="en-US" i="1">
                <a:cs typeface="Times New Roman" pitchFamily="18" charset="0"/>
              </a:rPr>
              <a:t>m</a:t>
            </a:r>
            <a:r>
              <a:rPr lang="en-US" altLang="en-US">
                <a:cs typeface="Times New Roman" pitchFamily="18" charset="0"/>
              </a:rPr>
              <a:t> = 1499, </a:t>
            </a:r>
            <a:r>
              <a:rPr lang="en-US" altLang="en-US" i="1">
                <a:cs typeface="Times New Roman" pitchFamily="18" charset="0"/>
              </a:rPr>
              <a:t>hash</a:t>
            </a:r>
            <a:r>
              <a:rPr lang="en-US" altLang="en-US">
                <a:cs typeface="Times New Roman" pitchFamily="18" charset="0"/>
              </a:rPr>
              <a:t>(</a:t>
            </a:r>
            <a:r>
              <a:rPr lang="en-US" altLang="en-US" i="1">
                <a:cs typeface="Times New Roman" pitchFamily="18" charset="0"/>
              </a:rPr>
              <a:t>k</a:t>
            </a:r>
            <a:r>
              <a:rPr lang="en-US" altLang="en-US">
                <a:cs typeface="Times New Roman" pitchFamily="18" charset="0"/>
              </a:rPr>
              <a:t>) =  (weighted sum of letters of </a:t>
            </a:r>
            <a:r>
              <a:rPr lang="en-US" altLang="en-US" i="1">
                <a:cs typeface="Times New Roman" pitchFamily="18" charset="0"/>
              </a:rPr>
              <a:t>k</a:t>
            </a:r>
            <a:r>
              <a:rPr lang="en-US" altLang="en-US">
                <a:cs typeface="Times New Roman" pitchFamily="18" charset="0"/>
              </a:rPr>
              <a:t>) modulo </a:t>
            </a:r>
            <a:r>
              <a:rPr lang="en-US" altLang="en-US" i="1">
                <a:cs typeface="Times New Roman" pitchFamily="18" charset="0"/>
              </a:rPr>
              <a:t>m</a:t>
            </a:r>
            <a:endParaRPr lang="en-US" altLang="en-US">
              <a:cs typeface="Times New Roman" pitchFamily="18" charset="0"/>
            </a:endParaRPr>
          </a:p>
          <a:p>
            <a:pPr lvl="1" eaLnBrk="1" hangingPunct="1">
              <a:buFontTx/>
              <a:buNone/>
            </a:pPr>
            <a:r>
              <a:rPr lang="en-US" altLang="en-US">
                <a:cs typeface="Times New Roman" pitchFamily="18" charset="0"/>
              </a:rPr>
              <a:t>	i.e., (</a:t>
            </a:r>
            <a:r>
              <a:rPr lang="en-US" altLang="en-US" i="1">
                <a:cs typeface="Times New Roman" pitchFamily="18" charset="0"/>
              </a:rPr>
              <a:t>c</a:t>
            </a:r>
            <a:r>
              <a:rPr lang="en-US" altLang="en-US" sz="1400" baseline="-25000">
                <a:cs typeface="Times New Roman" pitchFamily="18" charset="0"/>
              </a:rPr>
              <a:t>1</a:t>
            </a:r>
            <a:r>
              <a:rPr lang="en-US" altLang="en-US">
                <a:cs typeface="Times New Roman" pitchFamily="18" charset="0"/>
              </a:rPr>
              <a:t> </a:t>
            </a:r>
            <a:r>
              <a:rPr lang="en-US" altLang="en-US">
                <a:latin typeface="Symbol" pitchFamily="18" charset="2"/>
                <a:cs typeface="Times New Roman" pitchFamily="18" charset="0"/>
                <a:sym typeface="Symbol" pitchFamily="18" charset="2"/>
              </a:rPr>
              <a:t></a:t>
            </a:r>
            <a:r>
              <a:rPr lang="en-US" altLang="en-US">
                <a:cs typeface="Times New Roman" pitchFamily="18" charset="0"/>
              </a:rPr>
              <a:t> 1</a:t>
            </a:r>
            <a:r>
              <a:rPr lang="en-US" altLang="en-US" baseline="30000">
                <a:cs typeface="Times New Roman" pitchFamily="18" charset="0"/>
              </a:rPr>
              <a:t>st</a:t>
            </a:r>
            <a:r>
              <a:rPr lang="en-US" altLang="en-US">
                <a:cs typeface="Times New Roman" pitchFamily="18" charset="0"/>
              </a:rPr>
              <a:t> letter  +  </a:t>
            </a:r>
            <a:r>
              <a:rPr lang="en-US" altLang="en-US" i="1">
                <a:cs typeface="Times New Roman" pitchFamily="18" charset="0"/>
              </a:rPr>
              <a:t>c</a:t>
            </a:r>
            <a:r>
              <a:rPr lang="en-US" altLang="en-US" sz="1400" baseline="-25000">
                <a:cs typeface="Times New Roman" pitchFamily="18" charset="0"/>
              </a:rPr>
              <a:t>2</a:t>
            </a:r>
            <a:r>
              <a:rPr lang="en-US" altLang="en-US">
                <a:cs typeface="Times New Roman" pitchFamily="18" charset="0"/>
              </a:rPr>
              <a:t> </a:t>
            </a:r>
            <a:r>
              <a:rPr lang="en-US" altLang="en-US">
                <a:latin typeface="Symbol" pitchFamily="18" charset="2"/>
                <a:cs typeface="Times New Roman" pitchFamily="18" charset="0"/>
                <a:sym typeface="Symbol" pitchFamily="18" charset="2"/>
              </a:rPr>
              <a:t></a:t>
            </a:r>
            <a:r>
              <a:rPr lang="en-US" altLang="en-US">
                <a:cs typeface="Times New Roman" pitchFamily="18" charset="0"/>
              </a:rPr>
              <a:t> 2</a:t>
            </a:r>
            <a:r>
              <a:rPr lang="en-US" altLang="en-US" baseline="30000">
                <a:cs typeface="Times New Roman" pitchFamily="18" charset="0"/>
              </a:rPr>
              <a:t>nd</a:t>
            </a:r>
            <a:r>
              <a:rPr lang="en-US" altLang="en-US">
                <a:cs typeface="Times New Roman" pitchFamily="18" charset="0"/>
              </a:rPr>
              <a:t> letter  +  </a:t>
            </a:r>
            <a:r>
              <a:rPr lang="en-US" altLang="en-US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en-US">
                <a:cs typeface="Times New Roman" pitchFamily="18" charset="0"/>
              </a:rPr>
              <a:t>) modulo </a:t>
            </a:r>
            <a:r>
              <a:rPr lang="en-US" altLang="en-US" i="1">
                <a:cs typeface="Times New Roman" pitchFamily="18" charset="0"/>
              </a:rPr>
              <a:t>m</a:t>
            </a:r>
            <a:endParaRPr lang="en-US" altLang="en-US">
              <a:cs typeface="Times New Roman" pitchFamily="18" charset="0"/>
            </a:endParaRPr>
          </a:p>
          <a:p>
            <a:pPr lvl="1" eaLnBrk="1" hangingPunct="1">
              <a:buFontTx/>
              <a:buNone/>
            </a:pPr>
            <a:r>
              <a:rPr lang="en-US" altLang="en-US">
                <a:cs typeface="Times New Roman" pitchFamily="18" charset="0"/>
              </a:rPr>
              <a:t>+	Good number of buckets. Load factor = 1000/1499 </a:t>
            </a:r>
            <a:r>
              <a:rPr lang="en-US" altLang="en-US">
                <a:cs typeface="Times New Roman" pitchFamily="18" charset="0"/>
                <a:sym typeface="Symbol" pitchFamily="18" charset="2"/>
              </a:rPr>
              <a:t></a:t>
            </a:r>
            <a:r>
              <a:rPr lang="en-US" altLang="en-US">
                <a:cs typeface="Times New Roman" pitchFamily="18" charset="0"/>
              </a:rPr>
              <a:t> 0.67.</a:t>
            </a:r>
          </a:p>
          <a:p>
            <a:pPr lvl="1" eaLnBrk="1" hangingPunct="1">
              <a:buFontTx/>
              <a:buNone/>
            </a:pPr>
            <a:r>
              <a:rPr lang="en-US" altLang="en-US">
                <a:cs typeface="Times New Roman" pitchFamily="18" charset="0"/>
              </a:rPr>
              <a:t>+	Reasonably even distribution.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7399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Hash-tables in practice </a:t>
            </a:r>
            <a:r>
              <a:rPr lang="en-US" altLang="en-US" i="1"/>
              <a:t>(1)</a:t>
            </a:r>
            <a:endParaRPr lang="en-GB" altLang="en-US" i="1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The following trials illustrate the performance of a CBHT with </a:t>
            </a:r>
            <a:r>
              <a:rPr lang="en-US" altLang="en-US" i="1"/>
              <a:t>m</a:t>
            </a:r>
            <a:r>
              <a:rPr lang="en-US" altLang="en-US"/>
              <a:t> buckets.</a:t>
            </a:r>
          </a:p>
          <a:p>
            <a:pPr eaLnBrk="1" hangingPunct="1"/>
            <a:r>
              <a:rPr lang="en-US" altLang="en-US"/>
              <a:t>The hash function was chosen to distribute keys uniformly among the </a:t>
            </a:r>
            <a:r>
              <a:rPr lang="en-US" altLang="en-US" i="1"/>
              <a:t>m</a:t>
            </a:r>
            <a:r>
              <a:rPr lang="en-US" altLang="en-US"/>
              <a:t> buckets (i.e., the probability that a key is mapped to any particular bucket was 1/</a:t>
            </a:r>
            <a:r>
              <a:rPr lang="en-US" altLang="en-US" i="1"/>
              <a:t>m</a:t>
            </a:r>
            <a:r>
              <a:rPr lang="en-US" altLang="en-US"/>
              <a:t>).</a:t>
            </a:r>
          </a:p>
          <a:p>
            <a:pPr eaLnBrk="1" hangingPunct="1"/>
            <a:r>
              <a:rPr lang="en-US" altLang="en-US"/>
              <a:t>In each trial, the CBHT was loaded with a set of </a:t>
            </a:r>
            <a:r>
              <a:rPr lang="en-US" altLang="en-US" i="1"/>
              <a:t>n</a:t>
            </a:r>
            <a:r>
              <a:rPr lang="en-US" altLang="en-US"/>
              <a:t> randomly-generated keys.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0933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Hash-tables in practice </a:t>
            </a:r>
            <a:r>
              <a:rPr lang="en-US" altLang="en-US" i="1"/>
              <a:t>(2)</a:t>
            </a:r>
            <a:endParaRPr lang="en-GB" altLang="en-US" i="1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Trials with </a:t>
            </a:r>
            <a:r>
              <a:rPr lang="en-US" altLang="en-US" i="1"/>
              <a:t>m</a:t>
            </a:r>
            <a:r>
              <a:rPr lang="en-US" altLang="en-US"/>
              <a:t> = 47:</a:t>
            </a:r>
          </a:p>
        </p:txBody>
      </p:sp>
      <p:grpSp>
        <p:nvGrpSpPr>
          <p:cNvPr id="2" name="Group 71"/>
          <p:cNvGrpSpPr>
            <a:grpSpLocks/>
          </p:cNvGrpSpPr>
          <p:nvPr/>
        </p:nvGrpSpPr>
        <p:grpSpPr bwMode="auto">
          <a:xfrm>
            <a:off x="2039938" y="2193925"/>
            <a:ext cx="2752725" cy="4114800"/>
            <a:chOff x="1285" y="1382"/>
            <a:chExt cx="1734" cy="2592"/>
          </a:xfrm>
        </p:grpSpPr>
        <p:sp>
          <p:nvSpPr>
            <p:cNvPr id="32814" name="Text Box 5"/>
            <p:cNvSpPr txBox="1">
              <a:spLocks noChangeArrowheads="1"/>
            </p:cNvSpPr>
            <p:nvPr/>
          </p:nvSpPr>
          <p:spPr bwMode="auto">
            <a:xfrm>
              <a:off x="1285" y="3686"/>
              <a:ext cx="173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CBHT</a:t>
              </a:r>
              <a:br>
                <a:rPr lang="en-GB" altLang="en-US" sz="1800"/>
              </a:br>
              <a:r>
                <a:rPr lang="en-US" altLang="en-US" sz="1800" i="1"/>
                <a:t>n</a:t>
              </a:r>
              <a:r>
                <a:rPr lang="en-US" altLang="en-US" sz="1800"/>
                <a:t> = 23 (load factor </a:t>
              </a:r>
              <a:r>
                <a:rPr lang="en-US" altLang="en-US" sz="1800">
                  <a:sym typeface="Symbol" pitchFamily="18" charset="2"/>
                </a:rPr>
                <a:t></a:t>
              </a:r>
              <a:r>
                <a:rPr lang="en-US" altLang="en-US" sz="1800"/>
                <a:t> 0.5)</a:t>
              </a:r>
              <a:endParaRPr lang="en-GB" altLang="en-US" sz="1800"/>
            </a:p>
          </p:txBody>
        </p:sp>
        <p:sp>
          <p:nvSpPr>
            <p:cNvPr id="32815" name="Rectangle 6"/>
            <p:cNvSpPr>
              <a:spLocks noChangeArrowheads="1"/>
            </p:cNvSpPr>
            <p:nvPr/>
          </p:nvSpPr>
          <p:spPr bwMode="auto">
            <a:xfrm>
              <a:off x="1429" y="1430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16" name="Rectangle 7"/>
            <p:cNvSpPr>
              <a:spLocks noChangeArrowheads="1"/>
            </p:cNvSpPr>
            <p:nvPr/>
          </p:nvSpPr>
          <p:spPr bwMode="auto">
            <a:xfrm>
              <a:off x="1429" y="1478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17" name="Rectangle 8"/>
            <p:cNvSpPr>
              <a:spLocks noChangeArrowheads="1"/>
            </p:cNvSpPr>
            <p:nvPr/>
          </p:nvSpPr>
          <p:spPr bwMode="auto">
            <a:xfrm>
              <a:off x="1429" y="1670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18" name="Rectangle 9"/>
            <p:cNvSpPr>
              <a:spLocks noChangeArrowheads="1"/>
            </p:cNvSpPr>
            <p:nvPr/>
          </p:nvSpPr>
          <p:spPr bwMode="auto">
            <a:xfrm>
              <a:off x="1429" y="1766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19" name="Rectangle 10"/>
            <p:cNvSpPr>
              <a:spLocks noChangeArrowheads="1"/>
            </p:cNvSpPr>
            <p:nvPr/>
          </p:nvSpPr>
          <p:spPr bwMode="auto">
            <a:xfrm>
              <a:off x="1429" y="1862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20" name="Rectangle 11"/>
            <p:cNvSpPr>
              <a:spLocks noChangeArrowheads="1"/>
            </p:cNvSpPr>
            <p:nvPr/>
          </p:nvSpPr>
          <p:spPr bwMode="auto">
            <a:xfrm>
              <a:off x="1429" y="1910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21" name="Rectangle 12"/>
            <p:cNvSpPr>
              <a:spLocks noChangeArrowheads="1"/>
            </p:cNvSpPr>
            <p:nvPr/>
          </p:nvSpPr>
          <p:spPr bwMode="auto">
            <a:xfrm>
              <a:off x="1429" y="2294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22" name="Rectangle 13"/>
            <p:cNvSpPr>
              <a:spLocks noChangeArrowheads="1"/>
            </p:cNvSpPr>
            <p:nvPr/>
          </p:nvSpPr>
          <p:spPr bwMode="auto">
            <a:xfrm>
              <a:off x="1429" y="2678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23" name="Rectangle 14"/>
            <p:cNvSpPr>
              <a:spLocks noChangeArrowheads="1"/>
            </p:cNvSpPr>
            <p:nvPr/>
          </p:nvSpPr>
          <p:spPr bwMode="auto">
            <a:xfrm>
              <a:off x="1429" y="2726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24" name="Rectangle 15"/>
            <p:cNvSpPr>
              <a:spLocks noChangeArrowheads="1"/>
            </p:cNvSpPr>
            <p:nvPr/>
          </p:nvSpPr>
          <p:spPr bwMode="auto">
            <a:xfrm>
              <a:off x="1429" y="2774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25" name="Rectangle 16"/>
            <p:cNvSpPr>
              <a:spLocks noChangeArrowheads="1"/>
            </p:cNvSpPr>
            <p:nvPr/>
          </p:nvSpPr>
          <p:spPr bwMode="auto">
            <a:xfrm>
              <a:off x="1429" y="2822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26" name="Rectangle 17"/>
            <p:cNvSpPr>
              <a:spLocks noChangeArrowheads="1"/>
            </p:cNvSpPr>
            <p:nvPr/>
          </p:nvSpPr>
          <p:spPr bwMode="auto">
            <a:xfrm>
              <a:off x="1429" y="2966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27" name="Rectangle 18"/>
            <p:cNvSpPr>
              <a:spLocks noChangeArrowheads="1"/>
            </p:cNvSpPr>
            <p:nvPr/>
          </p:nvSpPr>
          <p:spPr bwMode="auto">
            <a:xfrm>
              <a:off x="1429" y="3062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28" name="Rectangle 19"/>
            <p:cNvSpPr>
              <a:spLocks noChangeArrowheads="1"/>
            </p:cNvSpPr>
            <p:nvPr/>
          </p:nvSpPr>
          <p:spPr bwMode="auto">
            <a:xfrm>
              <a:off x="1429" y="3110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29" name="Rectangle 20"/>
            <p:cNvSpPr>
              <a:spLocks noChangeArrowheads="1"/>
            </p:cNvSpPr>
            <p:nvPr/>
          </p:nvSpPr>
          <p:spPr bwMode="auto">
            <a:xfrm>
              <a:off x="1429" y="3206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30" name="Rectangle 21"/>
            <p:cNvSpPr>
              <a:spLocks noChangeArrowheads="1"/>
            </p:cNvSpPr>
            <p:nvPr/>
          </p:nvSpPr>
          <p:spPr bwMode="auto">
            <a:xfrm>
              <a:off x="1429" y="3302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31" name="Rectangle 22"/>
            <p:cNvSpPr>
              <a:spLocks noChangeArrowheads="1"/>
            </p:cNvSpPr>
            <p:nvPr/>
          </p:nvSpPr>
          <p:spPr bwMode="auto">
            <a:xfrm>
              <a:off x="1429" y="3350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32" name="Rectangle 23"/>
            <p:cNvSpPr>
              <a:spLocks noChangeArrowheads="1"/>
            </p:cNvSpPr>
            <p:nvPr/>
          </p:nvSpPr>
          <p:spPr bwMode="auto">
            <a:xfrm>
              <a:off x="1429" y="3398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33" name="Rectangle 24"/>
            <p:cNvSpPr>
              <a:spLocks noChangeArrowheads="1"/>
            </p:cNvSpPr>
            <p:nvPr/>
          </p:nvSpPr>
          <p:spPr bwMode="auto">
            <a:xfrm>
              <a:off x="1429" y="3446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34" name="Rectangle 25"/>
            <p:cNvSpPr>
              <a:spLocks noChangeArrowheads="1"/>
            </p:cNvSpPr>
            <p:nvPr/>
          </p:nvSpPr>
          <p:spPr bwMode="auto">
            <a:xfrm>
              <a:off x="1429" y="3542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35" name="Rectangle 26"/>
            <p:cNvSpPr>
              <a:spLocks noChangeArrowheads="1"/>
            </p:cNvSpPr>
            <p:nvPr/>
          </p:nvSpPr>
          <p:spPr bwMode="auto">
            <a:xfrm>
              <a:off x="1717" y="3206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36" name="Rectangle 27"/>
            <p:cNvSpPr>
              <a:spLocks noChangeArrowheads="1"/>
            </p:cNvSpPr>
            <p:nvPr/>
          </p:nvSpPr>
          <p:spPr bwMode="auto">
            <a:xfrm>
              <a:off x="1717" y="3350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37" name="Rectangle 28"/>
            <p:cNvSpPr>
              <a:spLocks noChangeArrowheads="1"/>
            </p:cNvSpPr>
            <p:nvPr/>
          </p:nvSpPr>
          <p:spPr bwMode="auto">
            <a:xfrm>
              <a:off x="1717" y="3398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38" name="Rectangle 29"/>
            <p:cNvSpPr>
              <a:spLocks noChangeArrowheads="1"/>
            </p:cNvSpPr>
            <p:nvPr/>
          </p:nvSpPr>
          <p:spPr bwMode="auto">
            <a:xfrm>
              <a:off x="1285" y="1382"/>
              <a:ext cx="96" cy="225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420894" name="AutoShape 30"/>
          <p:cNvSpPr>
            <a:spLocks/>
          </p:cNvSpPr>
          <p:nvPr/>
        </p:nvSpPr>
        <p:spPr bwMode="auto">
          <a:xfrm>
            <a:off x="3416300" y="3616325"/>
            <a:ext cx="1300163" cy="736600"/>
          </a:xfrm>
          <a:prstGeom prst="callout1">
            <a:avLst>
              <a:gd name="adj1" fmla="val 15519"/>
              <a:gd name="adj2" fmla="val -5861"/>
              <a:gd name="adj3" fmla="val 177588"/>
              <a:gd name="adj4" fmla="val -37606"/>
            </a:avLst>
          </a:prstGeom>
          <a:noFill/>
          <a:ln w="9525">
            <a:solidFill>
              <a:schemeClr val="accent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Few buckets have more than 1 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entry.</a:t>
            </a:r>
            <a:endParaRPr lang="en-GB" alt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20895" name="AutoShape 31"/>
          <p:cNvSpPr>
            <a:spLocks/>
          </p:cNvSpPr>
          <p:nvPr/>
        </p:nvSpPr>
        <p:spPr bwMode="auto">
          <a:xfrm>
            <a:off x="7524750" y="3211513"/>
            <a:ext cx="1482725" cy="709612"/>
          </a:xfrm>
          <a:prstGeom prst="callout1">
            <a:avLst>
              <a:gd name="adj1" fmla="val 16106"/>
              <a:gd name="adj2" fmla="val -5139"/>
              <a:gd name="adj3" fmla="val -41162"/>
              <a:gd name="adj4" fmla="val -16597"/>
            </a:avLst>
          </a:prstGeom>
          <a:noFill/>
          <a:ln w="9525">
            <a:solidFill>
              <a:schemeClr val="accent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Few buckets have more than 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2 entries.</a:t>
            </a:r>
            <a:endParaRPr lang="en-GB" alt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3" name="Group 72"/>
          <p:cNvGrpSpPr>
            <a:grpSpLocks/>
          </p:cNvGrpSpPr>
          <p:nvPr/>
        </p:nvGrpSpPr>
        <p:grpSpPr bwMode="auto">
          <a:xfrm>
            <a:off x="5672138" y="2193925"/>
            <a:ext cx="2752725" cy="4114800"/>
            <a:chOff x="3573" y="1382"/>
            <a:chExt cx="1734" cy="2592"/>
          </a:xfrm>
        </p:grpSpPr>
        <p:sp>
          <p:nvSpPr>
            <p:cNvPr id="32776" name="Rectangle 33"/>
            <p:cNvSpPr>
              <a:spLocks noChangeArrowheads="1"/>
            </p:cNvSpPr>
            <p:nvPr/>
          </p:nvSpPr>
          <p:spPr bwMode="auto">
            <a:xfrm>
              <a:off x="3717" y="1910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77" name="Rectangle 34"/>
            <p:cNvSpPr>
              <a:spLocks noChangeArrowheads="1"/>
            </p:cNvSpPr>
            <p:nvPr/>
          </p:nvSpPr>
          <p:spPr bwMode="auto">
            <a:xfrm>
              <a:off x="3717" y="1430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78" name="Rectangle 35"/>
            <p:cNvSpPr>
              <a:spLocks noChangeArrowheads="1"/>
            </p:cNvSpPr>
            <p:nvPr/>
          </p:nvSpPr>
          <p:spPr bwMode="auto">
            <a:xfrm>
              <a:off x="3717" y="1478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79" name="Rectangle 36"/>
            <p:cNvSpPr>
              <a:spLocks noChangeArrowheads="1"/>
            </p:cNvSpPr>
            <p:nvPr/>
          </p:nvSpPr>
          <p:spPr bwMode="auto">
            <a:xfrm>
              <a:off x="3717" y="1574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80" name="Rectangle 37"/>
            <p:cNvSpPr>
              <a:spLocks noChangeArrowheads="1"/>
            </p:cNvSpPr>
            <p:nvPr/>
          </p:nvSpPr>
          <p:spPr bwMode="auto">
            <a:xfrm>
              <a:off x="3717" y="1766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81" name="Rectangle 38"/>
            <p:cNvSpPr>
              <a:spLocks noChangeArrowheads="1"/>
            </p:cNvSpPr>
            <p:nvPr/>
          </p:nvSpPr>
          <p:spPr bwMode="auto">
            <a:xfrm>
              <a:off x="3717" y="1718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82" name="Rectangle 39"/>
            <p:cNvSpPr>
              <a:spLocks noChangeArrowheads="1"/>
            </p:cNvSpPr>
            <p:nvPr/>
          </p:nvSpPr>
          <p:spPr bwMode="auto">
            <a:xfrm>
              <a:off x="3717" y="1958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83" name="Rectangle 40"/>
            <p:cNvSpPr>
              <a:spLocks noChangeArrowheads="1"/>
            </p:cNvSpPr>
            <p:nvPr/>
          </p:nvSpPr>
          <p:spPr bwMode="auto">
            <a:xfrm>
              <a:off x="3717" y="2006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84" name="Rectangle 41"/>
            <p:cNvSpPr>
              <a:spLocks noChangeArrowheads="1"/>
            </p:cNvSpPr>
            <p:nvPr/>
          </p:nvSpPr>
          <p:spPr bwMode="auto">
            <a:xfrm>
              <a:off x="3717" y="2054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85" name="Rectangle 42"/>
            <p:cNvSpPr>
              <a:spLocks noChangeArrowheads="1"/>
            </p:cNvSpPr>
            <p:nvPr/>
          </p:nvSpPr>
          <p:spPr bwMode="auto">
            <a:xfrm>
              <a:off x="3717" y="2198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86" name="Rectangle 43"/>
            <p:cNvSpPr>
              <a:spLocks noChangeArrowheads="1"/>
            </p:cNvSpPr>
            <p:nvPr/>
          </p:nvSpPr>
          <p:spPr bwMode="auto">
            <a:xfrm>
              <a:off x="3717" y="2294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87" name="Rectangle 44"/>
            <p:cNvSpPr>
              <a:spLocks noChangeArrowheads="1"/>
            </p:cNvSpPr>
            <p:nvPr/>
          </p:nvSpPr>
          <p:spPr bwMode="auto">
            <a:xfrm>
              <a:off x="3717" y="2342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88" name="Rectangle 45"/>
            <p:cNvSpPr>
              <a:spLocks noChangeArrowheads="1"/>
            </p:cNvSpPr>
            <p:nvPr/>
          </p:nvSpPr>
          <p:spPr bwMode="auto">
            <a:xfrm>
              <a:off x="3717" y="2534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89" name="Rectangle 46"/>
            <p:cNvSpPr>
              <a:spLocks noChangeArrowheads="1"/>
            </p:cNvSpPr>
            <p:nvPr/>
          </p:nvSpPr>
          <p:spPr bwMode="auto">
            <a:xfrm>
              <a:off x="3717" y="2582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90" name="Rectangle 47"/>
            <p:cNvSpPr>
              <a:spLocks noChangeArrowheads="1"/>
            </p:cNvSpPr>
            <p:nvPr/>
          </p:nvSpPr>
          <p:spPr bwMode="auto">
            <a:xfrm>
              <a:off x="3717" y="2678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91" name="Rectangle 48"/>
            <p:cNvSpPr>
              <a:spLocks noChangeArrowheads="1"/>
            </p:cNvSpPr>
            <p:nvPr/>
          </p:nvSpPr>
          <p:spPr bwMode="auto">
            <a:xfrm>
              <a:off x="3717" y="2822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92" name="Rectangle 49"/>
            <p:cNvSpPr>
              <a:spLocks noChangeArrowheads="1"/>
            </p:cNvSpPr>
            <p:nvPr/>
          </p:nvSpPr>
          <p:spPr bwMode="auto">
            <a:xfrm>
              <a:off x="3717" y="2918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93" name="Rectangle 50"/>
            <p:cNvSpPr>
              <a:spLocks noChangeArrowheads="1"/>
            </p:cNvSpPr>
            <p:nvPr/>
          </p:nvSpPr>
          <p:spPr bwMode="auto">
            <a:xfrm>
              <a:off x="3717" y="3014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94" name="Rectangle 51"/>
            <p:cNvSpPr>
              <a:spLocks noChangeArrowheads="1"/>
            </p:cNvSpPr>
            <p:nvPr/>
          </p:nvSpPr>
          <p:spPr bwMode="auto">
            <a:xfrm>
              <a:off x="3717" y="3062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95" name="Rectangle 52"/>
            <p:cNvSpPr>
              <a:spLocks noChangeArrowheads="1"/>
            </p:cNvSpPr>
            <p:nvPr/>
          </p:nvSpPr>
          <p:spPr bwMode="auto">
            <a:xfrm>
              <a:off x="3717" y="3110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96" name="Rectangle 53"/>
            <p:cNvSpPr>
              <a:spLocks noChangeArrowheads="1"/>
            </p:cNvSpPr>
            <p:nvPr/>
          </p:nvSpPr>
          <p:spPr bwMode="auto">
            <a:xfrm>
              <a:off x="3717" y="3158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97" name="Rectangle 54"/>
            <p:cNvSpPr>
              <a:spLocks noChangeArrowheads="1"/>
            </p:cNvSpPr>
            <p:nvPr/>
          </p:nvSpPr>
          <p:spPr bwMode="auto">
            <a:xfrm>
              <a:off x="3717" y="3254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98" name="Rectangle 55"/>
            <p:cNvSpPr>
              <a:spLocks noChangeArrowheads="1"/>
            </p:cNvSpPr>
            <p:nvPr/>
          </p:nvSpPr>
          <p:spPr bwMode="auto">
            <a:xfrm>
              <a:off x="3717" y="3302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99" name="Rectangle 56"/>
            <p:cNvSpPr>
              <a:spLocks noChangeArrowheads="1"/>
            </p:cNvSpPr>
            <p:nvPr/>
          </p:nvSpPr>
          <p:spPr bwMode="auto">
            <a:xfrm>
              <a:off x="3717" y="3398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00" name="Rectangle 57"/>
            <p:cNvSpPr>
              <a:spLocks noChangeArrowheads="1"/>
            </p:cNvSpPr>
            <p:nvPr/>
          </p:nvSpPr>
          <p:spPr bwMode="auto">
            <a:xfrm>
              <a:off x="3717" y="3446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01" name="Rectangle 58"/>
            <p:cNvSpPr>
              <a:spLocks noChangeArrowheads="1"/>
            </p:cNvSpPr>
            <p:nvPr/>
          </p:nvSpPr>
          <p:spPr bwMode="auto">
            <a:xfrm>
              <a:off x="4005" y="1430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02" name="Rectangle 59"/>
            <p:cNvSpPr>
              <a:spLocks noChangeArrowheads="1"/>
            </p:cNvSpPr>
            <p:nvPr/>
          </p:nvSpPr>
          <p:spPr bwMode="auto">
            <a:xfrm>
              <a:off x="4005" y="1766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03" name="Rectangle 60"/>
            <p:cNvSpPr>
              <a:spLocks noChangeArrowheads="1"/>
            </p:cNvSpPr>
            <p:nvPr/>
          </p:nvSpPr>
          <p:spPr bwMode="auto">
            <a:xfrm>
              <a:off x="4005" y="1718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04" name="Rectangle 61"/>
            <p:cNvSpPr>
              <a:spLocks noChangeArrowheads="1"/>
            </p:cNvSpPr>
            <p:nvPr/>
          </p:nvSpPr>
          <p:spPr bwMode="auto">
            <a:xfrm>
              <a:off x="4005" y="2006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05" name="Rectangle 62"/>
            <p:cNvSpPr>
              <a:spLocks noChangeArrowheads="1"/>
            </p:cNvSpPr>
            <p:nvPr/>
          </p:nvSpPr>
          <p:spPr bwMode="auto">
            <a:xfrm>
              <a:off x="4005" y="2342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06" name="Rectangle 63"/>
            <p:cNvSpPr>
              <a:spLocks noChangeArrowheads="1"/>
            </p:cNvSpPr>
            <p:nvPr/>
          </p:nvSpPr>
          <p:spPr bwMode="auto">
            <a:xfrm>
              <a:off x="4005" y="2918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07" name="Rectangle 64"/>
            <p:cNvSpPr>
              <a:spLocks noChangeArrowheads="1"/>
            </p:cNvSpPr>
            <p:nvPr/>
          </p:nvSpPr>
          <p:spPr bwMode="auto">
            <a:xfrm>
              <a:off x="4005" y="3302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08" name="Rectangle 65"/>
            <p:cNvSpPr>
              <a:spLocks noChangeArrowheads="1"/>
            </p:cNvSpPr>
            <p:nvPr/>
          </p:nvSpPr>
          <p:spPr bwMode="auto">
            <a:xfrm>
              <a:off x="4005" y="3398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09" name="Rectangle 66"/>
            <p:cNvSpPr>
              <a:spLocks noChangeArrowheads="1"/>
            </p:cNvSpPr>
            <p:nvPr/>
          </p:nvSpPr>
          <p:spPr bwMode="auto">
            <a:xfrm>
              <a:off x="4293" y="1718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10" name="Rectangle 67"/>
            <p:cNvSpPr>
              <a:spLocks noChangeArrowheads="1"/>
            </p:cNvSpPr>
            <p:nvPr/>
          </p:nvSpPr>
          <p:spPr bwMode="auto">
            <a:xfrm>
              <a:off x="4581" y="1718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11" name="Rectangle 68"/>
            <p:cNvSpPr>
              <a:spLocks noChangeArrowheads="1"/>
            </p:cNvSpPr>
            <p:nvPr/>
          </p:nvSpPr>
          <p:spPr bwMode="auto">
            <a:xfrm>
              <a:off x="4293" y="2918"/>
              <a:ext cx="240" cy="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12" name="Rectangle 69"/>
            <p:cNvSpPr>
              <a:spLocks noChangeArrowheads="1"/>
            </p:cNvSpPr>
            <p:nvPr/>
          </p:nvSpPr>
          <p:spPr bwMode="auto">
            <a:xfrm>
              <a:off x="3573" y="1382"/>
              <a:ext cx="96" cy="225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13" name="Text Box 70"/>
            <p:cNvSpPr txBox="1">
              <a:spLocks noChangeArrowheads="1"/>
            </p:cNvSpPr>
            <p:nvPr/>
          </p:nvSpPr>
          <p:spPr bwMode="auto">
            <a:xfrm>
              <a:off x="3573" y="3686"/>
              <a:ext cx="173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CBHT</a:t>
              </a:r>
              <a:br>
                <a:rPr lang="en-GB" altLang="en-US" sz="1800"/>
              </a:br>
              <a:r>
                <a:rPr lang="en-US" altLang="en-US" sz="1800" i="1"/>
                <a:t>n</a:t>
              </a:r>
              <a:r>
                <a:rPr lang="en-US" altLang="en-US" sz="1800"/>
                <a:t> = 36 (load factor </a:t>
              </a:r>
              <a:r>
                <a:rPr lang="en-US" altLang="en-US" sz="1800">
                  <a:sym typeface="Symbol" pitchFamily="18" charset="2"/>
                </a:rPr>
                <a:t></a:t>
              </a:r>
              <a:r>
                <a:rPr lang="en-US" altLang="en-US" sz="1800"/>
                <a:t> 0.75)</a:t>
              </a:r>
              <a:endParaRPr lang="en-GB" altLang="en-US" sz="1800"/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665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94" grpId="0" animBg="1" autoUpdateAnimBg="0"/>
      <p:bldP spid="420895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 student records </a:t>
            </a:r>
            <a:r>
              <a:rPr lang="en-US" altLang="en-US" i="1"/>
              <a:t>(1)</a:t>
            </a:r>
            <a:endParaRPr lang="en-GB" altLang="en-US" i="1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Consider a hypothetical university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en-US" altLang="en-US" dirty="0">
                <a:cs typeface="Times New Roman" pitchFamily="18" charset="0"/>
              </a:rPr>
              <a:t>s student records. About 1,500 new students register each year, and most students stay for 4 years.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Each student has a unique student-number of the form </a:t>
            </a:r>
            <a:r>
              <a:rPr lang="en-US" altLang="en-US" i="1" dirty="0" err="1">
                <a:cs typeface="Times New Roman" pitchFamily="18" charset="0"/>
              </a:rPr>
              <a:t>yydddd</a:t>
            </a:r>
            <a:endParaRPr lang="en-US" altLang="en-US" dirty="0">
              <a:cs typeface="Times New Roman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i="1" dirty="0" err="1">
                <a:cs typeface="Times New Roman" pitchFamily="18" charset="0"/>
              </a:rPr>
              <a:t>yy</a:t>
            </a:r>
            <a:r>
              <a:rPr lang="en-US" altLang="en-US" dirty="0">
                <a:cs typeface="Times New Roman" pitchFamily="18" charset="0"/>
              </a:rPr>
              <a:t> are the last two digits of the year of first registration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i="1" dirty="0" err="1">
                <a:cs typeface="Times New Roman" pitchFamily="18" charset="0"/>
              </a:rPr>
              <a:t>dddd</a:t>
            </a:r>
            <a:r>
              <a:rPr lang="en-US" altLang="en-US" dirty="0">
                <a:cs typeface="Times New Roman" pitchFamily="18" charset="0"/>
              </a:rPr>
              <a:t> is a serial number.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Suppose that the student records will be held in a hash-table.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i="1" dirty="0">
                <a:cs typeface="Times New Roman" pitchFamily="18" charset="0"/>
              </a:rPr>
              <a:t>hash</a:t>
            </a:r>
            <a:r>
              <a:rPr lang="en-US" altLang="en-US" dirty="0">
                <a:cs typeface="Times New Roman" pitchFamily="18" charset="0"/>
              </a:rPr>
              <a:t>(</a:t>
            </a:r>
            <a:r>
              <a:rPr lang="en-US" altLang="en-US" i="1" dirty="0">
                <a:cs typeface="Times New Roman" pitchFamily="18" charset="0"/>
              </a:rPr>
              <a:t>k</a:t>
            </a:r>
            <a:r>
              <a:rPr lang="en-US" altLang="en-US" dirty="0">
                <a:cs typeface="Times New Roman" pitchFamily="18" charset="0"/>
              </a:rPr>
              <a:t>) can depend on any or all of the digits of the student-number </a:t>
            </a:r>
            <a:r>
              <a:rPr lang="en-US" altLang="en-US" i="1" dirty="0">
                <a:cs typeface="Times New Roman" pitchFamily="18" charset="0"/>
              </a:rPr>
              <a:t>k</a:t>
            </a:r>
            <a:r>
              <a:rPr lang="en-US" altLang="en-US" dirty="0">
                <a:cs typeface="Times New Roman" pitchFamily="18" charset="0"/>
              </a:rPr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2649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 student records </a:t>
            </a:r>
            <a:r>
              <a:rPr lang="en-US" altLang="en-US" i="1"/>
              <a:t>(2)</a:t>
            </a:r>
            <a:endParaRPr lang="en-GB" altLang="en-US" i="1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47813" y="1700213"/>
            <a:ext cx="7200900" cy="4608512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Consider </a:t>
            </a:r>
            <a:r>
              <a:rPr lang="en-US" altLang="en-US" i="1" dirty="0">
                <a:cs typeface="Times New Roman" pitchFamily="18" charset="0"/>
              </a:rPr>
              <a:t>m</a:t>
            </a:r>
            <a:r>
              <a:rPr lang="en-US" altLang="en-US" dirty="0">
                <a:cs typeface="Times New Roman" pitchFamily="18" charset="0"/>
              </a:rPr>
              <a:t> = 100, </a:t>
            </a:r>
            <a:r>
              <a:rPr lang="en-US" altLang="en-US" i="1" dirty="0">
                <a:cs typeface="Times New Roman" pitchFamily="18" charset="0"/>
              </a:rPr>
              <a:t>hash</a:t>
            </a:r>
            <a:r>
              <a:rPr lang="en-US" altLang="en-US" dirty="0">
                <a:cs typeface="Times New Roman" pitchFamily="18" charset="0"/>
              </a:rPr>
              <a:t>(</a:t>
            </a:r>
            <a:r>
              <a:rPr lang="en-US" altLang="en-US" i="1" dirty="0">
                <a:cs typeface="Times New Roman" pitchFamily="18" charset="0"/>
              </a:rPr>
              <a:t>k</a:t>
            </a:r>
            <a:r>
              <a:rPr lang="en-US" altLang="en-US" dirty="0">
                <a:cs typeface="Times New Roman" pitchFamily="18" charset="0"/>
              </a:rPr>
              <a:t>) = first 2 digits of </a:t>
            </a:r>
            <a:r>
              <a:rPr lang="en-US" altLang="en-US" i="1" dirty="0">
                <a:cs typeface="Times New Roman" pitchFamily="18" charset="0"/>
              </a:rPr>
              <a:t>k</a:t>
            </a:r>
            <a:r>
              <a:rPr lang="en-US" altLang="en-US" dirty="0">
                <a:cs typeface="Times New Roman" pitchFamily="18" charset="0"/>
              </a:rPr>
              <a:t>.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b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en-US" dirty="0">
                <a:cs typeface="Times New Roman" pitchFamily="18" charset="0"/>
              </a:rPr>
              <a:t>	Far too few buckets. Load factor </a:t>
            </a:r>
            <a:r>
              <a:rPr lang="en-US" altLang="en-US" dirty="0">
                <a:cs typeface="Times New Roman" pitchFamily="18" charset="0"/>
                <a:sym typeface="Symbol" pitchFamily="18" charset="2"/>
              </a:rPr>
              <a:t></a:t>
            </a:r>
            <a:r>
              <a:rPr lang="en-US" altLang="en-US" dirty="0">
                <a:cs typeface="Times New Roman" pitchFamily="18" charset="0"/>
              </a:rPr>
              <a:t> 60.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b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en-US" dirty="0">
                <a:cs typeface="Times New Roman" pitchFamily="18" charset="0"/>
              </a:rPr>
              <a:t>	Very uneven distribution. E.g., in academic year 2022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–2</a:t>
            </a:r>
            <a:r>
              <a:rPr lang="en-US" altLang="en-US" dirty="0">
                <a:cs typeface="Times New Roman" pitchFamily="18" charset="0"/>
              </a:rPr>
              <a:t>3, most student-numbers start with 19, 20, 21, or 22.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Consider </a:t>
            </a:r>
            <a:r>
              <a:rPr lang="en-US" altLang="en-US" i="1" dirty="0">
                <a:cs typeface="Times New Roman" pitchFamily="18" charset="0"/>
              </a:rPr>
              <a:t>m</a:t>
            </a:r>
            <a:r>
              <a:rPr lang="en-US" altLang="en-US" dirty="0">
                <a:cs typeface="Times New Roman" pitchFamily="18" charset="0"/>
              </a:rPr>
              <a:t> = 10,000, </a:t>
            </a:r>
            <a:r>
              <a:rPr lang="en-US" altLang="en-US" i="1" dirty="0">
                <a:cs typeface="Times New Roman" pitchFamily="18" charset="0"/>
              </a:rPr>
              <a:t>hash</a:t>
            </a:r>
            <a:r>
              <a:rPr lang="en-US" altLang="en-US" dirty="0">
                <a:cs typeface="Times New Roman" pitchFamily="18" charset="0"/>
              </a:rPr>
              <a:t>(</a:t>
            </a:r>
            <a:r>
              <a:rPr lang="en-US" altLang="en-US" i="1" dirty="0">
                <a:cs typeface="Times New Roman" pitchFamily="18" charset="0"/>
              </a:rPr>
              <a:t>k</a:t>
            </a:r>
            <a:r>
              <a:rPr lang="en-US" altLang="en-US" dirty="0">
                <a:cs typeface="Times New Roman" pitchFamily="18" charset="0"/>
              </a:rPr>
              <a:t>) = last 4 digits of </a:t>
            </a:r>
            <a:r>
              <a:rPr lang="en-US" altLang="en-US" i="1" dirty="0">
                <a:cs typeface="Times New Roman" pitchFamily="18" charset="0"/>
              </a:rPr>
              <a:t>k</a:t>
            </a:r>
            <a:r>
              <a:rPr lang="en-US" altLang="en-US" dirty="0">
                <a:cs typeface="Times New Roman" pitchFamily="18" charset="0"/>
              </a:rPr>
              <a:t>.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b="1" dirty="0">
                <a:cs typeface="Times New Roman" pitchFamily="18" charset="0"/>
              </a:rPr>
              <a:t>+</a:t>
            </a:r>
            <a:r>
              <a:rPr lang="en-US" altLang="en-US" sz="1800" dirty="0">
                <a:cs typeface="Times New Roman" pitchFamily="18" charset="0"/>
              </a:rPr>
              <a:t>	</a:t>
            </a:r>
            <a:r>
              <a:rPr lang="en-US" altLang="en-US" dirty="0">
                <a:cs typeface="Times New Roman" pitchFamily="18" charset="0"/>
              </a:rPr>
              <a:t>Good number of buckets. Load factor </a:t>
            </a:r>
            <a:r>
              <a:rPr lang="en-US" altLang="en-US" dirty="0">
                <a:cs typeface="Times New Roman" pitchFamily="18" charset="0"/>
                <a:sym typeface="Symbol" pitchFamily="18" charset="2"/>
              </a:rPr>
              <a:t></a:t>
            </a:r>
            <a:r>
              <a:rPr lang="en-US" altLang="en-US" dirty="0">
                <a:cs typeface="Times New Roman" pitchFamily="18" charset="0"/>
              </a:rPr>
              <a:t> 0.6.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b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en-US" dirty="0">
                <a:cs typeface="Times New Roman" pitchFamily="18" charset="0"/>
              </a:rPr>
              <a:t>	Uneven distribution. Most student-numbers end with 0000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en-US" dirty="0">
                <a:cs typeface="Times New Roman" pitchFamily="18" charset="0"/>
              </a:rPr>
              <a:t>1500.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Consider </a:t>
            </a:r>
            <a:r>
              <a:rPr lang="en-US" altLang="en-US" i="1" dirty="0">
                <a:cs typeface="Times New Roman" pitchFamily="18" charset="0"/>
              </a:rPr>
              <a:t>m</a:t>
            </a:r>
            <a:r>
              <a:rPr lang="en-US" altLang="en-US" dirty="0">
                <a:cs typeface="Times New Roman" pitchFamily="18" charset="0"/>
              </a:rPr>
              <a:t> = 9,973, </a:t>
            </a:r>
            <a:r>
              <a:rPr lang="en-US" altLang="en-US" i="1" dirty="0">
                <a:cs typeface="Times New Roman" pitchFamily="18" charset="0"/>
              </a:rPr>
              <a:t>hash</a:t>
            </a:r>
            <a:r>
              <a:rPr lang="en-US" altLang="en-US" dirty="0">
                <a:cs typeface="Times New Roman" pitchFamily="18" charset="0"/>
              </a:rPr>
              <a:t>(</a:t>
            </a:r>
            <a:r>
              <a:rPr lang="en-US" altLang="en-US" i="1" dirty="0">
                <a:cs typeface="Times New Roman" pitchFamily="18" charset="0"/>
              </a:rPr>
              <a:t>k</a:t>
            </a:r>
            <a:r>
              <a:rPr lang="en-US" altLang="en-US" dirty="0">
                <a:cs typeface="Times New Roman" pitchFamily="18" charset="0"/>
              </a:rPr>
              <a:t>) = </a:t>
            </a:r>
            <a:r>
              <a:rPr lang="en-US" altLang="en-US" i="1" dirty="0">
                <a:cs typeface="Times New Roman" pitchFamily="18" charset="0"/>
              </a:rPr>
              <a:t>k</a:t>
            </a:r>
            <a:r>
              <a:rPr lang="en-US" altLang="en-US" dirty="0">
                <a:cs typeface="Times New Roman" pitchFamily="18" charset="0"/>
              </a:rPr>
              <a:t> modulo </a:t>
            </a:r>
            <a:r>
              <a:rPr lang="en-US" altLang="en-US" i="1" dirty="0">
                <a:cs typeface="Times New Roman" pitchFamily="18" charset="0"/>
              </a:rPr>
              <a:t>m</a:t>
            </a:r>
            <a:r>
              <a:rPr lang="en-US" altLang="en-US" dirty="0">
                <a:cs typeface="Times New Roman" pitchFamily="18" charset="0"/>
              </a:rPr>
              <a:t>.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b="1" dirty="0">
                <a:cs typeface="Times New Roman" pitchFamily="18" charset="0"/>
              </a:rPr>
              <a:t>+</a:t>
            </a:r>
            <a:r>
              <a:rPr lang="en-US" altLang="en-US" sz="1800" dirty="0">
                <a:cs typeface="Times New Roman" pitchFamily="18" charset="0"/>
              </a:rPr>
              <a:t>	</a:t>
            </a:r>
            <a:r>
              <a:rPr lang="en-US" altLang="en-US" dirty="0">
                <a:cs typeface="Times New Roman" pitchFamily="18" charset="0"/>
              </a:rPr>
              <a:t>Good number of buckets. Load factor </a:t>
            </a:r>
            <a:r>
              <a:rPr lang="en-US" altLang="en-US" dirty="0">
                <a:cs typeface="Times New Roman" pitchFamily="18" charset="0"/>
                <a:sym typeface="Symbol" pitchFamily="18" charset="2"/>
              </a:rPr>
              <a:t></a:t>
            </a:r>
            <a:r>
              <a:rPr lang="en-US" altLang="en-US" dirty="0">
                <a:cs typeface="Times New Roman" pitchFamily="18" charset="0"/>
              </a:rPr>
              <a:t> 0.6.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b="1" dirty="0">
                <a:cs typeface="Times New Roman" pitchFamily="18" charset="0"/>
              </a:rPr>
              <a:t>+</a:t>
            </a:r>
            <a:r>
              <a:rPr lang="en-US" altLang="en-US" dirty="0">
                <a:cs typeface="Times New Roman" pitchFamily="18" charset="0"/>
              </a:rPr>
              <a:t>	Even distribution (since whole key is used and </a:t>
            </a:r>
            <a:r>
              <a:rPr lang="en-US" altLang="en-US" i="1" dirty="0">
                <a:cs typeface="Times New Roman" pitchFamily="18" charset="0"/>
              </a:rPr>
              <a:t>m</a:t>
            </a:r>
            <a:r>
              <a:rPr lang="en-US" altLang="en-US" dirty="0">
                <a:cs typeface="Times New Roman" pitchFamily="18" charset="0"/>
              </a:rPr>
              <a:t> is prime).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0503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685800"/>
            <a:ext cx="6142038" cy="719137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2800" dirty="0"/>
              <a:t>Implementation of maps using CBHTs – if both maps implemented as CBHTs with sizes n and n’ and hash function</a:t>
            </a:r>
            <a:endParaRPr lang="en-GB" altLang="en-US" sz="2800" dirty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752600"/>
            <a:ext cx="7200900" cy="4067173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Summary of algorithms:</a:t>
            </a:r>
          </a:p>
        </p:txBody>
      </p:sp>
      <p:graphicFrame>
        <p:nvGraphicFramePr>
          <p:cNvPr id="397405" name="Group 9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20500962"/>
              </p:ext>
            </p:extLst>
          </p:nvPr>
        </p:nvGraphicFramePr>
        <p:xfrm>
          <a:off x="838200" y="2362200"/>
          <a:ext cx="7092950" cy="3457573"/>
        </p:xfrm>
        <a:graphic>
          <a:graphicData uri="http://schemas.openxmlformats.org/drawingml/2006/table">
            <a:tbl>
              <a:tblPr/>
              <a:tblGrid>
                <a:gridCol w="1360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3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9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1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Operation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Algorithm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1787525" algn="r"/>
                          <a:tab pos="1979613" algn="r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Time complexity</a:t>
                      </a:r>
                      <a:b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</a:b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best	worst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get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CBHT search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1787525" algn="r"/>
                        </a:tabLst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(1)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remove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CBHT deletion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1787525" algn="r"/>
                        </a:tabLst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(1)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8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put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CBHT insertion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1787525" algn="r"/>
                        </a:tabLst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(1)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1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putAll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merge on corresponding buckets of both CBHTs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1787525" algn="r"/>
                        </a:tabLst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n'n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1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equals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equality test on corresponding buckets of both CBHTs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1787525" algn="r"/>
                        </a:tabLst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n'n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DF1DE1D-01D9-093F-C19F-C6C4F42206AC}"/>
              </a:ext>
            </a:extLst>
          </p:cNvPr>
          <p:cNvSpPr txBox="1"/>
          <p:nvPr/>
        </p:nvSpPr>
        <p:spPr>
          <a:xfrm>
            <a:off x="838200" y="6019800"/>
            <a:ext cx="6400800" cy="64633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en-US" dirty="0"/>
              <a:t>Maps have </a:t>
            </a:r>
            <a:r>
              <a:rPr lang="en-US" altLang="en-US" sz="1800" dirty="0"/>
              <a:t>sizes n and n’ where (n=n’ for equals) and linked lists are sorted (only have access to head of list)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850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7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685800"/>
            <a:ext cx="6142038" cy="719137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2800" dirty="0"/>
              <a:t>Implementation of maps using CBHTs – assuming if we don’t know second map’s implementation (just iterator) </a:t>
            </a:r>
            <a:endParaRPr lang="en-GB" altLang="en-US" sz="2800" dirty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752600"/>
            <a:ext cx="7200900" cy="4621212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Summary of algorithms:</a:t>
            </a:r>
          </a:p>
        </p:txBody>
      </p:sp>
      <p:graphicFrame>
        <p:nvGraphicFramePr>
          <p:cNvPr id="397405" name="Group 9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47571219"/>
              </p:ext>
            </p:extLst>
          </p:nvPr>
        </p:nvGraphicFramePr>
        <p:xfrm>
          <a:off x="838200" y="2362200"/>
          <a:ext cx="7092950" cy="3457573"/>
        </p:xfrm>
        <a:graphic>
          <a:graphicData uri="http://schemas.openxmlformats.org/drawingml/2006/table">
            <a:tbl>
              <a:tblPr/>
              <a:tblGrid>
                <a:gridCol w="1360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3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9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1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Operation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Algorithm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1787525" algn="r"/>
                          <a:tab pos="1979613" algn="r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Time complexity</a:t>
                      </a:r>
                      <a:b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</a:b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best	worst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get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CBHT search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1787525" algn="r"/>
                        </a:tabLst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(1)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remove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CBHT deletion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1787525" algn="r"/>
                        </a:tabLst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(1)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8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put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CBHT insertion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1787525" algn="r"/>
                        </a:tabLst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(1)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1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putAll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CBHT insertion for each entry of second map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1787525" algn="r"/>
                        </a:tabLst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n’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n'n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1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equals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CBHT search for each entry of second map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1787525" algn="r"/>
                        </a:tabLst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n’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n'n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8916F2E-8571-8C75-A2CE-46F3DAC3C93C}"/>
              </a:ext>
            </a:extLst>
          </p:cNvPr>
          <p:cNvSpPr txBox="1"/>
          <p:nvPr/>
        </p:nvSpPr>
        <p:spPr>
          <a:xfrm>
            <a:off x="838200" y="6019800"/>
            <a:ext cx="6400800" cy="64633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en-US" dirty="0"/>
              <a:t>Maps have </a:t>
            </a:r>
            <a:r>
              <a:rPr lang="en-US" altLang="en-US" sz="1800" dirty="0"/>
              <a:t>sizes n and n’ where (n=n’ for equals) and linked list of (first) CBHT are unsorted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896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7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609600"/>
            <a:ext cx="6142038" cy="719137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2800" dirty="0"/>
              <a:t>Implementation of sets using CBHTs (if both sets implemented using CBHTs with same size and hash function)</a:t>
            </a:r>
            <a:endParaRPr lang="en-GB" altLang="en-US" sz="2800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47813" y="1700213"/>
            <a:ext cx="7164387" cy="4621212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Summary of algorithms:</a:t>
            </a:r>
          </a:p>
        </p:txBody>
      </p:sp>
      <p:graphicFrame>
        <p:nvGraphicFramePr>
          <p:cNvPr id="398485" name="Group 149"/>
          <p:cNvGraphicFramePr>
            <a:graphicFrameLocks noGrp="1"/>
          </p:cNvGraphicFramePr>
          <p:nvPr>
            <p:ph sz="half" idx="2"/>
          </p:nvPr>
        </p:nvGraphicFramePr>
        <p:xfrm>
          <a:off x="1117600" y="2133600"/>
          <a:ext cx="7883525" cy="4632762"/>
        </p:xfrm>
        <a:graphic>
          <a:graphicData uri="http://schemas.openxmlformats.org/drawingml/2006/table">
            <a:tbl>
              <a:tblPr/>
              <a:tblGrid>
                <a:gridCol w="190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9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09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Operation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Algorithm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1787525" algn="r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Time complexity</a:t>
                      </a:r>
                      <a:b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</a:b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best	worst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contains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CBHT search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1882775" algn="r"/>
                        </a:tabLst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(1)	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add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CBHT insertion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1882775" algn="r"/>
                        </a:tabLst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(1)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remove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CBHT deletion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1882775" algn="r"/>
                        </a:tabLst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(1)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5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equals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equality test on corresponding buckets of both CBHTs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1882775" algn="r"/>
                        </a:tabLst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	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n'n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5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containsAll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subsumption test on corresponding buckets of both CBHTs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1882775" algn="r"/>
                        </a:tabLst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	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n'n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5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addAll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merge on corresponding buckets of both CBHTs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1882775" algn="r"/>
                        </a:tabLst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	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n'n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5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removeAll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variant of merge on corresponding buckets of both CBHTs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1882775" algn="r"/>
                        </a:tabLst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	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n'n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5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retainAll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variant of merge on corresponding buckets of both CBHTs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1882775" algn="r"/>
                        </a:tabLst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	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n'n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4955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457200"/>
            <a:ext cx="8229600" cy="71913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Open bucket hash tables OBHTs</a:t>
            </a:r>
            <a:endParaRPr lang="en-GB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1000" y="1447800"/>
            <a:ext cx="8077200" cy="4621212"/>
          </a:xfrm>
        </p:spPr>
        <p:txBody>
          <a:bodyPr/>
          <a:lstStyle/>
          <a:p>
            <a:r>
              <a:rPr lang="en-GB" dirty="0"/>
              <a:t>We don’t do these, but there is an example demo for one implementation (linear probing) due to Daniel Laing here: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0070C0"/>
                </a:solidFill>
              </a:rPr>
              <a:t>   https://</a:t>
            </a:r>
            <a:r>
              <a:rPr lang="en-GB" sz="2000" dirty="0" err="1">
                <a:solidFill>
                  <a:srgbClr val="0070C0"/>
                </a:solidFill>
              </a:rPr>
              <a:t>yongdanielliang.github.io</a:t>
            </a:r>
            <a:r>
              <a:rPr lang="en-GB" sz="2000" dirty="0">
                <a:solidFill>
                  <a:srgbClr val="0070C0"/>
                </a:solidFill>
              </a:rPr>
              <a:t>/animation/web/</a:t>
            </a:r>
            <a:r>
              <a:rPr lang="en-GB" sz="2000" dirty="0" err="1">
                <a:solidFill>
                  <a:srgbClr val="0070C0"/>
                </a:solidFill>
              </a:rPr>
              <a:t>LinearProbing.html</a:t>
            </a:r>
            <a:endParaRPr lang="en-GB" sz="20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GB" dirty="0"/>
              <a:t>   Link is given on Moodle</a:t>
            </a:r>
          </a:p>
          <a:p>
            <a:r>
              <a:rPr lang="en-GB" dirty="0"/>
              <a:t>Some extra slides in which OBHTs are discussed (Prosser) are also available on Moodle.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72869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40486-AEFD-684F-B44B-309CBB183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6142038" cy="719137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Final diagram – (didn’t make it into the video!)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7362B15-DA7E-C246-B91B-BAAC3F13CD86}"/>
              </a:ext>
            </a:extLst>
          </p:cNvPr>
          <p:cNvGrpSpPr/>
          <p:nvPr/>
        </p:nvGrpSpPr>
        <p:grpSpPr>
          <a:xfrm>
            <a:off x="-77811" y="1494544"/>
            <a:ext cx="8782566" cy="3776580"/>
            <a:chOff x="-77811" y="1494544"/>
            <a:chExt cx="8782566" cy="377658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F7AD334-9DA2-8C4F-A7F0-3FB37D3B72A8}"/>
                </a:ext>
              </a:extLst>
            </p:cNvPr>
            <p:cNvGrpSpPr/>
            <p:nvPr/>
          </p:nvGrpSpPr>
          <p:grpSpPr>
            <a:xfrm>
              <a:off x="1241827" y="1494544"/>
              <a:ext cx="6660346" cy="3776580"/>
              <a:chOff x="2445565" y="1378708"/>
              <a:chExt cx="6660346" cy="3776580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317893-3D55-7D40-82DC-6094758A68A0}"/>
                  </a:ext>
                </a:extLst>
              </p:cNvPr>
              <p:cNvSpPr txBox="1"/>
              <p:nvPr/>
            </p:nvSpPr>
            <p:spPr>
              <a:xfrm>
                <a:off x="2730262" y="2822585"/>
                <a:ext cx="870706" cy="369332"/>
              </a:xfrm>
              <a:prstGeom prst="rect">
                <a:avLst/>
              </a:prstGeom>
              <a:noFill/>
              <a:ln>
                <a:solidFill>
                  <a:srgbClr val="3366FF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stack                      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1C31A36-D3BC-6D40-8B8D-225C884F3335}"/>
                  </a:ext>
                </a:extLst>
              </p:cNvPr>
              <p:cNvSpPr txBox="1"/>
              <p:nvPr/>
            </p:nvSpPr>
            <p:spPr>
              <a:xfrm>
                <a:off x="2445565" y="1378708"/>
                <a:ext cx="1440100" cy="64633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e.g. </a:t>
                </a:r>
              </a:p>
              <a:p>
                <a:r>
                  <a:rPr lang="en-US" dirty="0"/>
                  <a:t>push, pop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EE6F78D-C920-7746-A588-0555D6EFE526}"/>
                  </a:ext>
                </a:extLst>
              </p:cNvPr>
              <p:cNvSpPr txBox="1"/>
              <p:nvPr/>
            </p:nvSpPr>
            <p:spPr>
              <a:xfrm>
                <a:off x="4266125" y="1390439"/>
                <a:ext cx="1261242" cy="92333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e.g. </a:t>
                </a:r>
              </a:p>
              <a:p>
                <a:r>
                  <a:rPr lang="en-US" dirty="0" err="1"/>
                  <a:t>getFirst</a:t>
                </a:r>
                <a:r>
                  <a:rPr lang="en-US" dirty="0"/>
                  <a:t>, </a:t>
                </a:r>
                <a:r>
                  <a:rPr lang="en-US" dirty="0" err="1"/>
                  <a:t>addLast</a:t>
                </a:r>
                <a:endParaRPr lang="en-US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DEF258C-5561-9147-967E-C1D6CE1A7CD6}"/>
                  </a:ext>
                </a:extLst>
              </p:cNvPr>
              <p:cNvSpPr txBox="1"/>
              <p:nvPr/>
            </p:nvSpPr>
            <p:spPr>
              <a:xfrm>
                <a:off x="2667805" y="4247846"/>
                <a:ext cx="1011824" cy="369332"/>
              </a:xfrm>
              <a:prstGeom prst="rect">
                <a:avLst/>
              </a:prstGeom>
              <a:noFill/>
              <a:ln>
                <a:solidFill>
                  <a:srgbClr val="008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array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3C930DD-5BAF-B741-A922-6904B9CE68BB}"/>
                  </a:ext>
                </a:extLst>
              </p:cNvPr>
              <p:cNvSpPr txBox="1"/>
              <p:nvPr/>
            </p:nvSpPr>
            <p:spPr>
              <a:xfrm>
                <a:off x="4484352" y="4294013"/>
                <a:ext cx="1011824" cy="646331"/>
              </a:xfrm>
              <a:prstGeom prst="rect">
                <a:avLst/>
              </a:prstGeom>
              <a:noFill/>
              <a:ln>
                <a:solidFill>
                  <a:srgbClr val="008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linked list</a:t>
                </a: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D3CD70BF-B04B-9E4B-876A-43360AA4B18D}"/>
                  </a:ext>
                </a:extLst>
              </p:cNvPr>
              <p:cNvCxnSpPr>
                <a:stCxn id="8" idx="2"/>
              </p:cNvCxnSpPr>
              <p:nvPr/>
            </p:nvCxnSpPr>
            <p:spPr>
              <a:xfrm>
                <a:off x="3165615" y="2025039"/>
                <a:ext cx="0" cy="797546"/>
              </a:xfrm>
              <a:prstGeom prst="straightConnector1">
                <a:avLst/>
              </a:prstGeom>
              <a:ln>
                <a:solidFill>
                  <a:srgbClr val="0000FF"/>
                </a:solidFill>
                <a:prstDash val="solid"/>
                <a:headEnd type="triangle" w="lg" len="lg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81F8D0E4-64FD-EC48-A63B-C62CC2DCEEB8}"/>
                  </a:ext>
                </a:extLst>
              </p:cNvPr>
              <p:cNvCxnSpPr>
                <a:cxnSpLocks/>
                <a:endCxn id="14" idx="0"/>
              </p:cNvCxnSpPr>
              <p:nvPr/>
            </p:nvCxnSpPr>
            <p:spPr>
              <a:xfrm>
                <a:off x="4844742" y="2313769"/>
                <a:ext cx="0" cy="509384"/>
              </a:xfrm>
              <a:prstGeom prst="straightConnector1">
                <a:avLst/>
              </a:prstGeom>
              <a:ln>
                <a:solidFill>
                  <a:srgbClr val="0000FF"/>
                </a:solidFill>
                <a:prstDash val="solid"/>
                <a:headEnd type="triangle" w="lg" len="lg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838780D-F5ED-A34C-B92B-B4C73F077002}"/>
                  </a:ext>
                </a:extLst>
              </p:cNvPr>
              <p:cNvSpPr txBox="1"/>
              <p:nvPr/>
            </p:nvSpPr>
            <p:spPr>
              <a:xfrm>
                <a:off x="4338830" y="2823153"/>
                <a:ext cx="1011824" cy="369332"/>
              </a:xfrm>
              <a:prstGeom prst="rect">
                <a:avLst/>
              </a:prstGeom>
              <a:noFill/>
              <a:ln>
                <a:solidFill>
                  <a:srgbClr val="3366FF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queue                      </a:t>
                </a:r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824EE4F5-2577-1E4E-9C10-5F180968EF24}"/>
                  </a:ext>
                </a:extLst>
              </p:cNvPr>
              <p:cNvCxnSpPr>
                <a:stCxn id="7" idx="2"/>
                <a:endCxn id="10" idx="0"/>
              </p:cNvCxnSpPr>
              <p:nvPr/>
            </p:nvCxnSpPr>
            <p:spPr>
              <a:xfrm>
                <a:off x="3165615" y="3191917"/>
                <a:ext cx="8102" cy="1055929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prstDash val="dash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3F0E7882-B864-0542-883B-C2E8A7ECCB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7457" y="3222695"/>
                <a:ext cx="1472657" cy="1039473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prstDash val="dash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1AE6E4BE-526F-D540-889C-C5070C68BCF0}"/>
                  </a:ext>
                </a:extLst>
              </p:cNvPr>
              <p:cNvCxnSpPr>
                <a:cxnSpLocks/>
                <a:endCxn id="11" idx="0"/>
              </p:cNvCxnSpPr>
              <p:nvPr/>
            </p:nvCxnSpPr>
            <p:spPr>
              <a:xfrm>
                <a:off x="4921011" y="3184533"/>
                <a:ext cx="69253" cy="1109480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prstDash val="dash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5196ADD8-7C99-B845-B564-045FE1FB7DF2}"/>
                  </a:ext>
                </a:extLst>
              </p:cNvPr>
              <p:cNvCxnSpPr>
                <a:stCxn id="14" idx="2"/>
              </p:cNvCxnSpPr>
              <p:nvPr/>
            </p:nvCxnSpPr>
            <p:spPr>
              <a:xfrm flipH="1">
                <a:off x="2856732" y="3192485"/>
                <a:ext cx="1988010" cy="1040041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prstDash val="dash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4BA12FE-49FE-0F4F-8688-B962D8A99EF5}"/>
                  </a:ext>
                </a:extLst>
              </p:cNvPr>
              <p:cNvSpPr txBox="1"/>
              <p:nvPr/>
            </p:nvSpPr>
            <p:spPr>
              <a:xfrm>
                <a:off x="6002582" y="2822585"/>
                <a:ext cx="870706" cy="369332"/>
              </a:xfrm>
              <a:prstGeom prst="rect">
                <a:avLst/>
              </a:prstGeom>
              <a:noFill/>
              <a:ln>
                <a:solidFill>
                  <a:srgbClr val="3366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list                      </a:t>
                </a:r>
                <a:endParaRPr lang="en-US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8808989-4FB8-BA46-BEB6-861C2262841A}"/>
                  </a:ext>
                </a:extLst>
              </p:cNvPr>
              <p:cNvSpPr txBox="1"/>
              <p:nvPr/>
            </p:nvSpPr>
            <p:spPr>
              <a:xfrm>
                <a:off x="7489625" y="2784815"/>
                <a:ext cx="692228" cy="369332"/>
              </a:xfrm>
              <a:prstGeom prst="rect">
                <a:avLst/>
              </a:prstGeom>
              <a:noFill/>
              <a:ln>
                <a:solidFill>
                  <a:srgbClr val="3366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set*                     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82A7802-6276-434A-9720-11CF343907BA}"/>
                  </a:ext>
                </a:extLst>
              </p:cNvPr>
              <p:cNvSpPr txBox="1"/>
              <p:nvPr/>
            </p:nvSpPr>
            <p:spPr>
              <a:xfrm>
                <a:off x="5941176" y="1409196"/>
                <a:ext cx="932109" cy="92333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e.g. </a:t>
                </a:r>
              </a:p>
              <a:p>
                <a:r>
                  <a:rPr lang="en-US" dirty="0"/>
                  <a:t>get(</a:t>
                </a:r>
                <a:r>
                  <a:rPr lang="en-US" dirty="0" err="1"/>
                  <a:t>i</a:t>
                </a:r>
                <a:r>
                  <a:rPr lang="en-US" dirty="0"/>
                  <a:t>), </a:t>
                </a:r>
              </a:p>
              <a:p>
                <a:r>
                  <a:rPr lang="en-US" dirty="0"/>
                  <a:t>iterate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C1D4A8F-7F8B-A04A-A33B-389B7FE3D568}"/>
                  </a:ext>
                </a:extLst>
              </p:cNvPr>
              <p:cNvSpPr txBox="1"/>
              <p:nvPr/>
            </p:nvSpPr>
            <p:spPr>
              <a:xfrm>
                <a:off x="7317447" y="1429000"/>
                <a:ext cx="1107887" cy="92333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e.g. </a:t>
                </a:r>
              </a:p>
              <a:p>
                <a:r>
                  <a:rPr lang="en-US" dirty="0"/>
                  <a:t>contains, </a:t>
                </a:r>
                <a:r>
                  <a:rPr lang="en-US" dirty="0" err="1"/>
                  <a:t>addAll</a:t>
                </a:r>
                <a:endParaRPr lang="en-US" dirty="0"/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A7D64642-8A38-834A-AE4D-BA77F47FF8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85338" y="2332526"/>
                <a:ext cx="0" cy="520837"/>
              </a:xfrm>
              <a:prstGeom prst="straightConnector1">
                <a:avLst/>
              </a:prstGeom>
              <a:ln>
                <a:solidFill>
                  <a:srgbClr val="0000FF"/>
                </a:solidFill>
                <a:prstDash val="solid"/>
                <a:headEnd type="triangle" w="lg" len="lg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6852D8B0-9D11-6943-8D43-04696D344710}"/>
                  </a:ext>
                </a:extLst>
              </p:cNvPr>
              <p:cNvCxnSpPr/>
              <p:nvPr/>
            </p:nvCxnSpPr>
            <p:spPr>
              <a:xfrm>
                <a:off x="7871390" y="2367135"/>
                <a:ext cx="0" cy="428214"/>
              </a:xfrm>
              <a:prstGeom prst="straightConnector1">
                <a:avLst/>
              </a:prstGeom>
              <a:ln>
                <a:solidFill>
                  <a:srgbClr val="0000FF"/>
                </a:solidFill>
                <a:prstDash val="solid"/>
                <a:headEnd type="triangle" w="lg" len="lg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790BB1CB-D2B7-3244-B787-C6547FB718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54921" y="3197247"/>
                <a:ext cx="3142430" cy="1050599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prstDash val="dash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A10E0890-95AB-8744-B76B-A7DE783C9A7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22049" y="3204591"/>
                <a:ext cx="1331255" cy="1087095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prstDash val="dash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1A4236DB-6924-164A-B7E8-D9715251FEC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30295" y="3182365"/>
                <a:ext cx="4323007" cy="1065481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prstDash val="dash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B6E3FC61-9D42-8748-888C-3DD18D6C5533}"/>
                  </a:ext>
                </a:extLst>
              </p:cNvPr>
              <p:cNvCxnSpPr>
                <a:cxnSpLocks/>
                <a:stCxn id="20" idx="2"/>
              </p:cNvCxnSpPr>
              <p:nvPr/>
            </p:nvCxnSpPr>
            <p:spPr>
              <a:xfrm flipH="1">
                <a:off x="7347707" y="3154147"/>
                <a:ext cx="488032" cy="1073049"/>
              </a:xfrm>
              <a:prstGeom prst="straightConnector1">
                <a:avLst/>
              </a:prstGeom>
              <a:ln w="26424">
                <a:solidFill>
                  <a:srgbClr val="FFC000"/>
                </a:solidFill>
                <a:prstDash val="dash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68F9AAC-D44F-A640-8A94-7E6557971E1C}"/>
                  </a:ext>
                </a:extLst>
              </p:cNvPr>
              <p:cNvSpPr txBox="1"/>
              <p:nvPr/>
            </p:nvSpPr>
            <p:spPr>
              <a:xfrm>
                <a:off x="6741478" y="4231958"/>
                <a:ext cx="1011824" cy="923330"/>
              </a:xfrm>
              <a:prstGeom prst="rect">
                <a:avLst/>
              </a:prstGeom>
              <a:noFill/>
              <a:ln>
                <a:solidFill>
                  <a:srgbClr val="008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binary search tree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997247C-5E9D-A143-9292-708ADBE264A5}"/>
                  </a:ext>
                </a:extLst>
              </p:cNvPr>
              <p:cNvSpPr txBox="1"/>
              <p:nvPr/>
            </p:nvSpPr>
            <p:spPr>
              <a:xfrm>
                <a:off x="8094087" y="4227196"/>
                <a:ext cx="1011824" cy="646331"/>
              </a:xfrm>
              <a:prstGeom prst="rect">
                <a:avLst/>
              </a:prstGeom>
              <a:noFill/>
              <a:ln>
                <a:solidFill>
                  <a:srgbClr val="008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hash table</a:t>
                </a:r>
              </a:p>
            </p:txBody>
          </p: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7C580E30-0793-BE48-BB54-C514E571327E}"/>
                  </a:ext>
                </a:extLst>
              </p:cNvPr>
              <p:cNvCxnSpPr>
                <a:cxnSpLocks/>
                <a:endCxn id="30" idx="0"/>
              </p:cNvCxnSpPr>
              <p:nvPr/>
            </p:nvCxnSpPr>
            <p:spPr>
              <a:xfrm>
                <a:off x="8094087" y="3182365"/>
                <a:ext cx="505912" cy="1044831"/>
              </a:xfrm>
              <a:prstGeom prst="straightConnector1">
                <a:avLst/>
              </a:prstGeom>
              <a:ln w="26424">
                <a:solidFill>
                  <a:srgbClr val="FFC000"/>
                </a:solidFill>
                <a:prstDash val="dash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15196FB5-5013-B64E-9584-0E9D48315887}"/>
                  </a:ext>
                </a:extLst>
              </p:cNvPr>
              <p:cNvCxnSpPr>
                <a:cxnSpLocks/>
                <a:stCxn id="20" idx="2"/>
              </p:cNvCxnSpPr>
              <p:nvPr/>
            </p:nvCxnSpPr>
            <p:spPr>
              <a:xfrm flipH="1">
                <a:off x="5336374" y="3154147"/>
                <a:ext cx="2499365" cy="1137539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prstDash val="dash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D559F91-C48C-434F-A49D-62FCD6C9E8F8}"/>
                </a:ext>
              </a:extLst>
            </p:cNvPr>
            <p:cNvSpPr txBox="1"/>
            <p:nvPr/>
          </p:nvSpPr>
          <p:spPr>
            <a:xfrm>
              <a:off x="-77811" y="1688047"/>
              <a:ext cx="1440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operations: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13F6821-F70A-834C-A32F-17411EF991AF}"/>
                </a:ext>
              </a:extLst>
            </p:cNvPr>
            <p:cNvSpPr txBox="1"/>
            <p:nvPr/>
          </p:nvSpPr>
          <p:spPr>
            <a:xfrm>
              <a:off x="41220" y="2969199"/>
              <a:ext cx="12171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ADTs: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B70C7E1-B7E3-3347-9247-D600F16F6B37}"/>
                </a:ext>
              </a:extLst>
            </p:cNvPr>
            <p:cNvSpPr txBox="1"/>
            <p:nvPr/>
          </p:nvSpPr>
          <p:spPr>
            <a:xfrm>
              <a:off x="1024" y="3588611"/>
              <a:ext cx="20408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implementation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61F0CDF-774D-6642-95C9-BAB224D4A8C6}"/>
                </a:ext>
              </a:extLst>
            </p:cNvPr>
            <p:cNvSpPr txBox="1"/>
            <p:nvPr/>
          </p:nvSpPr>
          <p:spPr>
            <a:xfrm>
              <a:off x="41371" y="4257077"/>
              <a:ext cx="14401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data structure: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B48F244-2770-F74D-9C4B-259476B66057}"/>
                </a:ext>
              </a:extLst>
            </p:cNvPr>
            <p:cNvSpPr txBox="1"/>
            <p:nvPr/>
          </p:nvSpPr>
          <p:spPr>
            <a:xfrm>
              <a:off x="7782357" y="2900651"/>
              <a:ext cx="851476" cy="369332"/>
            </a:xfrm>
            <a:prstGeom prst="rect">
              <a:avLst/>
            </a:prstGeom>
            <a:noFill/>
            <a:ln>
              <a:solidFill>
                <a:srgbClr val="3366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map*                     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C3D8806-ADFD-A84C-B13E-35050F1E29A1}"/>
                </a:ext>
              </a:extLst>
            </p:cNvPr>
            <p:cNvSpPr txBox="1"/>
            <p:nvPr/>
          </p:nvSpPr>
          <p:spPr>
            <a:xfrm>
              <a:off x="7596868" y="1559641"/>
              <a:ext cx="1107887" cy="92333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</a:rPr>
                <a:t> </a:t>
              </a:r>
              <a:r>
                <a:rPr lang="en-US" dirty="0"/>
                <a:t>e.g.</a:t>
              </a:r>
            </a:p>
            <a:p>
              <a:r>
                <a:rPr lang="en-US" dirty="0"/>
                <a:t>put, </a:t>
              </a:r>
              <a:r>
                <a:rPr lang="en-US" dirty="0" err="1"/>
                <a:t>putAll</a:t>
              </a:r>
              <a:endParaRPr lang="en-US" dirty="0"/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A8FA2FAA-55E9-6B41-B72E-EAD232D2D2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75779" y="3262731"/>
              <a:ext cx="1852692" cy="1100951"/>
            </a:xfrm>
            <a:prstGeom prst="straightConnector1">
              <a:avLst/>
            </a:prstGeom>
            <a:ln>
              <a:solidFill>
                <a:srgbClr val="FFC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9C54C185-4FF8-8540-ACF0-30E25F9D1A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27921" y="3285303"/>
              <a:ext cx="5386486" cy="1140200"/>
            </a:xfrm>
            <a:prstGeom prst="straightConnector1">
              <a:avLst/>
            </a:prstGeom>
            <a:ln>
              <a:solidFill>
                <a:srgbClr val="FFC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DED5F423-6BB4-9948-86EA-50EA07C012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3629" y="3290065"/>
              <a:ext cx="3658276" cy="1162116"/>
            </a:xfrm>
            <a:prstGeom prst="straightConnector1">
              <a:avLst/>
            </a:prstGeom>
            <a:ln>
              <a:solidFill>
                <a:srgbClr val="FFC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27324965-6A42-C84D-A124-08177A3FAD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82357" y="3307436"/>
              <a:ext cx="511307" cy="1042848"/>
            </a:xfrm>
            <a:prstGeom prst="straightConnector1">
              <a:avLst/>
            </a:prstGeom>
            <a:ln>
              <a:solidFill>
                <a:srgbClr val="FFC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A1271644-746F-7E4A-A85A-7B4D17D1E4D4}"/>
                </a:ext>
              </a:extLst>
            </p:cNvPr>
            <p:cNvCxnSpPr/>
            <p:nvPr/>
          </p:nvCxnSpPr>
          <p:spPr>
            <a:xfrm>
              <a:off x="8150811" y="2472437"/>
              <a:ext cx="0" cy="428214"/>
            </a:xfrm>
            <a:prstGeom prst="straightConnector1">
              <a:avLst/>
            </a:prstGeom>
            <a:ln>
              <a:solidFill>
                <a:srgbClr val="0000FF"/>
              </a:solidFill>
              <a:prstDash val="solid"/>
              <a:headEnd type="triangle" w="lg" len="lg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414C6F65-F4CE-8340-B6A2-79CEEF435383}"/>
              </a:ext>
            </a:extLst>
          </p:cNvPr>
          <p:cNvSpPr txBox="1"/>
          <p:nvPr/>
        </p:nvSpPr>
        <p:spPr>
          <a:xfrm>
            <a:off x="4602919" y="5715000"/>
            <a:ext cx="3405581" cy="1077218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*  + special </a:t>
            </a:r>
            <a:r>
              <a:rPr lang="en-US" sz="1600" dirty="0" err="1"/>
              <a:t>boolean</a:t>
            </a:r>
            <a:r>
              <a:rPr lang="en-US" sz="1600" dirty="0"/>
              <a:t>/value array implementations when entries/keys are small integers – equivalent to HTs when keys have this form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9685148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845</TotalTime>
  <Words>3066</Words>
  <Application>Microsoft Macintosh PowerPoint</Application>
  <PresentationFormat>On-screen Show (4:3)</PresentationFormat>
  <Paragraphs>430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Calibri</vt:lpstr>
      <vt:lpstr>Courier New</vt:lpstr>
      <vt:lpstr>Symbol</vt:lpstr>
      <vt:lpstr>Times</vt:lpstr>
      <vt:lpstr>Times New Roman</vt:lpstr>
      <vt:lpstr>Wingdings</vt:lpstr>
      <vt:lpstr>Clarity</vt:lpstr>
      <vt:lpstr>12.  Hash-Table Data Structures</vt:lpstr>
      <vt:lpstr>Hash-table principles (1)</vt:lpstr>
      <vt:lpstr>Hash-table principles (2)</vt:lpstr>
      <vt:lpstr>Hash-table principles (3)</vt:lpstr>
      <vt:lpstr>Hash-table principles (4)</vt:lpstr>
      <vt:lpstr>Example: a hash function for words</vt:lpstr>
      <vt:lpstr>Hashing in Java (1)</vt:lpstr>
      <vt:lpstr>Hashing in Java (2)</vt:lpstr>
      <vt:lpstr>Closed buckets vs open buckets</vt:lpstr>
      <vt:lpstr>Closed-bucket hash-tables (1)</vt:lpstr>
      <vt:lpstr>Closed-bucket hash-tables (2)</vt:lpstr>
      <vt:lpstr>Closed-bucket hash-tables (3)</vt:lpstr>
      <vt:lpstr>Closed-bucket hash-tables (4)</vt:lpstr>
      <vt:lpstr>Closed-bucket hash-tables (5)</vt:lpstr>
      <vt:lpstr>CBHT search (1)</vt:lpstr>
      <vt:lpstr>CBHT insertion and deletion </vt:lpstr>
      <vt:lpstr>CBHTs: analysis</vt:lpstr>
      <vt:lpstr>CBHTs: design</vt:lpstr>
      <vt:lpstr>CBHTs: choosing the number of buckets</vt:lpstr>
      <vt:lpstr>CBHTs: choosing the hash function</vt:lpstr>
      <vt:lpstr>Example: hash-table for words (1)</vt:lpstr>
      <vt:lpstr>Example: hash-table for words (2)</vt:lpstr>
      <vt:lpstr>Example: hash-table for words (3)</vt:lpstr>
      <vt:lpstr>Example: hash-table for words (4)</vt:lpstr>
      <vt:lpstr>Hash-tables in practice (1)</vt:lpstr>
      <vt:lpstr>Hash-tables in practice (2)</vt:lpstr>
      <vt:lpstr>Example: student records (1)</vt:lpstr>
      <vt:lpstr>Example: student records (2)</vt:lpstr>
      <vt:lpstr>Implementation of maps using CBHTs – if both maps implemented as CBHTs with sizes n and n’ and hash function</vt:lpstr>
      <vt:lpstr>Implementation of maps using CBHTs – assuming if we don’t know second map’s implementation (just iterator) </vt:lpstr>
      <vt:lpstr>Implementation of sets using CBHTs (if both sets implemented using CBHTs with same size and hash function)</vt:lpstr>
      <vt:lpstr>Open bucket hash tables OBHTs</vt:lpstr>
      <vt:lpstr>Final diagram – (didn’t make it into the video!)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12.  Hash-Table Data Structures</dc:title>
  <dc:creator>Alice</dc:creator>
  <cp:lastModifiedBy>Alice Miller</cp:lastModifiedBy>
  <cp:revision>36</cp:revision>
  <dcterms:created xsi:type="dcterms:W3CDTF">2006-08-16T00:00:00Z</dcterms:created>
  <dcterms:modified xsi:type="dcterms:W3CDTF">2023-03-16T10:52:51Z</dcterms:modified>
</cp:coreProperties>
</file>