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78" r:id="rId6"/>
    <p:sldId id="279" r:id="rId7"/>
    <p:sldId id="280" r:id="rId8"/>
    <p:sldId id="281" r:id="rId9"/>
    <p:sldId id="282" r:id="rId10"/>
    <p:sldId id="28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00"/>
    <a:srgbClr val="0099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54" autoAdjust="0"/>
  </p:normalViewPr>
  <p:slideViewPr>
    <p:cSldViewPr>
      <p:cViewPr varScale="1">
        <p:scale>
          <a:sx n="104" d="100"/>
          <a:sy n="104" d="100"/>
        </p:scale>
        <p:origin x="188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748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2587D-3D73-42C0-A887-52FE71FEC1E6}" type="datetimeFigureOut">
              <a:rPr lang="en-GB" smtClean="0"/>
              <a:t>31/05/2021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16B0D-BED5-4DBD-B1C9-D5ED699C4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veofprogramming.com/java/java-static-class-tutorial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295400"/>
            <a:ext cx="8280400" cy="7366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ASIDE</a:t>
            </a:r>
            <a:r>
              <a:rPr lang="en-GB" altLang="en-US" sz="3600">
                <a:solidFill>
                  <a:schemeClr val="folHlink"/>
                </a:solidFill>
              </a:rPr>
              <a:t>: Inner classes</a:t>
            </a:r>
            <a:endParaRPr lang="en-GB" altLang="en-US" sz="3600" dirty="0">
              <a:solidFill>
                <a:schemeClr val="folHlink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1987" y="3657600"/>
            <a:ext cx="7454900" cy="3635375"/>
          </a:xfrm>
        </p:spPr>
        <p:txBody>
          <a:bodyPr/>
          <a:lstStyle/>
          <a:p>
            <a:pPr marL="342900" indent="-342900" eaLnBrk="1" hangingPunct="1">
              <a:buClr>
                <a:schemeClr val="tx1"/>
              </a:buClr>
              <a:buFont typeface="Wingdings" charset="2"/>
              <a:buChar char="§"/>
            </a:pPr>
            <a:r>
              <a:rPr lang="en-GB" altLang="en-US"/>
              <a:t>Inner classes general</a:t>
            </a:r>
            <a:endParaRPr lang="en-GB" altLang="en-US" dirty="0"/>
          </a:p>
          <a:p>
            <a:pPr marL="342900" indent="-342900" eaLnBrk="1" hangingPunct="1">
              <a:buClr>
                <a:schemeClr val="tx1"/>
              </a:buClr>
              <a:buFont typeface="Wingdings" charset="2"/>
              <a:buChar char="§"/>
            </a:pPr>
            <a:r>
              <a:rPr lang="en-GB" altLang="en-US"/>
              <a:t>Helper classes + example</a:t>
            </a:r>
            <a:endParaRPr lang="en-GB" altLang="en-US" dirty="0"/>
          </a:p>
          <a:p>
            <a:pPr marL="342900" indent="-342900" eaLnBrk="1" hangingPunct="1">
              <a:buClr>
                <a:schemeClr val="tx1"/>
              </a:buClr>
              <a:buFont typeface="Wingdings" charset="2"/>
              <a:buChar char="§"/>
            </a:pPr>
            <a:r>
              <a:rPr lang="en-GB" altLang="en-US"/>
              <a:t>Static inner classes</a:t>
            </a:r>
            <a:endParaRPr lang="en-GB" altLang="en-US" sz="2400" dirty="0"/>
          </a:p>
          <a:p>
            <a:pPr marL="342900" indent="-342900" eaLnBrk="1" hangingPunct="1">
              <a:buClr>
                <a:schemeClr val="tx1"/>
              </a:buClr>
              <a:buFont typeface="Wingdings" charset="2"/>
              <a:buChar char="§"/>
            </a:pPr>
            <a:r>
              <a:rPr lang="en-GB" altLang="en-US"/>
              <a:t>Node inner class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4191000" y="465612"/>
            <a:ext cx="3925887" cy="431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66800" y="6019800"/>
            <a:ext cx="716280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You’ve seen an introduction to generics in </a:t>
            </a:r>
            <a:r>
              <a:rPr lang="en-GB" dirty="0" err="1"/>
              <a:t>ProgIT</a:t>
            </a:r>
            <a:r>
              <a:rPr lang="en-GB" dirty="0"/>
              <a:t>, week 7</a:t>
            </a:r>
          </a:p>
        </p:txBody>
      </p:sp>
    </p:spTree>
    <p:extLst>
      <p:ext uri="{BB962C8B-B14F-4D97-AF65-F5344CB8AC3E}">
        <p14:creationId xmlns:p14="http://schemas.microsoft.com/office/powerpoint/2010/main" val="339779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Inner classes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229600" cy="12954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 Inner class is a class defined within another one</a:t>
            </a:r>
            <a:endParaRPr lang="en-US" altLang="en-US" dirty="0"/>
          </a:p>
          <a:p>
            <a:pPr eaLnBrk="1" hangingPunct="1"/>
            <a:r>
              <a:rPr lang="en-US" altLang="en-US"/>
              <a:t> Can be useful when a class only exists for a single              </a:t>
            </a:r>
            <a:br>
              <a:rPr lang="en-US" altLang="en-US"/>
            </a:br>
            <a:r>
              <a:rPr lang="en-US" altLang="en-US"/>
              <a:t> purpose: to be used in the context of the outer class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62000" y="2971800"/>
            <a:ext cx="579120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Public class OuterClass{</a:t>
            </a:r>
          </a:p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public class InnerClass{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inner class instance variables</a:t>
            </a:r>
          </a:p>
          <a:p>
            <a:r>
              <a:rPr lang="en-GB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inner class methods</a:t>
            </a: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outer class instance variables</a:t>
            </a:r>
          </a:p>
          <a:p>
            <a:r>
              <a:rPr lang="en-GB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outer class methods</a:t>
            </a:r>
          </a:p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81800" y="3064132"/>
            <a:ext cx="220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Don’t have to put this first thing – common to put at top or bottom to keep out of the way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257800" y="3502714"/>
            <a:ext cx="1524000" cy="3000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35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Inner classes</a:t>
            </a:r>
            <a:endParaRPr lang="en-GB" altLang="en-US" sz="32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733800"/>
          </a:xfrm>
          <a:noFill/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Inner classes like this often called </a:t>
            </a:r>
            <a:r>
              <a:rPr lang="en-US" altLang="en-US" b="1"/>
              <a:t>Helper classes</a:t>
            </a:r>
            <a:endParaRPr lang="en-US" altLang="en-US" sz="2400" b="1" dirty="0">
              <a:latin typeface="Courier New"/>
              <a:cs typeface="Courier New"/>
            </a:endParaRPr>
          </a:p>
          <a:p>
            <a:pPr eaLnBrk="1" hangingPunct="1"/>
            <a:r>
              <a:rPr lang="en-US" altLang="en-US">
                <a:cs typeface="Courier New"/>
              </a:rPr>
              <a:t>Advantages of using Inner class:</a:t>
            </a:r>
          </a:p>
          <a:p>
            <a:pPr lvl="1"/>
            <a:r>
              <a:rPr lang="en-US" altLang="en-US">
                <a:cs typeface="Courier New"/>
              </a:rPr>
              <a:t> can make outer class more self-contained</a:t>
            </a:r>
          </a:p>
          <a:p>
            <a:pPr lvl="1"/>
            <a:r>
              <a:rPr lang="en-US" altLang="en-US">
                <a:cs typeface="Courier New"/>
              </a:rPr>
              <a:t> Inner and outer classes can access each other’s private instance  </a:t>
            </a:r>
            <a:br>
              <a:rPr lang="en-US" altLang="en-US">
                <a:cs typeface="Courier New"/>
              </a:rPr>
            </a:br>
            <a:r>
              <a:rPr lang="en-US" altLang="en-US">
                <a:cs typeface="Courier New"/>
              </a:rPr>
              <a:t> variables and methods</a:t>
            </a:r>
          </a:p>
          <a:p>
            <a:pPr lvl="2"/>
            <a:r>
              <a:rPr lang="en-US" altLang="en-US">
                <a:cs typeface="Courier New"/>
              </a:rPr>
              <a:t>If a method is invoked  from an  inner class which doesn’t have a method of that name, it is assumed to refer to a method in outer class (sim for instance variables)</a:t>
            </a:r>
          </a:p>
          <a:p>
            <a:pPr lvl="2"/>
            <a:r>
              <a:rPr lang="en-US" altLang="en-US">
                <a:cs typeface="Courier New"/>
              </a:rPr>
              <a:t>Other way round? Not so simple. Have to create an object of the inner class type to be able to call methods on it.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3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Example: BankAccount  </a:t>
            </a:r>
            <a:endParaRPr lang="en-GB" altLang="en-US" sz="32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534400" cy="5410200"/>
          </a:xfrm>
          <a:noFill/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public class BankAccount {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//// inner class ////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private class Money{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private long dollars;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instance variables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private int cents;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// constructor omitted</a:t>
            </a: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     public String getAmount(){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	  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//details omitted  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	   return(SIGN + dollars + "." + cents); 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//acccessing variable from outer class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     }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  <a:p>
            <a:pPr marL="0" indent="0">
              <a:buNone/>
            </a:pPr>
            <a:endParaRPr lang="en-GB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/// outer class code on next slide</a:t>
            </a:r>
          </a:p>
          <a:p>
            <a:pPr marL="0" indent="0"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93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Example: BankAccount contd. </a:t>
            </a:r>
            <a:endParaRPr lang="en-GB" altLang="en-US" sz="32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534400" cy="5410200"/>
          </a:xfrm>
          <a:noFill/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//// inner class Money on previous slide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/// outer class</a:t>
            </a:r>
          </a:p>
          <a:p>
            <a:pPr marL="0" indent="0">
              <a:buNone/>
            </a:pPr>
            <a:r>
              <a:rPr lang="en-GB" sz="1800"/>
              <a:t>	</a:t>
            </a:r>
          </a:p>
          <a:p>
            <a:pPr marL="0" indent="0">
              <a:buNone/>
            </a:pPr>
            <a:r>
              <a:rPr lang="en-GB" sz="1800"/>
              <a:t>	</a:t>
            </a: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private Money balance;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instance variables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private static final String SIGN = "$"; 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public BankAccount(){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//constructor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balance = new Money(0,0); //creating object of                    </a:t>
            </a:r>
            <a:b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//inner class type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public void makeDeposit(long d, int c){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balance.dollars+=d;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//directly accessing     </a:t>
            </a:r>
            <a:b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//instance variables of inner class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balance.cents+=c;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/// outer class continued on next slide</a:t>
            </a:r>
          </a:p>
          <a:p>
            <a:pPr marL="0" indent="0">
              <a:buNone/>
            </a:pPr>
            <a:endParaRPr lang="en-GB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public void outputBalance(){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System.out.println(balance.getAmount());// directly accessing methods of inner class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GB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3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Example: BankAccount contd. </a:t>
            </a:r>
            <a:endParaRPr lang="en-GB" altLang="en-US" sz="32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534400" cy="2667000"/>
          </a:xfrm>
          <a:noFill/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/// outer class continued</a:t>
            </a:r>
          </a:p>
          <a:p>
            <a:pPr marL="0" indent="0">
              <a:buNone/>
            </a:pPr>
            <a:r>
              <a:rPr lang="en-GB" sz="1800"/>
              <a:t>	</a:t>
            </a:r>
          </a:p>
          <a:p>
            <a:pPr marL="0" indent="0">
              <a:buNone/>
            </a:pPr>
            <a:r>
              <a:rPr lang="en-GB" sz="1800"/>
              <a:t>	</a:t>
            </a: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public void outputBalance(){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System.out.println(balance.getAmount());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GB" sz="180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directly accessing methods of inner class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See full code on Moodle, in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innerClasses</a:t>
            </a:r>
            <a:r>
              <a:rPr lang="en-GB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241617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Static Inner classes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250371" y="1828800"/>
            <a:ext cx="8229600" cy="3124200"/>
          </a:xfrm>
          <a:noFill/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/>
              <a:t> For non-static inner class there’s a connection between  </a:t>
            </a:r>
            <a:br>
              <a:rPr lang="en-US" altLang="en-US"/>
            </a:br>
            <a:r>
              <a:rPr lang="en-US" altLang="en-US"/>
              <a:t> each of it’s objects and the class that created it</a:t>
            </a:r>
            <a:endParaRPr lang="en-US" altLang="en-US" dirty="0"/>
          </a:p>
          <a:p>
            <a:pPr eaLnBrk="1" hangingPunct="1"/>
            <a:r>
              <a:rPr lang="en-US" altLang="en-US"/>
              <a:t> Inner class can directly access methods and instance   </a:t>
            </a:r>
            <a:br>
              <a:rPr lang="en-US" altLang="en-US"/>
            </a:br>
            <a:r>
              <a:rPr lang="en-US" altLang="en-US"/>
              <a:t> variables of outer class</a:t>
            </a:r>
          </a:p>
          <a:p>
            <a:pPr eaLnBrk="1" hangingPunct="1"/>
            <a:r>
              <a:rPr lang="en-US" altLang="en-US"/>
              <a:t> If you don’t need this connection you can make the inner   class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  <a:p>
            <a:pPr lvl="1"/>
            <a:r>
              <a:rPr lang="en-US" altLang="en-US" sz="2400">
                <a:cs typeface="Courier New" panose="02070309020205020404" pitchFamily="49" charset="0"/>
              </a:rPr>
              <a:t>Even then the inner class can access the outer class’s methods but need to preface method call with the class name (e.g. OuterClass.method())</a:t>
            </a:r>
          </a:p>
          <a:p>
            <a:pPr marL="274320" lvl="1" indent="0">
              <a:buNone/>
            </a:pPr>
            <a:endParaRPr lang="en-US" altLang="en-US" sz="2400"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>
                <a:cs typeface="Courier New" panose="02070309020205020404" pitchFamily="49" charset="0"/>
              </a:rPr>
              <a:t>Eg. For our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altLang="en-US">
                <a:cs typeface="Courier New" panose="02070309020205020404" pitchFamily="49" charset="0"/>
              </a:rPr>
              <a:t> inner class in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altLang="en-US">
                <a:cs typeface="Courier New" panose="02070309020205020404" pitchFamily="49" charset="0"/>
              </a:rPr>
              <a:t>, we can make the class static. </a:t>
            </a:r>
          </a:p>
          <a:p>
            <a:pPr eaLnBrk="1" hangingPunct="1"/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/>
          </a:p>
          <a:p>
            <a:pPr marL="0" indent="0" eaLnBrk="1" hangingPunct="1">
              <a:buNone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5257800"/>
            <a:ext cx="8153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Why make it static if we don’t need to?</a:t>
            </a:r>
          </a:p>
          <a:p>
            <a:endParaRPr lang="en-GB"/>
          </a:p>
          <a:p>
            <a:r>
              <a:rPr lang="en-GB"/>
              <a:t>Prevents us from accidentally creating this link – also to do with object creation.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84914" y="761999"/>
            <a:ext cx="3886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Nb: the only type of classes that can be static are </a:t>
            </a:r>
            <a:r>
              <a:rPr lang="en-GB" i="1"/>
              <a:t>innner classes</a:t>
            </a:r>
          </a:p>
        </p:txBody>
      </p:sp>
    </p:spTree>
    <p:extLst>
      <p:ext uri="{BB962C8B-B14F-4D97-AF65-F5344CB8AC3E}">
        <p14:creationId xmlns:p14="http://schemas.microsoft.com/office/powerpoint/2010/main" val="68976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Node Inner classes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229600" cy="533400"/>
          </a:xfrm>
          <a:noFill/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000"/>
              <a:t> What happens if we remove the word static from Node declaration?</a:t>
            </a:r>
            <a:endParaRPr lang="en-US" altLang="en-US" sz="2000">
              <a:cs typeface="Courier New" panose="02070309020205020404" pitchFamily="49" charset="0"/>
            </a:endParaRPr>
          </a:p>
          <a:p>
            <a:pPr eaLnBrk="1" hangingPunct="1"/>
            <a:endParaRPr lang="en-US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2000"/>
          </a:p>
          <a:p>
            <a:pPr marL="0" indent="0" eaLnBrk="1" hangingPunct="1">
              <a:buNone/>
            </a:pP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4286" y="1905000"/>
            <a:ext cx="7282869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 </a:t>
            </a:r>
            <a:r>
              <a:rPr lang="en-US" altLang="en-US">
                <a:solidFill>
                  <a:srgbClr val="92D050"/>
                </a:solidFill>
                <a:cs typeface="Times New Roman" pitchFamily="18" charset="0"/>
              </a:rPr>
              <a:t>Inner class</a:t>
            </a: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Node&lt;E&gt; {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>
                <a:solidFill>
                  <a:srgbClr val="92D050"/>
                </a:solidFill>
                <a:cs typeface="Times New Roman" pitchFamily="18" charset="0"/>
              </a:rPr>
              <a:t>Each </a:t>
            </a: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Node</a:t>
            </a:r>
            <a:r>
              <a:rPr lang="en-US" altLang="en-US">
                <a:solidFill>
                  <a:srgbClr val="92D050"/>
                </a:solidFill>
                <a:cs typeface="Times New Roman" pitchFamily="18" charset="0"/>
              </a:rPr>
              <a:t> object is a node of a </a:t>
            </a:r>
            <a:b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>
                <a:solidFill>
                  <a:srgbClr val="92D050"/>
                </a:solidFill>
                <a:cs typeface="Times New Roman" pitchFamily="18" charset="0"/>
              </a:rPr>
              <a:t>singly-linked-list. </a:t>
            </a:r>
            <a:endParaRPr lang="en-US" altLang="en-US">
              <a:solidFill>
                <a:srgbClr val="92D05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b="1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E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Node&lt;E&gt;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b="1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Node (E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;}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		}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0068" y="4419600"/>
            <a:ext cx="8566732" cy="2209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>
                <a:latin typeface="+mj-lt"/>
              </a:rPr>
              <a:t> There’s a warning (v small yellow line) –”The type parameter E is hiding the type E”</a:t>
            </a:r>
          </a:p>
          <a:p>
            <a:r>
              <a:rPr lang="en-US" altLang="en-US" sz="1800">
                <a:latin typeface="+mj-lt"/>
              </a:rPr>
              <a:t>Ie. A confusion between the E of the Node class and the E of the outer class (we’ve stated there’s a connection between the classes by making it non-static )</a:t>
            </a:r>
          </a:p>
          <a:p>
            <a:r>
              <a:rPr lang="en-US" altLang="en-US" sz="1800">
                <a:latin typeface="+mj-lt"/>
              </a:rPr>
              <a:t>See next slide – in this case we </a:t>
            </a:r>
            <a:r>
              <a:rPr lang="en-US" altLang="en-US" sz="1800" b="1">
                <a:latin typeface="+mj-lt"/>
              </a:rPr>
              <a:t>could</a:t>
            </a:r>
            <a:r>
              <a:rPr lang="en-US" altLang="en-US" sz="1800">
                <a:latin typeface="+mj-lt"/>
              </a:rPr>
              <a:t> get away with making Node non-generic. But we will stick with our static form for reasons that will become clear later on.</a:t>
            </a:r>
            <a:endParaRPr lang="en-US" altLang="en-US" sz="1800">
              <a:latin typeface="+mj-lt"/>
              <a:cs typeface="Courier New" panose="02070309020205020404" pitchFamily="49" charset="0"/>
            </a:endParaRPr>
          </a:p>
          <a:p>
            <a:endParaRPr lang="en-US" altLang="en-US" sz="1800">
              <a:latin typeface="+mj-lt"/>
              <a:cs typeface="Courier New" panose="02070309020205020404" pitchFamily="49" charset="0"/>
            </a:endParaRPr>
          </a:p>
          <a:p>
            <a:endParaRPr lang="en-US" altLang="en-US" sz="1800">
              <a:latin typeface="+mj-lt"/>
            </a:endParaRPr>
          </a:p>
          <a:p>
            <a:pPr marL="0" indent="0">
              <a:buFont typeface="Arial" pitchFamily="34" charset="0"/>
              <a:buNone/>
            </a:pPr>
            <a:endParaRPr lang="en-US" altLang="en-US" sz="1800">
              <a:latin typeface="+mj-lt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174834" y="2743200"/>
            <a:ext cx="4572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51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Node Inner class contd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229600" cy="533400"/>
          </a:xfrm>
          <a:noFill/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000"/>
              <a:t> What happens if we remove the word static from Node declaration?</a:t>
            </a:r>
            <a:endParaRPr lang="en-US" altLang="en-US" sz="2000">
              <a:cs typeface="Courier New" panose="02070309020205020404" pitchFamily="49" charset="0"/>
            </a:endParaRPr>
          </a:p>
          <a:p>
            <a:pPr eaLnBrk="1" hangingPunct="1"/>
            <a:endParaRPr lang="en-US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2000"/>
          </a:p>
          <a:p>
            <a:pPr marL="0" indent="0" eaLnBrk="1" hangingPunct="1">
              <a:buNone/>
            </a:pP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4286" y="1905000"/>
            <a:ext cx="7151914" cy="18651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 </a:t>
            </a:r>
            <a:r>
              <a:rPr lang="en-US" altLang="en-US">
                <a:solidFill>
                  <a:srgbClr val="92D050"/>
                </a:solidFill>
                <a:cs typeface="Times New Roman" pitchFamily="18" charset="0"/>
              </a:rPr>
              <a:t>Inner class as we have it</a:t>
            </a: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static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Node&lt;E&gt; {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E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Node&lt;E&gt;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Node (E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)        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   {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;}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286" y="4114800"/>
            <a:ext cx="7151914" cy="18651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 </a:t>
            </a:r>
            <a:r>
              <a:rPr lang="en-US" altLang="en-US">
                <a:solidFill>
                  <a:srgbClr val="92D050"/>
                </a:solidFill>
                <a:cs typeface="Times New Roman" pitchFamily="18" charset="0"/>
              </a:rPr>
              <a:t>Inner class alternative</a:t>
            </a:r>
            <a:r>
              <a:rPr lang="en-US" altLang="en-US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Node {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E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Node&lt;E&gt;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Node (E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)        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   { 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>
                <a:latin typeface="Courier New" pitchFamily="49" charset="0"/>
                <a:cs typeface="Times New Roman" pitchFamily="18" charset="0"/>
              </a:rPr>
            </a:br>
            <a:r>
              <a:rPr lang="en-US" altLang="en-US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;}</a:t>
            </a:r>
          </a:p>
          <a:p>
            <a:pPr>
              <a:lnSpc>
                <a:spcPct val="80000"/>
              </a:lnSpc>
              <a:buClr>
                <a:schemeClr val="tx1"/>
              </a:buCl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286" y="6161314"/>
            <a:ext cx="7990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/>
              <a:t>Need to make all references to Node type non-generic. See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SLLAlternative.java</a:t>
            </a:r>
            <a:r>
              <a:rPr lang="en-GB" sz="2000"/>
              <a:t> in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innerClasses</a:t>
            </a:r>
            <a:r>
              <a:rPr lang="en-GB" sz="2000"/>
              <a:t> folder.</a:t>
            </a:r>
          </a:p>
        </p:txBody>
      </p:sp>
    </p:spTree>
    <p:extLst>
      <p:ext uri="{BB962C8B-B14F-4D97-AF65-F5344CB8AC3E}">
        <p14:creationId xmlns:p14="http://schemas.microsoft.com/office/powerpoint/2010/main" val="79562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Node Inner class contd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229600" cy="3886200"/>
          </a:xfrm>
          <a:noFill/>
          <a:ln>
            <a:noFill/>
          </a:ln>
        </p:spPr>
        <p:txBody>
          <a:bodyPr>
            <a:noAutofit/>
          </a:bodyPr>
          <a:lstStyle/>
          <a:p>
            <a:pPr eaLnBrk="1" hangingPunct="1"/>
            <a:r>
              <a:rPr lang="en-US" altLang="en-US" sz="2000"/>
              <a:t> So why not just make the Node inner class static (given that it would work)</a:t>
            </a:r>
          </a:p>
          <a:p>
            <a:pPr eaLnBrk="1" hangingPunct="1"/>
            <a:r>
              <a:rPr lang="en-US" altLang="en-US" sz="2000">
                <a:cs typeface="Courier New" panose="02070309020205020404" pitchFamily="49" charset="0"/>
              </a:rPr>
              <a:t> It’s to do with object creation </a:t>
            </a:r>
          </a:p>
          <a:p>
            <a:pPr eaLnBrk="1" hangingPunct="1"/>
            <a:r>
              <a:rPr lang="en-US" altLang="en-US" sz="2000">
                <a:cs typeface="Courier New" panose="02070309020205020404" pitchFamily="49" charset="0"/>
              </a:rPr>
              <a:t>See </a:t>
            </a:r>
          </a:p>
          <a:p>
            <a:pPr marL="0" indent="0">
              <a:buNone/>
            </a:pPr>
            <a:r>
              <a:rPr lang="en-US" altLang="en-US" sz="2000">
                <a:cs typeface="Courier New" panose="02070309020205020404" pitchFamily="49" charset="0"/>
              </a:rPr>
              <a:t> </a:t>
            </a:r>
            <a:r>
              <a:rPr lang="en-GB" sz="2000" u="sng">
                <a:hlinkClick r:id="rId2"/>
              </a:rPr>
              <a:t>https://www.caveofprogramming.com/java/java-static-class-tutorial.html</a:t>
            </a:r>
            <a:endParaRPr lang="en-GB" sz="2000"/>
          </a:p>
          <a:p>
            <a:pPr marL="0" indent="0" eaLnBrk="1" hangingPunct="1">
              <a:buNone/>
            </a:pPr>
            <a:endParaRPr lang="en-US" altLang="en-US" sz="2000"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2000">
                <a:cs typeface="Courier New" panose="02070309020205020404" pitchFamily="49" charset="0"/>
              </a:rPr>
              <a:t>For a nice example. </a:t>
            </a:r>
          </a:p>
          <a:p>
            <a:pPr marL="0" indent="0" eaLnBrk="1" hangingPunct="1">
              <a:buNone/>
            </a:pPr>
            <a:endParaRPr lang="en-US" altLang="en-US" sz="2000"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US" altLang="en-US" sz="2000">
                <a:cs typeface="Courier New" panose="02070309020205020404" pitchFamily="49" charset="0"/>
              </a:rPr>
              <a:t>For this reason we stick to the static version </a:t>
            </a:r>
          </a:p>
          <a:p>
            <a:pPr marL="0" indent="0" eaLnBrk="1" hangingPunct="1">
              <a:buNone/>
            </a:pPr>
            <a:r>
              <a:rPr lang="en-US" altLang="en-US" sz="2000">
                <a:cs typeface="Courier New" panose="02070309020205020404" pitchFamily="49" charset="0"/>
              </a:rPr>
              <a:t>(and don’t digress into further details….)</a:t>
            </a:r>
          </a:p>
          <a:p>
            <a:pPr eaLnBrk="1" hangingPunct="1"/>
            <a:endParaRPr lang="en-US" altLang="en-US" sz="2000"/>
          </a:p>
          <a:p>
            <a:pPr marL="0" indent="0" eaLnBrk="1" hangingPunct="1">
              <a:buNone/>
            </a:pP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47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6318</TotalTime>
  <Words>1059</Words>
  <Application>Microsoft Macintosh PowerPoint</Application>
  <PresentationFormat>On-screen Show (4:3)</PresentationFormat>
  <Paragraphs>134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Clarity</vt:lpstr>
      <vt:lpstr>ASIDE: Inner classes</vt:lpstr>
      <vt:lpstr>Inner classes</vt:lpstr>
      <vt:lpstr>Inner classes</vt:lpstr>
      <vt:lpstr>Example: BankAccount  </vt:lpstr>
      <vt:lpstr>Example: BankAccount contd. </vt:lpstr>
      <vt:lpstr>Example: BankAccount contd. </vt:lpstr>
      <vt:lpstr>Static Inner classes</vt:lpstr>
      <vt:lpstr>Node Inner classes</vt:lpstr>
      <vt:lpstr>Node Inner class contd</vt:lpstr>
      <vt:lpstr>Node Inner class contd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Array Data Structure</dc:title>
  <dc:creator>Alice</dc:creator>
  <cp:lastModifiedBy>Alice Miller</cp:lastModifiedBy>
  <cp:revision>118</cp:revision>
  <dcterms:created xsi:type="dcterms:W3CDTF">2006-08-16T00:00:00Z</dcterms:created>
  <dcterms:modified xsi:type="dcterms:W3CDTF">2021-05-31T17:35:36Z</dcterms:modified>
</cp:coreProperties>
</file>