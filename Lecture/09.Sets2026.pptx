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4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2429"/>
  </p:normalViewPr>
  <p:slideViewPr>
    <p:cSldViewPr>
      <p:cViewPr varScale="1">
        <p:scale>
          <a:sx n="76" d="100"/>
          <a:sy n="76" d="100"/>
        </p:scale>
        <p:origin x="16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E4AEC-D7E1-4DFF-B221-6DD1DA6B25E6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0ED52-C249-479A-AEC7-1B65D4048D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668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0ED52-C249-479A-AEC7-1B65D4048DE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138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Sweden (SE) joined NATO on 7</a:t>
            </a:r>
            <a:r>
              <a:rPr lang="en-GB" baseline="30000" dirty="0"/>
              <a:t>th</a:t>
            </a:r>
            <a:r>
              <a:rPr lang="en-GB" dirty="0"/>
              <a:t> March 2024. Changing slides to a different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0ED52-C249-479A-AEC7-1B65D4048DE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290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5" y="188913"/>
            <a:ext cx="6142038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7813" y="1700213"/>
            <a:ext cx="3522662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75" y="1700213"/>
            <a:ext cx="3522663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87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280400" cy="762000"/>
          </a:xfrm>
        </p:spPr>
        <p:txBody>
          <a:bodyPr/>
          <a:lstStyle/>
          <a:p>
            <a:pPr algn="ctr" eaLnBrk="1" hangingPunct="1"/>
            <a:r>
              <a:rPr lang="en-GB" altLang="en-US" sz="3600" dirty="0">
                <a:solidFill>
                  <a:schemeClr val="folHlink"/>
                </a:solidFill>
              </a:rPr>
              <a:t>9. Set ADT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46087" y="3581400"/>
            <a:ext cx="7594600" cy="3638550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Set concepts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Set applications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A set ADT: requirements, contract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Implementations of sets: using member arrays, linked lists, </a:t>
            </a:r>
            <a:r>
              <a:rPr lang="en-US" altLang="en-US" sz="2400" dirty="0" err="1"/>
              <a:t>boolean</a:t>
            </a:r>
            <a:r>
              <a:rPr lang="en-US" altLang="en-US" sz="2400" dirty="0"/>
              <a:t> arrays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Sets in the Java class library</a:t>
            </a: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2438400" y="393357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tx2"/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7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concepts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set</a:t>
            </a:r>
            <a:r>
              <a:rPr lang="en-US" altLang="en-US">
                <a:cs typeface="Times New Roman" pitchFamily="18" charset="0"/>
              </a:rPr>
              <a:t> is a collection of elements, with no duplicates, and in no fixed order.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An element does not have a “position” in the set.</a:t>
            </a:r>
          </a:p>
          <a:p>
            <a:pPr eaLnBrk="1" hangingPunct="1"/>
            <a:r>
              <a:rPr lang="en-GB" altLang="en-US">
                <a:cs typeface="Times New Roman" pitchFamily="18" charset="0"/>
              </a:rPr>
              <a:t>The elements of a set are usually called its </a:t>
            </a:r>
            <a:r>
              <a:rPr lang="en-GB" altLang="en-US" b="1">
                <a:cs typeface="Times New Roman" pitchFamily="18" charset="0"/>
              </a:rPr>
              <a:t>members</a:t>
            </a:r>
            <a:r>
              <a:rPr lang="en-GB" altLang="en-US">
                <a:cs typeface="Times New Roman" pitchFamily="18" charset="0"/>
              </a:rPr>
              <a:t>.</a:t>
            </a:r>
            <a:endParaRPr lang="en-US" altLang="en-US">
              <a:cs typeface="Times New Roman" pitchFamily="18" charset="0"/>
            </a:endParaRPr>
          </a:p>
          <a:p>
            <a:pPr eaLnBrk="1" hangingPunct="1"/>
            <a:r>
              <a:rPr lang="en-US" altLang="en-US">
                <a:cs typeface="Times New Roman" pitchFamily="18" charset="0"/>
              </a:rPr>
              <a:t>Mathematical notation for sets: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{</a:t>
            </a:r>
            <a:r>
              <a:rPr lang="en-US" altLang="en-US" i="1">
                <a:cs typeface="Times New Roman" pitchFamily="18" charset="0"/>
              </a:rPr>
              <a:t>a</a:t>
            </a:r>
            <a:r>
              <a:rPr lang="en-US" altLang="en-US">
                <a:cs typeface="Times New Roman" pitchFamily="18" charset="0"/>
              </a:rPr>
              <a:t>, </a:t>
            </a:r>
            <a:r>
              <a:rPr lang="en-US" altLang="en-US" i="1">
                <a:cs typeface="Times New Roman" pitchFamily="18" charset="0"/>
              </a:rPr>
              <a:t>b</a:t>
            </a:r>
            <a:r>
              <a:rPr lang="en-US" altLang="en-US">
                <a:cs typeface="Times New Roman" pitchFamily="18" charset="0"/>
              </a:rPr>
              <a:t>, …, </a:t>
            </a:r>
            <a:r>
              <a:rPr lang="en-US" altLang="en-US" i="1">
                <a:cs typeface="Times New Roman" pitchFamily="18" charset="0"/>
              </a:rPr>
              <a:t>z</a:t>
            </a:r>
            <a:r>
              <a:rPr lang="en-US" altLang="en-US">
                <a:cs typeface="Times New Roman" pitchFamily="18" charset="0"/>
              </a:rPr>
              <a:t>} is the set whose members are </a:t>
            </a:r>
            <a:r>
              <a:rPr lang="en-US" altLang="en-US" i="1">
                <a:cs typeface="Times New Roman" pitchFamily="18" charset="0"/>
              </a:rPr>
              <a:t>a</a:t>
            </a:r>
            <a:r>
              <a:rPr lang="en-US" altLang="en-US">
                <a:cs typeface="Times New Roman" pitchFamily="18" charset="0"/>
              </a:rPr>
              <a:t>, </a:t>
            </a:r>
            <a:r>
              <a:rPr lang="en-US" altLang="en-US" i="1">
                <a:cs typeface="Times New Roman" pitchFamily="18" charset="0"/>
              </a:rPr>
              <a:t>b</a:t>
            </a:r>
            <a:r>
              <a:rPr lang="en-US" altLang="en-US">
                <a:cs typeface="Times New Roman" pitchFamily="18" charset="0"/>
              </a:rPr>
              <a:t>, …, </a:t>
            </a:r>
            <a:r>
              <a:rPr lang="en-US" altLang="en-US" i="1">
                <a:cs typeface="Times New Roman" pitchFamily="18" charset="0"/>
              </a:rPr>
              <a:t>z</a:t>
            </a:r>
            <a:r>
              <a:rPr lang="en-US" altLang="en-US">
                <a:cs typeface="Times New Roman" pitchFamily="18" charset="0"/>
              </a:rPr>
              <a:t>. (The members can be written in any order.)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{ } is the empty set.</a:t>
            </a:r>
          </a:p>
          <a:p>
            <a:pPr lvl="1" eaLnBrk="1" hangingPunct="1"/>
            <a:r>
              <a:rPr lang="en-US" altLang="en-US" i="1">
                <a:cs typeface="Times New Roman" pitchFamily="18" charset="0"/>
              </a:rPr>
              <a:t>Note:</a:t>
            </a:r>
            <a:r>
              <a:rPr lang="en-US" altLang="en-US">
                <a:cs typeface="Times New Roman" pitchFamily="18" charset="0"/>
              </a:rPr>
              <a:t> We can use this notation in algorithms, but it is </a:t>
            </a:r>
            <a:r>
              <a:rPr lang="en-US" altLang="en-US" b="1">
                <a:cs typeface="Times New Roman" pitchFamily="18" charset="0"/>
              </a:rPr>
              <a:t>not</a:t>
            </a:r>
            <a:r>
              <a:rPr lang="en-US" altLang="en-US">
                <a:cs typeface="Times New Roman" pitchFamily="18" charset="0"/>
              </a:rPr>
              <a:t> supported by Java.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5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sets</a:t>
            </a:r>
            <a:endParaRPr lang="en-GB" altLang="en-US" sz="3200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defTabSz="900113" eaLnBrk="1" hangingPunct="1">
              <a:tabLst>
                <a:tab pos="1706563" algn="l"/>
              </a:tabLst>
            </a:pPr>
            <a:r>
              <a:rPr lang="en-US" altLang="en-US" dirty="0">
                <a:cs typeface="Times New Roman" pitchFamily="18" charset="0"/>
              </a:rPr>
              <a:t>A set of integers:</a:t>
            </a:r>
          </a:p>
          <a:p>
            <a:pPr lvl="1" defTabSz="900113" eaLnBrk="1" hangingPunct="1">
              <a:buFontTx/>
              <a:buNone/>
              <a:tabLst>
                <a:tab pos="1706563" algn="l"/>
              </a:tabLst>
            </a:pPr>
            <a:r>
              <a:rPr lang="en-US" altLang="en-US" i="1" dirty="0">
                <a:cs typeface="Times New Roman" pitchFamily="18" charset="0"/>
              </a:rPr>
              <a:t>	primes</a:t>
            </a:r>
            <a:r>
              <a:rPr lang="en-US" altLang="en-US" dirty="0">
                <a:cs typeface="Times New Roman" pitchFamily="18" charset="0"/>
              </a:rPr>
              <a:t>	=  {2, 3, 5, 7, 11}</a:t>
            </a:r>
          </a:p>
          <a:p>
            <a:pPr defTabSz="900113" eaLnBrk="1" hangingPunct="1">
              <a:tabLst>
                <a:tab pos="1706563" algn="l"/>
              </a:tabLst>
            </a:pPr>
            <a:r>
              <a:rPr lang="en-US" altLang="en-US" dirty="0">
                <a:cs typeface="Times New Roman" pitchFamily="18" charset="0"/>
              </a:rPr>
              <a:t>A set of characters:</a:t>
            </a:r>
          </a:p>
          <a:p>
            <a:pPr lvl="1" defTabSz="900113" eaLnBrk="1" hangingPunct="1">
              <a:buFontTx/>
              <a:buNone/>
              <a:tabLst>
                <a:tab pos="1706563" algn="l"/>
              </a:tabLst>
            </a:pPr>
            <a:r>
              <a:rPr lang="en-US" altLang="en-US" i="1" dirty="0">
                <a:cs typeface="Times New Roman" pitchFamily="18" charset="0"/>
              </a:rPr>
              <a:t>	punctuation	</a:t>
            </a:r>
            <a:r>
              <a:rPr lang="en-US" altLang="en-US" dirty="0">
                <a:cs typeface="Times New Roman" pitchFamily="18" charset="0"/>
              </a:rPr>
              <a:t>=  {‘.’, ‘!’, ‘?’, ‘:’, ‘;’}</a:t>
            </a:r>
          </a:p>
          <a:p>
            <a:pPr defTabSz="900113" eaLnBrk="1" hangingPunct="1">
              <a:tabLst>
                <a:tab pos="1706563" algn="l"/>
              </a:tabLst>
            </a:pPr>
            <a:r>
              <a:rPr lang="en-US" altLang="en-US" dirty="0">
                <a:cs typeface="Times New Roman" pitchFamily="18" charset="0"/>
              </a:rPr>
              <a:t>Sets of countries:</a:t>
            </a:r>
          </a:p>
          <a:p>
            <a:pPr lvl="1" defTabSz="900113" eaLnBrk="1" hangingPunct="1">
              <a:buFontTx/>
              <a:buNone/>
              <a:tabLst>
                <a:tab pos="1706563" algn="l"/>
              </a:tabLst>
            </a:pPr>
            <a:r>
              <a:rPr lang="en-US" altLang="en-US" i="1" dirty="0">
                <a:cs typeface="Times New Roman" pitchFamily="18" charset="0"/>
              </a:rPr>
              <a:t>	EU</a:t>
            </a:r>
            <a:r>
              <a:rPr lang="en-US" altLang="en-US" dirty="0">
                <a:cs typeface="Times New Roman" pitchFamily="18" charset="0"/>
              </a:rPr>
              <a:t>	=  {AT, BE, BG, CY, CZ, DE, DK, EE, ES, FI, FR, GR,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	      HR, HU, IE, IT, LT, LU, LV, MT, NL, PL, PT, RO,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	      SE, SI, SK}</a:t>
            </a:r>
          </a:p>
          <a:p>
            <a:pPr lvl="1" defTabSz="900113" eaLnBrk="1" hangingPunct="1">
              <a:buFontTx/>
              <a:buNone/>
              <a:tabLst>
                <a:tab pos="1706563" algn="l"/>
              </a:tabLst>
            </a:pPr>
            <a:r>
              <a:rPr lang="en-GB" altLang="en-US" i="1" dirty="0">
                <a:cs typeface="Times New Roman" pitchFamily="18" charset="0"/>
              </a:rPr>
              <a:t>	NAFTA</a:t>
            </a:r>
            <a:r>
              <a:rPr lang="en-GB" altLang="en-US" dirty="0">
                <a:cs typeface="Times New Roman" pitchFamily="18" charset="0"/>
              </a:rPr>
              <a:t>	=  {CA, MX, US}</a:t>
            </a:r>
          </a:p>
          <a:p>
            <a:pPr lvl="1" defTabSz="900113" eaLnBrk="1" hangingPunct="1">
              <a:buFontTx/>
              <a:buNone/>
              <a:tabLst>
                <a:tab pos="1706563" algn="l"/>
              </a:tabLst>
            </a:pPr>
            <a:r>
              <a:rPr lang="en-GB" altLang="en-US" i="1" dirty="0">
                <a:cs typeface="Times New Roman" pitchFamily="18" charset="0"/>
              </a:rPr>
              <a:t>	NATO</a:t>
            </a:r>
            <a:r>
              <a:rPr lang="en-GB" altLang="en-US" dirty="0">
                <a:cs typeface="Times New Roman" pitchFamily="18" charset="0"/>
              </a:rPr>
              <a:t>	=  {AL, </a:t>
            </a:r>
            <a:r>
              <a:rPr lang="en-US" altLang="en-US" dirty="0">
                <a:cs typeface="Times New Roman" pitchFamily="18" charset="0"/>
              </a:rPr>
              <a:t>BE, BG, CA, CZ, DE, DK, EE, ES, FI, FR, GR,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	      HR, HU, IS, IT, LT, LU, LV, ME, MK, NL, NO, PL,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	      PT, RO, SE</a:t>
            </a:r>
            <a:r>
              <a:rPr lang="en-US" altLang="en-US">
                <a:cs typeface="Times New Roman" pitchFamily="18" charset="0"/>
              </a:rPr>
              <a:t>, SI, </a:t>
            </a:r>
            <a:r>
              <a:rPr lang="en-US" altLang="en-US" dirty="0">
                <a:cs typeface="Times New Roman" pitchFamily="18" charset="0"/>
              </a:rPr>
              <a:t>SK, TR, UK, US}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4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concepts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b="1" dirty="0"/>
              <a:t>size</a:t>
            </a:r>
            <a:r>
              <a:rPr lang="en-US" altLang="en-US" dirty="0"/>
              <a:t> (or </a:t>
            </a:r>
            <a:r>
              <a:rPr lang="en-US" altLang="en-US" b="1" dirty="0"/>
              <a:t>cardinality</a:t>
            </a:r>
            <a:r>
              <a:rPr lang="en-US" altLang="en-US" dirty="0"/>
              <a:t>) of a set </a:t>
            </a:r>
            <a:r>
              <a:rPr lang="en-US" altLang="en-US" i="1" dirty="0"/>
              <a:t>s</a:t>
            </a:r>
            <a:r>
              <a:rPr lang="en-US" altLang="en-US" dirty="0"/>
              <a:t> is the number of members of </a:t>
            </a:r>
            <a:r>
              <a:rPr lang="en-US" altLang="en-US" i="1" dirty="0"/>
              <a:t>s</a:t>
            </a:r>
            <a:r>
              <a:rPr lang="en-US" altLang="en-US" dirty="0"/>
              <a:t>. This is written #</a:t>
            </a:r>
            <a:r>
              <a:rPr lang="en-US" altLang="en-US" i="1" dirty="0"/>
              <a:t>s</a:t>
            </a:r>
            <a:r>
              <a:rPr lang="en-US" altLang="en-US" dirty="0"/>
              <a:t>. E.g.: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#</a:t>
            </a:r>
            <a:r>
              <a:rPr lang="en-US" altLang="en-US" i="1" dirty="0"/>
              <a:t>NAFTA</a:t>
            </a:r>
            <a:r>
              <a:rPr lang="en-US" altLang="en-US" dirty="0"/>
              <a:t>  =  3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#{red, white, red}  =  #{red, white}  =  2</a:t>
            </a:r>
          </a:p>
        </p:txBody>
      </p:sp>
      <p:sp>
        <p:nvSpPr>
          <p:cNvPr id="385029" name="AutoShape 5"/>
          <p:cNvSpPr>
            <a:spLocks/>
          </p:cNvSpPr>
          <p:nvPr/>
        </p:nvSpPr>
        <p:spPr bwMode="auto">
          <a:xfrm>
            <a:off x="5687909" y="2590800"/>
            <a:ext cx="1476375" cy="468313"/>
          </a:xfrm>
          <a:prstGeom prst="callout1">
            <a:avLst>
              <a:gd name="adj1" fmla="val 24407"/>
              <a:gd name="adj2" fmla="val -5162"/>
              <a:gd name="adj3" fmla="val 56273"/>
              <a:gd name="adj4" fmla="val -43657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duplicates are not counted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5030" name="Rectangle 6"/>
          <p:cNvSpPr>
            <a:spLocks noChangeArrowheads="1"/>
          </p:cNvSpPr>
          <p:nvPr/>
        </p:nvSpPr>
        <p:spPr bwMode="auto">
          <a:xfrm>
            <a:off x="457200" y="3581399"/>
            <a:ext cx="72009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An </a:t>
            </a:r>
            <a:r>
              <a:rPr lang="en-US" altLang="en-US" sz="2000" b="1" dirty="0"/>
              <a:t>empty</a:t>
            </a:r>
            <a:r>
              <a:rPr lang="en-US" altLang="en-US" sz="2000" dirty="0"/>
              <a:t> set has no members.</a:t>
            </a:r>
          </a:p>
        </p:txBody>
      </p:sp>
      <p:sp>
        <p:nvSpPr>
          <p:cNvPr id="385031" name="Rectangle 7"/>
          <p:cNvSpPr>
            <a:spLocks noChangeArrowheads="1"/>
          </p:cNvSpPr>
          <p:nvPr/>
        </p:nvSpPr>
        <p:spPr bwMode="auto">
          <a:xfrm>
            <a:off x="457200" y="4190999"/>
            <a:ext cx="720090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We can test whether </a:t>
            </a:r>
            <a:r>
              <a:rPr lang="en-US" altLang="en-US" sz="2000" i="1" dirty="0"/>
              <a:t>x</a:t>
            </a:r>
            <a:r>
              <a:rPr lang="en-US" altLang="en-US" sz="2000" dirty="0"/>
              <a:t> is a member of set </a:t>
            </a:r>
            <a:r>
              <a:rPr lang="en-US" altLang="en-US" sz="2000" i="1" dirty="0"/>
              <a:t>s</a:t>
            </a:r>
            <a:r>
              <a:rPr lang="en-US" altLang="en-US" sz="2000" dirty="0"/>
              <a:t> (i.e., </a:t>
            </a:r>
            <a:r>
              <a:rPr lang="en-US" altLang="en-US" sz="2000" i="1" dirty="0"/>
              <a:t>s</a:t>
            </a:r>
            <a:r>
              <a:rPr lang="en-US" altLang="en-US" sz="2000" dirty="0"/>
              <a:t> contains </a:t>
            </a:r>
            <a:r>
              <a:rPr lang="en-US" altLang="en-US" sz="2000" i="1" dirty="0"/>
              <a:t>x</a:t>
            </a:r>
            <a:r>
              <a:rPr lang="en-US" altLang="en-US" sz="2000" dirty="0"/>
              <a:t>). This is the </a:t>
            </a:r>
            <a:r>
              <a:rPr lang="en-US" altLang="en-US" sz="2000" b="1" dirty="0"/>
              <a:t>membership test</a:t>
            </a:r>
            <a:r>
              <a:rPr lang="en-US" altLang="en-US" sz="2000" dirty="0"/>
              <a:t>, written </a:t>
            </a:r>
            <a:r>
              <a:rPr lang="en-US" altLang="en-US" sz="2000" i="1" dirty="0"/>
              <a:t>x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18" charset="2"/>
              </a:rPr>
              <a:t></a:t>
            </a:r>
            <a:r>
              <a:rPr lang="en-US" altLang="en-US" sz="2000" dirty="0"/>
              <a:t> </a:t>
            </a:r>
            <a:r>
              <a:rPr lang="en-US" altLang="en-US" sz="2000" i="1" dirty="0"/>
              <a:t>s</a:t>
            </a:r>
            <a:r>
              <a:rPr lang="en-US" altLang="en-US" sz="2000" dirty="0"/>
              <a:t>. E.g.: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UK </a:t>
            </a:r>
            <a:r>
              <a:rPr lang="en-US" altLang="en-US" dirty="0">
                <a:sym typeface="Symbol" pitchFamily="18" charset="2"/>
              </a:rPr>
              <a:t></a:t>
            </a:r>
            <a:r>
              <a:rPr lang="en-US" altLang="en-US" dirty="0"/>
              <a:t> </a:t>
            </a:r>
            <a:r>
              <a:rPr lang="en-US" altLang="en-US" i="1" dirty="0"/>
              <a:t>EU            ) - :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AT </a:t>
            </a:r>
            <a:r>
              <a:rPr lang="en-US" altLang="en-US" dirty="0">
                <a:sym typeface="Symbol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EU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AT </a:t>
            </a:r>
            <a:r>
              <a:rPr lang="en-US" altLang="en-US" dirty="0">
                <a:sym typeface="Symbol" pitchFamily="18" charset="2"/>
              </a:rPr>
              <a:t></a:t>
            </a:r>
            <a:r>
              <a:rPr lang="en-US" altLang="en-US" dirty="0"/>
              <a:t> </a:t>
            </a:r>
            <a:r>
              <a:rPr lang="en-US" altLang="en-US" i="1" dirty="0"/>
              <a:t>NATO</a:t>
            </a:r>
          </a:p>
        </p:txBody>
      </p:sp>
      <p:sp>
        <p:nvSpPr>
          <p:cNvPr id="385028" name="AutoShape 4"/>
          <p:cNvSpPr>
            <a:spLocks/>
          </p:cNvSpPr>
          <p:nvPr/>
        </p:nvSpPr>
        <p:spPr bwMode="auto">
          <a:xfrm>
            <a:off x="4951607" y="5791200"/>
            <a:ext cx="3024188" cy="287338"/>
          </a:xfrm>
          <a:prstGeom prst="callout1">
            <a:avLst>
              <a:gd name="adj1" fmla="val 39778"/>
              <a:gd name="adj2" fmla="val -2519"/>
              <a:gd name="adj3" fmla="val 49171"/>
              <a:gd name="adj4" fmla="val -6719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AT </a:t>
            </a:r>
            <a:r>
              <a:rPr lang="en-GB" altLang="en-US" sz="1800" b="1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a member of </a:t>
            </a:r>
            <a:r>
              <a:rPr lang="en-GB" altLang="en-US" sz="1800" i="1" dirty="0">
                <a:solidFill>
                  <a:schemeClr val="accent1">
                    <a:lumMod val="75000"/>
                  </a:schemeClr>
                </a:solidFill>
              </a:rPr>
              <a:t>NATO</a:t>
            </a:r>
            <a:endParaRPr lang="en-US" altLang="en-US" sz="1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1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9" grpId="0" animBg="1"/>
      <p:bldP spid="385030" grpId="0"/>
      <p:bldP spid="385031" grpId="0"/>
      <p:bldP spid="3850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concepts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0825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Two sets are </a:t>
            </a:r>
            <a:r>
              <a:rPr lang="en-US" altLang="en-US" b="1" dirty="0">
                <a:cs typeface="Times New Roman" pitchFamily="18" charset="0"/>
              </a:rPr>
              <a:t>equal</a:t>
            </a:r>
            <a:r>
              <a:rPr lang="en-US" altLang="en-US" dirty="0">
                <a:cs typeface="Times New Roman" pitchFamily="18" charset="0"/>
              </a:rPr>
              <a:t> if they contain exactly the same members. E.g.:</a:t>
            </a:r>
          </a:p>
          <a:p>
            <a:pPr lvl="1" eaLnBrk="1" hangingPunct="1">
              <a:buFontTx/>
              <a:buNone/>
            </a:pPr>
            <a:r>
              <a:rPr lang="en-GB" altLang="en-US" i="1" dirty="0">
                <a:cs typeface="Times New Roman" pitchFamily="18" charset="0"/>
              </a:rPr>
              <a:t>NAFTA</a:t>
            </a:r>
            <a:r>
              <a:rPr lang="en-GB" altLang="en-US" dirty="0">
                <a:cs typeface="Times New Roman" pitchFamily="18" charset="0"/>
              </a:rPr>
              <a:t>  =  {US, CA, MX}</a:t>
            </a:r>
            <a:endParaRPr lang="en-US" altLang="en-US" dirty="0">
              <a:cs typeface="Times New Roman" pitchFamily="18" charset="0"/>
            </a:endParaRPr>
          </a:p>
          <a:p>
            <a:pPr lvl="1" eaLnBrk="1" hangingPunct="1">
              <a:buFontTx/>
              <a:buNone/>
            </a:pPr>
            <a:r>
              <a:rPr lang="en-GB" altLang="en-US" i="1" dirty="0">
                <a:cs typeface="Times New Roman" pitchFamily="18" charset="0"/>
              </a:rPr>
              <a:t>NAFTA</a:t>
            </a:r>
            <a:r>
              <a:rPr lang="en-GB" altLang="en-US" dirty="0">
                <a:cs typeface="Times New Roman" pitchFamily="18" charset="0"/>
              </a:rPr>
              <a:t>  </a:t>
            </a:r>
            <a:r>
              <a:rPr lang="en-GB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 </a:t>
            </a:r>
            <a:r>
              <a:rPr lang="en-GB" altLang="en-US" dirty="0">
                <a:cs typeface="Times New Roman" pitchFamily="18" charset="0"/>
              </a:rPr>
              <a:t> {CA, US}</a:t>
            </a: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402436" name="AutoShape 4"/>
          <p:cNvSpPr>
            <a:spLocks/>
          </p:cNvSpPr>
          <p:nvPr/>
        </p:nvSpPr>
        <p:spPr bwMode="auto">
          <a:xfrm>
            <a:off x="4427538" y="2209800"/>
            <a:ext cx="2520950" cy="503238"/>
          </a:xfrm>
          <a:prstGeom prst="callout1">
            <a:avLst>
              <a:gd name="adj1" fmla="val 22713"/>
              <a:gd name="adj2" fmla="val -3023"/>
              <a:gd name="adj3" fmla="val 39745"/>
              <a:gd name="adj4" fmla="val -45968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order of members is not significant</a:t>
            </a:r>
          </a:p>
        </p:txBody>
      </p:sp>
      <p:sp>
        <p:nvSpPr>
          <p:cNvPr id="402437" name="AutoShape 5"/>
          <p:cNvSpPr>
            <a:spLocks/>
          </p:cNvSpPr>
          <p:nvPr/>
        </p:nvSpPr>
        <p:spPr bwMode="auto">
          <a:xfrm>
            <a:off x="4699001" y="2694978"/>
            <a:ext cx="2519362" cy="287338"/>
          </a:xfrm>
          <a:prstGeom prst="callout1">
            <a:avLst>
              <a:gd name="adj1" fmla="val 39778"/>
              <a:gd name="adj2" fmla="val -3023"/>
              <a:gd name="adj3" fmla="val 49171"/>
              <a:gd name="adj4" fmla="val -64838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these sets are </a:t>
            </a:r>
            <a:r>
              <a:rPr lang="en-GB" altLang="en-US" sz="1800" b="1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equal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22664" y="3505200"/>
            <a:ext cx="7200900" cy="2713037"/>
            <a:chOff x="1319213" y="3608388"/>
            <a:chExt cx="7200900" cy="2713037"/>
          </a:xfrm>
        </p:grpSpPr>
        <p:sp>
          <p:nvSpPr>
            <p:cNvPr id="7176" name="Text Box 7"/>
            <p:cNvSpPr txBox="1">
              <a:spLocks noChangeArrowheads="1"/>
            </p:cNvSpPr>
            <p:nvPr/>
          </p:nvSpPr>
          <p:spPr bwMode="auto">
            <a:xfrm>
              <a:off x="2843808" y="5215035"/>
              <a:ext cx="323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GB" altLang="en-US" sz="2000"/>
                <a:t>/</a:t>
              </a:r>
              <a:endParaRPr lang="en-US" altLang="en-US" sz="2000"/>
            </a:p>
          </p:txBody>
        </p:sp>
        <p:sp>
          <p:nvSpPr>
            <p:cNvPr id="7177" name="Rectangle 8"/>
            <p:cNvSpPr>
              <a:spLocks noChangeArrowheads="1"/>
            </p:cNvSpPr>
            <p:nvPr/>
          </p:nvSpPr>
          <p:spPr bwMode="auto">
            <a:xfrm>
              <a:off x="1319213" y="3608388"/>
              <a:ext cx="7200900" cy="2713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Clr>
                  <a:schemeClr val="accent1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altLang="en-US" sz="2000" dirty="0"/>
                <a:t>Set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1</a:t>
              </a:r>
              <a:r>
                <a:rPr lang="en-US" altLang="en-US" sz="2000" dirty="0"/>
                <a:t> </a:t>
              </a:r>
              <a:r>
                <a:rPr lang="en-US" altLang="en-US" sz="2000" b="1" dirty="0"/>
                <a:t>subsumes</a:t>
              </a:r>
              <a:r>
                <a:rPr lang="en-US" altLang="en-US" sz="2000" dirty="0"/>
                <a:t> set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2</a:t>
              </a:r>
              <a:r>
                <a:rPr lang="en-US" altLang="en-US" sz="2000" dirty="0"/>
                <a:t> (or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1</a:t>
              </a:r>
              <a:r>
                <a:rPr lang="en-US" altLang="en-US" sz="2000" dirty="0"/>
                <a:t> is a </a:t>
              </a:r>
              <a:r>
                <a:rPr lang="en-US" altLang="en-US" sz="2000" b="1" dirty="0"/>
                <a:t>superset</a:t>
              </a:r>
              <a:r>
                <a:rPr lang="en-US" altLang="en-US" sz="2000" dirty="0"/>
                <a:t> of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2</a:t>
              </a:r>
              <a:r>
                <a:rPr lang="en-US" altLang="en-US" sz="2000" dirty="0"/>
                <a:t>, or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2</a:t>
              </a:r>
              <a:r>
                <a:rPr lang="en-US" altLang="en-US" sz="2000" dirty="0"/>
                <a:t> is a </a:t>
              </a:r>
              <a:r>
                <a:rPr lang="en-US" altLang="en-US" sz="2000" b="1" dirty="0"/>
                <a:t>subset</a:t>
              </a:r>
              <a:r>
                <a:rPr lang="en-US" altLang="en-US" sz="2000" dirty="0"/>
                <a:t> of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1</a:t>
              </a:r>
              <a:r>
                <a:rPr lang="en-US" altLang="en-US" sz="2000" dirty="0"/>
                <a:t>) if every member of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2</a:t>
              </a:r>
              <a:r>
                <a:rPr lang="en-US" altLang="en-US" sz="2000" dirty="0"/>
                <a:t> is also a member of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1</a:t>
              </a:r>
              <a:r>
                <a:rPr lang="en-US" altLang="en-US" sz="2000" dirty="0"/>
                <a:t>. This is written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1</a:t>
              </a:r>
              <a:r>
                <a:rPr lang="en-US" altLang="en-US" sz="2000" dirty="0"/>
                <a:t> </a:t>
              </a:r>
              <a:r>
                <a:rPr lang="en-US" altLang="en-US" sz="2000" dirty="0">
                  <a:sym typeface="Symbol" pitchFamily="18" charset="2"/>
                </a:rPr>
                <a:t></a:t>
              </a:r>
              <a:r>
                <a:rPr lang="en-US" altLang="en-US" sz="2000" dirty="0"/>
                <a:t> </a:t>
              </a:r>
              <a:r>
                <a:rPr lang="en-US" altLang="en-US" sz="2000" i="1" dirty="0">
                  <a:cs typeface="Times New Roman" pitchFamily="18" charset="0"/>
                </a:rPr>
                <a:t>s</a:t>
              </a:r>
              <a:r>
                <a:rPr lang="en-US" altLang="en-US" sz="2000" baseline="-25000" dirty="0">
                  <a:cs typeface="Times New Roman" pitchFamily="18" charset="0"/>
                </a:rPr>
                <a:t>2</a:t>
              </a:r>
              <a:r>
                <a:rPr lang="en-US" altLang="en-US" sz="2000" dirty="0"/>
                <a:t>. E.g.:</a:t>
              </a:r>
            </a:p>
            <a:p>
              <a:pPr lvl="1" eaLnBrk="1" hangingPunct="1">
                <a:buClr>
                  <a:schemeClr val="accent1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altLang="en-US" i="1" dirty="0"/>
                <a:t>NATO</a:t>
              </a:r>
              <a:r>
                <a:rPr lang="en-US" altLang="en-US" dirty="0"/>
                <a:t>  </a:t>
              </a:r>
              <a:r>
                <a:rPr lang="en-US" altLang="en-US" dirty="0">
                  <a:sym typeface="Symbol" pitchFamily="18" charset="2"/>
                </a:rPr>
                <a:t> </a:t>
              </a:r>
              <a:r>
                <a:rPr lang="en-US" altLang="en-US" dirty="0"/>
                <a:t> {CA, US}</a:t>
              </a:r>
            </a:p>
            <a:p>
              <a:pPr lvl="1" eaLnBrk="1" hangingPunct="1">
                <a:buClr>
                  <a:schemeClr val="accent1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altLang="en-US" i="1" dirty="0"/>
                <a:t>NATO</a:t>
              </a:r>
              <a:r>
                <a:rPr lang="en-US" altLang="en-US" dirty="0"/>
                <a:t>  </a:t>
              </a:r>
              <a:r>
                <a:rPr lang="en-US" altLang="en-US" dirty="0">
                  <a:sym typeface="Symbol" pitchFamily="18" charset="2"/>
                </a:rPr>
                <a:t> </a:t>
              </a:r>
              <a:r>
                <a:rPr lang="en-US" altLang="en-US" dirty="0"/>
                <a:t> </a:t>
              </a:r>
              <a:r>
                <a:rPr lang="en-US" altLang="en-US" i="1" dirty="0"/>
                <a:t>EU</a:t>
              </a:r>
            </a:p>
            <a:p>
              <a:pPr lvl="1" eaLnBrk="1" hangingPunct="1">
                <a:buClr>
                  <a:schemeClr val="accent1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altLang="en-US" dirty="0"/>
                <a:t>Equivalently {CA, US} </a:t>
              </a:r>
              <a:r>
                <a:rPr lang="en-GB" dirty="0"/>
                <a:t>⊂ </a:t>
              </a:r>
              <a:r>
                <a:rPr lang="en-GB" i="1" dirty="0"/>
                <a:t>NATO</a:t>
              </a:r>
              <a:r>
                <a:rPr lang="en-GB" dirty="0"/>
                <a:t> and </a:t>
              </a:r>
              <a:r>
                <a:rPr lang="en-GB" i="1" dirty="0"/>
                <a:t>NATO</a:t>
              </a:r>
              <a:r>
                <a:rPr lang="en-GB" dirty="0"/>
                <a:t> ⊄ </a:t>
              </a:r>
              <a:r>
                <a:rPr lang="en-GB" i="1" dirty="0"/>
                <a:t>EU</a:t>
              </a:r>
              <a:endParaRPr lang="en-US" altLang="en-US" i="1" dirty="0"/>
            </a:p>
          </p:txBody>
        </p:sp>
      </p:grpSp>
      <p:sp>
        <p:nvSpPr>
          <p:cNvPr id="402438" name="AutoShape 6"/>
          <p:cNvSpPr>
            <a:spLocks/>
          </p:cNvSpPr>
          <p:nvPr/>
        </p:nvSpPr>
        <p:spPr bwMode="auto">
          <a:xfrm>
            <a:off x="4635995" y="5155405"/>
            <a:ext cx="3060700" cy="220663"/>
          </a:xfrm>
          <a:prstGeom prst="callout1">
            <a:avLst>
              <a:gd name="adj1" fmla="val 51796"/>
              <a:gd name="adj2" fmla="val -2491"/>
              <a:gd name="adj3" fmla="val 35972"/>
              <a:gd name="adj4" fmla="val -59542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i="1" dirty="0">
                <a:solidFill>
                  <a:schemeClr val="accent1">
                    <a:lumMod val="75000"/>
                  </a:schemeClr>
                </a:solidFill>
              </a:rPr>
              <a:t>NATO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does </a:t>
            </a:r>
            <a:r>
              <a:rPr lang="en-GB" altLang="en-US" sz="1800" b="1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subsume </a:t>
            </a:r>
            <a:r>
              <a:rPr lang="en-GB" altLang="en-US" sz="1800" i="1" dirty="0">
                <a:solidFill>
                  <a:schemeClr val="accent1">
                    <a:lumMod val="75000"/>
                  </a:schemeClr>
                </a:solidFill>
              </a:rPr>
              <a:t>EU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AutoShape 2" descr="{\displaystyle \subset }">
            <a:extLst>
              <a:ext uri="{FF2B5EF4-FFF2-40B4-BE49-F238E27FC236}">
                <a16:creationId xmlns:a16="http://schemas.microsoft.com/office/drawing/2014/main" id="{E5C873B7-55DF-1631-2425-04A8902226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{\displaystyle \subset }">
            <a:extLst>
              <a:ext uri="{FF2B5EF4-FFF2-40B4-BE49-F238E27FC236}">
                <a16:creationId xmlns:a16="http://schemas.microsoft.com/office/drawing/2014/main" id="{EB25398B-65EB-3BF9-A59C-ED0619D3B6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AutoShape 6" descr="{\displaystyle \subset }">
            <a:extLst>
              <a:ext uri="{FF2B5EF4-FFF2-40B4-BE49-F238E27FC236}">
                <a16:creationId xmlns:a16="http://schemas.microsoft.com/office/drawing/2014/main" id="{364F8060-9691-B144-9C79-56E00CBDA3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8" descr="{\displaystyle \subset }">
            <a:extLst>
              <a:ext uri="{FF2B5EF4-FFF2-40B4-BE49-F238E27FC236}">
                <a16:creationId xmlns:a16="http://schemas.microsoft.com/office/drawing/2014/main" id="{6F7C8117-41C4-BF74-53DD-B07CF8264D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90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6" grpId="0" animBg="1" autoUpdateAnimBg="0"/>
      <p:bldP spid="402437" grpId="0" animBg="1" autoUpdateAnimBg="0"/>
      <p:bldP spid="4024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/>
              <a:t>Set concepts </a:t>
            </a:r>
            <a:r>
              <a:rPr lang="en-US" altLang="en-US" sz="3200" i="1" dirty="0"/>
              <a:t>(4)</a:t>
            </a:r>
            <a:endParaRPr lang="en-GB" altLang="en-US" sz="3200" i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14400"/>
            <a:ext cx="8229600" cy="5410200"/>
          </a:xfrm>
          <a:noFill/>
        </p:spPr>
        <p:txBody>
          <a:bodyPr>
            <a:noAutofit/>
          </a:bodyPr>
          <a:lstStyle/>
          <a:p>
            <a:pPr eaLnBrk="1" hangingPunct="1">
              <a:tabLst>
                <a:tab pos="3494088" algn="l"/>
              </a:tabLst>
            </a:pPr>
            <a:r>
              <a:rPr lang="en-US" altLang="en-US" sz="1800" dirty="0">
                <a:cs typeface="Times New Roman" pitchFamily="18" charset="0"/>
              </a:rPr>
              <a:t>The </a:t>
            </a:r>
            <a:r>
              <a:rPr lang="en-US" altLang="en-US" sz="1800" b="1" dirty="0">
                <a:cs typeface="Times New Roman" pitchFamily="18" charset="0"/>
              </a:rPr>
              <a:t>union</a:t>
            </a:r>
            <a:r>
              <a:rPr lang="en-US" altLang="en-US" sz="1800" dirty="0">
                <a:cs typeface="Times New Roman" pitchFamily="18" charset="0"/>
              </a:rPr>
              <a:t> of sets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and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 is a set containing just those values that are members of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or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 or both. This is written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</a:t>
            </a:r>
            <a:r>
              <a:rPr lang="en-US" altLang="en-US" sz="1800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</a:t>
            </a:r>
            <a:r>
              <a:rPr lang="en-US" altLang="en-US" sz="1800" dirty="0">
                <a:cs typeface="Times New Roman" pitchFamily="18" charset="0"/>
              </a:rPr>
              <a:t>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. E.g.:</a:t>
            </a:r>
          </a:p>
          <a:p>
            <a:pPr lvl="1" eaLnBrk="1" hangingPunct="1">
              <a:buFontTx/>
              <a:buNone/>
              <a:tabLst>
                <a:tab pos="3494088" algn="l"/>
              </a:tabLst>
            </a:pPr>
            <a:r>
              <a:rPr lang="en-US" altLang="en-US" sz="1800" dirty="0">
                <a:cs typeface="Times New Roman" pitchFamily="18" charset="0"/>
              </a:rPr>
              <a:t>{DK, NO, SE} </a:t>
            </a:r>
            <a:r>
              <a:rPr lang="en-US" altLang="en-US" sz="1800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</a:t>
            </a:r>
            <a:r>
              <a:rPr lang="en-US" altLang="en-US" sz="1800" dirty="0">
                <a:cs typeface="Times New Roman" pitchFamily="18" charset="0"/>
              </a:rPr>
              <a:t> {FI, IS}	=  {DK, FI, IS, NO, SE}</a:t>
            </a:r>
          </a:p>
          <a:p>
            <a:pPr lvl="1" eaLnBrk="1" hangingPunct="1">
              <a:buFontTx/>
              <a:buNone/>
              <a:tabLst>
                <a:tab pos="3494088" algn="l"/>
              </a:tabLst>
            </a:pPr>
            <a:r>
              <a:rPr lang="en-US" altLang="en-US" sz="1800" dirty="0">
                <a:cs typeface="Times New Roman" pitchFamily="18" charset="0"/>
              </a:rPr>
              <a:t>{DK, NO, SE} </a:t>
            </a:r>
            <a:r>
              <a:rPr lang="en-US" altLang="en-US" sz="1800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</a:t>
            </a:r>
            <a:r>
              <a:rPr lang="en-US" altLang="en-US" sz="1800" dirty="0">
                <a:cs typeface="Times New Roman" pitchFamily="18" charset="0"/>
              </a:rPr>
              <a:t> {IS, NO}	=  {DK, IS, NO, SE}</a:t>
            </a:r>
          </a:p>
          <a:p>
            <a:pPr lvl="1" eaLnBrk="1" hangingPunct="1">
              <a:buFontTx/>
              <a:buNone/>
              <a:tabLst>
                <a:tab pos="3494088" algn="l"/>
              </a:tabLst>
            </a:pPr>
            <a:endParaRPr lang="en-US" altLang="en-US" sz="1800" dirty="0">
              <a:cs typeface="Times New Roman" pitchFamily="18" charset="0"/>
            </a:endParaRPr>
          </a:p>
          <a:p>
            <a:pPr>
              <a:tabLst>
                <a:tab pos="2511425" algn="l"/>
              </a:tabLst>
            </a:pPr>
            <a:r>
              <a:rPr lang="en-US" altLang="en-US" sz="1800" dirty="0">
                <a:cs typeface="Times New Roman" pitchFamily="18" charset="0"/>
              </a:rPr>
              <a:t>The </a:t>
            </a:r>
            <a:r>
              <a:rPr lang="en-US" altLang="en-US" sz="1800" b="1" dirty="0">
                <a:cs typeface="Times New Roman" pitchFamily="18" charset="0"/>
              </a:rPr>
              <a:t>intersection</a:t>
            </a:r>
            <a:r>
              <a:rPr lang="en-US" altLang="en-US" sz="1800" dirty="0">
                <a:cs typeface="Times New Roman" pitchFamily="18" charset="0"/>
              </a:rPr>
              <a:t> of sets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and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 is a set containing just those values that are members of both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and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. This is written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</a:t>
            </a:r>
            <a:r>
              <a:rPr lang="en-US" altLang="en-US" sz="1800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</a:t>
            </a:r>
            <a:r>
              <a:rPr lang="en-US" altLang="en-US" sz="1800" dirty="0">
                <a:cs typeface="Times New Roman" pitchFamily="18" charset="0"/>
              </a:rPr>
              <a:t>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. E.g.:</a:t>
            </a:r>
          </a:p>
          <a:p>
            <a:pPr lvl="1">
              <a:buNone/>
              <a:tabLst>
                <a:tab pos="2511425" algn="l"/>
              </a:tabLst>
            </a:pPr>
            <a:r>
              <a:rPr lang="en-US" altLang="en-US" sz="1800" i="1" dirty="0">
                <a:cs typeface="Times New Roman" pitchFamily="18" charset="0"/>
              </a:rPr>
              <a:t>NAFTA</a:t>
            </a:r>
            <a:r>
              <a:rPr lang="en-US" altLang="en-US" sz="1800" dirty="0">
                <a:cs typeface="Times New Roman" pitchFamily="18" charset="0"/>
              </a:rPr>
              <a:t> </a:t>
            </a:r>
            <a:r>
              <a:rPr lang="en-US" altLang="en-US" sz="1800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</a:t>
            </a:r>
            <a:r>
              <a:rPr lang="en-US" altLang="en-US" sz="1800" dirty="0">
                <a:cs typeface="Times New Roman" pitchFamily="18" charset="0"/>
              </a:rPr>
              <a:t> </a:t>
            </a:r>
            <a:r>
              <a:rPr lang="en-US" altLang="en-US" sz="1800" i="1" dirty="0">
                <a:cs typeface="Times New Roman" pitchFamily="18" charset="0"/>
              </a:rPr>
              <a:t>NATO</a:t>
            </a:r>
            <a:r>
              <a:rPr lang="en-US" altLang="en-US" sz="1800" dirty="0">
                <a:cs typeface="Times New Roman" pitchFamily="18" charset="0"/>
              </a:rPr>
              <a:t>	=  {CA, US}                  </a:t>
            </a:r>
            <a:r>
              <a:rPr lang="en-US" altLang="en-US" sz="1800" i="1" dirty="0">
                <a:cs typeface="Times New Roman" pitchFamily="18" charset="0"/>
              </a:rPr>
              <a:t>NAFTA</a:t>
            </a:r>
            <a:r>
              <a:rPr lang="en-US" altLang="en-US" sz="1800" dirty="0">
                <a:cs typeface="Times New Roman" pitchFamily="18" charset="0"/>
              </a:rPr>
              <a:t> </a:t>
            </a:r>
            <a:r>
              <a:rPr lang="en-US" altLang="en-US" sz="1800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</a:t>
            </a:r>
            <a:r>
              <a:rPr lang="en-US" altLang="en-US" sz="1800" dirty="0">
                <a:cs typeface="Times New Roman" pitchFamily="18" charset="0"/>
              </a:rPr>
              <a:t> </a:t>
            </a:r>
            <a:r>
              <a:rPr lang="en-US" altLang="en-US" sz="1800" i="1" dirty="0">
                <a:cs typeface="Times New Roman" pitchFamily="18" charset="0"/>
              </a:rPr>
              <a:t>EU</a:t>
            </a:r>
            <a:r>
              <a:rPr lang="en-US" altLang="en-US" sz="1800" dirty="0">
                <a:cs typeface="Times New Roman" pitchFamily="18" charset="0"/>
              </a:rPr>
              <a:t>	=  { }</a:t>
            </a:r>
          </a:p>
          <a:p>
            <a:pPr lvl="1">
              <a:buNone/>
              <a:tabLst>
                <a:tab pos="2511425" algn="l"/>
              </a:tabLst>
            </a:pPr>
            <a:endParaRPr lang="en-US" altLang="en-US" sz="1800" dirty="0">
              <a:cs typeface="Times New Roman" pitchFamily="18" charset="0"/>
            </a:endParaRPr>
          </a:p>
          <a:p>
            <a:pPr>
              <a:tabLst>
                <a:tab pos="2511425" algn="l"/>
              </a:tabLst>
            </a:pPr>
            <a:r>
              <a:rPr lang="en-US" altLang="en-US" sz="1800" dirty="0">
                <a:cs typeface="Times New Roman" pitchFamily="18" charset="0"/>
              </a:rPr>
              <a:t>Two sets are </a:t>
            </a:r>
            <a:r>
              <a:rPr lang="en-US" altLang="en-US" sz="1800" b="1" dirty="0">
                <a:cs typeface="Times New Roman" pitchFamily="18" charset="0"/>
              </a:rPr>
              <a:t>disjoint</a:t>
            </a:r>
            <a:r>
              <a:rPr lang="en-US" altLang="en-US" sz="1800" dirty="0">
                <a:cs typeface="Times New Roman" pitchFamily="18" charset="0"/>
              </a:rPr>
              <a:t> if they have no common member, i.e., if their intersection is empty. E.g.:</a:t>
            </a:r>
          </a:p>
          <a:p>
            <a:pPr lvl="1">
              <a:buNone/>
              <a:tabLst>
                <a:tab pos="2511425" algn="l"/>
              </a:tabLst>
            </a:pPr>
            <a:r>
              <a:rPr lang="en-US" altLang="en-US" sz="1800" i="1" dirty="0">
                <a:cs typeface="Times New Roman" pitchFamily="18" charset="0"/>
              </a:rPr>
              <a:t>NAFTA</a:t>
            </a:r>
            <a:r>
              <a:rPr lang="en-US" altLang="en-US" sz="1800" dirty="0">
                <a:cs typeface="Times New Roman" pitchFamily="18" charset="0"/>
              </a:rPr>
              <a:t> and </a:t>
            </a:r>
            <a:r>
              <a:rPr lang="en-US" altLang="en-US" sz="1800" i="1" dirty="0">
                <a:cs typeface="Times New Roman" pitchFamily="18" charset="0"/>
              </a:rPr>
              <a:t>EU</a:t>
            </a:r>
            <a:r>
              <a:rPr lang="en-US" altLang="en-US" sz="1800" dirty="0">
                <a:cs typeface="Times New Roman" pitchFamily="18" charset="0"/>
              </a:rPr>
              <a:t> are disjoint,         </a:t>
            </a:r>
            <a:r>
              <a:rPr lang="en-US" altLang="en-US" sz="1800" i="1" dirty="0">
                <a:cs typeface="Times New Roman" pitchFamily="18" charset="0"/>
              </a:rPr>
              <a:t>NAFTA</a:t>
            </a:r>
            <a:r>
              <a:rPr lang="en-US" altLang="en-US" sz="1800" dirty="0">
                <a:cs typeface="Times New Roman" pitchFamily="18" charset="0"/>
              </a:rPr>
              <a:t> and </a:t>
            </a:r>
            <a:r>
              <a:rPr lang="en-US" altLang="en-US" sz="1800" i="1" dirty="0">
                <a:cs typeface="Times New Roman" pitchFamily="18" charset="0"/>
              </a:rPr>
              <a:t>NATO</a:t>
            </a:r>
            <a:r>
              <a:rPr lang="en-US" altLang="en-US" sz="1800" dirty="0">
                <a:cs typeface="Times New Roman" pitchFamily="18" charset="0"/>
              </a:rPr>
              <a:t> are </a:t>
            </a:r>
            <a:r>
              <a:rPr lang="en-US" altLang="en-US" sz="1800" b="1" dirty="0">
                <a:cs typeface="Times New Roman" pitchFamily="18" charset="0"/>
              </a:rPr>
              <a:t>not</a:t>
            </a:r>
            <a:r>
              <a:rPr lang="en-US" altLang="en-US" sz="1800" dirty="0">
                <a:cs typeface="Times New Roman" pitchFamily="18" charset="0"/>
              </a:rPr>
              <a:t> disjoint</a:t>
            </a:r>
          </a:p>
          <a:p>
            <a:pPr lvl="1">
              <a:buNone/>
              <a:tabLst>
                <a:tab pos="2511425" algn="l"/>
              </a:tabLst>
            </a:pPr>
            <a:endParaRPr lang="en-US" altLang="en-US" sz="1800" dirty="0">
              <a:cs typeface="Times New Roman" pitchFamily="18" charset="0"/>
            </a:endParaRPr>
          </a:p>
          <a:p>
            <a:pPr>
              <a:tabLst>
                <a:tab pos="1979613" algn="l"/>
              </a:tabLst>
            </a:pPr>
            <a:r>
              <a:rPr lang="en-US" altLang="en-US" sz="1800" dirty="0">
                <a:cs typeface="Times New Roman" pitchFamily="18" charset="0"/>
              </a:rPr>
              <a:t>The </a:t>
            </a:r>
            <a:r>
              <a:rPr lang="en-US" altLang="en-US" sz="1800" b="1" dirty="0">
                <a:cs typeface="Times New Roman" pitchFamily="18" charset="0"/>
              </a:rPr>
              <a:t>difference</a:t>
            </a:r>
            <a:r>
              <a:rPr lang="en-US" altLang="en-US" sz="1800" dirty="0">
                <a:cs typeface="Times New Roman" pitchFamily="18" charset="0"/>
              </a:rPr>
              <a:t> of sets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and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 is a set containing just those values that are members of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but not of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. This is written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– </a:t>
            </a:r>
            <a:r>
              <a:rPr lang="en-US" altLang="en-US" sz="1800" i="1" dirty="0">
                <a:cs typeface="Times New Roman" pitchFamily="18" charset="0"/>
              </a:rPr>
              <a:t>s</a:t>
            </a:r>
            <a:r>
              <a:rPr lang="en-US" altLang="en-US" sz="1800" baseline="-25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. E.g.:</a:t>
            </a:r>
          </a:p>
          <a:p>
            <a:pPr lvl="1">
              <a:buNone/>
              <a:tabLst>
                <a:tab pos="1979613" algn="l"/>
              </a:tabLst>
            </a:pPr>
            <a:r>
              <a:rPr lang="en-US" altLang="en-US" sz="1800" i="1" dirty="0">
                <a:cs typeface="Times New Roman" pitchFamily="18" charset="0"/>
              </a:rPr>
              <a:t>NATO</a:t>
            </a:r>
            <a:r>
              <a:rPr lang="en-US" altLang="en-US" sz="1800" dirty="0">
                <a:cs typeface="Times New Roman" pitchFamily="18" charset="0"/>
              </a:rPr>
              <a:t> – </a:t>
            </a:r>
            <a:r>
              <a:rPr lang="en-US" altLang="en-US" sz="1800" i="1" dirty="0">
                <a:cs typeface="Times New Roman" pitchFamily="18" charset="0"/>
              </a:rPr>
              <a:t>EU</a:t>
            </a:r>
            <a:r>
              <a:rPr lang="en-US" altLang="en-US" sz="1800" dirty="0">
                <a:cs typeface="Times New Roman" pitchFamily="18" charset="0"/>
              </a:rPr>
              <a:t>	=  </a:t>
            </a:r>
            <a:r>
              <a:rPr lang="en-GB" altLang="en-US" sz="1800" dirty="0">
                <a:cs typeface="Times New Roman" pitchFamily="18" charset="0"/>
              </a:rPr>
              <a:t>{AL, </a:t>
            </a:r>
            <a:r>
              <a:rPr lang="en-US" altLang="en-US" sz="1800" dirty="0">
                <a:cs typeface="Times New Roman" pitchFamily="18" charset="0"/>
              </a:rPr>
              <a:t>CA, IS, ME, MK, NO, PL, TR, UK, US}</a:t>
            </a:r>
          </a:p>
          <a:p>
            <a:pPr lvl="1">
              <a:buNone/>
              <a:tabLst>
                <a:tab pos="1979613" algn="l"/>
              </a:tabLst>
            </a:pPr>
            <a:r>
              <a:rPr lang="en-US" altLang="en-US" sz="1800" i="1" dirty="0">
                <a:cs typeface="Times New Roman" pitchFamily="18" charset="0"/>
              </a:rPr>
              <a:t>EU</a:t>
            </a:r>
            <a:r>
              <a:rPr lang="en-US" altLang="en-US" sz="1800" dirty="0">
                <a:cs typeface="Times New Roman" pitchFamily="18" charset="0"/>
              </a:rPr>
              <a:t> – </a:t>
            </a:r>
            <a:r>
              <a:rPr lang="en-US" altLang="en-US" sz="1800" i="1" dirty="0">
                <a:cs typeface="Times New Roman" pitchFamily="18" charset="0"/>
              </a:rPr>
              <a:t>NATO</a:t>
            </a:r>
            <a:r>
              <a:rPr lang="en-US" altLang="en-US" sz="1800" dirty="0">
                <a:cs typeface="Times New Roman" pitchFamily="18" charset="0"/>
              </a:rPr>
              <a:t>	=  {AT, CY, FI, IE, MT, SK}</a:t>
            </a:r>
          </a:p>
          <a:p>
            <a:pPr lvl="1">
              <a:buNone/>
              <a:tabLst>
                <a:tab pos="2511425" algn="l"/>
              </a:tabLst>
            </a:pPr>
            <a:endParaRPr lang="en-US" altLang="en-US" sz="1800" dirty="0">
              <a:cs typeface="Times New Roman" pitchFamily="18" charset="0"/>
            </a:endParaRPr>
          </a:p>
          <a:p>
            <a:pPr lvl="1" eaLnBrk="1" hangingPunct="1">
              <a:buFontTx/>
              <a:buNone/>
              <a:tabLst>
                <a:tab pos="3494088" algn="l"/>
              </a:tabLst>
            </a:pPr>
            <a:endParaRPr lang="en-US" altLang="en-US" sz="1800" dirty="0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16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applications</a:t>
            </a:r>
            <a:endParaRPr lang="en-GB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Spell-checker: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spell-checker’s dictionary is a set of words.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spell-checker highlights any words in a document that are not members of its dictionary.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Some spell-checkers allow users to add words to their dictionaries.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Relational database: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relational database table is essentially a set of tuples.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Each tuple is distinct.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tuples have no  particular order.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13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prime numbers</a:t>
            </a:r>
            <a:endParaRPr lang="en-GB" altLang="en-US" sz="32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09675"/>
            <a:ext cx="7620000" cy="48006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b="1" dirty="0">
                <a:cs typeface="Times New Roman" pitchFamily="18" charset="0"/>
              </a:rPr>
              <a:t>prime number</a:t>
            </a:r>
            <a:r>
              <a:rPr lang="en-US" altLang="en-US" dirty="0">
                <a:cs typeface="Times New Roman" pitchFamily="18" charset="0"/>
              </a:rPr>
              <a:t> is an integer that is divisible only </a:t>
            </a:r>
          </a:p>
          <a:p>
            <a:pPr marL="0" indent="0" eaLnBrk="1" hangingPunct="1"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dirty="0">
                <a:cs typeface="Times New Roman" pitchFamily="18" charset="0"/>
              </a:rPr>
              <a:t>  by itself and 1. E.g.: 2, 3, 5, 7, 11 are prime numbers.</a:t>
            </a:r>
          </a:p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 dirty="0">
                <a:cs typeface="Times New Roman" pitchFamily="18" charset="0"/>
              </a:rPr>
              <a:t>Eratosthenes’ sieve algorithm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algn="just"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To compute the set of prime numbers less than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(where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&gt; 0):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	Set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sieve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= {2, 3, …,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–1}.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2.	For </a:t>
            </a:r>
            <a:r>
              <a:rPr lang="en-US" altLang="en-US" sz="20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= 2, 3, …, while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0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, repeat: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2.1.	If </a:t>
            </a:r>
            <a:r>
              <a:rPr lang="en-US" altLang="en-US" sz="20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is a member of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sieve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	2.1.1.	Remove all multiples of </a:t>
            </a:r>
            <a:r>
              <a:rPr lang="en-US" altLang="en-US" sz="20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from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sieve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3.	Terminate yielding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sieve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2235809" y="3861594"/>
            <a:ext cx="5256212" cy="1223962"/>
            <a:chOff x="2245" y="3113"/>
            <a:chExt cx="3311" cy="771"/>
          </a:xfrm>
        </p:grpSpPr>
        <p:sp>
          <p:nvSpPr>
            <p:cNvPr id="12297" name="Rectangle 8"/>
            <p:cNvSpPr>
              <a:spLocks noChangeArrowheads="1"/>
            </p:cNvSpPr>
            <p:nvPr/>
          </p:nvSpPr>
          <p:spPr bwMode="auto">
            <a:xfrm>
              <a:off x="3538" y="3543"/>
              <a:ext cx="2018" cy="341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556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556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For </a:t>
              </a:r>
              <a:r>
                <a:rPr lang="en-US" altLang="en-US" sz="2000" i="1" dirty="0"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= 2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</a:t>
              </a:r>
              <a:r>
                <a:rPr lang="en-US" altLang="en-US" sz="2000" i="1" dirty="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, 3</a:t>
              </a:r>
              <a:r>
                <a:rPr lang="en-US" altLang="en-US" sz="1800" dirty="0">
                  <a:sym typeface="Symbol" pitchFamily="18" charset="2"/>
                </a:rPr>
                <a:t></a:t>
              </a:r>
              <a:r>
                <a:rPr lang="en-US" altLang="en-US" sz="2000" i="1" dirty="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, ..., </a:t>
              </a:r>
              <a:r>
                <a:rPr lang="en-US" alt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, repeat:</a:t>
              </a:r>
              <a:b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	Remove </a:t>
              </a:r>
              <a:r>
                <a:rPr lang="en-US" altLang="en-US" sz="2000" i="1" dirty="0"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 from </a:t>
              </a:r>
              <a:r>
                <a:rPr lang="en-US" altLang="en-US" sz="2000" i="1" dirty="0">
                  <a:latin typeface="Times New Roman" pitchFamily="18" charset="0"/>
                  <a:cs typeface="Times New Roman" pitchFamily="18" charset="0"/>
                </a:rPr>
                <a:t>sieve</a:t>
              </a:r>
              <a:r>
                <a:rPr lang="en-US" altLang="en-US" sz="2000" dirty="0">
                  <a:latin typeface="Times New Roman" pitchFamily="18" charset="0"/>
                  <a:cs typeface="Times New Roman" pitchFamily="18" charset="0"/>
                </a:rPr>
                <a:t>.</a:t>
              </a:r>
              <a:endParaRPr lang="en-GB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98" name="Line 9"/>
            <p:cNvSpPr>
              <a:spLocks noChangeShapeType="1"/>
            </p:cNvSpPr>
            <p:nvPr/>
          </p:nvSpPr>
          <p:spPr bwMode="auto">
            <a:xfrm>
              <a:off x="3743" y="3294"/>
              <a:ext cx="158" cy="2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299" name="AutoShape 10"/>
            <p:cNvSpPr>
              <a:spLocks noChangeArrowheads="1"/>
            </p:cNvSpPr>
            <p:nvPr/>
          </p:nvSpPr>
          <p:spPr bwMode="auto">
            <a:xfrm>
              <a:off x="2245" y="3113"/>
              <a:ext cx="2427" cy="181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915988" y="2819400"/>
            <a:ext cx="6500812" cy="790575"/>
            <a:chOff x="2303463" y="3933825"/>
            <a:chExt cx="6500523" cy="790575"/>
          </a:xfrm>
        </p:grpSpPr>
        <p:sp>
          <p:nvSpPr>
            <p:cNvPr id="12294" name="AutoShape 11"/>
            <p:cNvSpPr>
              <a:spLocks noChangeArrowheads="1"/>
            </p:cNvSpPr>
            <p:nvPr/>
          </p:nvSpPr>
          <p:spPr bwMode="auto">
            <a:xfrm>
              <a:off x="2303463" y="4041775"/>
              <a:ext cx="2916238" cy="28733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2295" name="Rectangle 12"/>
            <p:cNvSpPr>
              <a:spLocks noChangeArrowheads="1"/>
            </p:cNvSpPr>
            <p:nvPr/>
          </p:nvSpPr>
          <p:spPr bwMode="auto">
            <a:xfrm>
              <a:off x="6140161" y="3933825"/>
              <a:ext cx="2663825" cy="79057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556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556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556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556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Set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sieve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= { }.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For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= 2, ...,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–1, repeat: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Add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sieve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96" name="Line 13"/>
            <p:cNvSpPr>
              <a:spLocks noChangeShapeType="1"/>
            </p:cNvSpPr>
            <p:nvPr/>
          </p:nvSpPr>
          <p:spPr bwMode="auto">
            <a:xfrm>
              <a:off x="5219699" y="4185445"/>
              <a:ext cx="920461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3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ADT: requirements</a:t>
            </a:r>
            <a:endParaRPr lang="en-GB" altLang="en-US" sz="32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7200900" cy="4681537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R</a:t>
            </a:r>
            <a:r>
              <a:rPr lang="en-US" altLang="en-US" dirty="0"/>
              <a:t>equirements:</a:t>
            </a:r>
          </a:p>
          <a:p>
            <a:pPr lvl="1" eaLnBrk="1" hangingPunct="1">
              <a:lnSpc>
                <a:spcPts val="2000"/>
              </a:lnSpc>
              <a:spcBef>
                <a:spcPts val="1000"/>
              </a:spcBef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make a set empty.</a:t>
            </a:r>
          </a:p>
          <a:p>
            <a:pPr lvl="1" eaLnBrk="1" hangingPunct="1">
              <a:lnSpc>
                <a:spcPts val="2000"/>
              </a:lnSpc>
              <a:spcBef>
                <a:spcPts val="1000"/>
              </a:spcBef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test whether a set is empty.</a:t>
            </a:r>
          </a:p>
          <a:p>
            <a:pPr lvl="1" eaLnBrk="1" hangingPunct="1">
              <a:lnSpc>
                <a:spcPts val="2000"/>
              </a:lnSpc>
              <a:spcBef>
                <a:spcPts val="1000"/>
              </a:spcBef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obtain the size of a set.</a:t>
            </a:r>
          </a:p>
          <a:p>
            <a:pPr lvl="1" eaLnBrk="1" hangingPunct="1">
              <a:lnSpc>
                <a:spcPts val="2000"/>
              </a:lnSpc>
              <a:spcBef>
                <a:spcPts val="1000"/>
              </a:spcBef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perform a membership test.</a:t>
            </a:r>
          </a:p>
          <a:p>
            <a:pPr lvl="1" eaLnBrk="1" hangingPunct="1">
              <a:lnSpc>
                <a:spcPts val="2000"/>
              </a:lnSpc>
              <a:spcBef>
                <a:spcPts val="1000"/>
              </a:spcBef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add or remove a member of a set.</a:t>
            </a:r>
          </a:p>
          <a:p>
            <a:pPr lvl="1" eaLnBrk="1" hangingPunct="1">
              <a:lnSpc>
                <a:spcPts val="2000"/>
              </a:lnSpc>
              <a:spcBef>
                <a:spcPts val="1000"/>
              </a:spcBef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test whether two sets are equal.</a:t>
            </a:r>
          </a:p>
          <a:p>
            <a:pPr lvl="1" eaLnBrk="1" hangingPunct="1">
              <a:lnSpc>
                <a:spcPts val="2000"/>
              </a:lnSpc>
              <a:spcBef>
                <a:spcPts val="1000"/>
              </a:spcBef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test whether one set subsumes another.</a:t>
            </a:r>
          </a:p>
          <a:p>
            <a:pPr lvl="1" eaLnBrk="1" hangingPunct="1">
              <a:lnSpc>
                <a:spcPts val="2000"/>
              </a:lnSpc>
              <a:spcBef>
                <a:spcPts val="1000"/>
              </a:spcBef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compute the union, intersection, or difference of two sets.</a:t>
            </a:r>
          </a:p>
          <a:p>
            <a:pPr lvl="1" eaLnBrk="1" hangingPunct="1">
              <a:lnSpc>
                <a:spcPts val="2000"/>
              </a:lnSpc>
              <a:spcBef>
                <a:spcPts val="1000"/>
              </a:spcBef>
              <a:buFont typeface="Wingdings" pitchFamily="2" charset="2"/>
              <a:buAutoNum type="arabicParenR"/>
            </a:pPr>
            <a:r>
              <a:rPr lang="en-US" altLang="en-US" dirty="0">
                <a:cs typeface="Times New Roman" pitchFamily="18" charset="0"/>
              </a:rPr>
              <a:t>It must be possible to traverse a set.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5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ADT: contract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for homogeneous sets: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interface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Set&lt;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 </a:t>
            </a:r>
            <a:r>
              <a:rPr lang="en-US" altLang="en-US" sz="2000" dirty="0">
                <a:cs typeface="Times New Roman" pitchFamily="18" charset="0"/>
              </a:rPr>
              <a:t>Each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Set&lt;E&gt;</a:t>
            </a:r>
            <a:r>
              <a:rPr lang="en-US" altLang="en-US" sz="2000" dirty="0">
                <a:cs typeface="Times New Roman" pitchFamily="18" charset="0"/>
              </a:rPr>
              <a:t> object is a homogeneous set whose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members are of type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cs typeface="Times New Roman" pitchFamily="18" charset="0"/>
              </a:rPr>
              <a:t>.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 </a:t>
            </a:r>
            <a:r>
              <a:rPr lang="en-US" altLang="en-US" sz="2000" dirty="0">
                <a:cs typeface="Times New Roman" pitchFamily="18" charset="0"/>
              </a:rPr>
              <a:t>Accessors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isEmpty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true if and only if this set is empty.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the size of this set.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6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ADT: contract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7620000" cy="48006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contains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true if and only if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cs typeface="Times New Roman" pitchFamily="18" charset="0"/>
              </a:rPr>
              <a:t> is a member of this set.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equals (Set&lt;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that);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true if and only if this set is equal to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cs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containsAll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(Set&lt;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that);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true if and only if this set subsumes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cs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0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ADT: contract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7620000" cy="48006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 </a:t>
            </a:r>
            <a:r>
              <a:rPr lang="en-US" altLang="en-US" sz="2000" dirty="0">
                <a:cs typeface="Times New Roman" pitchFamily="18" charset="0"/>
              </a:rPr>
              <a:t>Transformers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clear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Make this set empty.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add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Add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cs typeface="Times New Roman" pitchFamily="18" charset="0"/>
              </a:rPr>
              <a:t> as a member of this set.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Do nothing if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cs typeface="Times New Roman" pitchFamily="18" charset="0"/>
              </a:rPr>
              <a:t> is already a member of this set.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remove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Remove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cs typeface="Times New Roman" pitchFamily="18" charset="0"/>
              </a:rPr>
              <a:t> from this set.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Do nothing if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cs typeface="Times New Roman" pitchFamily="18" charset="0"/>
              </a:rPr>
              <a:t> is not a member of this set.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addAll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(Set&lt;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that);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Make this set the union of itself and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cs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04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ADT: contract </a:t>
            </a:r>
            <a:r>
              <a:rPr lang="en-US" altLang="en-US" sz="3200" i="1" dirty="0"/>
              <a:t>(4)</a:t>
            </a:r>
            <a:endParaRPr lang="en-GB" altLang="en-US" sz="3200" i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7620000" cy="48006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removeAll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(Set&lt;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that);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Make this set the difference of itself and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cs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retainAll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(Set&lt;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that);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Make this set the intersection of itself and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cs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 </a:t>
            </a:r>
            <a:r>
              <a:rPr lang="en-US" altLang="en-US" sz="2000" dirty="0">
                <a:cs typeface="Times New Roman" pitchFamily="18" charset="0"/>
              </a:rPr>
              <a:t>Iterator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Iterator&lt;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iterator();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an iterator that will visit all members of this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set, in no particular order.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4" name="AutoShape 5"/>
          <p:cNvSpPr>
            <a:spLocks/>
          </p:cNvSpPr>
          <p:nvPr/>
        </p:nvSpPr>
        <p:spPr bwMode="auto">
          <a:xfrm>
            <a:off x="5867400" y="5662613"/>
            <a:ext cx="360363" cy="287337"/>
          </a:xfrm>
          <a:prstGeom prst="callout1">
            <a:avLst>
              <a:gd name="adj1" fmla="val 2583"/>
              <a:gd name="adj2" fmla="val -6315"/>
              <a:gd name="adj3" fmla="val -182273"/>
              <a:gd name="adj4" fmla="val -239444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NB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6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563" y="2286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sets using member </a:t>
            </a:r>
            <a:br>
              <a:rPr lang="en-US" altLang="en-US" sz="3200" dirty="0"/>
            </a:br>
            <a:r>
              <a:rPr lang="en-US" altLang="en-US" sz="3200" dirty="0"/>
              <a:t>arrays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58763" y="1266825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Represent a </a:t>
            </a:r>
            <a:r>
              <a:rPr lang="en-US" altLang="en-US" i="1" dirty="0">
                <a:cs typeface="Times New Roman" pitchFamily="18" charset="0"/>
              </a:rPr>
              <a:t>bounded</a:t>
            </a:r>
            <a:r>
              <a:rPr lang="en-US" altLang="en-US" dirty="0">
                <a:cs typeface="Times New Roman" pitchFamily="18" charset="0"/>
              </a:rPr>
              <a:t> set (size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) by: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variable </a:t>
            </a:r>
            <a:r>
              <a:rPr lang="en-US" altLang="en-US" i="1" dirty="0">
                <a:cs typeface="Times New Roman" pitchFamily="18" charset="0"/>
              </a:rPr>
              <a:t>size</a:t>
            </a:r>
            <a:r>
              <a:rPr lang="en-US" altLang="en-US" dirty="0">
                <a:cs typeface="Times New Roman" pitchFamily="18" charset="0"/>
              </a:rPr>
              <a:t>, containing the current size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sorted array </a:t>
            </a:r>
            <a:r>
              <a:rPr lang="en-US" altLang="en-US" i="1" dirty="0">
                <a:cs typeface="Times New Roman" pitchFamily="18" charset="0"/>
              </a:rPr>
              <a:t>members</a:t>
            </a:r>
            <a:r>
              <a:rPr lang="en-US" altLang="en-US" dirty="0">
                <a:cs typeface="Times New Roman" pitchFamily="18" charset="0"/>
              </a:rPr>
              <a:t> of length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,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containing the set members in </a:t>
            </a:r>
            <a:r>
              <a:rPr lang="en-US" altLang="en-US" i="1" dirty="0">
                <a:cs typeface="Times New Roman" pitchFamily="18" charset="0"/>
              </a:rPr>
              <a:t>members</a:t>
            </a:r>
            <a:r>
              <a:rPr lang="en-US" altLang="en-US" dirty="0">
                <a:cs typeface="Times New Roman" pitchFamily="18" charset="0"/>
              </a:rPr>
              <a:t>[0… </a:t>
            </a:r>
            <a:r>
              <a:rPr lang="en-US" altLang="en-US" i="1" dirty="0">
                <a:cs typeface="Times New Roman" pitchFamily="18" charset="0"/>
              </a:rPr>
              <a:t>size</a:t>
            </a:r>
            <a:r>
              <a:rPr lang="en-US" altLang="en-US" dirty="0">
                <a:cs typeface="Times New Roman" pitchFamily="18" charset="0"/>
              </a:rPr>
              <a:t>–1],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with no duplicates.</a:t>
            </a: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37252" y="4322763"/>
            <a:ext cx="7010400" cy="628650"/>
            <a:chOff x="1027" y="3051"/>
            <a:chExt cx="4416" cy="396"/>
          </a:xfrm>
        </p:grpSpPr>
        <p:sp>
          <p:nvSpPr>
            <p:cNvPr id="18468" name="Rectangle 5"/>
            <p:cNvSpPr>
              <a:spLocks noChangeArrowheads="1"/>
            </p:cNvSpPr>
            <p:nvPr/>
          </p:nvSpPr>
          <p:spPr bwMode="auto">
            <a:xfrm>
              <a:off x="1027" y="3207"/>
              <a:ext cx="8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Empty set:</a:t>
              </a:r>
              <a:endParaRPr lang="en-US" altLang="en-US" sz="1800"/>
            </a:p>
          </p:txBody>
        </p:sp>
        <p:sp>
          <p:nvSpPr>
            <p:cNvPr id="18469" name="Rectangle 6"/>
            <p:cNvSpPr>
              <a:spLocks noChangeArrowheads="1"/>
            </p:cNvSpPr>
            <p:nvPr/>
          </p:nvSpPr>
          <p:spPr bwMode="auto">
            <a:xfrm>
              <a:off x="2563" y="3201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70" name="Rectangle 7"/>
            <p:cNvSpPr>
              <a:spLocks noChangeArrowheads="1"/>
            </p:cNvSpPr>
            <p:nvPr/>
          </p:nvSpPr>
          <p:spPr bwMode="auto">
            <a:xfrm>
              <a:off x="2083" y="3201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71" name="Rectangle 8"/>
            <p:cNvSpPr>
              <a:spLocks noChangeArrowheads="1"/>
            </p:cNvSpPr>
            <p:nvPr/>
          </p:nvSpPr>
          <p:spPr bwMode="auto">
            <a:xfrm>
              <a:off x="2563" y="3051"/>
              <a:ext cx="48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8472" name="Rectangle 9"/>
            <p:cNvSpPr>
              <a:spLocks noChangeArrowheads="1"/>
            </p:cNvSpPr>
            <p:nvPr/>
          </p:nvSpPr>
          <p:spPr bwMode="auto">
            <a:xfrm>
              <a:off x="3523" y="3201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73" name="Rectangle 10"/>
            <p:cNvSpPr>
              <a:spLocks noChangeArrowheads="1"/>
            </p:cNvSpPr>
            <p:nvPr/>
          </p:nvSpPr>
          <p:spPr bwMode="auto">
            <a:xfrm>
              <a:off x="4003" y="3201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74" name="Rectangle 11"/>
            <p:cNvSpPr>
              <a:spLocks noChangeArrowheads="1"/>
            </p:cNvSpPr>
            <p:nvPr/>
          </p:nvSpPr>
          <p:spPr bwMode="auto">
            <a:xfrm>
              <a:off x="4963" y="3201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75" name="Rectangle 12"/>
            <p:cNvSpPr>
              <a:spLocks noChangeArrowheads="1"/>
            </p:cNvSpPr>
            <p:nvPr/>
          </p:nvSpPr>
          <p:spPr bwMode="auto">
            <a:xfrm>
              <a:off x="4483" y="3201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76" name="Rectangle 13"/>
            <p:cNvSpPr>
              <a:spLocks noChangeArrowheads="1"/>
            </p:cNvSpPr>
            <p:nvPr/>
          </p:nvSpPr>
          <p:spPr bwMode="auto">
            <a:xfrm>
              <a:off x="3043" y="3201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77" name="Freeform 14"/>
            <p:cNvSpPr>
              <a:spLocks/>
            </p:cNvSpPr>
            <p:nvPr/>
          </p:nvSpPr>
          <p:spPr bwMode="auto">
            <a:xfrm>
              <a:off x="3187" y="3111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8" name="Rectangle 15"/>
            <p:cNvSpPr>
              <a:spLocks noChangeArrowheads="1"/>
            </p:cNvSpPr>
            <p:nvPr/>
          </p:nvSpPr>
          <p:spPr bwMode="auto">
            <a:xfrm>
              <a:off x="2035" y="3063"/>
              <a:ext cx="576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/>
                <a:t>=0</a:t>
              </a:r>
            </a:p>
          </p:txBody>
        </p:sp>
        <p:sp>
          <p:nvSpPr>
            <p:cNvPr id="18479" name="Freeform 16"/>
            <p:cNvSpPr>
              <a:spLocks/>
            </p:cNvSpPr>
            <p:nvPr/>
          </p:nvSpPr>
          <p:spPr bwMode="auto">
            <a:xfrm>
              <a:off x="4627" y="3111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0" name="Rectangle 17"/>
            <p:cNvSpPr>
              <a:spLocks noChangeArrowheads="1"/>
            </p:cNvSpPr>
            <p:nvPr/>
          </p:nvSpPr>
          <p:spPr bwMode="auto">
            <a:xfrm>
              <a:off x="4963" y="3063"/>
              <a:ext cx="480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</p:grp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408029" y="3327400"/>
            <a:ext cx="7010400" cy="628650"/>
            <a:chOff x="1027" y="2432"/>
            <a:chExt cx="4416" cy="396"/>
          </a:xfrm>
        </p:grpSpPr>
        <p:sp>
          <p:nvSpPr>
            <p:cNvPr id="18453" name="Rectangle 19"/>
            <p:cNvSpPr>
              <a:spLocks noChangeArrowheads="1"/>
            </p:cNvSpPr>
            <p:nvPr/>
          </p:nvSpPr>
          <p:spPr bwMode="auto">
            <a:xfrm>
              <a:off x="2083" y="2432"/>
              <a:ext cx="48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8454" name="Rectangle 20"/>
            <p:cNvSpPr>
              <a:spLocks noChangeArrowheads="1"/>
            </p:cNvSpPr>
            <p:nvPr/>
          </p:nvSpPr>
          <p:spPr bwMode="auto">
            <a:xfrm>
              <a:off x="2563" y="2432"/>
              <a:ext cx="48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8455" name="Rectangle 21"/>
            <p:cNvSpPr>
              <a:spLocks noChangeArrowheads="1"/>
            </p:cNvSpPr>
            <p:nvPr/>
          </p:nvSpPr>
          <p:spPr bwMode="auto">
            <a:xfrm>
              <a:off x="3475" y="2432"/>
              <a:ext cx="576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8456" name="Rectangle 22"/>
            <p:cNvSpPr>
              <a:spLocks noChangeArrowheads="1"/>
            </p:cNvSpPr>
            <p:nvPr/>
          </p:nvSpPr>
          <p:spPr bwMode="auto">
            <a:xfrm>
              <a:off x="4003" y="2432"/>
              <a:ext cx="48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</a:p>
          </p:txBody>
        </p:sp>
        <p:sp>
          <p:nvSpPr>
            <p:cNvPr id="18457" name="Rectangle 23"/>
            <p:cNvSpPr>
              <a:spLocks noChangeArrowheads="1"/>
            </p:cNvSpPr>
            <p:nvPr/>
          </p:nvSpPr>
          <p:spPr bwMode="auto">
            <a:xfrm>
              <a:off x="1027" y="2589"/>
              <a:ext cx="8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Invariant:</a:t>
              </a:r>
              <a:endParaRPr lang="en-US" altLang="en-US" sz="1800"/>
            </a:p>
          </p:txBody>
        </p:sp>
        <p:sp>
          <p:nvSpPr>
            <p:cNvPr id="18458" name="Rectangle 24"/>
            <p:cNvSpPr>
              <a:spLocks noChangeArrowheads="1"/>
            </p:cNvSpPr>
            <p:nvPr/>
          </p:nvSpPr>
          <p:spPr bwMode="auto">
            <a:xfrm>
              <a:off x="2563" y="2582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200" dirty="0"/>
                <a:t>member</a:t>
              </a:r>
              <a:endParaRPr lang="en-US" altLang="en-US" sz="1200" dirty="0"/>
            </a:p>
          </p:txBody>
        </p:sp>
        <p:sp>
          <p:nvSpPr>
            <p:cNvPr id="18459" name="Rectangle 25"/>
            <p:cNvSpPr>
              <a:spLocks noChangeArrowheads="1"/>
            </p:cNvSpPr>
            <p:nvPr/>
          </p:nvSpPr>
          <p:spPr bwMode="auto">
            <a:xfrm>
              <a:off x="2083" y="2582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200"/>
                <a:t>least member</a:t>
              </a:r>
              <a:endParaRPr lang="en-US" altLang="en-US" sz="1200"/>
            </a:p>
          </p:txBody>
        </p:sp>
        <p:sp>
          <p:nvSpPr>
            <p:cNvPr id="18460" name="Rectangle 26"/>
            <p:cNvSpPr>
              <a:spLocks noChangeArrowheads="1"/>
            </p:cNvSpPr>
            <p:nvPr/>
          </p:nvSpPr>
          <p:spPr bwMode="auto">
            <a:xfrm>
              <a:off x="3523" y="2582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200"/>
                <a:t>greatest member</a:t>
              </a:r>
              <a:endParaRPr lang="en-US" altLang="en-US" sz="1200"/>
            </a:p>
          </p:txBody>
        </p:sp>
        <p:sp>
          <p:nvSpPr>
            <p:cNvPr id="18461" name="Rectangle 27"/>
            <p:cNvSpPr>
              <a:spLocks noChangeArrowheads="1"/>
            </p:cNvSpPr>
            <p:nvPr/>
          </p:nvSpPr>
          <p:spPr bwMode="auto">
            <a:xfrm>
              <a:off x="4003" y="25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62" name="Rectangle 28"/>
            <p:cNvSpPr>
              <a:spLocks noChangeArrowheads="1"/>
            </p:cNvSpPr>
            <p:nvPr/>
          </p:nvSpPr>
          <p:spPr bwMode="auto">
            <a:xfrm>
              <a:off x="4963" y="25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63" name="Rectangle 29"/>
            <p:cNvSpPr>
              <a:spLocks noChangeArrowheads="1"/>
            </p:cNvSpPr>
            <p:nvPr/>
          </p:nvSpPr>
          <p:spPr bwMode="auto">
            <a:xfrm>
              <a:off x="4483" y="2582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64" name="Freeform 30"/>
            <p:cNvSpPr>
              <a:spLocks/>
            </p:cNvSpPr>
            <p:nvPr/>
          </p:nvSpPr>
          <p:spPr bwMode="auto">
            <a:xfrm>
              <a:off x="4627" y="2492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5" name="Rectangle 31"/>
            <p:cNvSpPr>
              <a:spLocks noChangeArrowheads="1"/>
            </p:cNvSpPr>
            <p:nvPr/>
          </p:nvSpPr>
          <p:spPr bwMode="auto">
            <a:xfrm>
              <a:off x="3043" y="2582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8466" name="Freeform 32"/>
            <p:cNvSpPr>
              <a:spLocks/>
            </p:cNvSpPr>
            <p:nvPr/>
          </p:nvSpPr>
          <p:spPr bwMode="auto">
            <a:xfrm>
              <a:off x="3187" y="2492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7" name="Rectangle 33"/>
            <p:cNvSpPr>
              <a:spLocks noChangeArrowheads="1"/>
            </p:cNvSpPr>
            <p:nvPr/>
          </p:nvSpPr>
          <p:spPr bwMode="auto">
            <a:xfrm>
              <a:off x="4963" y="2444"/>
              <a:ext cx="480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</p:grp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430254" y="5380409"/>
            <a:ext cx="7118350" cy="950912"/>
            <a:chOff x="1027" y="3475"/>
            <a:chExt cx="4484" cy="599"/>
          </a:xfrm>
        </p:grpSpPr>
        <p:sp>
          <p:nvSpPr>
            <p:cNvPr id="18439" name="Rectangle 38"/>
            <p:cNvSpPr>
              <a:spLocks noChangeArrowheads="1"/>
            </p:cNvSpPr>
            <p:nvPr/>
          </p:nvSpPr>
          <p:spPr bwMode="auto">
            <a:xfrm>
              <a:off x="1027" y="3513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Illustration</a:t>
              </a:r>
              <a:br>
                <a:rPr lang="en-US" altLang="en-US" sz="1800">
                  <a:solidFill>
                    <a:srgbClr val="000000"/>
                  </a:solidFill>
                </a:rPr>
              </a:br>
              <a:r>
                <a:rPr lang="en-US" altLang="en-US" sz="1800">
                  <a:solidFill>
                    <a:srgbClr val="000000"/>
                  </a:solidFill>
                </a:rPr>
                <a:t>(</a:t>
              </a:r>
              <a:r>
                <a:rPr lang="en-US" altLang="en-US" sz="1800" i="1">
                  <a:solidFill>
                    <a:srgbClr val="000000"/>
                  </a:solidFill>
                </a:rPr>
                <a:t>cap</a:t>
              </a:r>
              <a:r>
                <a:rPr lang="en-US" altLang="en-US" sz="1800">
                  <a:solidFill>
                    <a:srgbClr val="000000"/>
                  </a:solidFill>
                </a:rPr>
                <a:t> = 6):</a:t>
              </a:r>
              <a:endParaRPr lang="en-US" altLang="en-US" sz="1800"/>
            </a:p>
          </p:txBody>
        </p:sp>
        <p:sp>
          <p:nvSpPr>
            <p:cNvPr id="18440" name="Rectangle 39"/>
            <p:cNvSpPr>
              <a:spLocks noChangeArrowheads="1"/>
            </p:cNvSpPr>
            <p:nvPr/>
          </p:nvSpPr>
          <p:spPr bwMode="auto">
            <a:xfrm>
              <a:off x="2563" y="3625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MX</a:t>
              </a:r>
            </a:p>
          </p:txBody>
        </p:sp>
        <p:sp>
          <p:nvSpPr>
            <p:cNvPr id="18441" name="Rectangle 40"/>
            <p:cNvSpPr>
              <a:spLocks noChangeArrowheads="1"/>
            </p:cNvSpPr>
            <p:nvPr/>
          </p:nvSpPr>
          <p:spPr bwMode="auto">
            <a:xfrm>
              <a:off x="3043" y="3625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US</a:t>
              </a:r>
            </a:p>
          </p:txBody>
        </p:sp>
        <p:sp>
          <p:nvSpPr>
            <p:cNvPr id="18442" name="Rectangle 41"/>
            <p:cNvSpPr>
              <a:spLocks noChangeArrowheads="1"/>
            </p:cNvSpPr>
            <p:nvPr/>
          </p:nvSpPr>
          <p:spPr bwMode="auto">
            <a:xfrm>
              <a:off x="3523" y="3625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18443" name="Rectangle 42"/>
            <p:cNvSpPr>
              <a:spLocks noChangeArrowheads="1"/>
            </p:cNvSpPr>
            <p:nvPr/>
          </p:nvSpPr>
          <p:spPr bwMode="auto">
            <a:xfrm>
              <a:off x="4003" y="3625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18444" name="Rectangle 43"/>
            <p:cNvSpPr>
              <a:spLocks noChangeArrowheads="1"/>
            </p:cNvSpPr>
            <p:nvPr/>
          </p:nvSpPr>
          <p:spPr bwMode="auto">
            <a:xfrm>
              <a:off x="2083" y="3625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CA</a:t>
              </a:r>
            </a:p>
          </p:txBody>
        </p:sp>
        <p:sp>
          <p:nvSpPr>
            <p:cNvPr id="18445" name="Rectangle 44"/>
            <p:cNvSpPr>
              <a:spLocks noChangeArrowheads="1"/>
            </p:cNvSpPr>
            <p:nvPr/>
          </p:nvSpPr>
          <p:spPr bwMode="auto">
            <a:xfrm>
              <a:off x="2083" y="3475"/>
              <a:ext cx="48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8446" name="Rectangle 45"/>
            <p:cNvSpPr>
              <a:spLocks noChangeArrowheads="1"/>
            </p:cNvSpPr>
            <p:nvPr/>
          </p:nvSpPr>
          <p:spPr bwMode="auto">
            <a:xfrm>
              <a:off x="2563" y="3475"/>
              <a:ext cx="48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8447" name="Rectangle 46"/>
            <p:cNvSpPr>
              <a:spLocks noChangeArrowheads="1"/>
            </p:cNvSpPr>
            <p:nvPr/>
          </p:nvSpPr>
          <p:spPr bwMode="auto">
            <a:xfrm>
              <a:off x="3043" y="3475"/>
              <a:ext cx="48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18448" name="Rectangle 47"/>
            <p:cNvSpPr>
              <a:spLocks noChangeArrowheads="1"/>
            </p:cNvSpPr>
            <p:nvPr/>
          </p:nvSpPr>
          <p:spPr bwMode="auto">
            <a:xfrm>
              <a:off x="4003" y="3481"/>
              <a:ext cx="48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18449" name="Rectangle 48"/>
            <p:cNvSpPr>
              <a:spLocks noChangeArrowheads="1"/>
            </p:cNvSpPr>
            <p:nvPr/>
          </p:nvSpPr>
          <p:spPr bwMode="auto">
            <a:xfrm>
              <a:off x="3523" y="3475"/>
              <a:ext cx="480" cy="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/>
                <a:t>=3</a:t>
              </a:r>
            </a:p>
          </p:txBody>
        </p:sp>
        <p:sp>
          <p:nvSpPr>
            <p:cNvPr id="18450" name="Rectangle 49"/>
            <p:cNvSpPr>
              <a:spLocks noChangeArrowheads="1"/>
            </p:cNvSpPr>
            <p:nvPr/>
          </p:nvSpPr>
          <p:spPr bwMode="auto">
            <a:xfrm>
              <a:off x="4483" y="3625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18451" name="Rectangle 50"/>
            <p:cNvSpPr>
              <a:spLocks noChangeArrowheads="1"/>
            </p:cNvSpPr>
            <p:nvPr/>
          </p:nvSpPr>
          <p:spPr bwMode="auto">
            <a:xfrm>
              <a:off x="4483" y="3475"/>
              <a:ext cx="48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18452" name="AutoShape 51"/>
            <p:cNvSpPr>
              <a:spLocks/>
            </p:cNvSpPr>
            <p:nvPr/>
          </p:nvSpPr>
          <p:spPr bwMode="auto">
            <a:xfrm>
              <a:off x="3913" y="3906"/>
              <a:ext cx="1598" cy="168"/>
            </a:xfrm>
            <a:prstGeom prst="callout1">
              <a:avLst>
                <a:gd name="adj1" fmla="val 42856"/>
                <a:gd name="adj2" fmla="val -3005"/>
                <a:gd name="adj3" fmla="val 5954"/>
                <a:gd name="adj4" fmla="val -18148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represents {CA, US, MX}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9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153400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Implementation of sets using member </a:t>
            </a:r>
            <a:br>
              <a:rPr lang="en-US" altLang="en-US" sz="3200" dirty="0"/>
            </a:br>
            <a:r>
              <a:rPr lang="en-US" altLang="en-US" sz="3200" dirty="0"/>
              <a:t>arrays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828800"/>
            <a:ext cx="8763000" cy="2514599"/>
          </a:xfrm>
          <a:noFill/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000" dirty="0">
                <a:cs typeface="Times New Roman" pitchFamily="18" charset="0"/>
              </a:rPr>
              <a:t>Assumptions: </a:t>
            </a:r>
          </a:p>
          <a:p>
            <a:r>
              <a:rPr lang="en-US" altLang="en-US" sz="2000" dirty="0">
                <a:cs typeface="Times New Roman" pitchFamily="18" charset="0"/>
              </a:rPr>
              <a:t>Contains, add, remove, equals, n is the size of the original set</a:t>
            </a:r>
          </a:p>
          <a:p>
            <a:pPr fontAlgn="base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containsAll</a:t>
            </a:r>
            <a:r>
              <a:rPr lang="en-GB" dirty="0"/>
              <a:t>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addAll</a:t>
            </a:r>
            <a:r>
              <a:rPr lang="en-GB" dirty="0"/>
              <a:t>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removeAll</a:t>
            </a:r>
            <a:r>
              <a:rPr lang="en-GB" dirty="0"/>
              <a:t>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retainAll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fontAlgn="base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last 3 operations, second set has size n’</a:t>
            </a:r>
          </a:p>
          <a:p>
            <a:pPr lvl="1" fontAlgn="base"/>
            <a:r>
              <a:rPr lang="en-US" altLang="en-US" sz="1600" dirty="0">
                <a:cs typeface="Times New Roman" pitchFamily="18" charset="0"/>
              </a:rPr>
              <a:t>Although current set is known to be implemented as an ordered array, don’t know the implementation of the other </a:t>
            </a:r>
          </a:p>
          <a:p>
            <a:pPr lvl="2" fontAlgn="base"/>
            <a:r>
              <a:rPr lang="en-US" altLang="en-US" sz="1400" dirty="0">
                <a:cs typeface="Times New Roman" pitchFamily="18" charset="0"/>
              </a:rPr>
              <a:t>But we can assume both have an iterator that returns items in increasing order</a:t>
            </a:r>
          </a:p>
          <a:p>
            <a:pPr lvl="2" fontAlgn="base"/>
            <a:endParaRPr lang="en-US" altLang="en-US" sz="1400" dirty="0">
              <a:cs typeface="Times New Roman" pitchFamily="18" charset="0"/>
            </a:endParaRPr>
          </a:p>
          <a:p>
            <a:pPr lvl="1" fontAlgn="base"/>
            <a:endParaRPr lang="en-US" altLang="en-US" sz="1600" dirty="0"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5400" y="6373346"/>
            <a:ext cx="63246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See full implementation on Moodle</a:t>
            </a:r>
          </a:p>
        </p:txBody>
      </p:sp>
    </p:spTree>
    <p:extLst>
      <p:ext uri="{BB962C8B-B14F-4D97-AF65-F5344CB8AC3E}">
        <p14:creationId xmlns:p14="http://schemas.microsoft.com/office/powerpoint/2010/main" val="3518295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153400" cy="8500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/>
              <a:t>Implementation of sets using member </a:t>
            </a:r>
            <a:br>
              <a:rPr lang="en-US" altLang="en-US" sz="3200" dirty="0"/>
            </a:br>
            <a:r>
              <a:rPr lang="en-US" altLang="en-US" sz="3200" dirty="0"/>
              <a:t>arrays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7200900" cy="4645025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Summary of algorithms and time complexities:</a:t>
            </a:r>
          </a:p>
        </p:txBody>
      </p:sp>
      <p:graphicFrame>
        <p:nvGraphicFramePr>
          <p:cNvPr id="394454" name="Group 21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96647293"/>
              </p:ext>
            </p:extLst>
          </p:nvPr>
        </p:nvGraphicFramePr>
        <p:xfrm>
          <a:off x="609600" y="2057400"/>
          <a:ext cx="7627938" cy="3565818"/>
        </p:xfrm>
        <a:graphic>
          <a:graphicData uri="http://schemas.openxmlformats.org/drawingml/2006/table">
            <a:tbl>
              <a:tblPr/>
              <a:tblGrid>
                <a:gridCol w="1868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Algorithm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complexity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search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search + insertion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search + deletion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comparison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containsAll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variant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of pairwise comparison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addAll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 merge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removeAll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variant of array merge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retainAll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variant of array merge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AutoShape 125"/>
          <p:cNvSpPr>
            <a:spLocks/>
          </p:cNvSpPr>
          <p:nvPr/>
        </p:nvSpPr>
        <p:spPr bwMode="auto">
          <a:xfrm>
            <a:off x="1317171" y="5785696"/>
            <a:ext cx="4648200" cy="287337"/>
          </a:xfrm>
          <a:prstGeom prst="callout1">
            <a:avLst>
              <a:gd name="adj1" fmla="val 2583"/>
              <a:gd name="adj2" fmla="val 102736"/>
              <a:gd name="adj3" fmla="val -49810"/>
              <a:gd name="adj4" fmla="val 106773"/>
            </a:avLst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where </a:t>
            </a:r>
            <a:r>
              <a:rPr lang="en-US" altLang="en-US" sz="1800" i="1" dirty="0">
                <a:solidFill>
                  <a:schemeClr val="accent1">
                    <a:lumMod val="75000"/>
                  </a:schemeClr>
                </a:solidFill>
              </a:rPr>
              <a:t>n'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is the size of the other set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5400" y="6373346"/>
            <a:ext cx="63246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/>
              <a:t>See </a:t>
            </a:r>
            <a:r>
              <a:rPr lang="en-GB" dirty="0"/>
              <a:t>full implementation on Moodle</a:t>
            </a:r>
          </a:p>
        </p:txBody>
      </p:sp>
    </p:spTree>
    <p:extLst>
      <p:ext uri="{BB962C8B-B14F-4D97-AF65-F5344CB8AC3E}">
        <p14:creationId xmlns:p14="http://schemas.microsoft.com/office/powerpoint/2010/main" val="81894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sets using SLLs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00025" y="1286906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Represent an (unbounded) set by: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variable </a:t>
            </a:r>
            <a:r>
              <a:rPr lang="en-US" altLang="en-US" i="1" dirty="0">
                <a:cs typeface="Times New Roman" pitchFamily="18" charset="0"/>
              </a:rPr>
              <a:t>size</a:t>
            </a:r>
            <a:endParaRPr lang="en-US" altLang="en-US" dirty="0">
              <a:cs typeface="Times New Roman" pitchFamily="18" charset="0"/>
            </a:endParaRP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sorted SLL, containing one member per node,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with no duplicates.</a:t>
            </a:r>
            <a:endParaRPr lang="en-US" altLang="en-US" dirty="0"/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333107" y="4089400"/>
            <a:ext cx="1609725" cy="612775"/>
            <a:chOff x="1082" y="2896"/>
            <a:chExt cx="1014" cy="386"/>
          </a:xfrm>
        </p:grpSpPr>
        <p:sp>
          <p:nvSpPr>
            <p:cNvPr id="20512" name="Rectangle 18"/>
            <p:cNvSpPr>
              <a:spLocks noChangeArrowheads="1"/>
            </p:cNvSpPr>
            <p:nvPr/>
          </p:nvSpPr>
          <p:spPr bwMode="auto">
            <a:xfrm>
              <a:off x="1082" y="2996"/>
              <a:ext cx="71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Empty set:</a:t>
              </a:r>
              <a:endParaRPr lang="en-US" altLang="en-US" sz="1800"/>
            </a:p>
          </p:txBody>
        </p:sp>
        <p:sp>
          <p:nvSpPr>
            <p:cNvPr id="20513" name="Rectangle 19"/>
            <p:cNvSpPr>
              <a:spLocks noChangeArrowheads="1"/>
            </p:cNvSpPr>
            <p:nvPr/>
          </p:nvSpPr>
          <p:spPr bwMode="auto">
            <a:xfrm>
              <a:off x="1902" y="289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514" name="Line 20"/>
            <p:cNvSpPr>
              <a:spLocks noChangeShapeType="1"/>
            </p:cNvSpPr>
            <p:nvPr/>
          </p:nvSpPr>
          <p:spPr bwMode="auto">
            <a:xfrm>
              <a:off x="1998" y="299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5" name="Rectangle 21"/>
            <p:cNvSpPr>
              <a:spLocks noChangeArrowheads="1"/>
            </p:cNvSpPr>
            <p:nvPr/>
          </p:nvSpPr>
          <p:spPr bwMode="auto">
            <a:xfrm>
              <a:off x="1904" y="309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516" name="Text Box 22"/>
            <p:cNvSpPr txBox="1">
              <a:spLocks noChangeArrowheads="1"/>
            </p:cNvSpPr>
            <p:nvPr/>
          </p:nvSpPr>
          <p:spPr bwMode="auto">
            <a:xfrm>
              <a:off x="1904" y="3090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333107" y="3119438"/>
            <a:ext cx="7245350" cy="603250"/>
            <a:chOff x="1082" y="2494"/>
            <a:chExt cx="4564" cy="380"/>
          </a:xfrm>
        </p:grpSpPr>
        <p:sp>
          <p:nvSpPr>
            <p:cNvPr id="20499" name="Rectangle 24"/>
            <p:cNvSpPr>
              <a:spLocks noChangeArrowheads="1"/>
            </p:cNvSpPr>
            <p:nvPr/>
          </p:nvSpPr>
          <p:spPr bwMode="auto">
            <a:xfrm>
              <a:off x="3534" y="2498"/>
              <a:ext cx="62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member</a:t>
              </a:r>
              <a:endParaRPr lang="en-US" altLang="en-US" sz="1600"/>
            </a:p>
          </p:txBody>
        </p:sp>
        <p:sp>
          <p:nvSpPr>
            <p:cNvPr id="20500" name="Rectangle 25"/>
            <p:cNvSpPr>
              <a:spLocks noChangeArrowheads="1"/>
            </p:cNvSpPr>
            <p:nvPr/>
          </p:nvSpPr>
          <p:spPr bwMode="auto">
            <a:xfrm>
              <a:off x="2526" y="2498"/>
              <a:ext cx="62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dirty="0"/>
                <a:t>least member</a:t>
              </a:r>
              <a:endParaRPr lang="en-US" altLang="en-US" sz="1600" dirty="0"/>
            </a:p>
          </p:txBody>
        </p:sp>
        <p:sp>
          <p:nvSpPr>
            <p:cNvPr id="20501" name="Rectangle 26"/>
            <p:cNvSpPr>
              <a:spLocks noChangeArrowheads="1"/>
            </p:cNvSpPr>
            <p:nvPr/>
          </p:nvSpPr>
          <p:spPr bwMode="auto">
            <a:xfrm>
              <a:off x="5022" y="2498"/>
              <a:ext cx="62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greatest member</a:t>
              </a:r>
              <a:endParaRPr lang="en-US" altLang="en-US" sz="1600"/>
            </a:p>
          </p:txBody>
        </p:sp>
        <p:sp>
          <p:nvSpPr>
            <p:cNvPr id="20502" name="Rectangle 27"/>
            <p:cNvSpPr>
              <a:spLocks noChangeArrowheads="1"/>
            </p:cNvSpPr>
            <p:nvPr/>
          </p:nvSpPr>
          <p:spPr bwMode="auto">
            <a:xfrm>
              <a:off x="1082" y="2600"/>
              <a:ext cx="71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Invariant:</a:t>
              </a:r>
              <a:endParaRPr lang="en-US" altLang="en-US" sz="1800"/>
            </a:p>
          </p:txBody>
        </p:sp>
        <p:sp>
          <p:nvSpPr>
            <p:cNvPr id="20503" name="Rectangle 28"/>
            <p:cNvSpPr>
              <a:spLocks noChangeArrowheads="1"/>
            </p:cNvSpPr>
            <p:nvPr/>
          </p:nvSpPr>
          <p:spPr bwMode="auto">
            <a:xfrm>
              <a:off x="1902" y="249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504" name="Line 32"/>
            <p:cNvSpPr>
              <a:spLocks noChangeShapeType="1"/>
            </p:cNvSpPr>
            <p:nvPr/>
          </p:nvSpPr>
          <p:spPr bwMode="auto">
            <a:xfrm>
              <a:off x="5550" y="259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5" name="Line 34"/>
            <p:cNvSpPr>
              <a:spLocks noChangeShapeType="1"/>
            </p:cNvSpPr>
            <p:nvPr/>
          </p:nvSpPr>
          <p:spPr bwMode="auto">
            <a:xfrm>
              <a:off x="4446" y="258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6" name="Rectangle 35"/>
            <p:cNvSpPr>
              <a:spLocks noChangeArrowheads="1"/>
            </p:cNvSpPr>
            <p:nvPr/>
          </p:nvSpPr>
          <p:spPr bwMode="auto">
            <a:xfrm>
              <a:off x="1904" y="268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507" name="Text Box 36"/>
            <p:cNvSpPr txBox="1">
              <a:spLocks noChangeArrowheads="1"/>
            </p:cNvSpPr>
            <p:nvPr/>
          </p:nvSpPr>
          <p:spPr bwMode="auto">
            <a:xfrm>
              <a:off x="1904" y="2682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 i="1"/>
                <a:t>n</a:t>
              </a:r>
            </a:p>
          </p:txBody>
        </p:sp>
        <p:sp>
          <p:nvSpPr>
            <p:cNvPr id="20508" name="Line 40"/>
            <p:cNvSpPr>
              <a:spLocks noChangeShapeType="1"/>
            </p:cNvSpPr>
            <p:nvPr/>
          </p:nvSpPr>
          <p:spPr bwMode="auto">
            <a:xfrm>
              <a:off x="1995" y="2580"/>
              <a:ext cx="5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9" name="Line 41"/>
            <p:cNvSpPr>
              <a:spLocks noChangeShapeType="1"/>
            </p:cNvSpPr>
            <p:nvPr/>
          </p:nvSpPr>
          <p:spPr bwMode="auto">
            <a:xfrm>
              <a:off x="3084" y="2580"/>
              <a:ext cx="4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0" name="Line 42"/>
            <p:cNvSpPr>
              <a:spLocks noChangeShapeType="1"/>
            </p:cNvSpPr>
            <p:nvPr/>
          </p:nvSpPr>
          <p:spPr bwMode="auto">
            <a:xfrm>
              <a:off x="4105" y="2580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1" name="Line 43"/>
            <p:cNvSpPr>
              <a:spLocks noChangeShapeType="1"/>
            </p:cNvSpPr>
            <p:nvPr/>
          </p:nvSpPr>
          <p:spPr bwMode="auto">
            <a:xfrm>
              <a:off x="4694" y="2580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320406" y="5297941"/>
            <a:ext cx="7102475" cy="782638"/>
            <a:chOff x="1082" y="3481"/>
            <a:chExt cx="4474" cy="493"/>
          </a:xfrm>
        </p:grpSpPr>
        <p:sp>
          <p:nvSpPr>
            <p:cNvPr id="20487" name="AutoShape 4"/>
            <p:cNvSpPr>
              <a:spLocks/>
            </p:cNvSpPr>
            <p:nvPr/>
          </p:nvSpPr>
          <p:spPr bwMode="auto">
            <a:xfrm>
              <a:off x="3923" y="3816"/>
              <a:ext cx="1633" cy="158"/>
            </a:xfrm>
            <a:prstGeom prst="callout1">
              <a:avLst>
                <a:gd name="adj1" fmla="val 45569"/>
                <a:gd name="adj2" fmla="val -2940"/>
                <a:gd name="adj3" fmla="val -3796"/>
                <a:gd name="adj4" fmla="val -21065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represents {CA, US, MX}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20488" name="Rectangle 6"/>
            <p:cNvSpPr>
              <a:spLocks noChangeArrowheads="1"/>
            </p:cNvSpPr>
            <p:nvPr/>
          </p:nvSpPr>
          <p:spPr bwMode="auto">
            <a:xfrm>
              <a:off x="1082" y="3555"/>
              <a:ext cx="73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Illustration:</a:t>
              </a:r>
              <a:endParaRPr lang="en-US" altLang="en-US" sz="1800"/>
            </a:p>
          </p:txBody>
        </p:sp>
        <p:sp>
          <p:nvSpPr>
            <p:cNvPr id="20489" name="Rectangle 7"/>
            <p:cNvSpPr>
              <a:spLocks noChangeArrowheads="1"/>
            </p:cNvSpPr>
            <p:nvPr/>
          </p:nvSpPr>
          <p:spPr bwMode="auto">
            <a:xfrm>
              <a:off x="1902" y="348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490" name="Text Box 8"/>
            <p:cNvSpPr txBox="1">
              <a:spLocks noChangeArrowheads="1"/>
            </p:cNvSpPr>
            <p:nvPr/>
          </p:nvSpPr>
          <p:spPr bwMode="auto">
            <a:xfrm>
              <a:off x="2526" y="348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</a:t>
              </a:r>
            </a:p>
          </p:txBody>
        </p:sp>
        <p:sp>
          <p:nvSpPr>
            <p:cNvPr id="20491" name="Text Box 9"/>
            <p:cNvSpPr txBox="1">
              <a:spLocks noChangeArrowheads="1"/>
            </p:cNvSpPr>
            <p:nvPr/>
          </p:nvSpPr>
          <p:spPr bwMode="auto">
            <a:xfrm>
              <a:off x="3390" y="348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MX</a:t>
              </a:r>
            </a:p>
          </p:txBody>
        </p:sp>
        <p:sp>
          <p:nvSpPr>
            <p:cNvPr id="20492" name="Text Box 13"/>
            <p:cNvSpPr txBox="1">
              <a:spLocks noChangeArrowheads="1"/>
            </p:cNvSpPr>
            <p:nvPr/>
          </p:nvSpPr>
          <p:spPr bwMode="auto">
            <a:xfrm>
              <a:off x="4254" y="348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US</a:t>
              </a:r>
            </a:p>
          </p:txBody>
        </p:sp>
        <p:sp>
          <p:nvSpPr>
            <p:cNvPr id="20493" name="Line 14"/>
            <p:cNvSpPr>
              <a:spLocks noChangeShapeType="1"/>
            </p:cNvSpPr>
            <p:nvPr/>
          </p:nvSpPr>
          <p:spPr bwMode="auto">
            <a:xfrm>
              <a:off x="4734" y="35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4" name="Rectangle 15"/>
            <p:cNvSpPr>
              <a:spLocks noChangeArrowheads="1"/>
            </p:cNvSpPr>
            <p:nvPr/>
          </p:nvSpPr>
          <p:spPr bwMode="auto">
            <a:xfrm>
              <a:off x="1904" y="366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495" name="Text Box 16"/>
            <p:cNvSpPr txBox="1">
              <a:spLocks noChangeArrowheads="1"/>
            </p:cNvSpPr>
            <p:nvPr/>
          </p:nvSpPr>
          <p:spPr bwMode="auto">
            <a:xfrm>
              <a:off x="1904" y="3669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3</a:t>
              </a:r>
            </a:p>
          </p:txBody>
        </p:sp>
        <p:sp>
          <p:nvSpPr>
            <p:cNvPr id="20496" name="Line 44"/>
            <p:cNvSpPr>
              <a:spLocks noChangeShapeType="1"/>
            </p:cNvSpPr>
            <p:nvPr/>
          </p:nvSpPr>
          <p:spPr bwMode="auto">
            <a:xfrm>
              <a:off x="3039" y="3566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7" name="Line 45"/>
            <p:cNvSpPr>
              <a:spLocks noChangeShapeType="1"/>
            </p:cNvSpPr>
            <p:nvPr/>
          </p:nvSpPr>
          <p:spPr bwMode="auto">
            <a:xfrm>
              <a:off x="3901" y="3566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8" name="Line 46"/>
            <p:cNvSpPr>
              <a:spLocks noChangeShapeType="1"/>
            </p:cNvSpPr>
            <p:nvPr/>
          </p:nvSpPr>
          <p:spPr bwMode="auto">
            <a:xfrm>
              <a:off x="1995" y="3566"/>
              <a:ext cx="5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5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153400" cy="71913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sets using SLLs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7200900" cy="4645025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Summary of algorithms and time complexities:</a:t>
            </a:r>
          </a:p>
        </p:txBody>
      </p:sp>
      <p:graphicFrame>
        <p:nvGraphicFramePr>
          <p:cNvPr id="396412" name="Group 12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47752041"/>
              </p:ext>
            </p:extLst>
          </p:nvPr>
        </p:nvGraphicFramePr>
        <p:xfrm>
          <a:off x="457200" y="1981200"/>
          <a:ext cx="7559675" cy="3606801"/>
        </p:xfrm>
        <a:graphic>
          <a:graphicData uri="http://schemas.openxmlformats.org/drawingml/2006/table">
            <a:tbl>
              <a:tblPr/>
              <a:tblGrid>
                <a:gridCol w="187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Algorithm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complexity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SLL linear search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SLL linear search + insertion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SLL linear search + deletion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comparison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containsAll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variant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of pairwise comparison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addAll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SLL merge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removeAll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variant of SLL merge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retainAll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variant of SLL merge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96413" name="AutoShape 125"/>
          <p:cNvSpPr>
            <a:spLocks/>
          </p:cNvSpPr>
          <p:nvPr/>
        </p:nvSpPr>
        <p:spPr bwMode="auto">
          <a:xfrm>
            <a:off x="2286000" y="6094413"/>
            <a:ext cx="4114800" cy="527051"/>
          </a:xfrm>
          <a:prstGeom prst="callout1">
            <a:avLst>
              <a:gd name="adj1" fmla="val 39778"/>
              <a:gd name="adj2" fmla="val 101810"/>
              <a:gd name="adj3" fmla="val -49810"/>
              <a:gd name="adj4" fmla="val 106773"/>
            </a:avLst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Where n is size of first set and </a:t>
            </a:r>
            <a:r>
              <a:rPr lang="en-US" altLang="en-US" sz="1800" i="1" dirty="0">
                <a:solidFill>
                  <a:schemeClr val="accent1">
                    <a:lumMod val="75000"/>
                  </a:schemeClr>
                </a:solidFill>
              </a:rPr>
              <a:t>n'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is the size of the other set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68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4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Implementation of small-integer sets using boolean </a:t>
            </a:r>
            <a:r>
              <a:rPr lang="en-US" altLang="en-US" sz="2400"/>
              <a:t>arrays</a:t>
            </a:r>
            <a:r>
              <a:rPr lang="en-US" altLang="en-US" sz="2000"/>
              <a:t> </a:t>
            </a:r>
            <a:r>
              <a:rPr lang="en-US" altLang="en-US" sz="2000" i="1"/>
              <a:t>(1)</a:t>
            </a:r>
            <a:endParaRPr lang="en-GB" altLang="en-US" sz="2000" i="1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66713" y="1316038"/>
            <a:ext cx="7620000" cy="48006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2000" dirty="0">
                <a:cs typeface="Times New Roman" pitchFamily="18" charset="0"/>
              </a:rPr>
              <a:t>If the members are known to be </a:t>
            </a:r>
            <a:r>
              <a:rPr lang="en-US" altLang="en-US" sz="2000" b="1" dirty="0">
                <a:cs typeface="Times New Roman" pitchFamily="18" charset="0"/>
              </a:rPr>
              <a:t>small</a:t>
            </a:r>
            <a:r>
              <a:rPr lang="en-US" altLang="en-US" sz="2000" dirty="0">
                <a:cs typeface="Times New Roman" pitchFamily="18" charset="0"/>
              </a:rPr>
              <a:t> </a:t>
            </a:r>
            <a:r>
              <a:rPr lang="en-US" altLang="en-US" sz="2000" b="1" dirty="0">
                <a:cs typeface="Times New Roman" pitchFamily="18" charset="0"/>
              </a:rPr>
              <a:t>integers</a:t>
            </a:r>
            <a:r>
              <a:rPr lang="en-US" altLang="en-US" sz="2000" dirty="0">
                <a:cs typeface="Times New Roman" pitchFamily="18" charset="0"/>
              </a:rPr>
              <a:t>, in the range 0…</a:t>
            </a:r>
            <a:r>
              <a:rPr lang="en-US" altLang="en-US" sz="2000" i="1" dirty="0">
                <a:cs typeface="Times New Roman" pitchFamily="18" charset="0"/>
              </a:rPr>
              <a:t>m</a:t>
            </a:r>
            <a:r>
              <a:rPr lang="en-US" altLang="en-US" sz="2000" dirty="0">
                <a:cs typeface="Times New Roman" pitchFamily="18" charset="0"/>
              </a:rPr>
              <a:t>–1, represent the set by: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dirty="0" err="1">
                <a:cs typeface="Times New Roman" pitchFamily="18" charset="0"/>
              </a:rPr>
              <a:t>boolean</a:t>
            </a:r>
            <a:r>
              <a:rPr lang="en-US" altLang="en-US" dirty="0">
                <a:cs typeface="Times New Roman" pitchFamily="18" charset="0"/>
              </a:rPr>
              <a:t> array </a:t>
            </a:r>
            <a:r>
              <a:rPr lang="en-US" altLang="en-US" i="1" dirty="0">
                <a:cs typeface="Times New Roman" pitchFamily="18" charset="0"/>
              </a:rPr>
              <a:t>b</a:t>
            </a:r>
            <a:r>
              <a:rPr lang="en-US" altLang="en-US" dirty="0">
                <a:cs typeface="Times New Roman" pitchFamily="18" charset="0"/>
              </a:rPr>
              <a:t> of length </a:t>
            </a:r>
            <a:r>
              <a:rPr lang="en-US" altLang="en-US" i="1" dirty="0">
                <a:cs typeface="Times New Roman" pitchFamily="18" charset="0"/>
              </a:rPr>
              <a:t>m</a:t>
            </a:r>
            <a:r>
              <a:rPr lang="en-US" altLang="en-US" dirty="0">
                <a:cs typeface="Times New Roman" pitchFamily="18" charset="0"/>
              </a:rPr>
              <a:t>, such that </a:t>
            </a:r>
            <a:r>
              <a:rPr lang="en-US" altLang="en-US" i="1" dirty="0">
                <a:cs typeface="Times New Roman" pitchFamily="18" charset="0"/>
              </a:rPr>
              <a:t>b</a:t>
            </a:r>
            <a:r>
              <a:rPr lang="en-US" altLang="en-US" dirty="0">
                <a:cs typeface="Times New Roman" pitchFamily="18" charset="0"/>
              </a:rPr>
              <a:t>[</a:t>
            </a:r>
            <a:r>
              <a:rPr lang="en-US" altLang="en-US" i="1" dirty="0" err="1">
                <a:cs typeface="Times New Roman" pitchFamily="18" charset="0"/>
              </a:rPr>
              <a:t>i</a:t>
            </a:r>
            <a:r>
              <a:rPr lang="en-US" altLang="en-US" dirty="0">
                <a:cs typeface="Times New Roman" pitchFamily="18" charset="0"/>
              </a:rPr>
              <a:t>] is true if and only if </a:t>
            </a:r>
            <a:r>
              <a:rPr lang="en-US" altLang="en-US" i="1" dirty="0" err="1">
                <a:cs typeface="Times New Roman" pitchFamily="18" charset="0"/>
              </a:rPr>
              <a:t>i</a:t>
            </a:r>
            <a:r>
              <a:rPr lang="en-US" altLang="en-US" dirty="0">
                <a:cs typeface="Times New Roman" pitchFamily="18" charset="0"/>
              </a:rPr>
              <a:t> is a member of the set.</a:t>
            </a:r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371476" y="3012972"/>
            <a:ext cx="5121275" cy="628650"/>
            <a:chOff x="833" y="2160"/>
            <a:chExt cx="3226" cy="396"/>
          </a:xfrm>
        </p:grpSpPr>
        <p:sp>
          <p:nvSpPr>
            <p:cNvPr id="22564" name="Rectangle 5"/>
            <p:cNvSpPr>
              <a:spLocks noChangeArrowheads="1"/>
            </p:cNvSpPr>
            <p:nvPr/>
          </p:nvSpPr>
          <p:spPr bwMode="auto">
            <a:xfrm>
              <a:off x="1649" y="2160"/>
              <a:ext cx="490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22565" name="Rectangle 6"/>
            <p:cNvSpPr>
              <a:spLocks noChangeArrowheads="1"/>
            </p:cNvSpPr>
            <p:nvPr/>
          </p:nvSpPr>
          <p:spPr bwMode="auto">
            <a:xfrm>
              <a:off x="2129" y="2160"/>
              <a:ext cx="490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22566" name="Rectangle 7"/>
            <p:cNvSpPr>
              <a:spLocks noChangeArrowheads="1"/>
            </p:cNvSpPr>
            <p:nvPr/>
          </p:nvSpPr>
          <p:spPr bwMode="auto">
            <a:xfrm>
              <a:off x="3569" y="2160"/>
              <a:ext cx="49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m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22567" name="Rectangle 8"/>
            <p:cNvSpPr>
              <a:spLocks noChangeArrowheads="1"/>
            </p:cNvSpPr>
            <p:nvPr/>
          </p:nvSpPr>
          <p:spPr bwMode="auto">
            <a:xfrm>
              <a:off x="833" y="2317"/>
              <a:ext cx="8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Invariant:</a:t>
              </a:r>
              <a:endParaRPr lang="en-US" altLang="en-US" sz="1800"/>
            </a:p>
          </p:txBody>
        </p:sp>
        <p:sp>
          <p:nvSpPr>
            <p:cNvPr id="22568" name="Rectangle 9"/>
            <p:cNvSpPr>
              <a:spLocks noChangeArrowheads="1"/>
            </p:cNvSpPr>
            <p:nvPr/>
          </p:nvSpPr>
          <p:spPr bwMode="auto">
            <a:xfrm>
              <a:off x="2129" y="2310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boolean</a:t>
              </a:r>
            </a:p>
          </p:txBody>
        </p:sp>
        <p:sp>
          <p:nvSpPr>
            <p:cNvPr id="22569" name="Rectangle 10"/>
            <p:cNvSpPr>
              <a:spLocks noChangeArrowheads="1"/>
            </p:cNvSpPr>
            <p:nvPr/>
          </p:nvSpPr>
          <p:spPr bwMode="auto">
            <a:xfrm>
              <a:off x="1649" y="2310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boolean</a:t>
              </a:r>
            </a:p>
          </p:txBody>
        </p:sp>
        <p:sp>
          <p:nvSpPr>
            <p:cNvPr id="22570" name="Rectangle 11"/>
            <p:cNvSpPr>
              <a:spLocks noChangeArrowheads="1"/>
            </p:cNvSpPr>
            <p:nvPr/>
          </p:nvSpPr>
          <p:spPr bwMode="auto">
            <a:xfrm>
              <a:off x="3569" y="2310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boolean</a:t>
              </a:r>
            </a:p>
          </p:txBody>
        </p:sp>
        <p:sp>
          <p:nvSpPr>
            <p:cNvPr id="22571" name="Rectangle 12"/>
            <p:cNvSpPr>
              <a:spLocks noChangeArrowheads="1"/>
            </p:cNvSpPr>
            <p:nvPr/>
          </p:nvSpPr>
          <p:spPr bwMode="auto">
            <a:xfrm>
              <a:off x="3089" y="2310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600" i="1"/>
            </a:p>
          </p:txBody>
        </p:sp>
        <p:sp>
          <p:nvSpPr>
            <p:cNvPr id="22572" name="Freeform 13"/>
            <p:cNvSpPr>
              <a:spLocks/>
            </p:cNvSpPr>
            <p:nvPr/>
          </p:nvSpPr>
          <p:spPr bwMode="auto">
            <a:xfrm>
              <a:off x="3220" y="2220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3" name="Rectangle 14"/>
            <p:cNvSpPr>
              <a:spLocks noChangeArrowheads="1"/>
            </p:cNvSpPr>
            <p:nvPr/>
          </p:nvSpPr>
          <p:spPr bwMode="auto">
            <a:xfrm>
              <a:off x="2609" y="2160"/>
              <a:ext cx="490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22574" name="Rectangle 15"/>
            <p:cNvSpPr>
              <a:spLocks noChangeArrowheads="1"/>
            </p:cNvSpPr>
            <p:nvPr/>
          </p:nvSpPr>
          <p:spPr bwMode="auto">
            <a:xfrm>
              <a:off x="2609" y="2310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boolean</a:t>
              </a:r>
            </a:p>
          </p:txBody>
        </p:sp>
      </p:grp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245034" y="4995068"/>
            <a:ext cx="7497762" cy="1011238"/>
            <a:chOff x="833" y="3216"/>
            <a:chExt cx="4723" cy="637"/>
          </a:xfrm>
        </p:grpSpPr>
        <p:sp>
          <p:nvSpPr>
            <p:cNvPr id="22546" name="Rectangle 29"/>
            <p:cNvSpPr>
              <a:spLocks noChangeArrowheads="1"/>
            </p:cNvSpPr>
            <p:nvPr/>
          </p:nvSpPr>
          <p:spPr bwMode="auto">
            <a:xfrm>
              <a:off x="833" y="3228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Illustration</a:t>
              </a:r>
              <a:br>
                <a:rPr lang="en-US" altLang="en-US" sz="1800">
                  <a:solidFill>
                    <a:srgbClr val="000000"/>
                  </a:solidFill>
                </a:rPr>
              </a:br>
              <a:r>
                <a:rPr lang="en-US" altLang="en-US" sz="1800">
                  <a:solidFill>
                    <a:srgbClr val="000000"/>
                  </a:solidFill>
                </a:rPr>
                <a:t>(</a:t>
              </a:r>
              <a:r>
                <a:rPr lang="en-US" altLang="en-US" sz="1800" i="1">
                  <a:solidFill>
                    <a:srgbClr val="000000"/>
                  </a:solidFill>
                </a:rPr>
                <a:t>m</a:t>
              </a:r>
              <a:r>
                <a:rPr lang="en-US" altLang="en-US" sz="1800">
                  <a:solidFill>
                    <a:srgbClr val="000000"/>
                  </a:solidFill>
                </a:rPr>
                <a:t> = 8):</a:t>
              </a:r>
              <a:endParaRPr lang="en-US" altLang="en-US" sz="1800"/>
            </a:p>
          </p:txBody>
        </p:sp>
        <p:sp>
          <p:nvSpPr>
            <p:cNvPr id="22547" name="Rectangle 30"/>
            <p:cNvSpPr>
              <a:spLocks noChangeArrowheads="1"/>
            </p:cNvSpPr>
            <p:nvPr/>
          </p:nvSpPr>
          <p:spPr bwMode="auto">
            <a:xfrm>
              <a:off x="2129" y="336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/>
                <a:t>false</a:t>
              </a:r>
            </a:p>
          </p:txBody>
        </p:sp>
        <p:sp>
          <p:nvSpPr>
            <p:cNvPr id="22548" name="Rectangle 31"/>
            <p:cNvSpPr>
              <a:spLocks noChangeArrowheads="1"/>
            </p:cNvSpPr>
            <p:nvPr/>
          </p:nvSpPr>
          <p:spPr bwMode="auto">
            <a:xfrm>
              <a:off x="2609" y="336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true</a:t>
              </a:r>
            </a:p>
          </p:txBody>
        </p:sp>
        <p:sp>
          <p:nvSpPr>
            <p:cNvPr id="22549" name="Rectangle 32"/>
            <p:cNvSpPr>
              <a:spLocks noChangeArrowheads="1"/>
            </p:cNvSpPr>
            <p:nvPr/>
          </p:nvSpPr>
          <p:spPr bwMode="auto">
            <a:xfrm>
              <a:off x="3089" y="336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true</a:t>
              </a:r>
            </a:p>
          </p:txBody>
        </p:sp>
        <p:sp>
          <p:nvSpPr>
            <p:cNvPr id="22550" name="Rectangle 33"/>
            <p:cNvSpPr>
              <a:spLocks noChangeArrowheads="1"/>
            </p:cNvSpPr>
            <p:nvPr/>
          </p:nvSpPr>
          <p:spPr bwMode="auto">
            <a:xfrm>
              <a:off x="3569" y="336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false</a:t>
              </a:r>
              <a:endParaRPr lang="en-GB" altLang="en-US" sz="1800"/>
            </a:p>
          </p:txBody>
        </p:sp>
        <p:sp>
          <p:nvSpPr>
            <p:cNvPr id="22551" name="Rectangle 34"/>
            <p:cNvSpPr>
              <a:spLocks noChangeArrowheads="1"/>
            </p:cNvSpPr>
            <p:nvPr/>
          </p:nvSpPr>
          <p:spPr bwMode="auto">
            <a:xfrm>
              <a:off x="1649" y="336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false</a:t>
              </a:r>
            </a:p>
          </p:txBody>
        </p:sp>
        <p:sp>
          <p:nvSpPr>
            <p:cNvPr id="22552" name="Rectangle 35"/>
            <p:cNvSpPr>
              <a:spLocks noChangeArrowheads="1"/>
            </p:cNvSpPr>
            <p:nvPr/>
          </p:nvSpPr>
          <p:spPr bwMode="auto">
            <a:xfrm>
              <a:off x="1649" y="3216"/>
              <a:ext cx="502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22553" name="Rectangle 36"/>
            <p:cNvSpPr>
              <a:spLocks noChangeArrowheads="1"/>
            </p:cNvSpPr>
            <p:nvPr/>
          </p:nvSpPr>
          <p:spPr bwMode="auto">
            <a:xfrm>
              <a:off x="2129" y="3216"/>
              <a:ext cx="502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22554" name="Rectangle 37"/>
            <p:cNvSpPr>
              <a:spLocks noChangeArrowheads="1"/>
            </p:cNvSpPr>
            <p:nvPr/>
          </p:nvSpPr>
          <p:spPr bwMode="auto">
            <a:xfrm>
              <a:off x="2609" y="3216"/>
              <a:ext cx="502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22555" name="Rectangle 38"/>
            <p:cNvSpPr>
              <a:spLocks noChangeArrowheads="1"/>
            </p:cNvSpPr>
            <p:nvPr/>
          </p:nvSpPr>
          <p:spPr bwMode="auto">
            <a:xfrm>
              <a:off x="3569" y="3222"/>
              <a:ext cx="502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22556" name="Rectangle 39"/>
            <p:cNvSpPr>
              <a:spLocks noChangeArrowheads="1"/>
            </p:cNvSpPr>
            <p:nvPr/>
          </p:nvSpPr>
          <p:spPr bwMode="auto">
            <a:xfrm>
              <a:off x="4049" y="336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true</a:t>
              </a:r>
              <a:endParaRPr lang="en-GB" altLang="en-US" sz="1800"/>
            </a:p>
          </p:txBody>
        </p:sp>
        <p:sp>
          <p:nvSpPr>
            <p:cNvPr id="22557" name="Rectangle 40"/>
            <p:cNvSpPr>
              <a:spLocks noChangeArrowheads="1"/>
            </p:cNvSpPr>
            <p:nvPr/>
          </p:nvSpPr>
          <p:spPr bwMode="auto">
            <a:xfrm>
              <a:off x="4049" y="3216"/>
              <a:ext cx="502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22558" name="Rectangle 41"/>
            <p:cNvSpPr>
              <a:spLocks noChangeArrowheads="1"/>
            </p:cNvSpPr>
            <p:nvPr/>
          </p:nvSpPr>
          <p:spPr bwMode="auto">
            <a:xfrm>
              <a:off x="3089" y="3222"/>
              <a:ext cx="502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3</a:t>
              </a:r>
            </a:p>
          </p:txBody>
        </p:sp>
        <p:sp>
          <p:nvSpPr>
            <p:cNvPr id="22559" name="Rectangle 42"/>
            <p:cNvSpPr>
              <a:spLocks noChangeArrowheads="1"/>
            </p:cNvSpPr>
            <p:nvPr/>
          </p:nvSpPr>
          <p:spPr bwMode="auto">
            <a:xfrm>
              <a:off x="4529" y="336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false</a:t>
              </a:r>
              <a:endParaRPr lang="en-GB" altLang="en-US" sz="1800"/>
            </a:p>
          </p:txBody>
        </p:sp>
        <p:sp>
          <p:nvSpPr>
            <p:cNvPr id="22560" name="Rectangle 43"/>
            <p:cNvSpPr>
              <a:spLocks noChangeArrowheads="1"/>
            </p:cNvSpPr>
            <p:nvPr/>
          </p:nvSpPr>
          <p:spPr bwMode="auto">
            <a:xfrm>
              <a:off x="4529" y="3222"/>
              <a:ext cx="502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6</a:t>
              </a:r>
            </a:p>
          </p:txBody>
        </p:sp>
        <p:sp>
          <p:nvSpPr>
            <p:cNvPr id="22561" name="Rectangle 44"/>
            <p:cNvSpPr>
              <a:spLocks noChangeArrowheads="1"/>
            </p:cNvSpPr>
            <p:nvPr/>
          </p:nvSpPr>
          <p:spPr bwMode="auto">
            <a:xfrm>
              <a:off x="5009" y="336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true</a:t>
              </a:r>
              <a:endParaRPr lang="en-GB" altLang="en-US" sz="1800"/>
            </a:p>
          </p:txBody>
        </p:sp>
        <p:sp>
          <p:nvSpPr>
            <p:cNvPr id="22562" name="Rectangle 45"/>
            <p:cNvSpPr>
              <a:spLocks noChangeArrowheads="1"/>
            </p:cNvSpPr>
            <p:nvPr/>
          </p:nvSpPr>
          <p:spPr bwMode="auto">
            <a:xfrm>
              <a:off x="5009" y="3216"/>
              <a:ext cx="502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7</a:t>
              </a:r>
            </a:p>
          </p:txBody>
        </p:sp>
        <p:sp>
          <p:nvSpPr>
            <p:cNvPr id="22563" name="AutoShape 46"/>
            <p:cNvSpPr>
              <a:spLocks/>
            </p:cNvSpPr>
            <p:nvPr/>
          </p:nvSpPr>
          <p:spPr bwMode="auto">
            <a:xfrm>
              <a:off x="4140" y="3680"/>
              <a:ext cx="1416" cy="173"/>
            </a:xfrm>
            <a:prstGeom prst="callout1">
              <a:avLst>
                <a:gd name="adj1" fmla="val 41620"/>
                <a:gd name="adj2" fmla="val -3389"/>
                <a:gd name="adj3" fmla="val -16764"/>
                <a:gd name="adj4" fmla="val -18361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represents {2, 3, 5, 7}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342345" y="3898900"/>
            <a:ext cx="5105400" cy="609600"/>
            <a:chOff x="833" y="2700"/>
            <a:chExt cx="3216" cy="384"/>
          </a:xfrm>
        </p:grpSpPr>
        <p:sp>
          <p:nvSpPr>
            <p:cNvPr id="22535" name="Rectangle 17"/>
            <p:cNvSpPr>
              <a:spLocks noChangeArrowheads="1"/>
            </p:cNvSpPr>
            <p:nvPr/>
          </p:nvSpPr>
          <p:spPr bwMode="auto">
            <a:xfrm>
              <a:off x="833" y="2820"/>
              <a:ext cx="8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Empty set:</a:t>
              </a:r>
              <a:endParaRPr lang="en-US" altLang="en-US" sz="1800"/>
            </a:p>
          </p:txBody>
        </p:sp>
        <p:sp>
          <p:nvSpPr>
            <p:cNvPr id="22536" name="Rectangle 21"/>
            <p:cNvSpPr>
              <a:spLocks noChangeArrowheads="1"/>
            </p:cNvSpPr>
            <p:nvPr/>
          </p:nvSpPr>
          <p:spPr bwMode="auto">
            <a:xfrm>
              <a:off x="2129" y="2838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false</a:t>
              </a:r>
            </a:p>
          </p:txBody>
        </p:sp>
        <p:sp>
          <p:nvSpPr>
            <p:cNvPr id="22537" name="Rectangle 22"/>
            <p:cNvSpPr>
              <a:spLocks noChangeArrowheads="1"/>
            </p:cNvSpPr>
            <p:nvPr/>
          </p:nvSpPr>
          <p:spPr bwMode="auto">
            <a:xfrm>
              <a:off x="1649" y="2838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false</a:t>
              </a:r>
            </a:p>
          </p:txBody>
        </p:sp>
        <p:sp>
          <p:nvSpPr>
            <p:cNvPr id="22538" name="Rectangle 23"/>
            <p:cNvSpPr>
              <a:spLocks noChangeArrowheads="1"/>
            </p:cNvSpPr>
            <p:nvPr/>
          </p:nvSpPr>
          <p:spPr bwMode="auto">
            <a:xfrm>
              <a:off x="3569" y="2838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false</a:t>
              </a:r>
            </a:p>
          </p:txBody>
        </p:sp>
        <p:sp>
          <p:nvSpPr>
            <p:cNvPr id="22539" name="Rectangle 24"/>
            <p:cNvSpPr>
              <a:spLocks noChangeArrowheads="1"/>
            </p:cNvSpPr>
            <p:nvPr/>
          </p:nvSpPr>
          <p:spPr bwMode="auto">
            <a:xfrm>
              <a:off x="3089" y="2838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/>
            </a:p>
          </p:txBody>
        </p:sp>
        <p:sp>
          <p:nvSpPr>
            <p:cNvPr id="22540" name="Freeform 25"/>
            <p:cNvSpPr>
              <a:spLocks/>
            </p:cNvSpPr>
            <p:nvPr/>
          </p:nvSpPr>
          <p:spPr bwMode="auto">
            <a:xfrm>
              <a:off x="3220" y="2748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1" name="Rectangle 27"/>
            <p:cNvSpPr>
              <a:spLocks noChangeArrowheads="1"/>
            </p:cNvSpPr>
            <p:nvPr/>
          </p:nvSpPr>
          <p:spPr bwMode="auto">
            <a:xfrm>
              <a:off x="2609" y="2838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false</a:t>
              </a:r>
            </a:p>
          </p:txBody>
        </p:sp>
        <p:sp>
          <p:nvSpPr>
            <p:cNvPr id="22542" name="Rectangle 47"/>
            <p:cNvSpPr>
              <a:spLocks noChangeArrowheads="1"/>
            </p:cNvSpPr>
            <p:nvPr/>
          </p:nvSpPr>
          <p:spPr bwMode="auto">
            <a:xfrm>
              <a:off x="1633" y="2700"/>
              <a:ext cx="490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22543" name="Rectangle 48"/>
            <p:cNvSpPr>
              <a:spLocks noChangeArrowheads="1"/>
            </p:cNvSpPr>
            <p:nvPr/>
          </p:nvSpPr>
          <p:spPr bwMode="auto">
            <a:xfrm>
              <a:off x="2113" y="2700"/>
              <a:ext cx="490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22544" name="Rectangle 49"/>
            <p:cNvSpPr>
              <a:spLocks noChangeArrowheads="1"/>
            </p:cNvSpPr>
            <p:nvPr/>
          </p:nvSpPr>
          <p:spPr bwMode="auto">
            <a:xfrm>
              <a:off x="3553" y="2700"/>
              <a:ext cx="49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m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22545" name="Rectangle 50"/>
            <p:cNvSpPr>
              <a:spLocks noChangeArrowheads="1"/>
            </p:cNvSpPr>
            <p:nvPr/>
          </p:nvSpPr>
          <p:spPr bwMode="auto">
            <a:xfrm>
              <a:off x="2593" y="2700"/>
              <a:ext cx="490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354" y="457200"/>
            <a:ext cx="8305800" cy="719137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200" dirty="0"/>
              <a:t>Implementation of small-integer sets using </a:t>
            </a:r>
            <a:r>
              <a:rPr lang="en-US" altLang="en-US" sz="3200" dirty="0" err="1"/>
              <a:t>boolean</a:t>
            </a:r>
            <a:r>
              <a:rPr lang="en-US" altLang="en-US" sz="3200" dirty="0"/>
              <a:t> arrays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7200900" cy="4645025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Summary of algorithms and time complexities:</a:t>
            </a:r>
          </a:p>
        </p:txBody>
      </p:sp>
      <p:graphicFrame>
        <p:nvGraphicFramePr>
          <p:cNvPr id="398472" name="Group 13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94513555"/>
              </p:ext>
            </p:extLst>
          </p:nvPr>
        </p:nvGraphicFramePr>
        <p:xfrm>
          <a:off x="381000" y="1828800"/>
          <a:ext cx="7777162" cy="3565818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Algorithm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complexity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test array element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array element to true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array element to false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equality test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containsAll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implication test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addAll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disjunction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removeAll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negation + conjunction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retainAll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conjunction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60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315200" cy="71913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Comparison of set implementations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graphicFrame>
        <p:nvGraphicFramePr>
          <p:cNvPr id="399520" name="Group 16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95192590"/>
              </p:ext>
            </p:extLst>
          </p:nvPr>
        </p:nvGraphicFramePr>
        <p:xfrm>
          <a:off x="304800" y="1219200"/>
          <a:ext cx="7524750" cy="3870636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9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Member array representation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SLL representation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Boolean array representation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containsAll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addAll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removeAll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retainAll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70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Comparison of set implementations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The </a:t>
            </a:r>
            <a:r>
              <a:rPr lang="en-US" altLang="en-US" b="1">
                <a:cs typeface="Times New Roman" pitchFamily="18" charset="0"/>
              </a:rPr>
              <a:t>member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 b="1">
                <a:cs typeface="Times New Roman" pitchFamily="18" charset="0"/>
              </a:rPr>
              <a:t>array</a:t>
            </a:r>
            <a:r>
              <a:rPr lang="en-US" altLang="en-US">
                <a:cs typeface="Times New Roman" pitchFamily="18" charset="0"/>
              </a:rPr>
              <a:t> representation is suitable only for small or infrequently-changing sets.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</a:t>
            </a:r>
            <a:r>
              <a:rPr lang="en-US" altLang="en-US" b="1">
                <a:cs typeface="Times New Roman" pitchFamily="18" charset="0"/>
              </a:rPr>
              <a:t>SLL</a:t>
            </a:r>
            <a:r>
              <a:rPr lang="en-US" altLang="en-US">
                <a:cs typeface="Times New Roman" pitchFamily="18" charset="0"/>
              </a:rPr>
              <a:t> representation is suitable only for small sets.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</a:t>
            </a:r>
            <a:r>
              <a:rPr lang="en-US" altLang="en-US" b="1">
                <a:cs typeface="Times New Roman" pitchFamily="18" charset="0"/>
              </a:rPr>
              <a:t>boolean array</a:t>
            </a:r>
            <a:r>
              <a:rPr lang="en-US" altLang="en-US">
                <a:cs typeface="Times New Roman" pitchFamily="18" charset="0"/>
              </a:rPr>
              <a:t> representation is suitable only for sets of small integers.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For general applications, we need a more efficient set representation: either a </a:t>
            </a:r>
            <a:r>
              <a:rPr lang="en-US" altLang="en-US" b="1">
                <a:cs typeface="Times New Roman" pitchFamily="18" charset="0"/>
              </a:rPr>
              <a:t>search-tree</a:t>
            </a:r>
            <a:r>
              <a:rPr lang="en-US" altLang="en-US">
                <a:cs typeface="Times New Roman" pitchFamily="18" charset="0"/>
              </a:rPr>
              <a:t> (§10) or a </a:t>
            </a:r>
            <a:r>
              <a:rPr lang="en-US" altLang="en-US" b="1">
                <a:cs typeface="Times New Roman" pitchFamily="18" charset="0"/>
              </a:rPr>
              <a:t>hash-table</a:t>
            </a:r>
            <a:r>
              <a:rPr lang="en-US" altLang="en-US">
                <a:cs typeface="Times New Roman" pitchFamily="18" charset="0"/>
              </a:rPr>
              <a:t> (§12).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57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Sets in the Java class library</a:t>
            </a:r>
            <a:endParaRPr lang="en-GB" altLang="en-US" sz="3200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The library interface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java.util.Set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 is similar to the above interface 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Set&lt;E&gt;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The library class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java.util.TreeSet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 implements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java.util.Set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, representing each set by a search-tree (§10).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The library class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java.util.HashSet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 implements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java.util.Set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, representing each set by a hash-table (§12).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The library class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java.util.BitSet</a:t>
            </a:r>
            <a:r>
              <a:rPr lang="en-US" altLang="en-US" dirty="0">
                <a:cs typeface="Times New Roman" pitchFamily="18" charset="0"/>
              </a:rPr>
              <a:t> represents a set of small integers by a packed </a:t>
            </a:r>
            <a:r>
              <a:rPr lang="en-US" altLang="en-US" dirty="0" err="1">
                <a:cs typeface="Times New Roman" pitchFamily="18" charset="0"/>
              </a:rPr>
              <a:t>boolean</a:t>
            </a:r>
            <a:r>
              <a:rPr lang="en-US" altLang="en-US" dirty="0">
                <a:cs typeface="Times New Roman" pitchFamily="18" charset="0"/>
              </a:rPr>
              <a:t> array. (But it does </a:t>
            </a:r>
            <a:r>
              <a:rPr lang="en-US" altLang="en-US" i="1" dirty="0">
                <a:cs typeface="Times New Roman" pitchFamily="18" charset="0"/>
              </a:rPr>
              <a:t>not</a:t>
            </a:r>
            <a:r>
              <a:rPr lang="en-US" altLang="en-US" dirty="0">
                <a:cs typeface="Times New Roman" pitchFamily="18" charset="0"/>
              </a:rPr>
              <a:t> implement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java.util.Set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.)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85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information retrieval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Consider a very simple information retrieval system.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query</a:t>
            </a:r>
            <a:r>
              <a:rPr lang="en-US" altLang="en-US">
                <a:cs typeface="Times New Roman" pitchFamily="18" charset="0"/>
              </a:rPr>
              <a:t> is viewed as a set of keywords.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Given a query, the system scores each document according to how many of the keywords it contains.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07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information retrieval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47800"/>
            <a:ext cx="7200900" cy="4645025"/>
          </a:xfrm>
          <a:noFill/>
        </p:spPr>
        <p:txBody>
          <a:bodyPr>
            <a:normAutofit fontScale="70000" lnSpcReduction="20000"/>
          </a:bodyPr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Method for scoring a document:</a:t>
            </a:r>
          </a:p>
          <a:p>
            <a:pPr eaLnBrk="1" hangingPunct="1">
              <a:lnSpc>
                <a:spcPts val="2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US" altLang="en-US" sz="2000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score (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BufferedReader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doc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,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	Set&lt;String&gt;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keywords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00B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00B050"/>
                </a:solidFill>
                <a:cs typeface="Times New Roman" pitchFamily="18" charset="0"/>
              </a:rPr>
              <a:t>Return the number of words in </a:t>
            </a:r>
            <a:r>
              <a:rPr lang="en-US" altLang="en-US" sz="2000" dirty="0">
                <a:solidFill>
                  <a:srgbClr val="00B050"/>
                </a:solidFill>
                <a:latin typeface="Courier New" pitchFamily="49" charset="0"/>
                <a:cs typeface="Times New Roman" pitchFamily="18" charset="0"/>
              </a:rPr>
              <a:t>keywords</a:t>
            </a:r>
            <a:r>
              <a:rPr lang="en-US" altLang="en-US" sz="2000" dirty="0">
                <a:solidFill>
                  <a:srgbClr val="00B050"/>
                </a:solidFill>
                <a:cs typeface="Times New Roman" pitchFamily="18" charset="0"/>
              </a:rPr>
              <a:t>  </a:t>
            </a:r>
            <a:br>
              <a:rPr lang="en-US" altLang="en-US" sz="2000" dirty="0">
                <a:solidFill>
                  <a:srgbClr val="00B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00B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00B050"/>
                </a:solidFill>
                <a:cs typeface="Times New Roman" pitchFamily="18" charset="0"/>
              </a:rPr>
              <a:t>that are also in the document </a:t>
            </a:r>
            <a:r>
              <a:rPr lang="en-US" altLang="en-US" sz="2000" dirty="0">
                <a:solidFill>
                  <a:srgbClr val="00B050"/>
                </a:solidFill>
                <a:latin typeface="Courier New" pitchFamily="49" charset="0"/>
                <a:cs typeface="Times New Roman" pitchFamily="18" charset="0"/>
              </a:rPr>
              <a:t>doc.</a:t>
            </a:r>
            <a:br>
              <a:rPr lang="en-US" altLang="en-US" sz="2000" dirty="0">
                <a:solidFill>
                  <a:srgbClr val="00B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Set&lt;String&gt;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missing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= </a:t>
            </a:r>
            <a:r>
              <a:rPr lang="en-US" altLang="en-US" sz="200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TreeSet&lt;String&gt;(</a:t>
            </a:r>
            <a:r>
              <a:rPr lang="en-US" altLang="en-US" sz="200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keywords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(;;)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String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line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doc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.readLine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(line == 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break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String[]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words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		</a:t>
            </a:r>
            <a:r>
              <a:rPr lang="en-GB" altLang="en-US" sz="200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line</a:t>
            </a:r>
            <a:r>
              <a:rPr lang="en-GB" altLang="en-US" sz="2000" err="1">
                <a:latin typeface="Courier New" pitchFamily="49" charset="0"/>
                <a:cs typeface="Times New Roman" pitchFamily="18" charset="0"/>
              </a:rPr>
              <a:t>.split</a:t>
            </a:r>
            <a:r>
              <a:rPr lang="en-GB" altLang="en-US" sz="2000">
                <a:latin typeface="Courier New" pitchFamily="49" charset="0"/>
                <a:cs typeface="Times New Roman" pitchFamily="18" charset="0"/>
              </a:rPr>
              <a:t>( </a:t>
            </a:r>
            <a:r>
              <a:rPr lang="en-GB" altLang="en-US" sz="200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GB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[[^</a:t>
            </a:r>
            <a:r>
              <a:rPr lang="en-GB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A-Z]&amp;&amp;[^</a:t>
            </a:r>
            <a:r>
              <a:rPr lang="en-GB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a-z]]+</a:t>
            </a:r>
            <a:r>
              <a:rPr lang="en-GB" altLang="en-US" sz="200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”</a:t>
            </a:r>
            <a:r>
              <a:rPr lang="en-GB" altLang="en-US" sz="200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b="1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(String </a:t>
            </a:r>
            <a:r>
              <a:rPr lang="en-GB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word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: </a:t>
            </a:r>
            <a:r>
              <a:rPr lang="en-GB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words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GB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missing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.remove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GB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word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keywords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.size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 –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missing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.size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257800" y="1371600"/>
            <a:ext cx="36576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See complete programme 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</a:rPr>
              <a:t>InformationRetrieval.java</a:t>
            </a: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 on Moodle</a:t>
            </a:r>
          </a:p>
        </p:txBody>
      </p:sp>
    </p:spTree>
    <p:extLst>
      <p:ext uri="{BB962C8B-B14F-4D97-AF65-F5344CB8AC3E}">
        <p14:creationId xmlns:p14="http://schemas.microsoft.com/office/powerpoint/2010/main" val="3733039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Update on diagram</a:t>
            </a:r>
            <a:endParaRPr lang="en-GB" altLang="en-US" sz="32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1005465" y="2822585"/>
            <a:ext cx="1217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0262" y="2822585"/>
            <a:ext cx="870706" cy="400110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stack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507" y="1592605"/>
            <a:ext cx="1440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operations: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565" y="1378708"/>
            <a:ext cx="1440100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e.g. </a:t>
            </a:r>
          </a:p>
          <a:p>
            <a:r>
              <a:rPr lang="en-US" sz="2000" dirty="0"/>
              <a:t>push, pop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137" y="1378708"/>
            <a:ext cx="1261242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e.g. </a:t>
            </a:r>
          </a:p>
          <a:p>
            <a:r>
              <a:rPr lang="en-US" sz="2000" dirty="0" err="1"/>
              <a:t>getFirst</a:t>
            </a:r>
            <a:r>
              <a:rPr lang="en-US" sz="2000" dirty="0"/>
              <a:t>, </a:t>
            </a:r>
            <a:r>
              <a:rPr lang="en-US" sz="2000" dirty="0" err="1"/>
              <a:t>addLast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1005465" y="4068737"/>
            <a:ext cx="1440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structure: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805" y="4247846"/>
            <a:ext cx="1011824" cy="400110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9555" y="4294013"/>
            <a:ext cx="1011824" cy="707886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linked list</a:t>
            </a:r>
          </a:p>
        </p:txBody>
      </p:sp>
      <p:cxnSp>
        <p:nvCxnSpPr>
          <p:cNvPr id="14" name="Straight Arrow Connector 13"/>
          <p:cNvCxnSpPr>
            <a:stCxn id="9" idx="2"/>
          </p:cNvCxnSpPr>
          <p:nvPr/>
        </p:nvCxnSpPr>
        <p:spPr>
          <a:xfrm>
            <a:off x="3165615" y="2086594"/>
            <a:ext cx="0" cy="735991"/>
          </a:xfrm>
          <a:prstGeom prst="straightConnector1">
            <a:avLst/>
          </a:prstGeom>
          <a:ln>
            <a:solidFill>
              <a:srgbClr val="0000FF"/>
            </a:solidFill>
            <a:prstDash val="solid"/>
            <a:headEnd type="triangle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134908" y="2394371"/>
            <a:ext cx="0" cy="428214"/>
          </a:xfrm>
          <a:prstGeom prst="straightConnector1">
            <a:avLst/>
          </a:prstGeom>
          <a:ln>
            <a:solidFill>
              <a:srgbClr val="0000FF"/>
            </a:solidFill>
            <a:prstDash val="solid"/>
            <a:headEnd type="triangle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99555" y="2822585"/>
            <a:ext cx="1011824" cy="400110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queue                      </a:t>
            </a:r>
          </a:p>
        </p:txBody>
      </p:sp>
      <p:cxnSp>
        <p:nvCxnSpPr>
          <p:cNvPr id="17" name="Straight Arrow Connector 16"/>
          <p:cNvCxnSpPr>
            <a:stCxn id="7" idx="2"/>
            <a:endCxn id="12" idx="0"/>
          </p:cNvCxnSpPr>
          <p:nvPr/>
        </p:nvCxnSpPr>
        <p:spPr>
          <a:xfrm>
            <a:off x="3165615" y="3222695"/>
            <a:ext cx="8102" cy="10251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217457" y="3222695"/>
            <a:ext cx="1739310" cy="10251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168034" y="3222695"/>
            <a:ext cx="8102" cy="10251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2"/>
          </p:cNvCxnSpPr>
          <p:nvPr/>
        </p:nvCxnSpPr>
        <p:spPr>
          <a:xfrm flipH="1">
            <a:off x="3217457" y="3222695"/>
            <a:ext cx="1988010" cy="1009263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2153" y="5691628"/>
            <a:ext cx="7171934" cy="92333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To make use of the useful features of both arrays (e.g. binary search)</a:t>
            </a:r>
          </a:p>
          <a:p>
            <a:r>
              <a:rPr lang="en-US"/>
              <a:t>and linked lists (no need to bound, easy insertion) – need better data structure for set – BST (or hash table for different reasons!)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99553" y="3550604"/>
            <a:ext cx="245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462" y="2822585"/>
            <a:ext cx="870706" cy="400110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/>
              <a:t>list                      </a:t>
            </a:r>
            <a:endParaRPr 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007611" y="2806697"/>
            <a:ext cx="692228" cy="400110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/>
              <a:t>set                      </a:t>
            </a:r>
            <a:endParaRPr lang="en-US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6123925" y="1378707"/>
            <a:ext cx="1223781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e.g. </a:t>
            </a:r>
          </a:p>
          <a:p>
            <a:r>
              <a:rPr lang="en-US" sz="2000"/>
              <a:t>get(i), </a:t>
            </a:r>
          </a:p>
          <a:p>
            <a:r>
              <a:rPr lang="en-US" sz="2000"/>
              <a:t>iterate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7715851" y="1378708"/>
            <a:ext cx="1275749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e.g. </a:t>
            </a:r>
          </a:p>
          <a:p>
            <a:r>
              <a:rPr lang="en-US" sz="2000"/>
              <a:t>contains, addAll</a:t>
            </a:r>
            <a:endParaRPr lang="en-US" sz="20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719603" y="2398986"/>
            <a:ext cx="0" cy="428214"/>
          </a:xfrm>
          <a:prstGeom prst="straightConnector1">
            <a:avLst/>
          </a:prstGeom>
          <a:ln>
            <a:solidFill>
              <a:srgbClr val="0000FF"/>
            </a:solidFill>
            <a:prstDash val="solid"/>
            <a:headEnd type="triangle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353725" y="2377475"/>
            <a:ext cx="0" cy="428214"/>
          </a:xfrm>
          <a:prstGeom prst="straightConnector1">
            <a:avLst/>
          </a:prstGeom>
          <a:ln>
            <a:solidFill>
              <a:srgbClr val="0000FF"/>
            </a:solidFill>
            <a:prstDash val="solid"/>
            <a:headEnd type="triangle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3" idx="2"/>
          </p:cNvCxnSpPr>
          <p:nvPr/>
        </p:nvCxnSpPr>
        <p:spPr>
          <a:xfrm flipH="1">
            <a:off x="3352800" y="3222695"/>
            <a:ext cx="3383015" cy="10251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5334000" y="3228966"/>
            <a:ext cx="1407478" cy="10251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3679629" y="3206807"/>
            <a:ext cx="4580187" cy="1047310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347706" y="3206807"/>
            <a:ext cx="962361" cy="1020389"/>
          </a:xfrm>
          <a:prstGeom prst="straightConnector1">
            <a:avLst/>
          </a:prstGeom>
          <a:ln>
            <a:solidFill>
              <a:srgbClr val="FFC000">
                <a:alpha val="20000"/>
              </a:srgb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41478" y="4231958"/>
            <a:ext cx="1011824" cy="1015663"/>
          </a:xfrm>
          <a:prstGeom prst="rect">
            <a:avLst/>
          </a:prstGeom>
          <a:noFill/>
          <a:ln>
            <a:solidFill>
              <a:srgbClr val="008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25000"/>
                    <a:lumOff val="75000"/>
                  </a:schemeClr>
                </a:solidFill>
              </a:rPr>
              <a:t>binary search tree</a:t>
            </a:r>
            <a:endParaRPr lang="en-US" sz="2000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94087" y="4227196"/>
            <a:ext cx="1011824" cy="707886"/>
          </a:xfrm>
          <a:prstGeom prst="rect">
            <a:avLst/>
          </a:prstGeom>
          <a:noFill/>
          <a:ln>
            <a:solidFill>
              <a:srgbClr val="008000">
                <a:alpha val="2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25000"/>
                    <a:lumOff val="75000"/>
                  </a:schemeClr>
                </a:solidFill>
              </a:rPr>
              <a:t>hash table</a:t>
            </a:r>
            <a:endParaRPr lang="en-US" sz="2000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434420" y="3190077"/>
            <a:ext cx="265419" cy="1057769"/>
          </a:xfrm>
          <a:prstGeom prst="straightConnector1">
            <a:avLst/>
          </a:prstGeom>
          <a:ln>
            <a:solidFill>
              <a:srgbClr val="FFC000">
                <a:alpha val="20000"/>
              </a:srgb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5562600" y="3202045"/>
            <a:ext cx="2729873" cy="1091968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449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20652</TotalTime>
  <Words>2953</Words>
  <Application>Microsoft Office PowerPoint</Application>
  <PresentationFormat>On-screen Show (4:3)</PresentationFormat>
  <Paragraphs>401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Courier New</vt:lpstr>
      <vt:lpstr>Symbol</vt:lpstr>
      <vt:lpstr>Times New Roman</vt:lpstr>
      <vt:lpstr>Wingdings</vt:lpstr>
      <vt:lpstr>Clarity</vt:lpstr>
      <vt:lpstr>9. Set ADT</vt:lpstr>
      <vt:lpstr>Set concepts (1)</vt:lpstr>
      <vt:lpstr>Example: sets</vt:lpstr>
      <vt:lpstr>Set concepts (2)</vt:lpstr>
      <vt:lpstr>Set concepts (3)</vt:lpstr>
      <vt:lpstr>Set concepts (4)</vt:lpstr>
      <vt:lpstr>Set applications</vt:lpstr>
      <vt:lpstr>Example: prime numbers</vt:lpstr>
      <vt:lpstr>Set ADT: requirements</vt:lpstr>
      <vt:lpstr>Set ADT: contract (1)</vt:lpstr>
      <vt:lpstr>Set ADT: contract (2)</vt:lpstr>
      <vt:lpstr>Set ADT: contract (3)</vt:lpstr>
      <vt:lpstr>Set ADT: contract (4)</vt:lpstr>
      <vt:lpstr>Implementation of sets using member  arrays (1)</vt:lpstr>
      <vt:lpstr>Implementation of sets using member  arrays (2)</vt:lpstr>
      <vt:lpstr>Implementation of sets using member  arrays (3)</vt:lpstr>
      <vt:lpstr>Implementation of sets using SLLs (1)</vt:lpstr>
      <vt:lpstr>Implementation of sets using SLLs (2)</vt:lpstr>
      <vt:lpstr>Implementation of small-integer sets using boolean arrays (1)</vt:lpstr>
      <vt:lpstr>Implementation of small-integer sets using boolean arrays (2)</vt:lpstr>
      <vt:lpstr>Comparison of set implementations (1)</vt:lpstr>
      <vt:lpstr>Comparison of set implementations (2)</vt:lpstr>
      <vt:lpstr>Sets in the Java class library</vt:lpstr>
      <vt:lpstr>Example: information retrieval (1)</vt:lpstr>
      <vt:lpstr>Example: information retrieval (2)</vt:lpstr>
      <vt:lpstr>Update on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 Set ADTs</dc:title>
  <dc:creator>Alice</dc:creator>
  <cp:lastModifiedBy>Ivaylo Valkov</cp:lastModifiedBy>
  <cp:revision>43</cp:revision>
  <dcterms:created xsi:type="dcterms:W3CDTF">2006-08-16T00:00:00Z</dcterms:created>
  <dcterms:modified xsi:type="dcterms:W3CDTF">2025-03-06T19:42:23Z</dcterms:modified>
</cp:coreProperties>
</file>