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958ED-58B4-4593-9A3C-64BD9B6A4568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CBCB2-2CFB-4DF3-91CB-636096BA0B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18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C259-1BDA-47F2-8CC1-9ECFADAC01A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B1CA7-2C65-4042-8476-09A8DE82D9A6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016A-E3DC-481D-A0AE-C2956B842B98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0DBD5-4302-4525-A182-66F5CF74164C}" type="datetime1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64CA-7AE5-444E-B86C-CE0B755B4B1A}" type="datetime1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2F63-E95D-478E-939A-BAE51146D212}" type="datetime1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D2D7-2170-469E-B634-EE9184D7A435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E977-63D6-4C9E-94B6-EBC083443424}" type="datetime1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6650B-F056-4585-A2A7-5F7B407433B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BD86-3DCC-4DEC-B604-FD00FBC8B9A0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66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01339DA-0B42-44FA-AE54-6FDE6884AF69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7000" y="1295400"/>
            <a:ext cx="8280400" cy="660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1. 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08175" y="3581400"/>
            <a:ext cx="5289550" cy="3635375"/>
          </a:xfrm>
        </p:spPr>
        <p:txBody>
          <a:bodyPr/>
          <a:lstStyle/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Algorithms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Data structures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Abstract data types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GB" altLang="en-US" sz="2400" dirty="0"/>
              <a:t>Programming with lists and sets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366713" y="676275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53000" y="5334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A whistle-stop tour!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5715000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- don’t expect to understand things properly at this stage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5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Algorithms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algorithm</a:t>
            </a:r>
            <a:r>
              <a:rPr lang="en-US" altLang="en-US" dirty="0"/>
              <a:t> is a step-by-step procedure for solving a stated problem.</a:t>
            </a:r>
          </a:p>
          <a:p>
            <a:pPr eaLnBrk="1" hangingPunct="1"/>
            <a:r>
              <a:rPr lang="en-US" altLang="en-US" dirty="0"/>
              <a:t>For example, consider the problem of multiplying two integers. There are many algorithms for solving this problem:</a:t>
            </a:r>
          </a:p>
          <a:p>
            <a:pPr lvl="1" eaLnBrk="1" hangingPunct="1"/>
            <a:r>
              <a:rPr lang="en-US" altLang="en-US" dirty="0"/>
              <a:t>multiplication using a table (small integers only)</a:t>
            </a:r>
          </a:p>
          <a:p>
            <a:pPr lvl="1" eaLnBrk="1" hangingPunct="1"/>
            <a:r>
              <a:rPr lang="en-US" altLang="en-US" dirty="0"/>
              <a:t>long multiplication</a:t>
            </a:r>
          </a:p>
          <a:p>
            <a:pPr lvl="1" eaLnBrk="1" hangingPunct="1"/>
            <a:r>
              <a:rPr lang="en-US" altLang="en-US" dirty="0"/>
              <a:t>multiplication using logarithms</a:t>
            </a:r>
          </a:p>
          <a:p>
            <a:pPr lvl="1" eaLnBrk="1" hangingPunct="1"/>
            <a:r>
              <a:rPr lang="en-US" altLang="en-US" dirty="0"/>
              <a:t>multiplication using a slide rule</a:t>
            </a:r>
          </a:p>
          <a:p>
            <a:pPr lvl="1" eaLnBrk="1" hangingPunct="1"/>
            <a:r>
              <a:rPr lang="en-US" altLang="en-US" dirty="0"/>
              <a:t>binary multiplication (in computer hardware)</a:t>
            </a:r>
          </a:p>
          <a:p>
            <a:pPr lvl="1" eaLnBrk="1" hangingPunct="1"/>
            <a:r>
              <a:rPr lang="en-US" altLang="en-US" dirty="0"/>
              <a:t>multiplication using a Fourier transformation (for huge integers)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33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History of algorithms</a:t>
            </a:r>
            <a:endParaRPr lang="en-GB" altLang="en-US" sz="32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52400" y="1293349"/>
            <a:ext cx="8170863" cy="4583113"/>
            <a:chOff x="500" y="1034"/>
            <a:chExt cx="5147" cy="2887"/>
          </a:xfrm>
        </p:grpSpPr>
        <p:sp>
          <p:nvSpPr>
            <p:cNvPr id="5139" name="Rectangle 6"/>
            <p:cNvSpPr>
              <a:spLocks noChangeArrowheads="1"/>
            </p:cNvSpPr>
            <p:nvPr/>
          </p:nvSpPr>
          <p:spPr bwMode="auto">
            <a:xfrm>
              <a:off x="1113" y="1118"/>
              <a:ext cx="4534" cy="2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40" name="Text Box 7"/>
            <p:cNvSpPr txBox="1">
              <a:spLocks noChangeArrowheads="1"/>
            </p:cNvSpPr>
            <p:nvPr/>
          </p:nvSpPr>
          <p:spPr bwMode="auto">
            <a:xfrm>
              <a:off x="500" y="1034"/>
              <a:ext cx="56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BCE 400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41" name="Text Box 8"/>
            <p:cNvSpPr txBox="1">
              <a:spLocks noChangeArrowheads="1"/>
            </p:cNvSpPr>
            <p:nvPr/>
          </p:nvSpPr>
          <p:spPr bwMode="auto">
            <a:xfrm>
              <a:off x="704" y="1253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200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42" name="Line 9"/>
            <p:cNvSpPr>
              <a:spLocks noChangeShapeType="1"/>
            </p:cNvSpPr>
            <p:nvPr/>
          </p:nvSpPr>
          <p:spPr bwMode="auto">
            <a:xfrm>
              <a:off x="1111" y="1344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3" name="Text Box 10"/>
            <p:cNvSpPr txBox="1">
              <a:spLocks noChangeArrowheads="1"/>
            </p:cNvSpPr>
            <p:nvPr/>
          </p:nvSpPr>
          <p:spPr bwMode="auto">
            <a:xfrm>
              <a:off x="704" y="1480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44" name="Line 11"/>
            <p:cNvSpPr>
              <a:spLocks noChangeShapeType="1"/>
            </p:cNvSpPr>
            <p:nvPr/>
          </p:nvSpPr>
          <p:spPr bwMode="auto">
            <a:xfrm>
              <a:off x="1111" y="1571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5" name="Text Box 12"/>
            <p:cNvSpPr txBox="1">
              <a:spLocks noChangeArrowheads="1"/>
            </p:cNvSpPr>
            <p:nvPr/>
          </p:nvSpPr>
          <p:spPr bwMode="auto">
            <a:xfrm>
              <a:off x="704" y="1707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200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46" name="Line 13"/>
            <p:cNvSpPr>
              <a:spLocks noChangeShapeType="1"/>
            </p:cNvSpPr>
            <p:nvPr/>
          </p:nvSpPr>
          <p:spPr bwMode="auto">
            <a:xfrm>
              <a:off x="1111" y="1798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7" name="Text Box 14"/>
            <p:cNvSpPr txBox="1">
              <a:spLocks noChangeArrowheads="1"/>
            </p:cNvSpPr>
            <p:nvPr/>
          </p:nvSpPr>
          <p:spPr bwMode="auto">
            <a:xfrm>
              <a:off x="704" y="1934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400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48" name="Line 15"/>
            <p:cNvSpPr>
              <a:spLocks noChangeShapeType="1"/>
            </p:cNvSpPr>
            <p:nvPr/>
          </p:nvSpPr>
          <p:spPr bwMode="auto">
            <a:xfrm>
              <a:off x="1111" y="2025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9" name="Text Box 16"/>
            <p:cNvSpPr txBox="1">
              <a:spLocks noChangeArrowheads="1"/>
            </p:cNvSpPr>
            <p:nvPr/>
          </p:nvSpPr>
          <p:spPr bwMode="auto">
            <a:xfrm>
              <a:off x="704" y="2161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600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50" name="Line 17"/>
            <p:cNvSpPr>
              <a:spLocks noChangeShapeType="1"/>
            </p:cNvSpPr>
            <p:nvPr/>
          </p:nvSpPr>
          <p:spPr bwMode="auto">
            <a:xfrm>
              <a:off x="1111" y="2252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51" name="Text Box 18"/>
            <p:cNvSpPr txBox="1">
              <a:spLocks noChangeArrowheads="1"/>
            </p:cNvSpPr>
            <p:nvPr/>
          </p:nvSpPr>
          <p:spPr bwMode="auto">
            <a:xfrm>
              <a:off x="704" y="2388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800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52" name="Line 19"/>
            <p:cNvSpPr>
              <a:spLocks noChangeShapeType="1"/>
            </p:cNvSpPr>
            <p:nvPr/>
          </p:nvSpPr>
          <p:spPr bwMode="auto">
            <a:xfrm>
              <a:off x="1111" y="2479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53" name="Text Box 20"/>
            <p:cNvSpPr txBox="1">
              <a:spLocks noChangeArrowheads="1"/>
            </p:cNvSpPr>
            <p:nvPr/>
          </p:nvSpPr>
          <p:spPr bwMode="auto">
            <a:xfrm>
              <a:off x="704" y="2615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1000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54" name="Line 21"/>
            <p:cNvSpPr>
              <a:spLocks noChangeShapeType="1"/>
            </p:cNvSpPr>
            <p:nvPr/>
          </p:nvSpPr>
          <p:spPr bwMode="auto">
            <a:xfrm>
              <a:off x="1111" y="2706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55" name="Text Box 22"/>
            <p:cNvSpPr txBox="1">
              <a:spLocks noChangeArrowheads="1"/>
            </p:cNvSpPr>
            <p:nvPr/>
          </p:nvSpPr>
          <p:spPr bwMode="auto">
            <a:xfrm>
              <a:off x="704" y="2842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1200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56" name="Line 23"/>
            <p:cNvSpPr>
              <a:spLocks noChangeShapeType="1"/>
            </p:cNvSpPr>
            <p:nvPr/>
          </p:nvSpPr>
          <p:spPr bwMode="auto">
            <a:xfrm>
              <a:off x="1111" y="2933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57" name="Text Box 24"/>
            <p:cNvSpPr txBox="1">
              <a:spLocks noChangeArrowheads="1"/>
            </p:cNvSpPr>
            <p:nvPr/>
          </p:nvSpPr>
          <p:spPr bwMode="auto">
            <a:xfrm>
              <a:off x="704" y="3069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1400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58" name="Line 25"/>
            <p:cNvSpPr>
              <a:spLocks noChangeShapeType="1"/>
            </p:cNvSpPr>
            <p:nvPr/>
          </p:nvSpPr>
          <p:spPr bwMode="auto">
            <a:xfrm>
              <a:off x="1111" y="3160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59" name="Text Box 26"/>
            <p:cNvSpPr txBox="1">
              <a:spLocks noChangeArrowheads="1"/>
            </p:cNvSpPr>
            <p:nvPr/>
          </p:nvSpPr>
          <p:spPr bwMode="auto">
            <a:xfrm>
              <a:off x="704" y="3296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1600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60" name="Line 27"/>
            <p:cNvSpPr>
              <a:spLocks noChangeShapeType="1"/>
            </p:cNvSpPr>
            <p:nvPr/>
          </p:nvSpPr>
          <p:spPr bwMode="auto">
            <a:xfrm>
              <a:off x="1111" y="3387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61" name="Text Box 28"/>
            <p:cNvSpPr txBox="1">
              <a:spLocks noChangeArrowheads="1"/>
            </p:cNvSpPr>
            <p:nvPr/>
          </p:nvSpPr>
          <p:spPr bwMode="auto">
            <a:xfrm>
              <a:off x="704" y="3523"/>
              <a:ext cx="36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1800</a:t>
              </a: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5162" name="Line 29"/>
            <p:cNvSpPr>
              <a:spLocks noChangeShapeType="1"/>
            </p:cNvSpPr>
            <p:nvPr/>
          </p:nvSpPr>
          <p:spPr bwMode="auto">
            <a:xfrm>
              <a:off x="1111" y="3614"/>
              <a:ext cx="453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63" name="Text Box 30"/>
            <p:cNvSpPr txBox="1">
              <a:spLocks noChangeArrowheads="1"/>
            </p:cNvSpPr>
            <p:nvPr/>
          </p:nvSpPr>
          <p:spPr bwMode="auto">
            <a:xfrm>
              <a:off x="500" y="3748"/>
              <a:ext cx="56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>
                  <a:latin typeface="Times New Roman" pitchFamily="18" charset="0"/>
                </a:rPr>
                <a:t>CE 2000</a:t>
              </a:r>
              <a:endParaRPr lang="en-US" altLang="en-US" sz="1800">
                <a:latin typeface="Times New Roman" pitchFamily="18" charset="0"/>
              </a:endParaRP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1524000" y="1504148"/>
            <a:ext cx="5148263" cy="508000"/>
            <a:chOff x="1452" y="1162"/>
            <a:chExt cx="3243" cy="320"/>
          </a:xfrm>
        </p:grpSpPr>
        <p:sp>
          <p:nvSpPr>
            <p:cNvPr id="5137" name="Text Box 33"/>
            <p:cNvSpPr txBox="1">
              <a:spLocks noChangeArrowheads="1"/>
            </p:cNvSpPr>
            <p:nvPr/>
          </p:nvSpPr>
          <p:spPr bwMode="auto">
            <a:xfrm>
              <a:off x="1452" y="1162"/>
              <a:ext cx="861" cy="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Euclid</a:t>
              </a:r>
              <a:br>
                <a:rPr lang="en-GB" altLang="en-US" sz="1800" dirty="0"/>
              </a:br>
              <a:r>
                <a:rPr lang="en-GB" altLang="en-US" sz="1800" dirty="0"/>
                <a:t>Eratosthenes</a:t>
              </a:r>
              <a:endParaRPr lang="en-US" altLang="en-US" sz="1800" dirty="0"/>
            </a:p>
          </p:txBody>
        </p:sp>
        <p:sp>
          <p:nvSpPr>
            <p:cNvPr id="5138" name="Text Box 34"/>
            <p:cNvSpPr txBox="1">
              <a:spLocks noChangeArrowheads="1"/>
            </p:cNvSpPr>
            <p:nvPr/>
          </p:nvSpPr>
          <p:spPr bwMode="auto">
            <a:xfrm>
              <a:off x="2563" y="1230"/>
              <a:ext cx="2132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arithmetic, geometric algorithms</a:t>
              </a: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1552699" y="3326143"/>
            <a:ext cx="6156325" cy="254000"/>
            <a:chOff x="1452" y="2364"/>
            <a:chExt cx="3878" cy="160"/>
          </a:xfrm>
        </p:grpSpPr>
        <p:sp>
          <p:nvSpPr>
            <p:cNvPr id="5135" name="Text Box 36"/>
            <p:cNvSpPr txBox="1">
              <a:spLocks noChangeArrowheads="1"/>
            </p:cNvSpPr>
            <p:nvPr/>
          </p:nvSpPr>
          <p:spPr bwMode="auto">
            <a:xfrm>
              <a:off x="1452" y="2364"/>
              <a:ext cx="907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Al-Khwarizmi</a:t>
              </a:r>
              <a:endParaRPr lang="en-US" altLang="en-US" sz="1800" dirty="0"/>
            </a:p>
          </p:txBody>
        </p:sp>
        <p:sp>
          <p:nvSpPr>
            <p:cNvPr id="5136" name="Text Box 37"/>
            <p:cNvSpPr txBox="1">
              <a:spLocks noChangeArrowheads="1"/>
            </p:cNvSpPr>
            <p:nvPr/>
          </p:nvSpPr>
          <p:spPr bwMode="auto">
            <a:xfrm>
              <a:off x="2563" y="2364"/>
              <a:ext cx="2767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arithmetic, algebraic, geometric algorithms</a:t>
              </a: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1552699" y="4798550"/>
            <a:ext cx="4572000" cy="254000"/>
            <a:chOff x="1452" y="3271"/>
            <a:chExt cx="2880" cy="160"/>
          </a:xfrm>
        </p:grpSpPr>
        <p:sp>
          <p:nvSpPr>
            <p:cNvPr id="5133" name="Text Box 39"/>
            <p:cNvSpPr txBox="1">
              <a:spLocks noChangeArrowheads="1"/>
            </p:cNvSpPr>
            <p:nvPr/>
          </p:nvSpPr>
          <p:spPr bwMode="auto">
            <a:xfrm>
              <a:off x="1452" y="3271"/>
              <a:ext cx="540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Napier</a:t>
              </a:r>
              <a:endParaRPr lang="en-US" altLang="en-US" sz="1800" dirty="0"/>
            </a:p>
          </p:txBody>
        </p:sp>
        <p:sp>
          <p:nvSpPr>
            <p:cNvPr id="5134" name="Text Box 40"/>
            <p:cNvSpPr txBox="1">
              <a:spLocks noChangeArrowheads="1"/>
            </p:cNvSpPr>
            <p:nvPr/>
          </p:nvSpPr>
          <p:spPr bwMode="auto">
            <a:xfrm>
              <a:off x="2563" y="3271"/>
              <a:ext cx="1769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arithmetic using logarithms</a:t>
              </a:r>
            </a:p>
          </p:txBody>
        </p:sp>
      </p:grp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1552699" y="5400738"/>
            <a:ext cx="4427538" cy="255587"/>
            <a:chOff x="1452" y="3679"/>
            <a:chExt cx="2789" cy="161"/>
          </a:xfrm>
        </p:grpSpPr>
        <p:sp>
          <p:nvSpPr>
            <p:cNvPr id="5131" name="Text Box 42"/>
            <p:cNvSpPr txBox="1">
              <a:spLocks noChangeArrowheads="1"/>
            </p:cNvSpPr>
            <p:nvPr/>
          </p:nvSpPr>
          <p:spPr bwMode="auto">
            <a:xfrm>
              <a:off x="1452" y="3680"/>
              <a:ext cx="540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Turing</a:t>
              </a:r>
              <a:endParaRPr lang="en-US" altLang="en-US" sz="1800" dirty="0"/>
            </a:p>
          </p:txBody>
        </p:sp>
        <p:sp>
          <p:nvSpPr>
            <p:cNvPr id="5132" name="Text Box 43"/>
            <p:cNvSpPr txBox="1">
              <a:spLocks noChangeArrowheads="1"/>
            </p:cNvSpPr>
            <p:nvPr/>
          </p:nvSpPr>
          <p:spPr bwMode="auto">
            <a:xfrm>
              <a:off x="2563" y="3679"/>
              <a:ext cx="1678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code breaking</a:t>
              </a:r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1552699" y="5061716"/>
            <a:ext cx="4464050" cy="255587"/>
            <a:chOff x="1452" y="3429"/>
            <a:chExt cx="2812" cy="161"/>
          </a:xfrm>
        </p:grpSpPr>
        <p:sp>
          <p:nvSpPr>
            <p:cNvPr id="5129" name="Text Box 45"/>
            <p:cNvSpPr txBox="1">
              <a:spLocks noChangeArrowheads="1"/>
            </p:cNvSpPr>
            <p:nvPr/>
          </p:nvSpPr>
          <p:spPr bwMode="auto">
            <a:xfrm>
              <a:off x="1452" y="3429"/>
              <a:ext cx="540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Newton</a:t>
              </a:r>
              <a:endParaRPr lang="en-US" altLang="en-US" sz="1800" dirty="0"/>
            </a:p>
          </p:txBody>
        </p:sp>
        <p:sp>
          <p:nvSpPr>
            <p:cNvPr id="5130" name="Text Box 46"/>
            <p:cNvSpPr txBox="1">
              <a:spLocks noChangeArrowheads="1"/>
            </p:cNvSpPr>
            <p:nvPr/>
          </p:nvSpPr>
          <p:spPr bwMode="auto">
            <a:xfrm>
              <a:off x="2563" y="3430"/>
              <a:ext cx="170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differentiation, integration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5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finding a midpoint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</a:tabLst>
            </a:pPr>
            <a:r>
              <a:rPr lang="en-US" altLang="en-US" b="1" dirty="0"/>
              <a:t>Midpoint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find the midpoint of a given straight-line segment AB: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Draw intersecting circles of equal radius, centered at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A and B respectively.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Let C and D be the points where the circles intersect.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Draw a straight line between C and D.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4.	Let E be the point where CD intersects AB.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5.	Terminate yielding E.</a:t>
            </a:r>
          </a:p>
          <a:p>
            <a:pPr eaLnBrk="1" hangingPunct="1">
              <a:tabLst>
                <a:tab pos="723900" algn="l"/>
              </a:tabLst>
            </a:pPr>
            <a:r>
              <a:rPr lang="en-US" altLang="en-US" sz="2000" dirty="0"/>
              <a:t>This algorithm can be performed by a human equipped with drawing instruments.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6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728663" y="2054018"/>
            <a:ext cx="7239000" cy="4419600"/>
            <a:chOff x="1043" y="1321"/>
            <a:chExt cx="4560" cy="2784"/>
          </a:xfrm>
        </p:grpSpPr>
        <p:sp>
          <p:nvSpPr>
            <p:cNvPr id="7253" name="Rectangle 5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54" name="Line 6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55" name="Text Box 7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56" name="Text Box 8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57" name="Text Box 9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5.	Terminate yielding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E.</a:t>
              </a:r>
            </a:p>
          </p:txBody>
        </p:sp>
        <p:sp>
          <p:nvSpPr>
            <p:cNvPr id="7258" name="Rectangle 10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59" name="Line 11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60" name="Text Box 12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61" name="Text Box 13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62" name="Text Box 14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Terminate yielding E.</a:t>
              </a:r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728663" y="2054018"/>
            <a:ext cx="7239000" cy="4419600"/>
            <a:chOff x="1043" y="1321"/>
            <a:chExt cx="4560" cy="2784"/>
          </a:xfrm>
        </p:grpSpPr>
        <p:sp>
          <p:nvSpPr>
            <p:cNvPr id="7241" name="Rectangle 97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42" name="Line 98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43" name="Text Box 99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44" name="Text Box 100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45" name="Text Box 101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5.	Terminate yielding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E.</a:t>
              </a:r>
            </a:p>
          </p:txBody>
        </p:sp>
        <p:sp>
          <p:nvSpPr>
            <p:cNvPr id="7246" name="Rectangle 102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47" name="Line 103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48" name="Text Box 104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49" name="Text Box 105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50" name="Text Box 106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Terminate yielding E.</a:t>
              </a:r>
            </a:p>
          </p:txBody>
        </p:sp>
        <p:sp>
          <p:nvSpPr>
            <p:cNvPr id="7251" name="Oval 107"/>
            <p:cNvSpPr>
              <a:spLocks noChangeArrowheads="1"/>
            </p:cNvSpPr>
            <p:nvPr/>
          </p:nvSpPr>
          <p:spPr bwMode="auto">
            <a:xfrm>
              <a:off x="3107" y="1369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52" name="Oval 108"/>
            <p:cNvSpPr>
              <a:spLocks noChangeArrowheads="1"/>
            </p:cNvSpPr>
            <p:nvPr/>
          </p:nvSpPr>
          <p:spPr bwMode="auto">
            <a:xfrm>
              <a:off x="3875" y="2425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4" name="Group 109"/>
          <p:cNvGrpSpPr>
            <a:grpSpLocks/>
          </p:cNvGrpSpPr>
          <p:nvPr/>
        </p:nvGrpSpPr>
        <p:grpSpPr bwMode="auto">
          <a:xfrm>
            <a:off x="728663" y="2054018"/>
            <a:ext cx="7239000" cy="4419600"/>
            <a:chOff x="1043" y="1321"/>
            <a:chExt cx="4560" cy="2784"/>
          </a:xfrm>
        </p:grpSpPr>
        <p:sp>
          <p:nvSpPr>
            <p:cNvPr id="7218" name="Rectangle 110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19" name="Line 111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0" name="Text Box 112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21" name="Text Box 113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22" name="Text Box 114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5.	Terminate yielding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E.</a:t>
              </a:r>
            </a:p>
          </p:txBody>
        </p:sp>
        <p:sp>
          <p:nvSpPr>
            <p:cNvPr id="7223" name="Rectangle 115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24" name="Line 116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5" name="Text Box 117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26" name="Text Box 118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27" name="Text Box 119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5.	Terminate yielding </a:t>
              </a:r>
              <a:b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chemeClr val="hlink"/>
                  </a:solidFill>
                  <a:latin typeface="Times New Roman" pitchFamily="18" charset="0"/>
                </a:rPr>
                <a:t>	E.</a:t>
              </a:r>
            </a:p>
          </p:txBody>
        </p:sp>
        <p:sp>
          <p:nvSpPr>
            <p:cNvPr id="7228" name="Oval 120"/>
            <p:cNvSpPr>
              <a:spLocks noChangeArrowheads="1"/>
            </p:cNvSpPr>
            <p:nvPr/>
          </p:nvSpPr>
          <p:spPr bwMode="auto">
            <a:xfrm>
              <a:off x="3107" y="1369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29" name="Oval 121"/>
            <p:cNvSpPr>
              <a:spLocks noChangeArrowheads="1"/>
            </p:cNvSpPr>
            <p:nvPr/>
          </p:nvSpPr>
          <p:spPr bwMode="auto">
            <a:xfrm>
              <a:off x="3875" y="2425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30" name="Rectangle 122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31" name="Line 123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32" name="Text Box 124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33" name="Text Box 125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34" name="Text Box 126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5050"/>
                  </a:solidFill>
                  <a:latin typeface="Times New Roman" pitchFamily="18" charset="0"/>
                </a:rPr>
                <a:t>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Terminate yielding E.</a:t>
              </a:r>
            </a:p>
          </p:txBody>
        </p:sp>
        <p:sp>
          <p:nvSpPr>
            <p:cNvPr id="7235" name="Text Box 127"/>
            <p:cNvSpPr txBox="1">
              <a:spLocks noChangeArrowheads="1"/>
            </p:cNvSpPr>
            <p:nvPr/>
          </p:nvSpPr>
          <p:spPr bwMode="auto">
            <a:xfrm>
              <a:off x="3635" y="3001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7236" name="Text Box 128"/>
            <p:cNvSpPr txBox="1">
              <a:spLocks noChangeArrowheads="1"/>
            </p:cNvSpPr>
            <p:nvPr/>
          </p:nvSpPr>
          <p:spPr bwMode="auto">
            <a:xfrm>
              <a:off x="4787" y="218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7237" name="Oval 129"/>
            <p:cNvSpPr>
              <a:spLocks noChangeArrowheads="1"/>
            </p:cNvSpPr>
            <p:nvPr/>
          </p:nvSpPr>
          <p:spPr bwMode="auto">
            <a:xfrm>
              <a:off x="3107" y="1369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38" name="Oval 130"/>
            <p:cNvSpPr>
              <a:spLocks noChangeArrowheads="1"/>
            </p:cNvSpPr>
            <p:nvPr/>
          </p:nvSpPr>
          <p:spPr bwMode="auto">
            <a:xfrm>
              <a:off x="3875" y="2425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39" name="Line 131"/>
            <p:cNvSpPr>
              <a:spLocks noChangeShapeType="1"/>
            </p:cNvSpPr>
            <p:nvPr/>
          </p:nvSpPr>
          <p:spPr bwMode="auto">
            <a:xfrm flipV="1">
              <a:off x="4691" y="2425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40" name="Line 132"/>
            <p:cNvSpPr>
              <a:spLocks noChangeShapeType="1"/>
            </p:cNvSpPr>
            <p:nvPr/>
          </p:nvSpPr>
          <p:spPr bwMode="auto">
            <a:xfrm flipV="1">
              <a:off x="3923" y="300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728663" y="2054018"/>
            <a:ext cx="7239000" cy="4419600"/>
            <a:chOff x="1043" y="1321"/>
            <a:chExt cx="4560" cy="2784"/>
          </a:xfrm>
        </p:grpSpPr>
        <p:sp>
          <p:nvSpPr>
            <p:cNvPr id="7206" name="Rectangle 134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07" name="Line 135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8" name="Text Box 136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209" name="Text Box 137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210" name="Text Box 138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</a:t>
              </a:r>
              <a:r>
                <a:rPr lang="en-US" altLang="en-US" sz="2000">
                  <a:solidFill>
                    <a:srgbClr val="FF5050"/>
                  </a:solidFill>
                  <a:latin typeface="Times New Roman" pitchFamily="18" charset="0"/>
                </a:rPr>
                <a:t>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Terminate yielding E.</a:t>
              </a:r>
            </a:p>
          </p:txBody>
        </p:sp>
        <p:sp>
          <p:nvSpPr>
            <p:cNvPr id="7211" name="Text Box 139"/>
            <p:cNvSpPr txBox="1">
              <a:spLocks noChangeArrowheads="1"/>
            </p:cNvSpPr>
            <p:nvPr/>
          </p:nvSpPr>
          <p:spPr bwMode="auto">
            <a:xfrm>
              <a:off x="3635" y="3001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7212" name="Text Box 140"/>
            <p:cNvSpPr txBox="1">
              <a:spLocks noChangeArrowheads="1"/>
            </p:cNvSpPr>
            <p:nvPr/>
          </p:nvSpPr>
          <p:spPr bwMode="auto">
            <a:xfrm>
              <a:off x="4787" y="218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7213" name="Oval 141"/>
            <p:cNvSpPr>
              <a:spLocks noChangeArrowheads="1"/>
            </p:cNvSpPr>
            <p:nvPr/>
          </p:nvSpPr>
          <p:spPr bwMode="auto">
            <a:xfrm>
              <a:off x="3107" y="1369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14" name="Oval 142"/>
            <p:cNvSpPr>
              <a:spLocks noChangeArrowheads="1"/>
            </p:cNvSpPr>
            <p:nvPr/>
          </p:nvSpPr>
          <p:spPr bwMode="auto">
            <a:xfrm>
              <a:off x="3875" y="2425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15" name="Line 143"/>
            <p:cNvSpPr>
              <a:spLocks noChangeShapeType="1"/>
            </p:cNvSpPr>
            <p:nvPr/>
          </p:nvSpPr>
          <p:spPr bwMode="auto">
            <a:xfrm flipH="1">
              <a:off x="3923" y="2425"/>
              <a:ext cx="76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16" name="Line 144"/>
            <p:cNvSpPr>
              <a:spLocks noChangeShapeType="1"/>
            </p:cNvSpPr>
            <p:nvPr/>
          </p:nvSpPr>
          <p:spPr bwMode="auto">
            <a:xfrm flipV="1">
              <a:off x="4691" y="2425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7" name="Line 145"/>
            <p:cNvSpPr>
              <a:spLocks noChangeShapeType="1"/>
            </p:cNvSpPr>
            <p:nvPr/>
          </p:nvSpPr>
          <p:spPr bwMode="auto">
            <a:xfrm flipV="1">
              <a:off x="3923" y="300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6" name="Group 146"/>
          <p:cNvGrpSpPr>
            <a:grpSpLocks/>
          </p:cNvGrpSpPr>
          <p:nvPr/>
        </p:nvGrpSpPr>
        <p:grpSpPr bwMode="auto">
          <a:xfrm>
            <a:off x="728663" y="2046081"/>
            <a:ext cx="7239000" cy="4419600"/>
            <a:chOff x="1043" y="1321"/>
            <a:chExt cx="4560" cy="2784"/>
          </a:xfrm>
        </p:grpSpPr>
        <p:sp>
          <p:nvSpPr>
            <p:cNvPr id="7192" name="Rectangle 147"/>
            <p:cNvSpPr>
              <a:spLocks noChangeArrowheads="1"/>
            </p:cNvSpPr>
            <p:nvPr/>
          </p:nvSpPr>
          <p:spPr bwMode="auto">
            <a:xfrm>
              <a:off x="1043" y="1321"/>
              <a:ext cx="4560" cy="27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193" name="Line 148"/>
            <p:cNvSpPr>
              <a:spLocks noChangeShapeType="1"/>
            </p:cNvSpPr>
            <p:nvPr/>
          </p:nvSpPr>
          <p:spPr bwMode="auto">
            <a:xfrm>
              <a:off x="3923" y="2185"/>
              <a:ext cx="768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94" name="Text Box 149"/>
            <p:cNvSpPr txBox="1">
              <a:spLocks noChangeArrowheads="1"/>
            </p:cNvSpPr>
            <p:nvPr/>
          </p:nvSpPr>
          <p:spPr bwMode="auto">
            <a:xfrm>
              <a:off x="3779" y="1897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195" name="Text Box 150"/>
            <p:cNvSpPr txBox="1">
              <a:spLocks noChangeArrowheads="1"/>
            </p:cNvSpPr>
            <p:nvPr/>
          </p:nvSpPr>
          <p:spPr bwMode="auto">
            <a:xfrm>
              <a:off x="4595" y="32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196" name="Text Box 151"/>
            <p:cNvSpPr txBox="1">
              <a:spLocks noChangeArrowheads="1"/>
            </p:cNvSpPr>
            <p:nvPr/>
          </p:nvSpPr>
          <p:spPr bwMode="auto">
            <a:xfrm>
              <a:off x="1091" y="1417"/>
              <a:ext cx="1968" cy="2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</a:t>
              </a:r>
              <a:r>
                <a:rPr lang="en-US" altLang="en-US" sz="2000">
                  <a:solidFill>
                    <a:srgbClr val="FF5050"/>
                  </a:solidFill>
                  <a:latin typeface="Times New Roman" pitchFamily="18" charset="0"/>
                </a:rPr>
                <a:t>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Terminate yielding E.</a:t>
              </a:r>
            </a:p>
          </p:txBody>
        </p:sp>
        <p:sp>
          <p:nvSpPr>
            <p:cNvPr id="7197" name="Text Box 152"/>
            <p:cNvSpPr txBox="1">
              <a:spLocks noChangeArrowheads="1"/>
            </p:cNvSpPr>
            <p:nvPr/>
          </p:nvSpPr>
          <p:spPr bwMode="auto">
            <a:xfrm>
              <a:off x="3635" y="3001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7198" name="Text Box 153"/>
            <p:cNvSpPr txBox="1">
              <a:spLocks noChangeArrowheads="1"/>
            </p:cNvSpPr>
            <p:nvPr/>
          </p:nvSpPr>
          <p:spPr bwMode="auto">
            <a:xfrm>
              <a:off x="4787" y="218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7199" name="Text Box 154"/>
            <p:cNvSpPr txBox="1">
              <a:spLocks noChangeArrowheads="1"/>
            </p:cNvSpPr>
            <p:nvPr/>
          </p:nvSpPr>
          <p:spPr bwMode="auto">
            <a:xfrm>
              <a:off x="4333" y="2607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7200" name="Line 155"/>
            <p:cNvSpPr>
              <a:spLocks noChangeShapeType="1"/>
            </p:cNvSpPr>
            <p:nvPr/>
          </p:nvSpPr>
          <p:spPr bwMode="auto">
            <a:xfrm flipV="1">
              <a:off x="4307" y="2713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1" name="Oval 156"/>
            <p:cNvSpPr>
              <a:spLocks noChangeArrowheads="1"/>
            </p:cNvSpPr>
            <p:nvPr/>
          </p:nvSpPr>
          <p:spPr bwMode="auto">
            <a:xfrm>
              <a:off x="3107" y="1369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02" name="Oval 157"/>
            <p:cNvSpPr>
              <a:spLocks noChangeArrowheads="1"/>
            </p:cNvSpPr>
            <p:nvPr/>
          </p:nvSpPr>
          <p:spPr bwMode="auto">
            <a:xfrm>
              <a:off x="3875" y="2425"/>
              <a:ext cx="1632" cy="16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203" name="Line 158"/>
            <p:cNvSpPr>
              <a:spLocks noChangeShapeType="1"/>
            </p:cNvSpPr>
            <p:nvPr/>
          </p:nvSpPr>
          <p:spPr bwMode="auto">
            <a:xfrm flipH="1">
              <a:off x="3923" y="2425"/>
              <a:ext cx="76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4" name="Line 159"/>
            <p:cNvSpPr>
              <a:spLocks noChangeShapeType="1"/>
            </p:cNvSpPr>
            <p:nvPr/>
          </p:nvSpPr>
          <p:spPr bwMode="auto">
            <a:xfrm flipV="1">
              <a:off x="4691" y="2425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5" name="Line 160"/>
            <p:cNvSpPr>
              <a:spLocks noChangeShapeType="1"/>
            </p:cNvSpPr>
            <p:nvPr/>
          </p:nvSpPr>
          <p:spPr bwMode="auto">
            <a:xfrm flipV="1">
              <a:off x="3923" y="3001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" name="Group 94"/>
          <p:cNvGrpSpPr>
            <a:grpSpLocks/>
          </p:cNvGrpSpPr>
          <p:nvPr/>
        </p:nvGrpSpPr>
        <p:grpSpPr bwMode="auto">
          <a:xfrm>
            <a:off x="728663" y="2046081"/>
            <a:ext cx="7239000" cy="4419600"/>
            <a:chOff x="1655763" y="2213756"/>
            <a:chExt cx="7239000" cy="4419600"/>
          </a:xfrm>
        </p:grpSpPr>
        <p:sp>
          <p:nvSpPr>
            <p:cNvPr id="7178" name="Rectangle 162"/>
            <p:cNvSpPr>
              <a:spLocks noChangeArrowheads="1"/>
            </p:cNvSpPr>
            <p:nvPr/>
          </p:nvSpPr>
          <p:spPr bwMode="auto">
            <a:xfrm>
              <a:off x="1655763" y="2213756"/>
              <a:ext cx="7239000" cy="441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179" name="Line 163"/>
            <p:cNvSpPr>
              <a:spLocks noChangeShapeType="1"/>
            </p:cNvSpPr>
            <p:nvPr/>
          </p:nvSpPr>
          <p:spPr bwMode="auto">
            <a:xfrm>
              <a:off x="6227763" y="3585356"/>
              <a:ext cx="1219200" cy="1676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80" name="Text Box 164"/>
            <p:cNvSpPr txBox="1">
              <a:spLocks noChangeArrowheads="1"/>
            </p:cNvSpPr>
            <p:nvPr/>
          </p:nvSpPr>
          <p:spPr bwMode="auto">
            <a:xfrm>
              <a:off x="5999163" y="3128156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7181" name="Text Box 165"/>
            <p:cNvSpPr txBox="1">
              <a:spLocks noChangeArrowheads="1"/>
            </p:cNvSpPr>
            <p:nvPr/>
          </p:nvSpPr>
          <p:spPr bwMode="auto">
            <a:xfrm>
              <a:off x="7294563" y="5337956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7182" name="Text Box 166"/>
            <p:cNvSpPr txBox="1">
              <a:spLocks noChangeArrowheads="1"/>
            </p:cNvSpPr>
            <p:nvPr/>
          </p:nvSpPr>
          <p:spPr bwMode="auto">
            <a:xfrm>
              <a:off x="1731963" y="2366156"/>
              <a:ext cx="3124200" cy="3477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1.	Draw intersecting circles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of equal radius, centered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at A and B respectively.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Let C and D be the 	points where the circles 	intersect.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Draw a straight line 	between C and D.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Let E be the point 	where CD intersects AB.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5.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Terminate yielding E.</a:t>
              </a:r>
            </a:p>
          </p:txBody>
        </p:sp>
        <p:sp>
          <p:nvSpPr>
            <p:cNvPr id="7183" name="Text Box 167"/>
            <p:cNvSpPr txBox="1">
              <a:spLocks noChangeArrowheads="1"/>
            </p:cNvSpPr>
            <p:nvPr/>
          </p:nvSpPr>
          <p:spPr bwMode="auto">
            <a:xfrm>
              <a:off x="5770563" y="4880756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7184" name="Text Box 168"/>
            <p:cNvSpPr txBox="1">
              <a:spLocks noChangeArrowheads="1"/>
            </p:cNvSpPr>
            <p:nvPr/>
          </p:nvSpPr>
          <p:spPr bwMode="auto">
            <a:xfrm>
              <a:off x="7599363" y="3585356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7185" name="Text Box 169"/>
            <p:cNvSpPr txBox="1">
              <a:spLocks noChangeArrowheads="1"/>
            </p:cNvSpPr>
            <p:nvPr/>
          </p:nvSpPr>
          <p:spPr bwMode="auto">
            <a:xfrm>
              <a:off x="6878638" y="4255281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7186" name="Line 170"/>
            <p:cNvSpPr>
              <a:spLocks noChangeShapeType="1"/>
            </p:cNvSpPr>
            <p:nvPr/>
          </p:nvSpPr>
          <p:spPr bwMode="auto">
            <a:xfrm flipV="1">
              <a:off x="6837363" y="4423556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87" name="Oval 171"/>
            <p:cNvSpPr>
              <a:spLocks noChangeArrowheads="1"/>
            </p:cNvSpPr>
            <p:nvPr/>
          </p:nvSpPr>
          <p:spPr bwMode="auto">
            <a:xfrm>
              <a:off x="4932363" y="2289956"/>
              <a:ext cx="2590800" cy="2590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188" name="Oval 172"/>
            <p:cNvSpPr>
              <a:spLocks noChangeArrowheads="1"/>
            </p:cNvSpPr>
            <p:nvPr/>
          </p:nvSpPr>
          <p:spPr bwMode="auto">
            <a:xfrm>
              <a:off x="6151563" y="3966356"/>
              <a:ext cx="2590800" cy="2590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7189" name="Line 173"/>
            <p:cNvSpPr>
              <a:spLocks noChangeShapeType="1"/>
            </p:cNvSpPr>
            <p:nvPr/>
          </p:nvSpPr>
          <p:spPr bwMode="auto">
            <a:xfrm flipH="1">
              <a:off x="6227763" y="3966356"/>
              <a:ext cx="12192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90" name="Line 174"/>
            <p:cNvSpPr>
              <a:spLocks noChangeShapeType="1"/>
            </p:cNvSpPr>
            <p:nvPr/>
          </p:nvSpPr>
          <p:spPr bwMode="auto">
            <a:xfrm flipV="1">
              <a:off x="7446963" y="3966356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91" name="Line 175"/>
            <p:cNvSpPr>
              <a:spLocks noChangeShapeType="1"/>
            </p:cNvSpPr>
            <p:nvPr/>
          </p:nvSpPr>
          <p:spPr bwMode="auto">
            <a:xfrm flipV="1">
              <a:off x="6227763" y="4880756"/>
              <a:ext cx="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1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finding a midpoint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Animation: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0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computing a GCD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dirty="0"/>
              <a:t>The </a:t>
            </a:r>
            <a:r>
              <a:rPr lang="en-US" altLang="en-US" b="1" dirty="0"/>
              <a:t>greatest common divisor</a:t>
            </a:r>
            <a:r>
              <a:rPr lang="en-US" altLang="en-US" dirty="0"/>
              <a:t> (</a:t>
            </a:r>
            <a:r>
              <a:rPr lang="en-US" altLang="en-US" b="1" dirty="0"/>
              <a:t>GCD</a:t>
            </a:r>
            <a:r>
              <a:rPr lang="en-US" altLang="en-US" dirty="0"/>
              <a:t>) of two positive integers is the largest integer that exactly divides both. E.g., the GCD of 77 and 21 is 7.</a:t>
            </a:r>
          </a:p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 dirty="0"/>
              <a:t>Euclid’s GCD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compute the GCD of positive integers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 and </a:t>
            </a:r>
            <a:r>
              <a:rPr lang="en-US" altLang="en-US" sz="2000" i="1" dirty="0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, and set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While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 does not exactly divide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Set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, and set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 to (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modulo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).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Terminate yielding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354308" name="AutoShape 4"/>
          <p:cNvSpPr>
            <a:spLocks/>
          </p:cNvSpPr>
          <p:nvPr/>
        </p:nvSpPr>
        <p:spPr bwMode="auto">
          <a:xfrm>
            <a:off x="6186487" y="4410966"/>
            <a:ext cx="1547813" cy="244475"/>
          </a:xfrm>
          <a:prstGeom prst="callout1">
            <a:avLst>
              <a:gd name="adj1" fmla="val 46755"/>
              <a:gd name="adj2" fmla="val -4921"/>
              <a:gd name="adj3" fmla="val 39611"/>
              <a:gd name="adj4" fmla="val -32616"/>
            </a:avLst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simultaneously</a:t>
            </a:r>
          </a:p>
        </p:txBody>
      </p:sp>
      <p:sp>
        <p:nvSpPr>
          <p:cNvPr id="354309" name="Rectangle 5"/>
          <p:cNvSpPr>
            <a:spLocks noChangeArrowheads="1"/>
          </p:cNvSpPr>
          <p:nvPr/>
        </p:nvSpPr>
        <p:spPr bwMode="auto">
          <a:xfrm>
            <a:off x="533400" y="5445125"/>
            <a:ext cx="72009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l"/>
                <a:tab pos="13462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l"/>
                <a:tab pos="13462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This algorithm can be performed by a human, perhaps equipped with an abacus or calculator.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1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8" grpId="0" animBg="1"/>
      <p:bldP spid="3543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computing a GCD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Animation:</a:t>
            </a:r>
          </a:p>
        </p:txBody>
      </p:sp>
      <p:grpSp>
        <p:nvGrpSpPr>
          <p:cNvPr id="2" name="Group 177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98" name="Rectangle 5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99" name="Text Box 6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300" name="Text Box 7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301" name="Text Box 8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While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302" name="Text Box 9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303" name="Text Box 10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</p:grpSp>
      <p:grpSp>
        <p:nvGrpSpPr>
          <p:cNvPr id="3" name="Group 178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88" name="Rectangle 179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89" name="Text Box 180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90" name="Text Box 181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91" name="Text Box 182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n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While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92" name="Text Box 183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93" name="Text Box 184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94" name="Text Box 185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95" name="Text Box 186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96" name="Text Box 187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97" name="Text Box 188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4" name="Group 189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78" name="Rectangle 190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79" name="Text Box 191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80" name="Text Box 192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81" name="Text Box 193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While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82" name="Text Box 194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83" name="Text Box 195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84" name="Text Box 196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85" name="Text Box 197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86" name="Text Box 198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87" name="Text Box 199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5" name="Group 200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68" name="Rectangle 201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69" name="Text Box 202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70" name="Text Box 203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71" name="Text Box 204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While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(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modulo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72" name="Text Box 205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73" name="Text Box 206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74" name="Text Box 207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75" name="Text Box 208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76" name="Text Box 209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9277" name="Text Box 210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6" name="Group 211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58" name="Rectangle 212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59" name="Text Box 213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60" name="Text Box 214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61" name="Text Box 215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While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62" name="Text Box 216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63" name="Text Box 217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64" name="Text Box 218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65" name="Text Box 219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66" name="Text Box 220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9267" name="Text Box 221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7" name="Group 222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48" name="Rectangle 223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49" name="Text Box 224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50" name="Text Box 225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51" name="Text Box 226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While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(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modulo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52" name="Text Box 227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53" name="Text Box 228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54" name="Text Box 229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9255" name="Text Box 230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56" name="Text Box 231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9257" name="Text Box 232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8" name="Group 233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38" name="Rectangle 234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39" name="Text Box 235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40" name="Text Box 236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41" name="Text Box 237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While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Terminate yielding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9242" name="Text Box 238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43" name="Text Box 239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44" name="Text Box 240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9245" name="Text Box 241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46" name="Text Box 242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9247" name="Text Box 243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grpSp>
        <p:nvGrpSpPr>
          <p:cNvPr id="9" name="Group 244"/>
          <p:cNvGrpSpPr>
            <a:grpSpLocks/>
          </p:cNvGrpSpPr>
          <p:nvPr/>
        </p:nvGrpSpPr>
        <p:grpSpPr bwMode="auto">
          <a:xfrm>
            <a:off x="1979613" y="2205038"/>
            <a:ext cx="5334000" cy="2971800"/>
            <a:chOff x="1247" y="1389"/>
            <a:chExt cx="3360" cy="1872"/>
          </a:xfrm>
        </p:grpSpPr>
        <p:sp>
          <p:nvSpPr>
            <p:cNvPr id="9228" name="Rectangle 245"/>
            <p:cNvSpPr>
              <a:spLocks noChangeArrowheads="1"/>
            </p:cNvSpPr>
            <p:nvPr/>
          </p:nvSpPr>
          <p:spPr bwMode="auto">
            <a:xfrm>
              <a:off x="1247" y="1389"/>
              <a:ext cx="3360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29" name="Text Box 246"/>
            <p:cNvSpPr txBox="1">
              <a:spLocks noChangeArrowheads="1"/>
            </p:cNvSpPr>
            <p:nvPr/>
          </p:nvSpPr>
          <p:spPr bwMode="auto">
            <a:xfrm>
              <a:off x="2063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77</a:t>
              </a:r>
            </a:p>
          </p:txBody>
        </p:sp>
        <p:sp>
          <p:nvSpPr>
            <p:cNvPr id="9230" name="Text Box 247"/>
            <p:cNvSpPr txBox="1">
              <a:spLocks noChangeArrowheads="1"/>
            </p:cNvSpPr>
            <p:nvPr/>
          </p:nvSpPr>
          <p:spPr bwMode="auto">
            <a:xfrm>
              <a:off x="1823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m</a:t>
              </a:r>
            </a:p>
          </p:txBody>
        </p:sp>
        <p:sp>
          <p:nvSpPr>
            <p:cNvPr id="9231" name="Text Box 248"/>
            <p:cNvSpPr txBox="1">
              <a:spLocks noChangeArrowheads="1"/>
            </p:cNvSpPr>
            <p:nvPr/>
          </p:nvSpPr>
          <p:spPr bwMode="auto">
            <a:xfrm>
              <a:off x="1295" y="1437"/>
              <a:ext cx="326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compute the GCD of positive integers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m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While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does not exactly divide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, repeat: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, and set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 to (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Times New Roman" pitchFamily="18" charset="0"/>
                </a:rPr>
                <a:t> modulo </a:t>
              </a:r>
              <a:r>
                <a:rPr lang="en-US" altLang="en-US" sz="2000" i="1">
                  <a:latin typeface="Times New Roman" pitchFamily="18" charset="0"/>
                </a:rPr>
                <a:t>q</a:t>
              </a:r>
              <a:r>
                <a:rPr lang="en-US" altLang="en-US" sz="2000">
                  <a:latin typeface="Times New Roman" pitchFamily="18" charset="0"/>
                </a:rPr>
                <a:t>).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Terminate yielding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q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endParaRPr lang="en-GB" altLang="en-US" sz="20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9232" name="Text Box 249"/>
            <p:cNvSpPr txBox="1">
              <a:spLocks noChangeArrowheads="1"/>
            </p:cNvSpPr>
            <p:nvPr/>
          </p:nvSpPr>
          <p:spPr bwMode="auto">
            <a:xfrm>
              <a:off x="2831" y="2625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21</a:t>
              </a:r>
            </a:p>
          </p:txBody>
        </p:sp>
        <p:sp>
          <p:nvSpPr>
            <p:cNvPr id="9233" name="Text Box 250"/>
            <p:cNvSpPr txBox="1">
              <a:spLocks noChangeArrowheads="1"/>
            </p:cNvSpPr>
            <p:nvPr/>
          </p:nvSpPr>
          <p:spPr bwMode="auto">
            <a:xfrm>
              <a:off x="2591" y="2619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9234" name="Text Box 251"/>
            <p:cNvSpPr txBox="1">
              <a:spLocks noChangeArrowheads="1"/>
            </p:cNvSpPr>
            <p:nvPr/>
          </p:nvSpPr>
          <p:spPr bwMode="auto">
            <a:xfrm>
              <a:off x="2063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9235" name="Text Box 252"/>
            <p:cNvSpPr txBox="1">
              <a:spLocks noChangeArrowheads="1"/>
            </p:cNvSpPr>
            <p:nvPr/>
          </p:nvSpPr>
          <p:spPr bwMode="auto">
            <a:xfrm>
              <a:off x="1823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9236" name="Text Box 253"/>
            <p:cNvSpPr txBox="1">
              <a:spLocks noChangeArrowheads="1"/>
            </p:cNvSpPr>
            <p:nvPr/>
          </p:nvSpPr>
          <p:spPr bwMode="auto">
            <a:xfrm>
              <a:off x="2831" y="2967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9237" name="Text Box 254"/>
            <p:cNvSpPr txBox="1">
              <a:spLocks noChangeArrowheads="1"/>
            </p:cNvSpPr>
            <p:nvPr/>
          </p:nvSpPr>
          <p:spPr bwMode="auto">
            <a:xfrm>
              <a:off x="2591" y="2961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q</a:t>
              </a: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8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computing a GCD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Implementation in Java: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b="1" dirty="0">
                <a:latin typeface="Courier New" pitchFamily="49" charset="0"/>
              </a:rPr>
              <a:t>	static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gcd</a:t>
            </a:r>
            <a:r>
              <a:rPr lang="en-US" altLang="en-US" sz="2000" dirty="0">
                <a:latin typeface="Courier New" pitchFamily="49" charset="0"/>
              </a:rPr>
              <a:t> (</a:t>
            </a:r>
            <a:r>
              <a:rPr lang="en-US" altLang="en-US" sz="2000" b="1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m, </a:t>
            </a:r>
            <a:r>
              <a:rPr lang="en-US" altLang="en-US" sz="2000" b="1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n) {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// </a:t>
            </a:r>
            <a:r>
              <a:rPr lang="en-US" altLang="en-US" sz="2000" dirty="0"/>
              <a:t>Return the greatest common divisor of </a:t>
            </a:r>
            <a:r>
              <a:rPr lang="en-US" altLang="en-US" sz="2000" dirty="0">
                <a:latin typeface="Courier New" pitchFamily="49" charset="0"/>
              </a:rPr>
              <a:t>m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urier New" pitchFamily="49" charset="0"/>
              </a:rPr>
              <a:t>n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// </a:t>
            </a:r>
            <a:r>
              <a:rPr lang="en-US" altLang="en-US" sz="2000" dirty="0"/>
              <a:t>(assumed positive).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p = m, q = n;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latin typeface="Courier New" pitchFamily="49" charset="0"/>
              </a:rPr>
              <a:t>while</a:t>
            </a:r>
            <a:r>
              <a:rPr lang="en-US" altLang="en-US" sz="2000" dirty="0">
                <a:latin typeface="Courier New" pitchFamily="49" charset="0"/>
              </a:rPr>
              <a:t> (p % q != 0) {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	</a:t>
            </a:r>
            <a:r>
              <a:rPr lang="en-US" altLang="en-US" sz="2000" b="1" dirty="0" err="1">
                <a:latin typeface="Courier New" pitchFamily="49" charset="0"/>
              </a:rPr>
              <a:t>int</a:t>
            </a:r>
            <a:r>
              <a:rPr lang="en-US" altLang="en-US" sz="2000" dirty="0">
                <a:latin typeface="Courier New" pitchFamily="49" charset="0"/>
              </a:rPr>
              <a:t> r = p % q;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	p = q;  q = r;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}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latin typeface="Courier New" pitchFamily="49" charset="0"/>
              </a:rPr>
              <a:t>return</a:t>
            </a:r>
            <a:r>
              <a:rPr lang="en-US" altLang="en-US" sz="2000" dirty="0">
                <a:latin typeface="Courier New" pitchFamily="49" charset="0"/>
              </a:rPr>
              <a:t> q;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}</a:t>
            </a:r>
            <a:endParaRPr lang="en-US" altLang="en-US" sz="20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Algorithms </a:t>
            </a:r>
            <a:r>
              <a:rPr lang="en-US" altLang="en-US" sz="3200" i="1" dirty="0"/>
              <a:t>vs</a:t>
            </a:r>
            <a:r>
              <a:rPr lang="en-US" altLang="en-US" sz="3200" dirty="0"/>
              <a:t> programs</a:t>
            </a:r>
            <a:endParaRPr lang="en-GB" altLang="en-US" sz="3200" i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Algorithms:</a:t>
            </a:r>
          </a:p>
          <a:p>
            <a:pPr lvl="1" eaLnBrk="1" hangingPunct="1"/>
            <a:r>
              <a:rPr lang="en-US" altLang="en-US"/>
              <a:t>can be performed by humans or machines</a:t>
            </a:r>
          </a:p>
          <a:p>
            <a:pPr lvl="1" eaLnBrk="1" hangingPunct="1"/>
            <a:r>
              <a:rPr lang="en-US" altLang="en-US"/>
              <a:t>may be expressed in any suitable language</a:t>
            </a:r>
          </a:p>
          <a:p>
            <a:pPr lvl="1" eaLnBrk="1" hangingPunct="1"/>
            <a:r>
              <a:rPr lang="en-US" altLang="en-US"/>
              <a:t>may be as abstract (undetailed) as we like.</a:t>
            </a:r>
          </a:p>
          <a:p>
            <a:pPr eaLnBrk="1" hangingPunct="1"/>
            <a:r>
              <a:rPr lang="en-US" altLang="en-US"/>
              <a:t>Programs:</a:t>
            </a:r>
          </a:p>
          <a:p>
            <a:pPr lvl="1" eaLnBrk="1" hangingPunct="1"/>
            <a:r>
              <a:rPr lang="en-US" altLang="en-US"/>
              <a:t>can be performed only by machines</a:t>
            </a:r>
          </a:p>
          <a:p>
            <a:pPr lvl="1" eaLnBrk="1" hangingPunct="1"/>
            <a:r>
              <a:rPr lang="en-US" altLang="en-US"/>
              <a:t>must be expressed in a programming language</a:t>
            </a:r>
          </a:p>
          <a:p>
            <a:pPr lvl="1" eaLnBrk="1" hangingPunct="1"/>
            <a:r>
              <a:rPr lang="en-US" altLang="en-US"/>
              <a:t>must be detailed and specific.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05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Algorithm notation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</a:tabLst>
            </a:pPr>
            <a:r>
              <a:rPr lang="en-US" altLang="en-US" dirty="0"/>
              <a:t>In this course we express our algorithms in precisely-worded </a:t>
            </a:r>
            <a:r>
              <a:rPr lang="en-US" altLang="en-US" b="1" dirty="0"/>
              <a:t>English</a:t>
            </a:r>
            <a:r>
              <a:rPr lang="en-US" altLang="en-US" dirty="0"/>
              <a:t>.</a:t>
            </a:r>
          </a:p>
          <a:p>
            <a:pPr eaLnBrk="1" hangingPunct="1">
              <a:tabLst>
                <a:tab pos="723900" algn="l"/>
              </a:tabLst>
            </a:pPr>
            <a:r>
              <a:rPr lang="en-US" altLang="en-US" dirty="0"/>
              <a:t>Steps may be numbered: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Do this.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Do that.</a:t>
            </a:r>
          </a:p>
        </p:txBody>
      </p:sp>
      <p:sp>
        <p:nvSpPr>
          <p:cNvPr id="320516" name="Rectangle 4"/>
          <p:cNvSpPr>
            <a:spLocks noChangeArrowheads="1"/>
          </p:cNvSpPr>
          <p:nvPr/>
        </p:nvSpPr>
        <p:spPr bwMode="auto">
          <a:xfrm>
            <a:off x="457200" y="3897313"/>
            <a:ext cx="720090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l"/>
                <a:tab pos="13462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l"/>
                <a:tab pos="13462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A conditional’s extent is indicated by indentation: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sz="2000" dirty="0">
                <a:latin typeface="Times New Roman" pitchFamily="18" charset="0"/>
              </a:rPr>
              <a:t>	3.	If </a:t>
            </a:r>
            <a:r>
              <a:rPr lang="en-US" altLang="en-US" sz="2000" i="1" dirty="0">
                <a:latin typeface="Times New Roman" pitchFamily="18" charset="0"/>
              </a:rPr>
              <a:t>proposition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3.1.	Do this.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3.2.	Do that.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</a:pPr>
            <a:r>
              <a:rPr lang="en-US" altLang="en-US" sz="2000" dirty="0">
                <a:latin typeface="Times New Roman" pitchFamily="18" charset="0"/>
              </a:rPr>
              <a:t>	4.	Else: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4.1.	Do the other thing.</a:t>
            </a:r>
          </a:p>
        </p:txBody>
      </p:sp>
      <p:sp>
        <p:nvSpPr>
          <p:cNvPr id="320518" name="AutoShape 6"/>
          <p:cNvSpPr>
            <a:spLocks/>
          </p:cNvSpPr>
          <p:nvPr/>
        </p:nvSpPr>
        <p:spPr bwMode="auto">
          <a:xfrm>
            <a:off x="6156325" y="2978943"/>
            <a:ext cx="1800225" cy="468313"/>
          </a:xfrm>
          <a:prstGeom prst="callout1">
            <a:avLst>
              <a:gd name="adj1" fmla="val 24407"/>
              <a:gd name="adj2" fmla="val -4231"/>
              <a:gd name="adj3" fmla="val 48829"/>
              <a:gd name="adj4" fmla="val -148056"/>
            </a:avLst>
          </a:prstGeom>
          <a:noFill/>
          <a:ln w="9525">
            <a:noFill/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Do this, and then do that.</a:t>
            </a:r>
          </a:p>
        </p:txBody>
      </p:sp>
      <p:sp>
        <p:nvSpPr>
          <p:cNvPr id="320517" name="AutoShape 5"/>
          <p:cNvSpPr>
            <a:spLocks/>
          </p:cNvSpPr>
          <p:nvPr/>
        </p:nvSpPr>
        <p:spPr bwMode="auto">
          <a:xfrm>
            <a:off x="5065712" y="4551147"/>
            <a:ext cx="2592388" cy="541337"/>
          </a:xfrm>
          <a:prstGeom prst="callout1">
            <a:avLst>
              <a:gd name="adj1" fmla="val 24407"/>
              <a:gd name="adj2" fmla="val -3255"/>
              <a:gd name="adj3" fmla="val 22458"/>
              <a:gd name="adj4" fmla="val -75435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If the proposition is true, do this and then do that.</a:t>
            </a:r>
          </a:p>
        </p:txBody>
      </p:sp>
      <p:sp>
        <p:nvSpPr>
          <p:cNvPr id="320519" name="AutoShape 7"/>
          <p:cNvSpPr>
            <a:spLocks/>
          </p:cNvSpPr>
          <p:nvPr/>
        </p:nvSpPr>
        <p:spPr bwMode="auto">
          <a:xfrm>
            <a:off x="5137150" y="5518150"/>
            <a:ext cx="2520950" cy="503238"/>
          </a:xfrm>
          <a:prstGeom prst="callout1">
            <a:avLst>
              <a:gd name="adj1" fmla="val 24407"/>
              <a:gd name="adj2" fmla="val -3255"/>
              <a:gd name="adj3" fmla="val 27278"/>
              <a:gd name="adj4" fmla="val -51468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If the proposition is false, do the other thing.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3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/>
      <p:bldP spid="320518" grpId="0"/>
      <p:bldP spid="320517" grpId="0" animBg="1"/>
      <p:bldP spid="3205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Algorithm notation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346200" algn="l"/>
              </a:tabLst>
            </a:pPr>
            <a:r>
              <a:rPr lang="en-US" altLang="en-US" dirty="0"/>
              <a:t>A loop’s extent is indicated by indentation: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346200" algn="l"/>
              </a:tabLst>
            </a:pPr>
            <a:r>
              <a:rPr lang="en-US" altLang="en-US" sz="2000" dirty="0">
                <a:latin typeface="Times New Roman" pitchFamily="18" charset="0"/>
              </a:rPr>
              <a:t>	5.	While </a:t>
            </a:r>
            <a:r>
              <a:rPr lang="en-US" altLang="en-US" sz="2000" i="1" dirty="0">
                <a:latin typeface="Times New Roman" pitchFamily="18" charset="0"/>
              </a:rPr>
              <a:t>proposition</a:t>
            </a:r>
            <a:r>
              <a:rPr lang="en-US" altLang="en-US" sz="2000" dirty="0">
                <a:latin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5.1.	Do this.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5.2.	Do that.</a:t>
            </a:r>
          </a:p>
          <a:p>
            <a:pPr eaLnBrk="1" hangingPunct="1">
              <a:spcBef>
                <a:spcPts val="900"/>
              </a:spcBef>
              <a:buFont typeface="Wingdings" pitchFamily="2" charset="2"/>
              <a:buNone/>
              <a:tabLst>
                <a:tab pos="723900" algn="l"/>
                <a:tab pos="1346200" algn="l"/>
              </a:tabLst>
            </a:pPr>
            <a:r>
              <a:rPr lang="en-US" altLang="en-US" sz="2000" dirty="0">
                <a:latin typeface="Times New Roman" pitchFamily="18" charset="0"/>
              </a:rPr>
              <a:t>	6.	For </a:t>
            </a:r>
            <a:r>
              <a:rPr lang="en-US" altLang="en-US" sz="2000" i="1" dirty="0" err="1">
                <a:latin typeface="Times New Roman" pitchFamily="18" charset="0"/>
              </a:rPr>
              <a:t>i</a:t>
            </a:r>
            <a:r>
              <a:rPr lang="en-US" altLang="en-US" sz="2000" dirty="0">
                <a:latin typeface="Times New Roman" pitchFamily="18" charset="0"/>
              </a:rPr>
              <a:t> =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, …, </a:t>
            </a:r>
            <a:r>
              <a:rPr lang="en-US" altLang="en-US" sz="2000" i="1" dirty="0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6.1.	Do this.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6.2.	Do that.</a:t>
            </a:r>
          </a:p>
        </p:txBody>
      </p:sp>
      <p:sp>
        <p:nvSpPr>
          <p:cNvPr id="321541" name="Rectangle 5"/>
          <p:cNvSpPr>
            <a:spLocks noChangeArrowheads="1"/>
          </p:cNvSpPr>
          <p:nvPr/>
        </p:nvSpPr>
        <p:spPr bwMode="auto">
          <a:xfrm>
            <a:off x="685800" y="4541838"/>
            <a:ext cx="7200900" cy="177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l"/>
                <a:tab pos="13462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l"/>
                <a:tab pos="13462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One algorithm can “call” another algorithm, </a:t>
            </a:r>
            <a:br>
              <a:rPr lang="en-US" altLang="en-US" sz="2000" dirty="0"/>
            </a:br>
            <a:r>
              <a:rPr lang="en-US" altLang="en-US" sz="2000" dirty="0"/>
              <a:t>or call itself recursively.</a:t>
            </a:r>
          </a:p>
        </p:txBody>
      </p:sp>
      <p:sp>
        <p:nvSpPr>
          <p:cNvPr id="321542" name="AutoShape 6"/>
          <p:cNvSpPr>
            <a:spLocks/>
          </p:cNvSpPr>
          <p:nvPr/>
        </p:nvSpPr>
        <p:spPr bwMode="auto">
          <a:xfrm>
            <a:off x="5029200" y="2272888"/>
            <a:ext cx="3024188" cy="720725"/>
          </a:xfrm>
          <a:prstGeom prst="callout1">
            <a:avLst>
              <a:gd name="adj1" fmla="val 15861"/>
              <a:gd name="adj2" fmla="val -3255"/>
              <a:gd name="adj3" fmla="val 15981"/>
              <a:gd name="adj4" fmla="val -21838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As long as the proposition is true, repeatedly do this and then do that.</a:t>
            </a:r>
          </a:p>
        </p:txBody>
      </p:sp>
      <p:sp>
        <p:nvSpPr>
          <p:cNvPr id="321543" name="AutoShape 7"/>
          <p:cNvSpPr>
            <a:spLocks/>
          </p:cNvSpPr>
          <p:nvPr/>
        </p:nvSpPr>
        <p:spPr bwMode="auto">
          <a:xfrm>
            <a:off x="5334000" y="3321049"/>
            <a:ext cx="3024188" cy="936625"/>
          </a:xfrm>
          <a:prstGeom prst="callout1">
            <a:avLst>
              <a:gd name="adj1" fmla="val 12204"/>
              <a:gd name="adj2" fmla="val -3255"/>
              <a:gd name="adj3" fmla="val 12657"/>
              <a:gd name="adj4" fmla="val -3194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With the variable </a:t>
            </a:r>
            <a:r>
              <a:rPr lang="en-US" altLang="en-US" sz="1800" i="1" dirty="0" err="1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ranging over the values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through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, repeatedly do this and then do that.</a:t>
            </a:r>
          </a:p>
        </p:txBody>
      </p:sp>
      <p:sp>
        <p:nvSpPr>
          <p:cNvPr id="321544" name="Rectangle 8"/>
          <p:cNvSpPr>
            <a:spLocks noChangeArrowheads="1"/>
          </p:cNvSpPr>
          <p:nvPr/>
        </p:nvSpPr>
        <p:spPr bwMode="auto">
          <a:xfrm>
            <a:off x="715616" y="5480188"/>
            <a:ext cx="7642571" cy="13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l"/>
                <a:tab pos="13462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l"/>
                <a:tab pos="13462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3462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altLang="en-US" sz="2000" i="1" dirty="0"/>
              <a:t>Note:</a:t>
            </a:r>
            <a:r>
              <a:rPr lang="en-GB" altLang="en-US" sz="2000" dirty="0"/>
              <a:t> The numbering of steps is </a:t>
            </a:r>
            <a:r>
              <a:rPr lang="en-GB" altLang="en-US" sz="2000"/>
              <a:t>optional.</a:t>
            </a:r>
          </a:p>
          <a:p>
            <a:pPr marL="0" indent="0" eaLnBrk="1" hangingPunct="1">
              <a:buClr>
                <a:schemeClr val="accent1"/>
              </a:buClr>
              <a:buNone/>
            </a:pPr>
            <a:r>
              <a:rPr lang="en-GB" altLang="en-US" sz="2000">
                <a:solidFill>
                  <a:schemeClr val="tx2"/>
                </a:solidFill>
              </a:rPr>
              <a:t>We won’t be strict about the notation – as long as the meaning is clear (and algorithm is not written in a programming language)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4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/>
      <p:bldP spid="321542" grpId="0" animBg="1"/>
      <p:bldP spid="321543" grpId="0" animBg="1"/>
      <p:bldP spid="3215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Implementing algorithms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If we wish to use the algorithm on a computer, we must first implement it in a </a:t>
            </a:r>
            <a:r>
              <a:rPr lang="en-US" altLang="en-US" b="1" dirty="0"/>
              <a:t>programming language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A given algorithm could be coded in several ways, and in any suitable programming language. But all the resulting programs are implementations of the same underlying algorithm.</a:t>
            </a:r>
          </a:p>
          <a:p>
            <a:pPr eaLnBrk="1" hangingPunct="1"/>
            <a:r>
              <a:rPr lang="en-US" altLang="en-US" dirty="0"/>
              <a:t>In this course we express our implementations in </a:t>
            </a:r>
            <a:r>
              <a:rPr lang="en-US" altLang="en-US" b="1" dirty="0"/>
              <a:t>Java</a:t>
            </a:r>
            <a:r>
              <a:rPr lang="en-US" altLang="en-US" dirty="0"/>
              <a:t>. (Alternatives would be C</a:t>
            </a:r>
            <a:r>
              <a:rPr lang="en-US" altLang="en-US"/>
              <a:t>, Python</a:t>
            </a:r>
            <a:r>
              <a:rPr lang="en-US" altLang="en-US" dirty="0"/>
              <a:t>, etc.)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8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Data structures</a:t>
            </a:r>
            <a:endParaRPr lang="en-GB" altLang="en-US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b="1" dirty="0"/>
              <a:t>data structure</a:t>
            </a:r>
            <a:r>
              <a:rPr lang="en-US" altLang="en-US" dirty="0"/>
              <a:t> is a systematic way of organizing a </a:t>
            </a:r>
            <a:r>
              <a:rPr lang="en-US" altLang="en-US" dirty="0">
                <a:solidFill>
                  <a:schemeClr val="tx2"/>
                </a:solidFill>
              </a:rPr>
              <a:t>collection</a:t>
            </a:r>
            <a:r>
              <a:rPr lang="en-US" altLang="en-US" dirty="0"/>
              <a:t> of data.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/>
              <a:t>static data structure</a:t>
            </a:r>
            <a:r>
              <a:rPr lang="en-US" altLang="en-US" dirty="0"/>
              <a:t> is one whose capacity is </a:t>
            </a:r>
            <a:r>
              <a:rPr lang="en-US" altLang="en-US" dirty="0">
                <a:solidFill>
                  <a:schemeClr val="tx2"/>
                </a:solidFill>
              </a:rPr>
              <a:t>fixed</a:t>
            </a:r>
            <a:r>
              <a:rPr lang="en-US" altLang="en-US" dirty="0"/>
              <a:t> when it is first constructed. </a:t>
            </a:r>
            <a:br>
              <a:rPr lang="en-US" altLang="en-US" dirty="0"/>
            </a:br>
            <a:r>
              <a:rPr lang="en-US" altLang="en-US" dirty="0"/>
              <a:t>E.g., an </a:t>
            </a:r>
            <a:r>
              <a:rPr lang="en-US" altLang="en-US" i="1" dirty="0"/>
              <a:t>array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dirty="0"/>
              <a:t>dynamic data structure</a:t>
            </a:r>
            <a:r>
              <a:rPr lang="en-US" altLang="en-US" dirty="0"/>
              <a:t> is one whose capacity is </a:t>
            </a:r>
            <a:r>
              <a:rPr lang="en-US" altLang="en-US" dirty="0">
                <a:solidFill>
                  <a:schemeClr val="tx2"/>
                </a:solidFill>
              </a:rPr>
              <a:t>variable</a:t>
            </a:r>
            <a:r>
              <a:rPr lang="en-US" altLang="en-US" dirty="0"/>
              <a:t>, so it can expand or contract at any time. </a:t>
            </a:r>
            <a:br>
              <a:rPr lang="en-US" altLang="en-US" dirty="0"/>
            </a:br>
            <a:r>
              <a:rPr lang="en-US" altLang="en-US" dirty="0"/>
              <a:t>E.g., a </a:t>
            </a:r>
            <a:r>
              <a:rPr lang="en-US" altLang="en-US" i="1" dirty="0"/>
              <a:t>linked-list</a:t>
            </a:r>
            <a:r>
              <a:rPr lang="en-US" altLang="en-US" dirty="0"/>
              <a:t> or </a:t>
            </a:r>
            <a:r>
              <a:rPr lang="en-US" altLang="en-US" i="1" dirty="0"/>
              <a:t>binary-search-tree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For each data structure we need </a:t>
            </a:r>
            <a:r>
              <a:rPr lang="en-US" altLang="en-US" dirty="0">
                <a:solidFill>
                  <a:schemeClr val="tx2"/>
                </a:solidFill>
              </a:rPr>
              <a:t>algorithms</a:t>
            </a:r>
            <a:r>
              <a:rPr lang="en-US" altLang="en-US" dirty="0"/>
              <a:t> for insertion, deletion, searching, etc.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representing strings</a:t>
            </a:r>
            <a:endParaRPr lang="en-GB" altLang="en-US" sz="32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Possible data structures to represent the string “Java”: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1309688" y="2589213"/>
            <a:ext cx="2819400" cy="514350"/>
            <a:chOff x="1305" y="1638"/>
            <a:chExt cx="1776" cy="324"/>
          </a:xfrm>
        </p:grpSpPr>
        <p:sp>
          <p:nvSpPr>
            <p:cNvPr id="16401" name="Text Box 41"/>
            <p:cNvSpPr txBox="1">
              <a:spLocks noChangeArrowheads="1"/>
            </p:cNvSpPr>
            <p:nvPr/>
          </p:nvSpPr>
          <p:spPr bwMode="auto">
            <a:xfrm>
              <a:off x="2121" y="1783"/>
              <a:ext cx="24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‘J’</a:t>
              </a:r>
            </a:p>
          </p:txBody>
        </p:sp>
        <p:sp>
          <p:nvSpPr>
            <p:cNvPr id="16402" name="Text Box 42"/>
            <p:cNvSpPr txBox="1">
              <a:spLocks noChangeArrowheads="1"/>
            </p:cNvSpPr>
            <p:nvPr/>
          </p:nvSpPr>
          <p:spPr bwMode="auto">
            <a:xfrm>
              <a:off x="2361" y="1783"/>
              <a:ext cx="24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‘a’</a:t>
              </a:r>
            </a:p>
          </p:txBody>
        </p:sp>
        <p:sp>
          <p:nvSpPr>
            <p:cNvPr id="16403" name="Text Box 43"/>
            <p:cNvSpPr txBox="1">
              <a:spLocks noChangeArrowheads="1"/>
            </p:cNvSpPr>
            <p:nvPr/>
          </p:nvSpPr>
          <p:spPr bwMode="auto">
            <a:xfrm>
              <a:off x="2601" y="1783"/>
              <a:ext cx="24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‘v’</a:t>
              </a:r>
            </a:p>
          </p:txBody>
        </p:sp>
        <p:sp>
          <p:nvSpPr>
            <p:cNvPr id="16404" name="Text Box 44"/>
            <p:cNvSpPr txBox="1">
              <a:spLocks noChangeArrowheads="1"/>
            </p:cNvSpPr>
            <p:nvPr/>
          </p:nvSpPr>
          <p:spPr bwMode="auto">
            <a:xfrm>
              <a:off x="1305" y="1783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Array:</a:t>
              </a:r>
            </a:p>
          </p:txBody>
        </p:sp>
        <p:sp>
          <p:nvSpPr>
            <p:cNvPr id="16405" name="Text Box 45"/>
            <p:cNvSpPr txBox="1">
              <a:spLocks noChangeArrowheads="1"/>
            </p:cNvSpPr>
            <p:nvPr/>
          </p:nvSpPr>
          <p:spPr bwMode="auto">
            <a:xfrm>
              <a:off x="2121" y="1640"/>
              <a:ext cx="2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0</a:t>
              </a:r>
            </a:p>
          </p:txBody>
        </p:sp>
        <p:sp>
          <p:nvSpPr>
            <p:cNvPr id="16406" name="Text Box 46"/>
            <p:cNvSpPr txBox="1">
              <a:spLocks noChangeArrowheads="1"/>
            </p:cNvSpPr>
            <p:nvPr/>
          </p:nvSpPr>
          <p:spPr bwMode="auto">
            <a:xfrm>
              <a:off x="2841" y="1783"/>
              <a:ext cx="24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‘a’</a:t>
              </a:r>
            </a:p>
          </p:txBody>
        </p:sp>
        <p:sp>
          <p:nvSpPr>
            <p:cNvPr id="16407" name="Text Box 47"/>
            <p:cNvSpPr txBox="1">
              <a:spLocks noChangeArrowheads="1"/>
            </p:cNvSpPr>
            <p:nvPr/>
          </p:nvSpPr>
          <p:spPr bwMode="auto">
            <a:xfrm>
              <a:off x="2361" y="1639"/>
              <a:ext cx="2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1</a:t>
              </a:r>
            </a:p>
          </p:txBody>
        </p:sp>
        <p:sp>
          <p:nvSpPr>
            <p:cNvPr id="16408" name="Text Box 48"/>
            <p:cNvSpPr txBox="1">
              <a:spLocks noChangeArrowheads="1"/>
            </p:cNvSpPr>
            <p:nvPr/>
          </p:nvSpPr>
          <p:spPr bwMode="auto">
            <a:xfrm>
              <a:off x="2601" y="1638"/>
              <a:ext cx="2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2</a:t>
              </a:r>
            </a:p>
          </p:txBody>
        </p:sp>
        <p:sp>
          <p:nvSpPr>
            <p:cNvPr id="16409" name="Text Box 49"/>
            <p:cNvSpPr txBox="1">
              <a:spLocks noChangeArrowheads="1"/>
            </p:cNvSpPr>
            <p:nvPr/>
          </p:nvSpPr>
          <p:spPr bwMode="auto">
            <a:xfrm>
              <a:off x="2841" y="1639"/>
              <a:ext cx="2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3</a:t>
              </a: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1309688" y="3558381"/>
            <a:ext cx="6172200" cy="304800"/>
            <a:chOff x="1305" y="2248"/>
            <a:chExt cx="3888" cy="192"/>
          </a:xfrm>
        </p:grpSpPr>
        <p:sp>
          <p:nvSpPr>
            <p:cNvPr id="16390" name="Rectangle 29"/>
            <p:cNvSpPr>
              <a:spLocks noChangeArrowheads="1"/>
            </p:cNvSpPr>
            <p:nvPr/>
          </p:nvSpPr>
          <p:spPr bwMode="auto">
            <a:xfrm>
              <a:off x="2121" y="22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6391" name="Text Box 30"/>
            <p:cNvSpPr txBox="1">
              <a:spLocks noChangeArrowheads="1"/>
            </p:cNvSpPr>
            <p:nvPr/>
          </p:nvSpPr>
          <p:spPr bwMode="auto">
            <a:xfrm>
              <a:off x="2601" y="2248"/>
              <a:ext cx="432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‘J’</a:t>
              </a:r>
            </a:p>
          </p:txBody>
        </p:sp>
        <p:sp>
          <p:nvSpPr>
            <p:cNvPr id="16392" name="Text Box 31"/>
            <p:cNvSpPr txBox="1">
              <a:spLocks noChangeArrowheads="1"/>
            </p:cNvSpPr>
            <p:nvPr/>
          </p:nvSpPr>
          <p:spPr bwMode="auto">
            <a:xfrm>
              <a:off x="3321" y="2248"/>
              <a:ext cx="432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‘a’</a:t>
              </a:r>
            </a:p>
          </p:txBody>
        </p:sp>
        <p:sp>
          <p:nvSpPr>
            <p:cNvPr id="16393" name="Text Box 32"/>
            <p:cNvSpPr txBox="1">
              <a:spLocks noChangeArrowheads="1"/>
            </p:cNvSpPr>
            <p:nvPr/>
          </p:nvSpPr>
          <p:spPr bwMode="auto">
            <a:xfrm>
              <a:off x="4041" y="2248"/>
              <a:ext cx="432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‘v’</a:t>
              </a:r>
            </a:p>
          </p:txBody>
        </p:sp>
        <p:sp>
          <p:nvSpPr>
            <p:cNvPr id="16394" name="Text Box 33"/>
            <p:cNvSpPr txBox="1">
              <a:spLocks noChangeArrowheads="1"/>
            </p:cNvSpPr>
            <p:nvPr/>
          </p:nvSpPr>
          <p:spPr bwMode="auto">
            <a:xfrm>
              <a:off x="4761" y="2248"/>
              <a:ext cx="432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‘a’</a:t>
              </a:r>
            </a:p>
          </p:txBody>
        </p:sp>
        <p:sp>
          <p:nvSpPr>
            <p:cNvPr id="16395" name="Text Box 34"/>
            <p:cNvSpPr txBox="1">
              <a:spLocks noChangeArrowheads="1"/>
            </p:cNvSpPr>
            <p:nvPr/>
          </p:nvSpPr>
          <p:spPr bwMode="auto">
            <a:xfrm>
              <a:off x="1305" y="2248"/>
              <a:ext cx="76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Linked-list:</a:t>
              </a:r>
            </a:p>
          </p:txBody>
        </p:sp>
        <p:sp>
          <p:nvSpPr>
            <p:cNvPr id="16396" name="Line 35"/>
            <p:cNvSpPr>
              <a:spLocks noChangeShapeType="1"/>
            </p:cNvSpPr>
            <p:nvPr/>
          </p:nvSpPr>
          <p:spPr bwMode="auto">
            <a:xfrm>
              <a:off x="2937" y="23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397" name="Line 36"/>
            <p:cNvSpPr>
              <a:spLocks noChangeShapeType="1"/>
            </p:cNvSpPr>
            <p:nvPr/>
          </p:nvSpPr>
          <p:spPr bwMode="auto">
            <a:xfrm>
              <a:off x="3657" y="23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398" name="Line 37"/>
            <p:cNvSpPr>
              <a:spLocks noChangeShapeType="1"/>
            </p:cNvSpPr>
            <p:nvPr/>
          </p:nvSpPr>
          <p:spPr bwMode="auto">
            <a:xfrm>
              <a:off x="4377" y="23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399" name="Line 39"/>
            <p:cNvSpPr>
              <a:spLocks noChangeShapeType="1"/>
            </p:cNvSpPr>
            <p:nvPr/>
          </p:nvSpPr>
          <p:spPr bwMode="auto">
            <a:xfrm>
              <a:off x="2217" y="2350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00" name="Line 38"/>
            <p:cNvSpPr>
              <a:spLocks noChangeShapeType="1"/>
            </p:cNvSpPr>
            <p:nvPr/>
          </p:nvSpPr>
          <p:spPr bwMode="auto">
            <a:xfrm>
              <a:off x="5097" y="235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9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representing lists</a:t>
            </a:r>
            <a:endParaRPr lang="en-GB" altLang="en-US" sz="32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Possible data structures to represent the list of words </a:t>
            </a:r>
            <a:r>
              <a:rPr lang="en-US" altLang="en-US">
                <a:cs typeface="Times New Roman" pitchFamily="18" charset="0"/>
              </a:rPr>
              <a:t>«</a:t>
            </a:r>
            <a:r>
              <a:rPr lang="en-US" altLang="en-US"/>
              <a:t>the, cat, sat, on, the, mat</a:t>
            </a:r>
            <a:r>
              <a:rPr lang="en-US" altLang="en-US">
                <a:cs typeface="Times New Roman" pitchFamily="18" charset="0"/>
              </a:rPr>
              <a:t>»</a:t>
            </a:r>
            <a:r>
              <a:rPr lang="en-US" altLang="en-US"/>
              <a:t>: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011238" y="2697163"/>
            <a:ext cx="6115050" cy="876300"/>
            <a:chOff x="1160" y="1699"/>
            <a:chExt cx="3852" cy="552"/>
          </a:xfrm>
        </p:grpSpPr>
        <p:sp>
          <p:nvSpPr>
            <p:cNvPr id="17429" name="Text Box 5"/>
            <p:cNvSpPr txBox="1">
              <a:spLocks noChangeArrowheads="1"/>
            </p:cNvSpPr>
            <p:nvPr/>
          </p:nvSpPr>
          <p:spPr bwMode="auto">
            <a:xfrm>
              <a:off x="1160" y="1699"/>
              <a:ext cx="76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Array:</a:t>
              </a:r>
            </a:p>
          </p:txBody>
        </p:sp>
        <p:sp>
          <p:nvSpPr>
            <p:cNvPr id="17430" name="Text Box 6"/>
            <p:cNvSpPr txBox="1">
              <a:spLocks noChangeArrowheads="1"/>
            </p:cNvSpPr>
            <p:nvPr/>
          </p:nvSpPr>
          <p:spPr bwMode="auto">
            <a:xfrm>
              <a:off x="117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0</a:t>
              </a:r>
            </a:p>
          </p:txBody>
        </p:sp>
        <p:sp>
          <p:nvSpPr>
            <p:cNvPr id="17431" name="Text Box 7"/>
            <p:cNvSpPr txBox="1">
              <a:spLocks noChangeArrowheads="1"/>
            </p:cNvSpPr>
            <p:nvPr/>
          </p:nvSpPr>
          <p:spPr bwMode="auto">
            <a:xfrm>
              <a:off x="117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the</a:t>
              </a:r>
            </a:p>
          </p:txBody>
        </p:sp>
        <p:sp>
          <p:nvSpPr>
            <p:cNvPr id="17432" name="Text Box 8"/>
            <p:cNvSpPr txBox="1">
              <a:spLocks noChangeArrowheads="1"/>
            </p:cNvSpPr>
            <p:nvPr/>
          </p:nvSpPr>
          <p:spPr bwMode="auto">
            <a:xfrm>
              <a:off x="165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7433" name="Text Box 9"/>
            <p:cNvSpPr txBox="1">
              <a:spLocks noChangeArrowheads="1"/>
            </p:cNvSpPr>
            <p:nvPr/>
          </p:nvSpPr>
          <p:spPr bwMode="auto">
            <a:xfrm>
              <a:off x="213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sat</a:t>
              </a:r>
            </a:p>
          </p:txBody>
        </p:sp>
        <p:sp>
          <p:nvSpPr>
            <p:cNvPr id="17434" name="Text Box 10"/>
            <p:cNvSpPr txBox="1">
              <a:spLocks noChangeArrowheads="1"/>
            </p:cNvSpPr>
            <p:nvPr/>
          </p:nvSpPr>
          <p:spPr bwMode="auto">
            <a:xfrm>
              <a:off x="261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on</a:t>
              </a:r>
            </a:p>
          </p:txBody>
        </p:sp>
        <p:sp>
          <p:nvSpPr>
            <p:cNvPr id="17435" name="Text Box 11"/>
            <p:cNvSpPr txBox="1">
              <a:spLocks noChangeArrowheads="1"/>
            </p:cNvSpPr>
            <p:nvPr/>
          </p:nvSpPr>
          <p:spPr bwMode="auto">
            <a:xfrm>
              <a:off x="309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the</a:t>
              </a:r>
            </a:p>
          </p:txBody>
        </p:sp>
        <p:sp>
          <p:nvSpPr>
            <p:cNvPr id="17436" name="Text Box 12"/>
            <p:cNvSpPr txBox="1">
              <a:spLocks noChangeArrowheads="1"/>
            </p:cNvSpPr>
            <p:nvPr/>
          </p:nvSpPr>
          <p:spPr bwMode="auto">
            <a:xfrm>
              <a:off x="357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mat</a:t>
              </a:r>
            </a:p>
          </p:txBody>
        </p:sp>
        <p:sp>
          <p:nvSpPr>
            <p:cNvPr id="17437" name="Text Box 13"/>
            <p:cNvSpPr txBox="1">
              <a:spLocks noChangeArrowheads="1"/>
            </p:cNvSpPr>
            <p:nvPr/>
          </p:nvSpPr>
          <p:spPr bwMode="auto">
            <a:xfrm>
              <a:off x="405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38" name="Text Box 14"/>
            <p:cNvSpPr txBox="1">
              <a:spLocks noChangeArrowheads="1"/>
            </p:cNvSpPr>
            <p:nvPr/>
          </p:nvSpPr>
          <p:spPr bwMode="auto">
            <a:xfrm>
              <a:off x="4532" y="2072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39" name="Text Box 15"/>
            <p:cNvSpPr txBox="1">
              <a:spLocks noChangeArrowheads="1"/>
            </p:cNvSpPr>
            <p:nvPr/>
          </p:nvSpPr>
          <p:spPr bwMode="auto">
            <a:xfrm>
              <a:off x="165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1</a:t>
              </a:r>
            </a:p>
          </p:txBody>
        </p:sp>
        <p:sp>
          <p:nvSpPr>
            <p:cNvPr id="17440" name="Text Box 16"/>
            <p:cNvSpPr txBox="1">
              <a:spLocks noChangeArrowheads="1"/>
            </p:cNvSpPr>
            <p:nvPr/>
          </p:nvSpPr>
          <p:spPr bwMode="auto">
            <a:xfrm>
              <a:off x="213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2</a:t>
              </a:r>
            </a:p>
          </p:txBody>
        </p:sp>
        <p:sp>
          <p:nvSpPr>
            <p:cNvPr id="17441" name="Text Box 17"/>
            <p:cNvSpPr txBox="1">
              <a:spLocks noChangeArrowheads="1"/>
            </p:cNvSpPr>
            <p:nvPr/>
          </p:nvSpPr>
          <p:spPr bwMode="auto">
            <a:xfrm>
              <a:off x="261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3</a:t>
              </a:r>
            </a:p>
          </p:txBody>
        </p:sp>
        <p:sp>
          <p:nvSpPr>
            <p:cNvPr id="17442" name="Text Box 18"/>
            <p:cNvSpPr txBox="1">
              <a:spLocks noChangeArrowheads="1"/>
            </p:cNvSpPr>
            <p:nvPr/>
          </p:nvSpPr>
          <p:spPr bwMode="auto">
            <a:xfrm>
              <a:off x="309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4</a:t>
              </a:r>
            </a:p>
          </p:txBody>
        </p:sp>
        <p:sp>
          <p:nvSpPr>
            <p:cNvPr id="17443" name="Text Box 19"/>
            <p:cNvSpPr txBox="1">
              <a:spLocks noChangeArrowheads="1"/>
            </p:cNvSpPr>
            <p:nvPr/>
          </p:nvSpPr>
          <p:spPr bwMode="auto">
            <a:xfrm>
              <a:off x="357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5</a:t>
              </a:r>
            </a:p>
          </p:txBody>
        </p:sp>
        <p:sp>
          <p:nvSpPr>
            <p:cNvPr id="17444" name="Text Box 20"/>
            <p:cNvSpPr txBox="1">
              <a:spLocks noChangeArrowheads="1"/>
            </p:cNvSpPr>
            <p:nvPr/>
          </p:nvSpPr>
          <p:spPr bwMode="auto">
            <a:xfrm>
              <a:off x="405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6</a:t>
              </a:r>
            </a:p>
          </p:txBody>
        </p:sp>
        <p:sp>
          <p:nvSpPr>
            <p:cNvPr id="17445" name="Text Box 21"/>
            <p:cNvSpPr txBox="1">
              <a:spLocks noChangeArrowheads="1"/>
            </p:cNvSpPr>
            <p:nvPr/>
          </p:nvSpPr>
          <p:spPr bwMode="auto">
            <a:xfrm>
              <a:off x="4532" y="1905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7</a:t>
              </a: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774547" y="4080669"/>
            <a:ext cx="7200900" cy="709613"/>
            <a:chOff x="1156" y="2484"/>
            <a:chExt cx="4536" cy="447"/>
          </a:xfrm>
        </p:grpSpPr>
        <p:sp>
          <p:nvSpPr>
            <p:cNvPr id="17414" name="Text Box 23"/>
            <p:cNvSpPr txBox="1">
              <a:spLocks noChangeArrowheads="1"/>
            </p:cNvSpPr>
            <p:nvPr/>
          </p:nvSpPr>
          <p:spPr bwMode="auto">
            <a:xfrm>
              <a:off x="1156" y="2484"/>
              <a:ext cx="76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Linked-list:</a:t>
              </a:r>
            </a:p>
          </p:txBody>
        </p:sp>
        <p:sp>
          <p:nvSpPr>
            <p:cNvPr id="17415" name="Rectangle 24"/>
            <p:cNvSpPr>
              <a:spLocks noChangeArrowheads="1"/>
            </p:cNvSpPr>
            <p:nvPr/>
          </p:nvSpPr>
          <p:spPr bwMode="auto">
            <a:xfrm>
              <a:off x="1172" y="273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16" name="Text Box 25"/>
            <p:cNvSpPr txBox="1">
              <a:spLocks noChangeArrowheads="1"/>
            </p:cNvSpPr>
            <p:nvPr/>
          </p:nvSpPr>
          <p:spPr bwMode="auto">
            <a:xfrm>
              <a:off x="1597" y="2739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the</a:t>
              </a:r>
            </a:p>
          </p:txBody>
        </p:sp>
        <p:sp>
          <p:nvSpPr>
            <p:cNvPr id="17417" name="Text Box 26"/>
            <p:cNvSpPr txBox="1">
              <a:spLocks noChangeArrowheads="1"/>
            </p:cNvSpPr>
            <p:nvPr/>
          </p:nvSpPr>
          <p:spPr bwMode="auto">
            <a:xfrm>
              <a:off x="2323" y="2739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7418" name="Text Box 27"/>
            <p:cNvSpPr txBox="1">
              <a:spLocks noChangeArrowheads="1"/>
            </p:cNvSpPr>
            <p:nvPr/>
          </p:nvSpPr>
          <p:spPr bwMode="auto">
            <a:xfrm>
              <a:off x="3048" y="2739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sat</a:t>
              </a:r>
            </a:p>
          </p:txBody>
        </p:sp>
        <p:sp>
          <p:nvSpPr>
            <p:cNvPr id="17419" name="Text Box 28"/>
            <p:cNvSpPr txBox="1">
              <a:spLocks noChangeArrowheads="1"/>
            </p:cNvSpPr>
            <p:nvPr/>
          </p:nvSpPr>
          <p:spPr bwMode="auto">
            <a:xfrm>
              <a:off x="3776" y="2739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on</a:t>
              </a:r>
            </a:p>
          </p:txBody>
        </p:sp>
        <p:sp>
          <p:nvSpPr>
            <p:cNvPr id="17420" name="Text Box 29"/>
            <p:cNvSpPr txBox="1">
              <a:spLocks noChangeArrowheads="1"/>
            </p:cNvSpPr>
            <p:nvPr/>
          </p:nvSpPr>
          <p:spPr bwMode="auto">
            <a:xfrm>
              <a:off x="5212" y="2739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mat</a:t>
              </a:r>
            </a:p>
          </p:txBody>
        </p:sp>
        <p:sp>
          <p:nvSpPr>
            <p:cNvPr id="17421" name="Text Box 36"/>
            <p:cNvSpPr txBox="1">
              <a:spLocks noChangeArrowheads="1"/>
            </p:cNvSpPr>
            <p:nvPr/>
          </p:nvSpPr>
          <p:spPr bwMode="auto">
            <a:xfrm>
              <a:off x="4490" y="273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the</a:t>
              </a:r>
            </a:p>
          </p:txBody>
        </p:sp>
        <p:sp>
          <p:nvSpPr>
            <p:cNvPr id="17422" name="Line 30"/>
            <p:cNvSpPr>
              <a:spLocks noChangeShapeType="1"/>
            </p:cNvSpPr>
            <p:nvPr/>
          </p:nvSpPr>
          <p:spPr bwMode="auto">
            <a:xfrm>
              <a:off x="2018" y="2840"/>
              <a:ext cx="303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3" name="Line 31"/>
            <p:cNvSpPr>
              <a:spLocks noChangeShapeType="1"/>
            </p:cNvSpPr>
            <p:nvPr/>
          </p:nvSpPr>
          <p:spPr bwMode="auto">
            <a:xfrm>
              <a:off x="2732" y="2841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4" name="Line 32"/>
            <p:cNvSpPr>
              <a:spLocks noChangeShapeType="1"/>
            </p:cNvSpPr>
            <p:nvPr/>
          </p:nvSpPr>
          <p:spPr bwMode="auto">
            <a:xfrm>
              <a:off x="3457" y="2841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5" name="Line 33"/>
            <p:cNvSpPr>
              <a:spLocks noChangeShapeType="1"/>
            </p:cNvSpPr>
            <p:nvPr/>
          </p:nvSpPr>
          <p:spPr bwMode="auto">
            <a:xfrm>
              <a:off x="4185" y="2841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6" name="Line 34"/>
            <p:cNvSpPr>
              <a:spLocks noChangeShapeType="1"/>
            </p:cNvSpPr>
            <p:nvPr/>
          </p:nvSpPr>
          <p:spPr bwMode="auto">
            <a:xfrm>
              <a:off x="1268" y="2841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7" name="Line 35"/>
            <p:cNvSpPr>
              <a:spLocks noChangeShapeType="1"/>
            </p:cNvSpPr>
            <p:nvPr/>
          </p:nvSpPr>
          <p:spPr bwMode="auto">
            <a:xfrm>
              <a:off x="5624" y="282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8" name="Line 37"/>
            <p:cNvSpPr>
              <a:spLocks noChangeShapeType="1"/>
            </p:cNvSpPr>
            <p:nvPr/>
          </p:nvSpPr>
          <p:spPr bwMode="auto">
            <a:xfrm>
              <a:off x="4899" y="2836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83478" y="5715000"/>
            <a:ext cx="6379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tx2"/>
                </a:solidFill>
              </a:rPr>
              <a:t>Concepts like “list” and “set” will be discussed later - ADTs</a:t>
            </a:r>
          </a:p>
        </p:txBody>
      </p:sp>
    </p:spTree>
    <p:extLst>
      <p:ext uri="{BB962C8B-B14F-4D97-AF65-F5344CB8AC3E}">
        <p14:creationId xmlns:p14="http://schemas.microsoft.com/office/powerpoint/2010/main" val="6618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representing sets</a:t>
            </a:r>
            <a:endParaRPr lang="en-GB" altLang="en-US" sz="320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80963" y="1482725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Possible data structures to represent the set of words {mat, bat, rat, cat, sat}: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452438" y="3533219"/>
            <a:ext cx="7451725" cy="554037"/>
            <a:chOff x="930" y="2235"/>
            <a:chExt cx="4694" cy="349"/>
          </a:xfrm>
        </p:grpSpPr>
        <p:sp>
          <p:nvSpPr>
            <p:cNvPr id="18474" name="Text Box 5"/>
            <p:cNvSpPr txBox="1">
              <a:spLocks noChangeArrowheads="1"/>
            </p:cNvSpPr>
            <p:nvPr/>
          </p:nvSpPr>
          <p:spPr bwMode="auto">
            <a:xfrm>
              <a:off x="930" y="2235"/>
              <a:ext cx="65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Linked-list (sorted):</a:t>
              </a:r>
            </a:p>
          </p:txBody>
        </p:sp>
        <p:sp>
          <p:nvSpPr>
            <p:cNvPr id="18475" name="Rectangle 7"/>
            <p:cNvSpPr>
              <a:spLocks noChangeArrowheads="1"/>
            </p:cNvSpPr>
            <p:nvPr/>
          </p:nvSpPr>
          <p:spPr bwMode="auto">
            <a:xfrm>
              <a:off x="1683" y="234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76" name="Text Box 8"/>
            <p:cNvSpPr txBox="1">
              <a:spLocks noChangeArrowheads="1"/>
            </p:cNvSpPr>
            <p:nvPr/>
          </p:nvSpPr>
          <p:spPr bwMode="auto">
            <a:xfrm>
              <a:off x="2163" y="234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77" name="Text Box 9"/>
            <p:cNvSpPr txBox="1">
              <a:spLocks noChangeArrowheads="1"/>
            </p:cNvSpPr>
            <p:nvPr/>
          </p:nvSpPr>
          <p:spPr bwMode="auto">
            <a:xfrm>
              <a:off x="2903" y="234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78" name="Text Box 10"/>
            <p:cNvSpPr txBox="1">
              <a:spLocks noChangeArrowheads="1"/>
            </p:cNvSpPr>
            <p:nvPr/>
          </p:nvSpPr>
          <p:spPr bwMode="auto">
            <a:xfrm>
              <a:off x="3651" y="234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mat</a:t>
              </a:r>
            </a:p>
          </p:txBody>
        </p:sp>
        <p:sp>
          <p:nvSpPr>
            <p:cNvPr id="18479" name="Text Box 11"/>
            <p:cNvSpPr txBox="1">
              <a:spLocks noChangeArrowheads="1"/>
            </p:cNvSpPr>
            <p:nvPr/>
          </p:nvSpPr>
          <p:spPr bwMode="auto">
            <a:xfrm>
              <a:off x="4400" y="234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rat</a:t>
              </a:r>
            </a:p>
          </p:txBody>
        </p:sp>
        <p:sp>
          <p:nvSpPr>
            <p:cNvPr id="18480" name="Text Box 12"/>
            <p:cNvSpPr txBox="1">
              <a:spLocks noChangeArrowheads="1"/>
            </p:cNvSpPr>
            <p:nvPr/>
          </p:nvSpPr>
          <p:spPr bwMode="auto">
            <a:xfrm>
              <a:off x="5144" y="234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sat</a:t>
              </a:r>
            </a:p>
          </p:txBody>
        </p:sp>
        <p:sp>
          <p:nvSpPr>
            <p:cNvPr id="18481" name="Line 13"/>
            <p:cNvSpPr>
              <a:spLocks noChangeShapeType="1"/>
            </p:cNvSpPr>
            <p:nvPr/>
          </p:nvSpPr>
          <p:spPr bwMode="auto">
            <a:xfrm>
              <a:off x="2572" y="244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2" name="Line 14"/>
            <p:cNvSpPr>
              <a:spLocks noChangeShapeType="1"/>
            </p:cNvSpPr>
            <p:nvPr/>
          </p:nvSpPr>
          <p:spPr bwMode="auto">
            <a:xfrm>
              <a:off x="3312" y="244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3" name="Line 15"/>
            <p:cNvSpPr>
              <a:spLocks noChangeShapeType="1"/>
            </p:cNvSpPr>
            <p:nvPr/>
          </p:nvSpPr>
          <p:spPr bwMode="auto">
            <a:xfrm>
              <a:off x="4060" y="244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4" name="Line 16"/>
            <p:cNvSpPr>
              <a:spLocks noChangeShapeType="1"/>
            </p:cNvSpPr>
            <p:nvPr/>
          </p:nvSpPr>
          <p:spPr bwMode="auto">
            <a:xfrm>
              <a:off x="4809" y="2446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5" name="Line 17"/>
            <p:cNvSpPr>
              <a:spLocks noChangeShapeType="1"/>
            </p:cNvSpPr>
            <p:nvPr/>
          </p:nvSpPr>
          <p:spPr bwMode="auto">
            <a:xfrm>
              <a:off x="1779" y="244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6" name="Line 18"/>
            <p:cNvSpPr>
              <a:spLocks noChangeShapeType="1"/>
            </p:cNvSpPr>
            <p:nvPr/>
          </p:nvSpPr>
          <p:spPr bwMode="auto">
            <a:xfrm>
              <a:off x="5552" y="24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479208" y="2567071"/>
            <a:ext cx="7291388" cy="663575"/>
            <a:chOff x="930" y="1637"/>
            <a:chExt cx="4593" cy="418"/>
          </a:xfrm>
        </p:grpSpPr>
        <p:sp>
          <p:nvSpPr>
            <p:cNvPr id="18457" name="Text Box 20"/>
            <p:cNvSpPr txBox="1">
              <a:spLocks noChangeArrowheads="1"/>
            </p:cNvSpPr>
            <p:nvPr/>
          </p:nvSpPr>
          <p:spPr bwMode="auto">
            <a:xfrm>
              <a:off x="930" y="1706"/>
              <a:ext cx="65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Array (sorted):</a:t>
              </a:r>
            </a:p>
          </p:txBody>
        </p:sp>
        <p:sp>
          <p:nvSpPr>
            <p:cNvPr id="18458" name="Text Box 22"/>
            <p:cNvSpPr txBox="1">
              <a:spLocks noChangeArrowheads="1"/>
            </p:cNvSpPr>
            <p:nvPr/>
          </p:nvSpPr>
          <p:spPr bwMode="auto">
            <a:xfrm>
              <a:off x="168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0</a:t>
              </a:r>
            </a:p>
          </p:txBody>
        </p:sp>
        <p:sp>
          <p:nvSpPr>
            <p:cNvPr id="18459" name="Text Box 23"/>
            <p:cNvSpPr txBox="1">
              <a:spLocks noChangeArrowheads="1"/>
            </p:cNvSpPr>
            <p:nvPr/>
          </p:nvSpPr>
          <p:spPr bwMode="auto">
            <a:xfrm>
              <a:off x="168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/>
                <a:t>bat</a:t>
              </a:r>
            </a:p>
          </p:txBody>
        </p:sp>
        <p:sp>
          <p:nvSpPr>
            <p:cNvPr id="18460" name="Text Box 24"/>
            <p:cNvSpPr txBox="1">
              <a:spLocks noChangeArrowheads="1"/>
            </p:cNvSpPr>
            <p:nvPr/>
          </p:nvSpPr>
          <p:spPr bwMode="auto">
            <a:xfrm>
              <a:off x="216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61" name="Text Box 25"/>
            <p:cNvSpPr txBox="1">
              <a:spLocks noChangeArrowheads="1"/>
            </p:cNvSpPr>
            <p:nvPr/>
          </p:nvSpPr>
          <p:spPr bwMode="auto">
            <a:xfrm>
              <a:off x="264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mat</a:t>
              </a:r>
            </a:p>
          </p:txBody>
        </p:sp>
        <p:sp>
          <p:nvSpPr>
            <p:cNvPr id="18462" name="Text Box 26"/>
            <p:cNvSpPr txBox="1">
              <a:spLocks noChangeArrowheads="1"/>
            </p:cNvSpPr>
            <p:nvPr/>
          </p:nvSpPr>
          <p:spPr bwMode="auto">
            <a:xfrm>
              <a:off x="312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rat</a:t>
              </a:r>
            </a:p>
          </p:txBody>
        </p:sp>
        <p:sp>
          <p:nvSpPr>
            <p:cNvPr id="18463" name="Text Box 27"/>
            <p:cNvSpPr txBox="1">
              <a:spLocks noChangeArrowheads="1"/>
            </p:cNvSpPr>
            <p:nvPr/>
          </p:nvSpPr>
          <p:spPr bwMode="auto">
            <a:xfrm>
              <a:off x="360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sat</a:t>
              </a:r>
            </a:p>
          </p:txBody>
        </p:sp>
        <p:sp>
          <p:nvSpPr>
            <p:cNvPr id="18464" name="Text Box 28"/>
            <p:cNvSpPr txBox="1">
              <a:spLocks noChangeArrowheads="1"/>
            </p:cNvSpPr>
            <p:nvPr/>
          </p:nvSpPr>
          <p:spPr bwMode="auto">
            <a:xfrm>
              <a:off x="408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5" name="Text Box 29"/>
            <p:cNvSpPr txBox="1">
              <a:spLocks noChangeArrowheads="1"/>
            </p:cNvSpPr>
            <p:nvPr/>
          </p:nvSpPr>
          <p:spPr bwMode="auto">
            <a:xfrm>
              <a:off x="456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6" name="Text Box 30"/>
            <p:cNvSpPr txBox="1">
              <a:spLocks noChangeArrowheads="1"/>
            </p:cNvSpPr>
            <p:nvPr/>
          </p:nvSpPr>
          <p:spPr bwMode="auto">
            <a:xfrm>
              <a:off x="5043" y="1804"/>
              <a:ext cx="480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7" name="Text Box 31"/>
            <p:cNvSpPr txBox="1">
              <a:spLocks noChangeArrowheads="1"/>
            </p:cNvSpPr>
            <p:nvPr/>
          </p:nvSpPr>
          <p:spPr bwMode="auto">
            <a:xfrm>
              <a:off x="216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1</a:t>
              </a:r>
            </a:p>
          </p:txBody>
        </p:sp>
        <p:sp>
          <p:nvSpPr>
            <p:cNvPr id="18468" name="Text Box 32"/>
            <p:cNvSpPr txBox="1">
              <a:spLocks noChangeArrowheads="1"/>
            </p:cNvSpPr>
            <p:nvPr/>
          </p:nvSpPr>
          <p:spPr bwMode="auto">
            <a:xfrm>
              <a:off x="264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2</a:t>
              </a:r>
            </a:p>
          </p:txBody>
        </p:sp>
        <p:sp>
          <p:nvSpPr>
            <p:cNvPr id="18469" name="Text Box 33"/>
            <p:cNvSpPr txBox="1">
              <a:spLocks noChangeArrowheads="1"/>
            </p:cNvSpPr>
            <p:nvPr/>
          </p:nvSpPr>
          <p:spPr bwMode="auto">
            <a:xfrm>
              <a:off x="312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3</a:t>
              </a:r>
            </a:p>
          </p:txBody>
        </p:sp>
        <p:sp>
          <p:nvSpPr>
            <p:cNvPr id="18470" name="Text Box 34"/>
            <p:cNvSpPr txBox="1">
              <a:spLocks noChangeArrowheads="1"/>
            </p:cNvSpPr>
            <p:nvPr/>
          </p:nvSpPr>
          <p:spPr bwMode="auto">
            <a:xfrm>
              <a:off x="360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4</a:t>
              </a:r>
            </a:p>
          </p:txBody>
        </p:sp>
        <p:sp>
          <p:nvSpPr>
            <p:cNvPr id="18471" name="Text Box 35"/>
            <p:cNvSpPr txBox="1">
              <a:spLocks noChangeArrowheads="1"/>
            </p:cNvSpPr>
            <p:nvPr/>
          </p:nvSpPr>
          <p:spPr bwMode="auto">
            <a:xfrm>
              <a:off x="408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5</a:t>
              </a:r>
            </a:p>
          </p:txBody>
        </p:sp>
        <p:sp>
          <p:nvSpPr>
            <p:cNvPr id="18472" name="Text Box 36"/>
            <p:cNvSpPr txBox="1">
              <a:spLocks noChangeArrowheads="1"/>
            </p:cNvSpPr>
            <p:nvPr/>
          </p:nvSpPr>
          <p:spPr bwMode="auto">
            <a:xfrm>
              <a:off x="456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6</a:t>
              </a:r>
            </a:p>
          </p:txBody>
        </p:sp>
        <p:sp>
          <p:nvSpPr>
            <p:cNvPr id="18473" name="Text Box 37"/>
            <p:cNvSpPr txBox="1">
              <a:spLocks noChangeArrowheads="1"/>
            </p:cNvSpPr>
            <p:nvPr/>
          </p:nvSpPr>
          <p:spPr bwMode="auto">
            <a:xfrm>
              <a:off x="5043" y="1637"/>
              <a:ext cx="48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600"/>
                <a:t>7</a:t>
              </a:r>
            </a:p>
          </p:txBody>
        </p:sp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417513" y="4558868"/>
            <a:ext cx="5283200" cy="1590675"/>
            <a:chOff x="930" y="2863"/>
            <a:chExt cx="3328" cy="1002"/>
          </a:xfrm>
        </p:grpSpPr>
        <p:sp>
          <p:nvSpPr>
            <p:cNvPr id="18439" name="Text Box 39"/>
            <p:cNvSpPr txBox="1">
              <a:spLocks noChangeArrowheads="1"/>
            </p:cNvSpPr>
            <p:nvPr/>
          </p:nvSpPr>
          <p:spPr bwMode="auto">
            <a:xfrm>
              <a:off x="930" y="2863"/>
              <a:ext cx="656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Binary-search-tree:</a:t>
              </a:r>
            </a:p>
          </p:txBody>
        </p:sp>
        <p:sp>
          <p:nvSpPr>
            <p:cNvPr id="18440" name="Rectangle 40"/>
            <p:cNvSpPr>
              <a:spLocks noChangeArrowheads="1"/>
            </p:cNvSpPr>
            <p:nvPr/>
          </p:nvSpPr>
          <p:spPr bwMode="auto">
            <a:xfrm>
              <a:off x="1683" y="2877"/>
              <a:ext cx="205" cy="2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1" name="Text Box 41"/>
            <p:cNvSpPr txBox="1">
              <a:spLocks noChangeArrowheads="1"/>
            </p:cNvSpPr>
            <p:nvPr/>
          </p:nvSpPr>
          <p:spPr bwMode="auto">
            <a:xfrm>
              <a:off x="2403" y="3285"/>
              <a:ext cx="511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42" name="Text Box 42"/>
            <p:cNvSpPr txBox="1">
              <a:spLocks noChangeArrowheads="1"/>
            </p:cNvSpPr>
            <p:nvPr/>
          </p:nvSpPr>
          <p:spPr bwMode="auto">
            <a:xfrm>
              <a:off x="2739" y="2877"/>
              <a:ext cx="511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43" name="Text Box 43"/>
            <p:cNvSpPr txBox="1">
              <a:spLocks noChangeArrowheads="1"/>
            </p:cNvSpPr>
            <p:nvPr/>
          </p:nvSpPr>
          <p:spPr bwMode="auto">
            <a:xfrm>
              <a:off x="3075" y="3686"/>
              <a:ext cx="511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mat</a:t>
              </a:r>
            </a:p>
          </p:txBody>
        </p:sp>
        <p:sp>
          <p:nvSpPr>
            <p:cNvPr id="18444" name="Text Box 44"/>
            <p:cNvSpPr txBox="1">
              <a:spLocks noChangeArrowheads="1"/>
            </p:cNvSpPr>
            <p:nvPr/>
          </p:nvSpPr>
          <p:spPr bwMode="auto">
            <a:xfrm>
              <a:off x="3411" y="3285"/>
              <a:ext cx="511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rat</a:t>
              </a:r>
            </a:p>
          </p:txBody>
        </p:sp>
        <p:sp>
          <p:nvSpPr>
            <p:cNvPr id="18445" name="Text Box 45"/>
            <p:cNvSpPr txBox="1">
              <a:spLocks noChangeArrowheads="1"/>
            </p:cNvSpPr>
            <p:nvPr/>
          </p:nvSpPr>
          <p:spPr bwMode="auto">
            <a:xfrm>
              <a:off x="3747" y="3686"/>
              <a:ext cx="511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sat</a:t>
              </a:r>
            </a:p>
          </p:txBody>
        </p:sp>
        <p:sp>
          <p:nvSpPr>
            <p:cNvPr id="18446" name="Line 46"/>
            <p:cNvSpPr>
              <a:spLocks noChangeShapeType="1"/>
            </p:cNvSpPr>
            <p:nvPr/>
          </p:nvSpPr>
          <p:spPr bwMode="auto">
            <a:xfrm flipH="1">
              <a:off x="2675" y="2999"/>
              <a:ext cx="114" cy="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Line 47"/>
            <p:cNvSpPr>
              <a:spLocks noChangeShapeType="1"/>
            </p:cNvSpPr>
            <p:nvPr/>
          </p:nvSpPr>
          <p:spPr bwMode="auto">
            <a:xfrm>
              <a:off x="3198" y="2999"/>
              <a:ext cx="475" cy="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8" name="Line 48"/>
            <p:cNvSpPr>
              <a:spLocks noChangeShapeType="1"/>
            </p:cNvSpPr>
            <p:nvPr/>
          </p:nvSpPr>
          <p:spPr bwMode="auto">
            <a:xfrm flipH="1">
              <a:off x="3315" y="3407"/>
              <a:ext cx="155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Line 49"/>
            <p:cNvSpPr>
              <a:spLocks noChangeShapeType="1"/>
            </p:cNvSpPr>
            <p:nvPr/>
          </p:nvSpPr>
          <p:spPr bwMode="auto">
            <a:xfrm>
              <a:off x="3855" y="3407"/>
              <a:ext cx="135" cy="2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Line 50"/>
            <p:cNvSpPr>
              <a:spLocks noChangeShapeType="1"/>
            </p:cNvSpPr>
            <p:nvPr/>
          </p:nvSpPr>
          <p:spPr bwMode="auto">
            <a:xfrm>
              <a:off x="4179" y="3816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Line 51"/>
            <p:cNvSpPr>
              <a:spLocks noChangeShapeType="1"/>
            </p:cNvSpPr>
            <p:nvPr/>
          </p:nvSpPr>
          <p:spPr bwMode="auto">
            <a:xfrm>
              <a:off x="3795" y="3816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2" name="Line 52"/>
            <p:cNvSpPr>
              <a:spLocks noChangeShapeType="1"/>
            </p:cNvSpPr>
            <p:nvPr/>
          </p:nvSpPr>
          <p:spPr bwMode="auto">
            <a:xfrm>
              <a:off x="3507" y="3816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3" name="Line 53"/>
            <p:cNvSpPr>
              <a:spLocks noChangeShapeType="1"/>
            </p:cNvSpPr>
            <p:nvPr/>
          </p:nvSpPr>
          <p:spPr bwMode="auto">
            <a:xfrm>
              <a:off x="3123" y="3816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4" name="Line 54"/>
            <p:cNvSpPr>
              <a:spLocks noChangeShapeType="1"/>
            </p:cNvSpPr>
            <p:nvPr/>
          </p:nvSpPr>
          <p:spPr bwMode="auto">
            <a:xfrm>
              <a:off x="2835" y="3407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5" name="Line 55"/>
            <p:cNvSpPr>
              <a:spLocks noChangeShapeType="1"/>
            </p:cNvSpPr>
            <p:nvPr/>
          </p:nvSpPr>
          <p:spPr bwMode="auto">
            <a:xfrm>
              <a:off x="2451" y="3407"/>
              <a:ext cx="2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6" name="Line 56"/>
            <p:cNvSpPr>
              <a:spLocks noChangeShapeType="1"/>
            </p:cNvSpPr>
            <p:nvPr/>
          </p:nvSpPr>
          <p:spPr bwMode="auto">
            <a:xfrm flipV="1">
              <a:off x="1790" y="2968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1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Abstract data types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When we write Java application code involving strings, we don’t care how strings are represented. We just declare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variables and manipulate them using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operations.</a:t>
            </a:r>
          </a:p>
          <a:p>
            <a:pPr eaLnBrk="1" hangingPunct="1"/>
            <a:r>
              <a:rPr lang="en-US" altLang="en-US" dirty="0"/>
              <a:t>Similarly, when we write application code involving lists, we don’t care how lists are represented. We just declare </a:t>
            </a:r>
            <a:r>
              <a:rPr lang="en-US" altLang="en-US" dirty="0">
                <a:latin typeface="Courier New" pitchFamily="49" charset="0"/>
              </a:rPr>
              <a:t>List</a:t>
            </a:r>
            <a:r>
              <a:rPr lang="en-US" altLang="en-US" dirty="0"/>
              <a:t> variables and manipulate them using </a:t>
            </a:r>
            <a:r>
              <a:rPr lang="en-US" altLang="en-US" dirty="0">
                <a:latin typeface="Courier New" pitchFamily="49" charset="0"/>
              </a:rPr>
              <a:t>List</a:t>
            </a:r>
            <a:r>
              <a:rPr lang="en-US" altLang="en-US" dirty="0"/>
              <a:t> operations.</a:t>
            </a:r>
          </a:p>
          <a:p>
            <a:pPr eaLnBrk="1" hangingPunct="1"/>
            <a:r>
              <a:rPr lang="en-US" altLang="en-US" dirty="0"/>
              <a:t>Similarly, when we write application code involving sets, we don’t care how sets are represented. We just declare </a:t>
            </a:r>
            <a:r>
              <a:rPr lang="en-US" altLang="en-US" dirty="0">
                <a:latin typeface="Courier New" pitchFamily="49" charset="0"/>
              </a:rPr>
              <a:t>Set</a:t>
            </a:r>
            <a:r>
              <a:rPr lang="en-US" altLang="en-US" dirty="0"/>
              <a:t> variables and manipulate them using </a:t>
            </a:r>
            <a:r>
              <a:rPr lang="en-US" altLang="en-US" dirty="0">
                <a:latin typeface="Courier New" pitchFamily="49" charset="0"/>
              </a:rPr>
              <a:t>Set</a:t>
            </a:r>
            <a:r>
              <a:rPr lang="en-US" altLang="en-US" dirty="0"/>
              <a:t> operations.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43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Abstract data types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An </a:t>
            </a:r>
            <a:r>
              <a:rPr lang="en-US" altLang="en-US" b="1"/>
              <a:t>abstract data type</a:t>
            </a:r>
            <a:r>
              <a:rPr lang="en-US" altLang="en-US"/>
              <a:t> (</a:t>
            </a:r>
            <a:r>
              <a:rPr lang="en-US" altLang="en-US" b="1"/>
              <a:t>ADT</a:t>
            </a:r>
            <a:r>
              <a:rPr lang="en-US" altLang="en-US"/>
              <a:t>) is a data type whose representation is </a:t>
            </a:r>
            <a:r>
              <a:rPr lang="en-US" altLang="en-US">
                <a:solidFill>
                  <a:schemeClr val="tx2"/>
                </a:solidFill>
              </a:rPr>
              <a:t>private</a:t>
            </a:r>
            <a:r>
              <a:rPr lang="en-US" altLang="en-US"/>
              <a:t>, and therefore of no concern to the application code.</a:t>
            </a:r>
          </a:p>
          <a:p>
            <a:pPr lvl="1" eaLnBrk="1" hangingPunct="1"/>
            <a:r>
              <a:rPr lang="en-US" altLang="en-US"/>
              <a:t>E.g.: </a:t>
            </a:r>
            <a:r>
              <a:rPr lang="en-US" altLang="en-US">
                <a:latin typeface="Courier New" pitchFamily="49" charset="0"/>
              </a:rPr>
              <a:t>String</a:t>
            </a:r>
            <a:r>
              <a:rPr lang="en-US" altLang="en-US"/>
              <a:t>, </a:t>
            </a:r>
            <a:r>
              <a:rPr lang="en-US" altLang="en-US">
                <a:latin typeface="Courier New" pitchFamily="49" charset="0"/>
              </a:rPr>
              <a:t>List</a:t>
            </a:r>
            <a:r>
              <a:rPr lang="en-US" altLang="en-US"/>
              <a:t>, </a:t>
            </a:r>
            <a:r>
              <a:rPr lang="en-US" altLang="en-US">
                <a:latin typeface="Courier New" pitchFamily="49" charset="0"/>
              </a:rPr>
              <a:t>Set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ADTs are an essential technique for designing and implementing large programs.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23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String ADT</a:t>
            </a:r>
            <a:endParaRPr lang="en-GB" altLang="en-US" sz="32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146176"/>
            <a:ext cx="7200900" cy="4621212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/>
              <a:t>A </a:t>
            </a:r>
            <a:r>
              <a:rPr lang="en-US" altLang="en-US" b="1" dirty="0"/>
              <a:t>string</a:t>
            </a:r>
            <a:r>
              <a:rPr lang="en-US" altLang="en-US" dirty="0"/>
              <a:t> is a sequence of characters.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dirty="0"/>
              <a:t>Useful features of the </a:t>
            </a:r>
            <a:r>
              <a:rPr lang="en-GB" altLang="en-US" dirty="0">
                <a:latin typeface="Courier New" pitchFamily="49" charset="0"/>
              </a:rPr>
              <a:t>String</a:t>
            </a:r>
            <a:r>
              <a:rPr lang="en-GB" altLang="en-US" dirty="0"/>
              <a:t> ADT in </a:t>
            </a:r>
            <a:r>
              <a:rPr lang="en-GB" altLang="en-US" sz="2000" dirty="0" err="1">
                <a:latin typeface="Courier New" pitchFamily="49" charset="0"/>
              </a:rPr>
              <a:t>java.lang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>
                <a:latin typeface="Courier New" pitchFamily="49" charset="0"/>
              </a:rPr>
              <a:t>String</a:t>
            </a:r>
            <a:r>
              <a:rPr lang="en-GB" altLang="en-US" sz="2000" dirty="0"/>
              <a:t> </a:t>
            </a:r>
            <a:r>
              <a:rPr lang="en-GB" altLang="en-US" sz="2000" dirty="0" err="1">
                <a:latin typeface="Courier New" pitchFamily="49" charset="0"/>
              </a:rPr>
              <a:t>str</a:t>
            </a:r>
            <a:r>
              <a:rPr lang="en-GB" altLang="en-US" sz="2000" dirty="0">
                <a:latin typeface="Courier New" pitchFamily="49" charset="0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</a:rPr>
              <a:t>str</a:t>
            </a:r>
            <a:r>
              <a:rPr lang="en-GB" altLang="en-US" sz="2000" dirty="0">
                <a:latin typeface="Courier New" pitchFamily="49" charset="0"/>
              </a:rPr>
              <a:t> =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"";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GB" altLang="en-US" sz="2000" dirty="0" err="1">
                <a:latin typeface="Courier New" pitchFamily="49" charset="0"/>
              </a:rPr>
              <a:t>abc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GB" altLang="en-US" sz="2000" dirty="0"/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GB" altLang="en-US" sz="2000" dirty="0"/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</a:rPr>
              <a:t>de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 n = 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str.length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 c = 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str.charAt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String sub = 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, j);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79932" name="AutoShape 28"/>
          <p:cNvSpPr>
            <a:spLocks/>
          </p:cNvSpPr>
          <p:nvPr/>
        </p:nvSpPr>
        <p:spPr bwMode="auto">
          <a:xfrm>
            <a:off x="4876800" y="2132013"/>
            <a:ext cx="2803525" cy="720725"/>
          </a:xfrm>
          <a:prstGeom prst="callout1">
            <a:avLst>
              <a:gd name="adj1" fmla="val 15861"/>
              <a:gd name="adj2" fmla="val -2718"/>
              <a:gd name="adj3" fmla="val 19162"/>
              <a:gd name="adj4" fmla="val -7650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declares a variable 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str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that will refer to a string of characters</a:t>
            </a:r>
          </a:p>
        </p:txBody>
      </p:sp>
      <p:sp>
        <p:nvSpPr>
          <p:cNvPr id="379933" name="AutoShape 29"/>
          <p:cNvSpPr>
            <a:spLocks/>
          </p:cNvSpPr>
          <p:nvPr/>
        </p:nvSpPr>
        <p:spPr bwMode="auto">
          <a:xfrm>
            <a:off x="5257800" y="3124200"/>
            <a:ext cx="2809875" cy="252412"/>
          </a:xfrm>
          <a:prstGeom prst="callout1">
            <a:avLst>
              <a:gd name="adj1" fmla="val 45282"/>
              <a:gd name="adj2" fmla="val -2713"/>
              <a:gd name="adj3" fmla="val 54088"/>
              <a:gd name="adj4" fmla="val -45708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concatenation of strings</a:t>
            </a:r>
          </a:p>
        </p:txBody>
      </p:sp>
      <p:sp>
        <p:nvSpPr>
          <p:cNvPr id="379934" name="AutoShape 30"/>
          <p:cNvSpPr>
            <a:spLocks/>
          </p:cNvSpPr>
          <p:nvPr/>
        </p:nvSpPr>
        <p:spPr bwMode="auto">
          <a:xfrm>
            <a:off x="5105400" y="3505200"/>
            <a:ext cx="2809875" cy="252413"/>
          </a:xfrm>
          <a:prstGeom prst="callout1">
            <a:avLst>
              <a:gd name="adj1" fmla="val 45282"/>
              <a:gd name="adj2" fmla="val -2713"/>
              <a:gd name="adj3" fmla="val 43398"/>
              <a:gd name="adj4" fmla="val -24352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length of string 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str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379935" name="AutoShape 31"/>
          <p:cNvSpPr>
            <a:spLocks/>
          </p:cNvSpPr>
          <p:nvPr/>
        </p:nvSpPr>
        <p:spPr bwMode="auto">
          <a:xfrm>
            <a:off x="4876800" y="3886200"/>
            <a:ext cx="2809875" cy="468313"/>
          </a:xfrm>
          <a:prstGeom prst="callout1">
            <a:avLst>
              <a:gd name="adj1" fmla="val 24407"/>
              <a:gd name="adj2" fmla="val -2713"/>
              <a:gd name="adj3" fmla="val 29153"/>
              <a:gd name="adj4" fmla="val -13162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character at position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str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(position 0 is leftmost)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9936" name="AutoShape 32"/>
          <p:cNvSpPr>
            <a:spLocks/>
          </p:cNvSpPr>
          <p:nvPr/>
        </p:nvSpPr>
        <p:spPr bwMode="auto">
          <a:xfrm>
            <a:off x="5105400" y="4572000"/>
            <a:ext cx="2808288" cy="469900"/>
          </a:xfrm>
          <a:prstGeom prst="callout1">
            <a:avLst>
              <a:gd name="adj1" fmla="val 24324"/>
              <a:gd name="adj2" fmla="val -2713"/>
              <a:gd name="adj3" fmla="val 29056"/>
              <a:gd name="adj4" fmla="val -18032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substring of characters at positions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, …,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j-1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str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1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32" grpId="0" animBg="1"/>
      <p:bldP spid="379933" grpId="0" animBg="1"/>
      <p:bldP spid="379934" grpId="0" animBg="1"/>
      <p:bldP spid="379935" grpId="0" animBg="1"/>
      <p:bldP spid="3799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95400"/>
            <a:ext cx="7200900" cy="4621212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/>
              <a:t>A </a:t>
            </a:r>
            <a:r>
              <a:rPr lang="en-US" altLang="en-US" b="1" dirty="0"/>
              <a:t>list</a:t>
            </a:r>
            <a:r>
              <a:rPr lang="en-US" altLang="en-US" dirty="0"/>
              <a:t> is a sequence of elements, in a fixed order. (The order of the elements depends on the positions where they were inserted.)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dirty="0"/>
              <a:t>Useful features of the </a:t>
            </a:r>
            <a:r>
              <a:rPr lang="en-GB" altLang="en-US" dirty="0">
                <a:latin typeface="Courier New" pitchFamily="49" charset="0"/>
              </a:rPr>
              <a:t>List</a:t>
            </a:r>
            <a:r>
              <a:rPr lang="en-GB" altLang="en-US" dirty="0"/>
              <a:t> ADT in </a:t>
            </a:r>
            <a:r>
              <a:rPr lang="en-GB" altLang="en-US" dirty="0" err="1">
                <a:latin typeface="Courier New" pitchFamily="49" charset="0"/>
              </a:rPr>
              <a:t>java.util</a:t>
            </a:r>
            <a:r>
              <a:rPr lang="en-GB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>
                <a:latin typeface="Courier New" pitchFamily="49" charset="0"/>
              </a:rPr>
              <a:t>List&lt;Integer&gt; </a:t>
            </a:r>
            <a:r>
              <a:rPr lang="en-GB" altLang="en-US" sz="2000" dirty="0" err="1">
                <a:latin typeface="Courier New" pitchFamily="49" charset="0"/>
              </a:rPr>
              <a:t>ints</a:t>
            </a:r>
            <a:r>
              <a:rPr lang="en-GB" altLang="en-US" sz="2000" dirty="0">
                <a:latin typeface="Courier New" pitchFamily="49" charset="0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GB" altLang="en-US" sz="2000" dirty="0">
              <a:latin typeface="Courier New" pitchFamily="49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List&lt;Date&gt; dates =</a:t>
            </a:r>
            <a:br>
              <a:rPr lang="en-GB" altLang="en-US" sz="2000" dirty="0">
                <a:latin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</a:rPr>
              <a:t>new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 err="1">
                <a:latin typeface="Courier New" pitchFamily="49" charset="0"/>
              </a:rPr>
              <a:t>ArrayList</a:t>
            </a:r>
            <a:r>
              <a:rPr lang="en-GB" altLang="en-US" sz="2000" dirty="0">
                <a:latin typeface="Courier New" pitchFamily="49" charset="0"/>
              </a:rPr>
              <a:t>&lt;Date&gt;();</a:t>
            </a: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330807" name="AutoShape 55"/>
          <p:cNvSpPr>
            <a:spLocks/>
          </p:cNvSpPr>
          <p:nvPr/>
        </p:nvSpPr>
        <p:spPr bwMode="auto">
          <a:xfrm>
            <a:off x="5864225" y="3657600"/>
            <a:ext cx="2514600" cy="719138"/>
          </a:xfrm>
          <a:prstGeom prst="callout1">
            <a:avLst>
              <a:gd name="adj1" fmla="val 15894"/>
              <a:gd name="adj2" fmla="val -3032"/>
              <a:gd name="adj3" fmla="val 20307"/>
              <a:gd name="adj4" fmla="val -8890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declares a variable 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that will refer to a list of dates</a:t>
            </a:r>
          </a:p>
        </p:txBody>
      </p:sp>
      <p:sp>
        <p:nvSpPr>
          <p:cNvPr id="330808" name="AutoShape 56"/>
          <p:cNvSpPr>
            <a:spLocks/>
          </p:cNvSpPr>
          <p:nvPr/>
        </p:nvSpPr>
        <p:spPr bwMode="auto">
          <a:xfrm>
            <a:off x="5410200" y="2819400"/>
            <a:ext cx="2514600" cy="720725"/>
          </a:xfrm>
          <a:prstGeom prst="callout1">
            <a:avLst>
              <a:gd name="adj1" fmla="val 15861"/>
              <a:gd name="adj2" fmla="val -3032"/>
              <a:gd name="adj3" fmla="val 41079"/>
              <a:gd name="adj4" fmla="val -6447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declares a variable 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ints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that will refer to a list of integers</a:t>
            </a:r>
          </a:p>
        </p:txBody>
      </p:sp>
      <p:sp>
        <p:nvSpPr>
          <p:cNvPr id="330809" name="AutoShape 57"/>
          <p:cNvSpPr>
            <a:spLocks/>
          </p:cNvSpPr>
          <p:nvPr/>
        </p:nvSpPr>
        <p:spPr bwMode="auto">
          <a:xfrm>
            <a:off x="4603750" y="4580092"/>
            <a:ext cx="2520950" cy="1134907"/>
          </a:xfrm>
          <a:prstGeom prst="callout1">
            <a:avLst>
              <a:gd name="adj1" fmla="val 15894"/>
              <a:gd name="adj2" fmla="val -3023"/>
              <a:gd name="adj3" fmla="val -26745"/>
              <a:gd name="adj4" fmla="val -3845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constructs an empty list of dates (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ArrayList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will be explained further in 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§8)</a:t>
            </a:r>
          </a:p>
        </p:txBody>
      </p:sp>
    </p:spTree>
    <p:extLst>
      <p:ext uri="{BB962C8B-B14F-4D97-AF65-F5344CB8AC3E}">
        <p14:creationId xmlns:p14="http://schemas.microsoft.com/office/powerpoint/2010/main" val="267477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807" grpId="0" animBg="1"/>
      <p:bldP spid="330808" grpId="0" animBg="1"/>
      <p:bldP spid="33080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6675" y="3048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List ADT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95412"/>
            <a:ext cx="7200900" cy="4645025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dirty="0"/>
              <a:t>Useful features of the </a:t>
            </a:r>
            <a:r>
              <a:rPr lang="en-GB" altLang="en-US" dirty="0">
                <a:latin typeface="Courier New" pitchFamily="49" charset="0"/>
              </a:rPr>
              <a:t>List</a:t>
            </a:r>
            <a:r>
              <a:rPr lang="en-GB" altLang="en-US" dirty="0"/>
              <a:t> ADT </a:t>
            </a:r>
            <a:r>
              <a:rPr lang="en-GB" altLang="en-US" i="1" dirty="0"/>
              <a:t>(continued)</a:t>
            </a:r>
            <a:r>
              <a:rPr lang="en-GB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 err="1">
                <a:latin typeface="Courier New" pitchFamily="49" charset="0"/>
              </a:rPr>
              <a:t>dates.add</a:t>
            </a:r>
            <a:r>
              <a:rPr lang="en-GB" altLang="en-US" sz="2000" dirty="0">
                <a:latin typeface="Courier New" pitchFamily="49" charset="0"/>
              </a:rPr>
              <a:t>(d);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dates.add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d);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dates.remove</a:t>
            </a:r>
            <a:r>
              <a:rPr lang="en-GB" altLang="en-US" sz="2000" dirty="0">
                <a:latin typeface="Courier New" pitchFamily="49" charset="0"/>
              </a:rPr>
              <a:t>(</a:t>
            </a:r>
            <a:r>
              <a:rPr lang="en-GB" altLang="en-US" sz="2000" dirty="0" err="1">
                <a:latin typeface="Courier New" pitchFamily="49" charset="0"/>
              </a:rPr>
              <a:t>i</a:t>
            </a:r>
            <a:r>
              <a:rPr lang="en-GB" altLang="en-US" sz="2000" dirty="0">
                <a:latin typeface="Courier New" pitchFamily="49" charset="0"/>
              </a:rPr>
              <a:t>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</a:rPr>
              <a:t>if</a:t>
            </a:r>
            <a:r>
              <a:rPr lang="en-GB" altLang="en-US" sz="2000" dirty="0">
                <a:latin typeface="Courier New" pitchFamily="49" charset="0"/>
              </a:rPr>
              <a:t> 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dates.isEmpty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())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(Date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dates)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…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1865" name="AutoShape 89"/>
          <p:cNvSpPr>
            <a:spLocks/>
          </p:cNvSpPr>
          <p:nvPr/>
        </p:nvSpPr>
        <p:spPr bwMode="auto">
          <a:xfrm>
            <a:off x="5105400" y="1808162"/>
            <a:ext cx="2514600" cy="468313"/>
          </a:xfrm>
          <a:prstGeom prst="callout1">
            <a:avLst>
              <a:gd name="adj1" fmla="val 24407"/>
              <a:gd name="adj2" fmla="val -3032"/>
              <a:gd name="adj3" fmla="val 32204"/>
              <a:gd name="adj4" fmla="val -8263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inserts date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at the end of list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1866" name="AutoShape 90"/>
          <p:cNvSpPr>
            <a:spLocks/>
          </p:cNvSpPr>
          <p:nvPr/>
        </p:nvSpPr>
        <p:spPr bwMode="auto">
          <a:xfrm>
            <a:off x="5149717" y="3276600"/>
            <a:ext cx="2520950" cy="468313"/>
          </a:xfrm>
          <a:prstGeom prst="callout1">
            <a:avLst>
              <a:gd name="adj1" fmla="val 24407"/>
              <a:gd name="adj2" fmla="val -3023"/>
              <a:gd name="adj3" fmla="val -110347"/>
              <a:gd name="adj4" fmla="val -79196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removes the element at position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in list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331867" name="AutoShape 91"/>
          <p:cNvSpPr>
            <a:spLocks/>
          </p:cNvSpPr>
          <p:nvPr/>
        </p:nvSpPr>
        <p:spPr bwMode="auto">
          <a:xfrm>
            <a:off x="4953000" y="3846010"/>
            <a:ext cx="2516187" cy="468312"/>
          </a:xfrm>
          <a:prstGeom prst="callout1">
            <a:avLst>
              <a:gd name="adj1" fmla="val 24407"/>
              <a:gd name="adj2" fmla="val -3028"/>
              <a:gd name="adj3" fmla="val -126970"/>
              <a:gd name="adj4" fmla="val -5630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true if list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contains no elements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1869" name="AutoShape 93"/>
          <p:cNvSpPr>
            <a:spLocks/>
          </p:cNvSpPr>
          <p:nvPr/>
        </p:nvSpPr>
        <p:spPr bwMode="auto">
          <a:xfrm>
            <a:off x="3505200" y="4419600"/>
            <a:ext cx="2540000" cy="720725"/>
          </a:xfrm>
          <a:prstGeom prst="callout1">
            <a:avLst>
              <a:gd name="adj1" fmla="val 15861"/>
              <a:gd name="adj2" fmla="val -3000"/>
              <a:gd name="adj3" fmla="val -63217"/>
              <a:gd name="adj4" fmla="val -4744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iterates over list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, making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refer to each element in turn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1872" name="AutoShape 96"/>
          <p:cNvSpPr>
            <a:spLocks/>
          </p:cNvSpPr>
          <p:nvPr/>
        </p:nvSpPr>
        <p:spPr bwMode="auto">
          <a:xfrm>
            <a:off x="5123213" y="2362200"/>
            <a:ext cx="2514600" cy="684213"/>
          </a:xfrm>
          <a:prstGeom prst="callout1">
            <a:avLst>
              <a:gd name="adj1" fmla="val 16704"/>
              <a:gd name="adj2" fmla="val -3032"/>
              <a:gd name="adj3" fmla="val 3944"/>
              <a:gd name="adj4" fmla="val -6856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inserts date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at position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in list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(position 0 is leftmost)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53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65" grpId="0" animBg="1"/>
      <p:bldP spid="331866" grpId="0" animBg="1"/>
      <p:bldP spid="331867" grpId="0" animBg="1"/>
      <p:bldP spid="331869" grpId="0" animBg="1"/>
      <p:bldP spid="33187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programming with lists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237412" cy="4645025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4489450" algn="l"/>
              </a:tabLst>
            </a:pPr>
            <a:r>
              <a:rPr lang="en-GB" altLang="en-US" dirty="0"/>
              <a:t>Extracting a list of words from a given string (where a “word” is a sequence of consecutive letters):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448945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List&lt;String&gt;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scan (String line) {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String[]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wordArray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=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line.split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[[^A-Z]&amp;&amp;[^a-z]]+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); 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List&lt;String&gt;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wordList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=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&lt;String&gt;()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(String word :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wordArray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dirty="0" err="1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wordList.add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(word)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wordList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}</a:t>
            </a:r>
            <a:endParaRPr lang="en-US" altLang="en-US" sz="2000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23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programming with lists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9500" algn="l"/>
                <a:tab pos="1435100" algn="l"/>
              </a:tabLst>
            </a:pPr>
            <a:r>
              <a:rPr lang="en-GB" altLang="en-US" dirty="0"/>
              <a:t>Complete program: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import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java.util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.*;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ListingWords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{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List&lt;String&gt;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scan (String line) {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main (</a:t>
            </a:r>
            <a:r>
              <a:rPr lang="en-GB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List&lt;String&gt;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words = 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scan(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To be, or not to be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 (String w : words)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System.out.println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(w);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334852" name="AutoShape 4"/>
          <p:cNvSpPr>
            <a:spLocks/>
          </p:cNvSpPr>
          <p:nvPr/>
        </p:nvSpPr>
        <p:spPr bwMode="auto">
          <a:xfrm>
            <a:off x="6096000" y="4572000"/>
            <a:ext cx="792163" cy="1620837"/>
          </a:xfrm>
          <a:prstGeom prst="callout1">
            <a:avLst>
              <a:gd name="adj1" fmla="val 7051"/>
              <a:gd name="adj2" fmla="val -9620"/>
              <a:gd name="adj3" fmla="val 20176"/>
              <a:gd name="adj4" fmla="val -8437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1778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1778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1778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1778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Output: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To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	be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	or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	not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	to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	be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3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19200"/>
            <a:ext cx="7200900" cy="4656137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/>
              <a:t>A </a:t>
            </a:r>
            <a:r>
              <a:rPr lang="en-US" altLang="en-US" b="1" dirty="0"/>
              <a:t>set</a:t>
            </a:r>
            <a:r>
              <a:rPr lang="en-US" altLang="en-US" dirty="0"/>
              <a:t> is a collection of elements, in no fixed order, and in which no two elements are equal.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dirty="0"/>
              <a:t>Useful features of the </a:t>
            </a:r>
            <a:r>
              <a:rPr lang="en-GB" altLang="en-US" dirty="0">
                <a:latin typeface="Courier New" pitchFamily="49" charset="0"/>
              </a:rPr>
              <a:t>Set</a:t>
            </a:r>
            <a:r>
              <a:rPr lang="en-GB" altLang="en-US" dirty="0"/>
              <a:t> ADT in </a:t>
            </a:r>
            <a:r>
              <a:rPr lang="en-GB" altLang="en-US" dirty="0" err="1">
                <a:latin typeface="Courier New" pitchFamily="49" charset="0"/>
              </a:rPr>
              <a:t>java.util</a:t>
            </a:r>
            <a:r>
              <a:rPr lang="en-GB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>
                <a:latin typeface="Courier New" pitchFamily="49" charset="0"/>
              </a:rPr>
              <a:t>Set&lt;Integer&gt; </a:t>
            </a:r>
            <a:r>
              <a:rPr lang="en-GB" altLang="en-US" sz="2000" dirty="0" err="1">
                <a:latin typeface="Courier New" pitchFamily="49" charset="0"/>
              </a:rPr>
              <a:t>ints</a:t>
            </a:r>
            <a:r>
              <a:rPr lang="en-GB" altLang="en-US" sz="2000" dirty="0">
                <a:latin typeface="Courier New" pitchFamily="49" charset="0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Set&lt;Date&gt; dates =</a:t>
            </a:r>
            <a:br>
              <a:rPr lang="en-GB" altLang="en-US" sz="2000" dirty="0">
                <a:latin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</a:rPr>
              <a:t>new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 err="1">
                <a:latin typeface="Courier New" pitchFamily="49" charset="0"/>
              </a:rPr>
              <a:t>TreeSet</a:t>
            </a:r>
            <a:r>
              <a:rPr lang="en-GB" altLang="en-US" sz="2000" dirty="0">
                <a:latin typeface="Courier New" pitchFamily="49" charset="0"/>
              </a:rPr>
              <a:t>&lt;Date&gt;();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</a:t>
            </a:r>
          </a:p>
        </p:txBody>
      </p:sp>
      <p:sp>
        <p:nvSpPr>
          <p:cNvPr id="336952" name="AutoShape 56"/>
          <p:cNvSpPr>
            <a:spLocks/>
          </p:cNvSpPr>
          <p:nvPr/>
        </p:nvSpPr>
        <p:spPr bwMode="auto">
          <a:xfrm>
            <a:off x="5778335" y="3200400"/>
            <a:ext cx="2514600" cy="719138"/>
          </a:xfrm>
          <a:prstGeom prst="callout1">
            <a:avLst>
              <a:gd name="adj1" fmla="val 15894"/>
              <a:gd name="adj2" fmla="val -3032"/>
              <a:gd name="adj3" fmla="val -27967"/>
              <a:gd name="adj4" fmla="val -92978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declares a variable 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that will refer to a set of dates</a:t>
            </a:r>
          </a:p>
        </p:txBody>
      </p:sp>
      <p:sp>
        <p:nvSpPr>
          <p:cNvPr id="336953" name="AutoShape 57"/>
          <p:cNvSpPr>
            <a:spLocks/>
          </p:cNvSpPr>
          <p:nvPr/>
        </p:nvSpPr>
        <p:spPr bwMode="auto">
          <a:xfrm>
            <a:off x="5003532" y="2458955"/>
            <a:ext cx="2514600" cy="720725"/>
          </a:xfrm>
          <a:prstGeom prst="callout1">
            <a:avLst>
              <a:gd name="adj1" fmla="val 15861"/>
              <a:gd name="adj2" fmla="val -3032"/>
              <a:gd name="adj3" fmla="val 28634"/>
              <a:gd name="adj4" fmla="val -6428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declares a variable 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ints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that will refer to a set of integers</a:t>
            </a:r>
          </a:p>
        </p:txBody>
      </p:sp>
      <p:sp>
        <p:nvSpPr>
          <p:cNvPr id="336933" name="AutoShape 37"/>
          <p:cNvSpPr>
            <a:spLocks/>
          </p:cNvSpPr>
          <p:nvPr/>
        </p:nvSpPr>
        <p:spPr bwMode="auto">
          <a:xfrm>
            <a:off x="4267200" y="4212987"/>
            <a:ext cx="2520950" cy="719138"/>
          </a:xfrm>
          <a:prstGeom prst="callout1">
            <a:avLst>
              <a:gd name="adj1" fmla="val 15894"/>
              <a:gd name="adj2" fmla="val -3023"/>
              <a:gd name="adj3" fmla="val -97450"/>
              <a:gd name="adj4" fmla="val -35064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constructs an empty set of dates (</a:t>
            </a:r>
            <a:r>
              <a:rPr lang="en-US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TreeSet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will be explained in 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§10)</a:t>
            </a:r>
          </a:p>
        </p:txBody>
      </p:sp>
    </p:spTree>
    <p:extLst>
      <p:ext uri="{BB962C8B-B14F-4D97-AF65-F5344CB8AC3E}">
        <p14:creationId xmlns:p14="http://schemas.microsoft.com/office/powerpoint/2010/main" val="320633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52" grpId="0" animBg="1"/>
      <p:bldP spid="336953" grpId="0" animBg="1"/>
      <p:bldP spid="3369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Set ADT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88244"/>
            <a:ext cx="7200900" cy="4621212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dirty="0"/>
              <a:t>Useful features of the </a:t>
            </a:r>
            <a:r>
              <a:rPr lang="en-GB" altLang="en-US" dirty="0">
                <a:latin typeface="Courier New" pitchFamily="49" charset="0"/>
              </a:rPr>
              <a:t>Set</a:t>
            </a:r>
            <a:r>
              <a:rPr lang="en-GB" altLang="en-US" dirty="0"/>
              <a:t> ADT </a:t>
            </a:r>
            <a:r>
              <a:rPr lang="en-GB" altLang="en-US" i="1" dirty="0"/>
              <a:t>(continued)</a:t>
            </a:r>
            <a:r>
              <a:rPr lang="en-GB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dirty="0" err="1">
                <a:latin typeface="Courier New" pitchFamily="49" charset="0"/>
              </a:rPr>
              <a:t>dates.add</a:t>
            </a:r>
            <a:r>
              <a:rPr lang="en-GB" altLang="en-US" sz="2000" dirty="0">
                <a:latin typeface="Courier New" pitchFamily="49" charset="0"/>
              </a:rPr>
              <a:t>(d);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dates.remove</a:t>
            </a:r>
            <a:r>
              <a:rPr lang="en-GB" altLang="en-US" sz="2000" dirty="0">
                <a:latin typeface="Courier New" pitchFamily="49" charset="0"/>
              </a:rPr>
              <a:t>(d);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</a:rPr>
              <a:t>if</a:t>
            </a:r>
            <a:r>
              <a:rPr lang="en-GB" altLang="en-US" sz="2000" dirty="0">
                <a:latin typeface="Courier New" pitchFamily="49" charset="0"/>
              </a:rPr>
              <a:t> 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dates.isEmpty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())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</a:rPr>
              <a:t>if</a:t>
            </a:r>
            <a:r>
              <a:rPr lang="en-GB" altLang="en-US" sz="2000" dirty="0">
                <a:latin typeface="Courier New" pitchFamily="49" charset="0"/>
              </a:rPr>
              <a:t> (</a:t>
            </a:r>
            <a:r>
              <a:rPr lang="en-GB" altLang="en-US" sz="2000" dirty="0" err="1">
                <a:latin typeface="Courier New" pitchFamily="49" charset="0"/>
                <a:cs typeface="Courier New" pitchFamily="49" charset="0"/>
              </a:rPr>
              <a:t>dates.contains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(d))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(Date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GB" altLang="en-US" sz="2000" dirty="0">
                <a:latin typeface="Courier New" pitchFamily="49" charset="0"/>
              </a:rPr>
              <a:t> </a:t>
            </a: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dates)</a:t>
            </a:r>
            <a:br>
              <a:rPr lang="en-GB" alt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  <a:cs typeface="Courier New" pitchFamily="49" charset="0"/>
              </a:rPr>
              <a:t>	…</a:t>
            </a:r>
            <a:endParaRPr lang="en-US" alt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7987" name="AutoShape 67"/>
          <p:cNvSpPr>
            <a:spLocks/>
          </p:cNvSpPr>
          <p:nvPr/>
        </p:nvSpPr>
        <p:spPr bwMode="auto">
          <a:xfrm>
            <a:off x="5257800" y="1600200"/>
            <a:ext cx="2622550" cy="468313"/>
          </a:xfrm>
          <a:prstGeom prst="callout1">
            <a:avLst>
              <a:gd name="adj1" fmla="val 24407"/>
              <a:gd name="adj2" fmla="val -3032"/>
              <a:gd name="adj3" fmla="val 32204"/>
              <a:gd name="adj4" fmla="val -8263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adds date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to set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(if not already in the set)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7988" name="AutoShape 68"/>
          <p:cNvSpPr>
            <a:spLocks/>
          </p:cNvSpPr>
          <p:nvPr/>
        </p:nvSpPr>
        <p:spPr bwMode="auto">
          <a:xfrm>
            <a:off x="5359400" y="2133600"/>
            <a:ext cx="2520950" cy="468312"/>
          </a:xfrm>
          <a:prstGeom prst="callout1">
            <a:avLst>
              <a:gd name="adj1" fmla="val 24407"/>
              <a:gd name="adj2" fmla="val -3023"/>
              <a:gd name="adj3" fmla="val 3051"/>
              <a:gd name="adj4" fmla="val -6675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removes date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from set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337989" name="AutoShape 69"/>
          <p:cNvSpPr>
            <a:spLocks/>
          </p:cNvSpPr>
          <p:nvPr/>
        </p:nvSpPr>
        <p:spPr bwMode="auto">
          <a:xfrm>
            <a:off x="5364163" y="2609417"/>
            <a:ext cx="2516187" cy="468313"/>
          </a:xfrm>
          <a:prstGeom prst="callout1">
            <a:avLst>
              <a:gd name="adj1" fmla="val 24407"/>
              <a:gd name="adj2" fmla="val -3028"/>
              <a:gd name="adj3" fmla="val -5426"/>
              <a:gd name="adj4" fmla="val -5551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true if set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contains no elements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7990" name="AutoShape 70"/>
          <p:cNvSpPr>
            <a:spLocks/>
          </p:cNvSpPr>
          <p:nvPr/>
        </p:nvSpPr>
        <p:spPr bwMode="auto">
          <a:xfrm>
            <a:off x="5375049" y="3276600"/>
            <a:ext cx="2522537" cy="504825"/>
          </a:xfrm>
          <a:prstGeom prst="callout1">
            <a:avLst>
              <a:gd name="adj1" fmla="val 22644"/>
              <a:gd name="adj2" fmla="val -3019"/>
              <a:gd name="adj3" fmla="val 0"/>
              <a:gd name="adj4" fmla="val -43486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true if date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is an element of set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337991" name="AutoShape 71"/>
          <p:cNvSpPr>
            <a:spLocks/>
          </p:cNvSpPr>
          <p:nvPr/>
        </p:nvSpPr>
        <p:spPr bwMode="auto">
          <a:xfrm>
            <a:off x="5105400" y="3886200"/>
            <a:ext cx="2540000" cy="720725"/>
          </a:xfrm>
          <a:prstGeom prst="callout1">
            <a:avLst>
              <a:gd name="adj1" fmla="val 15861"/>
              <a:gd name="adj2" fmla="val -3000"/>
              <a:gd name="adj3" fmla="val 11454"/>
              <a:gd name="adj4" fmla="val -43690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iterates over set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dates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, making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d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refer to each element in turn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0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7" grpId="0" animBg="1"/>
      <p:bldP spid="337988" grpId="0" animBg="1"/>
      <p:bldP spid="337989" grpId="0" animBg="1"/>
      <p:bldP spid="337990" grpId="0" animBg="1"/>
      <p:bldP spid="3379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programming with sets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9500" algn="l"/>
                <a:tab pos="1435100" algn="l"/>
                <a:tab pos="1790700" algn="l"/>
              </a:tabLst>
            </a:pPr>
            <a:r>
              <a:rPr lang="en-GB" altLang="en-US" dirty="0"/>
              <a:t>Program: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import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java.util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.*;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FruitMarket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main (String[]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args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Set&lt;String&gt;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basket =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	</a:t>
            </a:r>
            <a:r>
              <a:rPr lang="en-GB" altLang="en-US" sz="2000" b="1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GB" altLang="en-US" sz="2000" dirty="0" err="1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TreeSet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&lt;String&gt;()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(String a : 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args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GB" altLang="en-US" sz="2000" dirty="0" err="1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basket.add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>
                <a:solidFill>
                  <a:srgbClr val="3366FF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 (String f : basket)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System.out.println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"  " + 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f);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GB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(! </a:t>
            </a:r>
            <a:r>
              <a:rPr lang="en-GB" altLang="en-US" sz="2000" dirty="0" err="1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basket.contains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>
                <a:solidFill>
                  <a:srgbClr val="3366FF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orange</a:t>
            </a:r>
            <a:r>
              <a:rPr lang="en-US" altLang="en-US" sz="2000" dirty="0">
                <a:solidFill>
                  <a:srgbClr val="3366FF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solidFill>
                  <a:srgbClr val="3366FF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GB" altLang="en-US" sz="2000" dirty="0" err="1">
                <a:latin typeface="Courier New" pitchFamily="49" charset="0"/>
                <a:cs typeface="Times New Roman" pitchFamily="18" charset="0"/>
              </a:rPr>
              <a:t>System.out.println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"No 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orange!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GB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</a:tabLst>
            </a:pP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61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programming with sets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If the program’s arguments are: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altLang="en-US" dirty="0"/>
              <a:t>	</a:t>
            </a:r>
            <a:r>
              <a:rPr lang="en-GB" altLang="en-US" dirty="0">
                <a:latin typeface="Courier New" pitchFamily="49" charset="0"/>
              </a:rPr>
              <a:t>kiwi apple mango banana apple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altLang="en-US" dirty="0"/>
              <a:t>	</a:t>
            </a:r>
            <a:r>
              <a:rPr lang="en-GB" altLang="en-US" sz="2000" dirty="0"/>
              <a:t>the program’s output will be: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altLang="en-US" dirty="0"/>
              <a:t>	    </a:t>
            </a:r>
            <a:r>
              <a:rPr lang="en-GB" altLang="en-US" dirty="0">
                <a:latin typeface="Courier New" pitchFamily="49" charset="0"/>
              </a:rPr>
              <a:t>apple</a:t>
            </a:r>
            <a:br>
              <a:rPr lang="en-GB" altLang="en-US" dirty="0">
                <a:latin typeface="Courier New" pitchFamily="49" charset="0"/>
              </a:rPr>
            </a:br>
            <a:r>
              <a:rPr lang="en-GB" altLang="en-US" dirty="0">
                <a:latin typeface="Courier New" pitchFamily="49" charset="0"/>
              </a:rPr>
              <a:t>  banana</a:t>
            </a:r>
            <a:br>
              <a:rPr lang="en-GB" altLang="en-US" dirty="0">
                <a:latin typeface="Courier New" pitchFamily="49" charset="0"/>
              </a:rPr>
            </a:br>
            <a:r>
              <a:rPr lang="en-GB" altLang="en-US" dirty="0">
                <a:latin typeface="Courier New" pitchFamily="49" charset="0"/>
              </a:rPr>
              <a:t>  kiwi</a:t>
            </a:r>
            <a:br>
              <a:rPr lang="en-GB" altLang="en-US" dirty="0">
                <a:latin typeface="Courier New" pitchFamily="49" charset="0"/>
              </a:rPr>
            </a:br>
            <a:r>
              <a:rPr lang="en-GB" altLang="en-US" dirty="0">
                <a:latin typeface="Courier New" pitchFamily="49" charset="0"/>
              </a:rPr>
              <a:t>  mango</a:t>
            </a:r>
            <a:br>
              <a:rPr lang="en-GB" altLang="en-US" dirty="0">
                <a:latin typeface="Courier New" pitchFamily="49" charset="0"/>
              </a:rPr>
            </a:br>
            <a:r>
              <a:rPr lang="en-GB" altLang="en-US" dirty="0">
                <a:latin typeface="Courier New" pitchFamily="49" charset="0"/>
              </a:rPr>
              <a:t>No orange!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The </a:t>
            </a:r>
            <a:r>
              <a:rPr lang="en-US" altLang="en-US" sz="2000" dirty="0"/>
              <a:t>order of adding elements to a set does not matter</a:t>
            </a:r>
            <a:r>
              <a:rPr lang="en-GB" altLang="en-US" sz="2000" dirty="0"/>
              <a:t>. (The elements are in no particular order.)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A</a:t>
            </a:r>
            <a:r>
              <a:rPr lang="en-US" altLang="en-US" sz="2000" dirty="0" err="1"/>
              <a:t>dding</a:t>
            </a:r>
            <a:r>
              <a:rPr lang="en-US" altLang="en-US" sz="2000" dirty="0"/>
              <a:t> an element already in a set has no effect. (No two elements of a set are equal.)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72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789</TotalTime>
  <Words>3697</Words>
  <Application>Microsoft Office PowerPoint</Application>
  <PresentationFormat>On-screen Show (4:3)</PresentationFormat>
  <Paragraphs>385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Courier New</vt:lpstr>
      <vt:lpstr>Times New Roman</vt:lpstr>
      <vt:lpstr>Wingdings</vt:lpstr>
      <vt:lpstr>Clarity</vt:lpstr>
      <vt:lpstr>1. Introduction</vt:lpstr>
      <vt:lpstr>Algorithms</vt:lpstr>
      <vt:lpstr>History of algorithms</vt:lpstr>
      <vt:lpstr>Example: finding a midpoint (1)</vt:lpstr>
      <vt:lpstr>Example: finding a midpoint (2)</vt:lpstr>
      <vt:lpstr>Example: computing a GCD (1)</vt:lpstr>
      <vt:lpstr>Example: computing a GCD (2)</vt:lpstr>
      <vt:lpstr>Example: computing a GCD (3)</vt:lpstr>
      <vt:lpstr>Algorithms vs programs</vt:lpstr>
      <vt:lpstr>Algorithm notation (1)</vt:lpstr>
      <vt:lpstr>Algorithm notation (2)</vt:lpstr>
      <vt:lpstr>Implementing algorithms</vt:lpstr>
      <vt:lpstr>Data structures</vt:lpstr>
      <vt:lpstr>Example: representing strings</vt:lpstr>
      <vt:lpstr>Example: representing lists</vt:lpstr>
      <vt:lpstr>Example: representing sets</vt:lpstr>
      <vt:lpstr>Abstract data types (1)</vt:lpstr>
      <vt:lpstr>Abstract data types (2)</vt:lpstr>
      <vt:lpstr>String ADT</vt:lpstr>
      <vt:lpstr>List ADT (1)</vt:lpstr>
      <vt:lpstr>List ADT (2)</vt:lpstr>
      <vt:lpstr>Example: programming with lists (1)</vt:lpstr>
      <vt:lpstr>Example: programming with lists (2)</vt:lpstr>
      <vt:lpstr>Set ADT (1)</vt:lpstr>
      <vt:lpstr>Set ADT (2)</vt:lpstr>
      <vt:lpstr>Example: programming with sets (1)</vt:lpstr>
      <vt:lpstr>Example: programming with sets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Introduction</dc:title>
  <dc:creator>Alice</dc:creator>
  <cp:lastModifiedBy>Ivaylo Valkov</cp:lastModifiedBy>
  <cp:revision>27</cp:revision>
  <dcterms:created xsi:type="dcterms:W3CDTF">2006-08-16T00:00:00Z</dcterms:created>
  <dcterms:modified xsi:type="dcterms:W3CDTF">2025-01-16T10:51:01Z</dcterms:modified>
</cp:coreProperties>
</file>