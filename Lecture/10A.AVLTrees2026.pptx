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3973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25610-2C50-46BC-8F11-5F3196FFFA6D}" type="datetimeFigureOut">
              <a:rPr lang="en-GB" smtClean="0"/>
              <a:t>13/03/2025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0A1DD-212D-4981-83CA-0C341CCED1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20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ADS2 Lectre 16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nglish_language" TargetMode="External"/><Relationship Id="rId2" Type="http://schemas.openxmlformats.org/officeDocument/2006/relationships/hyperlink" Target="http://en.wikipedia.org/wiki/Russian_languag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/index.php?title=Special:Booksources&amp;isbn=0201896850" TargetMode="External"/><Relationship Id="rId4" Type="http://schemas.openxmlformats.org/officeDocument/2006/relationships/hyperlink" Target="http://en.wikipedia.org/wiki/Donald_Knuth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156" y="1066800"/>
            <a:ext cx="8858250" cy="1295400"/>
          </a:xfrm>
        </p:spPr>
        <p:txBody>
          <a:bodyPr/>
          <a:lstStyle/>
          <a:p>
            <a:pPr algn="ctr" eaLnBrk="1" hangingPunct="1"/>
            <a:r>
              <a:rPr lang="en-GB" altLang="en-US" sz="3600" dirty="0">
                <a:solidFill>
                  <a:schemeClr val="folHlink"/>
                </a:solidFill>
              </a:rPr>
              <a:t>10A. AVL Trees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2931" y="3581400"/>
            <a:ext cx="7886700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Balanced Binary Search Trees (AVL Trees)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dirty="0"/>
              <a:t>Insertion</a:t>
            </a:r>
            <a:endParaRPr lang="en-US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2"/>
              </a:buClr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609056" y="444500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buClr>
                <a:schemeClr val="bg2"/>
              </a:buClr>
              <a:buFont typeface="Wingdings" pitchFamily="2" charset="2"/>
              <a:buNone/>
            </a:pPr>
            <a:r>
              <a:rPr lang="en-GB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6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3352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000" dirty="0"/>
              <a:t>See:</a:t>
            </a:r>
          </a:p>
          <a:p>
            <a:endParaRPr lang="en-GB" altLang="en-US" sz="2000" dirty="0"/>
          </a:p>
          <a:p>
            <a:r>
              <a:rPr lang="en-GB" altLang="en-US" sz="2000" dirty="0"/>
              <a:t>G.M. Adelson-</a:t>
            </a:r>
            <a:r>
              <a:rPr lang="en-GB" altLang="en-US" sz="2000" dirty="0" err="1"/>
              <a:t>Velskii</a:t>
            </a:r>
            <a:r>
              <a:rPr lang="en-GB" altLang="en-US" sz="2000" dirty="0"/>
              <a:t> and E.M. Landis, "An algorithm for the organization of information." </a:t>
            </a:r>
            <a:r>
              <a:rPr lang="en-GB" altLang="en-US" sz="2000" i="1" dirty="0" err="1"/>
              <a:t>Doklady</a:t>
            </a:r>
            <a:r>
              <a:rPr lang="en-GB" altLang="en-US" sz="2000" i="1" dirty="0"/>
              <a:t> </a:t>
            </a:r>
            <a:r>
              <a:rPr lang="en-GB" altLang="en-US" sz="2000" i="1" dirty="0" err="1"/>
              <a:t>Akademii</a:t>
            </a:r>
            <a:r>
              <a:rPr lang="en-GB" altLang="en-US" sz="2000" i="1" dirty="0"/>
              <a:t> </a:t>
            </a:r>
            <a:r>
              <a:rPr lang="en-GB" altLang="en-US" sz="2000" i="1" dirty="0" err="1"/>
              <a:t>Nauk</a:t>
            </a:r>
            <a:r>
              <a:rPr lang="en-GB" altLang="en-US" sz="2000" i="1" dirty="0"/>
              <a:t> SSSR</a:t>
            </a:r>
            <a:r>
              <a:rPr lang="en-GB" altLang="en-US" sz="2000" dirty="0"/>
              <a:t>, 146:263–266, 1962 (</a:t>
            </a:r>
            <a:r>
              <a:rPr lang="en-GB" altLang="en-US" sz="2000" dirty="0">
                <a:hlinkClick r:id="rId2" tooltip="Russian language"/>
              </a:rPr>
              <a:t>Russian</a:t>
            </a:r>
            <a:r>
              <a:rPr lang="en-GB" altLang="en-US" sz="2000" dirty="0"/>
              <a:t>). </a:t>
            </a:r>
            <a:r>
              <a:rPr lang="en-GB" altLang="en-US" sz="2000" dirty="0">
                <a:hlinkClick r:id="rId3" tooltip="English language"/>
              </a:rPr>
              <a:t>English</a:t>
            </a:r>
            <a:r>
              <a:rPr lang="en-GB" altLang="en-US" sz="2000" dirty="0"/>
              <a:t> translation by Myron J. Ricci in </a:t>
            </a:r>
            <a:r>
              <a:rPr lang="en-GB" altLang="en-US" sz="2000" i="1" dirty="0"/>
              <a:t>Soviet Math. </a:t>
            </a:r>
            <a:r>
              <a:rPr lang="en-GB" altLang="en-US" sz="2000" i="1" dirty="0" err="1"/>
              <a:t>Doklady</a:t>
            </a:r>
            <a:r>
              <a:rPr lang="en-GB" altLang="en-US" sz="2000" dirty="0"/>
              <a:t>, 3:1259–1263, 1962. </a:t>
            </a:r>
          </a:p>
          <a:p>
            <a:r>
              <a:rPr lang="en-GB" altLang="en-US" sz="2000" dirty="0">
                <a:hlinkClick r:id="rId4" tooltip="Donald Knuth"/>
              </a:rPr>
              <a:t>Donald Knuth</a:t>
            </a:r>
            <a:r>
              <a:rPr lang="en-GB" altLang="en-US" sz="2000" dirty="0"/>
              <a:t>. </a:t>
            </a:r>
            <a:r>
              <a:rPr lang="en-GB" altLang="en-US" sz="2000" i="1" dirty="0"/>
              <a:t>The Art of Computer Programming</a:t>
            </a:r>
            <a:r>
              <a:rPr lang="en-GB" altLang="en-US" sz="2000" dirty="0"/>
              <a:t>, Volume 3: </a:t>
            </a:r>
            <a:r>
              <a:rPr lang="en-GB" altLang="en-US" sz="2000" i="1" dirty="0"/>
              <a:t>Sorting and Searching</a:t>
            </a:r>
            <a:r>
              <a:rPr lang="en-GB" altLang="en-US" sz="2000" dirty="0"/>
              <a:t>, Third Edition. Addison-Wesley, 1997. </a:t>
            </a:r>
            <a:r>
              <a:rPr lang="en-GB" altLang="en-US" sz="2000" dirty="0">
                <a:hlinkClick r:id="rId5"/>
              </a:rPr>
              <a:t>ISBN 0-201-89685-0</a:t>
            </a:r>
            <a:r>
              <a:rPr lang="en-GB" altLang="en-US" sz="2000" dirty="0"/>
              <a:t>. Pages 458–475 of section 6.2.3: Balanced Trees. Note that Knuth calls AVL trees simply "balanced trees". </a:t>
            </a:r>
          </a:p>
          <a:p>
            <a:pPr>
              <a:buFontTx/>
              <a:buNone/>
            </a:pPr>
            <a:endParaRPr lang="en-GB" altLang="en-US" sz="2000" b="1" dirty="0"/>
          </a:p>
          <a:p>
            <a:pPr>
              <a:buFontTx/>
              <a:buNone/>
            </a:pPr>
            <a:endParaRPr lang="en-GB" altLang="en-US" sz="2000" b="1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6876551-A09D-46A2-87F7-5B9AE419293C}" type="slidenum">
              <a:rPr lang="en-GB" altLang="en-US" smtClean="0"/>
              <a:pPr eaLnBrk="1" hangingPunct="1"/>
              <a:t>2</a:t>
            </a:fld>
            <a:endParaRPr lang="en-GB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en-US" dirty="0"/>
              <a:t>AVL trees </a:t>
            </a:r>
            <a:r>
              <a:rPr lang="en-US" altLang="en-US" i="1" dirty="0"/>
              <a:t>(1)</a:t>
            </a:r>
            <a:endParaRPr lang="en-GB" altLang="en-US" i="1" dirty="0"/>
          </a:p>
        </p:txBody>
      </p:sp>
    </p:spTree>
    <p:extLst>
      <p:ext uri="{BB962C8B-B14F-4D97-AF65-F5344CB8AC3E}">
        <p14:creationId xmlns:p14="http://schemas.microsoft.com/office/powerpoint/2010/main" val="584361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AVL Trees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229600" cy="3505200"/>
          </a:xfrm>
        </p:spPr>
        <p:txBody>
          <a:bodyPr/>
          <a:lstStyle/>
          <a:p>
            <a:r>
              <a:rPr lang="en-GB" altLang="en-US" sz="2000" dirty="0"/>
              <a:t>Discovered in 1962, Adelson-</a:t>
            </a:r>
            <a:r>
              <a:rPr lang="en-GB" altLang="en-US" sz="2000" dirty="0" err="1"/>
              <a:t>Velskii</a:t>
            </a:r>
            <a:r>
              <a:rPr lang="en-GB" altLang="en-US" sz="2000" dirty="0"/>
              <a:t> and Landis</a:t>
            </a:r>
          </a:p>
          <a:p>
            <a:pPr lvl="1"/>
            <a:r>
              <a:rPr lang="en-GB" altLang="en-US" sz="2000" dirty="0"/>
              <a:t>Trying to devise a better data structure for a chess engine</a:t>
            </a:r>
          </a:p>
          <a:p>
            <a:endParaRPr lang="en-GB" altLang="en-US" sz="2000" dirty="0"/>
          </a:p>
          <a:p>
            <a:r>
              <a:rPr lang="en-GB" altLang="en-US" sz="2000" dirty="0"/>
              <a:t>Depth ensured to be O(log n)</a:t>
            </a:r>
          </a:p>
          <a:p>
            <a:pPr lvl="1"/>
            <a:r>
              <a:rPr lang="en-GB" altLang="en-US" sz="2000" dirty="0"/>
              <a:t>But not always perfectly balanced</a:t>
            </a:r>
          </a:p>
          <a:p>
            <a:endParaRPr lang="en-GB" altLang="en-US" sz="2000" dirty="0"/>
          </a:p>
          <a:p>
            <a:r>
              <a:rPr lang="en-GB" altLang="en-US" sz="2000" dirty="0"/>
              <a:t>Recursive definition:</a:t>
            </a:r>
          </a:p>
          <a:p>
            <a:pPr lvl="1"/>
            <a:r>
              <a:rPr lang="en-GB" altLang="en-US" sz="2000" dirty="0"/>
              <a:t>The sub-trees of every node differ in height by at most one. </a:t>
            </a:r>
          </a:p>
          <a:p>
            <a:pPr lvl="1"/>
            <a:r>
              <a:rPr lang="en-GB" altLang="en-US" sz="2000" dirty="0"/>
              <a:t>Every sub-tree is an AVL tree. </a:t>
            </a:r>
          </a:p>
        </p:txBody>
      </p:sp>
      <p:sp>
        <p:nvSpPr>
          <p:cNvPr id="4100" name="Text Box 40"/>
          <p:cNvSpPr txBox="1">
            <a:spLocks noChangeArrowheads="1"/>
          </p:cNvSpPr>
          <p:nvPr/>
        </p:nvSpPr>
        <p:spPr bwMode="auto">
          <a:xfrm>
            <a:off x="2590800" y="5334000"/>
            <a:ext cx="3124200" cy="7032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Height of an empty tree is -1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Height of a single node is 0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9C8E3D8-5EBE-4623-9F29-2062B8F855A7}" type="slidenum">
              <a:rPr lang="en-GB" altLang="en-US" smtClean="0"/>
              <a:pPr eaLnBrk="1" hangingPunct="1"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784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11"/>
          <p:cNvGrpSpPr>
            <a:grpSpLocks/>
          </p:cNvGrpSpPr>
          <p:nvPr/>
        </p:nvGrpSpPr>
        <p:grpSpPr bwMode="auto">
          <a:xfrm>
            <a:off x="304800" y="457200"/>
            <a:ext cx="2132013" cy="1047750"/>
            <a:chOff x="846" y="288"/>
            <a:chExt cx="1343" cy="660"/>
          </a:xfrm>
        </p:grpSpPr>
        <p:sp>
          <p:nvSpPr>
            <p:cNvPr id="5188" name="Oval 9"/>
            <p:cNvSpPr>
              <a:spLocks noChangeAspect="1" noChangeArrowheads="1"/>
            </p:cNvSpPr>
            <p:nvPr/>
          </p:nvSpPr>
          <p:spPr bwMode="auto">
            <a:xfrm>
              <a:off x="1986" y="750"/>
              <a:ext cx="203" cy="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189" name="Oval 10"/>
            <p:cNvSpPr>
              <a:spLocks noChangeAspect="1" noChangeArrowheads="1"/>
            </p:cNvSpPr>
            <p:nvPr/>
          </p:nvSpPr>
          <p:spPr bwMode="auto">
            <a:xfrm>
              <a:off x="846" y="750"/>
              <a:ext cx="204" cy="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190" name="Oval 11"/>
            <p:cNvSpPr>
              <a:spLocks noChangeAspect="1" noChangeArrowheads="1"/>
            </p:cNvSpPr>
            <p:nvPr/>
          </p:nvSpPr>
          <p:spPr bwMode="auto">
            <a:xfrm>
              <a:off x="1416" y="288"/>
              <a:ext cx="203" cy="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5191" name="AutoShape 12"/>
            <p:cNvCxnSpPr>
              <a:cxnSpLocks noChangeShapeType="1"/>
              <a:stCxn id="5190" idx="3"/>
              <a:endCxn id="5189" idx="0"/>
            </p:cNvCxnSpPr>
            <p:nvPr/>
          </p:nvCxnSpPr>
          <p:spPr bwMode="auto">
            <a:xfrm flipH="1">
              <a:off x="948" y="467"/>
              <a:ext cx="498" cy="2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92" name="AutoShape 13"/>
            <p:cNvCxnSpPr>
              <a:cxnSpLocks noChangeShapeType="1"/>
            </p:cNvCxnSpPr>
            <p:nvPr/>
          </p:nvCxnSpPr>
          <p:spPr bwMode="auto">
            <a:xfrm>
              <a:off x="1584" y="480"/>
              <a:ext cx="497" cy="2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179" name="Oval 19"/>
          <p:cNvSpPr>
            <a:spLocks noChangeAspect="1" noChangeArrowheads="1"/>
          </p:cNvSpPr>
          <p:nvPr/>
        </p:nvSpPr>
        <p:spPr bwMode="auto">
          <a:xfrm>
            <a:off x="3090990" y="3317874"/>
            <a:ext cx="447678" cy="434511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 dirty="0">
                <a:latin typeface="Times New Roman" pitchFamily="18" charset="0"/>
              </a:rPr>
              <a:t>11</a:t>
            </a:r>
          </a:p>
        </p:txBody>
      </p:sp>
      <p:sp>
        <p:nvSpPr>
          <p:cNvPr id="5180" name="Oval 21"/>
          <p:cNvSpPr>
            <a:spLocks noChangeAspect="1" noChangeArrowheads="1"/>
          </p:cNvSpPr>
          <p:nvPr/>
        </p:nvSpPr>
        <p:spPr bwMode="auto">
          <a:xfrm>
            <a:off x="228600" y="3351213"/>
            <a:ext cx="322263" cy="31273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181" name="Oval 22"/>
          <p:cNvSpPr>
            <a:spLocks noChangeAspect="1" noChangeArrowheads="1"/>
          </p:cNvSpPr>
          <p:nvPr/>
        </p:nvSpPr>
        <p:spPr bwMode="auto">
          <a:xfrm>
            <a:off x="2619375" y="2638425"/>
            <a:ext cx="322263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8</a:t>
            </a:r>
          </a:p>
        </p:txBody>
      </p:sp>
      <p:sp>
        <p:nvSpPr>
          <p:cNvPr id="5182" name="Oval 23"/>
          <p:cNvSpPr>
            <a:spLocks noChangeAspect="1" noChangeArrowheads="1"/>
          </p:cNvSpPr>
          <p:nvPr/>
        </p:nvSpPr>
        <p:spPr bwMode="auto">
          <a:xfrm>
            <a:off x="809625" y="2638425"/>
            <a:ext cx="323850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5183" name="Oval 24"/>
          <p:cNvSpPr>
            <a:spLocks noChangeAspect="1" noChangeArrowheads="1"/>
          </p:cNvSpPr>
          <p:nvPr/>
        </p:nvSpPr>
        <p:spPr bwMode="auto">
          <a:xfrm>
            <a:off x="1714500" y="1905000"/>
            <a:ext cx="322263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6</a:t>
            </a:r>
          </a:p>
        </p:txBody>
      </p:sp>
      <p:cxnSp>
        <p:nvCxnSpPr>
          <p:cNvPr id="5184" name="AutoShape 25"/>
          <p:cNvCxnSpPr>
            <a:cxnSpLocks noChangeShapeType="1"/>
            <a:stCxn id="5183" idx="3"/>
            <a:endCxn id="5182" idx="0"/>
          </p:cNvCxnSpPr>
          <p:nvPr/>
        </p:nvCxnSpPr>
        <p:spPr bwMode="auto">
          <a:xfrm flipH="1">
            <a:off x="971550" y="2189163"/>
            <a:ext cx="790575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85" name="AutoShape 26"/>
          <p:cNvCxnSpPr>
            <a:cxnSpLocks noChangeShapeType="1"/>
            <a:stCxn id="5183" idx="5"/>
            <a:endCxn id="5181" idx="0"/>
          </p:cNvCxnSpPr>
          <p:nvPr/>
        </p:nvCxnSpPr>
        <p:spPr bwMode="auto">
          <a:xfrm>
            <a:off x="1990725" y="2189163"/>
            <a:ext cx="788988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86" name="AutoShape 28"/>
          <p:cNvCxnSpPr>
            <a:cxnSpLocks noChangeShapeType="1"/>
            <a:stCxn id="5181" idx="5"/>
            <a:endCxn id="5179" idx="0"/>
          </p:cNvCxnSpPr>
          <p:nvPr/>
        </p:nvCxnSpPr>
        <p:spPr bwMode="auto">
          <a:xfrm>
            <a:off x="2894444" y="2906718"/>
            <a:ext cx="420385" cy="41115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87" name="AutoShape 29"/>
          <p:cNvCxnSpPr>
            <a:cxnSpLocks noChangeShapeType="1"/>
            <a:stCxn id="5182" idx="3"/>
            <a:endCxn id="5180" idx="0"/>
          </p:cNvCxnSpPr>
          <p:nvPr/>
        </p:nvCxnSpPr>
        <p:spPr bwMode="auto">
          <a:xfrm flipH="1">
            <a:off x="390525" y="2922588"/>
            <a:ext cx="46672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4" name="Text Box 33"/>
          <p:cNvSpPr txBox="1">
            <a:spLocks noChangeArrowheads="1"/>
          </p:cNvSpPr>
          <p:nvPr/>
        </p:nvSpPr>
        <p:spPr bwMode="auto">
          <a:xfrm>
            <a:off x="2514600" y="690563"/>
            <a:ext cx="1236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AVL tree</a:t>
            </a:r>
          </a:p>
        </p:txBody>
      </p:sp>
      <p:sp>
        <p:nvSpPr>
          <p:cNvPr id="5125" name="Text Box 34"/>
          <p:cNvSpPr txBox="1">
            <a:spLocks noChangeArrowheads="1"/>
          </p:cNvSpPr>
          <p:nvPr/>
        </p:nvSpPr>
        <p:spPr bwMode="auto">
          <a:xfrm>
            <a:off x="1143000" y="5105400"/>
            <a:ext cx="2271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an AVL tree</a:t>
            </a:r>
          </a:p>
        </p:txBody>
      </p:sp>
      <p:sp>
        <p:nvSpPr>
          <p:cNvPr id="5139" name="Oval 89"/>
          <p:cNvSpPr>
            <a:spLocks noChangeAspect="1" noChangeArrowheads="1"/>
          </p:cNvSpPr>
          <p:nvPr/>
        </p:nvSpPr>
        <p:spPr bwMode="auto">
          <a:xfrm>
            <a:off x="5557838" y="5332413"/>
            <a:ext cx="322262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5140" name="Oval 90"/>
          <p:cNvSpPr>
            <a:spLocks noChangeAspect="1" noChangeArrowheads="1"/>
          </p:cNvSpPr>
          <p:nvPr/>
        </p:nvSpPr>
        <p:spPr bwMode="auto">
          <a:xfrm>
            <a:off x="7947024" y="4662488"/>
            <a:ext cx="511175" cy="49614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11</a:t>
            </a:r>
          </a:p>
        </p:txBody>
      </p:sp>
      <p:sp>
        <p:nvSpPr>
          <p:cNvPr id="5141" name="Oval 91"/>
          <p:cNvSpPr>
            <a:spLocks noChangeAspect="1" noChangeArrowheads="1"/>
          </p:cNvSpPr>
          <p:nvPr/>
        </p:nvSpPr>
        <p:spPr bwMode="auto">
          <a:xfrm>
            <a:off x="7043738" y="4662488"/>
            <a:ext cx="322262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7</a:t>
            </a:r>
          </a:p>
        </p:txBody>
      </p:sp>
      <p:sp>
        <p:nvSpPr>
          <p:cNvPr id="5142" name="Oval 92"/>
          <p:cNvSpPr>
            <a:spLocks noChangeAspect="1" noChangeArrowheads="1"/>
          </p:cNvSpPr>
          <p:nvPr/>
        </p:nvSpPr>
        <p:spPr bwMode="auto">
          <a:xfrm>
            <a:off x="5105400" y="4641850"/>
            <a:ext cx="322263" cy="31273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143" name="Oval 93"/>
          <p:cNvSpPr>
            <a:spLocks noChangeAspect="1" noChangeArrowheads="1"/>
          </p:cNvSpPr>
          <p:nvPr/>
        </p:nvSpPr>
        <p:spPr bwMode="auto">
          <a:xfrm>
            <a:off x="7496175" y="3929063"/>
            <a:ext cx="322263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8</a:t>
            </a:r>
          </a:p>
        </p:txBody>
      </p:sp>
      <p:sp>
        <p:nvSpPr>
          <p:cNvPr id="5144" name="Oval 94"/>
          <p:cNvSpPr>
            <a:spLocks noChangeAspect="1" noChangeArrowheads="1"/>
          </p:cNvSpPr>
          <p:nvPr/>
        </p:nvSpPr>
        <p:spPr bwMode="auto">
          <a:xfrm>
            <a:off x="5686425" y="3929063"/>
            <a:ext cx="323850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5145" name="Oval 95"/>
          <p:cNvSpPr>
            <a:spLocks noChangeAspect="1" noChangeArrowheads="1"/>
          </p:cNvSpPr>
          <p:nvPr/>
        </p:nvSpPr>
        <p:spPr bwMode="auto">
          <a:xfrm>
            <a:off x="6591300" y="3195638"/>
            <a:ext cx="322263" cy="31432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6</a:t>
            </a:r>
          </a:p>
        </p:txBody>
      </p:sp>
      <p:cxnSp>
        <p:nvCxnSpPr>
          <p:cNvPr id="5146" name="AutoShape 96"/>
          <p:cNvCxnSpPr>
            <a:cxnSpLocks noChangeShapeType="1"/>
            <a:stCxn id="5145" idx="3"/>
            <a:endCxn id="5144" idx="0"/>
          </p:cNvCxnSpPr>
          <p:nvPr/>
        </p:nvCxnSpPr>
        <p:spPr bwMode="auto">
          <a:xfrm flipH="1">
            <a:off x="5848350" y="3479800"/>
            <a:ext cx="790575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7" name="AutoShape 97"/>
          <p:cNvCxnSpPr>
            <a:cxnSpLocks noChangeShapeType="1"/>
            <a:stCxn id="5145" idx="5"/>
            <a:endCxn id="5143" idx="0"/>
          </p:cNvCxnSpPr>
          <p:nvPr/>
        </p:nvCxnSpPr>
        <p:spPr bwMode="auto">
          <a:xfrm>
            <a:off x="6867525" y="3479800"/>
            <a:ext cx="788988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8" name="AutoShape 98"/>
          <p:cNvCxnSpPr>
            <a:cxnSpLocks noChangeShapeType="1"/>
            <a:stCxn id="5143" idx="3"/>
            <a:endCxn id="5141" idx="0"/>
          </p:cNvCxnSpPr>
          <p:nvPr/>
        </p:nvCxnSpPr>
        <p:spPr bwMode="auto">
          <a:xfrm flipH="1">
            <a:off x="7204075" y="4213225"/>
            <a:ext cx="338138" cy="4333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9" name="AutoShape 99"/>
          <p:cNvCxnSpPr>
            <a:cxnSpLocks noChangeShapeType="1"/>
            <a:stCxn id="5143" idx="5"/>
            <a:endCxn id="5140" idx="0"/>
          </p:cNvCxnSpPr>
          <p:nvPr/>
        </p:nvCxnSpPr>
        <p:spPr bwMode="auto">
          <a:xfrm>
            <a:off x="7771244" y="4197356"/>
            <a:ext cx="431368" cy="46513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0" name="AutoShape 100"/>
          <p:cNvCxnSpPr>
            <a:cxnSpLocks noChangeShapeType="1"/>
            <a:stCxn id="5144" idx="3"/>
            <a:endCxn id="5142" idx="0"/>
          </p:cNvCxnSpPr>
          <p:nvPr/>
        </p:nvCxnSpPr>
        <p:spPr bwMode="auto">
          <a:xfrm flipH="1">
            <a:off x="5267325" y="4213225"/>
            <a:ext cx="466725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51" name="AutoShape 101"/>
          <p:cNvCxnSpPr>
            <a:cxnSpLocks noChangeShapeType="1"/>
            <a:stCxn id="5142" idx="5"/>
            <a:endCxn id="5139" idx="0"/>
          </p:cNvCxnSpPr>
          <p:nvPr/>
        </p:nvCxnSpPr>
        <p:spPr bwMode="auto">
          <a:xfrm>
            <a:off x="5381625" y="4926013"/>
            <a:ext cx="338138" cy="390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2" name="Oval 102"/>
          <p:cNvSpPr>
            <a:spLocks noChangeAspect="1" noChangeArrowheads="1"/>
          </p:cNvSpPr>
          <p:nvPr/>
        </p:nvSpPr>
        <p:spPr bwMode="auto">
          <a:xfrm>
            <a:off x="5233988" y="6086475"/>
            <a:ext cx="323850" cy="3143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5153" name="AutoShape 103"/>
          <p:cNvCxnSpPr>
            <a:cxnSpLocks noChangeShapeType="1"/>
            <a:stCxn id="5139" idx="4"/>
            <a:endCxn id="5152" idx="7"/>
          </p:cNvCxnSpPr>
          <p:nvPr/>
        </p:nvCxnSpPr>
        <p:spPr bwMode="auto">
          <a:xfrm flipH="1">
            <a:off x="5510213" y="5662613"/>
            <a:ext cx="209550" cy="454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4" name="Text Box 104"/>
          <p:cNvSpPr txBox="1">
            <a:spLocks noChangeArrowheads="1"/>
          </p:cNvSpPr>
          <p:nvPr/>
        </p:nvSpPr>
        <p:spPr bwMode="auto">
          <a:xfrm>
            <a:off x="6850063" y="2382838"/>
            <a:ext cx="13478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AVL tree</a:t>
            </a:r>
          </a:p>
        </p:txBody>
      </p:sp>
      <p:sp>
        <p:nvSpPr>
          <p:cNvPr id="5155" name="Text Box 105"/>
          <p:cNvSpPr txBox="1">
            <a:spLocks noChangeArrowheads="1"/>
          </p:cNvSpPr>
          <p:nvPr/>
        </p:nvSpPr>
        <p:spPr bwMode="auto">
          <a:xfrm>
            <a:off x="6629400" y="5334000"/>
            <a:ext cx="2271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an AVL tree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105400" y="525463"/>
            <a:ext cx="3276600" cy="2451100"/>
            <a:chOff x="5105400" y="304800"/>
            <a:chExt cx="3276600" cy="2451100"/>
          </a:xfrm>
        </p:grpSpPr>
        <p:sp>
          <p:nvSpPr>
            <p:cNvPr id="5126" name="Oval 76"/>
            <p:cNvSpPr>
              <a:spLocks noChangeAspect="1" noChangeArrowheads="1"/>
            </p:cNvSpPr>
            <p:nvPr/>
          </p:nvSpPr>
          <p:spPr bwMode="auto">
            <a:xfrm>
              <a:off x="5557838" y="2441575"/>
              <a:ext cx="322262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127" name="Oval 77"/>
            <p:cNvSpPr>
              <a:spLocks noChangeAspect="1" noChangeArrowheads="1"/>
            </p:cNvSpPr>
            <p:nvPr/>
          </p:nvSpPr>
          <p:spPr bwMode="auto">
            <a:xfrm>
              <a:off x="7947025" y="1771650"/>
              <a:ext cx="434975" cy="42218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 dirty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5128" name="Oval 78"/>
            <p:cNvSpPr>
              <a:spLocks noChangeAspect="1" noChangeArrowheads="1"/>
            </p:cNvSpPr>
            <p:nvPr/>
          </p:nvSpPr>
          <p:spPr bwMode="auto">
            <a:xfrm>
              <a:off x="7043738" y="1771650"/>
              <a:ext cx="322262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5129" name="Oval 79"/>
            <p:cNvSpPr>
              <a:spLocks noChangeAspect="1" noChangeArrowheads="1"/>
            </p:cNvSpPr>
            <p:nvPr/>
          </p:nvSpPr>
          <p:spPr bwMode="auto">
            <a:xfrm>
              <a:off x="5105400" y="1751013"/>
              <a:ext cx="322263" cy="31273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30" name="Oval 80"/>
            <p:cNvSpPr>
              <a:spLocks noChangeAspect="1" noChangeArrowheads="1"/>
            </p:cNvSpPr>
            <p:nvPr/>
          </p:nvSpPr>
          <p:spPr bwMode="auto">
            <a:xfrm>
              <a:off x="7496175" y="1038225"/>
              <a:ext cx="322263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131" name="Oval 81"/>
            <p:cNvSpPr>
              <a:spLocks noChangeAspect="1" noChangeArrowheads="1"/>
            </p:cNvSpPr>
            <p:nvPr/>
          </p:nvSpPr>
          <p:spPr bwMode="auto">
            <a:xfrm>
              <a:off x="5686425" y="1038225"/>
              <a:ext cx="323850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132" name="Oval 82"/>
            <p:cNvSpPr>
              <a:spLocks noChangeAspect="1" noChangeArrowheads="1"/>
            </p:cNvSpPr>
            <p:nvPr/>
          </p:nvSpPr>
          <p:spPr bwMode="auto">
            <a:xfrm>
              <a:off x="6591300" y="304800"/>
              <a:ext cx="322263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5133" name="AutoShape 83"/>
            <p:cNvCxnSpPr>
              <a:cxnSpLocks noChangeShapeType="1"/>
              <a:stCxn id="5132" idx="3"/>
              <a:endCxn id="5131" idx="0"/>
            </p:cNvCxnSpPr>
            <p:nvPr/>
          </p:nvCxnSpPr>
          <p:spPr bwMode="auto">
            <a:xfrm flipH="1">
              <a:off x="5848350" y="588963"/>
              <a:ext cx="790575" cy="433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4" name="AutoShape 84"/>
            <p:cNvCxnSpPr>
              <a:cxnSpLocks noChangeShapeType="1"/>
              <a:stCxn id="5132" idx="5"/>
              <a:endCxn id="5130" idx="0"/>
            </p:cNvCxnSpPr>
            <p:nvPr/>
          </p:nvCxnSpPr>
          <p:spPr bwMode="auto">
            <a:xfrm>
              <a:off x="6867525" y="588963"/>
              <a:ext cx="788988" cy="433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5" name="AutoShape 85"/>
            <p:cNvCxnSpPr>
              <a:cxnSpLocks noChangeShapeType="1"/>
              <a:stCxn id="5130" idx="3"/>
              <a:endCxn id="5128" idx="0"/>
            </p:cNvCxnSpPr>
            <p:nvPr/>
          </p:nvCxnSpPr>
          <p:spPr bwMode="auto">
            <a:xfrm flipH="1">
              <a:off x="7204075" y="1322388"/>
              <a:ext cx="338138" cy="433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6" name="AutoShape 86"/>
            <p:cNvCxnSpPr>
              <a:cxnSpLocks noChangeShapeType="1"/>
              <a:stCxn id="5130" idx="5"/>
              <a:endCxn id="5127" idx="0"/>
            </p:cNvCxnSpPr>
            <p:nvPr/>
          </p:nvCxnSpPr>
          <p:spPr bwMode="auto">
            <a:xfrm>
              <a:off x="7771244" y="1306518"/>
              <a:ext cx="393269" cy="4651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7" name="AutoShape 87"/>
            <p:cNvCxnSpPr>
              <a:cxnSpLocks noChangeShapeType="1"/>
              <a:stCxn id="5131" idx="3"/>
              <a:endCxn id="5129" idx="0"/>
            </p:cNvCxnSpPr>
            <p:nvPr/>
          </p:nvCxnSpPr>
          <p:spPr bwMode="auto">
            <a:xfrm flipH="1">
              <a:off x="5267325" y="1322388"/>
              <a:ext cx="466725" cy="4127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38" name="AutoShape 88"/>
            <p:cNvCxnSpPr>
              <a:cxnSpLocks noChangeShapeType="1"/>
              <a:stCxn id="5129" idx="5"/>
              <a:endCxn id="5126" idx="0"/>
            </p:cNvCxnSpPr>
            <p:nvPr/>
          </p:nvCxnSpPr>
          <p:spPr bwMode="auto">
            <a:xfrm>
              <a:off x="5381625" y="2033588"/>
              <a:ext cx="338138" cy="392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156" name="Oval 106"/>
            <p:cNvSpPr>
              <a:spLocks noChangeAspect="1" noChangeArrowheads="1"/>
            </p:cNvSpPr>
            <p:nvPr/>
          </p:nvSpPr>
          <p:spPr bwMode="auto">
            <a:xfrm>
              <a:off x="6073775" y="1687513"/>
              <a:ext cx="323850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5157" name="AutoShape 107"/>
            <p:cNvCxnSpPr>
              <a:cxnSpLocks noChangeShapeType="1"/>
              <a:stCxn id="5131" idx="5"/>
              <a:endCxn id="5156" idx="0"/>
            </p:cNvCxnSpPr>
            <p:nvPr/>
          </p:nvCxnSpPr>
          <p:spPr bwMode="auto">
            <a:xfrm>
              <a:off x="5962650" y="1322388"/>
              <a:ext cx="273050" cy="3492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158" name="Oval 108"/>
          <p:cNvSpPr>
            <a:spLocks noChangeAspect="1" noChangeArrowheads="1"/>
          </p:cNvSpPr>
          <p:nvPr/>
        </p:nvSpPr>
        <p:spPr bwMode="auto">
          <a:xfrm>
            <a:off x="6073775" y="4641850"/>
            <a:ext cx="323850" cy="31273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cxnSp>
        <p:nvCxnSpPr>
          <p:cNvPr id="5159" name="AutoShape 109"/>
          <p:cNvCxnSpPr>
            <a:cxnSpLocks noChangeShapeType="1"/>
            <a:stCxn id="5144" idx="5"/>
            <a:endCxn id="5158" idx="0"/>
          </p:cNvCxnSpPr>
          <p:nvPr/>
        </p:nvCxnSpPr>
        <p:spPr bwMode="auto">
          <a:xfrm>
            <a:off x="5962650" y="4213225"/>
            <a:ext cx="273050" cy="4127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60" name="Text Box 112"/>
          <p:cNvSpPr txBox="1">
            <a:spLocks noChangeArrowheads="1"/>
          </p:cNvSpPr>
          <p:nvPr/>
        </p:nvSpPr>
        <p:spPr bwMode="auto">
          <a:xfrm>
            <a:off x="2895600" y="2057400"/>
            <a:ext cx="13478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AVL tree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1106" y="3866034"/>
            <a:ext cx="4666988" cy="2540644"/>
            <a:chOff x="107950" y="3505200"/>
            <a:chExt cx="4666988" cy="2540644"/>
          </a:xfrm>
        </p:grpSpPr>
        <p:sp>
          <p:nvSpPr>
            <p:cNvPr id="5161" name="Oval 114"/>
            <p:cNvSpPr>
              <a:spLocks noChangeAspect="1" noChangeArrowheads="1"/>
            </p:cNvSpPr>
            <p:nvPr/>
          </p:nvSpPr>
          <p:spPr bwMode="auto">
            <a:xfrm>
              <a:off x="3017838" y="4442293"/>
              <a:ext cx="447674" cy="43450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 dirty="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5162" name="Oval 115"/>
            <p:cNvSpPr>
              <a:spLocks noChangeAspect="1" noChangeArrowheads="1"/>
            </p:cNvSpPr>
            <p:nvPr/>
          </p:nvSpPr>
          <p:spPr bwMode="auto">
            <a:xfrm>
              <a:off x="107950" y="4979988"/>
              <a:ext cx="322263" cy="31273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63" name="Oval 116"/>
            <p:cNvSpPr>
              <a:spLocks noChangeAspect="1" noChangeArrowheads="1"/>
            </p:cNvSpPr>
            <p:nvPr/>
          </p:nvSpPr>
          <p:spPr bwMode="auto">
            <a:xfrm>
              <a:off x="2438400" y="4038600"/>
              <a:ext cx="322263" cy="314325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164" name="Oval 117"/>
            <p:cNvSpPr>
              <a:spLocks noChangeAspect="1" noChangeArrowheads="1"/>
            </p:cNvSpPr>
            <p:nvPr/>
          </p:nvSpPr>
          <p:spPr bwMode="auto">
            <a:xfrm>
              <a:off x="1225550" y="3962400"/>
              <a:ext cx="323850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165" name="Oval 118"/>
            <p:cNvSpPr>
              <a:spLocks noChangeAspect="1" noChangeArrowheads="1"/>
            </p:cNvSpPr>
            <p:nvPr/>
          </p:nvSpPr>
          <p:spPr bwMode="auto">
            <a:xfrm>
              <a:off x="1866900" y="3505200"/>
              <a:ext cx="322263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166" name="Line 124"/>
            <p:cNvSpPr>
              <a:spLocks noChangeShapeType="1"/>
            </p:cNvSpPr>
            <p:nvPr/>
          </p:nvSpPr>
          <p:spPr bwMode="auto">
            <a:xfrm flipH="1">
              <a:off x="987425" y="4259263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67" name="Oval 125"/>
            <p:cNvSpPr>
              <a:spLocks noChangeAspect="1" noChangeArrowheads="1"/>
            </p:cNvSpPr>
            <p:nvPr/>
          </p:nvSpPr>
          <p:spPr bwMode="auto">
            <a:xfrm>
              <a:off x="690563" y="4459288"/>
              <a:ext cx="323850" cy="314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168" name="Line 126"/>
            <p:cNvSpPr>
              <a:spLocks noChangeShapeType="1"/>
            </p:cNvSpPr>
            <p:nvPr/>
          </p:nvSpPr>
          <p:spPr bwMode="auto">
            <a:xfrm flipH="1">
              <a:off x="1560513" y="3773488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69" name="Line 127"/>
            <p:cNvSpPr>
              <a:spLocks noChangeShapeType="1"/>
            </p:cNvSpPr>
            <p:nvPr/>
          </p:nvSpPr>
          <p:spPr bwMode="auto">
            <a:xfrm flipH="1">
              <a:off x="393700" y="4773613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70" name="Line 128"/>
            <p:cNvSpPr>
              <a:spLocks noChangeShapeType="1"/>
            </p:cNvSpPr>
            <p:nvPr/>
          </p:nvSpPr>
          <p:spPr bwMode="auto">
            <a:xfrm>
              <a:off x="2133600" y="3810000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71" name="Line 129"/>
            <p:cNvSpPr>
              <a:spLocks noChangeShapeType="1"/>
            </p:cNvSpPr>
            <p:nvPr/>
          </p:nvSpPr>
          <p:spPr bwMode="auto">
            <a:xfrm>
              <a:off x="2730500" y="4322763"/>
              <a:ext cx="32067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72" name="Line 130"/>
            <p:cNvSpPr>
              <a:spLocks noChangeShapeType="1"/>
            </p:cNvSpPr>
            <p:nvPr/>
          </p:nvSpPr>
          <p:spPr bwMode="auto">
            <a:xfrm>
              <a:off x="3305175" y="4852988"/>
              <a:ext cx="32067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73" name="Oval 131"/>
            <p:cNvSpPr>
              <a:spLocks noChangeAspect="1" noChangeArrowheads="1"/>
            </p:cNvSpPr>
            <p:nvPr/>
          </p:nvSpPr>
          <p:spPr bwMode="auto">
            <a:xfrm>
              <a:off x="3554413" y="5100638"/>
              <a:ext cx="492124" cy="47765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 dirty="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5175" name="Line 133"/>
            <p:cNvSpPr>
              <a:spLocks noChangeShapeType="1"/>
            </p:cNvSpPr>
            <p:nvPr/>
          </p:nvSpPr>
          <p:spPr bwMode="auto">
            <a:xfrm>
              <a:off x="3997063" y="5444059"/>
              <a:ext cx="32067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76" name="Oval 134"/>
            <p:cNvSpPr>
              <a:spLocks noChangeAspect="1" noChangeArrowheads="1"/>
            </p:cNvSpPr>
            <p:nvPr/>
          </p:nvSpPr>
          <p:spPr bwMode="auto">
            <a:xfrm>
              <a:off x="4317738" y="5602091"/>
              <a:ext cx="457200" cy="44375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 dirty="0">
                  <a:latin typeface="Times New Roman" pitchFamily="18" charset="0"/>
                </a:rPr>
                <a:t>15</a:t>
              </a:r>
            </a:p>
          </p:txBody>
        </p:sp>
      </p:grpSp>
      <p:sp>
        <p:nvSpPr>
          <p:cNvPr id="5177" name="Slide Number Placeholder 7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DE7555-0D9B-49C1-A1EF-1E186CB46283}" type="slidenum">
              <a:rPr lang="en-GB" altLang="en-US" smtClean="0"/>
              <a:pPr eaLnBrk="1" hangingPunct="1"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178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GB" altLang="en-US"/>
              <a:t>Operations on AVL trees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2296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Search, as for BSTs</a:t>
            </a:r>
          </a:p>
          <a:p>
            <a:pPr>
              <a:lnSpc>
                <a:spcPct val="90000"/>
              </a:lnSpc>
            </a:pPr>
            <a:r>
              <a:rPr lang="en-GB" altLang="en-US" sz="2000" dirty="0"/>
              <a:t>Insert is the same as for BST </a:t>
            </a:r>
            <a:r>
              <a:rPr lang="en-GB" altLang="en-US" sz="2000" dirty="0">
                <a:solidFill>
                  <a:srgbClr val="FF3300"/>
                </a:solidFill>
              </a:rPr>
              <a:t>but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May have to fix the tree after insertion to restore the balance condition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Can always do this via a modification known as a rotation</a:t>
            </a:r>
          </a:p>
          <a:p>
            <a:pPr lvl="2">
              <a:lnSpc>
                <a:spcPct val="90000"/>
              </a:lnSpc>
            </a:pPr>
            <a:r>
              <a:rPr lang="en-GB" altLang="en-US" sz="2000" dirty="0">
                <a:solidFill>
                  <a:srgbClr val="FF3300"/>
                </a:solidFill>
              </a:rPr>
              <a:t>Single rotation</a:t>
            </a:r>
            <a:r>
              <a:rPr lang="en-GB" altLang="en-US" sz="2000" dirty="0"/>
              <a:t> or </a:t>
            </a:r>
            <a:r>
              <a:rPr lang="en-GB" altLang="en-US" sz="2000" dirty="0">
                <a:solidFill>
                  <a:srgbClr val="FF3300"/>
                </a:solidFill>
              </a:rPr>
              <a:t>double rotation</a:t>
            </a:r>
          </a:p>
          <a:p>
            <a:pPr>
              <a:lnSpc>
                <a:spcPct val="90000"/>
              </a:lnSpc>
            </a:pPr>
            <a:r>
              <a:rPr lang="en-GB" altLang="en-US" sz="2000" dirty="0">
                <a:solidFill>
                  <a:srgbClr val="0066FF"/>
                </a:solidFill>
              </a:rPr>
              <a:t>Similarly for deletion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04800" y="3962400"/>
            <a:ext cx="830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 that the balance condition ensures that search, insert and delete operations are all O(log n), where n is the number of nodes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895600" y="5105400"/>
            <a:ext cx="2209800" cy="3667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balancing is O(1)</a:t>
            </a: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F21D8A8-2C21-4231-9CB4-1CFE60999399}" type="slidenum">
              <a:rPr lang="en-GB" altLang="en-US" smtClean="0"/>
              <a:pPr eaLnBrk="1" hangingPunct="1"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628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1900" y="241299"/>
            <a:ext cx="8229600" cy="792163"/>
          </a:xfrm>
        </p:spPr>
        <p:txBody>
          <a:bodyPr/>
          <a:lstStyle/>
          <a:p>
            <a:r>
              <a:rPr lang="en-GB" altLang="en-US" dirty="0"/>
              <a:t>The basic idea of single rotation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38163" y="1099344"/>
            <a:ext cx="3151187" cy="2133600"/>
            <a:chOff x="538163" y="838200"/>
            <a:chExt cx="3151187" cy="2133600"/>
          </a:xfrm>
        </p:grpSpPr>
        <p:sp>
          <p:nvSpPr>
            <p:cNvPr id="7171" name="Oval 8"/>
            <p:cNvSpPr>
              <a:spLocks noChangeAspect="1" noChangeArrowheads="1"/>
            </p:cNvSpPr>
            <p:nvPr/>
          </p:nvSpPr>
          <p:spPr bwMode="auto">
            <a:xfrm>
              <a:off x="1343025" y="1490663"/>
              <a:ext cx="485775" cy="47148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1</a:t>
              </a:r>
            </a:p>
          </p:txBody>
        </p:sp>
        <p:sp>
          <p:nvSpPr>
            <p:cNvPr id="7172" name="Oval 9"/>
            <p:cNvSpPr>
              <a:spLocks noChangeAspect="1" noChangeArrowheads="1"/>
            </p:cNvSpPr>
            <p:nvPr/>
          </p:nvSpPr>
          <p:spPr bwMode="auto">
            <a:xfrm>
              <a:off x="2247900" y="838200"/>
              <a:ext cx="400050" cy="3905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2</a:t>
              </a:r>
            </a:p>
          </p:txBody>
        </p:sp>
        <p:cxnSp>
          <p:nvCxnSpPr>
            <p:cNvPr id="7173" name="AutoShape 10"/>
            <p:cNvCxnSpPr>
              <a:cxnSpLocks noChangeShapeType="1"/>
              <a:stCxn id="7172" idx="3"/>
              <a:endCxn id="7171" idx="0"/>
            </p:cNvCxnSpPr>
            <p:nvPr/>
          </p:nvCxnSpPr>
          <p:spPr bwMode="auto">
            <a:xfrm rot="5400000">
              <a:off x="1786732" y="970756"/>
              <a:ext cx="319088" cy="7207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4" name="AutoShape 11"/>
            <p:cNvCxnSpPr>
              <a:cxnSpLocks noChangeShapeType="1"/>
              <a:stCxn id="7172" idx="5"/>
            </p:cNvCxnSpPr>
            <p:nvPr/>
          </p:nvCxnSpPr>
          <p:spPr bwMode="auto">
            <a:xfrm rot="16200000" flipH="1">
              <a:off x="2723357" y="1037431"/>
              <a:ext cx="457200" cy="7254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5" name="AutoShape 12"/>
            <p:cNvCxnSpPr>
              <a:cxnSpLocks noChangeShapeType="1"/>
            </p:cNvCxnSpPr>
            <p:nvPr/>
          </p:nvCxnSpPr>
          <p:spPr bwMode="auto">
            <a:xfrm>
              <a:off x="1635125" y="1919288"/>
              <a:ext cx="338138" cy="4333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6" name="AutoShape 13"/>
            <p:cNvCxnSpPr>
              <a:cxnSpLocks noChangeShapeType="1"/>
              <a:stCxn id="7171" idx="3"/>
            </p:cNvCxnSpPr>
            <p:nvPr/>
          </p:nvCxnSpPr>
          <p:spPr bwMode="auto">
            <a:xfrm rot="5400000">
              <a:off x="945356" y="1872457"/>
              <a:ext cx="447675" cy="4905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7" name="AutoShape 24"/>
            <p:cNvSpPr>
              <a:spLocks noChangeArrowheads="1"/>
            </p:cNvSpPr>
            <p:nvPr/>
          </p:nvSpPr>
          <p:spPr bwMode="auto">
            <a:xfrm>
              <a:off x="538163" y="23495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X</a:t>
              </a:r>
            </a:p>
          </p:txBody>
        </p:sp>
        <p:sp>
          <p:nvSpPr>
            <p:cNvPr id="7178" name="AutoShape 25"/>
            <p:cNvSpPr>
              <a:spLocks noChangeArrowheads="1"/>
            </p:cNvSpPr>
            <p:nvPr/>
          </p:nvSpPr>
          <p:spPr bwMode="auto">
            <a:xfrm>
              <a:off x="1600200" y="23622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Y</a:t>
              </a:r>
            </a:p>
          </p:txBody>
        </p:sp>
        <p:sp>
          <p:nvSpPr>
            <p:cNvPr id="7179" name="AutoShape 26"/>
            <p:cNvSpPr>
              <a:spLocks noChangeArrowheads="1"/>
            </p:cNvSpPr>
            <p:nvPr/>
          </p:nvSpPr>
          <p:spPr bwMode="auto">
            <a:xfrm>
              <a:off x="2927350" y="1655763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Z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215731" y="1069181"/>
            <a:ext cx="3132137" cy="2133600"/>
            <a:chOff x="5249863" y="838200"/>
            <a:chExt cx="3132137" cy="2133600"/>
          </a:xfrm>
        </p:grpSpPr>
        <p:sp>
          <p:nvSpPr>
            <p:cNvPr id="7180" name="Oval 29"/>
            <p:cNvSpPr>
              <a:spLocks noChangeAspect="1" noChangeArrowheads="1"/>
            </p:cNvSpPr>
            <p:nvPr/>
          </p:nvSpPr>
          <p:spPr bwMode="auto">
            <a:xfrm>
              <a:off x="6381750" y="838200"/>
              <a:ext cx="400050" cy="3905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1</a:t>
              </a:r>
            </a:p>
          </p:txBody>
        </p:sp>
        <p:cxnSp>
          <p:nvCxnSpPr>
            <p:cNvPr id="7181" name="AutoShape 30"/>
            <p:cNvCxnSpPr>
              <a:cxnSpLocks noChangeShapeType="1"/>
              <a:stCxn id="7180" idx="3"/>
            </p:cNvCxnSpPr>
            <p:nvPr/>
          </p:nvCxnSpPr>
          <p:spPr bwMode="auto">
            <a:xfrm rot="5400000">
              <a:off x="5806281" y="1004094"/>
              <a:ext cx="466725" cy="8016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82" name="AutoShape 31"/>
            <p:cNvCxnSpPr>
              <a:cxnSpLocks noChangeShapeType="1"/>
              <a:stCxn id="7180" idx="5"/>
            </p:cNvCxnSpPr>
            <p:nvPr/>
          </p:nvCxnSpPr>
          <p:spPr bwMode="auto">
            <a:xfrm rot="16200000" flipH="1">
              <a:off x="6857207" y="1037431"/>
              <a:ext cx="457200" cy="72548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3" name="Oval 32"/>
            <p:cNvSpPr>
              <a:spLocks noChangeAspect="1" noChangeArrowheads="1"/>
            </p:cNvSpPr>
            <p:nvPr/>
          </p:nvSpPr>
          <p:spPr bwMode="auto">
            <a:xfrm>
              <a:off x="7327900" y="1576388"/>
              <a:ext cx="368300" cy="3587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2</a:t>
              </a:r>
            </a:p>
          </p:txBody>
        </p:sp>
        <p:sp>
          <p:nvSpPr>
            <p:cNvPr id="7184" name="AutoShape 33"/>
            <p:cNvSpPr>
              <a:spLocks noChangeArrowheads="1"/>
            </p:cNvSpPr>
            <p:nvPr/>
          </p:nvSpPr>
          <p:spPr bwMode="auto">
            <a:xfrm>
              <a:off x="5249863" y="1660525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X</a:t>
              </a:r>
            </a:p>
          </p:txBody>
        </p:sp>
        <p:cxnSp>
          <p:nvCxnSpPr>
            <p:cNvPr id="7185" name="AutoShape 34"/>
            <p:cNvCxnSpPr>
              <a:cxnSpLocks noChangeShapeType="1"/>
            </p:cNvCxnSpPr>
            <p:nvPr/>
          </p:nvCxnSpPr>
          <p:spPr bwMode="auto">
            <a:xfrm flipH="1">
              <a:off x="6934200" y="1905000"/>
              <a:ext cx="466725" cy="4159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6" name="AutoShape 35"/>
            <p:cNvSpPr>
              <a:spLocks noChangeArrowheads="1"/>
            </p:cNvSpPr>
            <p:nvPr/>
          </p:nvSpPr>
          <p:spPr bwMode="auto">
            <a:xfrm>
              <a:off x="6553200" y="23622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Y</a:t>
              </a:r>
            </a:p>
          </p:txBody>
        </p:sp>
        <p:cxnSp>
          <p:nvCxnSpPr>
            <p:cNvPr id="7187" name="AutoShape 36"/>
            <p:cNvCxnSpPr>
              <a:cxnSpLocks noChangeShapeType="1"/>
            </p:cNvCxnSpPr>
            <p:nvPr/>
          </p:nvCxnSpPr>
          <p:spPr bwMode="auto">
            <a:xfrm>
              <a:off x="7620000" y="1905000"/>
              <a:ext cx="338138" cy="4333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88" name="AutoShape 37"/>
            <p:cNvSpPr>
              <a:spLocks noChangeArrowheads="1"/>
            </p:cNvSpPr>
            <p:nvPr/>
          </p:nvSpPr>
          <p:spPr bwMode="auto">
            <a:xfrm>
              <a:off x="7620000" y="23622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Z</a:t>
              </a:r>
            </a:p>
          </p:txBody>
        </p:sp>
      </p:grpSp>
      <p:sp>
        <p:nvSpPr>
          <p:cNvPr id="7189" name="Text Box 38"/>
          <p:cNvSpPr txBox="1">
            <a:spLocks noChangeArrowheads="1"/>
          </p:cNvSpPr>
          <p:nvPr/>
        </p:nvSpPr>
        <p:spPr bwMode="auto">
          <a:xfrm>
            <a:off x="381000" y="3352800"/>
            <a:ext cx="7467600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rgbClr val="FF3300"/>
                </a:solidFill>
                <a:latin typeface="Calibri" panose="020F0502020204030204" pitchFamily="34" charset="0"/>
              </a:rPr>
              <a:t>In each case:</a:t>
            </a:r>
            <a:r>
              <a:rPr lang="en-GB" altLang="en-US" dirty="0">
                <a:latin typeface="Calibri" panose="020F050202020403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k1&lt;k2,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all elements in subtree X are smaller than k</a:t>
            </a:r>
            <a:r>
              <a:rPr lang="en-GB" altLang="en-US" baseline="-25000" dirty="0">
                <a:latin typeface="Calibri" panose="020F0502020204030204" pitchFamily="34" charset="0"/>
              </a:rPr>
              <a:t>1</a:t>
            </a:r>
            <a:r>
              <a:rPr lang="en-GB" altLang="en-US" dirty="0">
                <a:latin typeface="Calibri" panose="020F0502020204030204" pitchFamily="34" charset="0"/>
              </a:rPr>
              <a:t>,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all elements in subtree Z are larger than k</a:t>
            </a:r>
            <a:r>
              <a:rPr lang="en-GB" altLang="en-US" baseline="-25000" dirty="0">
                <a:latin typeface="Calibri" panose="020F0502020204030204" pitchFamily="34" charset="0"/>
              </a:rPr>
              <a:t>2</a:t>
            </a:r>
            <a:r>
              <a:rPr lang="en-GB" altLang="en-US" dirty="0">
                <a:latin typeface="Calibri" panose="020F0502020204030204" pitchFamily="34" charset="0"/>
              </a:rPr>
              <a:t> and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all elements in subtree Y are in between k</a:t>
            </a:r>
            <a:r>
              <a:rPr lang="en-GB" altLang="en-US" baseline="-25000" dirty="0">
                <a:latin typeface="Calibri" panose="020F0502020204030204" pitchFamily="34" charset="0"/>
              </a:rPr>
              <a:t>1</a:t>
            </a:r>
            <a:r>
              <a:rPr lang="en-GB" altLang="en-US" dirty="0">
                <a:latin typeface="Calibri" panose="020F0502020204030204" pitchFamily="34" charset="0"/>
              </a:rPr>
              <a:t> and k</a:t>
            </a:r>
            <a:r>
              <a:rPr lang="en-GB" altLang="en-US" baseline="-25000" dirty="0">
                <a:latin typeface="Calibri" panose="020F0502020204030204" pitchFamily="34" charset="0"/>
              </a:rPr>
              <a:t>2</a:t>
            </a:r>
            <a:r>
              <a:rPr lang="en-GB" altLang="en-US" dirty="0">
                <a:latin typeface="Calibri" panose="020F0502020204030204" pitchFamily="34" charset="0"/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rgbClr val="FF3300"/>
                </a:solidFill>
                <a:latin typeface="Calibri" panose="020F0502020204030204" pitchFamily="34" charset="0"/>
              </a:rPr>
              <a:t>So:</a:t>
            </a:r>
            <a:endParaRPr lang="en-GB" altLang="en-US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both trees are BSTs for the same elements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Conversion of one to the other is known as a </a:t>
            </a:r>
            <a:r>
              <a:rPr lang="en-GB" altLang="en-US" i="1" dirty="0">
                <a:latin typeface="Calibri" panose="020F0502020204030204" pitchFamily="34" charset="0"/>
              </a:rPr>
              <a:t>rotation</a:t>
            </a:r>
          </a:p>
        </p:txBody>
      </p:sp>
      <p:sp>
        <p:nvSpPr>
          <p:cNvPr id="7190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ECCB5E-116E-4006-B3C0-24C871D9EE3D}" type="slidenum">
              <a:rPr lang="en-GB" altLang="en-US" smtClean="0"/>
              <a:pPr eaLnBrk="1" hangingPunct="1"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706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4"/>
          <p:cNvSpPr txBox="1">
            <a:spLocks noChangeArrowheads="1"/>
          </p:cNvSpPr>
          <p:nvPr/>
        </p:nvSpPr>
        <p:spPr bwMode="auto">
          <a:xfrm>
            <a:off x="763142" y="512523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dirty="0">
                <a:latin typeface="Calibri" panose="020F0502020204030204" pitchFamily="34" charset="0"/>
              </a:rPr>
              <a:t>To rebalance a binary search tree rooted at r</a:t>
            </a:r>
          </a:p>
        </p:txBody>
      </p:sp>
      <p:sp>
        <p:nvSpPr>
          <p:cNvPr id="8195" name="Text Box 26"/>
          <p:cNvSpPr txBox="1">
            <a:spLocks noChangeArrowheads="1"/>
          </p:cNvSpPr>
          <p:nvPr/>
        </p:nvSpPr>
        <p:spPr bwMode="auto">
          <a:xfrm>
            <a:off x="3352800" y="1219200"/>
            <a:ext cx="2514600" cy="6413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If too heavy on the left…right rotation</a:t>
            </a:r>
          </a:p>
        </p:txBody>
      </p:sp>
      <p:sp>
        <p:nvSpPr>
          <p:cNvPr id="8196" name="Text Box 51"/>
          <p:cNvSpPr txBox="1">
            <a:spLocks noChangeArrowheads="1"/>
          </p:cNvSpPr>
          <p:nvPr/>
        </p:nvSpPr>
        <p:spPr bwMode="auto">
          <a:xfrm>
            <a:off x="3233738" y="4279900"/>
            <a:ext cx="2514600" cy="64135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If too heavy on the right… left rotation</a:t>
            </a:r>
          </a:p>
        </p:txBody>
      </p:sp>
      <p:sp>
        <p:nvSpPr>
          <p:cNvPr id="8197" name="Oval 79"/>
          <p:cNvSpPr>
            <a:spLocks noChangeAspect="1" noChangeArrowheads="1"/>
          </p:cNvSpPr>
          <p:nvPr/>
        </p:nvSpPr>
        <p:spPr bwMode="auto">
          <a:xfrm>
            <a:off x="1004888" y="5105400"/>
            <a:ext cx="384175" cy="3730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1</a:t>
            </a:r>
          </a:p>
        </p:txBody>
      </p:sp>
      <p:sp>
        <p:nvSpPr>
          <p:cNvPr id="8198" name="Oval 80"/>
          <p:cNvSpPr>
            <a:spLocks noChangeAspect="1" noChangeArrowheads="1"/>
          </p:cNvSpPr>
          <p:nvPr/>
        </p:nvSpPr>
        <p:spPr bwMode="auto">
          <a:xfrm>
            <a:off x="1741488" y="4648200"/>
            <a:ext cx="322262" cy="3143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r</a:t>
            </a:r>
            <a:endParaRPr lang="en-US" altLang="en-US" sz="1600" baseline="-25000">
              <a:latin typeface="Comic Sans MS" pitchFamily="66" charset="0"/>
            </a:endParaRPr>
          </a:p>
        </p:txBody>
      </p:sp>
      <p:cxnSp>
        <p:nvCxnSpPr>
          <p:cNvPr id="8199" name="AutoShape 81"/>
          <p:cNvCxnSpPr>
            <a:cxnSpLocks noChangeShapeType="1"/>
            <a:stCxn id="8198" idx="3"/>
          </p:cNvCxnSpPr>
          <p:nvPr/>
        </p:nvCxnSpPr>
        <p:spPr bwMode="auto">
          <a:xfrm flipH="1">
            <a:off x="1250950" y="4926013"/>
            <a:ext cx="538163" cy="255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0" name="AutoShape 82"/>
          <p:cNvCxnSpPr>
            <a:cxnSpLocks noChangeShapeType="1"/>
            <a:stCxn id="8198" idx="5"/>
          </p:cNvCxnSpPr>
          <p:nvPr/>
        </p:nvCxnSpPr>
        <p:spPr bwMode="auto">
          <a:xfrm>
            <a:off x="2016125" y="4926013"/>
            <a:ext cx="530225" cy="255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1" name="Oval 83"/>
          <p:cNvSpPr>
            <a:spLocks noChangeAspect="1" noChangeArrowheads="1"/>
          </p:cNvSpPr>
          <p:nvPr/>
        </p:nvSpPr>
        <p:spPr bwMode="auto">
          <a:xfrm>
            <a:off x="2468563" y="5062538"/>
            <a:ext cx="427037" cy="4143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2</a:t>
            </a:r>
          </a:p>
        </p:txBody>
      </p:sp>
      <p:cxnSp>
        <p:nvCxnSpPr>
          <p:cNvPr id="8202" name="AutoShape 84"/>
          <p:cNvCxnSpPr>
            <a:cxnSpLocks noChangeShapeType="1"/>
          </p:cNvCxnSpPr>
          <p:nvPr/>
        </p:nvCxnSpPr>
        <p:spPr bwMode="auto">
          <a:xfrm>
            <a:off x="1285875" y="5459413"/>
            <a:ext cx="277813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3" name="AutoShape 85"/>
          <p:cNvCxnSpPr>
            <a:cxnSpLocks noChangeShapeType="1"/>
          </p:cNvCxnSpPr>
          <p:nvPr/>
        </p:nvCxnSpPr>
        <p:spPr bwMode="auto">
          <a:xfrm flipH="1">
            <a:off x="676275" y="5454650"/>
            <a:ext cx="339725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4" name="AutoShape 86"/>
          <p:cNvSpPr>
            <a:spLocks noChangeArrowheads="1"/>
          </p:cNvSpPr>
          <p:nvPr/>
        </p:nvSpPr>
        <p:spPr bwMode="auto">
          <a:xfrm>
            <a:off x="381000" y="572293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1</a:t>
            </a:r>
          </a:p>
        </p:txBody>
      </p:sp>
      <p:sp>
        <p:nvSpPr>
          <p:cNvPr id="8205" name="AutoShape 87"/>
          <p:cNvSpPr>
            <a:spLocks noChangeArrowheads="1"/>
          </p:cNvSpPr>
          <p:nvPr/>
        </p:nvSpPr>
        <p:spPr bwMode="auto">
          <a:xfrm>
            <a:off x="1303338" y="572928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2</a:t>
            </a:r>
          </a:p>
        </p:txBody>
      </p:sp>
      <p:sp>
        <p:nvSpPr>
          <p:cNvPr id="8206" name="AutoShape 88"/>
          <p:cNvSpPr>
            <a:spLocks noChangeArrowheads="1"/>
          </p:cNvSpPr>
          <p:nvPr/>
        </p:nvSpPr>
        <p:spPr bwMode="auto">
          <a:xfrm>
            <a:off x="1960563" y="5775325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3</a:t>
            </a:r>
          </a:p>
        </p:txBody>
      </p:sp>
      <p:sp>
        <p:nvSpPr>
          <p:cNvPr id="8207" name="AutoShape 89"/>
          <p:cNvSpPr>
            <a:spLocks noChangeArrowheads="1"/>
          </p:cNvSpPr>
          <p:nvPr/>
        </p:nvSpPr>
        <p:spPr bwMode="auto">
          <a:xfrm>
            <a:off x="2727325" y="5783263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4</a:t>
            </a:r>
          </a:p>
        </p:txBody>
      </p:sp>
      <p:cxnSp>
        <p:nvCxnSpPr>
          <p:cNvPr id="8208" name="AutoShape 90"/>
          <p:cNvCxnSpPr>
            <a:cxnSpLocks noChangeShapeType="1"/>
          </p:cNvCxnSpPr>
          <p:nvPr/>
        </p:nvCxnSpPr>
        <p:spPr bwMode="auto">
          <a:xfrm flipH="1">
            <a:off x="2224088" y="5499100"/>
            <a:ext cx="339725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9" name="AutoShape 91"/>
          <p:cNvCxnSpPr>
            <a:cxnSpLocks noChangeShapeType="1"/>
          </p:cNvCxnSpPr>
          <p:nvPr/>
        </p:nvCxnSpPr>
        <p:spPr bwMode="auto">
          <a:xfrm>
            <a:off x="2713038" y="5491163"/>
            <a:ext cx="277812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10" name="AutoShape 92"/>
          <p:cNvSpPr>
            <a:spLocks noChangeArrowheads="1"/>
          </p:cNvSpPr>
          <p:nvPr/>
        </p:nvSpPr>
        <p:spPr bwMode="auto">
          <a:xfrm>
            <a:off x="4419600" y="52578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11" name="Oval 93"/>
          <p:cNvSpPr>
            <a:spLocks noChangeAspect="1" noChangeArrowheads="1"/>
          </p:cNvSpPr>
          <p:nvPr/>
        </p:nvSpPr>
        <p:spPr bwMode="auto">
          <a:xfrm>
            <a:off x="8153400" y="4419600"/>
            <a:ext cx="400050" cy="39052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2</a:t>
            </a:r>
          </a:p>
        </p:txBody>
      </p:sp>
      <p:sp>
        <p:nvSpPr>
          <p:cNvPr id="8212" name="Oval 95"/>
          <p:cNvSpPr>
            <a:spLocks noChangeAspect="1" noChangeArrowheads="1"/>
          </p:cNvSpPr>
          <p:nvPr/>
        </p:nvSpPr>
        <p:spPr bwMode="auto">
          <a:xfrm>
            <a:off x="7315200" y="5029200"/>
            <a:ext cx="322263" cy="3143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r</a:t>
            </a:r>
            <a:endParaRPr lang="en-US" altLang="en-US" sz="1600" baseline="-25000">
              <a:latin typeface="Comic Sans MS" pitchFamily="66" charset="0"/>
            </a:endParaRPr>
          </a:p>
        </p:txBody>
      </p:sp>
      <p:cxnSp>
        <p:nvCxnSpPr>
          <p:cNvPr id="8213" name="AutoShape 96"/>
          <p:cNvCxnSpPr>
            <a:cxnSpLocks noChangeShapeType="1"/>
          </p:cNvCxnSpPr>
          <p:nvPr/>
        </p:nvCxnSpPr>
        <p:spPr bwMode="auto">
          <a:xfrm>
            <a:off x="7621588" y="5291138"/>
            <a:ext cx="277812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14" name="AutoShape 97"/>
          <p:cNvSpPr>
            <a:spLocks noChangeArrowheads="1"/>
          </p:cNvSpPr>
          <p:nvPr/>
        </p:nvSpPr>
        <p:spPr bwMode="auto">
          <a:xfrm>
            <a:off x="7648575" y="560228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3</a:t>
            </a:r>
          </a:p>
        </p:txBody>
      </p:sp>
      <p:sp>
        <p:nvSpPr>
          <p:cNvPr id="8215" name="Oval 99"/>
          <p:cNvSpPr>
            <a:spLocks noChangeAspect="1" noChangeArrowheads="1"/>
          </p:cNvSpPr>
          <p:nvPr/>
        </p:nvSpPr>
        <p:spPr bwMode="auto">
          <a:xfrm>
            <a:off x="6677025" y="5410200"/>
            <a:ext cx="384175" cy="3746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1</a:t>
            </a:r>
          </a:p>
        </p:txBody>
      </p:sp>
      <p:sp>
        <p:nvSpPr>
          <p:cNvPr id="8216" name="AutoShape 102"/>
          <p:cNvSpPr>
            <a:spLocks noChangeArrowheads="1"/>
          </p:cNvSpPr>
          <p:nvPr/>
        </p:nvSpPr>
        <p:spPr bwMode="auto">
          <a:xfrm>
            <a:off x="5943600" y="6019800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1</a:t>
            </a:r>
          </a:p>
        </p:txBody>
      </p:sp>
      <p:sp>
        <p:nvSpPr>
          <p:cNvPr id="8217" name="Line 105"/>
          <p:cNvSpPr>
            <a:spLocks noChangeShapeType="1"/>
          </p:cNvSpPr>
          <p:nvPr/>
        </p:nvSpPr>
        <p:spPr bwMode="auto">
          <a:xfrm flipV="1">
            <a:off x="6211888" y="5686425"/>
            <a:ext cx="481012" cy="3254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8" name="Line 106"/>
          <p:cNvSpPr>
            <a:spLocks noChangeShapeType="1"/>
          </p:cNvSpPr>
          <p:nvPr/>
        </p:nvSpPr>
        <p:spPr bwMode="auto">
          <a:xfrm flipV="1">
            <a:off x="6970713" y="5265738"/>
            <a:ext cx="360362" cy="2413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19" name="Line 107"/>
          <p:cNvSpPr>
            <a:spLocks noChangeShapeType="1"/>
          </p:cNvSpPr>
          <p:nvPr/>
        </p:nvSpPr>
        <p:spPr bwMode="auto">
          <a:xfrm flipV="1">
            <a:off x="7607300" y="4700588"/>
            <a:ext cx="577850" cy="373062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8220" name="AutoShape 108"/>
          <p:cNvCxnSpPr>
            <a:cxnSpLocks noChangeShapeType="1"/>
          </p:cNvCxnSpPr>
          <p:nvPr/>
        </p:nvCxnSpPr>
        <p:spPr bwMode="auto">
          <a:xfrm>
            <a:off x="6942138" y="5767388"/>
            <a:ext cx="277812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1" name="AutoShape 109"/>
          <p:cNvSpPr>
            <a:spLocks noChangeArrowheads="1"/>
          </p:cNvSpPr>
          <p:nvPr/>
        </p:nvSpPr>
        <p:spPr bwMode="auto">
          <a:xfrm>
            <a:off x="6961188" y="6070600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2</a:t>
            </a:r>
          </a:p>
        </p:txBody>
      </p:sp>
      <p:cxnSp>
        <p:nvCxnSpPr>
          <p:cNvPr id="8222" name="AutoShape 110"/>
          <p:cNvCxnSpPr>
            <a:cxnSpLocks noChangeShapeType="1"/>
          </p:cNvCxnSpPr>
          <p:nvPr/>
        </p:nvCxnSpPr>
        <p:spPr bwMode="auto">
          <a:xfrm>
            <a:off x="8447088" y="4757738"/>
            <a:ext cx="277812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3" name="AutoShape 111"/>
          <p:cNvSpPr>
            <a:spLocks noChangeArrowheads="1"/>
          </p:cNvSpPr>
          <p:nvPr/>
        </p:nvSpPr>
        <p:spPr bwMode="auto">
          <a:xfrm>
            <a:off x="8467725" y="5065713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4</a:t>
            </a:r>
          </a:p>
        </p:txBody>
      </p:sp>
      <p:sp>
        <p:nvSpPr>
          <p:cNvPr id="8224" name="AutoShape 25"/>
          <p:cNvSpPr>
            <a:spLocks noChangeArrowheads="1"/>
          </p:cNvSpPr>
          <p:nvPr/>
        </p:nvSpPr>
        <p:spPr bwMode="auto">
          <a:xfrm>
            <a:off x="4114800" y="228600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25" name="Oval 5"/>
          <p:cNvSpPr>
            <a:spLocks noChangeAspect="1" noChangeArrowheads="1"/>
          </p:cNvSpPr>
          <p:nvPr/>
        </p:nvSpPr>
        <p:spPr bwMode="auto">
          <a:xfrm>
            <a:off x="1354138" y="2195513"/>
            <a:ext cx="398462" cy="38735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1</a:t>
            </a:r>
          </a:p>
        </p:txBody>
      </p:sp>
      <p:sp>
        <p:nvSpPr>
          <p:cNvPr id="8226" name="Oval 7"/>
          <p:cNvSpPr>
            <a:spLocks noChangeAspect="1" noChangeArrowheads="1"/>
          </p:cNvSpPr>
          <p:nvPr/>
        </p:nvSpPr>
        <p:spPr bwMode="auto">
          <a:xfrm>
            <a:off x="2090738" y="1752600"/>
            <a:ext cx="322262" cy="3143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r</a:t>
            </a:r>
            <a:endParaRPr lang="en-US" altLang="en-US" sz="1600" baseline="-25000">
              <a:latin typeface="Comic Sans MS" pitchFamily="66" charset="0"/>
            </a:endParaRPr>
          </a:p>
        </p:txBody>
      </p:sp>
      <p:cxnSp>
        <p:nvCxnSpPr>
          <p:cNvPr id="8227" name="AutoShape 8"/>
          <p:cNvCxnSpPr>
            <a:cxnSpLocks noChangeShapeType="1"/>
            <a:stCxn id="8226" idx="3"/>
          </p:cNvCxnSpPr>
          <p:nvPr/>
        </p:nvCxnSpPr>
        <p:spPr bwMode="auto">
          <a:xfrm flipH="1">
            <a:off x="1600200" y="2030413"/>
            <a:ext cx="538163" cy="255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8" name="AutoShape 9"/>
          <p:cNvCxnSpPr>
            <a:cxnSpLocks noChangeShapeType="1"/>
            <a:stCxn id="8226" idx="5"/>
          </p:cNvCxnSpPr>
          <p:nvPr/>
        </p:nvCxnSpPr>
        <p:spPr bwMode="auto">
          <a:xfrm>
            <a:off x="2365375" y="2030413"/>
            <a:ext cx="530225" cy="255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9" name="Oval 55"/>
          <p:cNvSpPr>
            <a:spLocks noChangeAspect="1" noChangeArrowheads="1"/>
          </p:cNvSpPr>
          <p:nvPr/>
        </p:nvSpPr>
        <p:spPr bwMode="auto">
          <a:xfrm>
            <a:off x="2817813" y="2136775"/>
            <a:ext cx="458787" cy="4445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2</a:t>
            </a:r>
          </a:p>
        </p:txBody>
      </p:sp>
      <p:cxnSp>
        <p:nvCxnSpPr>
          <p:cNvPr id="8230" name="AutoShape 10"/>
          <p:cNvCxnSpPr>
            <a:cxnSpLocks noChangeShapeType="1"/>
          </p:cNvCxnSpPr>
          <p:nvPr/>
        </p:nvCxnSpPr>
        <p:spPr bwMode="auto">
          <a:xfrm>
            <a:off x="1635125" y="2563813"/>
            <a:ext cx="277813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1" name="AutoShape 11"/>
          <p:cNvCxnSpPr>
            <a:cxnSpLocks noChangeShapeType="1"/>
          </p:cNvCxnSpPr>
          <p:nvPr/>
        </p:nvCxnSpPr>
        <p:spPr bwMode="auto">
          <a:xfrm flipH="1">
            <a:off x="1025525" y="2559050"/>
            <a:ext cx="339725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2" name="AutoShape 12"/>
          <p:cNvSpPr>
            <a:spLocks noChangeArrowheads="1"/>
          </p:cNvSpPr>
          <p:nvPr/>
        </p:nvSpPr>
        <p:spPr bwMode="auto">
          <a:xfrm>
            <a:off x="730250" y="282733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1</a:t>
            </a:r>
          </a:p>
        </p:txBody>
      </p:sp>
      <p:sp>
        <p:nvSpPr>
          <p:cNvPr id="8233" name="AutoShape 58"/>
          <p:cNvSpPr>
            <a:spLocks noChangeArrowheads="1"/>
          </p:cNvSpPr>
          <p:nvPr/>
        </p:nvSpPr>
        <p:spPr bwMode="auto">
          <a:xfrm>
            <a:off x="1652588" y="283368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2</a:t>
            </a:r>
          </a:p>
        </p:txBody>
      </p:sp>
      <p:sp>
        <p:nvSpPr>
          <p:cNvPr id="8234" name="AutoShape 63"/>
          <p:cNvSpPr>
            <a:spLocks noChangeArrowheads="1"/>
          </p:cNvSpPr>
          <p:nvPr/>
        </p:nvSpPr>
        <p:spPr bwMode="auto">
          <a:xfrm>
            <a:off x="2309813" y="2879725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3</a:t>
            </a:r>
          </a:p>
        </p:txBody>
      </p:sp>
      <p:sp>
        <p:nvSpPr>
          <p:cNvPr id="8235" name="AutoShape 64"/>
          <p:cNvSpPr>
            <a:spLocks noChangeArrowheads="1"/>
          </p:cNvSpPr>
          <p:nvPr/>
        </p:nvSpPr>
        <p:spPr bwMode="auto">
          <a:xfrm>
            <a:off x="3076575" y="2887663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4</a:t>
            </a:r>
          </a:p>
        </p:txBody>
      </p:sp>
      <p:cxnSp>
        <p:nvCxnSpPr>
          <p:cNvPr id="8236" name="AutoShape 67"/>
          <p:cNvCxnSpPr>
            <a:cxnSpLocks noChangeShapeType="1"/>
          </p:cNvCxnSpPr>
          <p:nvPr/>
        </p:nvCxnSpPr>
        <p:spPr bwMode="auto">
          <a:xfrm flipH="1">
            <a:off x="2573338" y="2603500"/>
            <a:ext cx="339725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7" name="AutoShape 68"/>
          <p:cNvCxnSpPr>
            <a:cxnSpLocks noChangeShapeType="1"/>
          </p:cNvCxnSpPr>
          <p:nvPr/>
        </p:nvCxnSpPr>
        <p:spPr bwMode="auto">
          <a:xfrm>
            <a:off x="3062288" y="2595563"/>
            <a:ext cx="277812" cy="309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8" name="Oval 15"/>
          <p:cNvSpPr>
            <a:spLocks noChangeAspect="1" noChangeArrowheads="1"/>
          </p:cNvSpPr>
          <p:nvPr/>
        </p:nvSpPr>
        <p:spPr bwMode="auto">
          <a:xfrm>
            <a:off x="6248400" y="1524000"/>
            <a:ext cx="400050" cy="39052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1</a:t>
            </a:r>
          </a:p>
        </p:txBody>
      </p:sp>
      <p:sp>
        <p:nvSpPr>
          <p:cNvPr id="8239" name="Oval 18"/>
          <p:cNvSpPr>
            <a:spLocks noChangeAspect="1" noChangeArrowheads="1"/>
          </p:cNvSpPr>
          <p:nvPr/>
        </p:nvSpPr>
        <p:spPr bwMode="auto">
          <a:xfrm>
            <a:off x="7038975" y="2178050"/>
            <a:ext cx="322263" cy="314325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r</a:t>
            </a:r>
            <a:endParaRPr lang="en-US" altLang="en-US" sz="1600" baseline="-25000">
              <a:latin typeface="Comic Sans MS" pitchFamily="66" charset="0"/>
            </a:endParaRPr>
          </a:p>
        </p:txBody>
      </p:sp>
      <p:sp>
        <p:nvSpPr>
          <p:cNvPr id="8240" name="AutoShape 65"/>
          <p:cNvSpPr>
            <a:spLocks noChangeArrowheads="1"/>
          </p:cNvSpPr>
          <p:nvPr/>
        </p:nvSpPr>
        <p:spPr bwMode="auto">
          <a:xfrm>
            <a:off x="5410200" y="2133600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1</a:t>
            </a:r>
          </a:p>
        </p:txBody>
      </p:sp>
      <p:sp>
        <p:nvSpPr>
          <p:cNvPr id="8241" name="AutoShape 66"/>
          <p:cNvSpPr>
            <a:spLocks noChangeArrowheads="1"/>
          </p:cNvSpPr>
          <p:nvPr/>
        </p:nvSpPr>
        <p:spPr bwMode="auto">
          <a:xfrm>
            <a:off x="6400800" y="2743200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2</a:t>
            </a:r>
          </a:p>
        </p:txBody>
      </p:sp>
      <p:cxnSp>
        <p:nvCxnSpPr>
          <p:cNvPr id="8242" name="AutoShape 69"/>
          <p:cNvCxnSpPr>
            <a:cxnSpLocks noChangeShapeType="1"/>
          </p:cNvCxnSpPr>
          <p:nvPr/>
        </p:nvCxnSpPr>
        <p:spPr bwMode="auto">
          <a:xfrm flipH="1">
            <a:off x="5707063" y="1854200"/>
            <a:ext cx="538162" cy="255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3" name="AutoShape 70"/>
          <p:cNvCxnSpPr>
            <a:cxnSpLocks noChangeShapeType="1"/>
          </p:cNvCxnSpPr>
          <p:nvPr/>
        </p:nvCxnSpPr>
        <p:spPr bwMode="auto">
          <a:xfrm flipH="1">
            <a:off x="6705600" y="2438400"/>
            <a:ext cx="339725" cy="271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44" name="Oval 72"/>
          <p:cNvSpPr>
            <a:spLocks noChangeAspect="1" noChangeArrowheads="1"/>
          </p:cNvSpPr>
          <p:nvPr/>
        </p:nvSpPr>
        <p:spPr bwMode="auto">
          <a:xfrm>
            <a:off x="7667625" y="2571750"/>
            <a:ext cx="409575" cy="396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>
                <a:latin typeface="Comic Sans MS" pitchFamily="66" charset="0"/>
              </a:rPr>
              <a:t>k</a:t>
            </a:r>
            <a:r>
              <a:rPr lang="en-US" altLang="en-US" sz="1600" baseline="-25000">
                <a:latin typeface="Comic Sans MS" pitchFamily="66" charset="0"/>
              </a:rPr>
              <a:t>2</a:t>
            </a:r>
          </a:p>
        </p:txBody>
      </p:sp>
      <p:cxnSp>
        <p:nvCxnSpPr>
          <p:cNvPr id="8245" name="AutoShape 73"/>
          <p:cNvCxnSpPr>
            <a:cxnSpLocks noChangeShapeType="1"/>
          </p:cNvCxnSpPr>
          <p:nvPr/>
        </p:nvCxnSpPr>
        <p:spPr bwMode="auto">
          <a:xfrm flipH="1">
            <a:off x="7350125" y="2976563"/>
            <a:ext cx="339725" cy="271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46" name="AutoShape 74"/>
          <p:cNvSpPr>
            <a:spLocks noChangeArrowheads="1"/>
          </p:cNvSpPr>
          <p:nvPr/>
        </p:nvSpPr>
        <p:spPr bwMode="auto">
          <a:xfrm>
            <a:off x="7086600" y="3200400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3</a:t>
            </a:r>
          </a:p>
        </p:txBody>
      </p:sp>
      <p:sp>
        <p:nvSpPr>
          <p:cNvPr id="8247" name="AutoShape 76"/>
          <p:cNvSpPr>
            <a:spLocks noChangeArrowheads="1"/>
          </p:cNvSpPr>
          <p:nvPr/>
        </p:nvSpPr>
        <p:spPr bwMode="auto">
          <a:xfrm>
            <a:off x="8123238" y="3157538"/>
            <a:ext cx="533400" cy="393700"/>
          </a:xfrm>
          <a:prstGeom prst="triangle">
            <a:avLst>
              <a:gd name="adj" fmla="val 5000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00" b="1"/>
              <a:t>T</a:t>
            </a:r>
            <a:r>
              <a:rPr lang="en-GB" altLang="en-US" sz="1600" b="1" baseline="-25000"/>
              <a:t>4</a:t>
            </a:r>
          </a:p>
        </p:txBody>
      </p:sp>
      <p:sp>
        <p:nvSpPr>
          <p:cNvPr id="8248" name="Line 112"/>
          <p:cNvSpPr>
            <a:spLocks noChangeShapeType="1"/>
          </p:cNvSpPr>
          <p:nvPr/>
        </p:nvSpPr>
        <p:spPr bwMode="auto">
          <a:xfrm>
            <a:off x="6548438" y="1836738"/>
            <a:ext cx="530225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49" name="Line 114"/>
          <p:cNvSpPr>
            <a:spLocks noChangeShapeType="1"/>
          </p:cNvSpPr>
          <p:nvPr/>
        </p:nvSpPr>
        <p:spPr bwMode="auto">
          <a:xfrm>
            <a:off x="7378700" y="2425700"/>
            <a:ext cx="325438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50" name="Line 115"/>
          <p:cNvSpPr>
            <a:spLocks noChangeShapeType="1"/>
          </p:cNvSpPr>
          <p:nvPr/>
        </p:nvSpPr>
        <p:spPr bwMode="auto">
          <a:xfrm>
            <a:off x="7993063" y="2882900"/>
            <a:ext cx="373062" cy="277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251" name="Slide Number Placeholder 5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C7F0203-9008-463B-A558-147A3A54593E}" type="slidenum">
              <a:rPr lang="en-GB" altLang="en-US" smtClean="0"/>
              <a:pPr eaLnBrk="1" hangingPunct="1"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115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5"/>
          <p:cNvSpPr txBox="1">
            <a:spLocks noChangeArrowheads="1"/>
          </p:cNvSpPr>
          <p:nvPr/>
        </p:nvSpPr>
        <p:spPr bwMode="auto">
          <a:xfrm>
            <a:off x="5791200" y="381000"/>
            <a:ext cx="3124200" cy="313932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If node r is </a:t>
            </a: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too </a:t>
            </a:r>
            <a:b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heavy on the left</a:t>
            </a:r>
            <a:r>
              <a:rPr lang="en-GB" altLang="en-US" dirty="0">
                <a:latin typeface="Calibri" panose="020F0502020204030204" pitchFamily="34" charset="0"/>
              </a:rPr>
              <a:t>,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rotating about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node r and left child: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Rotate the whole subtree rooted at r round one place to the right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Take the right subtree of new root and make it the left subtree of r</a:t>
            </a:r>
          </a:p>
        </p:txBody>
      </p:sp>
      <p:sp>
        <p:nvSpPr>
          <p:cNvPr id="9219" name="Text Box 6"/>
          <p:cNvSpPr txBox="1">
            <a:spLocks noChangeArrowheads="1"/>
          </p:cNvSpPr>
          <p:nvPr/>
        </p:nvSpPr>
        <p:spPr bwMode="auto">
          <a:xfrm>
            <a:off x="5791200" y="3505200"/>
            <a:ext cx="3200400" cy="2840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If node r is </a:t>
            </a:r>
            <a:r>
              <a:rPr lang="en-GB" altLang="en-US" dirty="0">
                <a:solidFill>
                  <a:srgbClr val="FF0000"/>
                </a:solidFill>
                <a:latin typeface="Calibri" panose="020F0502020204030204" pitchFamily="34" charset="0"/>
              </a:rPr>
              <a:t>too heavy on the right</a:t>
            </a:r>
            <a:r>
              <a:rPr lang="en-GB" altLang="en-US" dirty="0">
                <a:latin typeface="Calibri" panose="020F0502020204030204" pitchFamily="34" charset="0"/>
              </a:rPr>
              <a:t>, rotating about node r and right child: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Rotate the whole subtree rooted at r round one place to left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Take the left subtree of new root and make it the right subtree of r</a:t>
            </a:r>
          </a:p>
        </p:txBody>
      </p:sp>
      <p:grpSp>
        <p:nvGrpSpPr>
          <p:cNvPr id="9220" name="Group 60"/>
          <p:cNvGrpSpPr>
            <a:grpSpLocks noChangeAspect="1"/>
          </p:cNvGrpSpPr>
          <p:nvPr/>
        </p:nvGrpSpPr>
        <p:grpSpPr bwMode="auto">
          <a:xfrm>
            <a:off x="55563" y="585788"/>
            <a:ext cx="5686425" cy="1684337"/>
            <a:chOff x="35" y="369"/>
            <a:chExt cx="3582" cy="1061"/>
          </a:xfrm>
        </p:grpSpPr>
        <p:sp>
          <p:nvSpPr>
            <p:cNvPr id="9411" name="AutoShape 59"/>
            <p:cNvSpPr>
              <a:spLocks noChangeAspect="1" noChangeArrowheads="1" noTextEdit="1"/>
            </p:cNvSpPr>
            <p:nvPr/>
          </p:nvSpPr>
          <p:spPr bwMode="auto">
            <a:xfrm>
              <a:off x="35" y="369"/>
              <a:ext cx="3582" cy="1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12" name="Freeform 61"/>
            <p:cNvSpPr>
              <a:spLocks/>
            </p:cNvSpPr>
            <p:nvPr/>
          </p:nvSpPr>
          <p:spPr bwMode="auto">
            <a:xfrm>
              <a:off x="1459" y="734"/>
              <a:ext cx="359" cy="80"/>
            </a:xfrm>
            <a:custGeom>
              <a:avLst/>
              <a:gdLst>
                <a:gd name="T0" fmla="*/ 16 w 720"/>
                <a:gd name="T1" fmla="*/ 0 h 160"/>
                <a:gd name="T2" fmla="*/ 16 w 720"/>
                <a:gd name="T3" fmla="*/ 1 h 160"/>
                <a:gd name="T4" fmla="*/ 0 w 720"/>
                <a:gd name="T5" fmla="*/ 1 h 160"/>
                <a:gd name="T6" fmla="*/ 0 w 720"/>
                <a:gd name="T7" fmla="*/ 3 h 160"/>
                <a:gd name="T8" fmla="*/ 16 w 720"/>
                <a:gd name="T9" fmla="*/ 3 h 160"/>
                <a:gd name="T10" fmla="*/ 16 w 720"/>
                <a:gd name="T11" fmla="*/ 5 h 160"/>
                <a:gd name="T12" fmla="*/ 22 w 720"/>
                <a:gd name="T13" fmla="*/ 3 h 160"/>
                <a:gd name="T14" fmla="*/ 16 w 720"/>
                <a:gd name="T15" fmla="*/ 0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0"/>
                <a:gd name="T25" fmla="*/ 0 h 160"/>
                <a:gd name="T26" fmla="*/ 720 w 720"/>
                <a:gd name="T27" fmla="*/ 160 h 1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0" h="160">
                  <a:moveTo>
                    <a:pt x="539" y="0"/>
                  </a:moveTo>
                  <a:lnTo>
                    <a:pt x="539" y="40"/>
                  </a:lnTo>
                  <a:lnTo>
                    <a:pt x="0" y="40"/>
                  </a:lnTo>
                  <a:lnTo>
                    <a:pt x="0" y="120"/>
                  </a:lnTo>
                  <a:lnTo>
                    <a:pt x="539" y="120"/>
                  </a:lnTo>
                  <a:lnTo>
                    <a:pt x="539" y="160"/>
                  </a:lnTo>
                  <a:lnTo>
                    <a:pt x="720" y="80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13" name="Freeform 62"/>
            <p:cNvSpPr>
              <a:spLocks/>
            </p:cNvSpPr>
            <p:nvPr/>
          </p:nvSpPr>
          <p:spPr bwMode="auto">
            <a:xfrm>
              <a:off x="1459" y="734"/>
              <a:ext cx="359" cy="80"/>
            </a:xfrm>
            <a:custGeom>
              <a:avLst/>
              <a:gdLst>
                <a:gd name="T0" fmla="*/ 16 w 720"/>
                <a:gd name="T1" fmla="*/ 0 h 160"/>
                <a:gd name="T2" fmla="*/ 16 w 720"/>
                <a:gd name="T3" fmla="*/ 1 h 160"/>
                <a:gd name="T4" fmla="*/ 0 w 720"/>
                <a:gd name="T5" fmla="*/ 1 h 160"/>
                <a:gd name="T6" fmla="*/ 0 w 720"/>
                <a:gd name="T7" fmla="*/ 3 h 160"/>
                <a:gd name="T8" fmla="*/ 16 w 720"/>
                <a:gd name="T9" fmla="*/ 3 h 160"/>
                <a:gd name="T10" fmla="*/ 16 w 720"/>
                <a:gd name="T11" fmla="*/ 5 h 160"/>
                <a:gd name="T12" fmla="*/ 22 w 720"/>
                <a:gd name="T13" fmla="*/ 3 h 160"/>
                <a:gd name="T14" fmla="*/ 16 w 720"/>
                <a:gd name="T15" fmla="*/ 0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0"/>
                <a:gd name="T25" fmla="*/ 0 h 160"/>
                <a:gd name="T26" fmla="*/ 720 w 720"/>
                <a:gd name="T27" fmla="*/ 160 h 1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0" h="160">
                  <a:moveTo>
                    <a:pt x="539" y="0"/>
                  </a:moveTo>
                  <a:lnTo>
                    <a:pt x="539" y="40"/>
                  </a:lnTo>
                  <a:lnTo>
                    <a:pt x="0" y="40"/>
                  </a:lnTo>
                  <a:lnTo>
                    <a:pt x="0" y="120"/>
                  </a:lnTo>
                  <a:lnTo>
                    <a:pt x="539" y="120"/>
                  </a:lnTo>
                  <a:lnTo>
                    <a:pt x="539" y="160"/>
                  </a:lnTo>
                  <a:lnTo>
                    <a:pt x="720" y="80"/>
                  </a:lnTo>
                  <a:lnTo>
                    <a:pt x="539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14" name="Freeform 63"/>
            <p:cNvSpPr>
              <a:spLocks/>
            </p:cNvSpPr>
            <p:nvPr/>
          </p:nvSpPr>
          <p:spPr bwMode="auto">
            <a:xfrm>
              <a:off x="369" y="724"/>
              <a:ext cx="171" cy="165"/>
            </a:xfrm>
            <a:custGeom>
              <a:avLst/>
              <a:gdLst>
                <a:gd name="T0" fmla="*/ 6 w 340"/>
                <a:gd name="T1" fmla="*/ 0 h 329"/>
                <a:gd name="T2" fmla="*/ 5 w 340"/>
                <a:gd name="T3" fmla="*/ 1 h 329"/>
                <a:gd name="T4" fmla="*/ 4 w 340"/>
                <a:gd name="T5" fmla="*/ 1 h 329"/>
                <a:gd name="T6" fmla="*/ 3 w 340"/>
                <a:gd name="T7" fmla="*/ 1 h 329"/>
                <a:gd name="T8" fmla="*/ 2 w 340"/>
                <a:gd name="T9" fmla="*/ 2 h 329"/>
                <a:gd name="T10" fmla="*/ 2 w 340"/>
                <a:gd name="T11" fmla="*/ 2 h 329"/>
                <a:gd name="T12" fmla="*/ 1 w 340"/>
                <a:gd name="T13" fmla="*/ 3 h 329"/>
                <a:gd name="T14" fmla="*/ 1 w 340"/>
                <a:gd name="T15" fmla="*/ 4 h 329"/>
                <a:gd name="T16" fmla="*/ 1 w 340"/>
                <a:gd name="T17" fmla="*/ 5 h 329"/>
                <a:gd name="T18" fmla="*/ 1 w 340"/>
                <a:gd name="T19" fmla="*/ 5 h 329"/>
                <a:gd name="T20" fmla="*/ 0 w 340"/>
                <a:gd name="T21" fmla="*/ 6 h 329"/>
                <a:gd name="T22" fmla="*/ 1 w 340"/>
                <a:gd name="T23" fmla="*/ 6 h 329"/>
                <a:gd name="T24" fmla="*/ 1 w 340"/>
                <a:gd name="T25" fmla="*/ 7 h 329"/>
                <a:gd name="T26" fmla="*/ 1 w 340"/>
                <a:gd name="T27" fmla="*/ 7 h 329"/>
                <a:gd name="T28" fmla="*/ 1 w 340"/>
                <a:gd name="T29" fmla="*/ 8 h 329"/>
                <a:gd name="T30" fmla="*/ 2 w 340"/>
                <a:gd name="T31" fmla="*/ 9 h 329"/>
                <a:gd name="T32" fmla="*/ 2 w 340"/>
                <a:gd name="T33" fmla="*/ 10 h 329"/>
                <a:gd name="T34" fmla="*/ 3 w 340"/>
                <a:gd name="T35" fmla="*/ 10 h 329"/>
                <a:gd name="T36" fmla="*/ 4 w 340"/>
                <a:gd name="T37" fmla="*/ 11 h 329"/>
                <a:gd name="T38" fmla="*/ 5 w 340"/>
                <a:gd name="T39" fmla="*/ 11 h 329"/>
                <a:gd name="T40" fmla="*/ 6 w 340"/>
                <a:gd name="T41" fmla="*/ 11 h 329"/>
                <a:gd name="T42" fmla="*/ 6 w 340"/>
                <a:gd name="T43" fmla="*/ 11 h 329"/>
                <a:gd name="T44" fmla="*/ 7 w 340"/>
                <a:gd name="T45" fmla="*/ 11 h 329"/>
                <a:gd name="T46" fmla="*/ 7 w 340"/>
                <a:gd name="T47" fmla="*/ 11 h 329"/>
                <a:gd name="T48" fmla="*/ 8 w 340"/>
                <a:gd name="T49" fmla="*/ 10 h 329"/>
                <a:gd name="T50" fmla="*/ 9 w 340"/>
                <a:gd name="T51" fmla="*/ 10 h 329"/>
                <a:gd name="T52" fmla="*/ 10 w 340"/>
                <a:gd name="T53" fmla="*/ 9 h 329"/>
                <a:gd name="T54" fmla="*/ 10 w 340"/>
                <a:gd name="T55" fmla="*/ 8 h 329"/>
                <a:gd name="T56" fmla="*/ 11 w 340"/>
                <a:gd name="T57" fmla="*/ 7 h 329"/>
                <a:gd name="T58" fmla="*/ 11 w 340"/>
                <a:gd name="T59" fmla="*/ 7 h 329"/>
                <a:gd name="T60" fmla="*/ 11 w 340"/>
                <a:gd name="T61" fmla="*/ 6 h 329"/>
                <a:gd name="T62" fmla="*/ 11 w 340"/>
                <a:gd name="T63" fmla="*/ 6 h 329"/>
                <a:gd name="T64" fmla="*/ 11 w 340"/>
                <a:gd name="T65" fmla="*/ 5 h 329"/>
                <a:gd name="T66" fmla="*/ 11 w 340"/>
                <a:gd name="T67" fmla="*/ 5 h 329"/>
                <a:gd name="T68" fmla="*/ 11 w 340"/>
                <a:gd name="T69" fmla="*/ 4 h 329"/>
                <a:gd name="T70" fmla="*/ 10 w 340"/>
                <a:gd name="T71" fmla="*/ 3 h 329"/>
                <a:gd name="T72" fmla="*/ 10 w 340"/>
                <a:gd name="T73" fmla="*/ 2 h 329"/>
                <a:gd name="T74" fmla="*/ 9 w 340"/>
                <a:gd name="T75" fmla="*/ 2 h 329"/>
                <a:gd name="T76" fmla="*/ 8 w 340"/>
                <a:gd name="T77" fmla="*/ 1 h 329"/>
                <a:gd name="T78" fmla="*/ 7 w 340"/>
                <a:gd name="T79" fmla="*/ 1 h 329"/>
                <a:gd name="T80" fmla="*/ 7 w 340"/>
                <a:gd name="T81" fmla="*/ 1 h 329"/>
                <a:gd name="T82" fmla="*/ 6 w 340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40"/>
                <a:gd name="T127" fmla="*/ 0 h 329"/>
                <a:gd name="T128" fmla="*/ 340 w 340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40" h="329">
                  <a:moveTo>
                    <a:pt x="169" y="0"/>
                  </a:moveTo>
                  <a:lnTo>
                    <a:pt x="161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6" y="3"/>
                  </a:lnTo>
                  <a:lnTo>
                    <a:pt x="120" y="8"/>
                  </a:lnTo>
                  <a:lnTo>
                    <a:pt x="104" y="13"/>
                  </a:lnTo>
                  <a:lnTo>
                    <a:pt x="89" y="21"/>
                  </a:lnTo>
                  <a:lnTo>
                    <a:pt x="75" y="29"/>
                  </a:lnTo>
                  <a:lnTo>
                    <a:pt x="62" y="38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20" y="86"/>
                  </a:lnTo>
                  <a:lnTo>
                    <a:pt x="12" y="101"/>
                  </a:lnTo>
                  <a:lnTo>
                    <a:pt x="8" y="117"/>
                  </a:lnTo>
                  <a:lnTo>
                    <a:pt x="4" y="123"/>
                  </a:lnTo>
                  <a:lnTo>
                    <a:pt x="3" y="131"/>
                  </a:lnTo>
                  <a:lnTo>
                    <a:pt x="1" y="141"/>
                  </a:lnTo>
                  <a:lnTo>
                    <a:pt x="1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4"/>
                  </a:lnTo>
                  <a:lnTo>
                    <a:pt x="1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29"/>
                  </a:lnTo>
                  <a:lnTo>
                    <a:pt x="20" y="243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3"/>
                  </a:lnTo>
                  <a:lnTo>
                    <a:pt x="75" y="302"/>
                  </a:lnTo>
                  <a:lnTo>
                    <a:pt x="89" y="310"/>
                  </a:lnTo>
                  <a:lnTo>
                    <a:pt x="104" y="317"/>
                  </a:lnTo>
                  <a:lnTo>
                    <a:pt x="120" y="323"/>
                  </a:lnTo>
                  <a:lnTo>
                    <a:pt x="136" y="326"/>
                  </a:lnTo>
                  <a:lnTo>
                    <a:pt x="144" y="328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29"/>
                  </a:lnTo>
                  <a:lnTo>
                    <a:pt x="179" y="329"/>
                  </a:lnTo>
                  <a:lnTo>
                    <a:pt x="187" y="329"/>
                  </a:lnTo>
                  <a:lnTo>
                    <a:pt x="196" y="328"/>
                  </a:lnTo>
                  <a:lnTo>
                    <a:pt x="204" y="326"/>
                  </a:lnTo>
                  <a:lnTo>
                    <a:pt x="220" y="323"/>
                  </a:lnTo>
                  <a:lnTo>
                    <a:pt x="236" y="317"/>
                  </a:lnTo>
                  <a:lnTo>
                    <a:pt x="251" y="310"/>
                  </a:lnTo>
                  <a:lnTo>
                    <a:pt x="265" y="302"/>
                  </a:lnTo>
                  <a:lnTo>
                    <a:pt x="278" y="293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9" y="243"/>
                  </a:lnTo>
                  <a:lnTo>
                    <a:pt x="326" y="229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40" y="165"/>
                  </a:lnTo>
                  <a:lnTo>
                    <a:pt x="339" y="157"/>
                  </a:lnTo>
                  <a:lnTo>
                    <a:pt x="339" y="149"/>
                  </a:lnTo>
                  <a:lnTo>
                    <a:pt x="337" y="141"/>
                  </a:lnTo>
                  <a:lnTo>
                    <a:pt x="335" y="131"/>
                  </a:lnTo>
                  <a:lnTo>
                    <a:pt x="334" y="123"/>
                  </a:lnTo>
                  <a:lnTo>
                    <a:pt x="332" y="117"/>
                  </a:lnTo>
                  <a:lnTo>
                    <a:pt x="326" y="101"/>
                  </a:lnTo>
                  <a:lnTo>
                    <a:pt x="319" y="86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8" y="38"/>
                  </a:lnTo>
                  <a:lnTo>
                    <a:pt x="265" y="29"/>
                  </a:lnTo>
                  <a:lnTo>
                    <a:pt x="251" y="21"/>
                  </a:lnTo>
                  <a:lnTo>
                    <a:pt x="236" y="13"/>
                  </a:lnTo>
                  <a:lnTo>
                    <a:pt x="220" y="8"/>
                  </a:lnTo>
                  <a:lnTo>
                    <a:pt x="204" y="3"/>
                  </a:lnTo>
                  <a:lnTo>
                    <a:pt x="196" y="2"/>
                  </a:lnTo>
                  <a:lnTo>
                    <a:pt x="187" y="2"/>
                  </a:lnTo>
                  <a:lnTo>
                    <a:pt x="179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15" name="Rectangle 64"/>
            <p:cNvSpPr>
              <a:spLocks noChangeArrowheads="1"/>
            </p:cNvSpPr>
            <p:nvPr/>
          </p:nvSpPr>
          <p:spPr bwMode="auto">
            <a:xfrm>
              <a:off x="410" y="729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16" name="Rectangle 65"/>
            <p:cNvSpPr>
              <a:spLocks noChangeArrowheads="1"/>
            </p:cNvSpPr>
            <p:nvPr/>
          </p:nvSpPr>
          <p:spPr bwMode="auto">
            <a:xfrm>
              <a:off x="468" y="790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417" name="Freeform 66"/>
            <p:cNvSpPr>
              <a:spLocks/>
            </p:cNvSpPr>
            <p:nvPr/>
          </p:nvSpPr>
          <p:spPr bwMode="auto">
            <a:xfrm>
              <a:off x="756" y="454"/>
              <a:ext cx="169" cy="164"/>
            </a:xfrm>
            <a:custGeom>
              <a:avLst/>
              <a:gdLst>
                <a:gd name="T0" fmla="*/ 5 w 339"/>
                <a:gd name="T1" fmla="*/ 0 h 329"/>
                <a:gd name="T2" fmla="*/ 4 w 339"/>
                <a:gd name="T3" fmla="*/ 0 h 329"/>
                <a:gd name="T4" fmla="*/ 3 w 339"/>
                <a:gd name="T5" fmla="*/ 0 h 329"/>
                <a:gd name="T6" fmla="*/ 2 w 339"/>
                <a:gd name="T7" fmla="*/ 0 h 329"/>
                <a:gd name="T8" fmla="*/ 1 w 339"/>
                <a:gd name="T9" fmla="*/ 1 h 329"/>
                <a:gd name="T10" fmla="*/ 1 w 339"/>
                <a:gd name="T11" fmla="*/ 1 h 329"/>
                <a:gd name="T12" fmla="*/ 0 w 339"/>
                <a:gd name="T13" fmla="*/ 2 h 329"/>
                <a:gd name="T14" fmla="*/ 0 w 339"/>
                <a:gd name="T15" fmla="*/ 3 h 329"/>
                <a:gd name="T16" fmla="*/ 0 w 339"/>
                <a:gd name="T17" fmla="*/ 4 h 329"/>
                <a:gd name="T18" fmla="*/ 0 w 339"/>
                <a:gd name="T19" fmla="*/ 4 h 329"/>
                <a:gd name="T20" fmla="*/ 0 w 339"/>
                <a:gd name="T21" fmla="*/ 5 h 329"/>
                <a:gd name="T22" fmla="*/ 0 w 339"/>
                <a:gd name="T23" fmla="*/ 5 h 329"/>
                <a:gd name="T24" fmla="*/ 0 w 339"/>
                <a:gd name="T25" fmla="*/ 6 h 329"/>
                <a:gd name="T26" fmla="*/ 0 w 339"/>
                <a:gd name="T27" fmla="*/ 6 h 329"/>
                <a:gd name="T28" fmla="*/ 0 w 339"/>
                <a:gd name="T29" fmla="*/ 7 h 329"/>
                <a:gd name="T30" fmla="*/ 1 w 339"/>
                <a:gd name="T31" fmla="*/ 8 h 329"/>
                <a:gd name="T32" fmla="*/ 1 w 339"/>
                <a:gd name="T33" fmla="*/ 9 h 329"/>
                <a:gd name="T34" fmla="*/ 2 w 339"/>
                <a:gd name="T35" fmla="*/ 9 h 329"/>
                <a:gd name="T36" fmla="*/ 3 w 339"/>
                <a:gd name="T37" fmla="*/ 10 h 329"/>
                <a:gd name="T38" fmla="*/ 4 w 339"/>
                <a:gd name="T39" fmla="*/ 10 h 329"/>
                <a:gd name="T40" fmla="*/ 5 w 339"/>
                <a:gd name="T41" fmla="*/ 10 h 329"/>
                <a:gd name="T42" fmla="*/ 5 w 339"/>
                <a:gd name="T43" fmla="*/ 10 h 329"/>
                <a:gd name="T44" fmla="*/ 6 w 339"/>
                <a:gd name="T45" fmla="*/ 10 h 329"/>
                <a:gd name="T46" fmla="*/ 6 w 339"/>
                <a:gd name="T47" fmla="*/ 10 h 329"/>
                <a:gd name="T48" fmla="*/ 7 w 339"/>
                <a:gd name="T49" fmla="*/ 9 h 329"/>
                <a:gd name="T50" fmla="*/ 8 w 339"/>
                <a:gd name="T51" fmla="*/ 9 h 329"/>
                <a:gd name="T52" fmla="*/ 9 w 339"/>
                <a:gd name="T53" fmla="*/ 8 h 329"/>
                <a:gd name="T54" fmla="*/ 9 w 339"/>
                <a:gd name="T55" fmla="*/ 7 h 329"/>
                <a:gd name="T56" fmla="*/ 10 w 339"/>
                <a:gd name="T57" fmla="*/ 6 h 329"/>
                <a:gd name="T58" fmla="*/ 10 w 339"/>
                <a:gd name="T59" fmla="*/ 6 h 329"/>
                <a:gd name="T60" fmla="*/ 10 w 339"/>
                <a:gd name="T61" fmla="*/ 5 h 329"/>
                <a:gd name="T62" fmla="*/ 10 w 339"/>
                <a:gd name="T63" fmla="*/ 5 h 329"/>
                <a:gd name="T64" fmla="*/ 10 w 339"/>
                <a:gd name="T65" fmla="*/ 4 h 329"/>
                <a:gd name="T66" fmla="*/ 10 w 339"/>
                <a:gd name="T67" fmla="*/ 4 h 329"/>
                <a:gd name="T68" fmla="*/ 10 w 339"/>
                <a:gd name="T69" fmla="*/ 3 h 329"/>
                <a:gd name="T70" fmla="*/ 9 w 339"/>
                <a:gd name="T71" fmla="*/ 2 h 329"/>
                <a:gd name="T72" fmla="*/ 9 w 339"/>
                <a:gd name="T73" fmla="*/ 1 h 329"/>
                <a:gd name="T74" fmla="*/ 8 w 339"/>
                <a:gd name="T75" fmla="*/ 1 h 329"/>
                <a:gd name="T76" fmla="*/ 7 w 339"/>
                <a:gd name="T77" fmla="*/ 0 h 329"/>
                <a:gd name="T78" fmla="*/ 6 w 339"/>
                <a:gd name="T79" fmla="*/ 0 h 329"/>
                <a:gd name="T80" fmla="*/ 6 w 339"/>
                <a:gd name="T81" fmla="*/ 0 h 329"/>
                <a:gd name="T82" fmla="*/ 5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7"/>
                  </a:lnTo>
                  <a:lnTo>
                    <a:pt x="40" y="59"/>
                  </a:lnTo>
                  <a:lnTo>
                    <a:pt x="29" y="71"/>
                  </a:lnTo>
                  <a:lnTo>
                    <a:pt x="21" y="86"/>
                  </a:lnTo>
                  <a:lnTo>
                    <a:pt x="15" y="100"/>
                  </a:lnTo>
                  <a:lnTo>
                    <a:pt x="8" y="115"/>
                  </a:lnTo>
                  <a:lnTo>
                    <a:pt x="7" y="123"/>
                  </a:lnTo>
                  <a:lnTo>
                    <a:pt x="5" y="131"/>
                  </a:lnTo>
                  <a:lnTo>
                    <a:pt x="3" y="139"/>
                  </a:lnTo>
                  <a:lnTo>
                    <a:pt x="2" y="147"/>
                  </a:lnTo>
                  <a:lnTo>
                    <a:pt x="2" y="155"/>
                  </a:lnTo>
                  <a:lnTo>
                    <a:pt x="0" y="164"/>
                  </a:lnTo>
                  <a:lnTo>
                    <a:pt x="2" y="172"/>
                  </a:lnTo>
                  <a:lnTo>
                    <a:pt x="2" y="180"/>
                  </a:lnTo>
                  <a:lnTo>
                    <a:pt x="3" y="188"/>
                  </a:lnTo>
                  <a:lnTo>
                    <a:pt x="5" y="196"/>
                  </a:lnTo>
                  <a:lnTo>
                    <a:pt x="7" y="204"/>
                  </a:lnTo>
                  <a:lnTo>
                    <a:pt x="8" y="212"/>
                  </a:lnTo>
                  <a:lnTo>
                    <a:pt x="15" y="228"/>
                  </a:lnTo>
                  <a:lnTo>
                    <a:pt x="21" y="243"/>
                  </a:lnTo>
                  <a:lnTo>
                    <a:pt x="29" y="255"/>
                  </a:lnTo>
                  <a:lnTo>
                    <a:pt x="40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08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9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1" y="321"/>
                  </a:lnTo>
                  <a:lnTo>
                    <a:pt x="235" y="316"/>
                  </a:lnTo>
                  <a:lnTo>
                    <a:pt x="251" y="308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90" y="281"/>
                  </a:lnTo>
                  <a:lnTo>
                    <a:pt x="301" y="268"/>
                  </a:lnTo>
                  <a:lnTo>
                    <a:pt x="310" y="255"/>
                  </a:lnTo>
                  <a:lnTo>
                    <a:pt x="318" y="243"/>
                  </a:lnTo>
                  <a:lnTo>
                    <a:pt x="326" y="228"/>
                  </a:lnTo>
                  <a:lnTo>
                    <a:pt x="331" y="212"/>
                  </a:lnTo>
                  <a:lnTo>
                    <a:pt x="334" y="204"/>
                  </a:lnTo>
                  <a:lnTo>
                    <a:pt x="336" y="196"/>
                  </a:lnTo>
                  <a:lnTo>
                    <a:pt x="338" y="188"/>
                  </a:lnTo>
                  <a:lnTo>
                    <a:pt x="338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5"/>
                  </a:lnTo>
                  <a:lnTo>
                    <a:pt x="338" y="147"/>
                  </a:lnTo>
                  <a:lnTo>
                    <a:pt x="338" y="139"/>
                  </a:lnTo>
                  <a:lnTo>
                    <a:pt x="336" y="131"/>
                  </a:lnTo>
                  <a:lnTo>
                    <a:pt x="334" y="123"/>
                  </a:lnTo>
                  <a:lnTo>
                    <a:pt x="331" y="115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1"/>
                  </a:lnTo>
                  <a:lnTo>
                    <a:pt x="301" y="59"/>
                  </a:lnTo>
                  <a:lnTo>
                    <a:pt x="290" y="47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51" y="19"/>
                  </a:lnTo>
                  <a:lnTo>
                    <a:pt x="235" y="12"/>
                  </a:lnTo>
                  <a:lnTo>
                    <a:pt x="221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9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18" name="Rectangle 67"/>
            <p:cNvSpPr>
              <a:spLocks noChangeArrowheads="1"/>
            </p:cNvSpPr>
            <p:nvPr/>
          </p:nvSpPr>
          <p:spPr bwMode="auto">
            <a:xfrm>
              <a:off x="816" y="457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419" name="Line 68"/>
            <p:cNvSpPr>
              <a:spLocks noChangeShapeType="1"/>
            </p:cNvSpPr>
            <p:nvPr/>
          </p:nvSpPr>
          <p:spPr bwMode="auto">
            <a:xfrm flipH="1">
              <a:off x="499" y="599"/>
              <a:ext cx="282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0" name="Line 69"/>
            <p:cNvSpPr>
              <a:spLocks noChangeShapeType="1"/>
            </p:cNvSpPr>
            <p:nvPr/>
          </p:nvSpPr>
          <p:spPr bwMode="auto">
            <a:xfrm>
              <a:off x="900" y="599"/>
              <a:ext cx="279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1" name="Freeform 70"/>
            <p:cNvSpPr>
              <a:spLocks/>
            </p:cNvSpPr>
            <p:nvPr/>
          </p:nvSpPr>
          <p:spPr bwMode="auto">
            <a:xfrm>
              <a:off x="1138" y="723"/>
              <a:ext cx="169" cy="165"/>
            </a:xfrm>
            <a:custGeom>
              <a:avLst/>
              <a:gdLst>
                <a:gd name="T0" fmla="*/ 5 w 339"/>
                <a:gd name="T1" fmla="*/ 0 h 330"/>
                <a:gd name="T2" fmla="*/ 4 w 339"/>
                <a:gd name="T3" fmla="*/ 1 h 330"/>
                <a:gd name="T4" fmla="*/ 3 w 339"/>
                <a:gd name="T5" fmla="*/ 1 h 330"/>
                <a:gd name="T6" fmla="*/ 2 w 339"/>
                <a:gd name="T7" fmla="*/ 1 h 330"/>
                <a:gd name="T8" fmla="*/ 1 w 339"/>
                <a:gd name="T9" fmla="*/ 1 h 330"/>
                <a:gd name="T10" fmla="*/ 1 w 339"/>
                <a:gd name="T11" fmla="*/ 1 h 330"/>
                <a:gd name="T12" fmla="*/ 0 w 339"/>
                <a:gd name="T13" fmla="*/ 3 h 330"/>
                <a:gd name="T14" fmla="*/ 0 w 339"/>
                <a:gd name="T15" fmla="*/ 3 h 330"/>
                <a:gd name="T16" fmla="*/ 0 w 339"/>
                <a:gd name="T17" fmla="*/ 5 h 330"/>
                <a:gd name="T18" fmla="*/ 0 w 339"/>
                <a:gd name="T19" fmla="*/ 5 h 330"/>
                <a:gd name="T20" fmla="*/ 0 w 339"/>
                <a:gd name="T21" fmla="*/ 5 h 330"/>
                <a:gd name="T22" fmla="*/ 0 w 339"/>
                <a:gd name="T23" fmla="*/ 5 h 330"/>
                <a:gd name="T24" fmla="*/ 0 w 339"/>
                <a:gd name="T25" fmla="*/ 6 h 330"/>
                <a:gd name="T26" fmla="*/ 0 w 339"/>
                <a:gd name="T27" fmla="*/ 6 h 330"/>
                <a:gd name="T28" fmla="*/ 0 w 339"/>
                <a:gd name="T29" fmla="*/ 7 h 330"/>
                <a:gd name="T30" fmla="*/ 1 w 339"/>
                <a:gd name="T31" fmla="*/ 9 h 330"/>
                <a:gd name="T32" fmla="*/ 1 w 339"/>
                <a:gd name="T33" fmla="*/ 10 h 330"/>
                <a:gd name="T34" fmla="*/ 2 w 339"/>
                <a:gd name="T35" fmla="*/ 10 h 330"/>
                <a:gd name="T36" fmla="*/ 3 w 339"/>
                <a:gd name="T37" fmla="*/ 10 h 330"/>
                <a:gd name="T38" fmla="*/ 4 w 339"/>
                <a:gd name="T39" fmla="*/ 10 h 330"/>
                <a:gd name="T40" fmla="*/ 5 w 339"/>
                <a:gd name="T41" fmla="*/ 10 h 330"/>
                <a:gd name="T42" fmla="*/ 5 w 339"/>
                <a:gd name="T43" fmla="*/ 10 h 330"/>
                <a:gd name="T44" fmla="*/ 6 w 339"/>
                <a:gd name="T45" fmla="*/ 10 h 330"/>
                <a:gd name="T46" fmla="*/ 6 w 339"/>
                <a:gd name="T47" fmla="*/ 10 h 330"/>
                <a:gd name="T48" fmla="*/ 7 w 339"/>
                <a:gd name="T49" fmla="*/ 10 h 330"/>
                <a:gd name="T50" fmla="*/ 8 w 339"/>
                <a:gd name="T51" fmla="*/ 10 h 330"/>
                <a:gd name="T52" fmla="*/ 9 w 339"/>
                <a:gd name="T53" fmla="*/ 9 h 330"/>
                <a:gd name="T54" fmla="*/ 9 w 339"/>
                <a:gd name="T55" fmla="*/ 7 h 330"/>
                <a:gd name="T56" fmla="*/ 10 w 339"/>
                <a:gd name="T57" fmla="*/ 6 h 330"/>
                <a:gd name="T58" fmla="*/ 10 w 339"/>
                <a:gd name="T59" fmla="*/ 6 h 330"/>
                <a:gd name="T60" fmla="*/ 10 w 339"/>
                <a:gd name="T61" fmla="*/ 5 h 330"/>
                <a:gd name="T62" fmla="*/ 10 w 339"/>
                <a:gd name="T63" fmla="*/ 5 h 330"/>
                <a:gd name="T64" fmla="*/ 10 w 339"/>
                <a:gd name="T65" fmla="*/ 5 h 330"/>
                <a:gd name="T66" fmla="*/ 10 w 339"/>
                <a:gd name="T67" fmla="*/ 5 h 330"/>
                <a:gd name="T68" fmla="*/ 10 w 339"/>
                <a:gd name="T69" fmla="*/ 3 h 330"/>
                <a:gd name="T70" fmla="*/ 9 w 339"/>
                <a:gd name="T71" fmla="*/ 3 h 330"/>
                <a:gd name="T72" fmla="*/ 9 w 339"/>
                <a:gd name="T73" fmla="*/ 1 h 330"/>
                <a:gd name="T74" fmla="*/ 8 w 339"/>
                <a:gd name="T75" fmla="*/ 1 h 330"/>
                <a:gd name="T76" fmla="*/ 7 w 339"/>
                <a:gd name="T77" fmla="*/ 1 h 330"/>
                <a:gd name="T78" fmla="*/ 6 w 339"/>
                <a:gd name="T79" fmla="*/ 1 h 330"/>
                <a:gd name="T80" fmla="*/ 6 w 339"/>
                <a:gd name="T81" fmla="*/ 1 h 330"/>
                <a:gd name="T82" fmla="*/ 5 w 339"/>
                <a:gd name="T83" fmla="*/ 0 h 3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0"/>
                <a:gd name="T128" fmla="*/ 339 w 339"/>
                <a:gd name="T129" fmla="*/ 330 h 3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0">
                  <a:moveTo>
                    <a:pt x="169" y="0"/>
                  </a:moveTo>
                  <a:lnTo>
                    <a:pt x="160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4" y="4"/>
                  </a:lnTo>
                  <a:lnTo>
                    <a:pt x="118" y="8"/>
                  </a:lnTo>
                  <a:lnTo>
                    <a:pt x="102" y="13"/>
                  </a:lnTo>
                  <a:lnTo>
                    <a:pt x="88" y="20"/>
                  </a:lnTo>
                  <a:lnTo>
                    <a:pt x="73" y="29"/>
                  </a:lnTo>
                  <a:lnTo>
                    <a:pt x="60" y="39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19" y="87"/>
                  </a:lnTo>
                  <a:lnTo>
                    <a:pt x="12" y="101"/>
                  </a:lnTo>
                  <a:lnTo>
                    <a:pt x="6" y="117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3"/>
                  </a:lnTo>
                  <a:lnTo>
                    <a:pt x="0" y="183"/>
                  </a:lnTo>
                  <a:lnTo>
                    <a:pt x="1" y="191"/>
                  </a:lnTo>
                  <a:lnTo>
                    <a:pt x="3" y="199"/>
                  </a:lnTo>
                  <a:lnTo>
                    <a:pt x="4" y="207"/>
                  </a:lnTo>
                  <a:lnTo>
                    <a:pt x="6" y="215"/>
                  </a:lnTo>
                  <a:lnTo>
                    <a:pt x="12" y="229"/>
                  </a:lnTo>
                  <a:lnTo>
                    <a:pt x="19" y="243"/>
                  </a:lnTo>
                  <a:lnTo>
                    <a:pt x="28" y="258"/>
                  </a:lnTo>
                  <a:lnTo>
                    <a:pt x="38" y="271"/>
                  </a:lnTo>
                  <a:lnTo>
                    <a:pt x="49" y="282"/>
                  </a:lnTo>
                  <a:lnTo>
                    <a:pt x="60" y="293"/>
                  </a:lnTo>
                  <a:lnTo>
                    <a:pt x="73" y="303"/>
                  </a:lnTo>
                  <a:lnTo>
                    <a:pt x="88" y="311"/>
                  </a:lnTo>
                  <a:lnTo>
                    <a:pt x="102" y="317"/>
                  </a:lnTo>
                  <a:lnTo>
                    <a:pt x="118" y="323"/>
                  </a:lnTo>
                  <a:lnTo>
                    <a:pt x="134" y="327"/>
                  </a:lnTo>
                  <a:lnTo>
                    <a:pt x="144" y="328"/>
                  </a:lnTo>
                  <a:lnTo>
                    <a:pt x="152" y="330"/>
                  </a:lnTo>
                  <a:lnTo>
                    <a:pt x="160" y="330"/>
                  </a:lnTo>
                  <a:lnTo>
                    <a:pt x="169" y="330"/>
                  </a:lnTo>
                  <a:lnTo>
                    <a:pt x="177" y="330"/>
                  </a:lnTo>
                  <a:lnTo>
                    <a:pt x="187" y="330"/>
                  </a:lnTo>
                  <a:lnTo>
                    <a:pt x="195" y="328"/>
                  </a:lnTo>
                  <a:lnTo>
                    <a:pt x="203" y="327"/>
                  </a:lnTo>
                  <a:lnTo>
                    <a:pt x="219" y="323"/>
                  </a:lnTo>
                  <a:lnTo>
                    <a:pt x="235" y="317"/>
                  </a:lnTo>
                  <a:lnTo>
                    <a:pt x="249" y="311"/>
                  </a:lnTo>
                  <a:lnTo>
                    <a:pt x="264" y="303"/>
                  </a:lnTo>
                  <a:lnTo>
                    <a:pt x="276" y="293"/>
                  </a:lnTo>
                  <a:lnTo>
                    <a:pt x="289" y="282"/>
                  </a:lnTo>
                  <a:lnTo>
                    <a:pt x="300" y="271"/>
                  </a:lnTo>
                  <a:lnTo>
                    <a:pt x="310" y="258"/>
                  </a:lnTo>
                  <a:lnTo>
                    <a:pt x="318" y="243"/>
                  </a:lnTo>
                  <a:lnTo>
                    <a:pt x="326" y="229"/>
                  </a:lnTo>
                  <a:lnTo>
                    <a:pt x="331" y="215"/>
                  </a:lnTo>
                  <a:lnTo>
                    <a:pt x="334" y="207"/>
                  </a:lnTo>
                  <a:lnTo>
                    <a:pt x="336" y="199"/>
                  </a:lnTo>
                  <a:lnTo>
                    <a:pt x="337" y="191"/>
                  </a:lnTo>
                  <a:lnTo>
                    <a:pt x="337" y="183"/>
                  </a:lnTo>
                  <a:lnTo>
                    <a:pt x="339" y="173"/>
                  </a:lnTo>
                  <a:lnTo>
                    <a:pt x="339" y="165"/>
                  </a:lnTo>
                  <a:lnTo>
                    <a:pt x="339" y="157"/>
                  </a:lnTo>
                  <a:lnTo>
                    <a:pt x="337" y="149"/>
                  </a:lnTo>
                  <a:lnTo>
                    <a:pt x="337" y="140"/>
                  </a:lnTo>
                  <a:lnTo>
                    <a:pt x="336" y="132"/>
                  </a:lnTo>
                  <a:lnTo>
                    <a:pt x="334" y="124"/>
                  </a:lnTo>
                  <a:lnTo>
                    <a:pt x="331" y="117"/>
                  </a:lnTo>
                  <a:lnTo>
                    <a:pt x="326" y="101"/>
                  </a:lnTo>
                  <a:lnTo>
                    <a:pt x="318" y="87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6" y="39"/>
                  </a:lnTo>
                  <a:lnTo>
                    <a:pt x="264" y="29"/>
                  </a:lnTo>
                  <a:lnTo>
                    <a:pt x="249" y="20"/>
                  </a:lnTo>
                  <a:lnTo>
                    <a:pt x="235" y="13"/>
                  </a:lnTo>
                  <a:lnTo>
                    <a:pt x="219" y="8"/>
                  </a:lnTo>
                  <a:lnTo>
                    <a:pt x="203" y="4"/>
                  </a:lnTo>
                  <a:lnTo>
                    <a:pt x="195" y="2"/>
                  </a:lnTo>
                  <a:lnTo>
                    <a:pt x="187" y="2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2" name="Rectangle 71"/>
            <p:cNvSpPr>
              <a:spLocks noChangeArrowheads="1"/>
            </p:cNvSpPr>
            <p:nvPr/>
          </p:nvSpPr>
          <p:spPr bwMode="auto">
            <a:xfrm>
              <a:off x="1172" y="72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23" name="Rectangle 72"/>
            <p:cNvSpPr>
              <a:spLocks noChangeArrowheads="1"/>
            </p:cNvSpPr>
            <p:nvPr/>
          </p:nvSpPr>
          <p:spPr bwMode="auto">
            <a:xfrm>
              <a:off x="1230" y="789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424" name="Line 73"/>
            <p:cNvSpPr>
              <a:spLocks noChangeShapeType="1"/>
            </p:cNvSpPr>
            <p:nvPr/>
          </p:nvSpPr>
          <p:spPr bwMode="auto">
            <a:xfrm>
              <a:off x="516" y="879"/>
              <a:ext cx="147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5" name="Line 74"/>
            <p:cNvSpPr>
              <a:spLocks noChangeShapeType="1"/>
            </p:cNvSpPr>
            <p:nvPr/>
          </p:nvSpPr>
          <p:spPr bwMode="auto">
            <a:xfrm flipH="1">
              <a:off x="197" y="877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6" name="Freeform 75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7" name="Freeform 76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28" name="Rectangle 77"/>
            <p:cNvSpPr>
              <a:spLocks noChangeArrowheads="1"/>
            </p:cNvSpPr>
            <p:nvPr/>
          </p:nvSpPr>
          <p:spPr bwMode="auto">
            <a:xfrm>
              <a:off x="130" y="1090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29" name="Rectangle 78"/>
            <p:cNvSpPr>
              <a:spLocks noChangeArrowheads="1"/>
            </p:cNvSpPr>
            <p:nvPr/>
          </p:nvSpPr>
          <p:spPr bwMode="auto">
            <a:xfrm>
              <a:off x="195" y="1145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430" name="Freeform 79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31" name="Freeform 80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32" name="Rectangle 81"/>
            <p:cNvSpPr>
              <a:spLocks noChangeArrowheads="1"/>
            </p:cNvSpPr>
            <p:nvPr/>
          </p:nvSpPr>
          <p:spPr bwMode="auto">
            <a:xfrm>
              <a:off x="614" y="109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33" name="Rectangle 82"/>
            <p:cNvSpPr>
              <a:spLocks noChangeArrowheads="1"/>
            </p:cNvSpPr>
            <p:nvPr/>
          </p:nvSpPr>
          <p:spPr bwMode="auto">
            <a:xfrm>
              <a:off x="679" y="1148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434" name="Freeform 83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35" name="Freeform 84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36" name="Rectangle 85"/>
            <p:cNvSpPr>
              <a:spLocks noChangeArrowheads="1"/>
            </p:cNvSpPr>
            <p:nvPr/>
          </p:nvSpPr>
          <p:spPr bwMode="auto">
            <a:xfrm>
              <a:off x="959" y="1117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37" name="Rectangle 86"/>
            <p:cNvSpPr>
              <a:spLocks noChangeArrowheads="1"/>
            </p:cNvSpPr>
            <p:nvPr/>
          </p:nvSpPr>
          <p:spPr bwMode="auto">
            <a:xfrm>
              <a:off x="1023" y="1172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438" name="Freeform 87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39" name="Freeform 88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40" name="Rectangle 89"/>
            <p:cNvSpPr>
              <a:spLocks noChangeArrowheads="1"/>
            </p:cNvSpPr>
            <p:nvPr/>
          </p:nvSpPr>
          <p:spPr bwMode="auto">
            <a:xfrm>
              <a:off x="1361" y="1122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41" name="Rectangle 90"/>
            <p:cNvSpPr>
              <a:spLocks noChangeArrowheads="1"/>
            </p:cNvSpPr>
            <p:nvPr/>
          </p:nvSpPr>
          <p:spPr bwMode="auto">
            <a:xfrm>
              <a:off x="1426" y="1177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442" name="Line 91"/>
            <p:cNvSpPr>
              <a:spLocks noChangeShapeType="1"/>
            </p:cNvSpPr>
            <p:nvPr/>
          </p:nvSpPr>
          <p:spPr bwMode="auto">
            <a:xfrm flipH="1">
              <a:off x="1009" y="900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43" name="Line 92"/>
            <p:cNvSpPr>
              <a:spLocks noChangeShapeType="1"/>
            </p:cNvSpPr>
            <p:nvPr/>
          </p:nvSpPr>
          <p:spPr bwMode="auto">
            <a:xfrm>
              <a:off x="1266" y="896"/>
              <a:ext cx="14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44" name="Freeform 93"/>
            <p:cNvSpPr>
              <a:spLocks/>
            </p:cNvSpPr>
            <p:nvPr/>
          </p:nvSpPr>
          <p:spPr bwMode="auto">
            <a:xfrm>
              <a:off x="2338" y="374"/>
              <a:ext cx="169" cy="165"/>
            </a:xfrm>
            <a:custGeom>
              <a:avLst/>
              <a:gdLst>
                <a:gd name="T0" fmla="*/ 5 w 338"/>
                <a:gd name="T1" fmla="*/ 0 h 329"/>
                <a:gd name="T2" fmla="*/ 5 w 338"/>
                <a:gd name="T3" fmla="*/ 1 h 329"/>
                <a:gd name="T4" fmla="*/ 3 w 338"/>
                <a:gd name="T5" fmla="*/ 1 h 329"/>
                <a:gd name="T6" fmla="*/ 3 w 338"/>
                <a:gd name="T7" fmla="*/ 1 h 329"/>
                <a:gd name="T8" fmla="*/ 1 w 338"/>
                <a:gd name="T9" fmla="*/ 2 h 329"/>
                <a:gd name="T10" fmla="*/ 1 w 338"/>
                <a:gd name="T11" fmla="*/ 2 h 329"/>
                <a:gd name="T12" fmla="*/ 1 w 338"/>
                <a:gd name="T13" fmla="*/ 3 h 329"/>
                <a:gd name="T14" fmla="*/ 1 w 338"/>
                <a:gd name="T15" fmla="*/ 4 h 329"/>
                <a:gd name="T16" fmla="*/ 1 w 338"/>
                <a:gd name="T17" fmla="*/ 5 h 329"/>
                <a:gd name="T18" fmla="*/ 0 w 338"/>
                <a:gd name="T19" fmla="*/ 5 h 329"/>
                <a:gd name="T20" fmla="*/ 0 w 338"/>
                <a:gd name="T21" fmla="*/ 6 h 329"/>
                <a:gd name="T22" fmla="*/ 0 w 338"/>
                <a:gd name="T23" fmla="*/ 6 h 329"/>
                <a:gd name="T24" fmla="*/ 1 w 338"/>
                <a:gd name="T25" fmla="*/ 7 h 329"/>
                <a:gd name="T26" fmla="*/ 1 w 338"/>
                <a:gd name="T27" fmla="*/ 7 h 329"/>
                <a:gd name="T28" fmla="*/ 1 w 338"/>
                <a:gd name="T29" fmla="*/ 8 h 329"/>
                <a:gd name="T30" fmla="*/ 1 w 338"/>
                <a:gd name="T31" fmla="*/ 9 h 329"/>
                <a:gd name="T32" fmla="*/ 1 w 338"/>
                <a:gd name="T33" fmla="*/ 10 h 329"/>
                <a:gd name="T34" fmla="*/ 3 w 338"/>
                <a:gd name="T35" fmla="*/ 10 h 329"/>
                <a:gd name="T36" fmla="*/ 3 w 338"/>
                <a:gd name="T37" fmla="*/ 11 h 329"/>
                <a:gd name="T38" fmla="*/ 5 w 338"/>
                <a:gd name="T39" fmla="*/ 11 h 329"/>
                <a:gd name="T40" fmla="*/ 5 w 338"/>
                <a:gd name="T41" fmla="*/ 11 h 329"/>
                <a:gd name="T42" fmla="*/ 5 w 338"/>
                <a:gd name="T43" fmla="*/ 11 h 329"/>
                <a:gd name="T44" fmla="*/ 6 w 338"/>
                <a:gd name="T45" fmla="*/ 11 h 329"/>
                <a:gd name="T46" fmla="*/ 6 w 338"/>
                <a:gd name="T47" fmla="*/ 11 h 329"/>
                <a:gd name="T48" fmla="*/ 7 w 338"/>
                <a:gd name="T49" fmla="*/ 10 h 329"/>
                <a:gd name="T50" fmla="*/ 9 w 338"/>
                <a:gd name="T51" fmla="*/ 10 h 329"/>
                <a:gd name="T52" fmla="*/ 10 w 338"/>
                <a:gd name="T53" fmla="*/ 9 h 329"/>
                <a:gd name="T54" fmla="*/ 10 w 338"/>
                <a:gd name="T55" fmla="*/ 8 h 329"/>
                <a:gd name="T56" fmla="*/ 11 w 338"/>
                <a:gd name="T57" fmla="*/ 7 h 329"/>
                <a:gd name="T58" fmla="*/ 11 w 338"/>
                <a:gd name="T59" fmla="*/ 7 h 329"/>
                <a:gd name="T60" fmla="*/ 11 w 338"/>
                <a:gd name="T61" fmla="*/ 6 h 329"/>
                <a:gd name="T62" fmla="*/ 11 w 338"/>
                <a:gd name="T63" fmla="*/ 6 h 329"/>
                <a:gd name="T64" fmla="*/ 11 w 338"/>
                <a:gd name="T65" fmla="*/ 5 h 329"/>
                <a:gd name="T66" fmla="*/ 11 w 338"/>
                <a:gd name="T67" fmla="*/ 5 h 329"/>
                <a:gd name="T68" fmla="*/ 11 w 338"/>
                <a:gd name="T69" fmla="*/ 4 h 329"/>
                <a:gd name="T70" fmla="*/ 10 w 338"/>
                <a:gd name="T71" fmla="*/ 3 h 329"/>
                <a:gd name="T72" fmla="*/ 10 w 338"/>
                <a:gd name="T73" fmla="*/ 2 h 329"/>
                <a:gd name="T74" fmla="*/ 9 w 338"/>
                <a:gd name="T75" fmla="*/ 2 h 329"/>
                <a:gd name="T76" fmla="*/ 7 w 338"/>
                <a:gd name="T77" fmla="*/ 1 h 329"/>
                <a:gd name="T78" fmla="*/ 6 w 338"/>
                <a:gd name="T79" fmla="*/ 1 h 329"/>
                <a:gd name="T80" fmla="*/ 6 w 338"/>
                <a:gd name="T81" fmla="*/ 1 h 329"/>
                <a:gd name="T82" fmla="*/ 5 w 338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8"/>
                <a:gd name="T127" fmla="*/ 0 h 329"/>
                <a:gd name="T128" fmla="*/ 338 w 338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8" h="329">
                  <a:moveTo>
                    <a:pt x="168" y="0"/>
                  </a:moveTo>
                  <a:lnTo>
                    <a:pt x="160" y="0"/>
                  </a:lnTo>
                  <a:lnTo>
                    <a:pt x="151" y="0"/>
                  </a:lnTo>
                  <a:lnTo>
                    <a:pt x="143" y="1"/>
                  </a:lnTo>
                  <a:lnTo>
                    <a:pt x="135" y="3"/>
                  </a:lnTo>
                  <a:lnTo>
                    <a:pt x="119" y="6"/>
                  </a:lnTo>
                  <a:lnTo>
                    <a:pt x="103" y="12"/>
                  </a:lnTo>
                  <a:lnTo>
                    <a:pt x="88" y="19"/>
                  </a:lnTo>
                  <a:lnTo>
                    <a:pt x="74" y="27"/>
                  </a:lnTo>
                  <a:lnTo>
                    <a:pt x="61" y="36"/>
                  </a:lnTo>
                  <a:lnTo>
                    <a:pt x="50" y="48"/>
                  </a:lnTo>
                  <a:lnTo>
                    <a:pt x="39" y="59"/>
                  </a:lnTo>
                  <a:lnTo>
                    <a:pt x="29" y="72"/>
                  </a:lnTo>
                  <a:lnTo>
                    <a:pt x="20" y="86"/>
                  </a:lnTo>
                  <a:lnTo>
                    <a:pt x="13" y="100"/>
                  </a:lnTo>
                  <a:lnTo>
                    <a:pt x="7" y="115"/>
                  </a:lnTo>
                  <a:lnTo>
                    <a:pt x="5" y="123"/>
                  </a:lnTo>
                  <a:lnTo>
                    <a:pt x="4" y="131"/>
                  </a:lnTo>
                  <a:lnTo>
                    <a:pt x="2" y="139"/>
                  </a:lnTo>
                  <a:lnTo>
                    <a:pt x="0" y="147"/>
                  </a:lnTo>
                  <a:lnTo>
                    <a:pt x="0" y="155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0" y="180"/>
                  </a:lnTo>
                  <a:lnTo>
                    <a:pt x="2" y="188"/>
                  </a:lnTo>
                  <a:lnTo>
                    <a:pt x="4" y="196"/>
                  </a:lnTo>
                  <a:lnTo>
                    <a:pt x="5" y="204"/>
                  </a:lnTo>
                  <a:lnTo>
                    <a:pt x="7" y="212"/>
                  </a:lnTo>
                  <a:lnTo>
                    <a:pt x="13" y="228"/>
                  </a:lnTo>
                  <a:lnTo>
                    <a:pt x="20" y="243"/>
                  </a:lnTo>
                  <a:lnTo>
                    <a:pt x="29" y="255"/>
                  </a:lnTo>
                  <a:lnTo>
                    <a:pt x="39" y="268"/>
                  </a:lnTo>
                  <a:lnTo>
                    <a:pt x="50" y="281"/>
                  </a:lnTo>
                  <a:lnTo>
                    <a:pt x="61" y="291"/>
                  </a:lnTo>
                  <a:lnTo>
                    <a:pt x="74" y="300"/>
                  </a:lnTo>
                  <a:lnTo>
                    <a:pt x="88" y="308"/>
                  </a:lnTo>
                  <a:lnTo>
                    <a:pt x="103" y="316"/>
                  </a:lnTo>
                  <a:lnTo>
                    <a:pt x="119" y="321"/>
                  </a:lnTo>
                  <a:lnTo>
                    <a:pt x="135" y="326"/>
                  </a:lnTo>
                  <a:lnTo>
                    <a:pt x="143" y="327"/>
                  </a:lnTo>
                  <a:lnTo>
                    <a:pt x="151" y="327"/>
                  </a:lnTo>
                  <a:lnTo>
                    <a:pt x="160" y="329"/>
                  </a:lnTo>
                  <a:lnTo>
                    <a:pt x="168" y="329"/>
                  </a:lnTo>
                  <a:lnTo>
                    <a:pt x="178" y="329"/>
                  </a:lnTo>
                  <a:lnTo>
                    <a:pt x="186" y="327"/>
                  </a:lnTo>
                  <a:lnTo>
                    <a:pt x="194" y="327"/>
                  </a:lnTo>
                  <a:lnTo>
                    <a:pt x="204" y="326"/>
                  </a:lnTo>
                  <a:lnTo>
                    <a:pt x="220" y="321"/>
                  </a:lnTo>
                  <a:lnTo>
                    <a:pt x="234" y="316"/>
                  </a:lnTo>
                  <a:lnTo>
                    <a:pt x="250" y="308"/>
                  </a:lnTo>
                  <a:lnTo>
                    <a:pt x="263" y="300"/>
                  </a:lnTo>
                  <a:lnTo>
                    <a:pt x="277" y="291"/>
                  </a:lnTo>
                  <a:lnTo>
                    <a:pt x="288" y="281"/>
                  </a:lnTo>
                  <a:lnTo>
                    <a:pt x="300" y="268"/>
                  </a:lnTo>
                  <a:lnTo>
                    <a:pt x="309" y="255"/>
                  </a:lnTo>
                  <a:lnTo>
                    <a:pt x="317" y="243"/>
                  </a:lnTo>
                  <a:lnTo>
                    <a:pt x="325" y="228"/>
                  </a:lnTo>
                  <a:lnTo>
                    <a:pt x="330" y="212"/>
                  </a:lnTo>
                  <a:lnTo>
                    <a:pt x="333" y="204"/>
                  </a:lnTo>
                  <a:lnTo>
                    <a:pt x="335" y="196"/>
                  </a:lnTo>
                  <a:lnTo>
                    <a:pt x="336" y="188"/>
                  </a:lnTo>
                  <a:lnTo>
                    <a:pt x="336" y="180"/>
                  </a:lnTo>
                  <a:lnTo>
                    <a:pt x="338" y="172"/>
                  </a:lnTo>
                  <a:lnTo>
                    <a:pt x="338" y="164"/>
                  </a:lnTo>
                  <a:lnTo>
                    <a:pt x="338" y="155"/>
                  </a:lnTo>
                  <a:lnTo>
                    <a:pt x="336" y="147"/>
                  </a:lnTo>
                  <a:lnTo>
                    <a:pt x="336" y="139"/>
                  </a:lnTo>
                  <a:lnTo>
                    <a:pt x="335" y="131"/>
                  </a:lnTo>
                  <a:lnTo>
                    <a:pt x="333" y="123"/>
                  </a:lnTo>
                  <a:lnTo>
                    <a:pt x="330" y="115"/>
                  </a:lnTo>
                  <a:lnTo>
                    <a:pt x="325" y="100"/>
                  </a:lnTo>
                  <a:lnTo>
                    <a:pt x="317" y="86"/>
                  </a:lnTo>
                  <a:lnTo>
                    <a:pt x="309" y="72"/>
                  </a:lnTo>
                  <a:lnTo>
                    <a:pt x="300" y="59"/>
                  </a:lnTo>
                  <a:lnTo>
                    <a:pt x="288" y="48"/>
                  </a:lnTo>
                  <a:lnTo>
                    <a:pt x="277" y="36"/>
                  </a:lnTo>
                  <a:lnTo>
                    <a:pt x="263" y="27"/>
                  </a:lnTo>
                  <a:lnTo>
                    <a:pt x="250" y="19"/>
                  </a:lnTo>
                  <a:lnTo>
                    <a:pt x="234" y="12"/>
                  </a:lnTo>
                  <a:lnTo>
                    <a:pt x="220" y="6"/>
                  </a:lnTo>
                  <a:lnTo>
                    <a:pt x="204" y="3"/>
                  </a:lnTo>
                  <a:lnTo>
                    <a:pt x="194" y="1"/>
                  </a:lnTo>
                  <a:lnTo>
                    <a:pt x="186" y="0"/>
                  </a:lnTo>
                  <a:lnTo>
                    <a:pt x="178" y="0"/>
                  </a:lnTo>
                  <a:lnTo>
                    <a:pt x="168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45" name="Rectangle 94"/>
            <p:cNvSpPr>
              <a:spLocks noChangeArrowheads="1"/>
            </p:cNvSpPr>
            <p:nvPr/>
          </p:nvSpPr>
          <p:spPr bwMode="auto">
            <a:xfrm>
              <a:off x="2377" y="37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46" name="Rectangle 95"/>
            <p:cNvSpPr>
              <a:spLocks noChangeArrowheads="1"/>
            </p:cNvSpPr>
            <p:nvPr/>
          </p:nvSpPr>
          <p:spPr bwMode="auto">
            <a:xfrm>
              <a:off x="2435" y="439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447" name="Freeform 96"/>
            <p:cNvSpPr>
              <a:spLocks/>
            </p:cNvSpPr>
            <p:nvPr/>
          </p:nvSpPr>
          <p:spPr bwMode="auto">
            <a:xfrm>
              <a:off x="2752" y="677"/>
              <a:ext cx="170" cy="165"/>
            </a:xfrm>
            <a:custGeom>
              <a:avLst/>
              <a:gdLst>
                <a:gd name="T0" fmla="*/ 6 w 339"/>
                <a:gd name="T1" fmla="*/ 0 h 329"/>
                <a:gd name="T2" fmla="*/ 5 w 339"/>
                <a:gd name="T3" fmla="*/ 1 h 329"/>
                <a:gd name="T4" fmla="*/ 4 w 339"/>
                <a:gd name="T5" fmla="*/ 1 h 329"/>
                <a:gd name="T6" fmla="*/ 3 w 339"/>
                <a:gd name="T7" fmla="*/ 1 h 329"/>
                <a:gd name="T8" fmla="*/ 2 w 339"/>
                <a:gd name="T9" fmla="*/ 2 h 329"/>
                <a:gd name="T10" fmla="*/ 2 w 339"/>
                <a:gd name="T11" fmla="*/ 2 h 329"/>
                <a:gd name="T12" fmla="*/ 1 w 339"/>
                <a:gd name="T13" fmla="*/ 3 h 329"/>
                <a:gd name="T14" fmla="*/ 1 w 339"/>
                <a:gd name="T15" fmla="*/ 4 h 329"/>
                <a:gd name="T16" fmla="*/ 1 w 339"/>
                <a:gd name="T17" fmla="*/ 5 h 329"/>
                <a:gd name="T18" fmla="*/ 1 w 339"/>
                <a:gd name="T19" fmla="*/ 5 h 329"/>
                <a:gd name="T20" fmla="*/ 0 w 339"/>
                <a:gd name="T21" fmla="*/ 6 h 329"/>
                <a:gd name="T22" fmla="*/ 1 w 339"/>
                <a:gd name="T23" fmla="*/ 6 h 329"/>
                <a:gd name="T24" fmla="*/ 1 w 339"/>
                <a:gd name="T25" fmla="*/ 7 h 329"/>
                <a:gd name="T26" fmla="*/ 1 w 339"/>
                <a:gd name="T27" fmla="*/ 7 h 329"/>
                <a:gd name="T28" fmla="*/ 1 w 339"/>
                <a:gd name="T29" fmla="*/ 8 h 329"/>
                <a:gd name="T30" fmla="*/ 2 w 339"/>
                <a:gd name="T31" fmla="*/ 9 h 329"/>
                <a:gd name="T32" fmla="*/ 2 w 339"/>
                <a:gd name="T33" fmla="*/ 10 h 329"/>
                <a:gd name="T34" fmla="*/ 3 w 339"/>
                <a:gd name="T35" fmla="*/ 10 h 329"/>
                <a:gd name="T36" fmla="*/ 4 w 339"/>
                <a:gd name="T37" fmla="*/ 11 h 329"/>
                <a:gd name="T38" fmla="*/ 5 w 339"/>
                <a:gd name="T39" fmla="*/ 11 h 329"/>
                <a:gd name="T40" fmla="*/ 6 w 339"/>
                <a:gd name="T41" fmla="*/ 11 h 329"/>
                <a:gd name="T42" fmla="*/ 6 w 339"/>
                <a:gd name="T43" fmla="*/ 11 h 329"/>
                <a:gd name="T44" fmla="*/ 7 w 339"/>
                <a:gd name="T45" fmla="*/ 11 h 329"/>
                <a:gd name="T46" fmla="*/ 7 w 339"/>
                <a:gd name="T47" fmla="*/ 11 h 329"/>
                <a:gd name="T48" fmla="*/ 8 w 339"/>
                <a:gd name="T49" fmla="*/ 10 h 329"/>
                <a:gd name="T50" fmla="*/ 9 w 339"/>
                <a:gd name="T51" fmla="*/ 10 h 329"/>
                <a:gd name="T52" fmla="*/ 10 w 339"/>
                <a:gd name="T53" fmla="*/ 9 h 329"/>
                <a:gd name="T54" fmla="*/ 10 w 339"/>
                <a:gd name="T55" fmla="*/ 8 h 329"/>
                <a:gd name="T56" fmla="*/ 11 w 339"/>
                <a:gd name="T57" fmla="*/ 7 h 329"/>
                <a:gd name="T58" fmla="*/ 11 w 339"/>
                <a:gd name="T59" fmla="*/ 7 h 329"/>
                <a:gd name="T60" fmla="*/ 11 w 339"/>
                <a:gd name="T61" fmla="*/ 6 h 329"/>
                <a:gd name="T62" fmla="*/ 11 w 339"/>
                <a:gd name="T63" fmla="*/ 6 h 329"/>
                <a:gd name="T64" fmla="*/ 11 w 339"/>
                <a:gd name="T65" fmla="*/ 5 h 329"/>
                <a:gd name="T66" fmla="*/ 11 w 339"/>
                <a:gd name="T67" fmla="*/ 5 h 329"/>
                <a:gd name="T68" fmla="*/ 11 w 339"/>
                <a:gd name="T69" fmla="*/ 4 h 329"/>
                <a:gd name="T70" fmla="*/ 10 w 339"/>
                <a:gd name="T71" fmla="*/ 3 h 329"/>
                <a:gd name="T72" fmla="*/ 10 w 339"/>
                <a:gd name="T73" fmla="*/ 2 h 329"/>
                <a:gd name="T74" fmla="*/ 9 w 339"/>
                <a:gd name="T75" fmla="*/ 2 h 329"/>
                <a:gd name="T76" fmla="*/ 8 w 339"/>
                <a:gd name="T77" fmla="*/ 1 h 329"/>
                <a:gd name="T78" fmla="*/ 7 w 339"/>
                <a:gd name="T79" fmla="*/ 1 h 329"/>
                <a:gd name="T80" fmla="*/ 7 w 339"/>
                <a:gd name="T81" fmla="*/ 1 h 329"/>
                <a:gd name="T82" fmla="*/ 6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8"/>
                  </a:lnTo>
                  <a:lnTo>
                    <a:pt x="38" y="59"/>
                  </a:lnTo>
                  <a:lnTo>
                    <a:pt x="29" y="72"/>
                  </a:lnTo>
                  <a:lnTo>
                    <a:pt x="21" y="86"/>
                  </a:lnTo>
                  <a:lnTo>
                    <a:pt x="14" y="100"/>
                  </a:lnTo>
                  <a:lnTo>
                    <a:pt x="8" y="115"/>
                  </a:lnTo>
                  <a:lnTo>
                    <a:pt x="6" y="123"/>
                  </a:lnTo>
                  <a:lnTo>
                    <a:pt x="3" y="131"/>
                  </a:lnTo>
                  <a:lnTo>
                    <a:pt x="2" y="139"/>
                  </a:lnTo>
                  <a:lnTo>
                    <a:pt x="2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2" y="180"/>
                  </a:lnTo>
                  <a:lnTo>
                    <a:pt x="2" y="190"/>
                  </a:lnTo>
                  <a:lnTo>
                    <a:pt x="3" y="198"/>
                  </a:lnTo>
                  <a:lnTo>
                    <a:pt x="6" y="206"/>
                  </a:lnTo>
                  <a:lnTo>
                    <a:pt x="8" y="214"/>
                  </a:lnTo>
                  <a:lnTo>
                    <a:pt x="14" y="228"/>
                  </a:lnTo>
                  <a:lnTo>
                    <a:pt x="21" y="243"/>
                  </a:lnTo>
                  <a:lnTo>
                    <a:pt x="29" y="257"/>
                  </a:lnTo>
                  <a:lnTo>
                    <a:pt x="38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10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8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19" y="321"/>
                  </a:lnTo>
                  <a:lnTo>
                    <a:pt x="235" y="316"/>
                  </a:lnTo>
                  <a:lnTo>
                    <a:pt x="249" y="310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89" y="281"/>
                  </a:lnTo>
                  <a:lnTo>
                    <a:pt x="301" y="268"/>
                  </a:lnTo>
                  <a:lnTo>
                    <a:pt x="310" y="257"/>
                  </a:lnTo>
                  <a:lnTo>
                    <a:pt x="318" y="243"/>
                  </a:lnTo>
                  <a:lnTo>
                    <a:pt x="325" y="228"/>
                  </a:lnTo>
                  <a:lnTo>
                    <a:pt x="331" y="214"/>
                  </a:lnTo>
                  <a:lnTo>
                    <a:pt x="333" y="206"/>
                  </a:lnTo>
                  <a:lnTo>
                    <a:pt x="336" y="198"/>
                  </a:lnTo>
                  <a:lnTo>
                    <a:pt x="337" y="190"/>
                  </a:lnTo>
                  <a:lnTo>
                    <a:pt x="337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6"/>
                  </a:lnTo>
                  <a:lnTo>
                    <a:pt x="337" y="147"/>
                  </a:lnTo>
                  <a:lnTo>
                    <a:pt x="337" y="139"/>
                  </a:lnTo>
                  <a:lnTo>
                    <a:pt x="336" y="131"/>
                  </a:lnTo>
                  <a:lnTo>
                    <a:pt x="333" y="123"/>
                  </a:lnTo>
                  <a:lnTo>
                    <a:pt x="331" y="115"/>
                  </a:lnTo>
                  <a:lnTo>
                    <a:pt x="325" y="100"/>
                  </a:lnTo>
                  <a:lnTo>
                    <a:pt x="318" y="86"/>
                  </a:lnTo>
                  <a:lnTo>
                    <a:pt x="310" y="72"/>
                  </a:lnTo>
                  <a:lnTo>
                    <a:pt x="301" y="59"/>
                  </a:lnTo>
                  <a:lnTo>
                    <a:pt x="289" y="48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49" y="19"/>
                  </a:lnTo>
                  <a:lnTo>
                    <a:pt x="235" y="12"/>
                  </a:lnTo>
                  <a:lnTo>
                    <a:pt x="219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8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48" name="Rectangle 97"/>
            <p:cNvSpPr>
              <a:spLocks noChangeArrowheads="1"/>
            </p:cNvSpPr>
            <p:nvPr/>
          </p:nvSpPr>
          <p:spPr bwMode="auto">
            <a:xfrm>
              <a:off x="2812" y="681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449" name="Freeform 98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0" name="Freeform 99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1" name="Rectangle 100"/>
            <p:cNvSpPr>
              <a:spLocks noChangeArrowheads="1"/>
            </p:cNvSpPr>
            <p:nvPr/>
          </p:nvSpPr>
          <p:spPr bwMode="auto">
            <a:xfrm>
              <a:off x="1986" y="72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52" name="Rectangle 101"/>
            <p:cNvSpPr>
              <a:spLocks noChangeArrowheads="1"/>
            </p:cNvSpPr>
            <p:nvPr/>
          </p:nvSpPr>
          <p:spPr bwMode="auto">
            <a:xfrm>
              <a:off x="2050" y="78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453" name="Freeform 102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4" name="Freeform 103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5" name="Rectangle 104"/>
            <p:cNvSpPr>
              <a:spLocks noChangeArrowheads="1"/>
            </p:cNvSpPr>
            <p:nvPr/>
          </p:nvSpPr>
          <p:spPr bwMode="auto">
            <a:xfrm>
              <a:off x="2505" y="104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56" name="Rectangle 105"/>
            <p:cNvSpPr>
              <a:spLocks noChangeArrowheads="1"/>
            </p:cNvSpPr>
            <p:nvPr/>
          </p:nvSpPr>
          <p:spPr bwMode="auto">
            <a:xfrm>
              <a:off x="2570" y="110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457" name="Line 106"/>
            <p:cNvSpPr>
              <a:spLocks noChangeShapeType="1"/>
            </p:cNvSpPr>
            <p:nvPr/>
          </p:nvSpPr>
          <p:spPr bwMode="auto">
            <a:xfrm flipH="1">
              <a:off x="2054" y="507"/>
              <a:ext cx="283" cy="13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8" name="Line 107"/>
            <p:cNvSpPr>
              <a:spLocks noChangeShapeType="1"/>
            </p:cNvSpPr>
            <p:nvPr/>
          </p:nvSpPr>
          <p:spPr bwMode="auto">
            <a:xfrm flipH="1">
              <a:off x="2578" y="814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59" name="Freeform 108"/>
            <p:cNvSpPr>
              <a:spLocks/>
            </p:cNvSpPr>
            <p:nvPr/>
          </p:nvSpPr>
          <p:spPr bwMode="auto">
            <a:xfrm>
              <a:off x="3083" y="926"/>
              <a:ext cx="169" cy="166"/>
            </a:xfrm>
            <a:custGeom>
              <a:avLst/>
              <a:gdLst>
                <a:gd name="T0" fmla="*/ 5 w 339"/>
                <a:gd name="T1" fmla="*/ 0 h 331"/>
                <a:gd name="T2" fmla="*/ 4 w 339"/>
                <a:gd name="T3" fmla="*/ 1 h 331"/>
                <a:gd name="T4" fmla="*/ 3 w 339"/>
                <a:gd name="T5" fmla="*/ 1 h 331"/>
                <a:gd name="T6" fmla="*/ 2 w 339"/>
                <a:gd name="T7" fmla="*/ 1 h 331"/>
                <a:gd name="T8" fmla="*/ 1 w 339"/>
                <a:gd name="T9" fmla="*/ 2 h 331"/>
                <a:gd name="T10" fmla="*/ 1 w 339"/>
                <a:gd name="T11" fmla="*/ 2 h 331"/>
                <a:gd name="T12" fmla="*/ 0 w 339"/>
                <a:gd name="T13" fmla="*/ 3 h 331"/>
                <a:gd name="T14" fmla="*/ 0 w 339"/>
                <a:gd name="T15" fmla="*/ 4 h 331"/>
                <a:gd name="T16" fmla="*/ 0 w 339"/>
                <a:gd name="T17" fmla="*/ 5 h 331"/>
                <a:gd name="T18" fmla="*/ 0 w 339"/>
                <a:gd name="T19" fmla="*/ 5 h 331"/>
                <a:gd name="T20" fmla="*/ 0 w 339"/>
                <a:gd name="T21" fmla="*/ 6 h 331"/>
                <a:gd name="T22" fmla="*/ 0 w 339"/>
                <a:gd name="T23" fmla="*/ 6 h 331"/>
                <a:gd name="T24" fmla="*/ 0 w 339"/>
                <a:gd name="T25" fmla="*/ 7 h 331"/>
                <a:gd name="T26" fmla="*/ 0 w 339"/>
                <a:gd name="T27" fmla="*/ 7 h 331"/>
                <a:gd name="T28" fmla="*/ 0 w 339"/>
                <a:gd name="T29" fmla="*/ 8 h 331"/>
                <a:gd name="T30" fmla="*/ 1 w 339"/>
                <a:gd name="T31" fmla="*/ 9 h 331"/>
                <a:gd name="T32" fmla="*/ 1 w 339"/>
                <a:gd name="T33" fmla="*/ 10 h 331"/>
                <a:gd name="T34" fmla="*/ 2 w 339"/>
                <a:gd name="T35" fmla="*/ 10 h 331"/>
                <a:gd name="T36" fmla="*/ 3 w 339"/>
                <a:gd name="T37" fmla="*/ 11 h 331"/>
                <a:gd name="T38" fmla="*/ 4 w 339"/>
                <a:gd name="T39" fmla="*/ 11 h 331"/>
                <a:gd name="T40" fmla="*/ 5 w 339"/>
                <a:gd name="T41" fmla="*/ 11 h 331"/>
                <a:gd name="T42" fmla="*/ 5 w 339"/>
                <a:gd name="T43" fmla="*/ 11 h 331"/>
                <a:gd name="T44" fmla="*/ 6 w 339"/>
                <a:gd name="T45" fmla="*/ 11 h 331"/>
                <a:gd name="T46" fmla="*/ 6 w 339"/>
                <a:gd name="T47" fmla="*/ 11 h 331"/>
                <a:gd name="T48" fmla="*/ 7 w 339"/>
                <a:gd name="T49" fmla="*/ 10 h 331"/>
                <a:gd name="T50" fmla="*/ 8 w 339"/>
                <a:gd name="T51" fmla="*/ 10 h 331"/>
                <a:gd name="T52" fmla="*/ 9 w 339"/>
                <a:gd name="T53" fmla="*/ 9 h 331"/>
                <a:gd name="T54" fmla="*/ 9 w 339"/>
                <a:gd name="T55" fmla="*/ 8 h 331"/>
                <a:gd name="T56" fmla="*/ 10 w 339"/>
                <a:gd name="T57" fmla="*/ 7 h 331"/>
                <a:gd name="T58" fmla="*/ 10 w 339"/>
                <a:gd name="T59" fmla="*/ 7 h 331"/>
                <a:gd name="T60" fmla="*/ 10 w 339"/>
                <a:gd name="T61" fmla="*/ 6 h 331"/>
                <a:gd name="T62" fmla="*/ 10 w 339"/>
                <a:gd name="T63" fmla="*/ 6 h 331"/>
                <a:gd name="T64" fmla="*/ 10 w 339"/>
                <a:gd name="T65" fmla="*/ 5 h 331"/>
                <a:gd name="T66" fmla="*/ 10 w 339"/>
                <a:gd name="T67" fmla="*/ 5 h 331"/>
                <a:gd name="T68" fmla="*/ 10 w 339"/>
                <a:gd name="T69" fmla="*/ 4 h 331"/>
                <a:gd name="T70" fmla="*/ 9 w 339"/>
                <a:gd name="T71" fmla="*/ 3 h 331"/>
                <a:gd name="T72" fmla="*/ 9 w 339"/>
                <a:gd name="T73" fmla="*/ 2 h 331"/>
                <a:gd name="T74" fmla="*/ 8 w 339"/>
                <a:gd name="T75" fmla="*/ 2 h 331"/>
                <a:gd name="T76" fmla="*/ 7 w 339"/>
                <a:gd name="T77" fmla="*/ 1 h 331"/>
                <a:gd name="T78" fmla="*/ 6 w 339"/>
                <a:gd name="T79" fmla="*/ 1 h 331"/>
                <a:gd name="T80" fmla="*/ 6 w 339"/>
                <a:gd name="T81" fmla="*/ 1 h 331"/>
                <a:gd name="T82" fmla="*/ 5 w 339"/>
                <a:gd name="T83" fmla="*/ 0 h 3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1"/>
                <a:gd name="T128" fmla="*/ 339 w 339"/>
                <a:gd name="T129" fmla="*/ 331 h 3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1">
                  <a:moveTo>
                    <a:pt x="169" y="0"/>
                  </a:moveTo>
                  <a:lnTo>
                    <a:pt x="161" y="0"/>
                  </a:lnTo>
                  <a:lnTo>
                    <a:pt x="152" y="1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18" y="8"/>
                  </a:lnTo>
                  <a:lnTo>
                    <a:pt x="104" y="12"/>
                  </a:lnTo>
                  <a:lnTo>
                    <a:pt x="88" y="20"/>
                  </a:lnTo>
                  <a:lnTo>
                    <a:pt x="75" y="28"/>
                  </a:lnTo>
                  <a:lnTo>
                    <a:pt x="62" y="38"/>
                  </a:lnTo>
                  <a:lnTo>
                    <a:pt x="49" y="49"/>
                  </a:lnTo>
                  <a:lnTo>
                    <a:pt x="38" y="60"/>
                  </a:lnTo>
                  <a:lnTo>
                    <a:pt x="28" y="73"/>
                  </a:lnTo>
                  <a:lnTo>
                    <a:pt x="20" y="86"/>
                  </a:lnTo>
                  <a:lnTo>
                    <a:pt x="12" y="100"/>
                  </a:lnTo>
                  <a:lnTo>
                    <a:pt x="8" y="116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6"/>
                  </a:lnTo>
                  <a:lnTo>
                    <a:pt x="0" y="174"/>
                  </a:lnTo>
                  <a:lnTo>
                    <a:pt x="0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30"/>
                  </a:lnTo>
                  <a:lnTo>
                    <a:pt x="20" y="244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2"/>
                  </a:lnTo>
                  <a:lnTo>
                    <a:pt x="75" y="302"/>
                  </a:lnTo>
                  <a:lnTo>
                    <a:pt x="88" y="310"/>
                  </a:lnTo>
                  <a:lnTo>
                    <a:pt x="104" y="316"/>
                  </a:lnTo>
                  <a:lnTo>
                    <a:pt x="118" y="323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31"/>
                  </a:lnTo>
                  <a:lnTo>
                    <a:pt x="177" y="329"/>
                  </a:lnTo>
                  <a:lnTo>
                    <a:pt x="187" y="329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0" y="323"/>
                  </a:lnTo>
                  <a:lnTo>
                    <a:pt x="235" y="316"/>
                  </a:lnTo>
                  <a:lnTo>
                    <a:pt x="251" y="310"/>
                  </a:lnTo>
                  <a:lnTo>
                    <a:pt x="263" y="302"/>
                  </a:lnTo>
                  <a:lnTo>
                    <a:pt x="278" y="292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8" y="244"/>
                  </a:lnTo>
                  <a:lnTo>
                    <a:pt x="326" y="230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39" y="166"/>
                  </a:lnTo>
                  <a:lnTo>
                    <a:pt x="339" y="156"/>
                  </a:lnTo>
                  <a:lnTo>
                    <a:pt x="339" y="148"/>
                  </a:lnTo>
                  <a:lnTo>
                    <a:pt x="337" y="140"/>
                  </a:lnTo>
                  <a:lnTo>
                    <a:pt x="335" y="132"/>
                  </a:lnTo>
                  <a:lnTo>
                    <a:pt x="334" y="124"/>
                  </a:lnTo>
                  <a:lnTo>
                    <a:pt x="331" y="116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3"/>
                  </a:lnTo>
                  <a:lnTo>
                    <a:pt x="300" y="60"/>
                  </a:lnTo>
                  <a:lnTo>
                    <a:pt x="289" y="49"/>
                  </a:lnTo>
                  <a:lnTo>
                    <a:pt x="278" y="38"/>
                  </a:lnTo>
                  <a:lnTo>
                    <a:pt x="263" y="28"/>
                  </a:lnTo>
                  <a:lnTo>
                    <a:pt x="251" y="20"/>
                  </a:lnTo>
                  <a:lnTo>
                    <a:pt x="235" y="12"/>
                  </a:lnTo>
                  <a:lnTo>
                    <a:pt x="220" y="8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1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0" name="Rectangle 109"/>
            <p:cNvSpPr>
              <a:spLocks noChangeArrowheads="1"/>
            </p:cNvSpPr>
            <p:nvPr/>
          </p:nvSpPr>
          <p:spPr bwMode="auto">
            <a:xfrm>
              <a:off x="3117" y="931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61" name="Rectangle 110"/>
            <p:cNvSpPr>
              <a:spLocks noChangeArrowheads="1"/>
            </p:cNvSpPr>
            <p:nvPr/>
          </p:nvSpPr>
          <p:spPr bwMode="auto">
            <a:xfrm>
              <a:off x="3175" y="992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462" name="Line 111"/>
            <p:cNvSpPr>
              <a:spLocks noChangeShapeType="1"/>
            </p:cNvSpPr>
            <p:nvPr/>
          </p:nvSpPr>
          <p:spPr bwMode="auto">
            <a:xfrm flipH="1">
              <a:off x="2916" y="1096"/>
              <a:ext cx="179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3" name="Freeform 112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4" name="Freeform 113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5" name="Rectangle 114"/>
            <p:cNvSpPr>
              <a:spLocks noChangeArrowheads="1"/>
            </p:cNvSpPr>
            <p:nvPr/>
          </p:nvSpPr>
          <p:spPr bwMode="auto">
            <a:xfrm>
              <a:off x="2865" y="128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66" name="Rectangle 115"/>
            <p:cNvSpPr>
              <a:spLocks noChangeArrowheads="1"/>
            </p:cNvSpPr>
            <p:nvPr/>
          </p:nvSpPr>
          <p:spPr bwMode="auto">
            <a:xfrm>
              <a:off x="2930" y="134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467" name="Freeform 116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8" name="Freeform 117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69" name="Rectangle 118"/>
            <p:cNvSpPr>
              <a:spLocks noChangeArrowheads="1"/>
            </p:cNvSpPr>
            <p:nvPr/>
          </p:nvSpPr>
          <p:spPr bwMode="auto">
            <a:xfrm>
              <a:off x="3410" y="126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70" name="Rectangle 119"/>
            <p:cNvSpPr>
              <a:spLocks noChangeArrowheads="1"/>
            </p:cNvSpPr>
            <p:nvPr/>
          </p:nvSpPr>
          <p:spPr bwMode="auto">
            <a:xfrm>
              <a:off x="3475" y="1319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471" name="Line 120"/>
            <p:cNvSpPr>
              <a:spLocks noChangeShapeType="1"/>
            </p:cNvSpPr>
            <p:nvPr/>
          </p:nvSpPr>
          <p:spPr bwMode="auto">
            <a:xfrm>
              <a:off x="2495" y="498"/>
              <a:ext cx="278" cy="18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2" name="Line 121"/>
            <p:cNvSpPr>
              <a:spLocks noChangeShapeType="1"/>
            </p:cNvSpPr>
            <p:nvPr/>
          </p:nvSpPr>
          <p:spPr bwMode="auto">
            <a:xfrm>
              <a:off x="2931" y="806"/>
              <a:ext cx="171" cy="1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3" name="Line 122"/>
            <p:cNvSpPr>
              <a:spLocks noChangeShapeType="1"/>
            </p:cNvSpPr>
            <p:nvPr/>
          </p:nvSpPr>
          <p:spPr bwMode="auto">
            <a:xfrm>
              <a:off x="3254" y="1046"/>
              <a:ext cx="195" cy="14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4" name="Freeform 123"/>
            <p:cNvSpPr>
              <a:spLocks/>
            </p:cNvSpPr>
            <p:nvPr/>
          </p:nvSpPr>
          <p:spPr bwMode="auto">
            <a:xfrm>
              <a:off x="1459" y="734"/>
              <a:ext cx="359" cy="80"/>
            </a:xfrm>
            <a:custGeom>
              <a:avLst/>
              <a:gdLst>
                <a:gd name="T0" fmla="*/ 16 w 720"/>
                <a:gd name="T1" fmla="*/ 0 h 160"/>
                <a:gd name="T2" fmla="*/ 16 w 720"/>
                <a:gd name="T3" fmla="*/ 1 h 160"/>
                <a:gd name="T4" fmla="*/ 0 w 720"/>
                <a:gd name="T5" fmla="*/ 1 h 160"/>
                <a:gd name="T6" fmla="*/ 0 w 720"/>
                <a:gd name="T7" fmla="*/ 3 h 160"/>
                <a:gd name="T8" fmla="*/ 16 w 720"/>
                <a:gd name="T9" fmla="*/ 3 h 160"/>
                <a:gd name="T10" fmla="*/ 16 w 720"/>
                <a:gd name="T11" fmla="*/ 5 h 160"/>
                <a:gd name="T12" fmla="*/ 22 w 720"/>
                <a:gd name="T13" fmla="*/ 3 h 160"/>
                <a:gd name="T14" fmla="*/ 16 w 720"/>
                <a:gd name="T15" fmla="*/ 0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0"/>
                <a:gd name="T25" fmla="*/ 0 h 160"/>
                <a:gd name="T26" fmla="*/ 720 w 720"/>
                <a:gd name="T27" fmla="*/ 160 h 1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0" h="160">
                  <a:moveTo>
                    <a:pt x="539" y="0"/>
                  </a:moveTo>
                  <a:lnTo>
                    <a:pt x="539" y="40"/>
                  </a:lnTo>
                  <a:lnTo>
                    <a:pt x="0" y="40"/>
                  </a:lnTo>
                  <a:lnTo>
                    <a:pt x="0" y="120"/>
                  </a:lnTo>
                  <a:lnTo>
                    <a:pt x="539" y="120"/>
                  </a:lnTo>
                  <a:lnTo>
                    <a:pt x="539" y="160"/>
                  </a:lnTo>
                  <a:lnTo>
                    <a:pt x="720" y="80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5" name="Freeform 124"/>
            <p:cNvSpPr>
              <a:spLocks/>
            </p:cNvSpPr>
            <p:nvPr/>
          </p:nvSpPr>
          <p:spPr bwMode="auto">
            <a:xfrm>
              <a:off x="1459" y="734"/>
              <a:ext cx="359" cy="80"/>
            </a:xfrm>
            <a:custGeom>
              <a:avLst/>
              <a:gdLst>
                <a:gd name="T0" fmla="*/ 16 w 720"/>
                <a:gd name="T1" fmla="*/ 0 h 160"/>
                <a:gd name="T2" fmla="*/ 16 w 720"/>
                <a:gd name="T3" fmla="*/ 1 h 160"/>
                <a:gd name="T4" fmla="*/ 0 w 720"/>
                <a:gd name="T5" fmla="*/ 1 h 160"/>
                <a:gd name="T6" fmla="*/ 0 w 720"/>
                <a:gd name="T7" fmla="*/ 3 h 160"/>
                <a:gd name="T8" fmla="*/ 16 w 720"/>
                <a:gd name="T9" fmla="*/ 3 h 160"/>
                <a:gd name="T10" fmla="*/ 16 w 720"/>
                <a:gd name="T11" fmla="*/ 5 h 160"/>
                <a:gd name="T12" fmla="*/ 22 w 720"/>
                <a:gd name="T13" fmla="*/ 3 h 160"/>
                <a:gd name="T14" fmla="*/ 16 w 720"/>
                <a:gd name="T15" fmla="*/ 0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0"/>
                <a:gd name="T25" fmla="*/ 0 h 160"/>
                <a:gd name="T26" fmla="*/ 720 w 720"/>
                <a:gd name="T27" fmla="*/ 160 h 1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0" h="160">
                  <a:moveTo>
                    <a:pt x="539" y="0"/>
                  </a:moveTo>
                  <a:lnTo>
                    <a:pt x="539" y="40"/>
                  </a:lnTo>
                  <a:lnTo>
                    <a:pt x="0" y="40"/>
                  </a:lnTo>
                  <a:lnTo>
                    <a:pt x="0" y="120"/>
                  </a:lnTo>
                  <a:lnTo>
                    <a:pt x="539" y="120"/>
                  </a:lnTo>
                  <a:lnTo>
                    <a:pt x="539" y="160"/>
                  </a:lnTo>
                  <a:lnTo>
                    <a:pt x="720" y="80"/>
                  </a:lnTo>
                  <a:lnTo>
                    <a:pt x="539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6" name="Freeform 125"/>
            <p:cNvSpPr>
              <a:spLocks/>
            </p:cNvSpPr>
            <p:nvPr/>
          </p:nvSpPr>
          <p:spPr bwMode="auto">
            <a:xfrm>
              <a:off x="369" y="724"/>
              <a:ext cx="171" cy="165"/>
            </a:xfrm>
            <a:custGeom>
              <a:avLst/>
              <a:gdLst>
                <a:gd name="T0" fmla="*/ 6 w 340"/>
                <a:gd name="T1" fmla="*/ 0 h 329"/>
                <a:gd name="T2" fmla="*/ 5 w 340"/>
                <a:gd name="T3" fmla="*/ 1 h 329"/>
                <a:gd name="T4" fmla="*/ 4 w 340"/>
                <a:gd name="T5" fmla="*/ 1 h 329"/>
                <a:gd name="T6" fmla="*/ 3 w 340"/>
                <a:gd name="T7" fmla="*/ 1 h 329"/>
                <a:gd name="T8" fmla="*/ 2 w 340"/>
                <a:gd name="T9" fmla="*/ 2 h 329"/>
                <a:gd name="T10" fmla="*/ 2 w 340"/>
                <a:gd name="T11" fmla="*/ 2 h 329"/>
                <a:gd name="T12" fmla="*/ 1 w 340"/>
                <a:gd name="T13" fmla="*/ 3 h 329"/>
                <a:gd name="T14" fmla="*/ 1 w 340"/>
                <a:gd name="T15" fmla="*/ 4 h 329"/>
                <a:gd name="T16" fmla="*/ 1 w 340"/>
                <a:gd name="T17" fmla="*/ 5 h 329"/>
                <a:gd name="T18" fmla="*/ 1 w 340"/>
                <a:gd name="T19" fmla="*/ 5 h 329"/>
                <a:gd name="T20" fmla="*/ 0 w 340"/>
                <a:gd name="T21" fmla="*/ 6 h 329"/>
                <a:gd name="T22" fmla="*/ 1 w 340"/>
                <a:gd name="T23" fmla="*/ 6 h 329"/>
                <a:gd name="T24" fmla="*/ 1 w 340"/>
                <a:gd name="T25" fmla="*/ 7 h 329"/>
                <a:gd name="T26" fmla="*/ 1 w 340"/>
                <a:gd name="T27" fmla="*/ 7 h 329"/>
                <a:gd name="T28" fmla="*/ 1 w 340"/>
                <a:gd name="T29" fmla="*/ 8 h 329"/>
                <a:gd name="T30" fmla="*/ 2 w 340"/>
                <a:gd name="T31" fmla="*/ 9 h 329"/>
                <a:gd name="T32" fmla="*/ 2 w 340"/>
                <a:gd name="T33" fmla="*/ 10 h 329"/>
                <a:gd name="T34" fmla="*/ 3 w 340"/>
                <a:gd name="T35" fmla="*/ 10 h 329"/>
                <a:gd name="T36" fmla="*/ 4 w 340"/>
                <a:gd name="T37" fmla="*/ 11 h 329"/>
                <a:gd name="T38" fmla="*/ 5 w 340"/>
                <a:gd name="T39" fmla="*/ 11 h 329"/>
                <a:gd name="T40" fmla="*/ 6 w 340"/>
                <a:gd name="T41" fmla="*/ 11 h 329"/>
                <a:gd name="T42" fmla="*/ 6 w 340"/>
                <a:gd name="T43" fmla="*/ 11 h 329"/>
                <a:gd name="T44" fmla="*/ 7 w 340"/>
                <a:gd name="T45" fmla="*/ 11 h 329"/>
                <a:gd name="T46" fmla="*/ 7 w 340"/>
                <a:gd name="T47" fmla="*/ 11 h 329"/>
                <a:gd name="T48" fmla="*/ 8 w 340"/>
                <a:gd name="T49" fmla="*/ 10 h 329"/>
                <a:gd name="T50" fmla="*/ 9 w 340"/>
                <a:gd name="T51" fmla="*/ 10 h 329"/>
                <a:gd name="T52" fmla="*/ 10 w 340"/>
                <a:gd name="T53" fmla="*/ 9 h 329"/>
                <a:gd name="T54" fmla="*/ 10 w 340"/>
                <a:gd name="T55" fmla="*/ 8 h 329"/>
                <a:gd name="T56" fmla="*/ 11 w 340"/>
                <a:gd name="T57" fmla="*/ 7 h 329"/>
                <a:gd name="T58" fmla="*/ 11 w 340"/>
                <a:gd name="T59" fmla="*/ 7 h 329"/>
                <a:gd name="T60" fmla="*/ 11 w 340"/>
                <a:gd name="T61" fmla="*/ 6 h 329"/>
                <a:gd name="T62" fmla="*/ 11 w 340"/>
                <a:gd name="T63" fmla="*/ 6 h 329"/>
                <a:gd name="T64" fmla="*/ 11 w 340"/>
                <a:gd name="T65" fmla="*/ 5 h 329"/>
                <a:gd name="T66" fmla="*/ 11 w 340"/>
                <a:gd name="T67" fmla="*/ 5 h 329"/>
                <a:gd name="T68" fmla="*/ 11 w 340"/>
                <a:gd name="T69" fmla="*/ 4 h 329"/>
                <a:gd name="T70" fmla="*/ 10 w 340"/>
                <a:gd name="T71" fmla="*/ 3 h 329"/>
                <a:gd name="T72" fmla="*/ 10 w 340"/>
                <a:gd name="T73" fmla="*/ 2 h 329"/>
                <a:gd name="T74" fmla="*/ 9 w 340"/>
                <a:gd name="T75" fmla="*/ 2 h 329"/>
                <a:gd name="T76" fmla="*/ 8 w 340"/>
                <a:gd name="T77" fmla="*/ 1 h 329"/>
                <a:gd name="T78" fmla="*/ 7 w 340"/>
                <a:gd name="T79" fmla="*/ 1 h 329"/>
                <a:gd name="T80" fmla="*/ 7 w 340"/>
                <a:gd name="T81" fmla="*/ 1 h 329"/>
                <a:gd name="T82" fmla="*/ 6 w 340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40"/>
                <a:gd name="T127" fmla="*/ 0 h 329"/>
                <a:gd name="T128" fmla="*/ 340 w 340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40" h="329">
                  <a:moveTo>
                    <a:pt x="169" y="0"/>
                  </a:moveTo>
                  <a:lnTo>
                    <a:pt x="161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6" y="3"/>
                  </a:lnTo>
                  <a:lnTo>
                    <a:pt x="120" y="8"/>
                  </a:lnTo>
                  <a:lnTo>
                    <a:pt x="104" y="13"/>
                  </a:lnTo>
                  <a:lnTo>
                    <a:pt x="89" y="21"/>
                  </a:lnTo>
                  <a:lnTo>
                    <a:pt x="75" y="29"/>
                  </a:lnTo>
                  <a:lnTo>
                    <a:pt x="62" y="38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20" y="86"/>
                  </a:lnTo>
                  <a:lnTo>
                    <a:pt x="12" y="101"/>
                  </a:lnTo>
                  <a:lnTo>
                    <a:pt x="8" y="117"/>
                  </a:lnTo>
                  <a:lnTo>
                    <a:pt x="4" y="123"/>
                  </a:lnTo>
                  <a:lnTo>
                    <a:pt x="3" y="131"/>
                  </a:lnTo>
                  <a:lnTo>
                    <a:pt x="1" y="141"/>
                  </a:lnTo>
                  <a:lnTo>
                    <a:pt x="1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4"/>
                  </a:lnTo>
                  <a:lnTo>
                    <a:pt x="1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29"/>
                  </a:lnTo>
                  <a:lnTo>
                    <a:pt x="20" y="243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3"/>
                  </a:lnTo>
                  <a:lnTo>
                    <a:pt x="75" y="302"/>
                  </a:lnTo>
                  <a:lnTo>
                    <a:pt x="89" y="310"/>
                  </a:lnTo>
                  <a:lnTo>
                    <a:pt x="104" y="317"/>
                  </a:lnTo>
                  <a:lnTo>
                    <a:pt x="120" y="323"/>
                  </a:lnTo>
                  <a:lnTo>
                    <a:pt x="136" y="326"/>
                  </a:lnTo>
                  <a:lnTo>
                    <a:pt x="144" y="328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29"/>
                  </a:lnTo>
                  <a:lnTo>
                    <a:pt x="179" y="329"/>
                  </a:lnTo>
                  <a:lnTo>
                    <a:pt x="187" y="329"/>
                  </a:lnTo>
                  <a:lnTo>
                    <a:pt x="196" y="328"/>
                  </a:lnTo>
                  <a:lnTo>
                    <a:pt x="204" y="326"/>
                  </a:lnTo>
                  <a:lnTo>
                    <a:pt x="220" y="323"/>
                  </a:lnTo>
                  <a:lnTo>
                    <a:pt x="236" y="317"/>
                  </a:lnTo>
                  <a:lnTo>
                    <a:pt x="251" y="310"/>
                  </a:lnTo>
                  <a:lnTo>
                    <a:pt x="265" y="302"/>
                  </a:lnTo>
                  <a:lnTo>
                    <a:pt x="278" y="293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9" y="243"/>
                  </a:lnTo>
                  <a:lnTo>
                    <a:pt x="326" y="229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40" y="165"/>
                  </a:lnTo>
                  <a:lnTo>
                    <a:pt x="339" y="157"/>
                  </a:lnTo>
                  <a:lnTo>
                    <a:pt x="339" y="149"/>
                  </a:lnTo>
                  <a:lnTo>
                    <a:pt x="337" y="141"/>
                  </a:lnTo>
                  <a:lnTo>
                    <a:pt x="335" y="131"/>
                  </a:lnTo>
                  <a:lnTo>
                    <a:pt x="334" y="123"/>
                  </a:lnTo>
                  <a:lnTo>
                    <a:pt x="332" y="117"/>
                  </a:lnTo>
                  <a:lnTo>
                    <a:pt x="326" y="101"/>
                  </a:lnTo>
                  <a:lnTo>
                    <a:pt x="319" y="86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8" y="38"/>
                  </a:lnTo>
                  <a:lnTo>
                    <a:pt x="265" y="29"/>
                  </a:lnTo>
                  <a:lnTo>
                    <a:pt x="251" y="21"/>
                  </a:lnTo>
                  <a:lnTo>
                    <a:pt x="236" y="13"/>
                  </a:lnTo>
                  <a:lnTo>
                    <a:pt x="220" y="8"/>
                  </a:lnTo>
                  <a:lnTo>
                    <a:pt x="204" y="3"/>
                  </a:lnTo>
                  <a:lnTo>
                    <a:pt x="196" y="2"/>
                  </a:lnTo>
                  <a:lnTo>
                    <a:pt x="187" y="2"/>
                  </a:lnTo>
                  <a:lnTo>
                    <a:pt x="179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77" name="Rectangle 126"/>
            <p:cNvSpPr>
              <a:spLocks noChangeArrowheads="1"/>
            </p:cNvSpPr>
            <p:nvPr/>
          </p:nvSpPr>
          <p:spPr bwMode="auto">
            <a:xfrm>
              <a:off x="410" y="729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78" name="Rectangle 127"/>
            <p:cNvSpPr>
              <a:spLocks noChangeArrowheads="1"/>
            </p:cNvSpPr>
            <p:nvPr/>
          </p:nvSpPr>
          <p:spPr bwMode="auto">
            <a:xfrm>
              <a:off x="468" y="790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479" name="Freeform 128"/>
            <p:cNvSpPr>
              <a:spLocks/>
            </p:cNvSpPr>
            <p:nvPr/>
          </p:nvSpPr>
          <p:spPr bwMode="auto">
            <a:xfrm>
              <a:off x="756" y="454"/>
              <a:ext cx="169" cy="164"/>
            </a:xfrm>
            <a:custGeom>
              <a:avLst/>
              <a:gdLst>
                <a:gd name="T0" fmla="*/ 5 w 339"/>
                <a:gd name="T1" fmla="*/ 0 h 329"/>
                <a:gd name="T2" fmla="*/ 4 w 339"/>
                <a:gd name="T3" fmla="*/ 0 h 329"/>
                <a:gd name="T4" fmla="*/ 3 w 339"/>
                <a:gd name="T5" fmla="*/ 0 h 329"/>
                <a:gd name="T6" fmla="*/ 2 w 339"/>
                <a:gd name="T7" fmla="*/ 0 h 329"/>
                <a:gd name="T8" fmla="*/ 1 w 339"/>
                <a:gd name="T9" fmla="*/ 1 h 329"/>
                <a:gd name="T10" fmla="*/ 1 w 339"/>
                <a:gd name="T11" fmla="*/ 1 h 329"/>
                <a:gd name="T12" fmla="*/ 0 w 339"/>
                <a:gd name="T13" fmla="*/ 2 h 329"/>
                <a:gd name="T14" fmla="*/ 0 w 339"/>
                <a:gd name="T15" fmla="*/ 3 h 329"/>
                <a:gd name="T16" fmla="*/ 0 w 339"/>
                <a:gd name="T17" fmla="*/ 4 h 329"/>
                <a:gd name="T18" fmla="*/ 0 w 339"/>
                <a:gd name="T19" fmla="*/ 4 h 329"/>
                <a:gd name="T20" fmla="*/ 0 w 339"/>
                <a:gd name="T21" fmla="*/ 5 h 329"/>
                <a:gd name="T22" fmla="*/ 0 w 339"/>
                <a:gd name="T23" fmla="*/ 5 h 329"/>
                <a:gd name="T24" fmla="*/ 0 w 339"/>
                <a:gd name="T25" fmla="*/ 6 h 329"/>
                <a:gd name="T26" fmla="*/ 0 w 339"/>
                <a:gd name="T27" fmla="*/ 6 h 329"/>
                <a:gd name="T28" fmla="*/ 0 w 339"/>
                <a:gd name="T29" fmla="*/ 7 h 329"/>
                <a:gd name="T30" fmla="*/ 1 w 339"/>
                <a:gd name="T31" fmla="*/ 8 h 329"/>
                <a:gd name="T32" fmla="*/ 1 w 339"/>
                <a:gd name="T33" fmla="*/ 9 h 329"/>
                <a:gd name="T34" fmla="*/ 2 w 339"/>
                <a:gd name="T35" fmla="*/ 9 h 329"/>
                <a:gd name="T36" fmla="*/ 3 w 339"/>
                <a:gd name="T37" fmla="*/ 10 h 329"/>
                <a:gd name="T38" fmla="*/ 4 w 339"/>
                <a:gd name="T39" fmla="*/ 10 h 329"/>
                <a:gd name="T40" fmla="*/ 5 w 339"/>
                <a:gd name="T41" fmla="*/ 10 h 329"/>
                <a:gd name="T42" fmla="*/ 5 w 339"/>
                <a:gd name="T43" fmla="*/ 10 h 329"/>
                <a:gd name="T44" fmla="*/ 6 w 339"/>
                <a:gd name="T45" fmla="*/ 10 h 329"/>
                <a:gd name="T46" fmla="*/ 6 w 339"/>
                <a:gd name="T47" fmla="*/ 10 h 329"/>
                <a:gd name="T48" fmla="*/ 7 w 339"/>
                <a:gd name="T49" fmla="*/ 9 h 329"/>
                <a:gd name="T50" fmla="*/ 8 w 339"/>
                <a:gd name="T51" fmla="*/ 9 h 329"/>
                <a:gd name="T52" fmla="*/ 9 w 339"/>
                <a:gd name="T53" fmla="*/ 8 h 329"/>
                <a:gd name="T54" fmla="*/ 9 w 339"/>
                <a:gd name="T55" fmla="*/ 7 h 329"/>
                <a:gd name="T56" fmla="*/ 10 w 339"/>
                <a:gd name="T57" fmla="*/ 6 h 329"/>
                <a:gd name="T58" fmla="*/ 10 w 339"/>
                <a:gd name="T59" fmla="*/ 6 h 329"/>
                <a:gd name="T60" fmla="*/ 10 w 339"/>
                <a:gd name="T61" fmla="*/ 5 h 329"/>
                <a:gd name="T62" fmla="*/ 10 w 339"/>
                <a:gd name="T63" fmla="*/ 5 h 329"/>
                <a:gd name="T64" fmla="*/ 10 w 339"/>
                <a:gd name="T65" fmla="*/ 4 h 329"/>
                <a:gd name="T66" fmla="*/ 10 w 339"/>
                <a:gd name="T67" fmla="*/ 4 h 329"/>
                <a:gd name="T68" fmla="*/ 10 w 339"/>
                <a:gd name="T69" fmla="*/ 3 h 329"/>
                <a:gd name="T70" fmla="*/ 9 w 339"/>
                <a:gd name="T71" fmla="*/ 2 h 329"/>
                <a:gd name="T72" fmla="*/ 9 w 339"/>
                <a:gd name="T73" fmla="*/ 1 h 329"/>
                <a:gd name="T74" fmla="*/ 8 w 339"/>
                <a:gd name="T75" fmla="*/ 1 h 329"/>
                <a:gd name="T76" fmla="*/ 7 w 339"/>
                <a:gd name="T77" fmla="*/ 0 h 329"/>
                <a:gd name="T78" fmla="*/ 6 w 339"/>
                <a:gd name="T79" fmla="*/ 0 h 329"/>
                <a:gd name="T80" fmla="*/ 6 w 339"/>
                <a:gd name="T81" fmla="*/ 0 h 329"/>
                <a:gd name="T82" fmla="*/ 5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7"/>
                  </a:lnTo>
                  <a:lnTo>
                    <a:pt x="40" y="59"/>
                  </a:lnTo>
                  <a:lnTo>
                    <a:pt x="29" y="71"/>
                  </a:lnTo>
                  <a:lnTo>
                    <a:pt x="21" y="86"/>
                  </a:lnTo>
                  <a:lnTo>
                    <a:pt x="15" y="100"/>
                  </a:lnTo>
                  <a:lnTo>
                    <a:pt x="8" y="115"/>
                  </a:lnTo>
                  <a:lnTo>
                    <a:pt x="7" y="123"/>
                  </a:lnTo>
                  <a:lnTo>
                    <a:pt x="5" y="131"/>
                  </a:lnTo>
                  <a:lnTo>
                    <a:pt x="3" y="139"/>
                  </a:lnTo>
                  <a:lnTo>
                    <a:pt x="2" y="147"/>
                  </a:lnTo>
                  <a:lnTo>
                    <a:pt x="2" y="155"/>
                  </a:lnTo>
                  <a:lnTo>
                    <a:pt x="0" y="164"/>
                  </a:lnTo>
                  <a:lnTo>
                    <a:pt x="2" y="172"/>
                  </a:lnTo>
                  <a:lnTo>
                    <a:pt x="2" y="180"/>
                  </a:lnTo>
                  <a:lnTo>
                    <a:pt x="3" y="188"/>
                  </a:lnTo>
                  <a:lnTo>
                    <a:pt x="5" y="196"/>
                  </a:lnTo>
                  <a:lnTo>
                    <a:pt x="7" y="204"/>
                  </a:lnTo>
                  <a:lnTo>
                    <a:pt x="8" y="212"/>
                  </a:lnTo>
                  <a:lnTo>
                    <a:pt x="15" y="228"/>
                  </a:lnTo>
                  <a:lnTo>
                    <a:pt x="21" y="243"/>
                  </a:lnTo>
                  <a:lnTo>
                    <a:pt x="29" y="255"/>
                  </a:lnTo>
                  <a:lnTo>
                    <a:pt x="40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08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9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1" y="321"/>
                  </a:lnTo>
                  <a:lnTo>
                    <a:pt x="235" y="316"/>
                  </a:lnTo>
                  <a:lnTo>
                    <a:pt x="251" y="308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90" y="281"/>
                  </a:lnTo>
                  <a:lnTo>
                    <a:pt x="301" y="268"/>
                  </a:lnTo>
                  <a:lnTo>
                    <a:pt x="310" y="255"/>
                  </a:lnTo>
                  <a:lnTo>
                    <a:pt x="318" y="243"/>
                  </a:lnTo>
                  <a:lnTo>
                    <a:pt x="326" y="228"/>
                  </a:lnTo>
                  <a:lnTo>
                    <a:pt x="331" y="212"/>
                  </a:lnTo>
                  <a:lnTo>
                    <a:pt x="334" y="204"/>
                  </a:lnTo>
                  <a:lnTo>
                    <a:pt x="336" y="196"/>
                  </a:lnTo>
                  <a:lnTo>
                    <a:pt x="338" y="188"/>
                  </a:lnTo>
                  <a:lnTo>
                    <a:pt x="338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5"/>
                  </a:lnTo>
                  <a:lnTo>
                    <a:pt x="338" y="147"/>
                  </a:lnTo>
                  <a:lnTo>
                    <a:pt x="338" y="139"/>
                  </a:lnTo>
                  <a:lnTo>
                    <a:pt x="336" y="131"/>
                  </a:lnTo>
                  <a:lnTo>
                    <a:pt x="334" y="123"/>
                  </a:lnTo>
                  <a:lnTo>
                    <a:pt x="331" y="115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1"/>
                  </a:lnTo>
                  <a:lnTo>
                    <a:pt x="301" y="59"/>
                  </a:lnTo>
                  <a:lnTo>
                    <a:pt x="290" y="47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51" y="19"/>
                  </a:lnTo>
                  <a:lnTo>
                    <a:pt x="235" y="12"/>
                  </a:lnTo>
                  <a:lnTo>
                    <a:pt x="221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9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0" name="Rectangle 129"/>
            <p:cNvSpPr>
              <a:spLocks noChangeArrowheads="1"/>
            </p:cNvSpPr>
            <p:nvPr/>
          </p:nvSpPr>
          <p:spPr bwMode="auto">
            <a:xfrm>
              <a:off x="816" y="457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481" name="Line 130"/>
            <p:cNvSpPr>
              <a:spLocks noChangeShapeType="1"/>
            </p:cNvSpPr>
            <p:nvPr/>
          </p:nvSpPr>
          <p:spPr bwMode="auto">
            <a:xfrm flipH="1">
              <a:off x="499" y="599"/>
              <a:ext cx="282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2" name="Line 131"/>
            <p:cNvSpPr>
              <a:spLocks noChangeShapeType="1"/>
            </p:cNvSpPr>
            <p:nvPr/>
          </p:nvSpPr>
          <p:spPr bwMode="auto">
            <a:xfrm>
              <a:off x="900" y="599"/>
              <a:ext cx="279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3" name="Freeform 132"/>
            <p:cNvSpPr>
              <a:spLocks/>
            </p:cNvSpPr>
            <p:nvPr/>
          </p:nvSpPr>
          <p:spPr bwMode="auto">
            <a:xfrm>
              <a:off x="1138" y="723"/>
              <a:ext cx="169" cy="165"/>
            </a:xfrm>
            <a:custGeom>
              <a:avLst/>
              <a:gdLst>
                <a:gd name="T0" fmla="*/ 5 w 339"/>
                <a:gd name="T1" fmla="*/ 0 h 330"/>
                <a:gd name="T2" fmla="*/ 4 w 339"/>
                <a:gd name="T3" fmla="*/ 1 h 330"/>
                <a:gd name="T4" fmla="*/ 3 w 339"/>
                <a:gd name="T5" fmla="*/ 1 h 330"/>
                <a:gd name="T6" fmla="*/ 2 w 339"/>
                <a:gd name="T7" fmla="*/ 1 h 330"/>
                <a:gd name="T8" fmla="*/ 1 w 339"/>
                <a:gd name="T9" fmla="*/ 1 h 330"/>
                <a:gd name="T10" fmla="*/ 1 w 339"/>
                <a:gd name="T11" fmla="*/ 1 h 330"/>
                <a:gd name="T12" fmla="*/ 0 w 339"/>
                <a:gd name="T13" fmla="*/ 3 h 330"/>
                <a:gd name="T14" fmla="*/ 0 w 339"/>
                <a:gd name="T15" fmla="*/ 3 h 330"/>
                <a:gd name="T16" fmla="*/ 0 w 339"/>
                <a:gd name="T17" fmla="*/ 5 h 330"/>
                <a:gd name="T18" fmla="*/ 0 w 339"/>
                <a:gd name="T19" fmla="*/ 5 h 330"/>
                <a:gd name="T20" fmla="*/ 0 w 339"/>
                <a:gd name="T21" fmla="*/ 5 h 330"/>
                <a:gd name="T22" fmla="*/ 0 w 339"/>
                <a:gd name="T23" fmla="*/ 5 h 330"/>
                <a:gd name="T24" fmla="*/ 0 w 339"/>
                <a:gd name="T25" fmla="*/ 6 h 330"/>
                <a:gd name="T26" fmla="*/ 0 w 339"/>
                <a:gd name="T27" fmla="*/ 6 h 330"/>
                <a:gd name="T28" fmla="*/ 0 w 339"/>
                <a:gd name="T29" fmla="*/ 7 h 330"/>
                <a:gd name="T30" fmla="*/ 1 w 339"/>
                <a:gd name="T31" fmla="*/ 9 h 330"/>
                <a:gd name="T32" fmla="*/ 1 w 339"/>
                <a:gd name="T33" fmla="*/ 10 h 330"/>
                <a:gd name="T34" fmla="*/ 2 w 339"/>
                <a:gd name="T35" fmla="*/ 10 h 330"/>
                <a:gd name="T36" fmla="*/ 3 w 339"/>
                <a:gd name="T37" fmla="*/ 10 h 330"/>
                <a:gd name="T38" fmla="*/ 4 w 339"/>
                <a:gd name="T39" fmla="*/ 10 h 330"/>
                <a:gd name="T40" fmla="*/ 5 w 339"/>
                <a:gd name="T41" fmla="*/ 10 h 330"/>
                <a:gd name="T42" fmla="*/ 5 w 339"/>
                <a:gd name="T43" fmla="*/ 10 h 330"/>
                <a:gd name="T44" fmla="*/ 6 w 339"/>
                <a:gd name="T45" fmla="*/ 10 h 330"/>
                <a:gd name="T46" fmla="*/ 6 w 339"/>
                <a:gd name="T47" fmla="*/ 10 h 330"/>
                <a:gd name="T48" fmla="*/ 7 w 339"/>
                <a:gd name="T49" fmla="*/ 10 h 330"/>
                <a:gd name="T50" fmla="*/ 8 w 339"/>
                <a:gd name="T51" fmla="*/ 10 h 330"/>
                <a:gd name="T52" fmla="*/ 9 w 339"/>
                <a:gd name="T53" fmla="*/ 9 h 330"/>
                <a:gd name="T54" fmla="*/ 9 w 339"/>
                <a:gd name="T55" fmla="*/ 7 h 330"/>
                <a:gd name="T56" fmla="*/ 10 w 339"/>
                <a:gd name="T57" fmla="*/ 6 h 330"/>
                <a:gd name="T58" fmla="*/ 10 w 339"/>
                <a:gd name="T59" fmla="*/ 6 h 330"/>
                <a:gd name="T60" fmla="*/ 10 w 339"/>
                <a:gd name="T61" fmla="*/ 5 h 330"/>
                <a:gd name="T62" fmla="*/ 10 w 339"/>
                <a:gd name="T63" fmla="*/ 5 h 330"/>
                <a:gd name="T64" fmla="*/ 10 w 339"/>
                <a:gd name="T65" fmla="*/ 5 h 330"/>
                <a:gd name="T66" fmla="*/ 10 w 339"/>
                <a:gd name="T67" fmla="*/ 5 h 330"/>
                <a:gd name="T68" fmla="*/ 10 w 339"/>
                <a:gd name="T69" fmla="*/ 3 h 330"/>
                <a:gd name="T70" fmla="*/ 9 w 339"/>
                <a:gd name="T71" fmla="*/ 3 h 330"/>
                <a:gd name="T72" fmla="*/ 9 w 339"/>
                <a:gd name="T73" fmla="*/ 1 h 330"/>
                <a:gd name="T74" fmla="*/ 8 w 339"/>
                <a:gd name="T75" fmla="*/ 1 h 330"/>
                <a:gd name="T76" fmla="*/ 7 w 339"/>
                <a:gd name="T77" fmla="*/ 1 h 330"/>
                <a:gd name="T78" fmla="*/ 6 w 339"/>
                <a:gd name="T79" fmla="*/ 1 h 330"/>
                <a:gd name="T80" fmla="*/ 6 w 339"/>
                <a:gd name="T81" fmla="*/ 1 h 330"/>
                <a:gd name="T82" fmla="*/ 5 w 339"/>
                <a:gd name="T83" fmla="*/ 0 h 3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0"/>
                <a:gd name="T128" fmla="*/ 339 w 339"/>
                <a:gd name="T129" fmla="*/ 330 h 3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0">
                  <a:moveTo>
                    <a:pt x="169" y="0"/>
                  </a:moveTo>
                  <a:lnTo>
                    <a:pt x="160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4" y="4"/>
                  </a:lnTo>
                  <a:lnTo>
                    <a:pt x="118" y="8"/>
                  </a:lnTo>
                  <a:lnTo>
                    <a:pt x="102" y="13"/>
                  </a:lnTo>
                  <a:lnTo>
                    <a:pt x="88" y="20"/>
                  </a:lnTo>
                  <a:lnTo>
                    <a:pt x="73" y="29"/>
                  </a:lnTo>
                  <a:lnTo>
                    <a:pt x="60" y="39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19" y="87"/>
                  </a:lnTo>
                  <a:lnTo>
                    <a:pt x="12" y="101"/>
                  </a:lnTo>
                  <a:lnTo>
                    <a:pt x="6" y="117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3"/>
                  </a:lnTo>
                  <a:lnTo>
                    <a:pt x="0" y="183"/>
                  </a:lnTo>
                  <a:lnTo>
                    <a:pt x="1" y="191"/>
                  </a:lnTo>
                  <a:lnTo>
                    <a:pt x="3" y="199"/>
                  </a:lnTo>
                  <a:lnTo>
                    <a:pt x="4" y="207"/>
                  </a:lnTo>
                  <a:lnTo>
                    <a:pt x="6" y="215"/>
                  </a:lnTo>
                  <a:lnTo>
                    <a:pt x="12" y="229"/>
                  </a:lnTo>
                  <a:lnTo>
                    <a:pt x="19" y="243"/>
                  </a:lnTo>
                  <a:lnTo>
                    <a:pt x="28" y="258"/>
                  </a:lnTo>
                  <a:lnTo>
                    <a:pt x="38" y="271"/>
                  </a:lnTo>
                  <a:lnTo>
                    <a:pt x="49" y="282"/>
                  </a:lnTo>
                  <a:lnTo>
                    <a:pt x="60" y="293"/>
                  </a:lnTo>
                  <a:lnTo>
                    <a:pt x="73" y="303"/>
                  </a:lnTo>
                  <a:lnTo>
                    <a:pt x="88" y="311"/>
                  </a:lnTo>
                  <a:lnTo>
                    <a:pt x="102" y="317"/>
                  </a:lnTo>
                  <a:lnTo>
                    <a:pt x="118" y="323"/>
                  </a:lnTo>
                  <a:lnTo>
                    <a:pt x="134" y="327"/>
                  </a:lnTo>
                  <a:lnTo>
                    <a:pt x="144" y="328"/>
                  </a:lnTo>
                  <a:lnTo>
                    <a:pt x="152" y="330"/>
                  </a:lnTo>
                  <a:lnTo>
                    <a:pt x="160" y="330"/>
                  </a:lnTo>
                  <a:lnTo>
                    <a:pt x="169" y="330"/>
                  </a:lnTo>
                  <a:lnTo>
                    <a:pt x="177" y="330"/>
                  </a:lnTo>
                  <a:lnTo>
                    <a:pt x="187" y="330"/>
                  </a:lnTo>
                  <a:lnTo>
                    <a:pt x="195" y="328"/>
                  </a:lnTo>
                  <a:lnTo>
                    <a:pt x="203" y="327"/>
                  </a:lnTo>
                  <a:lnTo>
                    <a:pt x="219" y="323"/>
                  </a:lnTo>
                  <a:lnTo>
                    <a:pt x="235" y="317"/>
                  </a:lnTo>
                  <a:lnTo>
                    <a:pt x="249" y="311"/>
                  </a:lnTo>
                  <a:lnTo>
                    <a:pt x="264" y="303"/>
                  </a:lnTo>
                  <a:lnTo>
                    <a:pt x="276" y="293"/>
                  </a:lnTo>
                  <a:lnTo>
                    <a:pt x="289" y="282"/>
                  </a:lnTo>
                  <a:lnTo>
                    <a:pt x="300" y="271"/>
                  </a:lnTo>
                  <a:lnTo>
                    <a:pt x="310" y="258"/>
                  </a:lnTo>
                  <a:lnTo>
                    <a:pt x="318" y="243"/>
                  </a:lnTo>
                  <a:lnTo>
                    <a:pt x="326" y="229"/>
                  </a:lnTo>
                  <a:lnTo>
                    <a:pt x="331" y="215"/>
                  </a:lnTo>
                  <a:lnTo>
                    <a:pt x="334" y="207"/>
                  </a:lnTo>
                  <a:lnTo>
                    <a:pt x="336" y="199"/>
                  </a:lnTo>
                  <a:lnTo>
                    <a:pt x="337" y="191"/>
                  </a:lnTo>
                  <a:lnTo>
                    <a:pt x="337" y="183"/>
                  </a:lnTo>
                  <a:lnTo>
                    <a:pt x="339" y="173"/>
                  </a:lnTo>
                  <a:lnTo>
                    <a:pt x="339" y="165"/>
                  </a:lnTo>
                  <a:lnTo>
                    <a:pt x="339" y="157"/>
                  </a:lnTo>
                  <a:lnTo>
                    <a:pt x="337" y="149"/>
                  </a:lnTo>
                  <a:lnTo>
                    <a:pt x="337" y="140"/>
                  </a:lnTo>
                  <a:lnTo>
                    <a:pt x="336" y="132"/>
                  </a:lnTo>
                  <a:lnTo>
                    <a:pt x="334" y="124"/>
                  </a:lnTo>
                  <a:lnTo>
                    <a:pt x="331" y="117"/>
                  </a:lnTo>
                  <a:lnTo>
                    <a:pt x="326" y="101"/>
                  </a:lnTo>
                  <a:lnTo>
                    <a:pt x="318" y="87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6" y="39"/>
                  </a:lnTo>
                  <a:lnTo>
                    <a:pt x="264" y="29"/>
                  </a:lnTo>
                  <a:lnTo>
                    <a:pt x="249" y="20"/>
                  </a:lnTo>
                  <a:lnTo>
                    <a:pt x="235" y="13"/>
                  </a:lnTo>
                  <a:lnTo>
                    <a:pt x="219" y="8"/>
                  </a:lnTo>
                  <a:lnTo>
                    <a:pt x="203" y="4"/>
                  </a:lnTo>
                  <a:lnTo>
                    <a:pt x="195" y="2"/>
                  </a:lnTo>
                  <a:lnTo>
                    <a:pt x="187" y="2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4" name="Rectangle 133"/>
            <p:cNvSpPr>
              <a:spLocks noChangeArrowheads="1"/>
            </p:cNvSpPr>
            <p:nvPr/>
          </p:nvSpPr>
          <p:spPr bwMode="auto">
            <a:xfrm>
              <a:off x="1172" y="72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485" name="Rectangle 134"/>
            <p:cNvSpPr>
              <a:spLocks noChangeArrowheads="1"/>
            </p:cNvSpPr>
            <p:nvPr/>
          </p:nvSpPr>
          <p:spPr bwMode="auto">
            <a:xfrm>
              <a:off x="1230" y="789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486" name="Line 135"/>
            <p:cNvSpPr>
              <a:spLocks noChangeShapeType="1"/>
            </p:cNvSpPr>
            <p:nvPr/>
          </p:nvSpPr>
          <p:spPr bwMode="auto">
            <a:xfrm>
              <a:off x="516" y="879"/>
              <a:ext cx="147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7" name="Line 136"/>
            <p:cNvSpPr>
              <a:spLocks noChangeShapeType="1"/>
            </p:cNvSpPr>
            <p:nvPr/>
          </p:nvSpPr>
          <p:spPr bwMode="auto">
            <a:xfrm flipH="1">
              <a:off x="197" y="877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8" name="Freeform 137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89" name="Freeform 138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90" name="Rectangle 139"/>
            <p:cNvSpPr>
              <a:spLocks noChangeArrowheads="1"/>
            </p:cNvSpPr>
            <p:nvPr/>
          </p:nvSpPr>
          <p:spPr bwMode="auto">
            <a:xfrm>
              <a:off x="130" y="1090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91" name="Rectangle 140"/>
            <p:cNvSpPr>
              <a:spLocks noChangeArrowheads="1"/>
            </p:cNvSpPr>
            <p:nvPr/>
          </p:nvSpPr>
          <p:spPr bwMode="auto">
            <a:xfrm>
              <a:off x="195" y="1145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492" name="Freeform 141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93" name="Freeform 142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94" name="Rectangle 143"/>
            <p:cNvSpPr>
              <a:spLocks noChangeArrowheads="1"/>
            </p:cNvSpPr>
            <p:nvPr/>
          </p:nvSpPr>
          <p:spPr bwMode="auto">
            <a:xfrm>
              <a:off x="614" y="109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95" name="Rectangle 144"/>
            <p:cNvSpPr>
              <a:spLocks noChangeArrowheads="1"/>
            </p:cNvSpPr>
            <p:nvPr/>
          </p:nvSpPr>
          <p:spPr bwMode="auto">
            <a:xfrm>
              <a:off x="679" y="1148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496" name="Freeform 145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97" name="Freeform 146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98" name="Rectangle 147"/>
            <p:cNvSpPr>
              <a:spLocks noChangeArrowheads="1"/>
            </p:cNvSpPr>
            <p:nvPr/>
          </p:nvSpPr>
          <p:spPr bwMode="auto">
            <a:xfrm>
              <a:off x="959" y="1117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99" name="Rectangle 148"/>
            <p:cNvSpPr>
              <a:spLocks noChangeArrowheads="1"/>
            </p:cNvSpPr>
            <p:nvPr/>
          </p:nvSpPr>
          <p:spPr bwMode="auto">
            <a:xfrm>
              <a:off x="1023" y="1172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500" name="Freeform 149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01" name="Freeform 150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02" name="Rectangle 151"/>
            <p:cNvSpPr>
              <a:spLocks noChangeArrowheads="1"/>
            </p:cNvSpPr>
            <p:nvPr/>
          </p:nvSpPr>
          <p:spPr bwMode="auto">
            <a:xfrm>
              <a:off x="1361" y="1122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03" name="Rectangle 152"/>
            <p:cNvSpPr>
              <a:spLocks noChangeArrowheads="1"/>
            </p:cNvSpPr>
            <p:nvPr/>
          </p:nvSpPr>
          <p:spPr bwMode="auto">
            <a:xfrm>
              <a:off x="1426" y="1177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504" name="Line 153"/>
            <p:cNvSpPr>
              <a:spLocks noChangeShapeType="1"/>
            </p:cNvSpPr>
            <p:nvPr/>
          </p:nvSpPr>
          <p:spPr bwMode="auto">
            <a:xfrm flipH="1">
              <a:off x="1009" y="900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05" name="Line 154"/>
            <p:cNvSpPr>
              <a:spLocks noChangeShapeType="1"/>
            </p:cNvSpPr>
            <p:nvPr/>
          </p:nvSpPr>
          <p:spPr bwMode="auto">
            <a:xfrm>
              <a:off x="1266" y="896"/>
              <a:ext cx="14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06" name="Freeform 155"/>
            <p:cNvSpPr>
              <a:spLocks/>
            </p:cNvSpPr>
            <p:nvPr/>
          </p:nvSpPr>
          <p:spPr bwMode="auto">
            <a:xfrm>
              <a:off x="369" y="724"/>
              <a:ext cx="171" cy="165"/>
            </a:xfrm>
            <a:custGeom>
              <a:avLst/>
              <a:gdLst>
                <a:gd name="T0" fmla="*/ 6 w 340"/>
                <a:gd name="T1" fmla="*/ 0 h 329"/>
                <a:gd name="T2" fmla="*/ 5 w 340"/>
                <a:gd name="T3" fmla="*/ 1 h 329"/>
                <a:gd name="T4" fmla="*/ 4 w 340"/>
                <a:gd name="T5" fmla="*/ 1 h 329"/>
                <a:gd name="T6" fmla="*/ 3 w 340"/>
                <a:gd name="T7" fmla="*/ 1 h 329"/>
                <a:gd name="T8" fmla="*/ 2 w 340"/>
                <a:gd name="T9" fmla="*/ 2 h 329"/>
                <a:gd name="T10" fmla="*/ 2 w 340"/>
                <a:gd name="T11" fmla="*/ 2 h 329"/>
                <a:gd name="T12" fmla="*/ 1 w 340"/>
                <a:gd name="T13" fmla="*/ 3 h 329"/>
                <a:gd name="T14" fmla="*/ 1 w 340"/>
                <a:gd name="T15" fmla="*/ 4 h 329"/>
                <a:gd name="T16" fmla="*/ 1 w 340"/>
                <a:gd name="T17" fmla="*/ 5 h 329"/>
                <a:gd name="T18" fmla="*/ 1 w 340"/>
                <a:gd name="T19" fmla="*/ 5 h 329"/>
                <a:gd name="T20" fmla="*/ 0 w 340"/>
                <a:gd name="T21" fmla="*/ 6 h 329"/>
                <a:gd name="T22" fmla="*/ 1 w 340"/>
                <a:gd name="T23" fmla="*/ 6 h 329"/>
                <a:gd name="T24" fmla="*/ 1 w 340"/>
                <a:gd name="T25" fmla="*/ 7 h 329"/>
                <a:gd name="T26" fmla="*/ 1 w 340"/>
                <a:gd name="T27" fmla="*/ 7 h 329"/>
                <a:gd name="T28" fmla="*/ 1 w 340"/>
                <a:gd name="T29" fmla="*/ 8 h 329"/>
                <a:gd name="T30" fmla="*/ 2 w 340"/>
                <a:gd name="T31" fmla="*/ 9 h 329"/>
                <a:gd name="T32" fmla="*/ 2 w 340"/>
                <a:gd name="T33" fmla="*/ 10 h 329"/>
                <a:gd name="T34" fmla="*/ 3 w 340"/>
                <a:gd name="T35" fmla="*/ 10 h 329"/>
                <a:gd name="T36" fmla="*/ 4 w 340"/>
                <a:gd name="T37" fmla="*/ 11 h 329"/>
                <a:gd name="T38" fmla="*/ 5 w 340"/>
                <a:gd name="T39" fmla="*/ 11 h 329"/>
                <a:gd name="T40" fmla="*/ 6 w 340"/>
                <a:gd name="T41" fmla="*/ 11 h 329"/>
                <a:gd name="T42" fmla="*/ 6 w 340"/>
                <a:gd name="T43" fmla="*/ 11 h 329"/>
                <a:gd name="T44" fmla="*/ 7 w 340"/>
                <a:gd name="T45" fmla="*/ 11 h 329"/>
                <a:gd name="T46" fmla="*/ 7 w 340"/>
                <a:gd name="T47" fmla="*/ 11 h 329"/>
                <a:gd name="T48" fmla="*/ 8 w 340"/>
                <a:gd name="T49" fmla="*/ 10 h 329"/>
                <a:gd name="T50" fmla="*/ 9 w 340"/>
                <a:gd name="T51" fmla="*/ 10 h 329"/>
                <a:gd name="T52" fmla="*/ 10 w 340"/>
                <a:gd name="T53" fmla="*/ 9 h 329"/>
                <a:gd name="T54" fmla="*/ 10 w 340"/>
                <a:gd name="T55" fmla="*/ 8 h 329"/>
                <a:gd name="T56" fmla="*/ 11 w 340"/>
                <a:gd name="T57" fmla="*/ 7 h 329"/>
                <a:gd name="T58" fmla="*/ 11 w 340"/>
                <a:gd name="T59" fmla="*/ 7 h 329"/>
                <a:gd name="T60" fmla="*/ 11 w 340"/>
                <a:gd name="T61" fmla="*/ 6 h 329"/>
                <a:gd name="T62" fmla="*/ 11 w 340"/>
                <a:gd name="T63" fmla="*/ 6 h 329"/>
                <a:gd name="T64" fmla="*/ 11 w 340"/>
                <a:gd name="T65" fmla="*/ 5 h 329"/>
                <a:gd name="T66" fmla="*/ 11 w 340"/>
                <a:gd name="T67" fmla="*/ 5 h 329"/>
                <a:gd name="T68" fmla="*/ 11 w 340"/>
                <a:gd name="T69" fmla="*/ 4 h 329"/>
                <a:gd name="T70" fmla="*/ 10 w 340"/>
                <a:gd name="T71" fmla="*/ 3 h 329"/>
                <a:gd name="T72" fmla="*/ 10 w 340"/>
                <a:gd name="T73" fmla="*/ 2 h 329"/>
                <a:gd name="T74" fmla="*/ 9 w 340"/>
                <a:gd name="T75" fmla="*/ 2 h 329"/>
                <a:gd name="T76" fmla="*/ 8 w 340"/>
                <a:gd name="T77" fmla="*/ 1 h 329"/>
                <a:gd name="T78" fmla="*/ 7 w 340"/>
                <a:gd name="T79" fmla="*/ 1 h 329"/>
                <a:gd name="T80" fmla="*/ 7 w 340"/>
                <a:gd name="T81" fmla="*/ 1 h 329"/>
                <a:gd name="T82" fmla="*/ 6 w 340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40"/>
                <a:gd name="T127" fmla="*/ 0 h 329"/>
                <a:gd name="T128" fmla="*/ 340 w 340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40" h="329">
                  <a:moveTo>
                    <a:pt x="169" y="0"/>
                  </a:moveTo>
                  <a:lnTo>
                    <a:pt x="161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6" y="3"/>
                  </a:lnTo>
                  <a:lnTo>
                    <a:pt x="120" y="8"/>
                  </a:lnTo>
                  <a:lnTo>
                    <a:pt x="104" y="13"/>
                  </a:lnTo>
                  <a:lnTo>
                    <a:pt x="89" y="21"/>
                  </a:lnTo>
                  <a:lnTo>
                    <a:pt x="75" y="29"/>
                  </a:lnTo>
                  <a:lnTo>
                    <a:pt x="62" y="38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20" y="86"/>
                  </a:lnTo>
                  <a:lnTo>
                    <a:pt x="12" y="101"/>
                  </a:lnTo>
                  <a:lnTo>
                    <a:pt x="8" y="117"/>
                  </a:lnTo>
                  <a:lnTo>
                    <a:pt x="4" y="123"/>
                  </a:lnTo>
                  <a:lnTo>
                    <a:pt x="3" y="131"/>
                  </a:lnTo>
                  <a:lnTo>
                    <a:pt x="1" y="141"/>
                  </a:lnTo>
                  <a:lnTo>
                    <a:pt x="1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4"/>
                  </a:lnTo>
                  <a:lnTo>
                    <a:pt x="1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29"/>
                  </a:lnTo>
                  <a:lnTo>
                    <a:pt x="20" y="243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3"/>
                  </a:lnTo>
                  <a:lnTo>
                    <a:pt x="75" y="302"/>
                  </a:lnTo>
                  <a:lnTo>
                    <a:pt x="89" y="310"/>
                  </a:lnTo>
                  <a:lnTo>
                    <a:pt x="104" y="317"/>
                  </a:lnTo>
                  <a:lnTo>
                    <a:pt x="120" y="323"/>
                  </a:lnTo>
                  <a:lnTo>
                    <a:pt x="136" y="326"/>
                  </a:lnTo>
                  <a:lnTo>
                    <a:pt x="144" y="328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29"/>
                  </a:lnTo>
                  <a:lnTo>
                    <a:pt x="179" y="329"/>
                  </a:lnTo>
                  <a:lnTo>
                    <a:pt x="187" y="329"/>
                  </a:lnTo>
                  <a:lnTo>
                    <a:pt x="196" y="328"/>
                  </a:lnTo>
                  <a:lnTo>
                    <a:pt x="204" y="326"/>
                  </a:lnTo>
                  <a:lnTo>
                    <a:pt x="220" y="323"/>
                  </a:lnTo>
                  <a:lnTo>
                    <a:pt x="236" y="317"/>
                  </a:lnTo>
                  <a:lnTo>
                    <a:pt x="251" y="310"/>
                  </a:lnTo>
                  <a:lnTo>
                    <a:pt x="265" y="302"/>
                  </a:lnTo>
                  <a:lnTo>
                    <a:pt x="278" y="293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9" y="243"/>
                  </a:lnTo>
                  <a:lnTo>
                    <a:pt x="326" y="229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40" y="165"/>
                  </a:lnTo>
                  <a:lnTo>
                    <a:pt x="339" y="157"/>
                  </a:lnTo>
                  <a:lnTo>
                    <a:pt x="339" y="149"/>
                  </a:lnTo>
                  <a:lnTo>
                    <a:pt x="337" y="141"/>
                  </a:lnTo>
                  <a:lnTo>
                    <a:pt x="335" y="131"/>
                  </a:lnTo>
                  <a:lnTo>
                    <a:pt x="334" y="123"/>
                  </a:lnTo>
                  <a:lnTo>
                    <a:pt x="332" y="117"/>
                  </a:lnTo>
                  <a:lnTo>
                    <a:pt x="326" y="101"/>
                  </a:lnTo>
                  <a:lnTo>
                    <a:pt x="319" y="86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8" y="38"/>
                  </a:lnTo>
                  <a:lnTo>
                    <a:pt x="265" y="29"/>
                  </a:lnTo>
                  <a:lnTo>
                    <a:pt x="251" y="21"/>
                  </a:lnTo>
                  <a:lnTo>
                    <a:pt x="236" y="13"/>
                  </a:lnTo>
                  <a:lnTo>
                    <a:pt x="220" y="8"/>
                  </a:lnTo>
                  <a:lnTo>
                    <a:pt x="204" y="3"/>
                  </a:lnTo>
                  <a:lnTo>
                    <a:pt x="196" y="2"/>
                  </a:lnTo>
                  <a:lnTo>
                    <a:pt x="187" y="2"/>
                  </a:lnTo>
                  <a:lnTo>
                    <a:pt x="179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07" name="Rectangle 156"/>
            <p:cNvSpPr>
              <a:spLocks noChangeArrowheads="1"/>
            </p:cNvSpPr>
            <p:nvPr/>
          </p:nvSpPr>
          <p:spPr bwMode="auto">
            <a:xfrm>
              <a:off x="410" y="729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08" name="Rectangle 157"/>
            <p:cNvSpPr>
              <a:spLocks noChangeArrowheads="1"/>
            </p:cNvSpPr>
            <p:nvPr/>
          </p:nvSpPr>
          <p:spPr bwMode="auto">
            <a:xfrm>
              <a:off x="468" y="790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509" name="Freeform 158"/>
            <p:cNvSpPr>
              <a:spLocks/>
            </p:cNvSpPr>
            <p:nvPr/>
          </p:nvSpPr>
          <p:spPr bwMode="auto">
            <a:xfrm>
              <a:off x="756" y="454"/>
              <a:ext cx="169" cy="164"/>
            </a:xfrm>
            <a:custGeom>
              <a:avLst/>
              <a:gdLst>
                <a:gd name="T0" fmla="*/ 5 w 339"/>
                <a:gd name="T1" fmla="*/ 0 h 329"/>
                <a:gd name="T2" fmla="*/ 4 w 339"/>
                <a:gd name="T3" fmla="*/ 0 h 329"/>
                <a:gd name="T4" fmla="*/ 3 w 339"/>
                <a:gd name="T5" fmla="*/ 0 h 329"/>
                <a:gd name="T6" fmla="*/ 2 w 339"/>
                <a:gd name="T7" fmla="*/ 0 h 329"/>
                <a:gd name="T8" fmla="*/ 1 w 339"/>
                <a:gd name="T9" fmla="*/ 1 h 329"/>
                <a:gd name="T10" fmla="*/ 1 w 339"/>
                <a:gd name="T11" fmla="*/ 1 h 329"/>
                <a:gd name="T12" fmla="*/ 0 w 339"/>
                <a:gd name="T13" fmla="*/ 2 h 329"/>
                <a:gd name="T14" fmla="*/ 0 w 339"/>
                <a:gd name="T15" fmla="*/ 3 h 329"/>
                <a:gd name="T16" fmla="*/ 0 w 339"/>
                <a:gd name="T17" fmla="*/ 4 h 329"/>
                <a:gd name="T18" fmla="*/ 0 w 339"/>
                <a:gd name="T19" fmla="*/ 4 h 329"/>
                <a:gd name="T20" fmla="*/ 0 w 339"/>
                <a:gd name="T21" fmla="*/ 5 h 329"/>
                <a:gd name="T22" fmla="*/ 0 w 339"/>
                <a:gd name="T23" fmla="*/ 5 h 329"/>
                <a:gd name="T24" fmla="*/ 0 w 339"/>
                <a:gd name="T25" fmla="*/ 6 h 329"/>
                <a:gd name="T26" fmla="*/ 0 w 339"/>
                <a:gd name="T27" fmla="*/ 6 h 329"/>
                <a:gd name="T28" fmla="*/ 0 w 339"/>
                <a:gd name="T29" fmla="*/ 7 h 329"/>
                <a:gd name="T30" fmla="*/ 1 w 339"/>
                <a:gd name="T31" fmla="*/ 8 h 329"/>
                <a:gd name="T32" fmla="*/ 1 w 339"/>
                <a:gd name="T33" fmla="*/ 9 h 329"/>
                <a:gd name="T34" fmla="*/ 2 w 339"/>
                <a:gd name="T35" fmla="*/ 9 h 329"/>
                <a:gd name="T36" fmla="*/ 3 w 339"/>
                <a:gd name="T37" fmla="*/ 10 h 329"/>
                <a:gd name="T38" fmla="*/ 4 w 339"/>
                <a:gd name="T39" fmla="*/ 10 h 329"/>
                <a:gd name="T40" fmla="*/ 5 w 339"/>
                <a:gd name="T41" fmla="*/ 10 h 329"/>
                <a:gd name="T42" fmla="*/ 5 w 339"/>
                <a:gd name="T43" fmla="*/ 10 h 329"/>
                <a:gd name="T44" fmla="*/ 6 w 339"/>
                <a:gd name="T45" fmla="*/ 10 h 329"/>
                <a:gd name="T46" fmla="*/ 6 w 339"/>
                <a:gd name="T47" fmla="*/ 10 h 329"/>
                <a:gd name="T48" fmla="*/ 7 w 339"/>
                <a:gd name="T49" fmla="*/ 9 h 329"/>
                <a:gd name="T50" fmla="*/ 8 w 339"/>
                <a:gd name="T51" fmla="*/ 9 h 329"/>
                <a:gd name="T52" fmla="*/ 9 w 339"/>
                <a:gd name="T53" fmla="*/ 8 h 329"/>
                <a:gd name="T54" fmla="*/ 9 w 339"/>
                <a:gd name="T55" fmla="*/ 7 h 329"/>
                <a:gd name="T56" fmla="*/ 10 w 339"/>
                <a:gd name="T57" fmla="*/ 6 h 329"/>
                <a:gd name="T58" fmla="*/ 10 w 339"/>
                <a:gd name="T59" fmla="*/ 6 h 329"/>
                <a:gd name="T60" fmla="*/ 10 w 339"/>
                <a:gd name="T61" fmla="*/ 5 h 329"/>
                <a:gd name="T62" fmla="*/ 10 w 339"/>
                <a:gd name="T63" fmla="*/ 5 h 329"/>
                <a:gd name="T64" fmla="*/ 10 w 339"/>
                <a:gd name="T65" fmla="*/ 4 h 329"/>
                <a:gd name="T66" fmla="*/ 10 w 339"/>
                <a:gd name="T67" fmla="*/ 4 h 329"/>
                <a:gd name="T68" fmla="*/ 10 w 339"/>
                <a:gd name="T69" fmla="*/ 3 h 329"/>
                <a:gd name="T70" fmla="*/ 9 w 339"/>
                <a:gd name="T71" fmla="*/ 2 h 329"/>
                <a:gd name="T72" fmla="*/ 9 w 339"/>
                <a:gd name="T73" fmla="*/ 1 h 329"/>
                <a:gd name="T74" fmla="*/ 8 w 339"/>
                <a:gd name="T75" fmla="*/ 1 h 329"/>
                <a:gd name="T76" fmla="*/ 7 w 339"/>
                <a:gd name="T77" fmla="*/ 0 h 329"/>
                <a:gd name="T78" fmla="*/ 6 w 339"/>
                <a:gd name="T79" fmla="*/ 0 h 329"/>
                <a:gd name="T80" fmla="*/ 6 w 339"/>
                <a:gd name="T81" fmla="*/ 0 h 329"/>
                <a:gd name="T82" fmla="*/ 5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7"/>
                  </a:lnTo>
                  <a:lnTo>
                    <a:pt x="40" y="59"/>
                  </a:lnTo>
                  <a:lnTo>
                    <a:pt x="29" y="71"/>
                  </a:lnTo>
                  <a:lnTo>
                    <a:pt x="21" y="86"/>
                  </a:lnTo>
                  <a:lnTo>
                    <a:pt x="15" y="100"/>
                  </a:lnTo>
                  <a:lnTo>
                    <a:pt x="8" y="115"/>
                  </a:lnTo>
                  <a:lnTo>
                    <a:pt x="7" y="123"/>
                  </a:lnTo>
                  <a:lnTo>
                    <a:pt x="5" y="131"/>
                  </a:lnTo>
                  <a:lnTo>
                    <a:pt x="3" y="139"/>
                  </a:lnTo>
                  <a:lnTo>
                    <a:pt x="2" y="147"/>
                  </a:lnTo>
                  <a:lnTo>
                    <a:pt x="2" y="155"/>
                  </a:lnTo>
                  <a:lnTo>
                    <a:pt x="0" y="164"/>
                  </a:lnTo>
                  <a:lnTo>
                    <a:pt x="2" y="172"/>
                  </a:lnTo>
                  <a:lnTo>
                    <a:pt x="2" y="180"/>
                  </a:lnTo>
                  <a:lnTo>
                    <a:pt x="3" y="188"/>
                  </a:lnTo>
                  <a:lnTo>
                    <a:pt x="5" y="196"/>
                  </a:lnTo>
                  <a:lnTo>
                    <a:pt x="7" y="204"/>
                  </a:lnTo>
                  <a:lnTo>
                    <a:pt x="8" y="212"/>
                  </a:lnTo>
                  <a:lnTo>
                    <a:pt x="15" y="228"/>
                  </a:lnTo>
                  <a:lnTo>
                    <a:pt x="21" y="243"/>
                  </a:lnTo>
                  <a:lnTo>
                    <a:pt x="29" y="255"/>
                  </a:lnTo>
                  <a:lnTo>
                    <a:pt x="40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08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9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1" y="321"/>
                  </a:lnTo>
                  <a:lnTo>
                    <a:pt x="235" y="316"/>
                  </a:lnTo>
                  <a:lnTo>
                    <a:pt x="251" y="308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90" y="281"/>
                  </a:lnTo>
                  <a:lnTo>
                    <a:pt x="301" y="268"/>
                  </a:lnTo>
                  <a:lnTo>
                    <a:pt x="310" y="255"/>
                  </a:lnTo>
                  <a:lnTo>
                    <a:pt x="318" y="243"/>
                  </a:lnTo>
                  <a:lnTo>
                    <a:pt x="326" y="228"/>
                  </a:lnTo>
                  <a:lnTo>
                    <a:pt x="331" y="212"/>
                  </a:lnTo>
                  <a:lnTo>
                    <a:pt x="334" y="204"/>
                  </a:lnTo>
                  <a:lnTo>
                    <a:pt x="336" y="196"/>
                  </a:lnTo>
                  <a:lnTo>
                    <a:pt x="338" y="188"/>
                  </a:lnTo>
                  <a:lnTo>
                    <a:pt x="338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5"/>
                  </a:lnTo>
                  <a:lnTo>
                    <a:pt x="338" y="147"/>
                  </a:lnTo>
                  <a:lnTo>
                    <a:pt x="338" y="139"/>
                  </a:lnTo>
                  <a:lnTo>
                    <a:pt x="336" y="131"/>
                  </a:lnTo>
                  <a:lnTo>
                    <a:pt x="334" y="123"/>
                  </a:lnTo>
                  <a:lnTo>
                    <a:pt x="331" y="115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1"/>
                  </a:lnTo>
                  <a:lnTo>
                    <a:pt x="301" y="59"/>
                  </a:lnTo>
                  <a:lnTo>
                    <a:pt x="290" y="47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51" y="19"/>
                  </a:lnTo>
                  <a:lnTo>
                    <a:pt x="235" y="12"/>
                  </a:lnTo>
                  <a:lnTo>
                    <a:pt x="221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9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0" name="Rectangle 159"/>
            <p:cNvSpPr>
              <a:spLocks noChangeArrowheads="1"/>
            </p:cNvSpPr>
            <p:nvPr/>
          </p:nvSpPr>
          <p:spPr bwMode="auto">
            <a:xfrm>
              <a:off x="816" y="457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511" name="Line 160"/>
            <p:cNvSpPr>
              <a:spLocks noChangeShapeType="1"/>
            </p:cNvSpPr>
            <p:nvPr/>
          </p:nvSpPr>
          <p:spPr bwMode="auto">
            <a:xfrm flipH="1">
              <a:off x="499" y="599"/>
              <a:ext cx="282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2" name="Line 161"/>
            <p:cNvSpPr>
              <a:spLocks noChangeShapeType="1"/>
            </p:cNvSpPr>
            <p:nvPr/>
          </p:nvSpPr>
          <p:spPr bwMode="auto">
            <a:xfrm>
              <a:off x="900" y="599"/>
              <a:ext cx="279" cy="13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3" name="Freeform 162"/>
            <p:cNvSpPr>
              <a:spLocks/>
            </p:cNvSpPr>
            <p:nvPr/>
          </p:nvSpPr>
          <p:spPr bwMode="auto">
            <a:xfrm>
              <a:off x="1138" y="723"/>
              <a:ext cx="169" cy="165"/>
            </a:xfrm>
            <a:custGeom>
              <a:avLst/>
              <a:gdLst>
                <a:gd name="T0" fmla="*/ 5 w 339"/>
                <a:gd name="T1" fmla="*/ 0 h 330"/>
                <a:gd name="T2" fmla="*/ 4 w 339"/>
                <a:gd name="T3" fmla="*/ 1 h 330"/>
                <a:gd name="T4" fmla="*/ 3 w 339"/>
                <a:gd name="T5" fmla="*/ 1 h 330"/>
                <a:gd name="T6" fmla="*/ 2 w 339"/>
                <a:gd name="T7" fmla="*/ 1 h 330"/>
                <a:gd name="T8" fmla="*/ 1 w 339"/>
                <a:gd name="T9" fmla="*/ 1 h 330"/>
                <a:gd name="T10" fmla="*/ 1 w 339"/>
                <a:gd name="T11" fmla="*/ 1 h 330"/>
                <a:gd name="T12" fmla="*/ 0 w 339"/>
                <a:gd name="T13" fmla="*/ 3 h 330"/>
                <a:gd name="T14" fmla="*/ 0 w 339"/>
                <a:gd name="T15" fmla="*/ 3 h 330"/>
                <a:gd name="T16" fmla="*/ 0 w 339"/>
                <a:gd name="T17" fmla="*/ 5 h 330"/>
                <a:gd name="T18" fmla="*/ 0 w 339"/>
                <a:gd name="T19" fmla="*/ 5 h 330"/>
                <a:gd name="T20" fmla="*/ 0 w 339"/>
                <a:gd name="T21" fmla="*/ 5 h 330"/>
                <a:gd name="T22" fmla="*/ 0 w 339"/>
                <a:gd name="T23" fmla="*/ 5 h 330"/>
                <a:gd name="T24" fmla="*/ 0 w 339"/>
                <a:gd name="T25" fmla="*/ 6 h 330"/>
                <a:gd name="T26" fmla="*/ 0 w 339"/>
                <a:gd name="T27" fmla="*/ 6 h 330"/>
                <a:gd name="T28" fmla="*/ 0 w 339"/>
                <a:gd name="T29" fmla="*/ 7 h 330"/>
                <a:gd name="T30" fmla="*/ 1 w 339"/>
                <a:gd name="T31" fmla="*/ 9 h 330"/>
                <a:gd name="T32" fmla="*/ 1 w 339"/>
                <a:gd name="T33" fmla="*/ 10 h 330"/>
                <a:gd name="T34" fmla="*/ 2 w 339"/>
                <a:gd name="T35" fmla="*/ 10 h 330"/>
                <a:gd name="T36" fmla="*/ 3 w 339"/>
                <a:gd name="T37" fmla="*/ 10 h 330"/>
                <a:gd name="T38" fmla="*/ 4 w 339"/>
                <a:gd name="T39" fmla="*/ 10 h 330"/>
                <a:gd name="T40" fmla="*/ 5 w 339"/>
                <a:gd name="T41" fmla="*/ 10 h 330"/>
                <a:gd name="T42" fmla="*/ 5 w 339"/>
                <a:gd name="T43" fmla="*/ 10 h 330"/>
                <a:gd name="T44" fmla="*/ 6 w 339"/>
                <a:gd name="T45" fmla="*/ 10 h 330"/>
                <a:gd name="T46" fmla="*/ 6 w 339"/>
                <a:gd name="T47" fmla="*/ 10 h 330"/>
                <a:gd name="T48" fmla="*/ 7 w 339"/>
                <a:gd name="T49" fmla="*/ 10 h 330"/>
                <a:gd name="T50" fmla="*/ 8 w 339"/>
                <a:gd name="T51" fmla="*/ 10 h 330"/>
                <a:gd name="T52" fmla="*/ 9 w 339"/>
                <a:gd name="T53" fmla="*/ 9 h 330"/>
                <a:gd name="T54" fmla="*/ 9 w 339"/>
                <a:gd name="T55" fmla="*/ 7 h 330"/>
                <a:gd name="T56" fmla="*/ 10 w 339"/>
                <a:gd name="T57" fmla="*/ 6 h 330"/>
                <a:gd name="T58" fmla="*/ 10 w 339"/>
                <a:gd name="T59" fmla="*/ 6 h 330"/>
                <a:gd name="T60" fmla="*/ 10 w 339"/>
                <a:gd name="T61" fmla="*/ 5 h 330"/>
                <a:gd name="T62" fmla="*/ 10 w 339"/>
                <a:gd name="T63" fmla="*/ 5 h 330"/>
                <a:gd name="T64" fmla="*/ 10 w 339"/>
                <a:gd name="T65" fmla="*/ 5 h 330"/>
                <a:gd name="T66" fmla="*/ 10 w 339"/>
                <a:gd name="T67" fmla="*/ 5 h 330"/>
                <a:gd name="T68" fmla="*/ 10 w 339"/>
                <a:gd name="T69" fmla="*/ 3 h 330"/>
                <a:gd name="T70" fmla="*/ 9 w 339"/>
                <a:gd name="T71" fmla="*/ 3 h 330"/>
                <a:gd name="T72" fmla="*/ 9 w 339"/>
                <a:gd name="T73" fmla="*/ 1 h 330"/>
                <a:gd name="T74" fmla="*/ 8 w 339"/>
                <a:gd name="T75" fmla="*/ 1 h 330"/>
                <a:gd name="T76" fmla="*/ 7 w 339"/>
                <a:gd name="T77" fmla="*/ 1 h 330"/>
                <a:gd name="T78" fmla="*/ 6 w 339"/>
                <a:gd name="T79" fmla="*/ 1 h 330"/>
                <a:gd name="T80" fmla="*/ 6 w 339"/>
                <a:gd name="T81" fmla="*/ 1 h 330"/>
                <a:gd name="T82" fmla="*/ 5 w 339"/>
                <a:gd name="T83" fmla="*/ 0 h 3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0"/>
                <a:gd name="T128" fmla="*/ 339 w 339"/>
                <a:gd name="T129" fmla="*/ 330 h 3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0">
                  <a:moveTo>
                    <a:pt x="169" y="0"/>
                  </a:moveTo>
                  <a:lnTo>
                    <a:pt x="160" y="0"/>
                  </a:lnTo>
                  <a:lnTo>
                    <a:pt x="152" y="2"/>
                  </a:lnTo>
                  <a:lnTo>
                    <a:pt x="144" y="2"/>
                  </a:lnTo>
                  <a:lnTo>
                    <a:pt x="134" y="4"/>
                  </a:lnTo>
                  <a:lnTo>
                    <a:pt x="118" y="8"/>
                  </a:lnTo>
                  <a:lnTo>
                    <a:pt x="102" y="13"/>
                  </a:lnTo>
                  <a:lnTo>
                    <a:pt x="88" y="20"/>
                  </a:lnTo>
                  <a:lnTo>
                    <a:pt x="73" y="29"/>
                  </a:lnTo>
                  <a:lnTo>
                    <a:pt x="60" y="39"/>
                  </a:lnTo>
                  <a:lnTo>
                    <a:pt x="49" y="48"/>
                  </a:lnTo>
                  <a:lnTo>
                    <a:pt x="38" y="61"/>
                  </a:lnTo>
                  <a:lnTo>
                    <a:pt x="28" y="74"/>
                  </a:lnTo>
                  <a:lnTo>
                    <a:pt x="19" y="87"/>
                  </a:lnTo>
                  <a:lnTo>
                    <a:pt x="12" y="101"/>
                  </a:lnTo>
                  <a:lnTo>
                    <a:pt x="6" y="117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9"/>
                  </a:lnTo>
                  <a:lnTo>
                    <a:pt x="0" y="157"/>
                  </a:lnTo>
                  <a:lnTo>
                    <a:pt x="0" y="165"/>
                  </a:lnTo>
                  <a:lnTo>
                    <a:pt x="0" y="173"/>
                  </a:lnTo>
                  <a:lnTo>
                    <a:pt x="0" y="183"/>
                  </a:lnTo>
                  <a:lnTo>
                    <a:pt x="1" y="191"/>
                  </a:lnTo>
                  <a:lnTo>
                    <a:pt x="3" y="199"/>
                  </a:lnTo>
                  <a:lnTo>
                    <a:pt x="4" y="207"/>
                  </a:lnTo>
                  <a:lnTo>
                    <a:pt x="6" y="215"/>
                  </a:lnTo>
                  <a:lnTo>
                    <a:pt x="12" y="229"/>
                  </a:lnTo>
                  <a:lnTo>
                    <a:pt x="19" y="243"/>
                  </a:lnTo>
                  <a:lnTo>
                    <a:pt x="28" y="258"/>
                  </a:lnTo>
                  <a:lnTo>
                    <a:pt x="38" y="271"/>
                  </a:lnTo>
                  <a:lnTo>
                    <a:pt x="49" y="282"/>
                  </a:lnTo>
                  <a:lnTo>
                    <a:pt x="60" y="293"/>
                  </a:lnTo>
                  <a:lnTo>
                    <a:pt x="73" y="303"/>
                  </a:lnTo>
                  <a:lnTo>
                    <a:pt x="88" y="311"/>
                  </a:lnTo>
                  <a:lnTo>
                    <a:pt x="102" y="317"/>
                  </a:lnTo>
                  <a:lnTo>
                    <a:pt x="118" y="323"/>
                  </a:lnTo>
                  <a:lnTo>
                    <a:pt x="134" y="327"/>
                  </a:lnTo>
                  <a:lnTo>
                    <a:pt x="144" y="328"/>
                  </a:lnTo>
                  <a:lnTo>
                    <a:pt x="152" y="330"/>
                  </a:lnTo>
                  <a:lnTo>
                    <a:pt x="160" y="330"/>
                  </a:lnTo>
                  <a:lnTo>
                    <a:pt x="169" y="330"/>
                  </a:lnTo>
                  <a:lnTo>
                    <a:pt x="177" y="330"/>
                  </a:lnTo>
                  <a:lnTo>
                    <a:pt x="187" y="330"/>
                  </a:lnTo>
                  <a:lnTo>
                    <a:pt x="195" y="328"/>
                  </a:lnTo>
                  <a:lnTo>
                    <a:pt x="203" y="327"/>
                  </a:lnTo>
                  <a:lnTo>
                    <a:pt x="219" y="323"/>
                  </a:lnTo>
                  <a:lnTo>
                    <a:pt x="235" y="317"/>
                  </a:lnTo>
                  <a:lnTo>
                    <a:pt x="249" y="311"/>
                  </a:lnTo>
                  <a:lnTo>
                    <a:pt x="264" y="303"/>
                  </a:lnTo>
                  <a:lnTo>
                    <a:pt x="276" y="293"/>
                  </a:lnTo>
                  <a:lnTo>
                    <a:pt x="289" y="282"/>
                  </a:lnTo>
                  <a:lnTo>
                    <a:pt x="300" y="271"/>
                  </a:lnTo>
                  <a:lnTo>
                    <a:pt x="310" y="258"/>
                  </a:lnTo>
                  <a:lnTo>
                    <a:pt x="318" y="243"/>
                  </a:lnTo>
                  <a:lnTo>
                    <a:pt x="326" y="229"/>
                  </a:lnTo>
                  <a:lnTo>
                    <a:pt x="331" y="215"/>
                  </a:lnTo>
                  <a:lnTo>
                    <a:pt x="334" y="207"/>
                  </a:lnTo>
                  <a:lnTo>
                    <a:pt x="336" y="199"/>
                  </a:lnTo>
                  <a:lnTo>
                    <a:pt x="337" y="191"/>
                  </a:lnTo>
                  <a:lnTo>
                    <a:pt x="337" y="183"/>
                  </a:lnTo>
                  <a:lnTo>
                    <a:pt x="339" y="173"/>
                  </a:lnTo>
                  <a:lnTo>
                    <a:pt x="339" y="165"/>
                  </a:lnTo>
                  <a:lnTo>
                    <a:pt x="339" y="157"/>
                  </a:lnTo>
                  <a:lnTo>
                    <a:pt x="337" y="149"/>
                  </a:lnTo>
                  <a:lnTo>
                    <a:pt x="337" y="140"/>
                  </a:lnTo>
                  <a:lnTo>
                    <a:pt x="336" y="132"/>
                  </a:lnTo>
                  <a:lnTo>
                    <a:pt x="334" y="124"/>
                  </a:lnTo>
                  <a:lnTo>
                    <a:pt x="331" y="117"/>
                  </a:lnTo>
                  <a:lnTo>
                    <a:pt x="326" y="101"/>
                  </a:lnTo>
                  <a:lnTo>
                    <a:pt x="318" y="87"/>
                  </a:lnTo>
                  <a:lnTo>
                    <a:pt x="310" y="74"/>
                  </a:lnTo>
                  <a:lnTo>
                    <a:pt x="300" y="61"/>
                  </a:lnTo>
                  <a:lnTo>
                    <a:pt x="289" y="48"/>
                  </a:lnTo>
                  <a:lnTo>
                    <a:pt x="276" y="39"/>
                  </a:lnTo>
                  <a:lnTo>
                    <a:pt x="264" y="29"/>
                  </a:lnTo>
                  <a:lnTo>
                    <a:pt x="249" y="20"/>
                  </a:lnTo>
                  <a:lnTo>
                    <a:pt x="235" y="13"/>
                  </a:lnTo>
                  <a:lnTo>
                    <a:pt x="219" y="8"/>
                  </a:lnTo>
                  <a:lnTo>
                    <a:pt x="203" y="4"/>
                  </a:lnTo>
                  <a:lnTo>
                    <a:pt x="195" y="2"/>
                  </a:lnTo>
                  <a:lnTo>
                    <a:pt x="187" y="2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4" name="Rectangle 163"/>
            <p:cNvSpPr>
              <a:spLocks noChangeArrowheads="1"/>
            </p:cNvSpPr>
            <p:nvPr/>
          </p:nvSpPr>
          <p:spPr bwMode="auto">
            <a:xfrm>
              <a:off x="1172" y="72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15" name="Rectangle 164"/>
            <p:cNvSpPr>
              <a:spLocks noChangeArrowheads="1"/>
            </p:cNvSpPr>
            <p:nvPr/>
          </p:nvSpPr>
          <p:spPr bwMode="auto">
            <a:xfrm>
              <a:off x="1230" y="789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516" name="Line 165"/>
            <p:cNvSpPr>
              <a:spLocks noChangeShapeType="1"/>
            </p:cNvSpPr>
            <p:nvPr/>
          </p:nvSpPr>
          <p:spPr bwMode="auto">
            <a:xfrm>
              <a:off x="516" y="879"/>
              <a:ext cx="147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7" name="Line 166"/>
            <p:cNvSpPr>
              <a:spLocks noChangeShapeType="1"/>
            </p:cNvSpPr>
            <p:nvPr/>
          </p:nvSpPr>
          <p:spPr bwMode="auto">
            <a:xfrm flipH="1">
              <a:off x="197" y="877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8" name="Freeform 167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19" name="Freeform 168"/>
            <p:cNvSpPr>
              <a:spLocks/>
            </p:cNvSpPr>
            <p:nvPr/>
          </p:nvSpPr>
          <p:spPr bwMode="auto">
            <a:xfrm>
              <a:off x="42" y="1017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20" name="Rectangle 169"/>
            <p:cNvSpPr>
              <a:spLocks noChangeArrowheads="1"/>
            </p:cNvSpPr>
            <p:nvPr/>
          </p:nvSpPr>
          <p:spPr bwMode="auto">
            <a:xfrm>
              <a:off x="130" y="1090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21" name="Rectangle 170"/>
            <p:cNvSpPr>
              <a:spLocks noChangeArrowheads="1"/>
            </p:cNvSpPr>
            <p:nvPr/>
          </p:nvSpPr>
          <p:spPr bwMode="auto">
            <a:xfrm>
              <a:off x="195" y="1145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522" name="Freeform 171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23" name="Freeform 172"/>
            <p:cNvSpPr>
              <a:spLocks/>
            </p:cNvSpPr>
            <p:nvPr/>
          </p:nvSpPr>
          <p:spPr bwMode="auto">
            <a:xfrm>
              <a:off x="526" y="1021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24" name="Rectangle 173"/>
            <p:cNvSpPr>
              <a:spLocks noChangeArrowheads="1"/>
            </p:cNvSpPr>
            <p:nvPr/>
          </p:nvSpPr>
          <p:spPr bwMode="auto">
            <a:xfrm>
              <a:off x="614" y="109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25" name="Rectangle 174"/>
            <p:cNvSpPr>
              <a:spLocks noChangeArrowheads="1"/>
            </p:cNvSpPr>
            <p:nvPr/>
          </p:nvSpPr>
          <p:spPr bwMode="auto">
            <a:xfrm>
              <a:off x="679" y="1148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526" name="Freeform 175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27" name="Freeform 176"/>
            <p:cNvSpPr>
              <a:spLocks/>
            </p:cNvSpPr>
            <p:nvPr/>
          </p:nvSpPr>
          <p:spPr bwMode="auto">
            <a:xfrm>
              <a:off x="871" y="1045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28" name="Rectangle 177"/>
            <p:cNvSpPr>
              <a:spLocks noChangeArrowheads="1"/>
            </p:cNvSpPr>
            <p:nvPr/>
          </p:nvSpPr>
          <p:spPr bwMode="auto">
            <a:xfrm>
              <a:off x="959" y="1117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29" name="Rectangle 178"/>
            <p:cNvSpPr>
              <a:spLocks noChangeArrowheads="1"/>
            </p:cNvSpPr>
            <p:nvPr/>
          </p:nvSpPr>
          <p:spPr bwMode="auto">
            <a:xfrm>
              <a:off x="1023" y="1172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530" name="Freeform 179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31" name="Freeform 180"/>
            <p:cNvSpPr>
              <a:spLocks/>
            </p:cNvSpPr>
            <p:nvPr/>
          </p:nvSpPr>
          <p:spPr bwMode="auto">
            <a:xfrm>
              <a:off x="1273" y="1049"/>
              <a:ext cx="280" cy="207"/>
            </a:xfrm>
            <a:custGeom>
              <a:avLst/>
              <a:gdLst>
                <a:gd name="T0" fmla="*/ 9 w 560"/>
                <a:gd name="T1" fmla="*/ 0 h 414"/>
                <a:gd name="T2" fmla="*/ 0 w 560"/>
                <a:gd name="T3" fmla="*/ 13 h 414"/>
                <a:gd name="T4" fmla="*/ 18 w 560"/>
                <a:gd name="T5" fmla="*/ 13 h 414"/>
                <a:gd name="T6" fmla="*/ 9 w 560"/>
                <a:gd name="T7" fmla="*/ 0 h 4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4"/>
                <a:gd name="T14" fmla="*/ 560 w 560"/>
                <a:gd name="T15" fmla="*/ 414 h 4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4">
                  <a:moveTo>
                    <a:pt x="280" y="0"/>
                  </a:moveTo>
                  <a:lnTo>
                    <a:pt x="0" y="414"/>
                  </a:lnTo>
                  <a:lnTo>
                    <a:pt x="560" y="414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32" name="Rectangle 181"/>
            <p:cNvSpPr>
              <a:spLocks noChangeArrowheads="1"/>
            </p:cNvSpPr>
            <p:nvPr/>
          </p:nvSpPr>
          <p:spPr bwMode="auto">
            <a:xfrm>
              <a:off x="1361" y="1122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33" name="Rectangle 182"/>
            <p:cNvSpPr>
              <a:spLocks noChangeArrowheads="1"/>
            </p:cNvSpPr>
            <p:nvPr/>
          </p:nvSpPr>
          <p:spPr bwMode="auto">
            <a:xfrm>
              <a:off x="1426" y="1177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534" name="Line 183"/>
            <p:cNvSpPr>
              <a:spLocks noChangeShapeType="1"/>
            </p:cNvSpPr>
            <p:nvPr/>
          </p:nvSpPr>
          <p:spPr bwMode="auto">
            <a:xfrm flipH="1">
              <a:off x="1009" y="900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35" name="Line 184"/>
            <p:cNvSpPr>
              <a:spLocks noChangeShapeType="1"/>
            </p:cNvSpPr>
            <p:nvPr/>
          </p:nvSpPr>
          <p:spPr bwMode="auto">
            <a:xfrm>
              <a:off x="1266" y="896"/>
              <a:ext cx="14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36" name="Freeform 185"/>
            <p:cNvSpPr>
              <a:spLocks/>
            </p:cNvSpPr>
            <p:nvPr/>
          </p:nvSpPr>
          <p:spPr bwMode="auto">
            <a:xfrm>
              <a:off x="2338" y="374"/>
              <a:ext cx="169" cy="165"/>
            </a:xfrm>
            <a:custGeom>
              <a:avLst/>
              <a:gdLst>
                <a:gd name="T0" fmla="*/ 5 w 338"/>
                <a:gd name="T1" fmla="*/ 0 h 329"/>
                <a:gd name="T2" fmla="*/ 5 w 338"/>
                <a:gd name="T3" fmla="*/ 1 h 329"/>
                <a:gd name="T4" fmla="*/ 3 w 338"/>
                <a:gd name="T5" fmla="*/ 1 h 329"/>
                <a:gd name="T6" fmla="*/ 3 w 338"/>
                <a:gd name="T7" fmla="*/ 1 h 329"/>
                <a:gd name="T8" fmla="*/ 1 w 338"/>
                <a:gd name="T9" fmla="*/ 2 h 329"/>
                <a:gd name="T10" fmla="*/ 1 w 338"/>
                <a:gd name="T11" fmla="*/ 2 h 329"/>
                <a:gd name="T12" fmla="*/ 1 w 338"/>
                <a:gd name="T13" fmla="*/ 3 h 329"/>
                <a:gd name="T14" fmla="*/ 1 w 338"/>
                <a:gd name="T15" fmla="*/ 4 h 329"/>
                <a:gd name="T16" fmla="*/ 1 w 338"/>
                <a:gd name="T17" fmla="*/ 5 h 329"/>
                <a:gd name="T18" fmla="*/ 0 w 338"/>
                <a:gd name="T19" fmla="*/ 5 h 329"/>
                <a:gd name="T20" fmla="*/ 0 w 338"/>
                <a:gd name="T21" fmla="*/ 6 h 329"/>
                <a:gd name="T22" fmla="*/ 0 w 338"/>
                <a:gd name="T23" fmla="*/ 6 h 329"/>
                <a:gd name="T24" fmla="*/ 1 w 338"/>
                <a:gd name="T25" fmla="*/ 7 h 329"/>
                <a:gd name="T26" fmla="*/ 1 w 338"/>
                <a:gd name="T27" fmla="*/ 7 h 329"/>
                <a:gd name="T28" fmla="*/ 1 w 338"/>
                <a:gd name="T29" fmla="*/ 8 h 329"/>
                <a:gd name="T30" fmla="*/ 1 w 338"/>
                <a:gd name="T31" fmla="*/ 9 h 329"/>
                <a:gd name="T32" fmla="*/ 1 w 338"/>
                <a:gd name="T33" fmla="*/ 10 h 329"/>
                <a:gd name="T34" fmla="*/ 3 w 338"/>
                <a:gd name="T35" fmla="*/ 10 h 329"/>
                <a:gd name="T36" fmla="*/ 3 w 338"/>
                <a:gd name="T37" fmla="*/ 11 h 329"/>
                <a:gd name="T38" fmla="*/ 5 w 338"/>
                <a:gd name="T39" fmla="*/ 11 h 329"/>
                <a:gd name="T40" fmla="*/ 5 w 338"/>
                <a:gd name="T41" fmla="*/ 11 h 329"/>
                <a:gd name="T42" fmla="*/ 5 w 338"/>
                <a:gd name="T43" fmla="*/ 11 h 329"/>
                <a:gd name="T44" fmla="*/ 6 w 338"/>
                <a:gd name="T45" fmla="*/ 11 h 329"/>
                <a:gd name="T46" fmla="*/ 6 w 338"/>
                <a:gd name="T47" fmla="*/ 11 h 329"/>
                <a:gd name="T48" fmla="*/ 7 w 338"/>
                <a:gd name="T49" fmla="*/ 10 h 329"/>
                <a:gd name="T50" fmla="*/ 9 w 338"/>
                <a:gd name="T51" fmla="*/ 10 h 329"/>
                <a:gd name="T52" fmla="*/ 10 w 338"/>
                <a:gd name="T53" fmla="*/ 9 h 329"/>
                <a:gd name="T54" fmla="*/ 10 w 338"/>
                <a:gd name="T55" fmla="*/ 8 h 329"/>
                <a:gd name="T56" fmla="*/ 11 w 338"/>
                <a:gd name="T57" fmla="*/ 7 h 329"/>
                <a:gd name="T58" fmla="*/ 11 w 338"/>
                <a:gd name="T59" fmla="*/ 7 h 329"/>
                <a:gd name="T60" fmla="*/ 11 w 338"/>
                <a:gd name="T61" fmla="*/ 6 h 329"/>
                <a:gd name="T62" fmla="*/ 11 w 338"/>
                <a:gd name="T63" fmla="*/ 6 h 329"/>
                <a:gd name="T64" fmla="*/ 11 w 338"/>
                <a:gd name="T65" fmla="*/ 5 h 329"/>
                <a:gd name="T66" fmla="*/ 11 w 338"/>
                <a:gd name="T67" fmla="*/ 5 h 329"/>
                <a:gd name="T68" fmla="*/ 11 w 338"/>
                <a:gd name="T69" fmla="*/ 4 h 329"/>
                <a:gd name="T70" fmla="*/ 10 w 338"/>
                <a:gd name="T71" fmla="*/ 3 h 329"/>
                <a:gd name="T72" fmla="*/ 10 w 338"/>
                <a:gd name="T73" fmla="*/ 2 h 329"/>
                <a:gd name="T74" fmla="*/ 9 w 338"/>
                <a:gd name="T75" fmla="*/ 2 h 329"/>
                <a:gd name="T76" fmla="*/ 7 w 338"/>
                <a:gd name="T77" fmla="*/ 1 h 329"/>
                <a:gd name="T78" fmla="*/ 6 w 338"/>
                <a:gd name="T79" fmla="*/ 1 h 329"/>
                <a:gd name="T80" fmla="*/ 6 w 338"/>
                <a:gd name="T81" fmla="*/ 1 h 329"/>
                <a:gd name="T82" fmla="*/ 5 w 338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8"/>
                <a:gd name="T127" fmla="*/ 0 h 329"/>
                <a:gd name="T128" fmla="*/ 338 w 338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8" h="329">
                  <a:moveTo>
                    <a:pt x="168" y="0"/>
                  </a:moveTo>
                  <a:lnTo>
                    <a:pt x="160" y="0"/>
                  </a:lnTo>
                  <a:lnTo>
                    <a:pt x="151" y="0"/>
                  </a:lnTo>
                  <a:lnTo>
                    <a:pt x="143" y="1"/>
                  </a:lnTo>
                  <a:lnTo>
                    <a:pt x="135" y="3"/>
                  </a:lnTo>
                  <a:lnTo>
                    <a:pt x="119" y="6"/>
                  </a:lnTo>
                  <a:lnTo>
                    <a:pt x="103" y="12"/>
                  </a:lnTo>
                  <a:lnTo>
                    <a:pt x="88" y="19"/>
                  </a:lnTo>
                  <a:lnTo>
                    <a:pt x="74" y="27"/>
                  </a:lnTo>
                  <a:lnTo>
                    <a:pt x="61" y="36"/>
                  </a:lnTo>
                  <a:lnTo>
                    <a:pt x="50" y="48"/>
                  </a:lnTo>
                  <a:lnTo>
                    <a:pt x="39" y="59"/>
                  </a:lnTo>
                  <a:lnTo>
                    <a:pt x="29" y="72"/>
                  </a:lnTo>
                  <a:lnTo>
                    <a:pt x="20" y="86"/>
                  </a:lnTo>
                  <a:lnTo>
                    <a:pt x="13" y="100"/>
                  </a:lnTo>
                  <a:lnTo>
                    <a:pt x="7" y="115"/>
                  </a:lnTo>
                  <a:lnTo>
                    <a:pt x="5" y="123"/>
                  </a:lnTo>
                  <a:lnTo>
                    <a:pt x="4" y="131"/>
                  </a:lnTo>
                  <a:lnTo>
                    <a:pt x="2" y="139"/>
                  </a:lnTo>
                  <a:lnTo>
                    <a:pt x="0" y="147"/>
                  </a:lnTo>
                  <a:lnTo>
                    <a:pt x="0" y="155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0" y="180"/>
                  </a:lnTo>
                  <a:lnTo>
                    <a:pt x="2" y="188"/>
                  </a:lnTo>
                  <a:lnTo>
                    <a:pt x="4" y="196"/>
                  </a:lnTo>
                  <a:lnTo>
                    <a:pt x="5" y="204"/>
                  </a:lnTo>
                  <a:lnTo>
                    <a:pt x="7" y="212"/>
                  </a:lnTo>
                  <a:lnTo>
                    <a:pt x="13" y="228"/>
                  </a:lnTo>
                  <a:lnTo>
                    <a:pt x="20" y="243"/>
                  </a:lnTo>
                  <a:lnTo>
                    <a:pt x="29" y="255"/>
                  </a:lnTo>
                  <a:lnTo>
                    <a:pt x="39" y="268"/>
                  </a:lnTo>
                  <a:lnTo>
                    <a:pt x="50" y="281"/>
                  </a:lnTo>
                  <a:lnTo>
                    <a:pt x="61" y="291"/>
                  </a:lnTo>
                  <a:lnTo>
                    <a:pt x="74" y="300"/>
                  </a:lnTo>
                  <a:lnTo>
                    <a:pt x="88" y="308"/>
                  </a:lnTo>
                  <a:lnTo>
                    <a:pt x="103" y="316"/>
                  </a:lnTo>
                  <a:lnTo>
                    <a:pt x="119" y="321"/>
                  </a:lnTo>
                  <a:lnTo>
                    <a:pt x="135" y="326"/>
                  </a:lnTo>
                  <a:lnTo>
                    <a:pt x="143" y="327"/>
                  </a:lnTo>
                  <a:lnTo>
                    <a:pt x="151" y="327"/>
                  </a:lnTo>
                  <a:lnTo>
                    <a:pt x="160" y="329"/>
                  </a:lnTo>
                  <a:lnTo>
                    <a:pt x="168" y="329"/>
                  </a:lnTo>
                  <a:lnTo>
                    <a:pt x="178" y="329"/>
                  </a:lnTo>
                  <a:lnTo>
                    <a:pt x="186" y="327"/>
                  </a:lnTo>
                  <a:lnTo>
                    <a:pt x="194" y="327"/>
                  </a:lnTo>
                  <a:lnTo>
                    <a:pt x="204" y="326"/>
                  </a:lnTo>
                  <a:lnTo>
                    <a:pt x="220" y="321"/>
                  </a:lnTo>
                  <a:lnTo>
                    <a:pt x="234" y="316"/>
                  </a:lnTo>
                  <a:lnTo>
                    <a:pt x="250" y="308"/>
                  </a:lnTo>
                  <a:lnTo>
                    <a:pt x="263" y="300"/>
                  </a:lnTo>
                  <a:lnTo>
                    <a:pt x="277" y="291"/>
                  </a:lnTo>
                  <a:lnTo>
                    <a:pt x="288" y="281"/>
                  </a:lnTo>
                  <a:lnTo>
                    <a:pt x="300" y="268"/>
                  </a:lnTo>
                  <a:lnTo>
                    <a:pt x="309" y="255"/>
                  </a:lnTo>
                  <a:lnTo>
                    <a:pt x="317" y="243"/>
                  </a:lnTo>
                  <a:lnTo>
                    <a:pt x="325" y="228"/>
                  </a:lnTo>
                  <a:lnTo>
                    <a:pt x="330" y="212"/>
                  </a:lnTo>
                  <a:lnTo>
                    <a:pt x="333" y="204"/>
                  </a:lnTo>
                  <a:lnTo>
                    <a:pt x="335" y="196"/>
                  </a:lnTo>
                  <a:lnTo>
                    <a:pt x="336" y="188"/>
                  </a:lnTo>
                  <a:lnTo>
                    <a:pt x="336" y="180"/>
                  </a:lnTo>
                  <a:lnTo>
                    <a:pt x="338" y="172"/>
                  </a:lnTo>
                  <a:lnTo>
                    <a:pt x="338" y="164"/>
                  </a:lnTo>
                  <a:lnTo>
                    <a:pt x="338" y="155"/>
                  </a:lnTo>
                  <a:lnTo>
                    <a:pt x="336" y="147"/>
                  </a:lnTo>
                  <a:lnTo>
                    <a:pt x="336" y="139"/>
                  </a:lnTo>
                  <a:lnTo>
                    <a:pt x="335" y="131"/>
                  </a:lnTo>
                  <a:lnTo>
                    <a:pt x="333" y="123"/>
                  </a:lnTo>
                  <a:lnTo>
                    <a:pt x="330" y="115"/>
                  </a:lnTo>
                  <a:lnTo>
                    <a:pt x="325" y="100"/>
                  </a:lnTo>
                  <a:lnTo>
                    <a:pt x="317" y="86"/>
                  </a:lnTo>
                  <a:lnTo>
                    <a:pt x="309" y="72"/>
                  </a:lnTo>
                  <a:lnTo>
                    <a:pt x="300" y="59"/>
                  </a:lnTo>
                  <a:lnTo>
                    <a:pt x="288" y="48"/>
                  </a:lnTo>
                  <a:lnTo>
                    <a:pt x="277" y="36"/>
                  </a:lnTo>
                  <a:lnTo>
                    <a:pt x="263" y="27"/>
                  </a:lnTo>
                  <a:lnTo>
                    <a:pt x="250" y="19"/>
                  </a:lnTo>
                  <a:lnTo>
                    <a:pt x="234" y="12"/>
                  </a:lnTo>
                  <a:lnTo>
                    <a:pt x="220" y="6"/>
                  </a:lnTo>
                  <a:lnTo>
                    <a:pt x="204" y="3"/>
                  </a:lnTo>
                  <a:lnTo>
                    <a:pt x="194" y="1"/>
                  </a:lnTo>
                  <a:lnTo>
                    <a:pt x="186" y="0"/>
                  </a:lnTo>
                  <a:lnTo>
                    <a:pt x="178" y="0"/>
                  </a:lnTo>
                  <a:lnTo>
                    <a:pt x="168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37" name="Rectangle 186"/>
            <p:cNvSpPr>
              <a:spLocks noChangeArrowheads="1"/>
            </p:cNvSpPr>
            <p:nvPr/>
          </p:nvSpPr>
          <p:spPr bwMode="auto">
            <a:xfrm>
              <a:off x="2377" y="37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38" name="Rectangle 187"/>
            <p:cNvSpPr>
              <a:spLocks noChangeArrowheads="1"/>
            </p:cNvSpPr>
            <p:nvPr/>
          </p:nvSpPr>
          <p:spPr bwMode="auto">
            <a:xfrm>
              <a:off x="2435" y="439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539" name="Freeform 188"/>
            <p:cNvSpPr>
              <a:spLocks/>
            </p:cNvSpPr>
            <p:nvPr/>
          </p:nvSpPr>
          <p:spPr bwMode="auto">
            <a:xfrm>
              <a:off x="2752" y="677"/>
              <a:ext cx="170" cy="165"/>
            </a:xfrm>
            <a:custGeom>
              <a:avLst/>
              <a:gdLst>
                <a:gd name="T0" fmla="*/ 6 w 339"/>
                <a:gd name="T1" fmla="*/ 0 h 329"/>
                <a:gd name="T2" fmla="*/ 5 w 339"/>
                <a:gd name="T3" fmla="*/ 1 h 329"/>
                <a:gd name="T4" fmla="*/ 4 w 339"/>
                <a:gd name="T5" fmla="*/ 1 h 329"/>
                <a:gd name="T6" fmla="*/ 3 w 339"/>
                <a:gd name="T7" fmla="*/ 1 h 329"/>
                <a:gd name="T8" fmla="*/ 2 w 339"/>
                <a:gd name="T9" fmla="*/ 2 h 329"/>
                <a:gd name="T10" fmla="*/ 2 w 339"/>
                <a:gd name="T11" fmla="*/ 2 h 329"/>
                <a:gd name="T12" fmla="*/ 1 w 339"/>
                <a:gd name="T13" fmla="*/ 3 h 329"/>
                <a:gd name="T14" fmla="*/ 1 w 339"/>
                <a:gd name="T15" fmla="*/ 4 h 329"/>
                <a:gd name="T16" fmla="*/ 1 w 339"/>
                <a:gd name="T17" fmla="*/ 5 h 329"/>
                <a:gd name="T18" fmla="*/ 1 w 339"/>
                <a:gd name="T19" fmla="*/ 5 h 329"/>
                <a:gd name="T20" fmla="*/ 0 w 339"/>
                <a:gd name="T21" fmla="*/ 6 h 329"/>
                <a:gd name="T22" fmla="*/ 1 w 339"/>
                <a:gd name="T23" fmla="*/ 6 h 329"/>
                <a:gd name="T24" fmla="*/ 1 w 339"/>
                <a:gd name="T25" fmla="*/ 7 h 329"/>
                <a:gd name="T26" fmla="*/ 1 w 339"/>
                <a:gd name="T27" fmla="*/ 7 h 329"/>
                <a:gd name="T28" fmla="*/ 1 w 339"/>
                <a:gd name="T29" fmla="*/ 8 h 329"/>
                <a:gd name="T30" fmla="*/ 2 w 339"/>
                <a:gd name="T31" fmla="*/ 9 h 329"/>
                <a:gd name="T32" fmla="*/ 2 w 339"/>
                <a:gd name="T33" fmla="*/ 10 h 329"/>
                <a:gd name="T34" fmla="*/ 3 w 339"/>
                <a:gd name="T35" fmla="*/ 10 h 329"/>
                <a:gd name="T36" fmla="*/ 4 w 339"/>
                <a:gd name="T37" fmla="*/ 11 h 329"/>
                <a:gd name="T38" fmla="*/ 5 w 339"/>
                <a:gd name="T39" fmla="*/ 11 h 329"/>
                <a:gd name="T40" fmla="*/ 6 w 339"/>
                <a:gd name="T41" fmla="*/ 11 h 329"/>
                <a:gd name="T42" fmla="*/ 6 w 339"/>
                <a:gd name="T43" fmla="*/ 11 h 329"/>
                <a:gd name="T44" fmla="*/ 7 w 339"/>
                <a:gd name="T45" fmla="*/ 11 h 329"/>
                <a:gd name="T46" fmla="*/ 7 w 339"/>
                <a:gd name="T47" fmla="*/ 11 h 329"/>
                <a:gd name="T48" fmla="*/ 8 w 339"/>
                <a:gd name="T49" fmla="*/ 10 h 329"/>
                <a:gd name="T50" fmla="*/ 9 w 339"/>
                <a:gd name="T51" fmla="*/ 10 h 329"/>
                <a:gd name="T52" fmla="*/ 10 w 339"/>
                <a:gd name="T53" fmla="*/ 9 h 329"/>
                <a:gd name="T54" fmla="*/ 10 w 339"/>
                <a:gd name="T55" fmla="*/ 8 h 329"/>
                <a:gd name="T56" fmla="*/ 11 w 339"/>
                <a:gd name="T57" fmla="*/ 7 h 329"/>
                <a:gd name="T58" fmla="*/ 11 w 339"/>
                <a:gd name="T59" fmla="*/ 7 h 329"/>
                <a:gd name="T60" fmla="*/ 11 w 339"/>
                <a:gd name="T61" fmla="*/ 6 h 329"/>
                <a:gd name="T62" fmla="*/ 11 w 339"/>
                <a:gd name="T63" fmla="*/ 6 h 329"/>
                <a:gd name="T64" fmla="*/ 11 w 339"/>
                <a:gd name="T65" fmla="*/ 5 h 329"/>
                <a:gd name="T66" fmla="*/ 11 w 339"/>
                <a:gd name="T67" fmla="*/ 5 h 329"/>
                <a:gd name="T68" fmla="*/ 11 w 339"/>
                <a:gd name="T69" fmla="*/ 4 h 329"/>
                <a:gd name="T70" fmla="*/ 10 w 339"/>
                <a:gd name="T71" fmla="*/ 3 h 329"/>
                <a:gd name="T72" fmla="*/ 10 w 339"/>
                <a:gd name="T73" fmla="*/ 2 h 329"/>
                <a:gd name="T74" fmla="*/ 9 w 339"/>
                <a:gd name="T75" fmla="*/ 2 h 329"/>
                <a:gd name="T76" fmla="*/ 8 w 339"/>
                <a:gd name="T77" fmla="*/ 1 h 329"/>
                <a:gd name="T78" fmla="*/ 7 w 339"/>
                <a:gd name="T79" fmla="*/ 1 h 329"/>
                <a:gd name="T80" fmla="*/ 7 w 339"/>
                <a:gd name="T81" fmla="*/ 1 h 329"/>
                <a:gd name="T82" fmla="*/ 6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8"/>
                  </a:lnTo>
                  <a:lnTo>
                    <a:pt x="38" y="59"/>
                  </a:lnTo>
                  <a:lnTo>
                    <a:pt x="29" y="72"/>
                  </a:lnTo>
                  <a:lnTo>
                    <a:pt x="21" y="86"/>
                  </a:lnTo>
                  <a:lnTo>
                    <a:pt x="14" y="100"/>
                  </a:lnTo>
                  <a:lnTo>
                    <a:pt x="8" y="115"/>
                  </a:lnTo>
                  <a:lnTo>
                    <a:pt x="6" y="123"/>
                  </a:lnTo>
                  <a:lnTo>
                    <a:pt x="3" y="131"/>
                  </a:lnTo>
                  <a:lnTo>
                    <a:pt x="2" y="139"/>
                  </a:lnTo>
                  <a:lnTo>
                    <a:pt x="2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2" y="180"/>
                  </a:lnTo>
                  <a:lnTo>
                    <a:pt x="2" y="190"/>
                  </a:lnTo>
                  <a:lnTo>
                    <a:pt x="3" y="198"/>
                  </a:lnTo>
                  <a:lnTo>
                    <a:pt x="6" y="206"/>
                  </a:lnTo>
                  <a:lnTo>
                    <a:pt x="8" y="214"/>
                  </a:lnTo>
                  <a:lnTo>
                    <a:pt x="14" y="228"/>
                  </a:lnTo>
                  <a:lnTo>
                    <a:pt x="21" y="243"/>
                  </a:lnTo>
                  <a:lnTo>
                    <a:pt x="29" y="257"/>
                  </a:lnTo>
                  <a:lnTo>
                    <a:pt x="38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10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8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19" y="321"/>
                  </a:lnTo>
                  <a:lnTo>
                    <a:pt x="235" y="316"/>
                  </a:lnTo>
                  <a:lnTo>
                    <a:pt x="249" y="310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89" y="281"/>
                  </a:lnTo>
                  <a:lnTo>
                    <a:pt x="301" y="268"/>
                  </a:lnTo>
                  <a:lnTo>
                    <a:pt x="310" y="257"/>
                  </a:lnTo>
                  <a:lnTo>
                    <a:pt x="318" y="243"/>
                  </a:lnTo>
                  <a:lnTo>
                    <a:pt x="325" y="228"/>
                  </a:lnTo>
                  <a:lnTo>
                    <a:pt x="331" y="214"/>
                  </a:lnTo>
                  <a:lnTo>
                    <a:pt x="333" y="206"/>
                  </a:lnTo>
                  <a:lnTo>
                    <a:pt x="336" y="198"/>
                  </a:lnTo>
                  <a:lnTo>
                    <a:pt x="337" y="190"/>
                  </a:lnTo>
                  <a:lnTo>
                    <a:pt x="337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6"/>
                  </a:lnTo>
                  <a:lnTo>
                    <a:pt x="337" y="147"/>
                  </a:lnTo>
                  <a:lnTo>
                    <a:pt x="337" y="139"/>
                  </a:lnTo>
                  <a:lnTo>
                    <a:pt x="336" y="131"/>
                  </a:lnTo>
                  <a:lnTo>
                    <a:pt x="333" y="123"/>
                  </a:lnTo>
                  <a:lnTo>
                    <a:pt x="331" y="115"/>
                  </a:lnTo>
                  <a:lnTo>
                    <a:pt x="325" y="100"/>
                  </a:lnTo>
                  <a:lnTo>
                    <a:pt x="318" y="86"/>
                  </a:lnTo>
                  <a:lnTo>
                    <a:pt x="310" y="72"/>
                  </a:lnTo>
                  <a:lnTo>
                    <a:pt x="301" y="59"/>
                  </a:lnTo>
                  <a:lnTo>
                    <a:pt x="289" y="48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49" y="19"/>
                  </a:lnTo>
                  <a:lnTo>
                    <a:pt x="235" y="12"/>
                  </a:lnTo>
                  <a:lnTo>
                    <a:pt x="219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8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40" name="Rectangle 189"/>
            <p:cNvSpPr>
              <a:spLocks noChangeArrowheads="1"/>
            </p:cNvSpPr>
            <p:nvPr/>
          </p:nvSpPr>
          <p:spPr bwMode="auto">
            <a:xfrm>
              <a:off x="2812" y="681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541" name="Freeform 190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42" name="Freeform 191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43" name="Rectangle 192"/>
            <p:cNvSpPr>
              <a:spLocks noChangeArrowheads="1"/>
            </p:cNvSpPr>
            <p:nvPr/>
          </p:nvSpPr>
          <p:spPr bwMode="auto">
            <a:xfrm>
              <a:off x="1986" y="72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44" name="Rectangle 193"/>
            <p:cNvSpPr>
              <a:spLocks noChangeArrowheads="1"/>
            </p:cNvSpPr>
            <p:nvPr/>
          </p:nvSpPr>
          <p:spPr bwMode="auto">
            <a:xfrm>
              <a:off x="2050" y="78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545" name="Freeform 194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46" name="Freeform 195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47" name="Rectangle 196"/>
            <p:cNvSpPr>
              <a:spLocks noChangeArrowheads="1"/>
            </p:cNvSpPr>
            <p:nvPr/>
          </p:nvSpPr>
          <p:spPr bwMode="auto">
            <a:xfrm>
              <a:off x="2505" y="104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48" name="Rectangle 197"/>
            <p:cNvSpPr>
              <a:spLocks noChangeArrowheads="1"/>
            </p:cNvSpPr>
            <p:nvPr/>
          </p:nvSpPr>
          <p:spPr bwMode="auto">
            <a:xfrm>
              <a:off x="2570" y="110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549" name="Line 198"/>
            <p:cNvSpPr>
              <a:spLocks noChangeShapeType="1"/>
            </p:cNvSpPr>
            <p:nvPr/>
          </p:nvSpPr>
          <p:spPr bwMode="auto">
            <a:xfrm flipH="1">
              <a:off x="2054" y="507"/>
              <a:ext cx="283" cy="13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0" name="Line 199"/>
            <p:cNvSpPr>
              <a:spLocks noChangeShapeType="1"/>
            </p:cNvSpPr>
            <p:nvPr/>
          </p:nvSpPr>
          <p:spPr bwMode="auto">
            <a:xfrm flipH="1">
              <a:off x="2578" y="814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1" name="Freeform 200"/>
            <p:cNvSpPr>
              <a:spLocks/>
            </p:cNvSpPr>
            <p:nvPr/>
          </p:nvSpPr>
          <p:spPr bwMode="auto">
            <a:xfrm>
              <a:off x="3083" y="926"/>
              <a:ext cx="169" cy="166"/>
            </a:xfrm>
            <a:custGeom>
              <a:avLst/>
              <a:gdLst>
                <a:gd name="T0" fmla="*/ 5 w 339"/>
                <a:gd name="T1" fmla="*/ 0 h 331"/>
                <a:gd name="T2" fmla="*/ 4 w 339"/>
                <a:gd name="T3" fmla="*/ 1 h 331"/>
                <a:gd name="T4" fmla="*/ 3 w 339"/>
                <a:gd name="T5" fmla="*/ 1 h 331"/>
                <a:gd name="T6" fmla="*/ 2 w 339"/>
                <a:gd name="T7" fmla="*/ 1 h 331"/>
                <a:gd name="T8" fmla="*/ 1 w 339"/>
                <a:gd name="T9" fmla="*/ 2 h 331"/>
                <a:gd name="T10" fmla="*/ 1 w 339"/>
                <a:gd name="T11" fmla="*/ 2 h 331"/>
                <a:gd name="T12" fmla="*/ 0 w 339"/>
                <a:gd name="T13" fmla="*/ 3 h 331"/>
                <a:gd name="T14" fmla="*/ 0 w 339"/>
                <a:gd name="T15" fmla="*/ 4 h 331"/>
                <a:gd name="T16" fmla="*/ 0 w 339"/>
                <a:gd name="T17" fmla="*/ 5 h 331"/>
                <a:gd name="T18" fmla="*/ 0 w 339"/>
                <a:gd name="T19" fmla="*/ 5 h 331"/>
                <a:gd name="T20" fmla="*/ 0 w 339"/>
                <a:gd name="T21" fmla="*/ 6 h 331"/>
                <a:gd name="T22" fmla="*/ 0 w 339"/>
                <a:gd name="T23" fmla="*/ 6 h 331"/>
                <a:gd name="T24" fmla="*/ 0 w 339"/>
                <a:gd name="T25" fmla="*/ 7 h 331"/>
                <a:gd name="T26" fmla="*/ 0 w 339"/>
                <a:gd name="T27" fmla="*/ 7 h 331"/>
                <a:gd name="T28" fmla="*/ 0 w 339"/>
                <a:gd name="T29" fmla="*/ 8 h 331"/>
                <a:gd name="T30" fmla="*/ 1 w 339"/>
                <a:gd name="T31" fmla="*/ 9 h 331"/>
                <a:gd name="T32" fmla="*/ 1 w 339"/>
                <a:gd name="T33" fmla="*/ 10 h 331"/>
                <a:gd name="T34" fmla="*/ 2 w 339"/>
                <a:gd name="T35" fmla="*/ 10 h 331"/>
                <a:gd name="T36" fmla="*/ 3 w 339"/>
                <a:gd name="T37" fmla="*/ 11 h 331"/>
                <a:gd name="T38" fmla="*/ 4 w 339"/>
                <a:gd name="T39" fmla="*/ 11 h 331"/>
                <a:gd name="T40" fmla="*/ 5 w 339"/>
                <a:gd name="T41" fmla="*/ 11 h 331"/>
                <a:gd name="T42" fmla="*/ 5 w 339"/>
                <a:gd name="T43" fmla="*/ 11 h 331"/>
                <a:gd name="T44" fmla="*/ 6 w 339"/>
                <a:gd name="T45" fmla="*/ 11 h 331"/>
                <a:gd name="T46" fmla="*/ 6 w 339"/>
                <a:gd name="T47" fmla="*/ 11 h 331"/>
                <a:gd name="T48" fmla="*/ 7 w 339"/>
                <a:gd name="T49" fmla="*/ 10 h 331"/>
                <a:gd name="T50" fmla="*/ 8 w 339"/>
                <a:gd name="T51" fmla="*/ 10 h 331"/>
                <a:gd name="T52" fmla="*/ 9 w 339"/>
                <a:gd name="T53" fmla="*/ 9 h 331"/>
                <a:gd name="T54" fmla="*/ 9 w 339"/>
                <a:gd name="T55" fmla="*/ 8 h 331"/>
                <a:gd name="T56" fmla="*/ 10 w 339"/>
                <a:gd name="T57" fmla="*/ 7 h 331"/>
                <a:gd name="T58" fmla="*/ 10 w 339"/>
                <a:gd name="T59" fmla="*/ 7 h 331"/>
                <a:gd name="T60" fmla="*/ 10 w 339"/>
                <a:gd name="T61" fmla="*/ 6 h 331"/>
                <a:gd name="T62" fmla="*/ 10 w 339"/>
                <a:gd name="T63" fmla="*/ 6 h 331"/>
                <a:gd name="T64" fmla="*/ 10 w 339"/>
                <a:gd name="T65" fmla="*/ 5 h 331"/>
                <a:gd name="T66" fmla="*/ 10 w 339"/>
                <a:gd name="T67" fmla="*/ 5 h 331"/>
                <a:gd name="T68" fmla="*/ 10 w 339"/>
                <a:gd name="T69" fmla="*/ 4 h 331"/>
                <a:gd name="T70" fmla="*/ 9 w 339"/>
                <a:gd name="T71" fmla="*/ 3 h 331"/>
                <a:gd name="T72" fmla="*/ 9 w 339"/>
                <a:gd name="T73" fmla="*/ 2 h 331"/>
                <a:gd name="T74" fmla="*/ 8 w 339"/>
                <a:gd name="T75" fmla="*/ 2 h 331"/>
                <a:gd name="T76" fmla="*/ 7 w 339"/>
                <a:gd name="T77" fmla="*/ 1 h 331"/>
                <a:gd name="T78" fmla="*/ 6 w 339"/>
                <a:gd name="T79" fmla="*/ 1 h 331"/>
                <a:gd name="T80" fmla="*/ 6 w 339"/>
                <a:gd name="T81" fmla="*/ 1 h 331"/>
                <a:gd name="T82" fmla="*/ 5 w 339"/>
                <a:gd name="T83" fmla="*/ 0 h 3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1"/>
                <a:gd name="T128" fmla="*/ 339 w 339"/>
                <a:gd name="T129" fmla="*/ 331 h 3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1">
                  <a:moveTo>
                    <a:pt x="169" y="0"/>
                  </a:moveTo>
                  <a:lnTo>
                    <a:pt x="161" y="0"/>
                  </a:lnTo>
                  <a:lnTo>
                    <a:pt x="152" y="1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18" y="8"/>
                  </a:lnTo>
                  <a:lnTo>
                    <a:pt x="104" y="12"/>
                  </a:lnTo>
                  <a:lnTo>
                    <a:pt x="88" y="20"/>
                  </a:lnTo>
                  <a:lnTo>
                    <a:pt x="75" y="28"/>
                  </a:lnTo>
                  <a:lnTo>
                    <a:pt x="62" y="38"/>
                  </a:lnTo>
                  <a:lnTo>
                    <a:pt x="49" y="49"/>
                  </a:lnTo>
                  <a:lnTo>
                    <a:pt x="38" y="60"/>
                  </a:lnTo>
                  <a:lnTo>
                    <a:pt x="28" y="73"/>
                  </a:lnTo>
                  <a:lnTo>
                    <a:pt x="20" y="86"/>
                  </a:lnTo>
                  <a:lnTo>
                    <a:pt x="12" y="100"/>
                  </a:lnTo>
                  <a:lnTo>
                    <a:pt x="8" y="116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6"/>
                  </a:lnTo>
                  <a:lnTo>
                    <a:pt x="0" y="174"/>
                  </a:lnTo>
                  <a:lnTo>
                    <a:pt x="0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30"/>
                  </a:lnTo>
                  <a:lnTo>
                    <a:pt x="20" y="244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2"/>
                  </a:lnTo>
                  <a:lnTo>
                    <a:pt x="75" y="302"/>
                  </a:lnTo>
                  <a:lnTo>
                    <a:pt x="88" y="310"/>
                  </a:lnTo>
                  <a:lnTo>
                    <a:pt x="104" y="316"/>
                  </a:lnTo>
                  <a:lnTo>
                    <a:pt x="118" y="323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31"/>
                  </a:lnTo>
                  <a:lnTo>
                    <a:pt x="177" y="329"/>
                  </a:lnTo>
                  <a:lnTo>
                    <a:pt x="187" y="329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0" y="323"/>
                  </a:lnTo>
                  <a:lnTo>
                    <a:pt x="235" y="316"/>
                  </a:lnTo>
                  <a:lnTo>
                    <a:pt x="251" y="310"/>
                  </a:lnTo>
                  <a:lnTo>
                    <a:pt x="263" y="302"/>
                  </a:lnTo>
                  <a:lnTo>
                    <a:pt x="278" y="292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8" y="244"/>
                  </a:lnTo>
                  <a:lnTo>
                    <a:pt x="326" y="230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39" y="166"/>
                  </a:lnTo>
                  <a:lnTo>
                    <a:pt x="339" y="156"/>
                  </a:lnTo>
                  <a:lnTo>
                    <a:pt x="339" y="148"/>
                  </a:lnTo>
                  <a:lnTo>
                    <a:pt x="337" y="140"/>
                  </a:lnTo>
                  <a:lnTo>
                    <a:pt x="335" y="132"/>
                  </a:lnTo>
                  <a:lnTo>
                    <a:pt x="334" y="124"/>
                  </a:lnTo>
                  <a:lnTo>
                    <a:pt x="331" y="116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3"/>
                  </a:lnTo>
                  <a:lnTo>
                    <a:pt x="300" y="60"/>
                  </a:lnTo>
                  <a:lnTo>
                    <a:pt x="289" y="49"/>
                  </a:lnTo>
                  <a:lnTo>
                    <a:pt x="278" y="38"/>
                  </a:lnTo>
                  <a:lnTo>
                    <a:pt x="263" y="28"/>
                  </a:lnTo>
                  <a:lnTo>
                    <a:pt x="251" y="20"/>
                  </a:lnTo>
                  <a:lnTo>
                    <a:pt x="235" y="12"/>
                  </a:lnTo>
                  <a:lnTo>
                    <a:pt x="220" y="8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1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2" name="Rectangle 201"/>
            <p:cNvSpPr>
              <a:spLocks noChangeArrowheads="1"/>
            </p:cNvSpPr>
            <p:nvPr/>
          </p:nvSpPr>
          <p:spPr bwMode="auto">
            <a:xfrm>
              <a:off x="3117" y="931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53" name="Rectangle 202"/>
            <p:cNvSpPr>
              <a:spLocks noChangeArrowheads="1"/>
            </p:cNvSpPr>
            <p:nvPr/>
          </p:nvSpPr>
          <p:spPr bwMode="auto">
            <a:xfrm>
              <a:off x="3175" y="992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554" name="Line 203"/>
            <p:cNvSpPr>
              <a:spLocks noChangeShapeType="1"/>
            </p:cNvSpPr>
            <p:nvPr/>
          </p:nvSpPr>
          <p:spPr bwMode="auto">
            <a:xfrm flipH="1">
              <a:off x="2916" y="1096"/>
              <a:ext cx="179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5" name="Freeform 204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6" name="Freeform 205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57" name="Rectangle 206"/>
            <p:cNvSpPr>
              <a:spLocks noChangeArrowheads="1"/>
            </p:cNvSpPr>
            <p:nvPr/>
          </p:nvSpPr>
          <p:spPr bwMode="auto">
            <a:xfrm>
              <a:off x="2865" y="128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58" name="Rectangle 207"/>
            <p:cNvSpPr>
              <a:spLocks noChangeArrowheads="1"/>
            </p:cNvSpPr>
            <p:nvPr/>
          </p:nvSpPr>
          <p:spPr bwMode="auto">
            <a:xfrm>
              <a:off x="2930" y="134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559" name="Freeform 208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0" name="Freeform 209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1" name="Rectangle 210"/>
            <p:cNvSpPr>
              <a:spLocks noChangeArrowheads="1"/>
            </p:cNvSpPr>
            <p:nvPr/>
          </p:nvSpPr>
          <p:spPr bwMode="auto">
            <a:xfrm>
              <a:off x="3410" y="126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62" name="Rectangle 211"/>
            <p:cNvSpPr>
              <a:spLocks noChangeArrowheads="1"/>
            </p:cNvSpPr>
            <p:nvPr/>
          </p:nvSpPr>
          <p:spPr bwMode="auto">
            <a:xfrm>
              <a:off x="3475" y="1319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563" name="Line 212"/>
            <p:cNvSpPr>
              <a:spLocks noChangeShapeType="1"/>
            </p:cNvSpPr>
            <p:nvPr/>
          </p:nvSpPr>
          <p:spPr bwMode="auto">
            <a:xfrm>
              <a:off x="2495" y="498"/>
              <a:ext cx="278" cy="18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4" name="Line 213"/>
            <p:cNvSpPr>
              <a:spLocks noChangeShapeType="1"/>
            </p:cNvSpPr>
            <p:nvPr/>
          </p:nvSpPr>
          <p:spPr bwMode="auto">
            <a:xfrm>
              <a:off x="2931" y="806"/>
              <a:ext cx="171" cy="1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5" name="Line 214"/>
            <p:cNvSpPr>
              <a:spLocks noChangeShapeType="1"/>
            </p:cNvSpPr>
            <p:nvPr/>
          </p:nvSpPr>
          <p:spPr bwMode="auto">
            <a:xfrm>
              <a:off x="3254" y="1046"/>
              <a:ext cx="195" cy="14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6" name="Freeform 215"/>
            <p:cNvSpPr>
              <a:spLocks/>
            </p:cNvSpPr>
            <p:nvPr/>
          </p:nvSpPr>
          <p:spPr bwMode="auto">
            <a:xfrm>
              <a:off x="2338" y="374"/>
              <a:ext cx="169" cy="165"/>
            </a:xfrm>
            <a:custGeom>
              <a:avLst/>
              <a:gdLst>
                <a:gd name="T0" fmla="*/ 5 w 338"/>
                <a:gd name="T1" fmla="*/ 0 h 329"/>
                <a:gd name="T2" fmla="*/ 5 w 338"/>
                <a:gd name="T3" fmla="*/ 1 h 329"/>
                <a:gd name="T4" fmla="*/ 3 w 338"/>
                <a:gd name="T5" fmla="*/ 1 h 329"/>
                <a:gd name="T6" fmla="*/ 3 w 338"/>
                <a:gd name="T7" fmla="*/ 1 h 329"/>
                <a:gd name="T8" fmla="*/ 1 w 338"/>
                <a:gd name="T9" fmla="*/ 2 h 329"/>
                <a:gd name="T10" fmla="*/ 1 w 338"/>
                <a:gd name="T11" fmla="*/ 2 h 329"/>
                <a:gd name="T12" fmla="*/ 1 w 338"/>
                <a:gd name="T13" fmla="*/ 3 h 329"/>
                <a:gd name="T14" fmla="*/ 1 w 338"/>
                <a:gd name="T15" fmla="*/ 4 h 329"/>
                <a:gd name="T16" fmla="*/ 1 w 338"/>
                <a:gd name="T17" fmla="*/ 5 h 329"/>
                <a:gd name="T18" fmla="*/ 0 w 338"/>
                <a:gd name="T19" fmla="*/ 5 h 329"/>
                <a:gd name="T20" fmla="*/ 0 w 338"/>
                <a:gd name="T21" fmla="*/ 6 h 329"/>
                <a:gd name="T22" fmla="*/ 0 w 338"/>
                <a:gd name="T23" fmla="*/ 6 h 329"/>
                <a:gd name="T24" fmla="*/ 1 w 338"/>
                <a:gd name="T25" fmla="*/ 7 h 329"/>
                <a:gd name="T26" fmla="*/ 1 w 338"/>
                <a:gd name="T27" fmla="*/ 7 h 329"/>
                <a:gd name="T28" fmla="*/ 1 w 338"/>
                <a:gd name="T29" fmla="*/ 8 h 329"/>
                <a:gd name="T30" fmla="*/ 1 w 338"/>
                <a:gd name="T31" fmla="*/ 9 h 329"/>
                <a:gd name="T32" fmla="*/ 1 w 338"/>
                <a:gd name="T33" fmla="*/ 10 h 329"/>
                <a:gd name="T34" fmla="*/ 3 w 338"/>
                <a:gd name="T35" fmla="*/ 10 h 329"/>
                <a:gd name="T36" fmla="*/ 3 w 338"/>
                <a:gd name="T37" fmla="*/ 11 h 329"/>
                <a:gd name="T38" fmla="*/ 5 w 338"/>
                <a:gd name="T39" fmla="*/ 11 h 329"/>
                <a:gd name="T40" fmla="*/ 5 w 338"/>
                <a:gd name="T41" fmla="*/ 11 h 329"/>
                <a:gd name="T42" fmla="*/ 5 w 338"/>
                <a:gd name="T43" fmla="*/ 11 h 329"/>
                <a:gd name="T44" fmla="*/ 6 w 338"/>
                <a:gd name="T45" fmla="*/ 11 h 329"/>
                <a:gd name="T46" fmla="*/ 6 w 338"/>
                <a:gd name="T47" fmla="*/ 11 h 329"/>
                <a:gd name="T48" fmla="*/ 7 w 338"/>
                <a:gd name="T49" fmla="*/ 10 h 329"/>
                <a:gd name="T50" fmla="*/ 9 w 338"/>
                <a:gd name="T51" fmla="*/ 10 h 329"/>
                <a:gd name="T52" fmla="*/ 10 w 338"/>
                <a:gd name="T53" fmla="*/ 9 h 329"/>
                <a:gd name="T54" fmla="*/ 10 w 338"/>
                <a:gd name="T55" fmla="*/ 8 h 329"/>
                <a:gd name="T56" fmla="*/ 11 w 338"/>
                <a:gd name="T57" fmla="*/ 7 h 329"/>
                <a:gd name="T58" fmla="*/ 11 w 338"/>
                <a:gd name="T59" fmla="*/ 7 h 329"/>
                <a:gd name="T60" fmla="*/ 11 w 338"/>
                <a:gd name="T61" fmla="*/ 6 h 329"/>
                <a:gd name="T62" fmla="*/ 11 w 338"/>
                <a:gd name="T63" fmla="*/ 6 h 329"/>
                <a:gd name="T64" fmla="*/ 11 w 338"/>
                <a:gd name="T65" fmla="*/ 5 h 329"/>
                <a:gd name="T66" fmla="*/ 11 w 338"/>
                <a:gd name="T67" fmla="*/ 5 h 329"/>
                <a:gd name="T68" fmla="*/ 11 w 338"/>
                <a:gd name="T69" fmla="*/ 4 h 329"/>
                <a:gd name="T70" fmla="*/ 10 w 338"/>
                <a:gd name="T71" fmla="*/ 3 h 329"/>
                <a:gd name="T72" fmla="*/ 10 w 338"/>
                <a:gd name="T73" fmla="*/ 2 h 329"/>
                <a:gd name="T74" fmla="*/ 9 w 338"/>
                <a:gd name="T75" fmla="*/ 2 h 329"/>
                <a:gd name="T76" fmla="*/ 7 w 338"/>
                <a:gd name="T77" fmla="*/ 1 h 329"/>
                <a:gd name="T78" fmla="*/ 6 w 338"/>
                <a:gd name="T79" fmla="*/ 1 h 329"/>
                <a:gd name="T80" fmla="*/ 6 w 338"/>
                <a:gd name="T81" fmla="*/ 1 h 329"/>
                <a:gd name="T82" fmla="*/ 5 w 338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8"/>
                <a:gd name="T127" fmla="*/ 0 h 329"/>
                <a:gd name="T128" fmla="*/ 338 w 338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8" h="329">
                  <a:moveTo>
                    <a:pt x="168" y="0"/>
                  </a:moveTo>
                  <a:lnTo>
                    <a:pt x="160" y="0"/>
                  </a:lnTo>
                  <a:lnTo>
                    <a:pt x="151" y="0"/>
                  </a:lnTo>
                  <a:lnTo>
                    <a:pt x="143" y="1"/>
                  </a:lnTo>
                  <a:lnTo>
                    <a:pt x="135" y="3"/>
                  </a:lnTo>
                  <a:lnTo>
                    <a:pt x="119" y="6"/>
                  </a:lnTo>
                  <a:lnTo>
                    <a:pt x="103" y="12"/>
                  </a:lnTo>
                  <a:lnTo>
                    <a:pt x="88" y="19"/>
                  </a:lnTo>
                  <a:lnTo>
                    <a:pt x="74" y="27"/>
                  </a:lnTo>
                  <a:lnTo>
                    <a:pt x="61" y="36"/>
                  </a:lnTo>
                  <a:lnTo>
                    <a:pt x="50" y="48"/>
                  </a:lnTo>
                  <a:lnTo>
                    <a:pt x="39" y="59"/>
                  </a:lnTo>
                  <a:lnTo>
                    <a:pt x="29" y="72"/>
                  </a:lnTo>
                  <a:lnTo>
                    <a:pt x="20" y="86"/>
                  </a:lnTo>
                  <a:lnTo>
                    <a:pt x="13" y="100"/>
                  </a:lnTo>
                  <a:lnTo>
                    <a:pt x="7" y="115"/>
                  </a:lnTo>
                  <a:lnTo>
                    <a:pt x="5" y="123"/>
                  </a:lnTo>
                  <a:lnTo>
                    <a:pt x="4" y="131"/>
                  </a:lnTo>
                  <a:lnTo>
                    <a:pt x="2" y="139"/>
                  </a:lnTo>
                  <a:lnTo>
                    <a:pt x="0" y="147"/>
                  </a:lnTo>
                  <a:lnTo>
                    <a:pt x="0" y="155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0" y="180"/>
                  </a:lnTo>
                  <a:lnTo>
                    <a:pt x="2" y="188"/>
                  </a:lnTo>
                  <a:lnTo>
                    <a:pt x="4" y="196"/>
                  </a:lnTo>
                  <a:lnTo>
                    <a:pt x="5" y="204"/>
                  </a:lnTo>
                  <a:lnTo>
                    <a:pt x="7" y="212"/>
                  </a:lnTo>
                  <a:lnTo>
                    <a:pt x="13" y="228"/>
                  </a:lnTo>
                  <a:lnTo>
                    <a:pt x="20" y="243"/>
                  </a:lnTo>
                  <a:lnTo>
                    <a:pt x="29" y="255"/>
                  </a:lnTo>
                  <a:lnTo>
                    <a:pt x="39" y="268"/>
                  </a:lnTo>
                  <a:lnTo>
                    <a:pt x="50" y="281"/>
                  </a:lnTo>
                  <a:lnTo>
                    <a:pt x="61" y="291"/>
                  </a:lnTo>
                  <a:lnTo>
                    <a:pt x="74" y="300"/>
                  </a:lnTo>
                  <a:lnTo>
                    <a:pt x="88" y="308"/>
                  </a:lnTo>
                  <a:lnTo>
                    <a:pt x="103" y="316"/>
                  </a:lnTo>
                  <a:lnTo>
                    <a:pt x="119" y="321"/>
                  </a:lnTo>
                  <a:lnTo>
                    <a:pt x="135" y="326"/>
                  </a:lnTo>
                  <a:lnTo>
                    <a:pt x="143" y="327"/>
                  </a:lnTo>
                  <a:lnTo>
                    <a:pt x="151" y="327"/>
                  </a:lnTo>
                  <a:lnTo>
                    <a:pt x="160" y="329"/>
                  </a:lnTo>
                  <a:lnTo>
                    <a:pt x="168" y="329"/>
                  </a:lnTo>
                  <a:lnTo>
                    <a:pt x="178" y="329"/>
                  </a:lnTo>
                  <a:lnTo>
                    <a:pt x="186" y="327"/>
                  </a:lnTo>
                  <a:lnTo>
                    <a:pt x="194" y="327"/>
                  </a:lnTo>
                  <a:lnTo>
                    <a:pt x="204" y="326"/>
                  </a:lnTo>
                  <a:lnTo>
                    <a:pt x="220" y="321"/>
                  </a:lnTo>
                  <a:lnTo>
                    <a:pt x="234" y="316"/>
                  </a:lnTo>
                  <a:lnTo>
                    <a:pt x="250" y="308"/>
                  </a:lnTo>
                  <a:lnTo>
                    <a:pt x="263" y="300"/>
                  </a:lnTo>
                  <a:lnTo>
                    <a:pt x="277" y="291"/>
                  </a:lnTo>
                  <a:lnTo>
                    <a:pt x="288" y="281"/>
                  </a:lnTo>
                  <a:lnTo>
                    <a:pt x="300" y="268"/>
                  </a:lnTo>
                  <a:lnTo>
                    <a:pt x="309" y="255"/>
                  </a:lnTo>
                  <a:lnTo>
                    <a:pt x="317" y="243"/>
                  </a:lnTo>
                  <a:lnTo>
                    <a:pt x="325" y="228"/>
                  </a:lnTo>
                  <a:lnTo>
                    <a:pt x="330" y="212"/>
                  </a:lnTo>
                  <a:lnTo>
                    <a:pt x="333" y="204"/>
                  </a:lnTo>
                  <a:lnTo>
                    <a:pt x="335" y="196"/>
                  </a:lnTo>
                  <a:lnTo>
                    <a:pt x="336" y="188"/>
                  </a:lnTo>
                  <a:lnTo>
                    <a:pt x="336" y="180"/>
                  </a:lnTo>
                  <a:lnTo>
                    <a:pt x="338" y="172"/>
                  </a:lnTo>
                  <a:lnTo>
                    <a:pt x="338" y="164"/>
                  </a:lnTo>
                  <a:lnTo>
                    <a:pt x="338" y="155"/>
                  </a:lnTo>
                  <a:lnTo>
                    <a:pt x="336" y="147"/>
                  </a:lnTo>
                  <a:lnTo>
                    <a:pt x="336" y="139"/>
                  </a:lnTo>
                  <a:lnTo>
                    <a:pt x="335" y="131"/>
                  </a:lnTo>
                  <a:lnTo>
                    <a:pt x="333" y="123"/>
                  </a:lnTo>
                  <a:lnTo>
                    <a:pt x="330" y="115"/>
                  </a:lnTo>
                  <a:lnTo>
                    <a:pt x="325" y="100"/>
                  </a:lnTo>
                  <a:lnTo>
                    <a:pt x="317" y="86"/>
                  </a:lnTo>
                  <a:lnTo>
                    <a:pt x="309" y="72"/>
                  </a:lnTo>
                  <a:lnTo>
                    <a:pt x="300" y="59"/>
                  </a:lnTo>
                  <a:lnTo>
                    <a:pt x="288" y="48"/>
                  </a:lnTo>
                  <a:lnTo>
                    <a:pt x="277" y="36"/>
                  </a:lnTo>
                  <a:lnTo>
                    <a:pt x="263" y="27"/>
                  </a:lnTo>
                  <a:lnTo>
                    <a:pt x="250" y="19"/>
                  </a:lnTo>
                  <a:lnTo>
                    <a:pt x="234" y="12"/>
                  </a:lnTo>
                  <a:lnTo>
                    <a:pt x="220" y="6"/>
                  </a:lnTo>
                  <a:lnTo>
                    <a:pt x="204" y="3"/>
                  </a:lnTo>
                  <a:lnTo>
                    <a:pt x="194" y="1"/>
                  </a:lnTo>
                  <a:lnTo>
                    <a:pt x="186" y="0"/>
                  </a:lnTo>
                  <a:lnTo>
                    <a:pt x="178" y="0"/>
                  </a:lnTo>
                  <a:lnTo>
                    <a:pt x="168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67" name="Rectangle 216"/>
            <p:cNvSpPr>
              <a:spLocks noChangeArrowheads="1"/>
            </p:cNvSpPr>
            <p:nvPr/>
          </p:nvSpPr>
          <p:spPr bwMode="auto">
            <a:xfrm>
              <a:off x="2377" y="378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68" name="Rectangle 217"/>
            <p:cNvSpPr>
              <a:spLocks noChangeArrowheads="1"/>
            </p:cNvSpPr>
            <p:nvPr/>
          </p:nvSpPr>
          <p:spPr bwMode="auto">
            <a:xfrm>
              <a:off x="2435" y="439"/>
              <a:ext cx="7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569" name="Freeform 218"/>
            <p:cNvSpPr>
              <a:spLocks/>
            </p:cNvSpPr>
            <p:nvPr/>
          </p:nvSpPr>
          <p:spPr bwMode="auto">
            <a:xfrm>
              <a:off x="2752" y="677"/>
              <a:ext cx="170" cy="165"/>
            </a:xfrm>
            <a:custGeom>
              <a:avLst/>
              <a:gdLst>
                <a:gd name="T0" fmla="*/ 6 w 339"/>
                <a:gd name="T1" fmla="*/ 0 h 329"/>
                <a:gd name="T2" fmla="*/ 5 w 339"/>
                <a:gd name="T3" fmla="*/ 1 h 329"/>
                <a:gd name="T4" fmla="*/ 4 w 339"/>
                <a:gd name="T5" fmla="*/ 1 h 329"/>
                <a:gd name="T6" fmla="*/ 3 w 339"/>
                <a:gd name="T7" fmla="*/ 1 h 329"/>
                <a:gd name="T8" fmla="*/ 2 w 339"/>
                <a:gd name="T9" fmla="*/ 2 h 329"/>
                <a:gd name="T10" fmla="*/ 2 w 339"/>
                <a:gd name="T11" fmla="*/ 2 h 329"/>
                <a:gd name="T12" fmla="*/ 1 w 339"/>
                <a:gd name="T13" fmla="*/ 3 h 329"/>
                <a:gd name="T14" fmla="*/ 1 w 339"/>
                <a:gd name="T15" fmla="*/ 4 h 329"/>
                <a:gd name="T16" fmla="*/ 1 w 339"/>
                <a:gd name="T17" fmla="*/ 5 h 329"/>
                <a:gd name="T18" fmla="*/ 1 w 339"/>
                <a:gd name="T19" fmla="*/ 5 h 329"/>
                <a:gd name="T20" fmla="*/ 0 w 339"/>
                <a:gd name="T21" fmla="*/ 6 h 329"/>
                <a:gd name="T22" fmla="*/ 1 w 339"/>
                <a:gd name="T23" fmla="*/ 6 h 329"/>
                <a:gd name="T24" fmla="*/ 1 w 339"/>
                <a:gd name="T25" fmla="*/ 7 h 329"/>
                <a:gd name="T26" fmla="*/ 1 w 339"/>
                <a:gd name="T27" fmla="*/ 7 h 329"/>
                <a:gd name="T28" fmla="*/ 1 w 339"/>
                <a:gd name="T29" fmla="*/ 8 h 329"/>
                <a:gd name="T30" fmla="*/ 2 w 339"/>
                <a:gd name="T31" fmla="*/ 9 h 329"/>
                <a:gd name="T32" fmla="*/ 2 w 339"/>
                <a:gd name="T33" fmla="*/ 10 h 329"/>
                <a:gd name="T34" fmla="*/ 3 w 339"/>
                <a:gd name="T35" fmla="*/ 10 h 329"/>
                <a:gd name="T36" fmla="*/ 4 w 339"/>
                <a:gd name="T37" fmla="*/ 11 h 329"/>
                <a:gd name="T38" fmla="*/ 5 w 339"/>
                <a:gd name="T39" fmla="*/ 11 h 329"/>
                <a:gd name="T40" fmla="*/ 6 w 339"/>
                <a:gd name="T41" fmla="*/ 11 h 329"/>
                <a:gd name="T42" fmla="*/ 6 w 339"/>
                <a:gd name="T43" fmla="*/ 11 h 329"/>
                <a:gd name="T44" fmla="*/ 7 w 339"/>
                <a:gd name="T45" fmla="*/ 11 h 329"/>
                <a:gd name="T46" fmla="*/ 7 w 339"/>
                <a:gd name="T47" fmla="*/ 11 h 329"/>
                <a:gd name="T48" fmla="*/ 8 w 339"/>
                <a:gd name="T49" fmla="*/ 10 h 329"/>
                <a:gd name="T50" fmla="*/ 9 w 339"/>
                <a:gd name="T51" fmla="*/ 10 h 329"/>
                <a:gd name="T52" fmla="*/ 10 w 339"/>
                <a:gd name="T53" fmla="*/ 9 h 329"/>
                <a:gd name="T54" fmla="*/ 10 w 339"/>
                <a:gd name="T55" fmla="*/ 8 h 329"/>
                <a:gd name="T56" fmla="*/ 11 w 339"/>
                <a:gd name="T57" fmla="*/ 7 h 329"/>
                <a:gd name="T58" fmla="*/ 11 w 339"/>
                <a:gd name="T59" fmla="*/ 7 h 329"/>
                <a:gd name="T60" fmla="*/ 11 w 339"/>
                <a:gd name="T61" fmla="*/ 6 h 329"/>
                <a:gd name="T62" fmla="*/ 11 w 339"/>
                <a:gd name="T63" fmla="*/ 6 h 329"/>
                <a:gd name="T64" fmla="*/ 11 w 339"/>
                <a:gd name="T65" fmla="*/ 5 h 329"/>
                <a:gd name="T66" fmla="*/ 11 w 339"/>
                <a:gd name="T67" fmla="*/ 5 h 329"/>
                <a:gd name="T68" fmla="*/ 11 w 339"/>
                <a:gd name="T69" fmla="*/ 4 h 329"/>
                <a:gd name="T70" fmla="*/ 10 w 339"/>
                <a:gd name="T71" fmla="*/ 3 h 329"/>
                <a:gd name="T72" fmla="*/ 10 w 339"/>
                <a:gd name="T73" fmla="*/ 2 h 329"/>
                <a:gd name="T74" fmla="*/ 9 w 339"/>
                <a:gd name="T75" fmla="*/ 2 h 329"/>
                <a:gd name="T76" fmla="*/ 8 w 339"/>
                <a:gd name="T77" fmla="*/ 1 h 329"/>
                <a:gd name="T78" fmla="*/ 7 w 339"/>
                <a:gd name="T79" fmla="*/ 1 h 329"/>
                <a:gd name="T80" fmla="*/ 7 w 339"/>
                <a:gd name="T81" fmla="*/ 1 h 329"/>
                <a:gd name="T82" fmla="*/ 6 w 339"/>
                <a:gd name="T83" fmla="*/ 0 h 3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29"/>
                <a:gd name="T128" fmla="*/ 339 w 339"/>
                <a:gd name="T129" fmla="*/ 329 h 3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29">
                  <a:moveTo>
                    <a:pt x="170" y="0"/>
                  </a:moveTo>
                  <a:lnTo>
                    <a:pt x="162" y="0"/>
                  </a:lnTo>
                  <a:lnTo>
                    <a:pt x="152" y="0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20" y="6"/>
                  </a:lnTo>
                  <a:lnTo>
                    <a:pt x="104" y="12"/>
                  </a:lnTo>
                  <a:lnTo>
                    <a:pt x="90" y="19"/>
                  </a:lnTo>
                  <a:lnTo>
                    <a:pt x="75" y="27"/>
                  </a:lnTo>
                  <a:lnTo>
                    <a:pt x="62" y="36"/>
                  </a:lnTo>
                  <a:lnTo>
                    <a:pt x="50" y="48"/>
                  </a:lnTo>
                  <a:lnTo>
                    <a:pt x="38" y="59"/>
                  </a:lnTo>
                  <a:lnTo>
                    <a:pt x="29" y="72"/>
                  </a:lnTo>
                  <a:lnTo>
                    <a:pt x="21" y="86"/>
                  </a:lnTo>
                  <a:lnTo>
                    <a:pt x="14" y="100"/>
                  </a:lnTo>
                  <a:lnTo>
                    <a:pt x="8" y="115"/>
                  </a:lnTo>
                  <a:lnTo>
                    <a:pt x="6" y="123"/>
                  </a:lnTo>
                  <a:lnTo>
                    <a:pt x="3" y="131"/>
                  </a:lnTo>
                  <a:lnTo>
                    <a:pt x="2" y="139"/>
                  </a:lnTo>
                  <a:lnTo>
                    <a:pt x="2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0" y="172"/>
                  </a:lnTo>
                  <a:lnTo>
                    <a:pt x="2" y="180"/>
                  </a:lnTo>
                  <a:lnTo>
                    <a:pt x="2" y="190"/>
                  </a:lnTo>
                  <a:lnTo>
                    <a:pt x="3" y="198"/>
                  </a:lnTo>
                  <a:lnTo>
                    <a:pt x="6" y="206"/>
                  </a:lnTo>
                  <a:lnTo>
                    <a:pt x="8" y="214"/>
                  </a:lnTo>
                  <a:lnTo>
                    <a:pt x="14" y="228"/>
                  </a:lnTo>
                  <a:lnTo>
                    <a:pt x="21" y="243"/>
                  </a:lnTo>
                  <a:lnTo>
                    <a:pt x="29" y="257"/>
                  </a:lnTo>
                  <a:lnTo>
                    <a:pt x="38" y="268"/>
                  </a:lnTo>
                  <a:lnTo>
                    <a:pt x="50" y="281"/>
                  </a:lnTo>
                  <a:lnTo>
                    <a:pt x="62" y="291"/>
                  </a:lnTo>
                  <a:lnTo>
                    <a:pt x="75" y="300"/>
                  </a:lnTo>
                  <a:lnTo>
                    <a:pt x="90" y="310"/>
                  </a:lnTo>
                  <a:lnTo>
                    <a:pt x="104" y="316"/>
                  </a:lnTo>
                  <a:lnTo>
                    <a:pt x="120" y="321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7"/>
                  </a:lnTo>
                  <a:lnTo>
                    <a:pt x="162" y="329"/>
                  </a:lnTo>
                  <a:lnTo>
                    <a:pt x="170" y="329"/>
                  </a:lnTo>
                  <a:lnTo>
                    <a:pt x="178" y="329"/>
                  </a:lnTo>
                  <a:lnTo>
                    <a:pt x="187" y="327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19" y="321"/>
                  </a:lnTo>
                  <a:lnTo>
                    <a:pt x="235" y="316"/>
                  </a:lnTo>
                  <a:lnTo>
                    <a:pt x="249" y="310"/>
                  </a:lnTo>
                  <a:lnTo>
                    <a:pt x="264" y="300"/>
                  </a:lnTo>
                  <a:lnTo>
                    <a:pt x="277" y="291"/>
                  </a:lnTo>
                  <a:lnTo>
                    <a:pt x="289" y="281"/>
                  </a:lnTo>
                  <a:lnTo>
                    <a:pt x="301" y="268"/>
                  </a:lnTo>
                  <a:lnTo>
                    <a:pt x="310" y="257"/>
                  </a:lnTo>
                  <a:lnTo>
                    <a:pt x="318" y="243"/>
                  </a:lnTo>
                  <a:lnTo>
                    <a:pt x="325" y="228"/>
                  </a:lnTo>
                  <a:lnTo>
                    <a:pt x="331" y="214"/>
                  </a:lnTo>
                  <a:lnTo>
                    <a:pt x="333" y="206"/>
                  </a:lnTo>
                  <a:lnTo>
                    <a:pt x="336" y="198"/>
                  </a:lnTo>
                  <a:lnTo>
                    <a:pt x="337" y="190"/>
                  </a:lnTo>
                  <a:lnTo>
                    <a:pt x="337" y="180"/>
                  </a:lnTo>
                  <a:lnTo>
                    <a:pt x="339" y="172"/>
                  </a:lnTo>
                  <a:lnTo>
                    <a:pt x="339" y="164"/>
                  </a:lnTo>
                  <a:lnTo>
                    <a:pt x="339" y="156"/>
                  </a:lnTo>
                  <a:lnTo>
                    <a:pt x="337" y="147"/>
                  </a:lnTo>
                  <a:lnTo>
                    <a:pt x="337" y="139"/>
                  </a:lnTo>
                  <a:lnTo>
                    <a:pt x="336" y="131"/>
                  </a:lnTo>
                  <a:lnTo>
                    <a:pt x="333" y="123"/>
                  </a:lnTo>
                  <a:lnTo>
                    <a:pt x="331" y="115"/>
                  </a:lnTo>
                  <a:lnTo>
                    <a:pt x="325" y="100"/>
                  </a:lnTo>
                  <a:lnTo>
                    <a:pt x="318" y="86"/>
                  </a:lnTo>
                  <a:lnTo>
                    <a:pt x="310" y="72"/>
                  </a:lnTo>
                  <a:lnTo>
                    <a:pt x="301" y="59"/>
                  </a:lnTo>
                  <a:lnTo>
                    <a:pt x="289" y="48"/>
                  </a:lnTo>
                  <a:lnTo>
                    <a:pt x="277" y="36"/>
                  </a:lnTo>
                  <a:lnTo>
                    <a:pt x="264" y="27"/>
                  </a:lnTo>
                  <a:lnTo>
                    <a:pt x="249" y="19"/>
                  </a:lnTo>
                  <a:lnTo>
                    <a:pt x="235" y="12"/>
                  </a:lnTo>
                  <a:lnTo>
                    <a:pt x="219" y="6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0"/>
                  </a:lnTo>
                  <a:lnTo>
                    <a:pt x="178" y="0"/>
                  </a:lnTo>
                  <a:lnTo>
                    <a:pt x="170" y="0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70" name="Rectangle 219"/>
            <p:cNvSpPr>
              <a:spLocks noChangeArrowheads="1"/>
            </p:cNvSpPr>
            <p:nvPr/>
          </p:nvSpPr>
          <p:spPr bwMode="auto">
            <a:xfrm>
              <a:off x="2812" y="681"/>
              <a:ext cx="106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571" name="Freeform 220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72" name="Freeform 221"/>
            <p:cNvSpPr>
              <a:spLocks/>
            </p:cNvSpPr>
            <p:nvPr/>
          </p:nvSpPr>
          <p:spPr bwMode="auto">
            <a:xfrm>
              <a:off x="1898" y="654"/>
              <a:ext cx="280" cy="206"/>
            </a:xfrm>
            <a:custGeom>
              <a:avLst/>
              <a:gdLst>
                <a:gd name="T0" fmla="*/ 9 w 560"/>
                <a:gd name="T1" fmla="*/ 0 h 413"/>
                <a:gd name="T2" fmla="*/ 0 w 560"/>
                <a:gd name="T3" fmla="*/ 12 h 413"/>
                <a:gd name="T4" fmla="*/ 18 w 560"/>
                <a:gd name="T5" fmla="*/ 12 h 413"/>
                <a:gd name="T6" fmla="*/ 9 w 560"/>
                <a:gd name="T7" fmla="*/ 0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3"/>
                <a:gd name="T14" fmla="*/ 560 w 560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3">
                  <a:moveTo>
                    <a:pt x="280" y="0"/>
                  </a:moveTo>
                  <a:lnTo>
                    <a:pt x="0" y="413"/>
                  </a:lnTo>
                  <a:lnTo>
                    <a:pt x="560" y="413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73" name="Rectangle 222"/>
            <p:cNvSpPr>
              <a:spLocks noChangeArrowheads="1"/>
            </p:cNvSpPr>
            <p:nvPr/>
          </p:nvSpPr>
          <p:spPr bwMode="auto">
            <a:xfrm>
              <a:off x="1986" y="72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74" name="Rectangle 223"/>
            <p:cNvSpPr>
              <a:spLocks noChangeArrowheads="1"/>
            </p:cNvSpPr>
            <p:nvPr/>
          </p:nvSpPr>
          <p:spPr bwMode="auto">
            <a:xfrm>
              <a:off x="2050" y="78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575" name="Freeform 224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76" name="Freeform 225"/>
            <p:cNvSpPr>
              <a:spLocks/>
            </p:cNvSpPr>
            <p:nvPr/>
          </p:nvSpPr>
          <p:spPr bwMode="auto">
            <a:xfrm>
              <a:off x="2418" y="97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77" name="Rectangle 226"/>
            <p:cNvSpPr>
              <a:spLocks noChangeArrowheads="1"/>
            </p:cNvSpPr>
            <p:nvPr/>
          </p:nvSpPr>
          <p:spPr bwMode="auto">
            <a:xfrm>
              <a:off x="2505" y="104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78" name="Rectangle 227"/>
            <p:cNvSpPr>
              <a:spLocks noChangeArrowheads="1"/>
            </p:cNvSpPr>
            <p:nvPr/>
          </p:nvSpPr>
          <p:spPr bwMode="auto">
            <a:xfrm>
              <a:off x="2570" y="110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579" name="Line 228"/>
            <p:cNvSpPr>
              <a:spLocks noChangeShapeType="1"/>
            </p:cNvSpPr>
            <p:nvPr/>
          </p:nvSpPr>
          <p:spPr bwMode="auto">
            <a:xfrm flipH="1">
              <a:off x="2054" y="507"/>
              <a:ext cx="283" cy="13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0" name="Line 229"/>
            <p:cNvSpPr>
              <a:spLocks noChangeShapeType="1"/>
            </p:cNvSpPr>
            <p:nvPr/>
          </p:nvSpPr>
          <p:spPr bwMode="auto">
            <a:xfrm flipH="1">
              <a:off x="2578" y="814"/>
              <a:ext cx="178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1" name="Freeform 230"/>
            <p:cNvSpPr>
              <a:spLocks/>
            </p:cNvSpPr>
            <p:nvPr/>
          </p:nvSpPr>
          <p:spPr bwMode="auto">
            <a:xfrm>
              <a:off x="3083" y="926"/>
              <a:ext cx="169" cy="166"/>
            </a:xfrm>
            <a:custGeom>
              <a:avLst/>
              <a:gdLst>
                <a:gd name="T0" fmla="*/ 5 w 339"/>
                <a:gd name="T1" fmla="*/ 0 h 331"/>
                <a:gd name="T2" fmla="*/ 4 w 339"/>
                <a:gd name="T3" fmla="*/ 1 h 331"/>
                <a:gd name="T4" fmla="*/ 3 w 339"/>
                <a:gd name="T5" fmla="*/ 1 h 331"/>
                <a:gd name="T6" fmla="*/ 2 w 339"/>
                <a:gd name="T7" fmla="*/ 1 h 331"/>
                <a:gd name="T8" fmla="*/ 1 w 339"/>
                <a:gd name="T9" fmla="*/ 2 h 331"/>
                <a:gd name="T10" fmla="*/ 1 w 339"/>
                <a:gd name="T11" fmla="*/ 2 h 331"/>
                <a:gd name="T12" fmla="*/ 0 w 339"/>
                <a:gd name="T13" fmla="*/ 3 h 331"/>
                <a:gd name="T14" fmla="*/ 0 w 339"/>
                <a:gd name="T15" fmla="*/ 4 h 331"/>
                <a:gd name="T16" fmla="*/ 0 w 339"/>
                <a:gd name="T17" fmla="*/ 5 h 331"/>
                <a:gd name="T18" fmla="*/ 0 w 339"/>
                <a:gd name="T19" fmla="*/ 5 h 331"/>
                <a:gd name="T20" fmla="*/ 0 w 339"/>
                <a:gd name="T21" fmla="*/ 6 h 331"/>
                <a:gd name="T22" fmla="*/ 0 w 339"/>
                <a:gd name="T23" fmla="*/ 6 h 331"/>
                <a:gd name="T24" fmla="*/ 0 w 339"/>
                <a:gd name="T25" fmla="*/ 7 h 331"/>
                <a:gd name="T26" fmla="*/ 0 w 339"/>
                <a:gd name="T27" fmla="*/ 7 h 331"/>
                <a:gd name="T28" fmla="*/ 0 w 339"/>
                <a:gd name="T29" fmla="*/ 8 h 331"/>
                <a:gd name="T30" fmla="*/ 1 w 339"/>
                <a:gd name="T31" fmla="*/ 9 h 331"/>
                <a:gd name="T32" fmla="*/ 1 w 339"/>
                <a:gd name="T33" fmla="*/ 10 h 331"/>
                <a:gd name="T34" fmla="*/ 2 w 339"/>
                <a:gd name="T35" fmla="*/ 10 h 331"/>
                <a:gd name="T36" fmla="*/ 3 w 339"/>
                <a:gd name="T37" fmla="*/ 11 h 331"/>
                <a:gd name="T38" fmla="*/ 4 w 339"/>
                <a:gd name="T39" fmla="*/ 11 h 331"/>
                <a:gd name="T40" fmla="*/ 5 w 339"/>
                <a:gd name="T41" fmla="*/ 11 h 331"/>
                <a:gd name="T42" fmla="*/ 5 w 339"/>
                <a:gd name="T43" fmla="*/ 11 h 331"/>
                <a:gd name="T44" fmla="*/ 6 w 339"/>
                <a:gd name="T45" fmla="*/ 11 h 331"/>
                <a:gd name="T46" fmla="*/ 6 w 339"/>
                <a:gd name="T47" fmla="*/ 11 h 331"/>
                <a:gd name="T48" fmla="*/ 7 w 339"/>
                <a:gd name="T49" fmla="*/ 10 h 331"/>
                <a:gd name="T50" fmla="*/ 8 w 339"/>
                <a:gd name="T51" fmla="*/ 10 h 331"/>
                <a:gd name="T52" fmla="*/ 9 w 339"/>
                <a:gd name="T53" fmla="*/ 9 h 331"/>
                <a:gd name="T54" fmla="*/ 9 w 339"/>
                <a:gd name="T55" fmla="*/ 8 h 331"/>
                <a:gd name="T56" fmla="*/ 10 w 339"/>
                <a:gd name="T57" fmla="*/ 7 h 331"/>
                <a:gd name="T58" fmla="*/ 10 w 339"/>
                <a:gd name="T59" fmla="*/ 7 h 331"/>
                <a:gd name="T60" fmla="*/ 10 w 339"/>
                <a:gd name="T61" fmla="*/ 6 h 331"/>
                <a:gd name="T62" fmla="*/ 10 w 339"/>
                <a:gd name="T63" fmla="*/ 6 h 331"/>
                <a:gd name="T64" fmla="*/ 10 w 339"/>
                <a:gd name="T65" fmla="*/ 5 h 331"/>
                <a:gd name="T66" fmla="*/ 10 w 339"/>
                <a:gd name="T67" fmla="*/ 5 h 331"/>
                <a:gd name="T68" fmla="*/ 10 w 339"/>
                <a:gd name="T69" fmla="*/ 4 h 331"/>
                <a:gd name="T70" fmla="*/ 9 w 339"/>
                <a:gd name="T71" fmla="*/ 3 h 331"/>
                <a:gd name="T72" fmla="*/ 9 w 339"/>
                <a:gd name="T73" fmla="*/ 2 h 331"/>
                <a:gd name="T74" fmla="*/ 8 w 339"/>
                <a:gd name="T75" fmla="*/ 2 h 331"/>
                <a:gd name="T76" fmla="*/ 7 w 339"/>
                <a:gd name="T77" fmla="*/ 1 h 331"/>
                <a:gd name="T78" fmla="*/ 6 w 339"/>
                <a:gd name="T79" fmla="*/ 1 h 331"/>
                <a:gd name="T80" fmla="*/ 6 w 339"/>
                <a:gd name="T81" fmla="*/ 1 h 331"/>
                <a:gd name="T82" fmla="*/ 5 w 339"/>
                <a:gd name="T83" fmla="*/ 0 h 33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9"/>
                <a:gd name="T127" fmla="*/ 0 h 331"/>
                <a:gd name="T128" fmla="*/ 339 w 339"/>
                <a:gd name="T129" fmla="*/ 331 h 33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9" h="331">
                  <a:moveTo>
                    <a:pt x="169" y="0"/>
                  </a:moveTo>
                  <a:lnTo>
                    <a:pt x="161" y="0"/>
                  </a:lnTo>
                  <a:lnTo>
                    <a:pt x="152" y="1"/>
                  </a:lnTo>
                  <a:lnTo>
                    <a:pt x="144" y="1"/>
                  </a:lnTo>
                  <a:lnTo>
                    <a:pt x="136" y="3"/>
                  </a:lnTo>
                  <a:lnTo>
                    <a:pt x="118" y="8"/>
                  </a:lnTo>
                  <a:lnTo>
                    <a:pt x="104" y="12"/>
                  </a:lnTo>
                  <a:lnTo>
                    <a:pt x="88" y="20"/>
                  </a:lnTo>
                  <a:lnTo>
                    <a:pt x="75" y="28"/>
                  </a:lnTo>
                  <a:lnTo>
                    <a:pt x="62" y="38"/>
                  </a:lnTo>
                  <a:lnTo>
                    <a:pt x="49" y="49"/>
                  </a:lnTo>
                  <a:lnTo>
                    <a:pt x="38" y="60"/>
                  </a:lnTo>
                  <a:lnTo>
                    <a:pt x="28" y="73"/>
                  </a:lnTo>
                  <a:lnTo>
                    <a:pt x="20" y="86"/>
                  </a:lnTo>
                  <a:lnTo>
                    <a:pt x="12" y="100"/>
                  </a:lnTo>
                  <a:lnTo>
                    <a:pt x="8" y="116"/>
                  </a:lnTo>
                  <a:lnTo>
                    <a:pt x="4" y="124"/>
                  </a:lnTo>
                  <a:lnTo>
                    <a:pt x="3" y="132"/>
                  </a:lnTo>
                  <a:lnTo>
                    <a:pt x="1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6"/>
                  </a:lnTo>
                  <a:lnTo>
                    <a:pt x="0" y="174"/>
                  </a:lnTo>
                  <a:lnTo>
                    <a:pt x="0" y="182"/>
                  </a:lnTo>
                  <a:lnTo>
                    <a:pt x="1" y="190"/>
                  </a:lnTo>
                  <a:lnTo>
                    <a:pt x="3" y="198"/>
                  </a:lnTo>
                  <a:lnTo>
                    <a:pt x="4" y="206"/>
                  </a:lnTo>
                  <a:lnTo>
                    <a:pt x="8" y="214"/>
                  </a:lnTo>
                  <a:lnTo>
                    <a:pt x="12" y="230"/>
                  </a:lnTo>
                  <a:lnTo>
                    <a:pt x="20" y="244"/>
                  </a:lnTo>
                  <a:lnTo>
                    <a:pt x="28" y="257"/>
                  </a:lnTo>
                  <a:lnTo>
                    <a:pt x="38" y="270"/>
                  </a:lnTo>
                  <a:lnTo>
                    <a:pt x="49" y="281"/>
                  </a:lnTo>
                  <a:lnTo>
                    <a:pt x="62" y="292"/>
                  </a:lnTo>
                  <a:lnTo>
                    <a:pt x="75" y="302"/>
                  </a:lnTo>
                  <a:lnTo>
                    <a:pt x="88" y="310"/>
                  </a:lnTo>
                  <a:lnTo>
                    <a:pt x="104" y="316"/>
                  </a:lnTo>
                  <a:lnTo>
                    <a:pt x="118" y="323"/>
                  </a:lnTo>
                  <a:lnTo>
                    <a:pt x="136" y="326"/>
                  </a:lnTo>
                  <a:lnTo>
                    <a:pt x="144" y="327"/>
                  </a:lnTo>
                  <a:lnTo>
                    <a:pt x="152" y="329"/>
                  </a:lnTo>
                  <a:lnTo>
                    <a:pt x="161" y="329"/>
                  </a:lnTo>
                  <a:lnTo>
                    <a:pt x="169" y="331"/>
                  </a:lnTo>
                  <a:lnTo>
                    <a:pt x="177" y="329"/>
                  </a:lnTo>
                  <a:lnTo>
                    <a:pt x="187" y="329"/>
                  </a:lnTo>
                  <a:lnTo>
                    <a:pt x="195" y="327"/>
                  </a:lnTo>
                  <a:lnTo>
                    <a:pt x="203" y="326"/>
                  </a:lnTo>
                  <a:lnTo>
                    <a:pt x="220" y="323"/>
                  </a:lnTo>
                  <a:lnTo>
                    <a:pt x="235" y="316"/>
                  </a:lnTo>
                  <a:lnTo>
                    <a:pt x="251" y="310"/>
                  </a:lnTo>
                  <a:lnTo>
                    <a:pt x="263" y="302"/>
                  </a:lnTo>
                  <a:lnTo>
                    <a:pt x="278" y="292"/>
                  </a:lnTo>
                  <a:lnTo>
                    <a:pt x="289" y="281"/>
                  </a:lnTo>
                  <a:lnTo>
                    <a:pt x="300" y="270"/>
                  </a:lnTo>
                  <a:lnTo>
                    <a:pt x="310" y="257"/>
                  </a:lnTo>
                  <a:lnTo>
                    <a:pt x="318" y="244"/>
                  </a:lnTo>
                  <a:lnTo>
                    <a:pt x="326" y="230"/>
                  </a:lnTo>
                  <a:lnTo>
                    <a:pt x="332" y="214"/>
                  </a:lnTo>
                  <a:lnTo>
                    <a:pt x="334" y="206"/>
                  </a:lnTo>
                  <a:lnTo>
                    <a:pt x="335" y="198"/>
                  </a:lnTo>
                  <a:lnTo>
                    <a:pt x="337" y="190"/>
                  </a:lnTo>
                  <a:lnTo>
                    <a:pt x="339" y="182"/>
                  </a:lnTo>
                  <a:lnTo>
                    <a:pt x="339" y="174"/>
                  </a:lnTo>
                  <a:lnTo>
                    <a:pt x="339" y="166"/>
                  </a:lnTo>
                  <a:lnTo>
                    <a:pt x="339" y="156"/>
                  </a:lnTo>
                  <a:lnTo>
                    <a:pt x="339" y="148"/>
                  </a:lnTo>
                  <a:lnTo>
                    <a:pt x="337" y="140"/>
                  </a:lnTo>
                  <a:lnTo>
                    <a:pt x="335" y="132"/>
                  </a:lnTo>
                  <a:lnTo>
                    <a:pt x="334" y="124"/>
                  </a:lnTo>
                  <a:lnTo>
                    <a:pt x="331" y="116"/>
                  </a:lnTo>
                  <a:lnTo>
                    <a:pt x="326" y="100"/>
                  </a:lnTo>
                  <a:lnTo>
                    <a:pt x="318" y="86"/>
                  </a:lnTo>
                  <a:lnTo>
                    <a:pt x="310" y="73"/>
                  </a:lnTo>
                  <a:lnTo>
                    <a:pt x="300" y="60"/>
                  </a:lnTo>
                  <a:lnTo>
                    <a:pt x="289" y="49"/>
                  </a:lnTo>
                  <a:lnTo>
                    <a:pt x="278" y="38"/>
                  </a:lnTo>
                  <a:lnTo>
                    <a:pt x="263" y="28"/>
                  </a:lnTo>
                  <a:lnTo>
                    <a:pt x="251" y="20"/>
                  </a:lnTo>
                  <a:lnTo>
                    <a:pt x="235" y="12"/>
                  </a:lnTo>
                  <a:lnTo>
                    <a:pt x="220" y="8"/>
                  </a:lnTo>
                  <a:lnTo>
                    <a:pt x="203" y="3"/>
                  </a:lnTo>
                  <a:lnTo>
                    <a:pt x="195" y="1"/>
                  </a:lnTo>
                  <a:lnTo>
                    <a:pt x="187" y="1"/>
                  </a:lnTo>
                  <a:lnTo>
                    <a:pt x="177" y="0"/>
                  </a:lnTo>
                  <a:lnTo>
                    <a:pt x="169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2" name="Rectangle 231"/>
            <p:cNvSpPr>
              <a:spLocks noChangeArrowheads="1"/>
            </p:cNvSpPr>
            <p:nvPr/>
          </p:nvSpPr>
          <p:spPr bwMode="auto">
            <a:xfrm>
              <a:off x="3117" y="931"/>
              <a:ext cx="11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583" name="Rectangle 232"/>
            <p:cNvSpPr>
              <a:spLocks noChangeArrowheads="1"/>
            </p:cNvSpPr>
            <p:nvPr/>
          </p:nvSpPr>
          <p:spPr bwMode="auto">
            <a:xfrm>
              <a:off x="3175" y="992"/>
              <a:ext cx="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584" name="Line 233"/>
            <p:cNvSpPr>
              <a:spLocks noChangeShapeType="1"/>
            </p:cNvSpPr>
            <p:nvPr/>
          </p:nvSpPr>
          <p:spPr bwMode="auto">
            <a:xfrm flipH="1">
              <a:off x="2916" y="1096"/>
              <a:ext cx="179" cy="14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5" name="Freeform 234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6" name="Freeform 235"/>
            <p:cNvSpPr>
              <a:spLocks/>
            </p:cNvSpPr>
            <p:nvPr/>
          </p:nvSpPr>
          <p:spPr bwMode="auto">
            <a:xfrm>
              <a:off x="2778" y="1213"/>
              <a:ext cx="280" cy="207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87" name="Rectangle 236"/>
            <p:cNvSpPr>
              <a:spLocks noChangeArrowheads="1"/>
            </p:cNvSpPr>
            <p:nvPr/>
          </p:nvSpPr>
          <p:spPr bwMode="auto">
            <a:xfrm>
              <a:off x="2865" y="1286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88" name="Rectangle 237"/>
            <p:cNvSpPr>
              <a:spLocks noChangeArrowheads="1"/>
            </p:cNvSpPr>
            <p:nvPr/>
          </p:nvSpPr>
          <p:spPr bwMode="auto">
            <a:xfrm>
              <a:off x="2930" y="1341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589" name="Freeform 238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90" name="Freeform 239"/>
            <p:cNvSpPr>
              <a:spLocks/>
            </p:cNvSpPr>
            <p:nvPr/>
          </p:nvSpPr>
          <p:spPr bwMode="auto">
            <a:xfrm>
              <a:off x="3322" y="1191"/>
              <a:ext cx="280" cy="206"/>
            </a:xfrm>
            <a:custGeom>
              <a:avLst/>
              <a:gdLst>
                <a:gd name="T0" fmla="*/ 9 w 560"/>
                <a:gd name="T1" fmla="*/ 0 h 412"/>
                <a:gd name="T2" fmla="*/ 0 w 560"/>
                <a:gd name="T3" fmla="*/ 13 h 412"/>
                <a:gd name="T4" fmla="*/ 18 w 560"/>
                <a:gd name="T5" fmla="*/ 13 h 412"/>
                <a:gd name="T6" fmla="*/ 9 w 560"/>
                <a:gd name="T7" fmla="*/ 0 h 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412"/>
                <a:gd name="T14" fmla="*/ 560 w 560"/>
                <a:gd name="T15" fmla="*/ 412 h 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412">
                  <a:moveTo>
                    <a:pt x="280" y="0"/>
                  </a:moveTo>
                  <a:lnTo>
                    <a:pt x="0" y="412"/>
                  </a:lnTo>
                  <a:lnTo>
                    <a:pt x="560" y="412"/>
                  </a:lnTo>
                  <a:lnTo>
                    <a:pt x="28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91" name="Rectangle 240"/>
            <p:cNvSpPr>
              <a:spLocks noChangeArrowheads="1"/>
            </p:cNvSpPr>
            <p:nvPr/>
          </p:nvSpPr>
          <p:spPr bwMode="auto">
            <a:xfrm>
              <a:off x="3410" y="1263"/>
              <a:ext cx="12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3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592" name="Rectangle 241"/>
            <p:cNvSpPr>
              <a:spLocks noChangeArrowheads="1"/>
            </p:cNvSpPr>
            <p:nvPr/>
          </p:nvSpPr>
          <p:spPr bwMode="auto">
            <a:xfrm>
              <a:off x="3475" y="1319"/>
              <a:ext cx="83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9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593" name="Line 242"/>
            <p:cNvSpPr>
              <a:spLocks noChangeShapeType="1"/>
            </p:cNvSpPr>
            <p:nvPr/>
          </p:nvSpPr>
          <p:spPr bwMode="auto">
            <a:xfrm>
              <a:off x="2495" y="498"/>
              <a:ext cx="278" cy="18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94" name="Line 243"/>
            <p:cNvSpPr>
              <a:spLocks noChangeShapeType="1"/>
            </p:cNvSpPr>
            <p:nvPr/>
          </p:nvSpPr>
          <p:spPr bwMode="auto">
            <a:xfrm>
              <a:off x="2931" y="806"/>
              <a:ext cx="171" cy="1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95" name="Line 244"/>
            <p:cNvSpPr>
              <a:spLocks noChangeShapeType="1"/>
            </p:cNvSpPr>
            <p:nvPr/>
          </p:nvSpPr>
          <p:spPr bwMode="auto">
            <a:xfrm>
              <a:off x="3254" y="1046"/>
              <a:ext cx="195" cy="14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221" name="Group 246"/>
          <p:cNvGrpSpPr>
            <a:grpSpLocks noChangeAspect="1"/>
          </p:cNvGrpSpPr>
          <p:nvPr/>
        </p:nvGrpSpPr>
        <p:grpSpPr bwMode="auto">
          <a:xfrm>
            <a:off x="68263" y="3817938"/>
            <a:ext cx="5638800" cy="1724025"/>
            <a:chOff x="43" y="2405"/>
            <a:chExt cx="3552" cy="1086"/>
          </a:xfrm>
        </p:grpSpPr>
        <p:sp>
          <p:nvSpPr>
            <p:cNvPr id="9226" name="AutoShape 245"/>
            <p:cNvSpPr>
              <a:spLocks noChangeAspect="1" noChangeArrowheads="1" noTextEdit="1"/>
            </p:cNvSpPr>
            <p:nvPr/>
          </p:nvSpPr>
          <p:spPr bwMode="auto">
            <a:xfrm>
              <a:off x="43" y="2405"/>
              <a:ext cx="3552" cy="1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7" name="Freeform 247"/>
            <p:cNvSpPr>
              <a:spLocks/>
            </p:cNvSpPr>
            <p:nvPr/>
          </p:nvSpPr>
          <p:spPr bwMode="auto">
            <a:xfrm>
              <a:off x="390" y="2856"/>
              <a:ext cx="175" cy="171"/>
            </a:xfrm>
            <a:custGeom>
              <a:avLst/>
              <a:gdLst>
                <a:gd name="T0" fmla="*/ 5 w 352"/>
                <a:gd name="T1" fmla="*/ 0 h 342"/>
                <a:gd name="T2" fmla="*/ 4 w 352"/>
                <a:gd name="T3" fmla="*/ 1 h 342"/>
                <a:gd name="T4" fmla="*/ 3 w 352"/>
                <a:gd name="T5" fmla="*/ 1 h 342"/>
                <a:gd name="T6" fmla="*/ 2 w 352"/>
                <a:gd name="T7" fmla="*/ 1 h 342"/>
                <a:gd name="T8" fmla="*/ 2 w 352"/>
                <a:gd name="T9" fmla="*/ 1 h 342"/>
                <a:gd name="T10" fmla="*/ 1 w 352"/>
                <a:gd name="T11" fmla="*/ 1 h 342"/>
                <a:gd name="T12" fmla="*/ 0 w 352"/>
                <a:gd name="T13" fmla="*/ 3 h 342"/>
                <a:gd name="T14" fmla="*/ 0 w 352"/>
                <a:gd name="T15" fmla="*/ 3 h 342"/>
                <a:gd name="T16" fmla="*/ 0 w 352"/>
                <a:gd name="T17" fmla="*/ 5 h 342"/>
                <a:gd name="T18" fmla="*/ 0 w 352"/>
                <a:gd name="T19" fmla="*/ 5 h 342"/>
                <a:gd name="T20" fmla="*/ 0 w 352"/>
                <a:gd name="T21" fmla="*/ 5 h 342"/>
                <a:gd name="T22" fmla="*/ 0 w 352"/>
                <a:gd name="T23" fmla="*/ 5 h 342"/>
                <a:gd name="T24" fmla="*/ 0 w 352"/>
                <a:gd name="T25" fmla="*/ 6 h 342"/>
                <a:gd name="T26" fmla="*/ 0 w 352"/>
                <a:gd name="T27" fmla="*/ 6 h 342"/>
                <a:gd name="T28" fmla="*/ 0 w 352"/>
                <a:gd name="T29" fmla="*/ 7 h 342"/>
                <a:gd name="T30" fmla="*/ 1 w 352"/>
                <a:gd name="T31" fmla="*/ 9 h 342"/>
                <a:gd name="T32" fmla="*/ 2 w 352"/>
                <a:gd name="T33" fmla="*/ 10 h 342"/>
                <a:gd name="T34" fmla="*/ 2 w 352"/>
                <a:gd name="T35" fmla="*/ 11 h 342"/>
                <a:gd name="T36" fmla="*/ 3 w 352"/>
                <a:gd name="T37" fmla="*/ 11 h 342"/>
                <a:gd name="T38" fmla="*/ 4 w 352"/>
                <a:gd name="T39" fmla="*/ 11 h 342"/>
                <a:gd name="T40" fmla="*/ 5 w 352"/>
                <a:gd name="T41" fmla="*/ 11 h 342"/>
                <a:gd name="T42" fmla="*/ 5 w 352"/>
                <a:gd name="T43" fmla="*/ 11 h 342"/>
                <a:gd name="T44" fmla="*/ 6 w 352"/>
                <a:gd name="T45" fmla="*/ 11 h 342"/>
                <a:gd name="T46" fmla="*/ 7 w 352"/>
                <a:gd name="T47" fmla="*/ 11 h 342"/>
                <a:gd name="T48" fmla="*/ 8 w 352"/>
                <a:gd name="T49" fmla="*/ 11 h 342"/>
                <a:gd name="T50" fmla="*/ 9 w 352"/>
                <a:gd name="T51" fmla="*/ 10 h 342"/>
                <a:gd name="T52" fmla="*/ 9 w 352"/>
                <a:gd name="T53" fmla="*/ 9 h 342"/>
                <a:gd name="T54" fmla="*/ 10 w 352"/>
                <a:gd name="T55" fmla="*/ 7 h 342"/>
                <a:gd name="T56" fmla="*/ 10 w 352"/>
                <a:gd name="T57" fmla="*/ 6 h 342"/>
                <a:gd name="T58" fmla="*/ 10 w 352"/>
                <a:gd name="T59" fmla="*/ 6 h 342"/>
                <a:gd name="T60" fmla="*/ 10 w 352"/>
                <a:gd name="T61" fmla="*/ 5 h 342"/>
                <a:gd name="T62" fmla="*/ 10 w 352"/>
                <a:gd name="T63" fmla="*/ 5 h 342"/>
                <a:gd name="T64" fmla="*/ 10 w 352"/>
                <a:gd name="T65" fmla="*/ 5 h 342"/>
                <a:gd name="T66" fmla="*/ 10 w 352"/>
                <a:gd name="T67" fmla="*/ 5 h 342"/>
                <a:gd name="T68" fmla="*/ 10 w 352"/>
                <a:gd name="T69" fmla="*/ 3 h 342"/>
                <a:gd name="T70" fmla="*/ 10 w 352"/>
                <a:gd name="T71" fmla="*/ 3 h 342"/>
                <a:gd name="T72" fmla="*/ 9 w 352"/>
                <a:gd name="T73" fmla="*/ 1 h 342"/>
                <a:gd name="T74" fmla="*/ 9 w 352"/>
                <a:gd name="T75" fmla="*/ 1 h 342"/>
                <a:gd name="T76" fmla="*/ 8 w 352"/>
                <a:gd name="T77" fmla="*/ 1 h 342"/>
                <a:gd name="T78" fmla="*/ 7 w 352"/>
                <a:gd name="T79" fmla="*/ 1 h 342"/>
                <a:gd name="T80" fmla="*/ 6 w 352"/>
                <a:gd name="T81" fmla="*/ 1 h 342"/>
                <a:gd name="T82" fmla="*/ 5 w 352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2"/>
                <a:gd name="T128" fmla="*/ 352 w 352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2">
                  <a:moveTo>
                    <a:pt x="176" y="0"/>
                  </a:moveTo>
                  <a:lnTo>
                    <a:pt x="168" y="0"/>
                  </a:lnTo>
                  <a:lnTo>
                    <a:pt x="158" y="2"/>
                  </a:lnTo>
                  <a:lnTo>
                    <a:pt x="149" y="2"/>
                  </a:lnTo>
                  <a:lnTo>
                    <a:pt x="141" y="3"/>
                  </a:lnTo>
                  <a:lnTo>
                    <a:pt x="125" y="8"/>
                  </a:lnTo>
                  <a:lnTo>
                    <a:pt x="108" y="13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2" y="50"/>
                  </a:lnTo>
                  <a:lnTo>
                    <a:pt x="40" y="63"/>
                  </a:lnTo>
                  <a:lnTo>
                    <a:pt x="30" y="76"/>
                  </a:lnTo>
                  <a:lnTo>
                    <a:pt x="22" y="89"/>
                  </a:lnTo>
                  <a:lnTo>
                    <a:pt x="13" y="104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2" y="146"/>
                  </a:lnTo>
                  <a:lnTo>
                    <a:pt x="0" y="154"/>
                  </a:lnTo>
                  <a:lnTo>
                    <a:pt x="0" y="162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2" y="197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2"/>
                  </a:lnTo>
                  <a:lnTo>
                    <a:pt x="13" y="237"/>
                  </a:lnTo>
                  <a:lnTo>
                    <a:pt x="22" y="252"/>
                  </a:lnTo>
                  <a:lnTo>
                    <a:pt x="30" y="267"/>
                  </a:lnTo>
                  <a:lnTo>
                    <a:pt x="40" y="280"/>
                  </a:lnTo>
                  <a:lnTo>
                    <a:pt x="52" y="292"/>
                  </a:lnTo>
                  <a:lnTo>
                    <a:pt x="65" y="303"/>
                  </a:lnTo>
                  <a:lnTo>
                    <a:pt x="78" y="313"/>
                  </a:lnTo>
                  <a:lnTo>
                    <a:pt x="93" y="322"/>
                  </a:lnTo>
                  <a:lnTo>
                    <a:pt x="108" y="328"/>
                  </a:lnTo>
                  <a:lnTo>
                    <a:pt x="125" y="335"/>
                  </a:lnTo>
                  <a:lnTo>
                    <a:pt x="141" y="338"/>
                  </a:lnTo>
                  <a:lnTo>
                    <a:pt x="149" y="340"/>
                  </a:lnTo>
                  <a:lnTo>
                    <a:pt x="158" y="342"/>
                  </a:lnTo>
                  <a:lnTo>
                    <a:pt x="168" y="342"/>
                  </a:lnTo>
                  <a:lnTo>
                    <a:pt x="176" y="342"/>
                  </a:lnTo>
                  <a:lnTo>
                    <a:pt x="186" y="342"/>
                  </a:lnTo>
                  <a:lnTo>
                    <a:pt x="194" y="342"/>
                  </a:lnTo>
                  <a:lnTo>
                    <a:pt x="202" y="340"/>
                  </a:lnTo>
                  <a:lnTo>
                    <a:pt x="212" y="338"/>
                  </a:lnTo>
                  <a:lnTo>
                    <a:pt x="229" y="335"/>
                  </a:lnTo>
                  <a:lnTo>
                    <a:pt x="246" y="328"/>
                  </a:lnTo>
                  <a:lnTo>
                    <a:pt x="261" y="322"/>
                  </a:lnTo>
                  <a:lnTo>
                    <a:pt x="275" y="313"/>
                  </a:lnTo>
                  <a:lnTo>
                    <a:pt x="289" y="303"/>
                  </a:lnTo>
                  <a:lnTo>
                    <a:pt x="300" y="292"/>
                  </a:lnTo>
                  <a:lnTo>
                    <a:pt x="312" y="280"/>
                  </a:lnTo>
                  <a:lnTo>
                    <a:pt x="322" y="267"/>
                  </a:lnTo>
                  <a:lnTo>
                    <a:pt x="332" y="252"/>
                  </a:lnTo>
                  <a:lnTo>
                    <a:pt x="338" y="237"/>
                  </a:lnTo>
                  <a:lnTo>
                    <a:pt x="345" y="222"/>
                  </a:lnTo>
                  <a:lnTo>
                    <a:pt x="347" y="214"/>
                  </a:lnTo>
                  <a:lnTo>
                    <a:pt x="348" y="206"/>
                  </a:lnTo>
                  <a:lnTo>
                    <a:pt x="350" y="197"/>
                  </a:lnTo>
                  <a:lnTo>
                    <a:pt x="352" y="189"/>
                  </a:lnTo>
                  <a:lnTo>
                    <a:pt x="352" y="181"/>
                  </a:lnTo>
                  <a:lnTo>
                    <a:pt x="352" y="171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0" y="146"/>
                  </a:lnTo>
                  <a:lnTo>
                    <a:pt x="348" y="136"/>
                  </a:lnTo>
                  <a:lnTo>
                    <a:pt x="347" y="128"/>
                  </a:lnTo>
                  <a:lnTo>
                    <a:pt x="345" y="121"/>
                  </a:lnTo>
                  <a:lnTo>
                    <a:pt x="338" y="104"/>
                  </a:lnTo>
                  <a:lnTo>
                    <a:pt x="332" y="89"/>
                  </a:lnTo>
                  <a:lnTo>
                    <a:pt x="322" y="76"/>
                  </a:lnTo>
                  <a:lnTo>
                    <a:pt x="312" y="63"/>
                  </a:lnTo>
                  <a:lnTo>
                    <a:pt x="300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1" y="22"/>
                  </a:lnTo>
                  <a:lnTo>
                    <a:pt x="246" y="13"/>
                  </a:lnTo>
                  <a:lnTo>
                    <a:pt x="229" y="8"/>
                  </a:lnTo>
                  <a:lnTo>
                    <a:pt x="212" y="3"/>
                  </a:lnTo>
                  <a:lnTo>
                    <a:pt x="202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8" name="Rectangle 248"/>
            <p:cNvSpPr>
              <a:spLocks noChangeArrowheads="1"/>
            </p:cNvSpPr>
            <p:nvPr/>
          </p:nvSpPr>
          <p:spPr bwMode="auto">
            <a:xfrm>
              <a:off x="431" y="2861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29" name="Rectangle 249"/>
            <p:cNvSpPr>
              <a:spLocks noChangeArrowheads="1"/>
            </p:cNvSpPr>
            <p:nvPr/>
          </p:nvSpPr>
          <p:spPr bwMode="auto">
            <a:xfrm>
              <a:off x="491" y="2924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230" name="Freeform 250"/>
            <p:cNvSpPr>
              <a:spLocks/>
            </p:cNvSpPr>
            <p:nvPr/>
          </p:nvSpPr>
          <p:spPr bwMode="auto">
            <a:xfrm>
              <a:off x="790" y="2576"/>
              <a:ext cx="176" cy="171"/>
            </a:xfrm>
            <a:custGeom>
              <a:avLst/>
              <a:gdLst>
                <a:gd name="T0" fmla="*/ 6 w 352"/>
                <a:gd name="T1" fmla="*/ 0 h 341"/>
                <a:gd name="T2" fmla="*/ 5 w 352"/>
                <a:gd name="T3" fmla="*/ 1 h 341"/>
                <a:gd name="T4" fmla="*/ 3 w 352"/>
                <a:gd name="T5" fmla="*/ 1 h 341"/>
                <a:gd name="T6" fmla="*/ 3 w 352"/>
                <a:gd name="T7" fmla="*/ 1 h 341"/>
                <a:gd name="T8" fmla="*/ 3 w 352"/>
                <a:gd name="T9" fmla="*/ 2 h 341"/>
                <a:gd name="T10" fmla="*/ 1 w 352"/>
                <a:gd name="T11" fmla="*/ 2 h 341"/>
                <a:gd name="T12" fmla="*/ 1 w 352"/>
                <a:gd name="T13" fmla="*/ 3 h 341"/>
                <a:gd name="T14" fmla="*/ 1 w 352"/>
                <a:gd name="T15" fmla="*/ 4 h 341"/>
                <a:gd name="T16" fmla="*/ 1 w 352"/>
                <a:gd name="T17" fmla="*/ 5 h 341"/>
                <a:gd name="T18" fmla="*/ 1 w 352"/>
                <a:gd name="T19" fmla="*/ 5 h 341"/>
                <a:gd name="T20" fmla="*/ 0 w 352"/>
                <a:gd name="T21" fmla="*/ 6 h 341"/>
                <a:gd name="T22" fmla="*/ 1 w 352"/>
                <a:gd name="T23" fmla="*/ 6 h 341"/>
                <a:gd name="T24" fmla="*/ 1 w 352"/>
                <a:gd name="T25" fmla="*/ 7 h 341"/>
                <a:gd name="T26" fmla="*/ 1 w 352"/>
                <a:gd name="T27" fmla="*/ 7 h 341"/>
                <a:gd name="T28" fmla="*/ 1 w 352"/>
                <a:gd name="T29" fmla="*/ 8 h 341"/>
                <a:gd name="T30" fmla="*/ 1 w 352"/>
                <a:gd name="T31" fmla="*/ 9 h 341"/>
                <a:gd name="T32" fmla="*/ 3 w 352"/>
                <a:gd name="T33" fmla="*/ 10 h 341"/>
                <a:gd name="T34" fmla="*/ 3 w 352"/>
                <a:gd name="T35" fmla="*/ 10 h 341"/>
                <a:gd name="T36" fmla="*/ 3 w 352"/>
                <a:gd name="T37" fmla="*/ 11 h 341"/>
                <a:gd name="T38" fmla="*/ 5 w 352"/>
                <a:gd name="T39" fmla="*/ 11 h 341"/>
                <a:gd name="T40" fmla="*/ 6 w 352"/>
                <a:gd name="T41" fmla="*/ 11 h 341"/>
                <a:gd name="T42" fmla="*/ 6 w 352"/>
                <a:gd name="T43" fmla="*/ 11 h 341"/>
                <a:gd name="T44" fmla="*/ 6 w 352"/>
                <a:gd name="T45" fmla="*/ 11 h 341"/>
                <a:gd name="T46" fmla="*/ 7 w 352"/>
                <a:gd name="T47" fmla="*/ 11 h 341"/>
                <a:gd name="T48" fmla="*/ 9 w 352"/>
                <a:gd name="T49" fmla="*/ 10 h 341"/>
                <a:gd name="T50" fmla="*/ 9 w 352"/>
                <a:gd name="T51" fmla="*/ 10 h 341"/>
                <a:gd name="T52" fmla="*/ 10 w 352"/>
                <a:gd name="T53" fmla="*/ 9 h 341"/>
                <a:gd name="T54" fmla="*/ 11 w 352"/>
                <a:gd name="T55" fmla="*/ 8 h 341"/>
                <a:gd name="T56" fmla="*/ 11 w 352"/>
                <a:gd name="T57" fmla="*/ 7 h 341"/>
                <a:gd name="T58" fmla="*/ 11 w 352"/>
                <a:gd name="T59" fmla="*/ 7 h 341"/>
                <a:gd name="T60" fmla="*/ 11 w 352"/>
                <a:gd name="T61" fmla="*/ 6 h 341"/>
                <a:gd name="T62" fmla="*/ 11 w 352"/>
                <a:gd name="T63" fmla="*/ 6 h 341"/>
                <a:gd name="T64" fmla="*/ 11 w 352"/>
                <a:gd name="T65" fmla="*/ 5 h 341"/>
                <a:gd name="T66" fmla="*/ 11 w 352"/>
                <a:gd name="T67" fmla="*/ 5 h 341"/>
                <a:gd name="T68" fmla="*/ 11 w 352"/>
                <a:gd name="T69" fmla="*/ 4 h 341"/>
                <a:gd name="T70" fmla="*/ 11 w 352"/>
                <a:gd name="T71" fmla="*/ 3 h 341"/>
                <a:gd name="T72" fmla="*/ 10 w 352"/>
                <a:gd name="T73" fmla="*/ 2 h 341"/>
                <a:gd name="T74" fmla="*/ 9 w 352"/>
                <a:gd name="T75" fmla="*/ 2 h 341"/>
                <a:gd name="T76" fmla="*/ 9 w 352"/>
                <a:gd name="T77" fmla="*/ 1 h 341"/>
                <a:gd name="T78" fmla="*/ 7 w 352"/>
                <a:gd name="T79" fmla="*/ 1 h 341"/>
                <a:gd name="T80" fmla="*/ 6 w 352"/>
                <a:gd name="T81" fmla="*/ 1 h 341"/>
                <a:gd name="T82" fmla="*/ 6 w 352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1"/>
                <a:gd name="T128" fmla="*/ 352 w 352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1">
                  <a:moveTo>
                    <a:pt x="176" y="0"/>
                  </a:moveTo>
                  <a:lnTo>
                    <a:pt x="168" y="0"/>
                  </a:lnTo>
                  <a:lnTo>
                    <a:pt x="158" y="0"/>
                  </a:lnTo>
                  <a:lnTo>
                    <a:pt x="149" y="1"/>
                  </a:lnTo>
                  <a:lnTo>
                    <a:pt x="141" y="3"/>
                  </a:lnTo>
                  <a:lnTo>
                    <a:pt x="124" y="6"/>
                  </a:lnTo>
                  <a:lnTo>
                    <a:pt x="108" y="13"/>
                  </a:lnTo>
                  <a:lnTo>
                    <a:pt x="93" y="19"/>
                  </a:lnTo>
                  <a:lnTo>
                    <a:pt x="78" y="28"/>
                  </a:lnTo>
                  <a:lnTo>
                    <a:pt x="65" y="38"/>
                  </a:lnTo>
                  <a:lnTo>
                    <a:pt x="52" y="49"/>
                  </a:lnTo>
                  <a:lnTo>
                    <a:pt x="40" y="61"/>
                  </a:lnTo>
                  <a:lnTo>
                    <a:pt x="30" y="74"/>
                  </a:lnTo>
                  <a:lnTo>
                    <a:pt x="22" y="89"/>
                  </a:lnTo>
                  <a:lnTo>
                    <a:pt x="15" y="104"/>
                  </a:lnTo>
                  <a:lnTo>
                    <a:pt x="8" y="119"/>
                  </a:lnTo>
                  <a:lnTo>
                    <a:pt x="7" y="127"/>
                  </a:lnTo>
                  <a:lnTo>
                    <a:pt x="3" y="136"/>
                  </a:lnTo>
                  <a:lnTo>
                    <a:pt x="2" y="144"/>
                  </a:lnTo>
                  <a:lnTo>
                    <a:pt x="2" y="152"/>
                  </a:lnTo>
                  <a:lnTo>
                    <a:pt x="0" y="160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2" y="187"/>
                  </a:lnTo>
                  <a:lnTo>
                    <a:pt x="2" y="195"/>
                  </a:lnTo>
                  <a:lnTo>
                    <a:pt x="3" y="203"/>
                  </a:lnTo>
                  <a:lnTo>
                    <a:pt x="7" y="212"/>
                  </a:lnTo>
                  <a:lnTo>
                    <a:pt x="8" y="220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1"/>
                  </a:lnTo>
                  <a:lnTo>
                    <a:pt x="65" y="301"/>
                  </a:lnTo>
                  <a:lnTo>
                    <a:pt x="78" y="311"/>
                  </a:lnTo>
                  <a:lnTo>
                    <a:pt x="93" y="320"/>
                  </a:lnTo>
                  <a:lnTo>
                    <a:pt x="108" y="328"/>
                  </a:lnTo>
                  <a:lnTo>
                    <a:pt x="124" y="333"/>
                  </a:lnTo>
                  <a:lnTo>
                    <a:pt x="141" y="338"/>
                  </a:lnTo>
                  <a:lnTo>
                    <a:pt x="149" y="339"/>
                  </a:lnTo>
                  <a:lnTo>
                    <a:pt x="158" y="339"/>
                  </a:lnTo>
                  <a:lnTo>
                    <a:pt x="168" y="341"/>
                  </a:lnTo>
                  <a:lnTo>
                    <a:pt x="176" y="341"/>
                  </a:lnTo>
                  <a:lnTo>
                    <a:pt x="184" y="341"/>
                  </a:lnTo>
                  <a:lnTo>
                    <a:pt x="194" y="339"/>
                  </a:lnTo>
                  <a:lnTo>
                    <a:pt x="202" y="339"/>
                  </a:lnTo>
                  <a:lnTo>
                    <a:pt x="211" y="338"/>
                  </a:lnTo>
                  <a:lnTo>
                    <a:pt x="227" y="333"/>
                  </a:lnTo>
                  <a:lnTo>
                    <a:pt x="244" y="328"/>
                  </a:lnTo>
                  <a:lnTo>
                    <a:pt x="259" y="320"/>
                  </a:lnTo>
                  <a:lnTo>
                    <a:pt x="274" y="311"/>
                  </a:lnTo>
                  <a:lnTo>
                    <a:pt x="287" y="301"/>
                  </a:lnTo>
                  <a:lnTo>
                    <a:pt x="300" y="291"/>
                  </a:lnTo>
                  <a:lnTo>
                    <a:pt x="312" y="278"/>
                  </a:lnTo>
                  <a:lnTo>
                    <a:pt x="322" y="265"/>
                  </a:lnTo>
                  <a:lnTo>
                    <a:pt x="330" y="252"/>
                  </a:lnTo>
                  <a:lnTo>
                    <a:pt x="337" y="237"/>
                  </a:lnTo>
                  <a:lnTo>
                    <a:pt x="343" y="220"/>
                  </a:lnTo>
                  <a:lnTo>
                    <a:pt x="345" y="212"/>
                  </a:lnTo>
                  <a:lnTo>
                    <a:pt x="348" y="203"/>
                  </a:lnTo>
                  <a:lnTo>
                    <a:pt x="350" y="195"/>
                  </a:lnTo>
                  <a:lnTo>
                    <a:pt x="350" y="187"/>
                  </a:lnTo>
                  <a:lnTo>
                    <a:pt x="352" y="179"/>
                  </a:lnTo>
                  <a:lnTo>
                    <a:pt x="352" y="170"/>
                  </a:lnTo>
                  <a:lnTo>
                    <a:pt x="352" y="160"/>
                  </a:lnTo>
                  <a:lnTo>
                    <a:pt x="350" y="152"/>
                  </a:lnTo>
                  <a:lnTo>
                    <a:pt x="350" y="144"/>
                  </a:lnTo>
                  <a:lnTo>
                    <a:pt x="348" y="136"/>
                  </a:lnTo>
                  <a:lnTo>
                    <a:pt x="345" y="127"/>
                  </a:lnTo>
                  <a:lnTo>
                    <a:pt x="343" y="119"/>
                  </a:lnTo>
                  <a:lnTo>
                    <a:pt x="337" y="104"/>
                  </a:lnTo>
                  <a:lnTo>
                    <a:pt x="330" y="89"/>
                  </a:lnTo>
                  <a:lnTo>
                    <a:pt x="322" y="74"/>
                  </a:lnTo>
                  <a:lnTo>
                    <a:pt x="312" y="61"/>
                  </a:lnTo>
                  <a:lnTo>
                    <a:pt x="300" y="49"/>
                  </a:lnTo>
                  <a:lnTo>
                    <a:pt x="287" y="38"/>
                  </a:lnTo>
                  <a:lnTo>
                    <a:pt x="274" y="28"/>
                  </a:lnTo>
                  <a:lnTo>
                    <a:pt x="259" y="19"/>
                  </a:lnTo>
                  <a:lnTo>
                    <a:pt x="244" y="13"/>
                  </a:lnTo>
                  <a:lnTo>
                    <a:pt x="227" y="6"/>
                  </a:lnTo>
                  <a:lnTo>
                    <a:pt x="211" y="3"/>
                  </a:lnTo>
                  <a:lnTo>
                    <a:pt x="202" y="1"/>
                  </a:lnTo>
                  <a:lnTo>
                    <a:pt x="194" y="0"/>
                  </a:lnTo>
                  <a:lnTo>
                    <a:pt x="184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1" name="Rectangle 251"/>
            <p:cNvSpPr>
              <a:spLocks noChangeArrowheads="1"/>
            </p:cNvSpPr>
            <p:nvPr/>
          </p:nvSpPr>
          <p:spPr bwMode="auto">
            <a:xfrm>
              <a:off x="852" y="2580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232" name="Line 252"/>
            <p:cNvSpPr>
              <a:spLocks noChangeShapeType="1"/>
            </p:cNvSpPr>
            <p:nvPr/>
          </p:nvSpPr>
          <p:spPr bwMode="auto">
            <a:xfrm flipH="1">
              <a:off x="523" y="2727"/>
              <a:ext cx="294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3" name="Line 253"/>
            <p:cNvSpPr>
              <a:spLocks noChangeShapeType="1"/>
            </p:cNvSpPr>
            <p:nvPr/>
          </p:nvSpPr>
          <p:spPr bwMode="auto">
            <a:xfrm>
              <a:off x="940" y="2727"/>
              <a:ext cx="288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4" name="Freeform 254"/>
            <p:cNvSpPr>
              <a:spLocks/>
            </p:cNvSpPr>
            <p:nvPr/>
          </p:nvSpPr>
          <p:spPr bwMode="auto">
            <a:xfrm>
              <a:off x="1186" y="2855"/>
              <a:ext cx="176" cy="171"/>
            </a:xfrm>
            <a:custGeom>
              <a:avLst/>
              <a:gdLst>
                <a:gd name="T0" fmla="*/ 5 w 353"/>
                <a:gd name="T1" fmla="*/ 0 h 342"/>
                <a:gd name="T2" fmla="*/ 4 w 353"/>
                <a:gd name="T3" fmla="*/ 1 h 342"/>
                <a:gd name="T4" fmla="*/ 3 w 353"/>
                <a:gd name="T5" fmla="*/ 1 h 342"/>
                <a:gd name="T6" fmla="*/ 2 w 353"/>
                <a:gd name="T7" fmla="*/ 1 h 342"/>
                <a:gd name="T8" fmla="*/ 2 w 353"/>
                <a:gd name="T9" fmla="*/ 1 h 342"/>
                <a:gd name="T10" fmla="*/ 1 w 353"/>
                <a:gd name="T11" fmla="*/ 1 h 342"/>
                <a:gd name="T12" fmla="*/ 0 w 353"/>
                <a:gd name="T13" fmla="*/ 3 h 342"/>
                <a:gd name="T14" fmla="*/ 0 w 353"/>
                <a:gd name="T15" fmla="*/ 3 h 342"/>
                <a:gd name="T16" fmla="*/ 0 w 353"/>
                <a:gd name="T17" fmla="*/ 5 h 342"/>
                <a:gd name="T18" fmla="*/ 0 w 353"/>
                <a:gd name="T19" fmla="*/ 5 h 342"/>
                <a:gd name="T20" fmla="*/ 0 w 353"/>
                <a:gd name="T21" fmla="*/ 5 h 342"/>
                <a:gd name="T22" fmla="*/ 0 w 353"/>
                <a:gd name="T23" fmla="*/ 5 h 342"/>
                <a:gd name="T24" fmla="*/ 0 w 353"/>
                <a:gd name="T25" fmla="*/ 6 h 342"/>
                <a:gd name="T26" fmla="*/ 0 w 353"/>
                <a:gd name="T27" fmla="*/ 6 h 342"/>
                <a:gd name="T28" fmla="*/ 0 w 353"/>
                <a:gd name="T29" fmla="*/ 7 h 342"/>
                <a:gd name="T30" fmla="*/ 1 w 353"/>
                <a:gd name="T31" fmla="*/ 9 h 342"/>
                <a:gd name="T32" fmla="*/ 2 w 353"/>
                <a:gd name="T33" fmla="*/ 10 h 342"/>
                <a:gd name="T34" fmla="*/ 2 w 353"/>
                <a:gd name="T35" fmla="*/ 11 h 342"/>
                <a:gd name="T36" fmla="*/ 3 w 353"/>
                <a:gd name="T37" fmla="*/ 11 h 342"/>
                <a:gd name="T38" fmla="*/ 4 w 353"/>
                <a:gd name="T39" fmla="*/ 11 h 342"/>
                <a:gd name="T40" fmla="*/ 5 w 353"/>
                <a:gd name="T41" fmla="*/ 11 h 342"/>
                <a:gd name="T42" fmla="*/ 5 w 353"/>
                <a:gd name="T43" fmla="*/ 11 h 342"/>
                <a:gd name="T44" fmla="*/ 6 w 353"/>
                <a:gd name="T45" fmla="*/ 11 h 342"/>
                <a:gd name="T46" fmla="*/ 7 w 353"/>
                <a:gd name="T47" fmla="*/ 11 h 342"/>
                <a:gd name="T48" fmla="*/ 8 w 353"/>
                <a:gd name="T49" fmla="*/ 11 h 342"/>
                <a:gd name="T50" fmla="*/ 9 w 353"/>
                <a:gd name="T51" fmla="*/ 10 h 342"/>
                <a:gd name="T52" fmla="*/ 9 w 353"/>
                <a:gd name="T53" fmla="*/ 9 h 342"/>
                <a:gd name="T54" fmla="*/ 10 w 353"/>
                <a:gd name="T55" fmla="*/ 7 h 342"/>
                <a:gd name="T56" fmla="*/ 10 w 353"/>
                <a:gd name="T57" fmla="*/ 6 h 342"/>
                <a:gd name="T58" fmla="*/ 10 w 353"/>
                <a:gd name="T59" fmla="*/ 6 h 342"/>
                <a:gd name="T60" fmla="*/ 11 w 353"/>
                <a:gd name="T61" fmla="*/ 5 h 342"/>
                <a:gd name="T62" fmla="*/ 11 w 353"/>
                <a:gd name="T63" fmla="*/ 5 h 342"/>
                <a:gd name="T64" fmla="*/ 11 w 353"/>
                <a:gd name="T65" fmla="*/ 5 h 342"/>
                <a:gd name="T66" fmla="*/ 10 w 353"/>
                <a:gd name="T67" fmla="*/ 5 h 342"/>
                <a:gd name="T68" fmla="*/ 10 w 353"/>
                <a:gd name="T69" fmla="*/ 3 h 342"/>
                <a:gd name="T70" fmla="*/ 10 w 353"/>
                <a:gd name="T71" fmla="*/ 3 h 342"/>
                <a:gd name="T72" fmla="*/ 9 w 353"/>
                <a:gd name="T73" fmla="*/ 1 h 342"/>
                <a:gd name="T74" fmla="*/ 9 w 353"/>
                <a:gd name="T75" fmla="*/ 1 h 342"/>
                <a:gd name="T76" fmla="*/ 8 w 353"/>
                <a:gd name="T77" fmla="*/ 1 h 342"/>
                <a:gd name="T78" fmla="*/ 7 w 353"/>
                <a:gd name="T79" fmla="*/ 1 h 342"/>
                <a:gd name="T80" fmla="*/ 6 w 353"/>
                <a:gd name="T81" fmla="*/ 1 h 342"/>
                <a:gd name="T82" fmla="*/ 5 w 353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3"/>
                <a:gd name="T127" fmla="*/ 0 h 342"/>
                <a:gd name="T128" fmla="*/ 353 w 353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3" h="342">
                  <a:moveTo>
                    <a:pt x="178" y="0"/>
                  </a:moveTo>
                  <a:lnTo>
                    <a:pt x="168" y="0"/>
                  </a:lnTo>
                  <a:lnTo>
                    <a:pt x="159" y="2"/>
                  </a:lnTo>
                  <a:lnTo>
                    <a:pt x="149" y="2"/>
                  </a:lnTo>
                  <a:lnTo>
                    <a:pt x="141" y="4"/>
                  </a:lnTo>
                  <a:lnTo>
                    <a:pt x="124" y="9"/>
                  </a:lnTo>
                  <a:lnTo>
                    <a:pt x="108" y="14"/>
                  </a:lnTo>
                  <a:lnTo>
                    <a:pt x="93" y="20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1" y="50"/>
                  </a:lnTo>
                  <a:lnTo>
                    <a:pt x="42" y="63"/>
                  </a:lnTo>
                  <a:lnTo>
                    <a:pt x="32" y="77"/>
                  </a:lnTo>
                  <a:lnTo>
                    <a:pt x="22" y="90"/>
                  </a:lnTo>
                  <a:lnTo>
                    <a:pt x="15" y="105"/>
                  </a:lnTo>
                  <a:lnTo>
                    <a:pt x="8" y="121"/>
                  </a:lnTo>
                  <a:lnTo>
                    <a:pt x="7" y="128"/>
                  </a:lnTo>
                  <a:lnTo>
                    <a:pt x="5" y="136"/>
                  </a:lnTo>
                  <a:lnTo>
                    <a:pt x="3" y="145"/>
                  </a:lnTo>
                  <a:lnTo>
                    <a:pt x="2" y="154"/>
                  </a:lnTo>
                  <a:lnTo>
                    <a:pt x="2" y="163"/>
                  </a:lnTo>
                  <a:lnTo>
                    <a:pt x="0" y="171"/>
                  </a:lnTo>
                  <a:lnTo>
                    <a:pt x="2" y="179"/>
                  </a:lnTo>
                  <a:lnTo>
                    <a:pt x="2" y="189"/>
                  </a:lnTo>
                  <a:lnTo>
                    <a:pt x="3" y="198"/>
                  </a:lnTo>
                  <a:lnTo>
                    <a:pt x="5" y="206"/>
                  </a:lnTo>
                  <a:lnTo>
                    <a:pt x="7" y="214"/>
                  </a:lnTo>
                  <a:lnTo>
                    <a:pt x="8" y="222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2" y="267"/>
                  </a:lnTo>
                  <a:lnTo>
                    <a:pt x="42" y="281"/>
                  </a:lnTo>
                  <a:lnTo>
                    <a:pt x="51" y="292"/>
                  </a:lnTo>
                  <a:lnTo>
                    <a:pt x="65" y="304"/>
                  </a:lnTo>
                  <a:lnTo>
                    <a:pt x="78" y="314"/>
                  </a:lnTo>
                  <a:lnTo>
                    <a:pt x="93" y="322"/>
                  </a:lnTo>
                  <a:lnTo>
                    <a:pt x="108" y="329"/>
                  </a:lnTo>
                  <a:lnTo>
                    <a:pt x="124" y="335"/>
                  </a:lnTo>
                  <a:lnTo>
                    <a:pt x="141" y="339"/>
                  </a:lnTo>
                  <a:lnTo>
                    <a:pt x="149" y="340"/>
                  </a:lnTo>
                  <a:lnTo>
                    <a:pt x="159" y="342"/>
                  </a:lnTo>
                  <a:lnTo>
                    <a:pt x="168" y="342"/>
                  </a:lnTo>
                  <a:lnTo>
                    <a:pt x="178" y="342"/>
                  </a:lnTo>
                  <a:lnTo>
                    <a:pt x="186" y="342"/>
                  </a:lnTo>
                  <a:lnTo>
                    <a:pt x="196" y="342"/>
                  </a:lnTo>
                  <a:lnTo>
                    <a:pt x="204" y="340"/>
                  </a:lnTo>
                  <a:lnTo>
                    <a:pt x="212" y="339"/>
                  </a:lnTo>
                  <a:lnTo>
                    <a:pt x="229" y="335"/>
                  </a:lnTo>
                  <a:lnTo>
                    <a:pt x="246" y="329"/>
                  </a:lnTo>
                  <a:lnTo>
                    <a:pt x="260" y="322"/>
                  </a:lnTo>
                  <a:lnTo>
                    <a:pt x="275" y="314"/>
                  </a:lnTo>
                  <a:lnTo>
                    <a:pt x="289" y="304"/>
                  </a:lnTo>
                  <a:lnTo>
                    <a:pt x="302" y="292"/>
                  </a:lnTo>
                  <a:lnTo>
                    <a:pt x="313" y="281"/>
                  </a:lnTo>
                  <a:lnTo>
                    <a:pt x="323" y="267"/>
                  </a:lnTo>
                  <a:lnTo>
                    <a:pt x="332" y="252"/>
                  </a:lnTo>
                  <a:lnTo>
                    <a:pt x="340" y="237"/>
                  </a:lnTo>
                  <a:lnTo>
                    <a:pt x="345" y="222"/>
                  </a:lnTo>
                  <a:lnTo>
                    <a:pt x="348" y="214"/>
                  </a:lnTo>
                  <a:lnTo>
                    <a:pt x="350" y="206"/>
                  </a:lnTo>
                  <a:lnTo>
                    <a:pt x="352" y="198"/>
                  </a:lnTo>
                  <a:lnTo>
                    <a:pt x="352" y="189"/>
                  </a:lnTo>
                  <a:lnTo>
                    <a:pt x="353" y="179"/>
                  </a:lnTo>
                  <a:lnTo>
                    <a:pt x="353" y="171"/>
                  </a:lnTo>
                  <a:lnTo>
                    <a:pt x="353" y="163"/>
                  </a:lnTo>
                  <a:lnTo>
                    <a:pt x="352" y="154"/>
                  </a:lnTo>
                  <a:lnTo>
                    <a:pt x="352" y="145"/>
                  </a:lnTo>
                  <a:lnTo>
                    <a:pt x="350" y="136"/>
                  </a:lnTo>
                  <a:lnTo>
                    <a:pt x="348" y="128"/>
                  </a:lnTo>
                  <a:lnTo>
                    <a:pt x="345" y="121"/>
                  </a:lnTo>
                  <a:lnTo>
                    <a:pt x="340" y="105"/>
                  </a:lnTo>
                  <a:lnTo>
                    <a:pt x="332" y="90"/>
                  </a:lnTo>
                  <a:lnTo>
                    <a:pt x="323" y="77"/>
                  </a:lnTo>
                  <a:lnTo>
                    <a:pt x="313" y="63"/>
                  </a:lnTo>
                  <a:lnTo>
                    <a:pt x="302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0" y="20"/>
                  </a:lnTo>
                  <a:lnTo>
                    <a:pt x="246" y="14"/>
                  </a:lnTo>
                  <a:lnTo>
                    <a:pt x="229" y="9"/>
                  </a:lnTo>
                  <a:lnTo>
                    <a:pt x="212" y="4"/>
                  </a:lnTo>
                  <a:lnTo>
                    <a:pt x="204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8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5" name="Rectangle 255"/>
            <p:cNvSpPr>
              <a:spLocks noChangeArrowheads="1"/>
            </p:cNvSpPr>
            <p:nvPr/>
          </p:nvSpPr>
          <p:spPr bwMode="auto">
            <a:xfrm>
              <a:off x="1222" y="2860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36" name="Rectangle 256"/>
            <p:cNvSpPr>
              <a:spLocks noChangeArrowheads="1"/>
            </p:cNvSpPr>
            <p:nvPr/>
          </p:nvSpPr>
          <p:spPr bwMode="auto">
            <a:xfrm>
              <a:off x="1282" y="2924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237" name="Line 257"/>
            <p:cNvSpPr>
              <a:spLocks noChangeShapeType="1"/>
            </p:cNvSpPr>
            <p:nvPr/>
          </p:nvSpPr>
          <p:spPr bwMode="auto">
            <a:xfrm>
              <a:off x="542" y="3017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8" name="Line 258"/>
            <p:cNvSpPr>
              <a:spLocks noChangeShapeType="1"/>
            </p:cNvSpPr>
            <p:nvPr/>
          </p:nvSpPr>
          <p:spPr bwMode="auto">
            <a:xfrm flipH="1">
              <a:off x="210" y="3014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9" name="Freeform 259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0" name="Freeform 260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1" name="Rectangle 261"/>
            <p:cNvSpPr>
              <a:spLocks noChangeArrowheads="1"/>
            </p:cNvSpPr>
            <p:nvPr/>
          </p:nvSpPr>
          <p:spPr bwMode="auto">
            <a:xfrm>
              <a:off x="141" y="323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42" name="Rectangle 262"/>
            <p:cNvSpPr>
              <a:spLocks noChangeArrowheads="1"/>
            </p:cNvSpPr>
            <p:nvPr/>
          </p:nvSpPr>
          <p:spPr bwMode="auto">
            <a:xfrm>
              <a:off x="208" y="329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243" name="Freeform 263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4" name="Freeform 264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5" name="Rectangle 265"/>
            <p:cNvSpPr>
              <a:spLocks noChangeArrowheads="1"/>
            </p:cNvSpPr>
            <p:nvPr/>
          </p:nvSpPr>
          <p:spPr bwMode="auto">
            <a:xfrm>
              <a:off x="643" y="323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46" name="Rectangle 266"/>
            <p:cNvSpPr>
              <a:spLocks noChangeArrowheads="1"/>
            </p:cNvSpPr>
            <p:nvPr/>
          </p:nvSpPr>
          <p:spPr bwMode="auto">
            <a:xfrm>
              <a:off x="710" y="329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247" name="Freeform 267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8" name="Freeform 268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9" name="Rectangle 269"/>
            <p:cNvSpPr>
              <a:spLocks noChangeArrowheads="1"/>
            </p:cNvSpPr>
            <p:nvPr/>
          </p:nvSpPr>
          <p:spPr bwMode="auto">
            <a:xfrm>
              <a:off x="1001" y="3263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50" name="Rectangle 270"/>
            <p:cNvSpPr>
              <a:spLocks noChangeArrowheads="1"/>
            </p:cNvSpPr>
            <p:nvPr/>
          </p:nvSpPr>
          <p:spPr bwMode="auto">
            <a:xfrm>
              <a:off x="1068" y="3321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251" name="Freeform 271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2" name="Freeform 272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3" name="Rectangle 273"/>
            <p:cNvSpPr>
              <a:spLocks noChangeArrowheads="1"/>
            </p:cNvSpPr>
            <p:nvPr/>
          </p:nvSpPr>
          <p:spPr bwMode="auto">
            <a:xfrm>
              <a:off x="1418" y="326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54" name="Rectangle 274"/>
            <p:cNvSpPr>
              <a:spLocks noChangeArrowheads="1"/>
            </p:cNvSpPr>
            <p:nvPr/>
          </p:nvSpPr>
          <p:spPr bwMode="auto">
            <a:xfrm>
              <a:off x="1485" y="332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255" name="Line 275"/>
            <p:cNvSpPr>
              <a:spLocks noChangeShapeType="1"/>
            </p:cNvSpPr>
            <p:nvPr/>
          </p:nvSpPr>
          <p:spPr bwMode="auto">
            <a:xfrm flipH="1">
              <a:off x="1053" y="3038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6" name="Line 276"/>
            <p:cNvSpPr>
              <a:spLocks noChangeShapeType="1"/>
            </p:cNvSpPr>
            <p:nvPr/>
          </p:nvSpPr>
          <p:spPr bwMode="auto">
            <a:xfrm>
              <a:off x="1319" y="3034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7" name="Freeform 277"/>
            <p:cNvSpPr>
              <a:spLocks/>
            </p:cNvSpPr>
            <p:nvPr/>
          </p:nvSpPr>
          <p:spPr bwMode="auto">
            <a:xfrm>
              <a:off x="1586" y="2894"/>
              <a:ext cx="373" cy="83"/>
            </a:xfrm>
            <a:custGeom>
              <a:avLst/>
              <a:gdLst>
                <a:gd name="T0" fmla="*/ 18 w 746"/>
                <a:gd name="T1" fmla="*/ 0 h 166"/>
                <a:gd name="T2" fmla="*/ 18 w 746"/>
                <a:gd name="T3" fmla="*/ 1 h 166"/>
                <a:gd name="T4" fmla="*/ 0 w 746"/>
                <a:gd name="T5" fmla="*/ 1 h 166"/>
                <a:gd name="T6" fmla="*/ 0 w 746"/>
                <a:gd name="T7" fmla="*/ 3 h 166"/>
                <a:gd name="T8" fmla="*/ 18 w 746"/>
                <a:gd name="T9" fmla="*/ 3 h 166"/>
                <a:gd name="T10" fmla="*/ 18 w 746"/>
                <a:gd name="T11" fmla="*/ 5 h 166"/>
                <a:gd name="T12" fmla="*/ 23 w 746"/>
                <a:gd name="T13" fmla="*/ 3 h 166"/>
                <a:gd name="T14" fmla="*/ 18 w 746"/>
                <a:gd name="T15" fmla="*/ 0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46"/>
                <a:gd name="T25" fmla="*/ 0 h 166"/>
                <a:gd name="T26" fmla="*/ 746 w 746"/>
                <a:gd name="T27" fmla="*/ 166 h 1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46" h="166">
                  <a:moveTo>
                    <a:pt x="559" y="0"/>
                  </a:moveTo>
                  <a:lnTo>
                    <a:pt x="559" y="42"/>
                  </a:lnTo>
                  <a:lnTo>
                    <a:pt x="0" y="42"/>
                  </a:lnTo>
                  <a:lnTo>
                    <a:pt x="0" y="125"/>
                  </a:lnTo>
                  <a:lnTo>
                    <a:pt x="559" y="125"/>
                  </a:lnTo>
                  <a:lnTo>
                    <a:pt x="559" y="166"/>
                  </a:lnTo>
                  <a:lnTo>
                    <a:pt x="746" y="83"/>
                  </a:lnTo>
                  <a:lnTo>
                    <a:pt x="559" y="0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8" name="Freeform 278"/>
            <p:cNvSpPr>
              <a:spLocks/>
            </p:cNvSpPr>
            <p:nvPr/>
          </p:nvSpPr>
          <p:spPr bwMode="auto">
            <a:xfrm>
              <a:off x="1586" y="2894"/>
              <a:ext cx="373" cy="83"/>
            </a:xfrm>
            <a:custGeom>
              <a:avLst/>
              <a:gdLst>
                <a:gd name="T0" fmla="*/ 18 w 746"/>
                <a:gd name="T1" fmla="*/ 0 h 166"/>
                <a:gd name="T2" fmla="*/ 18 w 746"/>
                <a:gd name="T3" fmla="*/ 1 h 166"/>
                <a:gd name="T4" fmla="*/ 0 w 746"/>
                <a:gd name="T5" fmla="*/ 1 h 166"/>
                <a:gd name="T6" fmla="*/ 0 w 746"/>
                <a:gd name="T7" fmla="*/ 3 h 166"/>
                <a:gd name="T8" fmla="*/ 18 w 746"/>
                <a:gd name="T9" fmla="*/ 3 h 166"/>
                <a:gd name="T10" fmla="*/ 18 w 746"/>
                <a:gd name="T11" fmla="*/ 5 h 166"/>
                <a:gd name="T12" fmla="*/ 23 w 746"/>
                <a:gd name="T13" fmla="*/ 3 h 166"/>
                <a:gd name="T14" fmla="*/ 18 w 746"/>
                <a:gd name="T15" fmla="*/ 0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46"/>
                <a:gd name="T25" fmla="*/ 0 h 166"/>
                <a:gd name="T26" fmla="*/ 746 w 746"/>
                <a:gd name="T27" fmla="*/ 166 h 1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46" h="166">
                  <a:moveTo>
                    <a:pt x="559" y="0"/>
                  </a:moveTo>
                  <a:lnTo>
                    <a:pt x="559" y="42"/>
                  </a:lnTo>
                  <a:lnTo>
                    <a:pt x="0" y="42"/>
                  </a:lnTo>
                  <a:lnTo>
                    <a:pt x="0" y="125"/>
                  </a:lnTo>
                  <a:lnTo>
                    <a:pt x="559" y="125"/>
                  </a:lnTo>
                  <a:lnTo>
                    <a:pt x="559" y="166"/>
                  </a:lnTo>
                  <a:lnTo>
                    <a:pt x="746" y="83"/>
                  </a:lnTo>
                  <a:lnTo>
                    <a:pt x="559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9" name="Freeform 279"/>
            <p:cNvSpPr>
              <a:spLocks/>
            </p:cNvSpPr>
            <p:nvPr/>
          </p:nvSpPr>
          <p:spPr bwMode="auto">
            <a:xfrm>
              <a:off x="3118" y="2410"/>
              <a:ext cx="175" cy="171"/>
            </a:xfrm>
            <a:custGeom>
              <a:avLst/>
              <a:gdLst>
                <a:gd name="T0" fmla="*/ 5 w 350"/>
                <a:gd name="T1" fmla="*/ 0 h 341"/>
                <a:gd name="T2" fmla="*/ 5 w 350"/>
                <a:gd name="T3" fmla="*/ 1 h 341"/>
                <a:gd name="T4" fmla="*/ 3 w 350"/>
                <a:gd name="T5" fmla="*/ 1 h 341"/>
                <a:gd name="T6" fmla="*/ 3 w 350"/>
                <a:gd name="T7" fmla="*/ 1 h 341"/>
                <a:gd name="T8" fmla="*/ 2 w 350"/>
                <a:gd name="T9" fmla="*/ 2 h 341"/>
                <a:gd name="T10" fmla="*/ 1 w 350"/>
                <a:gd name="T11" fmla="*/ 2 h 341"/>
                <a:gd name="T12" fmla="*/ 1 w 350"/>
                <a:gd name="T13" fmla="*/ 3 h 341"/>
                <a:gd name="T14" fmla="*/ 1 w 350"/>
                <a:gd name="T15" fmla="*/ 4 h 341"/>
                <a:gd name="T16" fmla="*/ 1 w 350"/>
                <a:gd name="T17" fmla="*/ 5 h 341"/>
                <a:gd name="T18" fmla="*/ 0 w 350"/>
                <a:gd name="T19" fmla="*/ 5 h 341"/>
                <a:gd name="T20" fmla="*/ 0 w 350"/>
                <a:gd name="T21" fmla="*/ 6 h 341"/>
                <a:gd name="T22" fmla="*/ 0 w 350"/>
                <a:gd name="T23" fmla="*/ 6 h 341"/>
                <a:gd name="T24" fmla="*/ 1 w 350"/>
                <a:gd name="T25" fmla="*/ 7 h 341"/>
                <a:gd name="T26" fmla="*/ 1 w 350"/>
                <a:gd name="T27" fmla="*/ 7 h 341"/>
                <a:gd name="T28" fmla="*/ 1 w 350"/>
                <a:gd name="T29" fmla="*/ 8 h 341"/>
                <a:gd name="T30" fmla="*/ 1 w 350"/>
                <a:gd name="T31" fmla="*/ 9 h 341"/>
                <a:gd name="T32" fmla="*/ 2 w 350"/>
                <a:gd name="T33" fmla="*/ 10 h 341"/>
                <a:gd name="T34" fmla="*/ 3 w 350"/>
                <a:gd name="T35" fmla="*/ 10 h 341"/>
                <a:gd name="T36" fmla="*/ 3 w 350"/>
                <a:gd name="T37" fmla="*/ 11 h 341"/>
                <a:gd name="T38" fmla="*/ 5 w 350"/>
                <a:gd name="T39" fmla="*/ 11 h 341"/>
                <a:gd name="T40" fmla="*/ 5 w 350"/>
                <a:gd name="T41" fmla="*/ 11 h 341"/>
                <a:gd name="T42" fmla="*/ 5 w 350"/>
                <a:gd name="T43" fmla="*/ 11 h 341"/>
                <a:gd name="T44" fmla="*/ 6 w 350"/>
                <a:gd name="T45" fmla="*/ 11 h 341"/>
                <a:gd name="T46" fmla="*/ 7 w 350"/>
                <a:gd name="T47" fmla="*/ 11 h 341"/>
                <a:gd name="T48" fmla="*/ 9 w 350"/>
                <a:gd name="T49" fmla="*/ 10 h 341"/>
                <a:gd name="T50" fmla="*/ 9 w 350"/>
                <a:gd name="T51" fmla="*/ 10 h 341"/>
                <a:gd name="T52" fmla="*/ 10 w 350"/>
                <a:gd name="T53" fmla="*/ 9 h 341"/>
                <a:gd name="T54" fmla="*/ 11 w 350"/>
                <a:gd name="T55" fmla="*/ 8 h 341"/>
                <a:gd name="T56" fmla="*/ 11 w 350"/>
                <a:gd name="T57" fmla="*/ 7 h 341"/>
                <a:gd name="T58" fmla="*/ 11 w 350"/>
                <a:gd name="T59" fmla="*/ 7 h 341"/>
                <a:gd name="T60" fmla="*/ 11 w 350"/>
                <a:gd name="T61" fmla="*/ 6 h 341"/>
                <a:gd name="T62" fmla="*/ 11 w 350"/>
                <a:gd name="T63" fmla="*/ 6 h 341"/>
                <a:gd name="T64" fmla="*/ 11 w 350"/>
                <a:gd name="T65" fmla="*/ 5 h 341"/>
                <a:gd name="T66" fmla="*/ 11 w 350"/>
                <a:gd name="T67" fmla="*/ 5 h 341"/>
                <a:gd name="T68" fmla="*/ 11 w 350"/>
                <a:gd name="T69" fmla="*/ 4 h 341"/>
                <a:gd name="T70" fmla="*/ 11 w 350"/>
                <a:gd name="T71" fmla="*/ 3 h 341"/>
                <a:gd name="T72" fmla="*/ 10 w 350"/>
                <a:gd name="T73" fmla="*/ 2 h 341"/>
                <a:gd name="T74" fmla="*/ 9 w 350"/>
                <a:gd name="T75" fmla="*/ 2 h 341"/>
                <a:gd name="T76" fmla="*/ 9 w 350"/>
                <a:gd name="T77" fmla="*/ 1 h 341"/>
                <a:gd name="T78" fmla="*/ 7 w 350"/>
                <a:gd name="T79" fmla="*/ 1 h 341"/>
                <a:gd name="T80" fmla="*/ 6 w 350"/>
                <a:gd name="T81" fmla="*/ 1 h 341"/>
                <a:gd name="T82" fmla="*/ 5 w 350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1"/>
                <a:gd name="T128" fmla="*/ 350 w 350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1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3"/>
                  </a:lnTo>
                  <a:lnTo>
                    <a:pt x="123" y="7"/>
                  </a:lnTo>
                  <a:lnTo>
                    <a:pt x="107" y="13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4" y="38"/>
                  </a:lnTo>
                  <a:lnTo>
                    <a:pt x="52" y="50"/>
                  </a:lnTo>
                  <a:lnTo>
                    <a:pt x="40" y="61"/>
                  </a:lnTo>
                  <a:lnTo>
                    <a:pt x="30" y="75"/>
                  </a:lnTo>
                  <a:lnTo>
                    <a:pt x="20" y="89"/>
                  </a:lnTo>
                  <a:lnTo>
                    <a:pt x="14" y="104"/>
                  </a:lnTo>
                  <a:lnTo>
                    <a:pt x="7" y="119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4"/>
                  </a:lnTo>
                  <a:lnTo>
                    <a:pt x="0" y="152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7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5" y="214"/>
                  </a:lnTo>
                  <a:lnTo>
                    <a:pt x="7" y="220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2"/>
                  </a:lnTo>
                  <a:lnTo>
                    <a:pt x="64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8"/>
                  </a:lnTo>
                  <a:lnTo>
                    <a:pt x="123" y="333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1"/>
                  </a:lnTo>
                  <a:lnTo>
                    <a:pt x="175" y="341"/>
                  </a:lnTo>
                  <a:lnTo>
                    <a:pt x="185" y="341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3"/>
                  </a:lnTo>
                  <a:lnTo>
                    <a:pt x="243" y="328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8"/>
                  </a:lnTo>
                  <a:lnTo>
                    <a:pt x="321" y="265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0"/>
                  </a:lnTo>
                  <a:lnTo>
                    <a:pt x="345" y="214"/>
                  </a:lnTo>
                  <a:lnTo>
                    <a:pt x="347" y="206"/>
                  </a:lnTo>
                  <a:lnTo>
                    <a:pt x="349" y="196"/>
                  </a:lnTo>
                  <a:lnTo>
                    <a:pt x="349" y="187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2"/>
                  </a:lnTo>
                  <a:lnTo>
                    <a:pt x="349" y="144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19"/>
                  </a:lnTo>
                  <a:lnTo>
                    <a:pt x="337" y="104"/>
                  </a:lnTo>
                  <a:lnTo>
                    <a:pt x="329" y="89"/>
                  </a:lnTo>
                  <a:lnTo>
                    <a:pt x="321" y="75"/>
                  </a:lnTo>
                  <a:lnTo>
                    <a:pt x="311" y="61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3"/>
                  </a:lnTo>
                  <a:lnTo>
                    <a:pt x="228" y="7"/>
                  </a:lnTo>
                  <a:lnTo>
                    <a:pt x="211" y="3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0" name="Rectangle 280"/>
            <p:cNvSpPr>
              <a:spLocks noChangeArrowheads="1"/>
            </p:cNvSpPr>
            <p:nvPr/>
          </p:nvSpPr>
          <p:spPr bwMode="auto">
            <a:xfrm>
              <a:off x="3153" y="2414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61" name="Rectangle 281"/>
            <p:cNvSpPr>
              <a:spLocks noChangeArrowheads="1"/>
            </p:cNvSpPr>
            <p:nvPr/>
          </p:nvSpPr>
          <p:spPr bwMode="auto">
            <a:xfrm>
              <a:off x="3213" y="2478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262" name="Freeform 282"/>
            <p:cNvSpPr>
              <a:spLocks/>
            </p:cNvSpPr>
            <p:nvPr/>
          </p:nvSpPr>
          <p:spPr bwMode="auto">
            <a:xfrm>
              <a:off x="2662" y="2700"/>
              <a:ext cx="175" cy="171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1 h 342"/>
                <a:gd name="T4" fmla="*/ 3 w 350"/>
                <a:gd name="T5" fmla="*/ 1 h 342"/>
                <a:gd name="T6" fmla="*/ 3 w 350"/>
                <a:gd name="T7" fmla="*/ 1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3 h 342"/>
                <a:gd name="T14" fmla="*/ 1 w 350"/>
                <a:gd name="T15" fmla="*/ 3 h 342"/>
                <a:gd name="T16" fmla="*/ 1 w 350"/>
                <a:gd name="T17" fmla="*/ 5 h 342"/>
                <a:gd name="T18" fmla="*/ 0 w 350"/>
                <a:gd name="T19" fmla="*/ 5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9 h 342"/>
                <a:gd name="T32" fmla="*/ 1 w 350"/>
                <a:gd name="T33" fmla="*/ 10 h 342"/>
                <a:gd name="T34" fmla="*/ 3 w 350"/>
                <a:gd name="T35" fmla="*/ 10 h 342"/>
                <a:gd name="T36" fmla="*/ 3 w 350"/>
                <a:gd name="T37" fmla="*/ 11 h 342"/>
                <a:gd name="T38" fmla="*/ 5 w 350"/>
                <a:gd name="T39" fmla="*/ 11 h 342"/>
                <a:gd name="T40" fmla="*/ 5 w 350"/>
                <a:gd name="T41" fmla="*/ 11 h 342"/>
                <a:gd name="T42" fmla="*/ 5 w 350"/>
                <a:gd name="T43" fmla="*/ 11 h 342"/>
                <a:gd name="T44" fmla="*/ 6 w 350"/>
                <a:gd name="T45" fmla="*/ 11 h 342"/>
                <a:gd name="T46" fmla="*/ 7 w 350"/>
                <a:gd name="T47" fmla="*/ 11 h 342"/>
                <a:gd name="T48" fmla="*/ 9 w 350"/>
                <a:gd name="T49" fmla="*/ 10 h 342"/>
                <a:gd name="T50" fmla="*/ 9 w 350"/>
                <a:gd name="T51" fmla="*/ 10 h 342"/>
                <a:gd name="T52" fmla="*/ 10 w 350"/>
                <a:gd name="T53" fmla="*/ 9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5 h 342"/>
                <a:gd name="T66" fmla="*/ 11 w 350"/>
                <a:gd name="T67" fmla="*/ 5 h 342"/>
                <a:gd name="T68" fmla="*/ 11 w 350"/>
                <a:gd name="T69" fmla="*/ 3 h 342"/>
                <a:gd name="T70" fmla="*/ 11 w 350"/>
                <a:gd name="T71" fmla="*/ 3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1 h 342"/>
                <a:gd name="T78" fmla="*/ 7 w 350"/>
                <a:gd name="T79" fmla="*/ 1 h 342"/>
                <a:gd name="T80" fmla="*/ 6 w 350"/>
                <a:gd name="T81" fmla="*/ 1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4"/>
                  </a:lnTo>
                  <a:lnTo>
                    <a:pt x="123" y="7"/>
                  </a:lnTo>
                  <a:lnTo>
                    <a:pt x="107" y="14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3" y="38"/>
                  </a:lnTo>
                  <a:lnTo>
                    <a:pt x="52" y="50"/>
                  </a:lnTo>
                  <a:lnTo>
                    <a:pt x="40" y="62"/>
                  </a:lnTo>
                  <a:lnTo>
                    <a:pt x="30" y="75"/>
                  </a:lnTo>
                  <a:lnTo>
                    <a:pt x="20" y="90"/>
                  </a:lnTo>
                  <a:lnTo>
                    <a:pt x="14" y="105"/>
                  </a:lnTo>
                  <a:lnTo>
                    <a:pt x="7" y="120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5"/>
                  </a:lnTo>
                  <a:lnTo>
                    <a:pt x="0" y="153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8"/>
                  </a:lnTo>
                  <a:lnTo>
                    <a:pt x="2" y="196"/>
                  </a:lnTo>
                  <a:lnTo>
                    <a:pt x="4" y="204"/>
                  </a:lnTo>
                  <a:lnTo>
                    <a:pt x="5" y="212"/>
                  </a:lnTo>
                  <a:lnTo>
                    <a:pt x="7" y="221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6"/>
                  </a:lnTo>
                  <a:lnTo>
                    <a:pt x="40" y="279"/>
                  </a:lnTo>
                  <a:lnTo>
                    <a:pt x="52" y="292"/>
                  </a:lnTo>
                  <a:lnTo>
                    <a:pt x="63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9"/>
                  </a:lnTo>
                  <a:lnTo>
                    <a:pt x="123" y="334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2"/>
                  </a:lnTo>
                  <a:lnTo>
                    <a:pt x="175" y="342"/>
                  </a:lnTo>
                  <a:lnTo>
                    <a:pt x="185" y="342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4"/>
                  </a:lnTo>
                  <a:lnTo>
                    <a:pt x="243" y="329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9"/>
                  </a:lnTo>
                  <a:lnTo>
                    <a:pt x="320" y="266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1"/>
                  </a:lnTo>
                  <a:lnTo>
                    <a:pt x="345" y="212"/>
                  </a:lnTo>
                  <a:lnTo>
                    <a:pt x="347" y="204"/>
                  </a:lnTo>
                  <a:lnTo>
                    <a:pt x="349" y="196"/>
                  </a:lnTo>
                  <a:lnTo>
                    <a:pt x="349" y="188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3"/>
                  </a:lnTo>
                  <a:lnTo>
                    <a:pt x="349" y="145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20"/>
                  </a:lnTo>
                  <a:lnTo>
                    <a:pt x="337" y="105"/>
                  </a:lnTo>
                  <a:lnTo>
                    <a:pt x="329" y="90"/>
                  </a:lnTo>
                  <a:lnTo>
                    <a:pt x="320" y="75"/>
                  </a:lnTo>
                  <a:lnTo>
                    <a:pt x="311" y="62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4"/>
                  </a:lnTo>
                  <a:lnTo>
                    <a:pt x="228" y="7"/>
                  </a:lnTo>
                  <a:lnTo>
                    <a:pt x="211" y="4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3" name="Rectangle 283"/>
            <p:cNvSpPr>
              <a:spLocks noChangeArrowheads="1"/>
            </p:cNvSpPr>
            <p:nvPr/>
          </p:nvSpPr>
          <p:spPr bwMode="auto">
            <a:xfrm>
              <a:off x="2724" y="2704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264" name="Line 284"/>
            <p:cNvSpPr>
              <a:spLocks noChangeShapeType="1"/>
            </p:cNvSpPr>
            <p:nvPr/>
          </p:nvSpPr>
          <p:spPr bwMode="auto">
            <a:xfrm>
              <a:off x="2829" y="2842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5" name="Freeform 285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6" name="Freeform 286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7" name="Rectangle 287"/>
            <p:cNvSpPr>
              <a:spLocks noChangeArrowheads="1"/>
            </p:cNvSpPr>
            <p:nvPr/>
          </p:nvSpPr>
          <p:spPr bwMode="auto">
            <a:xfrm>
              <a:off x="2934" y="3086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68" name="Rectangle 288"/>
            <p:cNvSpPr>
              <a:spLocks noChangeArrowheads="1"/>
            </p:cNvSpPr>
            <p:nvPr/>
          </p:nvSpPr>
          <p:spPr bwMode="auto">
            <a:xfrm>
              <a:off x="3001" y="3145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269" name="Freeform 289"/>
            <p:cNvSpPr>
              <a:spLocks/>
            </p:cNvSpPr>
            <p:nvPr/>
          </p:nvSpPr>
          <p:spPr bwMode="auto">
            <a:xfrm>
              <a:off x="2315" y="2940"/>
              <a:ext cx="175" cy="170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0 h 342"/>
                <a:gd name="T4" fmla="*/ 3 w 350"/>
                <a:gd name="T5" fmla="*/ 0 h 342"/>
                <a:gd name="T6" fmla="*/ 3 w 350"/>
                <a:gd name="T7" fmla="*/ 0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2 h 342"/>
                <a:gd name="T14" fmla="*/ 1 w 350"/>
                <a:gd name="T15" fmla="*/ 3 h 342"/>
                <a:gd name="T16" fmla="*/ 1 w 350"/>
                <a:gd name="T17" fmla="*/ 4 h 342"/>
                <a:gd name="T18" fmla="*/ 0 w 350"/>
                <a:gd name="T19" fmla="*/ 4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8 h 342"/>
                <a:gd name="T32" fmla="*/ 1 w 350"/>
                <a:gd name="T33" fmla="*/ 9 h 342"/>
                <a:gd name="T34" fmla="*/ 3 w 350"/>
                <a:gd name="T35" fmla="*/ 10 h 342"/>
                <a:gd name="T36" fmla="*/ 3 w 350"/>
                <a:gd name="T37" fmla="*/ 10 h 342"/>
                <a:gd name="T38" fmla="*/ 5 w 350"/>
                <a:gd name="T39" fmla="*/ 10 h 342"/>
                <a:gd name="T40" fmla="*/ 5 w 350"/>
                <a:gd name="T41" fmla="*/ 10 h 342"/>
                <a:gd name="T42" fmla="*/ 5 w 350"/>
                <a:gd name="T43" fmla="*/ 10 h 342"/>
                <a:gd name="T44" fmla="*/ 6 w 350"/>
                <a:gd name="T45" fmla="*/ 10 h 342"/>
                <a:gd name="T46" fmla="*/ 7 w 350"/>
                <a:gd name="T47" fmla="*/ 10 h 342"/>
                <a:gd name="T48" fmla="*/ 9 w 350"/>
                <a:gd name="T49" fmla="*/ 10 h 342"/>
                <a:gd name="T50" fmla="*/ 9 w 350"/>
                <a:gd name="T51" fmla="*/ 9 h 342"/>
                <a:gd name="T52" fmla="*/ 10 w 350"/>
                <a:gd name="T53" fmla="*/ 8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4 h 342"/>
                <a:gd name="T66" fmla="*/ 11 w 350"/>
                <a:gd name="T67" fmla="*/ 4 h 342"/>
                <a:gd name="T68" fmla="*/ 11 w 350"/>
                <a:gd name="T69" fmla="*/ 3 h 342"/>
                <a:gd name="T70" fmla="*/ 11 w 350"/>
                <a:gd name="T71" fmla="*/ 2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0 h 342"/>
                <a:gd name="T78" fmla="*/ 7 w 350"/>
                <a:gd name="T79" fmla="*/ 0 h 342"/>
                <a:gd name="T80" fmla="*/ 6 w 350"/>
                <a:gd name="T81" fmla="*/ 0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5" y="0"/>
                  </a:lnTo>
                  <a:lnTo>
                    <a:pt x="157" y="2"/>
                  </a:lnTo>
                  <a:lnTo>
                    <a:pt x="147" y="2"/>
                  </a:lnTo>
                  <a:lnTo>
                    <a:pt x="139" y="4"/>
                  </a:lnTo>
                  <a:lnTo>
                    <a:pt x="122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6" y="30"/>
                  </a:lnTo>
                  <a:lnTo>
                    <a:pt x="63" y="40"/>
                  </a:lnTo>
                  <a:lnTo>
                    <a:pt x="51" y="50"/>
                  </a:lnTo>
                  <a:lnTo>
                    <a:pt x="39" y="63"/>
                  </a:lnTo>
                  <a:lnTo>
                    <a:pt x="29" y="77"/>
                  </a:lnTo>
                  <a:lnTo>
                    <a:pt x="21" y="90"/>
                  </a:lnTo>
                  <a:lnTo>
                    <a:pt x="13" y="105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1" y="146"/>
                  </a:lnTo>
                  <a:lnTo>
                    <a:pt x="0" y="155"/>
                  </a:lnTo>
                  <a:lnTo>
                    <a:pt x="0" y="163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1" y="198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3"/>
                  </a:lnTo>
                  <a:lnTo>
                    <a:pt x="13" y="238"/>
                  </a:lnTo>
                  <a:lnTo>
                    <a:pt x="21" y="252"/>
                  </a:lnTo>
                  <a:lnTo>
                    <a:pt x="29" y="267"/>
                  </a:lnTo>
                  <a:lnTo>
                    <a:pt x="39" y="281"/>
                  </a:lnTo>
                  <a:lnTo>
                    <a:pt x="51" y="292"/>
                  </a:lnTo>
                  <a:lnTo>
                    <a:pt x="63" y="304"/>
                  </a:lnTo>
                  <a:lnTo>
                    <a:pt x="76" y="314"/>
                  </a:lnTo>
                  <a:lnTo>
                    <a:pt x="91" y="322"/>
                  </a:lnTo>
                  <a:lnTo>
                    <a:pt x="106" y="329"/>
                  </a:lnTo>
                  <a:lnTo>
                    <a:pt x="122" y="335"/>
                  </a:lnTo>
                  <a:lnTo>
                    <a:pt x="139" y="339"/>
                  </a:lnTo>
                  <a:lnTo>
                    <a:pt x="147" y="340"/>
                  </a:lnTo>
                  <a:lnTo>
                    <a:pt x="157" y="342"/>
                  </a:lnTo>
                  <a:lnTo>
                    <a:pt x="165" y="342"/>
                  </a:lnTo>
                  <a:lnTo>
                    <a:pt x="175" y="342"/>
                  </a:lnTo>
                  <a:lnTo>
                    <a:pt x="184" y="342"/>
                  </a:lnTo>
                  <a:lnTo>
                    <a:pt x="192" y="342"/>
                  </a:lnTo>
                  <a:lnTo>
                    <a:pt x="202" y="340"/>
                  </a:lnTo>
                  <a:lnTo>
                    <a:pt x="210" y="339"/>
                  </a:lnTo>
                  <a:lnTo>
                    <a:pt x="227" y="335"/>
                  </a:lnTo>
                  <a:lnTo>
                    <a:pt x="243" y="329"/>
                  </a:lnTo>
                  <a:lnTo>
                    <a:pt x="258" y="322"/>
                  </a:lnTo>
                  <a:lnTo>
                    <a:pt x="273" y="314"/>
                  </a:lnTo>
                  <a:lnTo>
                    <a:pt x="287" y="304"/>
                  </a:lnTo>
                  <a:lnTo>
                    <a:pt x="298" y="292"/>
                  </a:lnTo>
                  <a:lnTo>
                    <a:pt x="310" y="281"/>
                  </a:lnTo>
                  <a:lnTo>
                    <a:pt x="320" y="267"/>
                  </a:lnTo>
                  <a:lnTo>
                    <a:pt x="328" y="252"/>
                  </a:lnTo>
                  <a:lnTo>
                    <a:pt x="336" y="238"/>
                  </a:lnTo>
                  <a:lnTo>
                    <a:pt x="343" y="223"/>
                  </a:lnTo>
                  <a:lnTo>
                    <a:pt x="345" y="214"/>
                  </a:lnTo>
                  <a:lnTo>
                    <a:pt x="346" y="206"/>
                  </a:lnTo>
                  <a:lnTo>
                    <a:pt x="348" y="198"/>
                  </a:lnTo>
                  <a:lnTo>
                    <a:pt x="350" y="189"/>
                  </a:lnTo>
                  <a:lnTo>
                    <a:pt x="350" y="181"/>
                  </a:lnTo>
                  <a:lnTo>
                    <a:pt x="350" y="171"/>
                  </a:lnTo>
                  <a:lnTo>
                    <a:pt x="350" y="163"/>
                  </a:lnTo>
                  <a:lnTo>
                    <a:pt x="350" y="155"/>
                  </a:lnTo>
                  <a:lnTo>
                    <a:pt x="348" y="146"/>
                  </a:lnTo>
                  <a:lnTo>
                    <a:pt x="346" y="136"/>
                  </a:lnTo>
                  <a:lnTo>
                    <a:pt x="345" y="128"/>
                  </a:lnTo>
                  <a:lnTo>
                    <a:pt x="343" y="121"/>
                  </a:lnTo>
                  <a:lnTo>
                    <a:pt x="336" y="105"/>
                  </a:lnTo>
                  <a:lnTo>
                    <a:pt x="330" y="90"/>
                  </a:lnTo>
                  <a:lnTo>
                    <a:pt x="320" y="77"/>
                  </a:lnTo>
                  <a:lnTo>
                    <a:pt x="310" y="63"/>
                  </a:lnTo>
                  <a:lnTo>
                    <a:pt x="298" y="50"/>
                  </a:lnTo>
                  <a:lnTo>
                    <a:pt x="287" y="40"/>
                  </a:lnTo>
                  <a:lnTo>
                    <a:pt x="273" y="30"/>
                  </a:lnTo>
                  <a:lnTo>
                    <a:pt x="258" y="22"/>
                  </a:lnTo>
                  <a:lnTo>
                    <a:pt x="243" y="14"/>
                  </a:lnTo>
                  <a:lnTo>
                    <a:pt x="227" y="9"/>
                  </a:lnTo>
                  <a:lnTo>
                    <a:pt x="210" y="4"/>
                  </a:lnTo>
                  <a:lnTo>
                    <a:pt x="202" y="2"/>
                  </a:lnTo>
                  <a:lnTo>
                    <a:pt x="192" y="2"/>
                  </a:lnTo>
                  <a:lnTo>
                    <a:pt x="184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0" name="Rectangle 290"/>
            <p:cNvSpPr>
              <a:spLocks noChangeArrowheads="1"/>
            </p:cNvSpPr>
            <p:nvPr/>
          </p:nvSpPr>
          <p:spPr bwMode="auto">
            <a:xfrm>
              <a:off x="2355" y="2945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71" name="Rectangle 291"/>
            <p:cNvSpPr>
              <a:spLocks noChangeArrowheads="1"/>
            </p:cNvSpPr>
            <p:nvPr/>
          </p:nvSpPr>
          <p:spPr bwMode="auto">
            <a:xfrm>
              <a:off x="2415" y="3008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272" name="Freeform 292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3" name="Freeform 293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4" name="Rectangle 294"/>
            <p:cNvSpPr>
              <a:spLocks noChangeArrowheads="1"/>
            </p:cNvSpPr>
            <p:nvPr/>
          </p:nvSpPr>
          <p:spPr bwMode="auto">
            <a:xfrm>
              <a:off x="2006" y="3314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75" name="Rectangle 295"/>
            <p:cNvSpPr>
              <a:spLocks noChangeArrowheads="1"/>
            </p:cNvSpPr>
            <p:nvPr/>
          </p:nvSpPr>
          <p:spPr bwMode="auto">
            <a:xfrm>
              <a:off x="2074" y="3372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276" name="Line 296"/>
            <p:cNvSpPr>
              <a:spLocks noChangeShapeType="1"/>
            </p:cNvSpPr>
            <p:nvPr/>
          </p:nvSpPr>
          <p:spPr bwMode="auto">
            <a:xfrm flipV="1">
              <a:off x="2062" y="3057"/>
              <a:ext cx="261" cy="17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7" name="Line 297"/>
            <p:cNvSpPr>
              <a:spLocks noChangeShapeType="1"/>
            </p:cNvSpPr>
            <p:nvPr/>
          </p:nvSpPr>
          <p:spPr bwMode="auto">
            <a:xfrm flipV="1">
              <a:off x="2475" y="2829"/>
              <a:ext cx="196" cy="13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8" name="Line 298"/>
            <p:cNvSpPr>
              <a:spLocks noChangeShapeType="1"/>
            </p:cNvSpPr>
            <p:nvPr/>
          </p:nvSpPr>
          <p:spPr bwMode="auto">
            <a:xfrm flipV="1">
              <a:off x="2821" y="2521"/>
              <a:ext cx="314" cy="20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9" name="Line 299"/>
            <p:cNvSpPr>
              <a:spLocks noChangeShapeType="1"/>
            </p:cNvSpPr>
            <p:nvPr/>
          </p:nvSpPr>
          <p:spPr bwMode="auto">
            <a:xfrm>
              <a:off x="2459" y="3101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0" name="Freeform 300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1" name="Freeform 301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2" name="Rectangle 302"/>
            <p:cNvSpPr>
              <a:spLocks noChangeArrowheads="1"/>
            </p:cNvSpPr>
            <p:nvPr/>
          </p:nvSpPr>
          <p:spPr bwMode="auto">
            <a:xfrm>
              <a:off x="2560" y="3341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83" name="Rectangle 303"/>
            <p:cNvSpPr>
              <a:spLocks noChangeArrowheads="1"/>
            </p:cNvSpPr>
            <p:nvPr/>
          </p:nvSpPr>
          <p:spPr bwMode="auto">
            <a:xfrm>
              <a:off x="2627" y="3399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284" name="Line 304"/>
            <p:cNvSpPr>
              <a:spLocks noChangeShapeType="1"/>
            </p:cNvSpPr>
            <p:nvPr/>
          </p:nvSpPr>
          <p:spPr bwMode="auto">
            <a:xfrm>
              <a:off x="3277" y="2553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5" name="Freeform 305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6" name="Freeform 306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7" name="Rectangle 307"/>
            <p:cNvSpPr>
              <a:spLocks noChangeArrowheads="1"/>
            </p:cNvSpPr>
            <p:nvPr/>
          </p:nvSpPr>
          <p:spPr bwMode="auto">
            <a:xfrm>
              <a:off x="3380" y="279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288" name="Rectangle 308"/>
            <p:cNvSpPr>
              <a:spLocks noChangeArrowheads="1"/>
            </p:cNvSpPr>
            <p:nvPr/>
          </p:nvSpPr>
          <p:spPr bwMode="auto">
            <a:xfrm>
              <a:off x="3447" y="285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289" name="Freeform 309"/>
            <p:cNvSpPr>
              <a:spLocks/>
            </p:cNvSpPr>
            <p:nvPr/>
          </p:nvSpPr>
          <p:spPr bwMode="auto">
            <a:xfrm>
              <a:off x="390" y="2856"/>
              <a:ext cx="175" cy="171"/>
            </a:xfrm>
            <a:custGeom>
              <a:avLst/>
              <a:gdLst>
                <a:gd name="T0" fmla="*/ 5 w 352"/>
                <a:gd name="T1" fmla="*/ 0 h 342"/>
                <a:gd name="T2" fmla="*/ 4 w 352"/>
                <a:gd name="T3" fmla="*/ 1 h 342"/>
                <a:gd name="T4" fmla="*/ 3 w 352"/>
                <a:gd name="T5" fmla="*/ 1 h 342"/>
                <a:gd name="T6" fmla="*/ 2 w 352"/>
                <a:gd name="T7" fmla="*/ 1 h 342"/>
                <a:gd name="T8" fmla="*/ 2 w 352"/>
                <a:gd name="T9" fmla="*/ 1 h 342"/>
                <a:gd name="T10" fmla="*/ 1 w 352"/>
                <a:gd name="T11" fmla="*/ 1 h 342"/>
                <a:gd name="T12" fmla="*/ 0 w 352"/>
                <a:gd name="T13" fmla="*/ 3 h 342"/>
                <a:gd name="T14" fmla="*/ 0 w 352"/>
                <a:gd name="T15" fmla="*/ 3 h 342"/>
                <a:gd name="T16" fmla="*/ 0 w 352"/>
                <a:gd name="T17" fmla="*/ 5 h 342"/>
                <a:gd name="T18" fmla="*/ 0 w 352"/>
                <a:gd name="T19" fmla="*/ 5 h 342"/>
                <a:gd name="T20" fmla="*/ 0 w 352"/>
                <a:gd name="T21" fmla="*/ 5 h 342"/>
                <a:gd name="T22" fmla="*/ 0 w 352"/>
                <a:gd name="T23" fmla="*/ 5 h 342"/>
                <a:gd name="T24" fmla="*/ 0 w 352"/>
                <a:gd name="T25" fmla="*/ 6 h 342"/>
                <a:gd name="T26" fmla="*/ 0 w 352"/>
                <a:gd name="T27" fmla="*/ 6 h 342"/>
                <a:gd name="T28" fmla="*/ 0 w 352"/>
                <a:gd name="T29" fmla="*/ 7 h 342"/>
                <a:gd name="T30" fmla="*/ 1 w 352"/>
                <a:gd name="T31" fmla="*/ 9 h 342"/>
                <a:gd name="T32" fmla="*/ 2 w 352"/>
                <a:gd name="T33" fmla="*/ 10 h 342"/>
                <a:gd name="T34" fmla="*/ 2 w 352"/>
                <a:gd name="T35" fmla="*/ 11 h 342"/>
                <a:gd name="T36" fmla="*/ 3 w 352"/>
                <a:gd name="T37" fmla="*/ 11 h 342"/>
                <a:gd name="T38" fmla="*/ 4 w 352"/>
                <a:gd name="T39" fmla="*/ 11 h 342"/>
                <a:gd name="T40" fmla="*/ 5 w 352"/>
                <a:gd name="T41" fmla="*/ 11 h 342"/>
                <a:gd name="T42" fmla="*/ 5 w 352"/>
                <a:gd name="T43" fmla="*/ 11 h 342"/>
                <a:gd name="T44" fmla="*/ 6 w 352"/>
                <a:gd name="T45" fmla="*/ 11 h 342"/>
                <a:gd name="T46" fmla="*/ 7 w 352"/>
                <a:gd name="T47" fmla="*/ 11 h 342"/>
                <a:gd name="T48" fmla="*/ 8 w 352"/>
                <a:gd name="T49" fmla="*/ 11 h 342"/>
                <a:gd name="T50" fmla="*/ 9 w 352"/>
                <a:gd name="T51" fmla="*/ 10 h 342"/>
                <a:gd name="T52" fmla="*/ 9 w 352"/>
                <a:gd name="T53" fmla="*/ 9 h 342"/>
                <a:gd name="T54" fmla="*/ 10 w 352"/>
                <a:gd name="T55" fmla="*/ 7 h 342"/>
                <a:gd name="T56" fmla="*/ 10 w 352"/>
                <a:gd name="T57" fmla="*/ 6 h 342"/>
                <a:gd name="T58" fmla="*/ 10 w 352"/>
                <a:gd name="T59" fmla="*/ 6 h 342"/>
                <a:gd name="T60" fmla="*/ 10 w 352"/>
                <a:gd name="T61" fmla="*/ 5 h 342"/>
                <a:gd name="T62" fmla="*/ 10 w 352"/>
                <a:gd name="T63" fmla="*/ 5 h 342"/>
                <a:gd name="T64" fmla="*/ 10 w 352"/>
                <a:gd name="T65" fmla="*/ 5 h 342"/>
                <a:gd name="T66" fmla="*/ 10 w 352"/>
                <a:gd name="T67" fmla="*/ 5 h 342"/>
                <a:gd name="T68" fmla="*/ 10 w 352"/>
                <a:gd name="T69" fmla="*/ 3 h 342"/>
                <a:gd name="T70" fmla="*/ 10 w 352"/>
                <a:gd name="T71" fmla="*/ 3 h 342"/>
                <a:gd name="T72" fmla="*/ 9 w 352"/>
                <a:gd name="T73" fmla="*/ 1 h 342"/>
                <a:gd name="T74" fmla="*/ 9 w 352"/>
                <a:gd name="T75" fmla="*/ 1 h 342"/>
                <a:gd name="T76" fmla="*/ 8 w 352"/>
                <a:gd name="T77" fmla="*/ 1 h 342"/>
                <a:gd name="T78" fmla="*/ 7 w 352"/>
                <a:gd name="T79" fmla="*/ 1 h 342"/>
                <a:gd name="T80" fmla="*/ 6 w 352"/>
                <a:gd name="T81" fmla="*/ 1 h 342"/>
                <a:gd name="T82" fmla="*/ 5 w 352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2"/>
                <a:gd name="T128" fmla="*/ 352 w 352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2">
                  <a:moveTo>
                    <a:pt x="176" y="0"/>
                  </a:moveTo>
                  <a:lnTo>
                    <a:pt x="168" y="0"/>
                  </a:lnTo>
                  <a:lnTo>
                    <a:pt x="158" y="2"/>
                  </a:lnTo>
                  <a:lnTo>
                    <a:pt x="149" y="2"/>
                  </a:lnTo>
                  <a:lnTo>
                    <a:pt x="141" y="3"/>
                  </a:lnTo>
                  <a:lnTo>
                    <a:pt x="125" y="8"/>
                  </a:lnTo>
                  <a:lnTo>
                    <a:pt x="108" y="13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2" y="50"/>
                  </a:lnTo>
                  <a:lnTo>
                    <a:pt x="40" y="63"/>
                  </a:lnTo>
                  <a:lnTo>
                    <a:pt x="30" y="76"/>
                  </a:lnTo>
                  <a:lnTo>
                    <a:pt x="22" y="89"/>
                  </a:lnTo>
                  <a:lnTo>
                    <a:pt x="13" y="104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2" y="146"/>
                  </a:lnTo>
                  <a:lnTo>
                    <a:pt x="0" y="154"/>
                  </a:lnTo>
                  <a:lnTo>
                    <a:pt x="0" y="162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2" y="197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2"/>
                  </a:lnTo>
                  <a:lnTo>
                    <a:pt x="13" y="237"/>
                  </a:lnTo>
                  <a:lnTo>
                    <a:pt x="22" y="252"/>
                  </a:lnTo>
                  <a:lnTo>
                    <a:pt x="30" y="267"/>
                  </a:lnTo>
                  <a:lnTo>
                    <a:pt x="40" y="280"/>
                  </a:lnTo>
                  <a:lnTo>
                    <a:pt x="52" y="292"/>
                  </a:lnTo>
                  <a:lnTo>
                    <a:pt x="65" y="303"/>
                  </a:lnTo>
                  <a:lnTo>
                    <a:pt x="78" y="313"/>
                  </a:lnTo>
                  <a:lnTo>
                    <a:pt x="93" y="322"/>
                  </a:lnTo>
                  <a:lnTo>
                    <a:pt x="108" y="328"/>
                  </a:lnTo>
                  <a:lnTo>
                    <a:pt x="125" y="335"/>
                  </a:lnTo>
                  <a:lnTo>
                    <a:pt x="141" y="338"/>
                  </a:lnTo>
                  <a:lnTo>
                    <a:pt x="149" y="340"/>
                  </a:lnTo>
                  <a:lnTo>
                    <a:pt x="158" y="342"/>
                  </a:lnTo>
                  <a:lnTo>
                    <a:pt x="168" y="342"/>
                  </a:lnTo>
                  <a:lnTo>
                    <a:pt x="176" y="342"/>
                  </a:lnTo>
                  <a:lnTo>
                    <a:pt x="186" y="342"/>
                  </a:lnTo>
                  <a:lnTo>
                    <a:pt x="194" y="342"/>
                  </a:lnTo>
                  <a:lnTo>
                    <a:pt x="202" y="340"/>
                  </a:lnTo>
                  <a:lnTo>
                    <a:pt x="212" y="338"/>
                  </a:lnTo>
                  <a:lnTo>
                    <a:pt x="229" y="335"/>
                  </a:lnTo>
                  <a:lnTo>
                    <a:pt x="246" y="328"/>
                  </a:lnTo>
                  <a:lnTo>
                    <a:pt x="261" y="322"/>
                  </a:lnTo>
                  <a:lnTo>
                    <a:pt x="275" y="313"/>
                  </a:lnTo>
                  <a:lnTo>
                    <a:pt x="289" y="303"/>
                  </a:lnTo>
                  <a:lnTo>
                    <a:pt x="300" y="292"/>
                  </a:lnTo>
                  <a:lnTo>
                    <a:pt x="312" y="280"/>
                  </a:lnTo>
                  <a:lnTo>
                    <a:pt x="322" y="267"/>
                  </a:lnTo>
                  <a:lnTo>
                    <a:pt x="332" y="252"/>
                  </a:lnTo>
                  <a:lnTo>
                    <a:pt x="338" y="237"/>
                  </a:lnTo>
                  <a:lnTo>
                    <a:pt x="345" y="222"/>
                  </a:lnTo>
                  <a:lnTo>
                    <a:pt x="347" y="214"/>
                  </a:lnTo>
                  <a:lnTo>
                    <a:pt x="348" y="206"/>
                  </a:lnTo>
                  <a:lnTo>
                    <a:pt x="350" y="197"/>
                  </a:lnTo>
                  <a:lnTo>
                    <a:pt x="352" y="189"/>
                  </a:lnTo>
                  <a:lnTo>
                    <a:pt x="352" y="181"/>
                  </a:lnTo>
                  <a:lnTo>
                    <a:pt x="352" y="171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0" y="146"/>
                  </a:lnTo>
                  <a:lnTo>
                    <a:pt x="348" y="136"/>
                  </a:lnTo>
                  <a:lnTo>
                    <a:pt x="347" y="128"/>
                  </a:lnTo>
                  <a:lnTo>
                    <a:pt x="345" y="121"/>
                  </a:lnTo>
                  <a:lnTo>
                    <a:pt x="338" y="104"/>
                  </a:lnTo>
                  <a:lnTo>
                    <a:pt x="332" y="89"/>
                  </a:lnTo>
                  <a:lnTo>
                    <a:pt x="322" y="76"/>
                  </a:lnTo>
                  <a:lnTo>
                    <a:pt x="312" y="63"/>
                  </a:lnTo>
                  <a:lnTo>
                    <a:pt x="300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1" y="22"/>
                  </a:lnTo>
                  <a:lnTo>
                    <a:pt x="246" y="13"/>
                  </a:lnTo>
                  <a:lnTo>
                    <a:pt x="229" y="8"/>
                  </a:lnTo>
                  <a:lnTo>
                    <a:pt x="212" y="3"/>
                  </a:lnTo>
                  <a:lnTo>
                    <a:pt x="202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90" name="Rectangle 310"/>
            <p:cNvSpPr>
              <a:spLocks noChangeArrowheads="1"/>
            </p:cNvSpPr>
            <p:nvPr/>
          </p:nvSpPr>
          <p:spPr bwMode="auto">
            <a:xfrm>
              <a:off x="431" y="2861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91" name="Rectangle 311"/>
            <p:cNvSpPr>
              <a:spLocks noChangeArrowheads="1"/>
            </p:cNvSpPr>
            <p:nvPr/>
          </p:nvSpPr>
          <p:spPr bwMode="auto">
            <a:xfrm>
              <a:off x="491" y="2924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292" name="Freeform 312"/>
            <p:cNvSpPr>
              <a:spLocks/>
            </p:cNvSpPr>
            <p:nvPr/>
          </p:nvSpPr>
          <p:spPr bwMode="auto">
            <a:xfrm>
              <a:off x="790" y="2576"/>
              <a:ext cx="176" cy="171"/>
            </a:xfrm>
            <a:custGeom>
              <a:avLst/>
              <a:gdLst>
                <a:gd name="T0" fmla="*/ 6 w 352"/>
                <a:gd name="T1" fmla="*/ 0 h 341"/>
                <a:gd name="T2" fmla="*/ 5 w 352"/>
                <a:gd name="T3" fmla="*/ 1 h 341"/>
                <a:gd name="T4" fmla="*/ 3 w 352"/>
                <a:gd name="T5" fmla="*/ 1 h 341"/>
                <a:gd name="T6" fmla="*/ 3 w 352"/>
                <a:gd name="T7" fmla="*/ 1 h 341"/>
                <a:gd name="T8" fmla="*/ 3 w 352"/>
                <a:gd name="T9" fmla="*/ 2 h 341"/>
                <a:gd name="T10" fmla="*/ 1 w 352"/>
                <a:gd name="T11" fmla="*/ 2 h 341"/>
                <a:gd name="T12" fmla="*/ 1 w 352"/>
                <a:gd name="T13" fmla="*/ 3 h 341"/>
                <a:gd name="T14" fmla="*/ 1 w 352"/>
                <a:gd name="T15" fmla="*/ 4 h 341"/>
                <a:gd name="T16" fmla="*/ 1 w 352"/>
                <a:gd name="T17" fmla="*/ 5 h 341"/>
                <a:gd name="T18" fmla="*/ 1 w 352"/>
                <a:gd name="T19" fmla="*/ 5 h 341"/>
                <a:gd name="T20" fmla="*/ 0 w 352"/>
                <a:gd name="T21" fmla="*/ 6 h 341"/>
                <a:gd name="T22" fmla="*/ 1 w 352"/>
                <a:gd name="T23" fmla="*/ 6 h 341"/>
                <a:gd name="T24" fmla="*/ 1 w 352"/>
                <a:gd name="T25" fmla="*/ 7 h 341"/>
                <a:gd name="T26" fmla="*/ 1 w 352"/>
                <a:gd name="T27" fmla="*/ 7 h 341"/>
                <a:gd name="T28" fmla="*/ 1 w 352"/>
                <a:gd name="T29" fmla="*/ 8 h 341"/>
                <a:gd name="T30" fmla="*/ 1 w 352"/>
                <a:gd name="T31" fmla="*/ 9 h 341"/>
                <a:gd name="T32" fmla="*/ 3 w 352"/>
                <a:gd name="T33" fmla="*/ 10 h 341"/>
                <a:gd name="T34" fmla="*/ 3 w 352"/>
                <a:gd name="T35" fmla="*/ 10 h 341"/>
                <a:gd name="T36" fmla="*/ 3 w 352"/>
                <a:gd name="T37" fmla="*/ 11 h 341"/>
                <a:gd name="T38" fmla="*/ 5 w 352"/>
                <a:gd name="T39" fmla="*/ 11 h 341"/>
                <a:gd name="T40" fmla="*/ 6 w 352"/>
                <a:gd name="T41" fmla="*/ 11 h 341"/>
                <a:gd name="T42" fmla="*/ 6 w 352"/>
                <a:gd name="T43" fmla="*/ 11 h 341"/>
                <a:gd name="T44" fmla="*/ 6 w 352"/>
                <a:gd name="T45" fmla="*/ 11 h 341"/>
                <a:gd name="T46" fmla="*/ 7 w 352"/>
                <a:gd name="T47" fmla="*/ 11 h 341"/>
                <a:gd name="T48" fmla="*/ 9 w 352"/>
                <a:gd name="T49" fmla="*/ 10 h 341"/>
                <a:gd name="T50" fmla="*/ 9 w 352"/>
                <a:gd name="T51" fmla="*/ 10 h 341"/>
                <a:gd name="T52" fmla="*/ 10 w 352"/>
                <a:gd name="T53" fmla="*/ 9 h 341"/>
                <a:gd name="T54" fmla="*/ 11 w 352"/>
                <a:gd name="T55" fmla="*/ 8 h 341"/>
                <a:gd name="T56" fmla="*/ 11 w 352"/>
                <a:gd name="T57" fmla="*/ 7 h 341"/>
                <a:gd name="T58" fmla="*/ 11 w 352"/>
                <a:gd name="T59" fmla="*/ 7 h 341"/>
                <a:gd name="T60" fmla="*/ 11 w 352"/>
                <a:gd name="T61" fmla="*/ 6 h 341"/>
                <a:gd name="T62" fmla="*/ 11 w 352"/>
                <a:gd name="T63" fmla="*/ 6 h 341"/>
                <a:gd name="T64" fmla="*/ 11 w 352"/>
                <a:gd name="T65" fmla="*/ 5 h 341"/>
                <a:gd name="T66" fmla="*/ 11 w 352"/>
                <a:gd name="T67" fmla="*/ 5 h 341"/>
                <a:gd name="T68" fmla="*/ 11 w 352"/>
                <a:gd name="T69" fmla="*/ 4 h 341"/>
                <a:gd name="T70" fmla="*/ 11 w 352"/>
                <a:gd name="T71" fmla="*/ 3 h 341"/>
                <a:gd name="T72" fmla="*/ 10 w 352"/>
                <a:gd name="T73" fmla="*/ 2 h 341"/>
                <a:gd name="T74" fmla="*/ 9 w 352"/>
                <a:gd name="T75" fmla="*/ 2 h 341"/>
                <a:gd name="T76" fmla="*/ 9 w 352"/>
                <a:gd name="T77" fmla="*/ 1 h 341"/>
                <a:gd name="T78" fmla="*/ 7 w 352"/>
                <a:gd name="T79" fmla="*/ 1 h 341"/>
                <a:gd name="T80" fmla="*/ 6 w 352"/>
                <a:gd name="T81" fmla="*/ 1 h 341"/>
                <a:gd name="T82" fmla="*/ 6 w 352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1"/>
                <a:gd name="T128" fmla="*/ 352 w 352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1">
                  <a:moveTo>
                    <a:pt x="176" y="0"/>
                  </a:moveTo>
                  <a:lnTo>
                    <a:pt x="168" y="0"/>
                  </a:lnTo>
                  <a:lnTo>
                    <a:pt x="158" y="0"/>
                  </a:lnTo>
                  <a:lnTo>
                    <a:pt x="149" y="1"/>
                  </a:lnTo>
                  <a:lnTo>
                    <a:pt x="141" y="3"/>
                  </a:lnTo>
                  <a:lnTo>
                    <a:pt x="124" y="6"/>
                  </a:lnTo>
                  <a:lnTo>
                    <a:pt x="108" y="13"/>
                  </a:lnTo>
                  <a:lnTo>
                    <a:pt x="93" y="19"/>
                  </a:lnTo>
                  <a:lnTo>
                    <a:pt x="78" y="28"/>
                  </a:lnTo>
                  <a:lnTo>
                    <a:pt x="65" y="38"/>
                  </a:lnTo>
                  <a:lnTo>
                    <a:pt x="52" y="49"/>
                  </a:lnTo>
                  <a:lnTo>
                    <a:pt x="40" y="61"/>
                  </a:lnTo>
                  <a:lnTo>
                    <a:pt x="30" y="74"/>
                  </a:lnTo>
                  <a:lnTo>
                    <a:pt x="22" y="89"/>
                  </a:lnTo>
                  <a:lnTo>
                    <a:pt x="15" y="104"/>
                  </a:lnTo>
                  <a:lnTo>
                    <a:pt x="8" y="119"/>
                  </a:lnTo>
                  <a:lnTo>
                    <a:pt x="7" y="127"/>
                  </a:lnTo>
                  <a:lnTo>
                    <a:pt x="3" y="136"/>
                  </a:lnTo>
                  <a:lnTo>
                    <a:pt x="2" y="144"/>
                  </a:lnTo>
                  <a:lnTo>
                    <a:pt x="2" y="152"/>
                  </a:lnTo>
                  <a:lnTo>
                    <a:pt x="0" y="160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2" y="187"/>
                  </a:lnTo>
                  <a:lnTo>
                    <a:pt x="2" y="195"/>
                  </a:lnTo>
                  <a:lnTo>
                    <a:pt x="3" y="203"/>
                  </a:lnTo>
                  <a:lnTo>
                    <a:pt x="7" y="212"/>
                  </a:lnTo>
                  <a:lnTo>
                    <a:pt x="8" y="220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1"/>
                  </a:lnTo>
                  <a:lnTo>
                    <a:pt x="65" y="301"/>
                  </a:lnTo>
                  <a:lnTo>
                    <a:pt x="78" y="311"/>
                  </a:lnTo>
                  <a:lnTo>
                    <a:pt x="93" y="320"/>
                  </a:lnTo>
                  <a:lnTo>
                    <a:pt x="108" y="328"/>
                  </a:lnTo>
                  <a:lnTo>
                    <a:pt x="124" y="333"/>
                  </a:lnTo>
                  <a:lnTo>
                    <a:pt x="141" y="338"/>
                  </a:lnTo>
                  <a:lnTo>
                    <a:pt x="149" y="339"/>
                  </a:lnTo>
                  <a:lnTo>
                    <a:pt x="158" y="339"/>
                  </a:lnTo>
                  <a:lnTo>
                    <a:pt x="168" y="341"/>
                  </a:lnTo>
                  <a:lnTo>
                    <a:pt x="176" y="341"/>
                  </a:lnTo>
                  <a:lnTo>
                    <a:pt x="184" y="341"/>
                  </a:lnTo>
                  <a:lnTo>
                    <a:pt x="194" y="339"/>
                  </a:lnTo>
                  <a:lnTo>
                    <a:pt x="202" y="339"/>
                  </a:lnTo>
                  <a:lnTo>
                    <a:pt x="211" y="338"/>
                  </a:lnTo>
                  <a:lnTo>
                    <a:pt x="227" y="333"/>
                  </a:lnTo>
                  <a:lnTo>
                    <a:pt x="244" y="328"/>
                  </a:lnTo>
                  <a:lnTo>
                    <a:pt x="259" y="320"/>
                  </a:lnTo>
                  <a:lnTo>
                    <a:pt x="274" y="311"/>
                  </a:lnTo>
                  <a:lnTo>
                    <a:pt x="287" y="301"/>
                  </a:lnTo>
                  <a:lnTo>
                    <a:pt x="300" y="291"/>
                  </a:lnTo>
                  <a:lnTo>
                    <a:pt x="312" y="278"/>
                  </a:lnTo>
                  <a:lnTo>
                    <a:pt x="322" y="265"/>
                  </a:lnTo>
                  <a:lnTo>
                    <a:pt x="330" y="252"/>
                  </a:lnTo>
                  <a:lnTo>
                    <a:pt x="337" y="237"/>
                  </a:lnTo>
                  <a:lnTo>
                    <a:pt x="343" y="220"/>
                  </a:lnTo>
                  <a:lnTo>
                    <a:pt x="345" y="212"/>
                  </a:lnTo>
                  <a:lnTo>
                    <a:pt x="348" y="203"/>
                  </a:lnTo>
                  <a:lnTo>
                    <a:pt x="350" y="195"/>
                  </a:lnTo>
                  <a:lnTo>
                    <a:pt x="350" y="187"/>
                  </a:lnTo>
                  <a:lnTo>
                    <a:pt x="352" y="179"/>
                  </a:lnTo>
                  <a:lnTo>
                    <a:pt x="352" y="170"/>
                  </a:lnTo>
                  <a:lnTo>
                    <a:pt x="352" y="160"/>
                  </a:lnTo>
                  <a:lnTo>
                    <a:pt x="350" y="152"/>
                  </a:lnTo>
                  <a:lnTo>
                    <a:pt x="350" y="144"/>
                  </a:lnTo>
                  <a:lnTo>
                    <a:pt x="348" y="136"/>
                  </a:lnTo>
                  <a:lnTo>
                    <a:pt x="345" y="127"/>
                  </a:lnTo>
                  <a:lnTo>
                    <a:pt x="343" y="119"/>
                  </a:lnTo>
                  <a:lnTo>
                    <a:pt x="337" y="104"/>
                  </a:lnTo>
                  <a:lnTo>
                    <a:pt x="330" y="89"/>
                  </a:lnTo>
                  <a:lnTo>
                    <a:pt x="322" y="74"/>
                  </a:lnTo>
                  <a:lnTo>
                    <a:pt x="312" y="61"/>
                  </a:lnTo>
                  <a:lnTo>
                    <a:pt x="300" y="49"/>
                  </a:lnTo>
                  <a:lnTo>
                    <a:pt x="287" y="38"/>
                  </a:lnTo>
                  <a:lnTo>
                    <a:pt x="274" y="28"/>
                  </a:lnTo>
                  <a:lnTo>
                    <a:pt x="259" y="19"/>
                  </a:lnTo>
                  <a:lnTo>
                    <a:pt x="244" y="13"/>
                  </a:lnTo>
                  <a:lnTo>
                    <a:pt x="227" y="6"/>
                  </a:lnTo>
                  <a:lnTo>
                    <a:pt x="211" y="3"/>
                  </a:lnTo>
                  <a:lnTo>
                    <a:pt x="202" y="1"/>
                  </a:lnTo>
                  <a:lnTo>
                    <a:pt x="194" y="0"/>
                  </a:lnTo>
                  <a:lnTo>
                    <a:pt x="184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93" name="Rectangle 313"/>
            <p:cNvSpPr>
              <a:spLocks noChangeArrowheads="1"/>
            </p:cNvSpPr>
            <p:nvPr/>
          </p:nvSpPr>
          <p:spPr bwMode="auto">
            <a:xfrm>
              <a:off x="852" y="2580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294" name="Line 314"/>
            <p:cNvSpPr>
              <a:spLocks noChangeShapeType="1"/>
            </p:cNvSpPr>
            <p:nvPr/>
          </p:nvSpPr>
          <p:spPr bwMode="auto">
            <a:xfrm flipH="1">
              <a:off x="523" y="2727"/>
              <a:ext cx="294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95" name="Line 315"/>
            <p:cNvSpPr>
              <a:spLocks noChangeShapeType="1"/>
            </p:cNvSpPr>
            <p:nvPr/>
          </p:nvSpPr>
          <p:spPr bwMode="auto">
            <a:xfrm>
              <a:off x="940" y="2727"/>
              <a:ext cx="288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96" name="Freeform 316"/>
            <p:cNvSpPr>
              <a:spLocks/>
            </p:cNvSpPr>
            <p:nvPr/>
          </p:nvSpPr>
          <p:spPr bwMode="auto">
            <a:xfrm>
              <a:off x="1186" y="2855"/>
              <a:ext cx="176" cy="171"/>
            </a:xfrm>
            <a:custGeom>
              <a:avLst/>
              <a:gdLst>
                <a:gd name="T0" fmla="*/ 5 w 353"/>
                <a:gd name="T1" fmla="*/ 0 h 342"/>
                <a:gd name="T2" fmla="*/ 4 w 353"/>
                <a:gd name="T3" fmla="*/ 1 h 342"/>
                <a:gd name="T4" fmla="*/ 3 w 353"/>
                <a:gd name="T5" fmla="*/ 1 h 342"/>
                <a:gd name="T6" fmla="*/ 2 w 353"/>
                <a:gd name="T7" fmla="*/ 1 h 342"/>
                <a:gd name="T8" fmla="*/ 2 w 353"/>
                <a:gd name="T9" fmla="*/ 1 h 342"/>
                <a:gd name="T10" fmla="*/ 1 w 353"/>
                <a:gd name="T11" fmla="*/ 1 h 342"/>
                <a:gd name="T12" fmla="*/ 0 w 353"/>
                <a:gd name="T13" fmla="*/ 3 h 342"/>
                <a:gd name="T14" fmla="*/ 0 w 353"/>
                <a:gd name="T15" fmla="*/ 3 h 342"/>
                <a:gd name="T16" fmla="*/ 0 w 353"/>
                <a:gd name="T17" fmla="*/ 5 h 342"/>
                <a:gd name="T18" fmla="*/ 0 w 353"/>
                <a:gd name="T19" fmla="*/ 5 h 342"/>
                <a:gd name="T20" fmla="*/ 0 w 353"/>
                <a:gd name="T21" fmla="*/ 5 h 342"/>
                <a:gd name="T22" fmla="*/ 0 w 353"/>
                <a:gd name="T23" fmla="*/ 5 h 342"/>
                <a:gd name="T24" fmla="*/ 0 w 353"/>
                <a:gd name="T25" fmla="*/ 6 h 342"/>
                <a:gd name="T26" fmla="*/ 0 w 353"/>
                <a:gd name="T27" fmla="*/ 6 h 342"/>
                <a:gd name="T28" fmla="*/ 0 w 353"/>
                <a:gd name="T29" fmla="*/ 7 h 342"/>
                <a:gd name="T30" fmla="*/ 1 w 353"/>
                <a:gd name="T31" fmla="*/ 9 h 342"/>
                <a:gd name="T32" fmla="*/ 2 w 353"/>
                <a:gd name="T33" fmla="*/ 10 h 342"/>
                <a:gd name="T34" fmla="*/ 2 w 353"/>
                <a:gd name="T35" fmla="*/ 11 h 342"/>
                <a:gd name="T36" fmla="*/ 3 w 353"/>
                <a:gd name="T37" fmla="*/ 11 h 342"/>
                <a:gd name="T38" fmla="*/ 4 w 353"/>
                <a:gd name="T39" fmla="*/ 11 h 342"/>
                <a:gd name="T40" fmla="*/ 5 w 353"/>
                <a:gd name="T41" fmla="*/ 11 h 342"/>
                <a:gd name="T42" fmla="*/ 5 w 353"/>
                <a:gd name="T43" fmla="*/ 11 h 342"/>
                <a:gd name="T44" fmla="*/ 6 w 353"/>
                <a:gd name="T45" fmla="*/ 11 h 342"/>
                <a:gd name="T46" fmla="*/ 7 w 353"/>
                <a:gd name="T47" fmla="*/ 11 h 342"/>
                <a:gd name="T48" fmla="*/ 8 w 353"/>
                <a:gd name="T49" fmla="*/ 11 h 342"/>
                <a:gd name="T50" fmla="*/ 9 w 353"/>
                <a:gd name="T51" fmla="*/ 10 h 342"/>
                <a:gd name="T52" fmla="*/ 9 w 353"/>
                <a:gd name="T53" fmla="*/ 9 h 342"/>
                <a:gd name="T54" fmla="*/ 10 w 353"/>
                <a:gd name="T55" fmla="*/ 7 h 342"/>
                <a:gd name="T56" fmla="*/ 10 w 353"/>
                <a:gd name="T57" fmla="*/ 6 h 342"/>
                <a:gd name="T58" fmla="*/ 10 w 353"/>
                <a:gd name="T59" fmla="*/ 6 h 342"/>
                <a:gd name="T60" fmla="*/ 11 w 353"/>
                <a:gd name="T61" fmla="*/ 5 h 342"/>
                <a:gd name="T62" fmla="*/ 11 w 353"/>
                <a:gd name="T63" fmla="*/ 5 h 342"/>
                <a:gd name="T64" fmla="*/ 11 w 353"/>
                <a:gd name="T65" fmla="*/ 5 h 342"/>
                <a:gd name="T66" fmla="*/ 10 w 353"/>
                <a:gd name="T67" fmla="*/ 5 h 342"/>
                <a:gd name="T68" fmla="*/ 10 w 353"/>
                <a:gd name="T69" fmla="*/ 3 h 342"/>
                <a:gd name="T70" fmla="*/ 10 w 353"/>
                <a:gd name="T71" fmla="*/ 3 h 342"/>
                <a:gd name="T72" fmla="*/ 9 w 353"/>
                <a:gd name="T73" fmla="*/ 1 h 342"/>
                <a:gd name="T74" fmla="*/ 9 w 353"/>
                <a:gd name="T75" fmla="*/ 1 h 342"/>
                <a:gd name="T76" fmla="*/ 8 w 353"/>
                <a:gd name="T77" fmla="*/ 1 h 342"/>
                <a:gd name="T78" fmla="*/ 7 w 353"/>
                <a:gd name="T79" fmla="*/ 1 h 342"/>
                <a:gd name="T80" fmla="*/ 6 w 353"/>
                <a:gd name="T81" fmla="*/ 1 h 342"/>
                <a:gd name="T82" fmla="*/ 5 w 353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3"/>
                <a:gd name="T127" fmla="*/ 0 h 342"/>
                <a:gd name="T128" fmla="*/ 353 w 353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3" h="342">
                  <a:moveTo>
                    <a:pt x="178" y="0"/>
                  </a:moveTo>
                  <a:lnTo>
                    <a:pt x="168" y="0"/>
                  </a:lnTo>
                  <a:lnTo>
                    <a:pt x="159" y="2"/>
                  </a:lnTo>
                  <a:lnTo>
                    <a:pt x="149" y="2"/>
                  </a:lnTo>
                  <a:lnTo>
                    <a:pt x="141" y="4"/>
                  </a:lnTo>
                  <a:lnTo>
                    <a:pt x="124" y="9"/>
                  </a:lnTo>
                  <a:lnTo>
                    <a:pt x="108" y="14"/>
                  </a:lnTo>
                  <a:lnTo>
                    <a:pt x="93" y="20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1" y="50"/>
                  </a:lnTo>
                  <a:lnTo>
                    <a:pt x="42" y="63"/>
                  </a:lnTo>
                  <a:lnTo>
                    <a:pt x="32" y="77"/>
                  </a:lnTo>
                  <a:lnTo>
                    <a:pt x="22" y="90"/>
                  </a:lnTo>
                  <a:lnTo>
                    <a:pt x="15" y="105"/>
                  </a:lnTo>
                  <a:lnTo>
                    <a:pt x="8" y="121"/>
                  </a:lnTo>
                  <a:lnTo>
                    <a:pt x="7" y="128"/>
                  </a:lnTo>
                  <a:lnTo>
                    <a:pt x="5" y="136"/>
                  </a:lnTo>
                  <a:lnTo>
                    <a:pt x="3" y="145"/>
                  </a:lnTo>
                  <a:lnTo>
                    <a:pt x="2" y="154"/>
                  </a:lnTo>
                  <a:lnTo>
                    <a:pt x="2" y="163"/>
                  </a:lnTo>
                  <a:lnTo>
                    <a:pt x="0" y="171"/>
                  </a:lnTo>
                  <a:lnTo>
                    <a:pt x="2" y="179"/>
                  </a:lnTo>
                  <a:lnTo>
                    <a:pt x="2" y="189"/>
                  </a:lnTo>
                  <a:lnTo>
                    <a:pt x="3" y="198"/>
                  </a:lnTo>
                  <a:lnTo>
                    <a:pt x="5" y="206"/>
                  </a:lnTo>
                  <a:lnTo>
                    <a:pt x="7" y="214"/>
                  </a:lnTo>
                  <a:lnTo>
                    <a:pt x="8" y="222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2" y="267"/>
                  </a:lnTo>
                  <a:lnTo>
                    <a:pt x="42" y="281"/>
                  </a:lnTo>
                  <a:lnTo>
                    <a:pt x="51" y="292"/>
                  </a:lnTo>
                  <a:lnTo>
                    <a:pt x="65" y="304"/>
                  </a:lnTo>
                  <a:lnTo>
                    <a:pt x="78" y="314"/>
                  </a:lnTo>
                  <a:lnTo>
                    <a:pt x="93" y="322"/>
                  </a:lnTo>
                  <a:lnTo>
                    <a:pt x="108" y="329"/>
                  </a:lnTo>
                  <a:lnTo>
                    <a:pt x="124" y="335"/>
                  </a:lnTo>
                  <a:lnTo>
                    <a:pt x="141" y="339"/>
                  </a:lnTo>
                  <a:lnTo>
                    <a:pt x="149" y="340"/>
                  </a:lnTo>
                  <a:lnTo>
                    <a:pt x="159" y="342"/>
                  </a:lnTo>
                  <a:lnTo>
                    <a:pt x="168" y="342"/>
                  </a:lnTo>
                  <a:lnTo>
                    <a:pt x="178" y="342"/>
                  </a:lnTo>
                  <a:lnTo>
                    <a:pt x="186" y="342"/>
                  </a:lnTo>
                  <a:lnTo>
                    <a:pt x="196" y="342"/>
                  </a:lnTo>
                  <a:lnTo>
                    <a:pt x="204" y="340"/>
                  </a:lnTo>
                  <a:lnTo>
                    <a:pt x="212" y="339"/>
                  </a:lnTo>
                  <a:lnTo>
                    <a:pt x="229" y="335"/>
                  </a:lnTo>
                  <a:lnTo>
                    <a:pt x="246" y="329"/>
                  </a:lnTo>
                  <a:lnTo>
                    <a:pt x="260" y="322"/>
                  </a:lnTo>
                  <a:lnTo>
                    <a:pt x="275" y="314"/>
                  </a:lnTo>
                  <a:lnTo>
                    <a:pt x="289" y="304"/>
                  </a:lnTo>
                  <a:lnTo>
                    <a:pt x="302" y="292"/>
                  </a:lnTo>
                  <a:lnTo>
                    <a:pt x="313" y="281"/>
                  </a:lnTo>
                  <a:lnTo>
                    <a:pt x="323" y="267"/>
                  </a:lnTo>
                  <a:lnTo>
                    <a:pt x="332" y="252"/>
                  </a:lnTo>
                  <a:lnTo>
                    <a:pt x="340" y="237"/>
                  </a:lnTo>
                  <a:lnTo>
                    <a:pt x="345" y="222"/>
                  </a:lnTo>
                  <a:lnTo>
                    <a:pt x="348" y="214"/>
                  </a:lnTo>
                  <a:lnTo>
                    <a:pt x="350" y="206"/>
                  </a:lnTo>
                  <a:lnTo>
                    <a:pt x="352" y="198"/>
                  </a:lnTo>
                  <a:lnTo>
                    <a:pt x="352" y="189"/>
                  </a:lnTo>
                  <a:lnTo>
                    <a:pt x="353" y="179"/>
                  </a:lnTo>
                  <a:lnTo>
                    <a:pt x="353" y="171"/>
                  </a:lnTo>
                  <a:lnTo>
                    <a:pt x="353" y="163"/>
                  </a:lnTo>
                  <a:lnTo>
                    <a:pt x="352" y="154"/>
                  </a:lnTo>
                  <a:lnTo>
                    <a:pt x="352" y="145"/>
                  </a:lnTo>
                  <a:lnTo>
                    <a:pt x="350" y="136"/>
                  </a:lnTo>
                  <a:lnTo>
                    <a:pt x="348" y="128"/>
                  </a:lnTo>
                  <a:lnTo>
                    <a:pt x="345" y="121"/>
                  </a:lnTo>
                  <a:lnTo>
                    <a:pt x="340" y="105"/>
                  </a:lnTo>
                  <a:lnTo>
                    <a:pt x="332" y="90"/>
                  </a:lnTo>
                  <a:lnTo>
                    <a:pt x="323" y="77"/>
                  </a:lnTo>
                  <a:lnTo>
                    <a:pt x="313" y="63"/>
                  </a:lnTo>
                  <a:lnTo>
                    <a:pt x="302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0" y="20"/>
                  </a:lnTo>
                  <a:lnTo>
                    <a:pt x="246" y="14"/>
                  </a:lnTo>
                  <a:lnTo>
                    <a:pt x="229" y="9"/>
                  </a:lnTo>
                  <a:lnTo>
                    <a:pt x="212" y="4"/>
                  </a:lnTo>
                  <a:lnTo>
                    <a:pt x="204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8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97" name="Rectangle 317"/>
            <p:cNvSpPr>
              <a:spLocks noChangeArrowheads="1"/>
            </p:cNvSpPr>
            <p:nvPr/>
          </p:nvSpPr>
          <p:spPr bwMode="auto">
            <a:xfrm>
              <a:off x="1222" y="2860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298" name="Rectangle 318"/>
            <p:cNvSpPr>
              <a:spLocks noChangeArrowheads="1"/>
            </p:cNvSpPr>
            <p:nvPr/>
          </p:nvSpPr>
          <p:spPr bwMode="auto">
            <a:xfrm>
              <a:off x="1282" y="2924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299" name="Line 319"/>
            <p:cNvSpPr>
              <a:spLocks noChangeShapeType="1"/>
            </p:cNvSpPr>
            <p:nvPr/>
          </p:nvSpPr>
          <p:spPr bwMode="auto">
            <a:xfrm>
              <a:off x="542" y="3017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0" name="Line 320"/>
            <p:cNvSpPr>
              <a:spLocks noChangeShapeType="1"/>
            </p:cNvSpPr>
            <p:nvPr/>
          </p:nvSpPr>
          <p:spPr bwMode="auto">
            <a:xfrm flipH="1">
              <a:off x="210" y="3014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1" name="Freeform 321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2" name="Freeform 322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3" name="Rectangle 323"/>
            <p:cNvSpPr>
              <a:spLocks noChangeArrowheads="1"/>
            </p:cNvSpPr>
            <p:nvPr/>
          </p:nvSpPr>
          <p:spPr bwMode="auto">
            <a:xfrm>
              <a:off x="141" y="323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04" name="Rectangle 324"/>
            <p:cNvSpPr>
              <a:spLocks noChangeArrowheads="1"/>
            </p:cNvSpPr>
            <p:nvPr/>
          </p:nvSpPr>
          <p:spPr bwMode="auto">
            <a:xfrm>
              <a:off x="208" y="329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305" name="Freeform 325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6" name="Freeform 326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07" name="Rectangle 327"/>
            <p:cNvSpPr>
              <a:spLocks noChangeArrowheads="1"/>
            </p:cNvSpPr>
            <p:nvPr/>
          </p:nvSpPr>
          <p:spPr bwMode="auto">
            <a:xfrm>
              <a:off x="643" y="323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08" name="Rectangle 328"/>
            <p:cNvSpPr>
              <a:spLocks noChangeArrowheads="1"/>
            </p:cNvSpPr>
            <p:nvPr/>
          </p:nvSpPr>
          <p:spPr bwMode="auto">
            <a:xfrm>
              <a:off x="710" y="329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309" name="Freeform 329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0" name="Freeform 330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1" name="Rectangle 331"/>
            <p:cNvSpPr>
              <a:spLocks noChangeArrowheads="1"/>
            </p:cNvSpPr>
            <p:nvPr/>
          </p:nvSpPr>
          <p:spPr bwMode="auto">
            <a:xfrm>
              <a:off x="1001" y="3263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12" name="Rectangle 332"/>
            <p:cNvSpPr>
              <a:spLocks noChangeArrowheads="1"/>
            </p:cNvSpPr>
            <p:nvPr/>
          </p:nvSpPr>
          <p:spPr bwMode="auto">
            <a:xfrm>
              <a:off x="1068" y="3321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313" name="Freeform 333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4" name="Freeform 334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5" name="Rectangle 335"/>
            <p:cNvSpPr>
              <a:spLocks noChangeArrowheads="1"/>
            </p:cNvSpPr>
            <p:nvPr/>
          </p:nvSpPr>
          <p:spPr bwMode="auto">
            <a:xfrm>
              <a:off x="1418" y="326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16" name="Rectangle 336"/>
            <p:cNvSpPr>
              <a:spLocks noChangeArrowheads="1"/>
            </p:cNvSpPr>
            <p:nvPr/>
          </p:nvSpPr>
          <p:spPr bwMode="auto">
            <a:xfrm>
              <a:off x="1485" y="332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317" name="Line 337"/>
            <p:cNvSpPr>
              <a:spLocks noChangeShapeType="1"/>
            </p:cNvSpPr>
            <p:nvPr/>
          </p:nvSpPr>
          <p:spPr bwMode="auto">
            <a:xfrm flipH="1">
              <a:off x="1053" y="3038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8" name="Line 338"/>
            <p:cNvSpPr>
              <a:spLocks noChangeShapeType="1"/>
            </p:cNvSpPr>
            <p:nvPr/>
          </p:nvSpPr>
          <p:spPr bwMode="auto">
            <a:xfrm>
              <a:off x="1319" y="3034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19" name="Freeform 339"/>
            <p:cNvSpPr>
              <a:spLocks/>
            </p:cNvSpPr>
            <p:nvPr/>
          </p:nvSpPr>
          <p:spPr bwMode="auto">
            <a:xfrm>
              <a:off x="390" y="2856"/>
              <a:ext cx="175" cy="171"/>
            </a:xfrm>
            <a:custGeom>
              <a:avLst/>
              <a:gdLst>
                <a:gd name="T0" fmla="*/ 5 w 352"/>
                <a:gd name="T1" fmla="*/ 0 h 342"/>
                <a:gd name="T2" fmla="*/ 4 w 352"/>
                <a:gd name="T3" fmla="*/ 1 h 342"/>
                <a:gd name="T4" fmla="*/ 3 w 352"/>
                <a:gd name="T5" fmla="*/ 1 h 342"/>
                <a:gd name="T6" fmla="*/ 2 w 352"/>
                <a:gd name="T7" fmla="*/ 1 h 342"/>
                <a:gd name="T8" fmla="*/ 2 w 352"/>
                <a:gd name="T9" fmla="*/ 1 h 342"/>
                <a:gd name="T10" fmla="*/ 1 w 352"/>
                <a:gd name="T11" fmla="*/ 1 h 342"/>
                <a:gd name="T12" fmla="*/ 0 w 352"/>
                <a:gd name="T13" fmla="*/ 3 h 342"/>
                <a:gd name="T14" fmla="*/ 0 w 352"/>
                <a:gd name="T15" fmla="*/ 3 h 342"/>
                <a:gd name="T16" fmla="*/ 0 w 352"/>
                <a:gd name="T17" fmla="*/ 5 h 342"/>
                <a:gd name="T18" fmla="*/ 0 w 352"/>
                <a:gd name="T19" fmla="*/ 5 h 342"/>
                <a:gd name="T20" fmla="*/ 0 w 352"/>
                <a:gd name="T21" fmla="*/ 5 h 342"/>
                <a:gd name="T22" fmla="*/ 0 w 352"/>
                <a:gd name="T23" fmla="*/ 5 h 342"/>
                <a:gd name="T24" fmla="*/ 0 w 352"/>
                <a:gd name="T25" fmla="*/ 6 h 342"/>
                <a:gd name="T26" fmla="*/ 0 w 352"/>
                <a:gd name="T27" fmla="*/ 6 h 342"/>
                <a:gd name="T28" fmla="*/ 0 w 352"/>
                <a:gd name="T29" fmla="*/ 7 h 342"/>
                <a:gd name="T30" fmla="*/ 1 w 352"/>
                <a:gd name="T31" fmla="*/ 9 h 342"/>
                <a:gd name="T32" fmla="*/ 2 w 352"/>
                <a:gd name="T33" fmla="*/ 10 h 342"/>
                <a:gd name="T34" fmla="*/ 2 w 352"/>
                <a:gd name="T35" fmla="*/ 11 h 342"/>
                <a:gd name="T36" fmla="*/ 3 w 352"/>
                <a:gd name="T37" fmla="*/ 11 h 342"/>
                <a:gd name="T38" fmla="*/ 4 w 352"/>
                <a:gd name="T39" fmla="*/ 11 h 342"/>
                <a:gd name="T40" fmla="*/ 5 w 352"/>
                <a:gd name="T41" fmla="*/ 11 h 342"/>
                <a:gd name="T42" fmla="*/ 5 w 352"/>
                <a:gd name="T43" fmla="*/ 11 h 342"/>
                <a:gd name="T44" fmla="*/ 6 w 352"/>
                <a:gd name="T45" fmla="*/ 11 h 342"/>
                <a:gd name="T46" fmla="*/ 7 w 352"/>
                <a:gd name="T47" fmla="*/ 11 h 342"/>
                <a:gd name="T48" fmla="*/ 8 w 352"/>
                <a:gd name="T49" fmla="*/ 11 h 342"/>
                <a:gd name="T50" fmla="*/ 9 w 352"/>
                <a:gd name="T51" fmla="*/ 10 h 342"/>
                <a:gd name="T52" fmla="*/ 9 w 352"/>
                <a:gd name="T53" fmla="*/ 9 h 342"/>
                <a:gd name="T54" fmla="*/ 10 w 352"/>
                <a:gd name="T55" fmla="*/ 7 h 342"/>
                <a:gd name="T56" fmla="*/ 10 w 352"/>
                <a:gd name="T57" fmla="*/ 6 h 342"/>
                <a:gd name="T58" fmla="*/ 10 w 352"/>
                <a:gd name="T59" fmla="*/ 6 h 342"/>
                <a:gd name="T60" fmla="*/ 10 w 352"/>
                <a:gd name="T61" fmla="*/ 5 h 342"/>
                <a:gd name="T62" fmla="*/ 10 w 352"/>
                <a:gd name="T63" fmla="*/ 5 h 342"/>
                <a:gd name="T64" fmla="*/ 10 w 352"/>
                <a:gd name="T65" fmla="*/ 5 h 342"/>
                <a:gd name="T66" fmla="*/ 10 w 352"/>
                <a:gd name="T67" fmla="*/ 5 h 342"/>
                <a:gd name="T68" fmla="*/ 10 w 352"/>
                <a:gd name="T69" fmla="*/ 3 h 342"/>
                <a:gd name="T70" fmla="*/ 10 w 352"/>
                <a:gd name="T71" fmla="*/ 3 h 342"/>
                <a:gd name="T72" fmla="*/ 9 w 352"/>
                <a:gd name="T73" fmla="*/ 1 h 342"/>
                <a:gd name="T74" fmla="*/ 9 w 352"/>
                <a:gd name="T75" fmla="*/ 1 h 342"/>
                <a:gd name="T76" fmla="*/ 8 w 352"/>
                <a:gd name="T77" fmla="*/ 1 h 342"/>
                <a:gd name="T78" fmla="*/ 7 w 352"/>
                <a:gd name="T79" fmla="*/ 1 h 342"/>
                <a:gd name="T80" fmla="*/ 6 w 352"/>
                <a:gd name="T81" fmla="*/ 1 h 342"/>
                <a:gd name="T82" fmla="*/ 5 w 352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2"/>
                <a:gd name="T128" fmla="*/ 352 w 352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2">
                  <a:moveTo>
                    <a:pt x="176" y="0"/>
                  </a:moveTo>
                  <a:lnTo>
                    <a:pt x="168" y="0"/>
                  </a:lnTo>
                  <a:lnTo>
                    <a:pt x="158" y="2"/>
                  </a:lnTo>
                  <a:lnTo>
                    <a:pt x="149" y="2"/>
                  </a:lnTo>
                  <a:lnTo>
                    <a:pt x="141" y="3"/>
                  </a:lnTo>
                  <a:lnTo>
                    <a:pt x="125" y="8"/>
                  </a:lnTo>
                  <a:lnTo>
                    <a:pt x="108" y="13"/>
                  </a:lnTo>
                  <a:lnTo>
                    <a:pt x="93" y="22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2" y="50"/>
                  </a:lnTo>
                  <a:lnTo>
                    <a:pt x="40" y="63"/>
                  </a:lnTo>
                  <a:lnTo>
                    <a:pt x="30" y="76"/>
                  </a:lnTo>
                  <a:lnTo>
                    <a:pt x="22" y="89"/>
                  </a:lnTo>
                  <a:lnTo>
                    <a:pt x="13" y="104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2" y="146"/>
                  </a:lnTo>
                  <a:lnTo>
                    <a:pt x="0" y="154"/>
                  </a:lnTo>
                  <a:lnTo>
                    <a:pt x="0" y="162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2" y="197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2"/>
                  </a:lnTo>
                  <a:lnTo>
                    <a:pt x="13" y="237"/>
                  </a:lnTo>
                  <a:lnTo>
                    <a:pt x="22" y="252"/>
                  </a:lnTo>
                  <a:lnTo>
                    <a:pt x="30" y="267"/>
                  </a:lnTo>
                  <a:lnTo>
                    <a:pt x="40" y="280"/>
                  </a:lnTo>
                  <a:lnTo>
                    <a:pt x="52" y="292"/>
                  </a:lnTo>
                  <a:lnTo>
                    <a:pt x="65" y="303"/>
                  </a:lnTo>
                  <a:lnTo>
                    <a:pt x="78" y="313"/>
                  </a:lnTo>
                  <a:lnTo>
                    <a:pt x="93" y="322"/>
                  </a:lnTo>
                  <a:lnTo>
                    <a:pt x="108" y="328"/>
                  </a:lnTo>
                  <a:lnTo>
                    <a:pt x="125" y="335"/>
                  </a:lnTo>
                  <a:lnTo>
                    <a:pt x="141" y="338"/>
                  </a:lnTo>
                  <a:lnTo>
                    <a:pt x="149" y="340"/>
                  </a:lnTo>
                  <a:lnTo>
                    <a:pt x="158" y="342"/>
                  </a:lnTo>
                  <a:lnTo>
                    <a:pt x="168" y="342"/>
                  </a:lnTo>
                  <a:lnTo>
                    <a:pt x="176" y="342"/>
                  </a:lnTo>
                  <a:lnTo>
                    <a:pt x="186" y="342"/>
                  </a:lnTo>
                  <a:lnTo>
                    <a:pt x="194" y="342"/>
                  </a:lnTo>
                  <a:lnTo>
                    <a:pt x="202" y="340"/>
                  </a:lnTo>
                  <a:lnTo>
                    <a:pt x="212" y="338"/>
                  </a:lnTo>
                  <a:lnTo>
                    <a:pt x="229" y="335"/>
                  </a:lnTo>
                  <a:lnTo>
                    <a:pt x="246" y="328"/>
                  </a:lnTo>
                  <a:lnTo>
                    <a:pt x="261" y="322"/>
                  </a:lnTo>
                  <a:lnTo>
                    <a:pt x="275" y="313"/>
                  </a:lnTo>
                  <a:lnTo>
                    <a:pt x="289" y="303"/>
                  </a:lnTo>
                  <a:lnTo>
                    <a:pt x="300" y="292"/>
                  </a:lnTo>
                  <a:lnTo>
                    <a:pt x="312" y="280"/>
                  </a:lnTo>
                  <a:lnTo>
                    <a:pt x="322" y="267"/>
                  </a:lnTo>
                  <a:lnTo>
                    <a:pt x="332" y="252"/>
                  </a:lnTo>
                  <a:lnTo>
                    <a:pt x="338" y="237"/>
                  </a:lnTo>
                  <a:lnTo>
                    <a:pt x="345" y="222"/>
                  </a:lnTo>
                  <a:lnTo>
                    <a:pt x="347" y="214"/>
                  </a:lnTo>
                  <a:lnTo>
                    <a:pt x="348" y="206"/>
                  </a:lnTo>
                  <a:lnTo>
                    <a:pt x="350" y="197"/>
                  </a:lnTo>
                  <a:lnTo>
                    <a:pt x="352" y="189"/>
                  </a:lnTo>
                  <a:lnTo>
                    <a:pt x="352" y="181"/>
                  </a:lnTo>
                  <a:lnTo>
                    <a:pt x="352" y="171"/>
                  </a:lnTo>
                  <a:lnTo>
                    <a:pt x="352" y="162"/>
                  </a:lnTo>
                  <a:lnTo>
                    <a:pt x="352" y="154"/>
                  </a:lnTo>
                  <a:lnTo>
                    <a:pt x="350" y="146"/>
                  </a:lnTo>
                  <a:lnTo>
                    <a:pt x="348" y="136"/>
                  </a:lnTo>
                  <a:lnTo>
                    <a:pt x="347" y="128"/>
                  </a:lnTo>
                  <a:lnTo>
                    <a:pt x="345" y="121"/>
                  </a:lnTo>
                  <a:lnTo>
                    <a:pt x="338" y="104"/>
                  </a:lnTo>
                  <a:lnTo>
                    <a:pt x="332" y="89"/>
                  </a:lnTo>
                  <a:lnTo>
                    <a:pt x="322" y="76"/>
                  </a:lnTo>
                  <a:lnTo>
                    <a:pt x="312" y="63"/>
                  </a:lnTo>
                  <a:lnTo>
                    <a:pt x="300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1" y="22"/>
                  </a:lnTo>
                  <a:lnTo>
                    <a:pt x="246" y="13"/>
                  </a:lnTo>
                  <a:lnTo>
                    <a:pt x="229" y="8"/>
                  </a:lnTo>
                  <a:lnTo>
                    <a:pt x="212" y="3"/>
                  </a:lnTo>
                  <a:lnTo>
                    <a:pt x="202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20" name="Rectangle 340"/>
            <p:cNvSpPr>
              <a:spLocks noChangeArrowheads="1"/>
            </p:cNvSpPr>
            <p:nvPr/>
          </p:nvSpPr>
          <p:spPr bwMode="auto">
            <a:xfrm>
              <a:off x="431" y="2861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21" name="Rectangle 341"/>
            <p:cNvSpPr>
              <a:spLocks noChangeArrowheads="1"/>
            </p:cNvSpPr>
            <p:nvPr/>
          </p:nvSpPr>
          <p:spPr bwMode="auto">
            <a:xfrm>
              <a:off x="491" y="2924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322" name="Freeform 342"/>
            <p:cNvSpPr>
              <a:spLocks/>
            </p:cNvSpPr>
            <p:nvPr/>
          </p:nvSpPr>
          <p:spPr bwMode="auto">
            <a:xfrm>
              <a:off x="790" y="2576"/>
              <a:ext cx="176" cy="171"/>
            </a:xfrm>
            <a:custGeom>
              <a:avLst/>
              <a:gdLst>
                <a:gd name="T0" fmla="*/ 6 w 352"/>
                <a:gd name="T1" fmla="*/ 0 h 341"/>
                <a:gd name="T2" fmla="*/ 5 w 352"/>
                <a:gd name="T3" fmla="*/ 1 h 341"/>
                <a:gd name="T4" fmla="*/ 3 w 352"/>
                <a:gd name="T5" fmla="*/ 1 h 341"/>
                <a:gd name="T6" fmla="*/ 3 w 352"/>
                <a:gd name="T7" fmla="*/ 1 h 341"/>
                <a:gd name="T8" fmla="*/ 3 w 352"/>
                <a:gd name="T9" fmla="*/ 2 h 341"/>
                <a:gd name="T10" fmla="*/ 1 w 352"/>
                <a:gd name="T11" fmla="*/ 2 h 341"/>
                <a:gd name="T12" fmla="*/ 1 w 352"/>
                <a:gd name="T13" fmla="*/ 3 h 341"/>
                <a:gd name="T14" fmla="*/ 1 w 352"/>
                <a:gd name="T15" fmla="*/ 4 h 341"/>
                <a:gd name="T16" fmla="*/ 1 w 352"/>
                <a:gd name="T17" fmla="*/ 5 h 341"/>
                <a:gd name="T18" fmla="*/ 1 w 352"/>
                <a:gd name="T19" fmla="*/ 5 h 341"/>
                <a:gd name="T20" fmla="*/ 0 w 352"/>
                <a:gd name="T21" fmla="*/ 6 h 341"/>
                <a:gd name="T22" fmla="*/ 1 w 352"/>
                <a:gd name="T23" fmla="*/ 6 h 341"/>
                <a:gd name="T24" fmla="*/ 1 w 352"/>
                <a:gd name="T25" fmla="*/ 7 h 341"/>
                <a:gd name="T26" fmla="*/ 1 w 352"/>
                <a:gd name="T27" fmla="*/ 7 h 341"/>
                <a:gd name="T28" fmla="*/ 1 w 352"/>
                <a:gd name="T29" fmla="*/ 8 h 341"/>
                <a:gd name="T30" fmla="*/ 1 w 352"/>
                <a:gd name="T31" fmla="*/ 9 h 341"/>
                <a:gd name="T32" fmla="*/ 3 w 352"/>
                <a:gd name="T33" fmla="*/ 10 h 341"/>
                <a:gd name="T34" fmla="*/ 3 w 352"/>
                <a:gd name="T35" fmla="*/ 10 h 341"/>
                <a:gd name="T36" fmla="*/ 3 w 352"/>
                <a:gd name="T37" fmla="*/ 11 h 341"/>
                <a:gd name="T38" fmla="*/ 5 w 352"/>
                <a:gd name="T39" fmla="*/ 11 h 341"/>
                <a:gd name="T40" fmla="*/ 6 w 352"/>
                <a:gd name="T41" fmla="*/ 11 h 341"/>
                <a:gd name="T42" fmla="*/ 6 w 352"/>
                <a:gd name="T43" fmla="*/ 11 h 341"/>
                <a:gd name="T44" fmla="*/ 6 w 352"/>
                <a:gd name="T45" fmla="*/ 11 h 341"/>
                <a:gd name="T46" fmla="*/ 7 w 352"/>
                <a:gd name="T47" fmla="*/ 11 h 341"/>
                <a:gd name="T48" fmla="*/ 9 w 352"/>
                <a:gd name="T49" fmla="*/ 10 h 341"/>
                <a:gd name="T50" fmla="*/ 9 w 352"/>
                <a:gd name="T51" fmla="*/ 10 h 341"/>
                <a:gd name="T52" fmla="*/ 10 w 352"/>
                <a:gd name="T53" fmla="*/ 9 h 341"/>
                <a:gd name="T54" fmla="*/ 11 w 352"/>
                <a:gd name="T55" fmla="*/ 8 h 341"/>
                <a:gd name="T56" fmla="*/ 11 w 352"/>
                <a:gd name="T57" fmla="*/ 7 h 341"/>
                <a:gd name="T58" fmla="*/ 11 w 352"/>
                <a:gd name="T59" fmla="*/ 7 h 341"/>
                <a:gd name="T60" fmla="*/ 11 w 352"/>
                <a:gd name="T61" fmla="*/ 6 h 341"/>
                <a:gd name="T62" fmla="*/ 11 w 352"/>
                <a:gd name="T63" fmla="*/ 6 h 341"/>
                <a:gd name="T64" fmla="*/ 11 w 352"/>
                <a:gd name="T65" fmla="*/ 5 h 341"/>
                <a:gd name="T66" fmla="*/ 11 w 352"/>
                <a:gd name="T67" fmla="*/ 5 h 341"/>
                <a:gd name="T68" fmla="*/ 11 w 352"/>
                <a:gd name="T69" fmla="*/ 4 h 341"/>
                <a:gd name="T70" fmla="*/ 11 w 352"/>
                <a:gd name="T71" fmla="*/ 3 h 341"/>
                <a:gd name="T72" fmla="*/ 10 w 352"/>
                <a:gd name="T73" fmla="*/ 2 h 341"/>
                <a:gd name="T74" fmla="*/ 9 w 352"/>
                <a:gd name="T75" fmla="*/ 2 h 341"/>
                <a:gd name="T76" fmla="*/ 9 w 352"/>
                <a:gd name="T77" fmla="*/ 1 h 341"/>
                <a:gd name="T78" fmla="*/ 7 w 352"/>
                <a:gd name="T79" fmla="*/ 1 h 341"/>
                <a:gd name="T80" fmla="*/ 6 w 352"/>
                <a:gd name="T81" fmla="*/ 1 h 341"/>
                <a:gd name="T82" fmla="*/ 6 w 352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2"/>
                <a:gd name="T127" fmla="*/ 0 h 341"/>
                <a:gd name="T128" fmla="*/ 352 w 352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2" h="341">
                  <a:moveTo>
                    <a:pt x="176" y="0"/>
                  </a:moveTo>
                  <a:lnTo>
                    <a:pt x="168" y="0"/>
                  </a:lnTo>
                  <a:lnTo>
                    <a:pt x="158" y="0"/>
                  </a:lnTo>
                  <a:lnTo>
                    <a:pt x="149" y="1"/>
                  </a:lnTo>
                  <a:lnTo>
                    <a:pt x="141" y="3"/>
                  </a:lnTo>
                  <a:lnTo>
                    <a:pt x="124" y="6"/>
                  </a:lnTo>
                  <a:lnTo>
                    <a:pt x="108" y="13"/>
                  </a:lnTo>
                  <a:lnTo>
                    <a:pt x="93" y="19"/>
                  </a:lnTo>
                  <a:lnTo>
                    <a:pt x="78" y="28"/>
                  </a:lnTo>
                  <a:lnTo>
                    <a:pt x="65" y="38"/>
                  </a:lnTo>
                  <a:lnTo>
                    <a:pt x="52" y="49"/>
                  </a:lnTo>
                  <a:lnTo>
                    <a:pt x="40" y="61"/>
                  </a:lnTo>
                  <a:lnTo>
                    <a:pt x="30" y="74"/>
                  </a:lnTo>
                  <a:lnTo>
                    <a:pt x="22" y="89"/>
                  </a:lnTo>
                  <a:lnTo>
                    <a:pt x="15" y="104"/>
                  </a:lnTo>
                  <a:lnTo>
                    <a:pt x="8" y="119"/>
                  </a:lnTo>
                  <a:lnTo>
                    <a:pt x="7" y="127"/>
                  </a:lnTo>
                  <a:lnTo>
                    <a:pt x="3" y="136"/>
                  </a:lnTo>
                  <a:lnTo>
                    <a:pt x="2" y="144"/>
                  </a:lnTo>
                  <a:lnTo>
                    <a:pt x="2" y="152"/>
                  </a:lnTo>
                  <a:lnTo>
                    <a:pt x="0" y="160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2" y="187"/>
                  </a:lnTo>
                  <a:lnTo>
                    <a:pt x="2" y="195"/>
                  </a:lnTo>
                  <a:lnTo>
                    <a:pt x="3" y="203"/>
                  </a:lnTo>
                  <a:lnTo>
                    <a:pt x="7" y="212"/>
                  </a:lnTo>
                  <a:lnTo>
                    <a:pt x="8" y="220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1"/>
                  </a:lnTo>
                  <a:lnTo>
                    <a:pt x="65" y="301"/>
                  </a:lnTo>
                  <a:lnTo>
                    <a:pt x="78" y="311"/>
                  </a:lnTo>
                  <a:lnTo>
                    <a:pt x="93" y="320"/>
                  </a:lnTo>
                  <a:lnTo>
                    <a:pt x="108" y="328"/>
                  </a:lnTo>
                  <a:lnTo>
                    <a:pt x="124" y="333"/>
                  </a:lnTo>
                  <a:lnTo>
                    <a:pt x="141" y="338"/>
                  </a:lnTo>
                  <a:lnTo>
                    <a:pt x="149" y="339"/>
                  </a:lnTo>
                  <a:lnTo>
                    <a:pt x="158" y="339"/>
                  </a:lnTo>
                  <a:lnTo>
                    <a:pt x="168" y="341"/>
                  </a:lnTo>
                  <a:lnTo>
                    <a:pt x="176" y="341"/>
                  </a:lnTo>
                  <a:lnTo>
                    <a:pt x="184" y="341"/>
                  </a:lnTo>
                  <a:lnTo>
                    <a:pt x="194" y="339"/>
                  </a:lnTo>
                  <a:lnTo>
                    <a:pt x="202" y="339"/>
                  </a:lnTo>
                  <a:lnTo>
                    <a:pt x="211" y="338"/>
                  </a:lnTo>
                  <a:lnTo>
                    <a:pt x="227" y="333"/>
                  </a:lnTo>
                  <a:lnTo>
                    <a:pt x="244" y="328"/>
                  </a:lnTo>
                  <a:lnTo>
                    <a:pt x="259" y="320"/>
                  </a:lnTo>
                  <a:lnTo>
                    <a:pt x="274" y="311"/>
                  </a:lnTo>
                  <a:lnTo>
                    <a:pt x="287" y="301"/>
                  </a:lnTo>
                  <a:lnTo>
                    <a:pt x="300" y="291"/>
                  </a:lnTo>
                  <a:lnTo>
                    <a:pt x="312" y="278"/>
                  </a:lnTo>
                  <a:lnTo>
                    <a:pt x="322" y="265"/>
                  </a:lnTo>
                  <a:lnTo>
                    <a:pt x="330" y="252"/>
                  </a:lnTo>
                  <a:lnTo>
                    <a:pt x="337" y="237"/>
                  </a:lnTo>
                  <a:lnTo>
                    <a:pt x="343" y="220"/>
                  </a:lnTo>
                  <a:lnTo>
                    <a:pt x="345" y="212"/>
                  </a:lnTo>
                  <a:lnTo>
                    <a:pt x="348" y="203"/>
                  </a:lnTo>
                  <a:lnTo>
                    <a:pt x="350" y="195"/>
                  </a:lnTo>
                  <a:lnTo>
                    <a:pt x="350" y="187"/>
                  </a:lnTo>
                  <a:lnTo>
                    <a:pt x="352" y="179"/>
                  </a:lnTo>
                  <a:lnTo>
                    <a:pt x="352" y="170"/>
                  </a:lnTo>
                  <a:lnTo>
                    <a:pt x="352" y="160"/>
                  </a:lnTo>
                  <a:lnTo>
                    <a:pt x="350" y="152"/>
                  </a:lnTo>
                  <a:lnTo>
                    <a:pt x="350" y="144"/>
                  </a:lnTo>
                  <a:lnTo>
                    <a:pt x="348" y="136"/>
                  </a:lnTo>
                  <a:lnTo>
                    <a:pt x="345" y="127"/>
                  </a:lnTo>
                  <a:lnTo>
                    <a:pt x="343" y="119"/>
                  </a:lnTo>
                  <a:lnTo>
                    <a:pt x="337" y="104"/>
                  </a:lnTo>
                  <a:lnTo>
                    <a:pt x="330" y="89"/>
                  </a:lnTo>
                  <a:lnTo>
                    <a:pt x="322" y="74"/>
                  </a:lnTo>
                  <a:lnTo>
                    <a:pt x="312" y="61"/>
                  </a:lnTo>
                  <a:lnTo>
                    <a:pt x="300" y="49"/>
                  </a:lnTo>
                  <a:lnTo>
                    <a:pt x="287" y="38"/>
                  </a:lnTo>
                  <a:lnTo>
                    <a:pt x="274" y="28"/>
                  </a:lnTo>
                  <a:lnTo>
                    <a:pt x="259" y="19"/>
                  </a:lnTo>
                  <a:lnTo>
                    <a:pt x="244" y="13"/>
                  </a:lnTo>
                  <a:lnTo>
                    <a:pt x="227" y="6"/>
                  </a:lnTo>
                  <a:lnTo>
                    <a:pt x="211" y="3"/>
                  </a:lnTo>
                  <a:lnTo>
                    <a:pt x="202" y="1"/>
                  </a:lnTo>
                  <a:lnTo>
                    <a:pt x="194" y="0"/>
                  </a:lnTo>
                  <a:lnTo>
                    <a:pt x="184" y="0"/>
                  </a:lnTo>
                  <a:lnTo>
                    <a:pt x="176" y="0"/>
                  </a:lnTo>
                </a:path>
              </a:pathLst>
            </a:custGeom>
            <a:noFill/>
            <a:ln w="17463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23" name="Rectangle 343"/>
            <p:cNvSpPr>
              <a:spLocks noChangeArrowheads="1"/>
            </p:cNvSpPr>
            <p:nvPr/>
          </p:nvSpPr>
          <p:spPr bwMode="auto">
            <a:xfrm>
              <a:off x="852" y="2580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324" name="Line 344"/>
            <p:cNvSpPr>
              <a:spLocks noChangeShapeType="1"/>
            </p:cNvSpPr>
            <p:nvPr/>
          </p:nvSpPr>
          <p:spPr bwMode="auto">
            <a:xfrm flipH="1">
              <a:off x="523" y="2727"/>
              <a:ext cx="294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25" name="Line 345"/>
            <p:cNvSpPr>
              <a:spLocks noChangeShapeType="1"/>
            </p:cNvSpPr>
            <p:nvPr/>
          </p:nvSpPr>
          <p:spPr bwMode="auto">
            <a:xfrm>
              <a:off x="940" y="2727"/>
              <a:ext cx="288" cy="13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26" name="Freeform 346"/>
            <p:cNvSpPr>
              <a:spLocks/>
            </p:cNvSpPr>
            <p:nvPr/>
          </p:nvSpPr>
          <p:spPr bwMode="auto">
            <a:xfrm>
              <a:off x="1186" y="2855"/>
              <a:ext cx="176" cy="171"/>
            </a:xfrm>
            <a:custGeom>
              <a:avLst/>
              <a:gdLst>
                <a:gd name="T0" fmla="*/ 5 w 353"/>
                <a:gd name="T1" fmla="*/ 0 h 342"/>
                <a:gd name="T2" fmla="*/ 4 w 353"/>
                <a:gd name="T3" fmla="*/ 1 h 342"/>
                <a:gd name="T4" fmla="*/ 3 w 353"/>
                <a:gd name="T5" fmla="*/ 1 h 342"/>
                <a:gd name="T6" fmla="*/ 2 w 353"/>
                <a:gd name="T7" fmla="*/ 1 h 342"/>
                <a:gd name="T8" fmla="*/ 2 w 353"/>
                <a:gd name="T9" fmla="*/ 1 h 342"/>
                <a:gd name="T10" fmla="*/ 1 w 353"/>
                <a:gd name="T11" fmla="*/ 1 h 342"/>
                <a:gd name="T12" fmla="*/ 0 w 353"/>
                <a:gd name="T13" fmla="*/ 3 h 342"/>
                <a:gd name="T14" fmla="*/ 0 w 353"/>
                <a:gd name="T15" fmla="*/ 3 h 342"/>
                <a:gd name="T16" fmla="*/ 0 w 353"/>
                <a:gd name="T17" fmla="*/ 5 h 342"/>
                <a:gd name="T18" fmla="*/ 0 w 353"/>
                <a:gd name="T19" fmla="*/ 5 h 342"/>
                <a:gd name="T20" fmla="*/ 0 w 353"/>
                <a:gd name="T21" fmla="*/ 5 h 342"/>
                <a:gd name="T22" fmla="*/ 0 w 353"/>
                <a:gd name="T23" fmla="*/ 5 h 342"/>
                <a:gd name="T24" fmla="*/ 0 w 353"/>
                <a:gd name="T25" fmla="*/ 6 h 342"/>
                <a:gd name="T26" fmla="*/ 0 w 353"/>
                <a:gd name="T27" fmla="*/ 6 h 342"/>
                <a:gd name="T28" fmla="*/ 0 w 353"/>
                <a:gd name="T29" fmla="*/ 7 h 342"/>
                <a:gd name="T30" fmla="*/ 1 w 353"/>
                <a:gd name="T31" fmla="*/ 9 h 342"/>
                <a:gd name="T32" fmla="*/ 2 w 353"/>
                <a:gd name="T33" fmla="*/ 10 h 342"/>
                <a:gd name="T34" fmla="*/ 2 w 353"/>
                <a:gd name="T35" fmla="*/ 11 h 342"/>
                <a:gd name="T36" fmla="*/ 3 w 353"/>
                <a:gd name="T37" fmla="*/ 11 h 342"/>
                <a:gd name="T38" fmla="*/ 4 w 353"/>
                <a:gd name="T39" fmla="*/ 11 h 342"/>
                <a:gd name="T40" fmla="*/ 5 w 353"/>
                <a:gd name="T41" fmla="*/ 11 h 342"/>
                <a:gd name="T42" fmla="*/ 5 w 353"/>
                <a:gd name="T43" fmla="*/ 11 h 342"/>
                <a:gd name="T44" fmla="*/ 6 w 353"/>
                <a:gd name="T45" fmla="*/ 11 h 342"/>
                <a:gd name="T46" fmla="*/ 7 w 353"/>
                <a:gd name="T47" fmla="*/ 11 h 342"/>
                <a:gd name="T48" fmla="*/ 8 w 353"/>
                <a:gd name="T49" fmla="*/ 11 h 342"/>
                <a:gd name="T50" fmla="*/ 9 w 353"/>
                <a:gd name="T51" fmla="*/ 10 h 342"/>
                <a:gd name="T52" fmla="*/ 9 w 353"/>
                <a:gd name="T53" fmla="*/ 9 h 342"/>
                <a:gd name="T54" fmla="*/ 10 w 353"/>
                <a:gd name="T55" fmla="*/ 7 h 342"/>
                <a:gd name="T56" fmla="*/ 10 w 353"/>
                <a:gd name="T57" fmla="*/ 6 h 342"/>
                <a:gd name="T58" fmla="*/ 10 w 353"/>
                <a:gd name="T59" fmla="*/ 6 h 342"/>
                <a:gd name="T60" fmla="*/ 11 w 353"/>
                <a:gd name="T61" fmla="*/ 5 h 342"/>
                <a:gd name="T62" fmla="*/ 11 w 353"/>
                <a:gd name="T63" fmla="*/ 5 h 342"/>
                <a:gd name="T64" fmla="*/ 11 w 353"/>
                <a:gd name="T65" fmla="*/ 5 h 342"/>
                <a:gd name="T66" fmla="*/ 10 w 353"/>
                <a:gd name="T67" fmla="*/ 5 h 342"/>
                <a:gd name="T68" fmla="*/ 10 w 353"/>
                <a:gd name="T69" fmla="*/ 3 h 342"/>
                <a:gd name="T70" fmla="*/ 10 w 353"/>
                <a:gd name="T71" fmla="*/ 3 h 342"/>
                <a:gd name="T72" fmla="*/ 9 w 353"/>
                <a:gd name="T73" fmla="*/ 1 h 342"/>
                <a:gd name="T74" fmla="*/ 9 w 353"/>
                <a:gd name="T75" fmla="*/ 1 h 342"/>
                <a:gd name="T76" fmla="*/ 8 w 353"/>
                <a:gd name="T77" fmla="*/ 1 h 342"/>
                <a:gd name="T78" fmla="*/ 7 w 353"/>
                <a:gd name="T79" fmla="*/ 1 h 342"/>
                <a:gd name="T80" fmla="*/ 6 w 353"/>
                <a:gd name="T81" fmla="*/ 1 h 342"/>
                <a:gd name="T82" fmla="*/ 5 w 353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3"/>
                <a:gd name="T127" fmla="*/ 0 h 342"/>
                <a:gd name="T128" fmla="*/ 353 w 353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3" h="342">
                  <a:moveTo>
                    <a:pt x="178" y="0"/>
                  </a:moveTo>
                  <a:lnTo>
                    <a:pt x="168" y="0"/>
                  </a:lnTo>
                  <a:lnTo>
                    <a:pt x="159" y="2"/>
                  </a:lnTo>
                  <a:lnTo>
                    <a:pt x="149" y="2"/>
                  </a:lnTo>
                  <a:lnTo>
                    <a:pt x="141" y="4"/>
                  </a:lnTo>
                  <a:lnTo>
                    <a:pt x="124" y="9"/>
                  </a:lnTo>
                  <a:lnTo>
                    <a:pt x="108" y="14"/>
                  </a:lnTo>
                  <a:lnTo>
                    <a:pt x="93" y="20"/>
                  </a:lnTo>
                  <a:lnTo>
                    <a:pt x="78" y="30"/>
                  </a:lnTo>
                  <a:lnTo>
                    <a:pt x="65" y="40"/>
                  </a:lnTo>
                  <a:lnTo>
                    <a:pt x="51" y="50"/>
                  </a:lnTo>
                  <a:lnTo>
                    <a:pt x="42" y="63"/>
                  </a:lnTo>
                  <a:lnTo>
                    <a:pt x="32" y="77"/>
                  </a:lnTo>
                  <a:lnTo>
                    <a:pt x="22" y="90"/>
                  </a:lnTo>
                  <a:lnTo>
                    <a:pt x="15" y="105"/>
                  </a:lnTo>
                  <a:lnTo>
                    <a:pt x="8" y="121"/>
                  </a:lnTo>
                  <a:lnTo>
                    <a:pt x="7" y="128"/>
                  </a:lnTo>
                  <a:lnTo>
                    <a:pt x="5" y="136"/>
                  </a:lnTo>
                  <a:lnTo>
                    <a:pt x="3" y="145"/>
                  </a:lnTo>
                  <a:lnTo>
                    <a:pt x="2" y="154"/>
                  </a:lnTo>
                  <a:lnTo>
                    <a:pt x="2" y="163"/>
                  </a:lnTo>
                  <a:lnTo>
                    <a:pt x="0" y="171"/>
                  </a:lnTo>
                  <a:lnTo>
                    <a:pt x="2" y="179"/>
                  </a:lnTo>
                  <a:lnTo>
                    <a:pt x="2" y="189"/>
                  </a:lnTo>
                  <a:lnTo>
                    <a:pt x="3" y="198"/>
                  </a:lnTo>
                  <a:lnTo>
                    <a:pt x="5" y="206"/>
                  </a:lnTo>
                  <a:lnTo>
                    <a:pt x="7" y="214"/>
                  </a:lnTo>
                  <a:lnTo>
                    <a:pt x="8" y="222"/>
                  </a:lnTo>
                  <a:lnTo>
                    <a:pt x="15" y="237"/>
                  </a:lnTo>
                  <a:lnTo>
                    <a:pt x="22" y="252"/>
                  </a:lnTo>
                  <a:lnTo>
                    <a:pt x="32" y="267"/>
                  </a:lnTo>
                  <a:lnTo>
                    <a:pt x="42" y="281"/>
                  </a:lnTo>
                  <a:lnTo>
                    <a:pt x="51" y="292"/>
                  </a:lnTo>
                  <a:lnTo>
                    <a:pt x="65" y="304"/>
                  </a:lnTo>
                  <a:lnTo>
                    <a:pt x="78" y="314"/>
                  </a:lnTo>
                  <a:lnTo>
                    <a:pt x="93" y="322"/>
                  </a:lnTo>
                  <a:lnTo>
                    <a:pt x="108" y="329"/>
                  </a:lnTo>
                  <a:lnTo>
                    <a:pt x="124" y="335"/>
                  </a:lnTo>
                  <a:lnTo>
                    <a:pt x="141" y="339"/>
                  </a:lnTo>
                  <a:lnTo>
                    <a:pt x="149" y="340"/>
                  </a:lnTo>
                  <a:lnTo>
                    <a:pt x="159" y="342"/>
                  </a:lnTo>
                  <a:lnTo>
                    <a:pt x="168" y="342"/>
                  </a:lnTo>
                  <a:lnTo>
                    <a:pt x="178" y="342"/>
                  </a:lnTo>
                  <a:lnTo>
                    <a:pt x="186" y="342"/>
                  </a:lnTo>
                  <a:lnTo>
                    <a:pt x="196" y="342"/>
                  </a:lnTo>
                  <a:lnTo>
                    <a:pt x="204" y="340"/>
                  </a:lnTo>
                  <a:lnTo>
                    <a:pt x="212" y="339"/>
                  </a:lnTo>
                  <a:lnTo>
                    <a:pt x="229" y="335"/>
                  </a:lnTo>
                  <a:lnTo>
                    <a:pt x="246" y="329"/>
                  </a:lnTo>
                  <a:lnTo>
                    <a:pt x="260" y="322"/>
                  </a:lnTo>
                  <a:lnTo>
                    <a:pt x="275" y="314"/>
                  </a:lnTo>
                  <a:lnTo>
                    <a:pt x="289" y="304"/>
                  </a:lnTo>
                  <a:lnTo>
                    <a:pt x="302" y="292"/>
                  </a:lnTo>
                  <a:lnTo>
                    <a:pt x="313" y="281"/>
                  </a:lnTo>
                  <a:lnTo>
                    <a:pt x="323" y="267"/>
                  </a:lnTo>
                  <a:lnTo>
                    <a:pt x="332" y="252"/>
                  </a:lnTo>
                  <a:lnTo>
                    <a:pt x="340" y="237"/>
                  </a:lnTo>
                  <a:lnTo>
                    <a:pt x="345" y="222"/>
                  </a:lnTo>
                  <a:lnTo>
                    <a:pt x="348" y="214"/>
                  </a:lnTo>
                  <a:lnTo>
                    <a:pt x="350" y="206"/>
                  </a:lnTo>
                  <a:lnTo>
                    <a:pt x="352" y="198"/>
                  </a:lnTo>
                  <a:lnTo>
                    <a:pt x="352" y="189"/>
                  </a:lnTo>
                  <a:lnTo>
                    <a:pt x="353" y="179"/>
                  </a:lnTo>
                  <a:lnTo>
                    <a:pt x="353" y="171"/>
                  </a:lnTo>
                  <a:lnTo>
                    <a:pt x="353" y="163"/>
                  </a:lnTo>
                  <a:lnTo>
                    <a:pt x="352" y="154"/>
                  </a:lnTo>
                  <a:lnTo>
                    <a:pt x="352" y="145"/>
                  </a:lnTo>
                  <a:lnTo>
                    <a:pt x="350" y="136"/>
                  </a:lnTo>
                  <a:lnTo>
                    <a:pt x="348" y="128"/>
                  </a:lnTo>
                  <a:lnTo>
                    <a:pt x="345" y="121"/>
                  </a:lnTo>
                  <a:lnTo>
                    <a:pt x="340" y="105"/>
                  </a:lnTo>
                  <a:lnTo>
                    <a:pt x="332" y="90"/>
                  </a:lnTo>
                  <a:lnTo>
                    <a:pt x="323" y="77"/>
                  </a:lnTo>
                  <a:lnTo>
                    <a:pt x="313" y="63"/>
                  </a:lnTo>
                  <a:lnTo>
                    <a:pt x="302" y="50"/>
                  </a:lnTo>
                  <a:lnTo>
                    <a:pt x="289" y="40"/>
                  </a:lnTo>
                  <a:lnTo>
                    <a:pt x="275" y="30"/>
                  </a:lnTo>
                  <a:lnTo>
                    <a:pt x="260" y="20"/>
                  </a:lnTo>
                  <a:lnTo>
                    <a:pt x="246" y="14"/>
                  </a:lnTo>
                  <a:lnTo>
                    <a:pt x="229" y="9"/>
                  </a:lnTo>
                  <a:lnTo>
                    <a:pt x="212" y="4"/>
                  </a:lnTo>
                  <a:lnTo>
                    <a:pt x="204" y="2"/>
                  </a:lnTo>
                  <a:lnTo>
                    <a:pt x="194" y="2"/>
                  </a:lnTo>
                  <a:lnTo>
                    <a:pt x="186" y="0"/>
                  </a:lnTo>
                  <a:lnTo>
                    <a:pt x="178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27" name="Rectangle 347"/>
            <p:cNvSpPr>
              <a:spLocks noChangeArrowheads="1"/>
            </p:cNvSpPr>
            <p:nvPr/>
          </p:nvSpPr>
          <p:spPr bwMode="auto">
            <a:xfrm>
              <a:off x="1222" y="2860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28" name="Rectangle 348"/>
            <p:cNvSpPr>
              <a:spLocks noChangeArrowheads="1"/>
            </p:cNvSpPr>
            <p:nvPr/>
          </p:nvSpPr>
          <p:spPr bwMode="auto">
            <a:xfrm>
              <a:off x="1282" y="2924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329" name="Line 349"/>
            <p:cNvSpPr>
              <a:spLocks noChangeShapeType="1"/>
            </p:cNvSpPr>
            <p:nvPr/>
          </p:nvSpPr>
          <p:spPr bwMode="auto">
            <a:xfrm>
              <a:off x="542" y="3017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0" name="Line 350"/>
            <p:cNvSpPr>
              <a:spLocks noChangeShapeType="1"/>
            </p:cNvSpPr>
            <p:nvPr/>
          </p:nvSpPr>
          <p:spPr bwMode="auto">
            <a:xfrm flipH="1">
              <a:off x="210" y="3014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1" name="Freeform 351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2" name="Freeform 352"/>
            <p:cNvSpPr>
              <a:spLocks/>
            </p:cNvSpPr>
            <p:nvPr/>
          </p:nvSpPr>
          <p:spPr bwMode="auto">
            <a:xfrm>
              <a:off x="50" y="3160"/>
              <a:ext cx="291" cy="214"/>
            </a:xfrm>
            <a:custGeom>
              <a:avLst/>
              <a:gdLst>
                <a:gd name="T0" fmla="*/ 10 w 580"/>
                <a:gd name="T1" fmla="*/ 0 h 428"/>
                <a:gd name="T2" fmla="*/ 0 w 580"/>
                <a:gd name="T3" fmla="*/ 13 h 428"/>
                <a:gd name="T4" fmla="*/ 19 w 580"/>
                <a:gd name="T5" fmla="*/ 13 h 428"/>
                <a:gd name="T6" fmla="*/ 10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3" name="Rectangle 353"/>
            <p:cNvSpPr>
              <a:spLocks noChangeArrowheads="1"/>
            </p:cNvSpPr>
            <p:nvPr/>
          </p:nvSpPr>
          <p:spPr bwMode="auto">
            <a:xfrm>
              <a:off x="141" y="323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34" name="Rectangle 354"/>
            <p:cNvSpPr>
              <a:spLocks noChangeArrowheads="1"/>
            </p:cNvSpPr>
            <p:nvPr/>
          </p:nvSpPr>
          <p:spPr bwMode="auto">
            <a:xfrm>
              <a:off x="208" y="329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335" name="Freeform 355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6" name="Freeform 356"/>
            <p:cNvSpPr>
              <a:spLocks/>
            </p:cNvSpPr>
            <p:nvPr/>
          </p:nvSpPr>
          <p:spPr bwMode="auto">
            <a:xfrm>
              <a:off x="552" y="3164"/>
              <a:ext cx="290" cy="213"/>
            </a:xfrm>
            <a:custGeom>
              <a:avLst/>
              <a:gdLst>
                <a:gd name="T0" fmla="*/ 9 w 581"/>
                <a:gd name="T1" fmla="*/ 0 h 428"/>
                <a:gd name="T2" fmla="*/ 0 w 581"/>
                <a:gd name="T3" fmla="*/ 13 h 428"/>
                <a:gd name="T4" fmla="*/ 18 w 581"/>
                <a:gd name="T5" fmla="*/ 13 h 428"/>
                <a:gd name="T6" fmla="*/ 9 w 581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1"/>
                <a:gd name="T13" fmla="*/ 0 h 428"/>
                <a:gd name="T14" fmla="*/ 581 w 581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1" h="428">
                  <a:moveTo>
                    <a:pt x="290" y="0"/>
                  </a:moveTo>
                  <a:lnTo>
                    <a:pt x="0" y="428"/>
                  </a:lnTo>
                  <a:lnTo>
                    <a:pt x="581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37" name="Rectangle 357"/>
            <p:cNvSpPr>
              <a:spLocks noChangeArrowheads="1"/>
            </p:cNvSpPr>
            <p:nvPr/>
          </p:nvSpPr>
          <p:spPr bwMode="auto">
            <a:xfrm>
              <a:off x="643" y="323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38" name="Rectangle 358"/>
            <p:cNvSpPr>
              <a:spLocks noChangeArrowheads="1"/>
            </p:cNvSpPr>
            <p:nvPr/>
          </p:nvSpPr>
          <p:spPr bwMode="auto">
            <a:xfrm>
              <a:off x="710" y="329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339" name="Freeform 359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0" name="Freeform 360"/>
            <p:cNvSpPr>
              <a:spLocks/>
            </p:cNvSpPr>
            <p:nvPr/>
          </p:nvSpPr>
          <p:spPr bwMode="auto">
            <a:xfrm>
              <a:off x="909" y="3188"/>
              <a:ext cx="291" cy="215"/>
            </a:xfrm>
            <a:custGeom>
              <a:avLst/>
              <a:gdLst>
                <a:gd name="T0" fmla="*/ 10 w 580"/>
                <a:gd name="T1" fmla="*/ 0 h 429"/>
                <a:gd name="T2" fmla="*/ 0 w 580"/>
                <a:gd name="T3" fmla="*/ 14 h 429"/>
                <a:gd name="T4" fmla="*/ 19 w 580"/>
                <a:gd name="T5" fmla="*/ 14 h 429"/>
                <a:gd name="T6" fmla="*/ 10 w 580"/>
                <a:gd name="T7" fmla="*/ 0 h 4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9"/>
                <a:gd name="T14" fmla="*/ 580 w 580"/>
                <a:gd name="T15" fmla="*/ 429 h 4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9">
                  <a:moveTo>
                    <a:pt x="290" y="0"/>
                  </a:moveTo>
                  <a:lnTo>
                    <a:pt x="0" y="429"/>
                  </a:lnTo>
                  <a:lnTo>
                    <a:pt x="580" y="429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1" name="Rectangle 361"/>
            <p:cNvSpPr>
              <a:spLocks noChangeArrowheads="1"/>
            </p:cNvSpPr>
            <p:nvPr/>
          </p:nvSpPr>
          <p:spPr bwMode="auto">
            <a:xfrm>
              <a:off x="1001" y="3263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42" name="Rectangle 362"/>
            <p:cNvSpPr>
              <a:spLocks noChangeArrowheads="1"/>
            </p:cNvSpPr>
            <p:nvPr/>
          </p:nvSpPr>
          <p:spPr bwMode="auto">
            <a:xfrm>
              <a:off x="1068" y="3321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343" name="Freeform 363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4" name="Freeform 364"/>
            <p:cNvSpPr>
              <a:spLocks/>
            </p:cNvSpPr>
            <p:nvPr/>
          </p:nvSpPr>
          <p:spPr bwMode="auto">
            <a:xfrm>
              <a:off x="1326" y="3193"/>
              <a:ext cx="291" cy="214"/>
            </a:xfrm>
            <a:custGeom>
              <a:avLst/>
              <a:gdLst>
                <a:gd name="T0" fmla="*/ 10 w 580"/>
                <a:gd name="T1" fmla="*/ 0 h 430"/>
                <a:gd name="T2" fmla="*/ 0 w 580"/>
                <a:gd name="T3" fmla="*/ 13 h 430"/>
                <a:gd name="T4" fmla="*/ 19 w 580"/>
                <a:gd name="T5" fmla="*/ 13 h 430"/>
                <a:gd name="T6" fmla="*/ 10 w 580"/>
                <a:gd name="T7" fmla="*/ 0 h 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30"/>
                <a:gd name="T14" fmla="*/ 580 w 580"/>
                <a:gd name="T15" fmla="*/ 430 h 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30">
                  <a:moveTo>
                    <a:pt x="290" y="0"/>
                  </a:moveTo>
                  <a:lnTo>
                    <a:pt x="0" y="430"/>
                  </a:lnTo>
                  <a:lnTo>
                    <a:pt x="580" y="430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5" name="Rectangle 365"/>
            <p:cNvSpPr>
              <a:spLocks noChangeArrowheads="1"/>
            </p:cNvSpPr>
            <p:nvPr/>
          </p:nvSpPr>
          <p:spPr bwMode="auto">
            <a:xfrm>
              <a:off x="1418" y="3268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46" name="Rectangle 366"/>
            <p:cNvSpPr>
              <a:spLocks noChangeArrowheads="1"/>
            </p:cNvSpPr>
            <p:nvPr/>
          </p:nvSpPr>
          <p:spPr bwMode="auto">
            <a:xfrm>
              <a:off x="1485" y="3326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347" name="Line 367"/>
            <p:cNvSpPr>
              <a:spLocks noChangeShapeType="1"/>
            </p:cNvSpPr>
            <p:nvPr/>
          </p:nvSpPr>
          <p:spPr bwMode="auto">
            <a:xfrm flipH="1">
              <a:off x="1053" y="3038"/>
              <a:ext cx="185" cy="14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8" name="Line 368"/>
            <p:cNvSpPr>
              <a:spLocks noChangeShapeType="1"/>
            </p:cNvSpPr>
            <p:nvPr/>
          </p:nvSpPr>
          <p:spPr bwMode="auto">
            <a:xfrm>
              <a:off x="1319" y="3034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49" name="Freeform 369"/>
            <p:cNvSpPr>
              <a:spLocks/>
            </p:cNvSpPr>
            <p:nvPr/>
          </p:nvSpPr>
          <p:spPr bwMode="auto">
            <a:xfrm>
              <a:off x="1586" y="2894"/>
              <a:ext cx="373" cy="83"/>
            </a:xfrm>
            <a:custGeom>
              <a:avLst/>
              <a:gdLst>
                <a:gd name="T0" fmla="*/ 18 w 746"/>
                <a:gd name="T1" fmla="*/ 0 h 166"/>
                <a:gd name="T2" fmla="*/ 18 w 746"/>
                <a:gd name="T3" fmla="*/ 1 h 166"/>
                <a:gd name="T4" fmla="*/ 0 w 746"/>
                <a:gd name="T5" fmla="*/ 1 h 166"/>
                <a:gd name="T6" fmla="*/ 0 w 746"/>
                <a:gd name="T7" fmla="*/ 3 h 166"/>
                <a:gd name="T8" fmla="*/ 18 w 746"/>
                <a:gd name="T9" fmla="*/ 3 h 166"/>
                <a:gd name="T10" fmla="*/ 18 w 746"/>
                <a:gd name="T11" fmla="*/ 5 h 166"/>
                <a:gd name="T12" fmla="*/ 23 w 746"/>
                <a:gd name="T13" fmla="*/ 3 h 166"/>
                <a:gd name="T14" fmla="*/ 18 w 746"/>
                <a:gd name="T15" fmla="*/ 0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46"/>
                <a:gd name="T25" fmla="*/ 0 h 166"/>
                <a:gd name="T26" fmla="*/ 746 w 746"/>
                <a:gd name="T27" fmla="*/ 166 h 1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46" h="166">
                  <a:moveTo>
                    <a:pt x="559" y="0"/>
                  </a:moveTo>
                  <a:lnTo>
                    <a:pt x="559" y="42"/>
                  </a:lnTo>
                  <a:lnTo>
                    <a:pt x="0" y="42"/>
                  </a:lnTo>
                  <a:lnTo>
                    <a:pt x="0" y="125"/>
                  </a:lnTo>
                  <a:lnTo>
                    <a:pt x="559" y="125"/>
                  </a:lnTo>
                  <a:lnTo>
                    <a:pt x="559" y="166"/>
                  </a:lnTo>
                  <a:lnTo>
                    <a:pt x="746" y="83"/>
                  </a:lnTo>
                  <a:lnTo>
                    <a:pt x="559" y="0"/>
                  </a:lnTo>
                  <a:close/>
                </a:path>
              </a:pathLst>
            </a:custGeom>
            <a:solidFill>
              <a:srgbClr val="669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0" name="Freeform 370"/>
            <p:cNvSpPr>
              <a:spLocks/>
            </p:cNvSpPr>
            <p:nvPr/>
          </p:nvSpPr>
          <p:spPr bwMode="auto">
            <a:xfrm>
              <a:off x="1586" y="2894"/>
              <a:ext cx="373" cy="83"/>
            </a:xfrm>
            <a:custGeom>
              <a:avLst/>
              <a:gdLst>
                <a:gd name="T0" fmla="*/ 18 w 746"/>
                <a:gd name="T1" fmla="*/ 0 h 166"/>
                <a:gd name="T2" fmla="*/ 18 w 746"/>
                <a:gd name="T3" fmla="*/ 1 h 166"/>
                <a:gd name="T4" fmla="*/ 0 w 746"/>
                <a:gd name="T5" fmla="*/ 1 h 166"/>
                <a:gd name="T6" fmla="*/ 0 w 746"/>
                <a:gd name="T7" fmla="*/ 3 h 166"/>
                <a:gd name="T8" fmla="*/ 18 w 746"/>
                <a:gd name="T9" fmla="*/ 3 h 166"/>
                <a:gd name="T10" fmla="*/ 18 w 746"/>
                <a:gd name="T11" fmla="*/ 5 h 166"/>
                <a:gd name="T12" fmla="*/ 23 w 746"/>
                <a:gd name="T13" fmla="*/ 3 h 166"/>
                <a:gd name="T14" fmla="*/ 18 w 746"/>
                <a:gd name="T15" fmla="*/ 0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46"/>
                <a:gd name="T25" fmla="*/ 0 h 166"/>
                <a:gd name="T26" fmla="*/ 746 w 746"/>
                <a:gd name="T27" fmla="*/ 166 h 1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46" h="166">
                  <a:moveTo>
                    <a:pt x="559" y="0"/>
                  </a:moveTo>
                  <a:lnTo>
                    <a:pt x="559" y="42"/>
                  </a:lnTo>
                  <a:lnTo>
                    <a:pt x="0" y="42"/>
                  </a:lnTo>
                  <a:lnTo>
                    <a:pt x="0" y="125"/>
                  </a:lnTo>
                  <a:lnTo>
                    <a:pt x="559" y="125"/>
                  </a:lnTo>
                  <a:lnTo>
                    <a:pt x="559" y="166"/>
                  </a:lnTo>
                  <a:lnTo>
                    <a:pt x="746" y="83"/>
                  </a:lnTo>
                  <a:lnTo>
                    <a:pt x="559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1" name="Freeform 371"/>
            <p:cNvSpPr>
              <a:spLocks/>
            </p:cNvSpPr>
            <p:nvPr/>
          </p:nvSpPr>
          <p:spPr bwMode="auto">
            <a:xfrm>
              <a:off x="3118" y="2410"/>
              <a:ext cx="175" cy="171"/>
            </a:xfrm>
            <a:custGeom>
              <a:avLst/>
              <a:gdLst>
                <a:gd name="T0" fmla="*/ 5 w 350"/>
                <a:gd name="T1" fmla="*/ 0 h 341"/>
                <a:gd name="T2" fmla="*/ 5 w 350"/>
                <a:gd name="T3" fmla="*/ 1 h 341"/>
                <a:gd name="T4" fmla="*/ 3 w 350"/>
                <a:gd name="T5" fmla="*/ 1 h 341"/>
                <a:gd name="T6" fmla="*/ 3 w 350"/>
                <a:gd name="T7" fmla="*/ 1 h 341"/>
                <a:gd name="T8" fmla="*/ 2 w 350"/>
                <a:gd name="T9" fmla="*/ 2 h 341"/>
                <a:gd name="T10" fmla="*/ 1 w 350"/>
                <a:gd name="T11" fmla="*/ 2 h 341"/>
                <a:gd name="T12" fmla="*/ 1 w 350"/>
                <a:gd name="T13" fmla="*/ 3 h 341"/>
                <a:gd name="T14" fmla="*/ 1 w 350"/>
                <a:gd name="T15" fmla="*/ 4 h 341"/>
                <a:gd name="T16" fmla="*/ 1 w 350"/>
                <a:gd name="T17" fmla="*/ 5 h 341"/>
                <a:gd name="T18" fmla="*/ 0 w 350"/>
                <a:gd name="T19" fmla="*/ 5 h 341"/>
                <a:gd name="T20" fmla="*/ 0 w 350"/>
                <a:gd name="T21" fmla="*/ 6 h 341"/>
                <a:gd name="T22" fmla="*/ 0 w 350"/>
                <a:gd name="T23" fmla="*/ 6 h 341"/>
                <a:gd name="T24" fmla="*/ 1 w 350"/>
                <a:gd name="T25" fmla="*/ 7 h 341"/>
                <a:gd name="T26" fmla="*/ 1 w 350"/>
                <a:gd name="T27" fmla="*/ 7 h 341"/>
                <a:gd name="T28" fmla="*/ 1 w 350"/>
                <a:gd name="T29" fmla="*/ 8 h 341"/>
                <a:gd name="T30" fmla="*/ 1 w 350"/>
                <a:gd name="T31" fmla="*/ 9 h 341"/>
                <a:gd name="T32" fmla="*/ 2 w 350"/>
                <a:gd name="T33" fmla="*/ 10 h 341"/>
                <a:gd name="T34" fmla="*/ 3 w 350"/>
                <a:gd name="T35" fmla="*/ 10 h 341"/>
                <a:gd name="T36" fmla="*/ 3 w 350"/>
                <a:gd name="T37" fmla="*/ 11 h 341"/>
                <a:gd name="T38" fmla="*/ 5 w 350"/>
                <a:gd name="T39" fmla="*/ 11 h 341"/>
                <a:gd name="T40" fmla="*/ 5 w 350"/>
                <a:gd name="T41" fmla="*/ 11 h 341"/>
                <a:gd name="T42" fmla="*/ 5 w 350"/>
                <a:gd name="T43" fmla="*/ 11 h 341"/>
                <a:gd name="T44" fmla="*/ 6 w 350"/>
                <a:gd name="T45" fmla="*/ 11 h 341"/>
                <a:gd name="T46" fmla="*/ 7 w 350"/>
                <a:gd name="T47" fmla="*/ 11 h 341"/>
                <a:gd name="T48" fmla="*/ 9 w 350"/>
                <a:gd name="T49" fmla="*/ 10 h 341"/>
                <a:gd name="T50" fmla="*/ 9 w 350"/>
                <a:gd name="T51" fmla="*/ 10 h 341"/>
                <a:gd name="T52" fmla="*/ 10 w 350"/>
                <a:gd name="T53" fmla="*/ 9 h 341"/>
                <a:gd name="T54" fmla="*/ 11 w 350"/>
                <a:gd name="T55" fmla="*/ 8 h 341"/>
                <a:gd name="T56" fmla="*/ 11 w 350"/>
                <a:gd name="T57" fmla="*/ 7 h 341"/>
                <a:gd name="T58" fmla="*/ 11 w 350"/>
                <a:gd name="T59" fmla="*/ 7 h 341"/>
                <a:gd name="T60" fmla="*/ 11 w 350"/>
                <a:gd name="T61" fmla="*/ 6 h 341"/>
                <a:gd name="T62" fmla="*/ 11 w 350"/>
                <a:gd name="T63" fmla="*/ 6 h 341"/>
                <a:gd name="T64" fmla="*/ 11 w 350"/>
                <a:gd name="T65" fmla="*/ 5 h 341"/>
                <a:gd name="T66" fmla="*/ 11 w 350"/>
                <a:gd name="T67" fmla="*/ 5 h 341"/>
                <a:gd name="T68" fmla="*/ 11 w 350"/>
                <a:gd name="T69" fmla="*/ 4 h 341"/>
                <a:gd name="T70" fmla="*/ 11 w 350"/>
                <a:gd name="T71" fmla="*/ 3 h 341"/>
                <a:gd name="T72" fmla="*/ 10 w 350"/>
                <a:gd name="T73" fmla="*/ 2 h 341"/>
                <a:gd name="T74" fmla="*/ 9 w 350"/>
                <a:gd name="T75" fmla="*/ 2 h 341"/>
                <a:gd name="T76" fmla="*/ 9 w 350"/>
                <a:gd name="T77" fmla="*/ 1 h 341"/>
                <a:gd name="T78" fmla="*/ 7 w 350"/>
                <a:gd name="T79" fmla="*/ 1 h 341"/>
                <a:gd name="T80" fmla="*/ 6 w 350"/>
                <a:gd name="T81" fmla="*/ 1 h 341"/>
                <a:gd name="T82" fmla="*/ 5 w 350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1"/>
                <a:gd name="T128" fmla="*/ 350 w 350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1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3"/>
                  </a:lnTo>
                  <a:lnTo>
                    <a:pt x="123" y="7"/>
                  </a:lnTo>
                  <a:lnTo>
                    <a:pt x="107" y="13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4" y="38"/>
                  </a:lnTo>
                  <a:lnTo>
                    <a:pt x="52" y="50"/>
                  </a:lnTo>
                  <a:lnTo>
                    <a:pt x="40" y="61"/>
                  </a:lnTo>
                  <a:lnTo>
                    <a:pt x="30" y="75"/>
                  </a:lnTo>
                  <a:lnTo>
                    <a:pt x="20" y="89"/>
                  </a:lnTo>
                  <a:lnTo>
                    <a:pt x="14" y="104"/>
                  </a:lnTo>
                  <a:lnTo>
                    <a:pt x="7" y="119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4"/>
                  </a:lnTo>
                  <a:lnTo>
                    <a:pt x="0" y="152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7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5" y="214"/>
                  </a:lnTo>
                  <a:lnTo>
                    <a:pt x="7" y="220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2"/>
                  </a:lnTo>
                  <a:lnTo>
                    <a:pt x="64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8"/>
                  </a:lnTo>
                  <a:lnTo>
                    <a:pt x="123" y="333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1"/>
                  </a:lnTo>
                  <a:lnTo>
                    <a:pt x="175" y="341"/>
                  </a:lnTo>
                  <a:lnTo>
                    <a:pt x="185" y="341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3"/>
                  </a:lnTo>
                  <a:lnTo>
                    <a:pt x="243" y="328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8"/>
                  </a:lnTo>
                  <a:lnTo>
                    <a:pt x="321" y="265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0"/>
                  </a:lnTo>
                  <a:lnTo>
                    <a:pt x="345" y="214"/>
                  </a:lnTo>
                  <a:lnTo>
                    <a:pt x="347" y="206"/>
                  </a:lnTo>
                  <a:lnTo>
                    <a:pt x="349" y="196"/>
                  </a:lnTo>
                  <a:lnTo>
                    <a:pt x="349" y="187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2"/>
                  </a:lnTo>
                  <a:lnTo>
                    <a:pt x="349" y="144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19"/>
                  </a:lnTo>
                  <a:lnTo>
                    <a:pt x="337" y="104"/>
                  </a:lnTo>
                  <a:lnTo>
                    <a:pt x="329" y="89"/>
                  </a:lnTo>
                  <a:lnTo>
                    <a:pt x="321" y="75"/>
                  </a:lnTo>
                  <a:lnTo>
                    <a:pt x="311" y="61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3"/>
                  </a:lnTo>
                  <a:lnTo>
                    <a:pt x="228" y="7"/>
                  </a:lnTo>
                  <a:lnTo>
                    <a:pt x="211" y="3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2" name="Rectangle 372"/>
            <p:cNvSpPr>
              <a:spLocks noChangeArrowheads="1"/>
            </p:cNvSpPr>
            <p:nvPr/>
          </p:nvSpPr>
          <p:spPr bwMode="auto">
            <a:xfrm>
              <a:off x="3153" y="2414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53" name="Rectangle 373"/>
            <p:cNvSpPr>
              <a:spLocks noChangeArrowheads="1"/>
            </p:cNvSpPr>
            <p:nvPr/>
          </p:nvSpPr>
          <p:spPr bwMode="auto">
            <a:xfrm>
              <a:off x="3213" y="2478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354" name="Freeform 374"/>
            <p:cNvSpPr>
              <a:spLocks/>
            </p:cNvSpPr>
            <p:nvPr/>
          </p:nvSpPr>
          <p:spPr bwMode="auto">
            <a:xfrm>
              <a:off x="2662" y="2700"/>
              <a:ext cx="175" cy="171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1 h 342"/>
                <a:gd name="T4" fmla="*/ 3 w 350"/>
                <a:gd name="T5" fmla="*/ 1 h 342"/>
                <a:gd name="T6" fmla="*/ 3 w 350"/>
                <a:gd name="T7" fmla="*/ 1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3 h 342"/>
                <a:gd name="T14" fmla="*/ 1 w 350"/>
                <a:gd name="T15" fmla="*/ 3 h 342"/>
                <a:gd name="T16" fmla="*/ 1 w 350"/>
                <a:gd name="T17" fmla="*/ 5 h 342"/>
                <a:gd name="T18" fmla="*/ 0 w 350"/>
                <a:gd name="T19" fmla="*/ 5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9 h 342"/>
                <a:gd name="T32" fmla="*/ 1 w 350"/>
                <a:gd name="T33" fmla="*/ 10 h 342"/>
                <a:gd name="T34" fmla="*/ 3 w 350"/>
                <a:gd name="T35" fmla="*/ 10 h 342"/>
                <a:gd name="T36" fmla="*/ 3 w 350"/>
                <a:gd name="T37" fmla="*/ 11 h 342"/>
                <a:gd name="T38" fmla="*/ 5 w 350"/>
                <a:gd name="T39" fmla="*/ 11 h 342"/>
                <a:gd name="T40" fmla="*/ 5 w 350"/>
                <a:gd name="T41" fmla="*/ 11 h 342"/>
                <a:gd name="T42" fmla="*/ 5 w 350"/>
                <a:gd name="T43" fmla="*/ 11 h 342"/>
                <a:gd name="T44" fmla="*/ 6 w 350"/>
                <a:gd name="T45" fmla="*/ 11 h 342"/>
                <a:gd name="T46" fmla="*/ 7 w 350"/>
                <a:gd name="T47" fmla="*/ 11 h 342"/>
                <a:gd name="T48" fmla="*/ 9 w 350"/>
                <a:gd name="T49" fmla="*/ 10 h 342"/>
                <a:gd name="T50" fmla="*/ 9 w 350"/>
                <a:gd name="T51" fmla="*/ 10 h 342"/>
                <a:gd name="T52" fmla="*/ 10 w 350"/>
                <a:gd name="T53" fmla="*/ 9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5 h 342"/>
                <a:gd name="T66" fmla="*/ 11 w 350"/>
                <a:gd name="T67" fmla="*/ 5 h 342"/>
                <a:gd name="T68" fmla="*/ 11 w 350"/>
                <a:gd name="T69" fmla="*/ 3 h 342"/>
                <a:gd name="T70" fmla="*/ 11 w 350"/>
                <a:gd name="T71" fmla="*/ 3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1 h 342"/>
                <a:gd name="T78" fmla="*/ 7 w 350"/>
                <a:gd name="T79" fmla="*/ 1 h 342"/>
                <a:gd name="T80" fmla="*/ 6 w 350"/>
                <a:gd name="T81" fmla="*/ 1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4"/>
                  </a:lnTo>
                  <a:lnTo>
                    <a:pt x="123" y="7"/>
                  </a:lnTo>
                  <a:lnTo>
                    <a:pt x="107" y="14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3" y="38"/>
                  </a:lnTo>
                  <a:lnTo>
                    <a:pt x="52" y="50"/>
                  </a:lnTo>
                  <a:lnTo>
                    <a:pt x="40" y="62"/>
                  </a:lnTo>
                  <a:lnTo>
                    <a:pt x="30" y="75"/>
                  </a:lnTo>
                  <a:lnTo>
                    <a:pt x="20" y="90"/>
                  </a:lnTo>
                  <a:lnTo>
                    <a:pt x="14" y="105"/>
                  </a:lnTo>
                  <a:lnTo>
                    <a:pt x="7" y="120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5"/>
                  </a:lnTo>
                  <a:lnTo>
                    <a:pt x="0" y="153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8"/>
                  </a:lnTo>
                  <a:lnTo>
                    <a:pt x="2" y="196"/>
                  </a:lnTo>
                  <a:lnTo>
                    <a:pt x="4" y="204"/>
                  </a:lnTo>
                  <a:lnTo>
                    <a:pt x="5" y="212"/>
                  </a:lnTo>
                  <a:lnTo>
                    <a:pt x="7" y="221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6"/>
                  </a:lnTo>
                  <a:lnTo>
                    <a:pt x="40" y="279"/>
                  </a:lnTo>
                  <a:lnTo>
                    <a:pt x="52" y="292"/>
                  </a:lnTo>
                  <a:lnTo>
                    <a:pt x="63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9"/>
                  </a:lnTo>
                  <a:lnTo>
                    <a:pt x="123" y="334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2"/>
                  </a:lnTo>
                  <a:lnTo>
                    <a:pt x="175" y="342"/>
                  </a:lnTo>
                  <a:lnTo>
                    <a:pt x="185" y="342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4"/>
                  </a:lnTo>
                  <a:lnTo>
                    <a:pt x="243" y="329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9"/>
                  </a:lnTo>
                  <a:lnTo>
                    <a:pt x="320" y="266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1"/>
                  </a:lnTo>
                  <a:lnTo>
                    <a:pt x="345" y="212"/>
                  </a:lnTo>
                  <a:lnTo>
                    <a:pt x="347" y="204"/>
                  </a:lnTo>
                  <a:lnTo>
                    <a:pt x="349" y="196"/>
                  </a:lnTo>
                  <a:lnTo>
                    <a:pt x="349" y="188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3"/>
                  </a:lnTo>
                  <a:lnTo>
                    <a:pt x="349" y="145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20"/>
                  </a:lnTo>
                  <a:lnTo>
                    <a:pt x="337" y="105"/>
                  </a:lnTo>
                  <a:lnTo>
                    <a:pt x="329" y="90"/>
                  </a:lnTo>
                  <a:lnTo>
                    <a:pt x="320" y="75"/>
                  </a:lnTo>
                  <a:lnTo>
                    <a:pt x="311" y="62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4"/>
                  </a:lnTo>
                  <a:lnTo>
                    <a:pt x="228" y="7"/>
                  </a:lnTo>
                  <a:lnTo>
                    <a:pt x="211" y="4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5" name="Rectangle 375"/>
            <p:cNvSpPr>
              <a:spLocks noChangeArrowheads="1"/>
            </p:cNvSpPr>
            <p:nvPr/>
          </p:nvSpPr>
          <p:spPr bwMode="auto">
            <a:xfrm>
              <a:off x="2724" y="2704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356" name="Line 376"/>
            <p:cNvSpPr>
              <a:spLocks noChangeShapeType="1"/>
            </p:cNvSpPr>
            <p:nvPr/>
          </p:nvSpPr>
          <p:spPr bwMode="auto">
            <a:xfrm>
              <a:off x="2829" y="2842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7" name="Freeform 377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8" name="Freeform 378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59" name="Rectangle 379"/>
            <p:cNvSpPr>
              <a:spLocks noChangeArrowheads="1"/>
            </p:cNvSpPr>
            <p:nvPr/>
          </p:nvSpPr>
          <p:spPr bwMode="auto">
            <a:xfrm>
              <a:off x="2934" y="3086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60" name="Rectangle 380"/>
            <p:cNvSpPr>
              <a:spLocks noChangeArrowheads="1"/>
            </p:cNvSpPr>
            <p:nvPr/>
          </p:nvSpPr>
          <p:spPr bwMode="auto">
            <a:xfrm>
              <a:off x="3001" y="3145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361" name="Freeform 381"/>
            <p:cNvSpPr>
              <a:spLocks/>
            </p:cNvSpPr>
            <p:nvPr/>
          </p:nvSpPr>
          <p:spPr bwMode="auto">
            <a:xfrm>
              <a:off x="2315" y="2940"/>
              <a:ext cx="175" cy="170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0 h 342"/>
                <a:gd name="T4" fmla="*/ 3 w 350"/>
                <a:gd name="T5" fmla="*/ 0 h 342"/>
                <a:gd name="T6" fmla="*/ 3 w 350"/>
                <a:gd name="T7" fmla="*/ 0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2 h 342"/>
                <a:gd name="T14" fmla="*/ 1 w 350"/>
                <a:gd name="T15" fmla="*/ 3 h 342"/>
                <a:gd name="T16" fmla="*/ 1 w 350"/>
                <a:gd name="T17" fmla="*/ 4 h 342"/>
                <a:gd name="T18" fmla="*/ 0 w 350"/>
                <a:gd name="T19" fmla="*/ 4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8 h 342"/>
                <a:gd name="T32" fmla="*/ 1 w 350"/>
                <a:gd name="T33" fmla="*/ 9 h 342"/>
                <a:gd name="T34" fmla="*/ 3 w 350"/>
                <a:gd name="T35" fmla="*/ 10 h 342"/>
                <a:gd name="T36" fmla="*/ 3 w 350"/>
                <a:gd name="T37" fmla="*/ 10 h 342"/>
                <a:gd name="T38" fmla="*/ 5 w 350"/>
                <a:gd name="T39" fmla="*/ 10 h 342"/>
                <a:gd name="T40" fmla="*/ 5 w 350"/>
                <a:gd name="T41" fmla="*/ 10 h 342"/>
                <a:gd name="T42" fmla="*/ 5 w 350"/>
                <a:gd name="T43" fmla="*/ 10 h 342"/>
                <a:gd name="T44" fmla="*/ 6 w 350"/>
                <a:gd name="T45" fmla="*/ 10 h 342"/>
                <a:gd name="T46" fmla="*/ 7 w 350"/>
                <a:gd name="T47" fmla="*/ 10 h 342"/>
                <a:gd name="T48" fmla="*/ 9 w 350"/>
                <a:gd name="T49" fmla="*/ 10 h 342"/>
                <a:gd name="T50" fmla="*/ 9 w 350"/>
                <a:gd name="T51" fmla="*/ 9 h 342"/>
                <a:gd name="T52" fmla="*/ 10 w 350"/>
                <a:gd name="T53" fmla="*/ 8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4 h 342"/>
                <a:gd name="T66" fmla="*/ 11 w 350"/>
                <a:gd name="T67" fmla="*/ 4 h 342"/>
                <a:gd name="T68" fmla="*/ 11 w 350"/>
                <a:gd name="T69" fmla="*/ 3 h 342"/>
                <a:gd name="T70" fmla="*/ 11 w 350"/>
                <a:gd name="T71" fmla="*/ 2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0 h 342"/>
                <a:gd name="T78" fmla="*/ 7 w 350"/>
                <a:gd name="T79" fmla="*/ 0 h 342"/>
                <a:gd name="T80" fmla="*/ 6 w 350"/>
                <a:gd name="T81" fmla="*/ 0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5" y="0"/>
                  </a:lnTo>
                  <a:lnTo>
                    <a:pt x="157" y="2"/>
                  </a:lnTo>
                  <a:lnTo>
                    <a:pt x="147" y="2"/>
                  </a:lnTo>
                  <a:lnTo>
                    <a:pt x="139" y="4"/>
                  </a:lnTo>
                  <a:lnTo>
                    <a:pt x="122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6" y="30"/>
                  </a:lnTo>
                  <a:lnTo>
                    <a:pt x="63" y="40"/>
                  </a:lnTo>
                  <a:lnTo>
                    <a:pt x="51" y="50"/>
                  </a:lnTo>
                  <a:lnTo>
                    <a:pt x="39" y="63"/>
                  </a:lnTo>
                  <a:lnTo>
                    <a:pt x="29" y="77"/>
                  </a:lnTo>
                  <a:lnTo>
                    <a:pt x="21" y="90"/>
                  </a:lnTo>
                  <a:lnTo>
                    <a:pt x="13" y="105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1" y="146"/>
                  </a:lnTo>
                  <a:lnTo>
                    <a:pt x="0" y="155"/>
                  </a:lnTo>
                  <a:lnTo>
                    <a:pt x="0" y="163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1" y="198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3"/>
                  </a:lnTo>
                  <a:lnTo>
                    <a:pt x="13" y="238"/>
                  </a:lnTo>
                  <a:lnTo>
                    <a:pt x="21" y="252"/>
                  </a:lnTo>
                  <a:lnTo>
                    <a:pt x="29" y="267"/>
                  </a:lnTo>
                  <a:lnTo>
                    <a:pt x="39" y="281"/>
                  </a:lnTo>
                  <a:lnTo>
                    <a:pt x="51" y="292"/>
                  </a:lnTo>
                  <a:lnTo>
                    <a:pt x="63" y="304"/>
                  </a:lnTo>
                  <a:lnTo>
                    <a:pt x="76" y="314"/>
                  </a:lnTo>
                  <a:lnTo>
                    <a:pt x="91" y="322"/>
                  </a:lnTo>
                  <a:lnTo>
                    <a:pt x="106" y="329"/>
                  </a:lnTo>
                  <a:lnTo>
                    <a:pt x="122" y="335"/>
                  </a:lnTo>
                  <a:lnTo>
                    <a:pt x="139" y="339"/>
                  </a:lnTo>
                  <a:lnTo>
                    <a:pt x="147" y="340"/>
                  </a:lnTo>
                  <a:lnTo>
                    <a:pt x="157" y="342"/>
                  </a:lnTo>
                  <a:lnTo>
                    <a:pt x="165" y="342"/>
                  </a:lnTo>
                  <a:lnTo>
                    <a:pt x="175" y="342"/>
                  </a:lnTo>
                  <a:lnTo>
                    <a:pt x="184" y="342"/>
                  </a:lnTo>
                  <a:lnTo>
                    <a:pt x="192" y="342"/>
                  </a:lnTo>
                  <a:lnTo>
                    <a:pt x="202" y="340"/>
                  </a:lnTo>
                  <a:lnTo>
                    <a:pt x="210" y="339"/>
                  </a:lnTo>
                  <a:lnTo>
                    <a:pt x="227" y="335"/>
                  </a:lnTo>
                  <a:lnTo>
                    <a:pt x="243" y="329"/>
                  </a:lnTo>
                  <a:lnTo>
                    <a:pt x="258" y="322"/>
                  </a:lnTo>
                  <a:lnTo>
                    <a:pt x="273" y="314"/>
                  </a:lnTo>
                  <a:lnTo>
                    <a:pt x="287" y="304"/>
                  </a:lnTo>
                  <a:lnTo>
                    <a:pt x="298" y="292"/>
                  </a:lnTo>
                  <a:lnTo>
                    <a:pt x="310" y="281"/>
                  </a:lnTo>
                  <a:lnTo>
                    <a:pt x="320" y="267"/>
                  </a:lnTo>
                  <a:lnTo>
                    <a:pt x="328" y="252"/>
                  </a:lnTo>
                  <a:lnTo>
                    <a:pt x="336" y="238"/>
                  </a:lnTo>
                  <a:lnTo>
                    <a:pt x="343" y="223"/>
                  </a:lnTo>
                  <a:lnTo>
                    <a:pt x="345" y="214"/>
                  </a:lnTo>
                  <a:lnTo>
                    <a:pt x="346" y="206"/>
                  </a:lnTo>
                  <a:lnTo>
                    <a:pt x="348" y="198"/>
                  </a:lnTo>
                  <a:lnTo>
                    <a:pt x="350" y="189"/>
                  </a:lnTo>
                  <a:lnTo>
                    <a:pt x="350" y="181"/>
                  </a:lnTo>
                  <a:lnTo>
                    <a:pt x="350" y="171"/>
                  </a:lnTo>
                  <a:lnTo>
                    <a:pt x="350" y="163"/>
                  </a:lnTo>
                  <a:lnTo>
                    <a:pt x="350" y="155"/>
                  </a:lnTo>
                  <a:lnTo>
                    <a:pt x="348" y="146"/>
                  </a:lnTo>
                  <a:lnTo>
                    <a:pt x="346" y="136"/>
                  </a:lnTo>
                  <a:lnTo>
                    <a:pt x="345" y="128"/>
                  </a:lnTo>
                  <a:lnTo>
                    <a:pt x="343" y="121"/>
                  </a:lnTo>
                  <a:lnTo>
                    <a:pt x="336" y="105"/>
                  </a:lnTo>
                  <a:lnTo>
                    <a:pt x="330" y="90"/>
                  </a:lnTo>
                  <a:lnTo>
                    <a:pt x="320" y="77"/>
                  </a:lnTo>
                  <a:lnTo>
                    <a:pt x="310" y="63"/>
                  </a:lnTo>
                  <a:lnTo>
                    <a:pt x="298" y="50"/>
                  </a:lnTo>
                  <a:lnTo>
                    <a:pt x="287" y="40"/>
                  </a:lnTo>
                  <a:lnTo>
                    <a:pt x="273" y="30"/>
                  </a:lnTo>
                  <a:lnTo>
                    <a:pt x="258" y="22"/>
                  </a:lnTo>
                  <a:lnTo>
                    <a:pt x="243" y="14"/>
                  </a:lnTo>
                  <a:lnTo>
                    <a:pt x="227" y="9"/>
                  </a:lnTo>
                  <a:lnTo>
                    <a:pt x="210" y="4"/>
                  </a:lnTo>
                  <a:lnTo>
                    <a:pt x="202" y="2"/>
                  </a:lnTo>
                  <a:lnTo>
                    <a:pt x="192" y="2"/>
                  </a:lnTo>
                  <a:lnTo>
                    <a:pt x="184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62" name="Rectangle 382"/>
            <p:cNvSpPr>
              <a:spLocks noChangeArrowheads="1"/>
            </p:cNvSpPr>
            <p:nvPr/>
          </p:nvSpPr>
          <p:spPr bwMode="auto">
            <a:xfrm>
              <a:off x="2355" y="2945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63" name="Rectangle 383"/>
            <p:cNvSpPr>
              <a:spLocks noChangeArrowheads="1"/>
            </p:cNvSpPr>
            <p:nvPr/>
          </p:nvSpPr>
          <p:spPr bwMode="auto">
            <a:xfrm>
              <a:off x="2415" y="3008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364" name="Freeform 384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65" name="Freeform 385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66" name="Rectangle 386"/>
            <p:cNvSpPr>
              <a:spLocks noChangeArrowheads="1"/>
            </p:cNvSpPr>
            <p:nvPr/>
          </p:nvSpPr>
          <p:spPr bwMode="auto">
            <a:xfrm>
              <a:off x="2006" y="3314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67" name="Rectangle 387"/>
            <p:cNvSpPr>
              <a:spLocks noChangeArrowheads="1"/>
            </p:cNvSpPr>
            <p:nvPr/>
          </p:nvSpPr>
          <p:spPr bwMode="auto">
            <a:xfrm>
              <a:off x="2074" y="3372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368" name="Line 388"/>
            <p:cNvSpPr>
              <a:spLocks noChangeShapeType="1"/>
            </p:cNvSpPr>
            <p:nvPr/>
          </p:nvSpPr>
          <p:spPr bwMode="auto">
            <a:xfrm flipV="1">
              <a:off x="2062" y="3057"/>
              <a:ext cx="261" cy="17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69" name="Line 389"/>
            <p:cNvSpPr>
              <a:spLocks noChangeShapeType="1"/>
            </p:cNvSpPr>
            <p:nvPr/>
          </p:nvSpPr>
          <p:spPr bwMode="auto">
            <a:xfrm flipV="1">
              <a:off x="2475" y="2829"/>
              <a:ext cx="196" cy="13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0" name="Line 390"/>
            <p:cNvSpPr>
              <a:spLocks noChangeShapeType="1"/>
            </p:cNvSpPr>
            <p:nvPr/>
          </p:nvSpPr>
          <p:spPr bwMode="auto">
            <a:xfrm flipV="1">
              <a:off x="2821" y="2521"/>
              <a:ext cx="314" cy="20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1" name="Line 391"/>
            <p:cNvSpPr>
              <a:spLocks noChangeShapeType="1"/>
            </p:cNvSpPr>
            <p:nvPr/>
          </p:nvSpPr>
          <p:spPr bwMode="auto">
            <a:xfrm>
              <a:off x="2459" y="3101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2" name="Freeform 392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3" name="Freeform 393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4" name="Rectangle 394"/>
            <p:cNvSpPr>
              <a:spLocks noChangeArrowheads="1"/>
            </p:cNvSpPr>
            <p:nvPr/>
          </p:nvSpPr>
          <p:spPr bwMode="auto">
            <a:xfrm>
              <a:off x="2560" y="3341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75" name="Rectangle 395"/>
            <p:cNvSpPr>
              <a:spLocks noChangeArrowheads="1"/>
            </p:cNvSpPr>
            <p:nvPr/>
          </p:nvSpPr>
          <p:spPr bwMode="auto">
            <a:xfrm>
              <a:off x="2627" y="3399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376" name="Line 396"/>
            <p:cNvSpPr>
              <a:spLocks noChangeShapeType="1"/>
            </p:cNvSpPr>
            <p:nvPr/>
          </p:nvSpPr>
          <p:spPr bwMode="auto">
            <a:xfrm>
              <a:off x="3277" y="2553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7" name="Freeform 397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8" name="Freeform 398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79" name="Rectangle 399"/>
            <p:cNvSpPr>
              <a:spLocks noChangeArrowheads="1"/>
            </p:cNvSpPr>
            <p:nvPr/>
          </p:nvSpPr>
          <p:spPr bwMode="auto">
            <a:xfrm>
              <a:off x="3380" y="279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80" name="Rectangle 400"/>
            <p:cNvSpPr>
              <a:spLocks noChangeArrowheads="1"/>
            </p:cNvSpPr>
            <p:nvPr/>
          </p:nvSpPr>
          <p:spPr bwMode="auto">
            <a:xfrm>
              <a:off x="3447" y="285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  <p:sp>
          <p:nvSpPr>
            <p:cNvPr id="9381" name="Freeform 401"/>
            <p:cNvSpPr>
              <a:spLocks/>
            </p:cNvSpPr>
            <p:nvPr/>
          </p:nvSpPr>
          <p:spPr bwMode="auto">
            <a:xfrm>
              <a:off x="3118" y="2410"/>
              <a:ext cx="175" cy="171"/>
            </a:xfrm>
            <a:custGeom>
              <a:avLst/>
              <a:gdLst>
                <a:gd name="T0" fmla="*/ 5 w 350"/>
                <a:gd name="T1" fmla="*/ 0 h 341"/>
                <a:gd name="T2" fmla="*/ 5 w 350"/>
                <a:gd name="T3" fmla="*/ 1 h 341"/>
                <a:gd name="T4" fmla="*/ 3 w 350"/>
                <a:gd name="T5" fmla="*/ 1 h 341"/>
                <a:gd name="T6" fmla="*/ 3 w 350"/>
                <a:gd name="T7" fmla="*/ 1 h 341"/>
                <a:gd name="T8" fmla="*/ 2 w 350"/>
                <a:gd name="T9" fmla="*/ 2 h 341"/>
                <a:gd name="T10" fmla="*/ 1 w 350"/>
                <a:gd name="T11" fmla="*/ 2 h 341"/>
                <a:gd name="T12" fmla="*/ 1 w 350"/>
                <a:gd name="T13" fmla="*/ 3 h 341"/>
                <a:gd name="T14" fmla="*/ 1 w 350"/>
                <a:gd name="T15" fmla="*/ 4 h 341"/>
                <a:gd name="T16" fmla="*/ 1 w 350"/>
                <a:gd name="T17" fmla="*/ 5 h 341"/>
                <a:gd name="T18" fmla="*/ 0 w 350"/>
                <a:gd name="T19" fmla="*/ 5 h 341"/>
                <a:gd name="T20" fmla="*/ 0 w 350"/>
                <a:gd name="T21" fmla="*/ 6 h 341"/>
                <a:gd name="T22" fmla="*/ 0 w 350"/>
                <a:gd name="T23" fmla="*/ 6 h 341"/>
                <a:gd name="T24" fmla="*/ 1 w 350"/>
                <a:gd name="T25" fmla="*/ 7 h 341"/>
                <a:gd name="T26" fmla="*/ 1 w 350"/>
                <a:gd name="T27" fmla="*/ 7 h 341"/>
                <a:gd name="T28" fmla="*/ 1 w 350"/>
                <a:gd name="T29" fmla="*/ 8 h 341"/>
                <a:gd name="T30" fmla="*/ 1 w 350"/>
                <a:gd name="T31" fmla="*/ 9 h 341"/>
                <a:gd name="T32" fmla="*/ 2 w 350"/>
                <a:gd name="T33" fmla="*/ 10 h 341"/>
                <a:gd name="T34" fmla="*/ 3 w 350"/>
                <a:gd name="T35" fmla="*/ 10 h 341"/>
                <a:gd name="T36" fmla="*/ 3 w 350"/>
                <a:gd name="T37" fmla="*/ 11 h 341"/>
                <a:gd name="T38" fmla="*/ 5 w 350"/>
                <a:gd name="T39" fmla="*/ 11 h 341"/>
                <a:gd name="T40" fmla="*/ 5 w 350"/>
                <a:gd name="T41" fmla="*/ 11 h 341"/>
                <a:gd name="T42" fmla="*/ 5 w 350"/>
                <a:gd name="T43" fmla="*/ 11 h 341"/>
                <a:gd name="T44" fmla="*/ 6 w 350"/>
                <a:gd name="T45" fmla="*/ 11 h 341"/>
                <a:gd name="T46" fmla="*/ 7 w 350"/>
                <a:gd name="T47" fmla="*/ 11 h 341"/>
                <a:gd name="T48" fmla="*/ 9 w 350"/>
                <a:gd name="T49" fmla="*/ 10 h 341"/>
                <a:gd name="T50" fmla="*/ 9 w 350"/>
                <a:gd name="T51" fmla="*/ 10 h 341"/>
                <a:gd name="T52" fmla="*/ 10 w 350"/>
                <a:gd name="T53" fmla="*/ 9 h 341"/>
                <a:gd name="T54" fmla="*/ 11 w 350"/>
                <a:gd name="T55" fmla="*/ 8 h 341"/>
                <a:gd name="T56" fmla="*/ 11 w 350"/>
                <a:gd name="T57" fmla="*/ 7 h 341"/>
                <a:gd name="T58" fmla="*/ 11 w 350"/>
                <a:gd name="T59" fmla="*/ 7 h 341"/>
                <a:gd name="T60" fmla="*/ 11 w 350"/>
                <a:gd name="T61" fmla="*/ 6 h 341"/>
                <a:gd name="T62" fmla="*/ 11 w 350"/>
                <a:gd name="T63" fmla="*/ 6 h 341"/>
                <a:gd name="T64" fmla="*/ 11 w 350"/>
                <a:gd name="T65" fmla="*/ 5 h 341"/>
                <a:gd name="T66" fmla="*/ 11 w 350"/>
                <a:gd name="T67" fmla="*/ 5 h 341"/>
                <a:gd name="T68" fmla="*/ 11 w 350"/>
                <a:gd name="T69" fmla="*/ 4 h 341"/>
                <a:gd name="T70" fmla="*/ 11 w 350"/>
                <a:gd name="T71" fmla="*/ 3 h 341"/>
                <a:gd name="T72" fmla="*/ 10 w 350"/>
                <a:gd name="T73" fmla="*/ 2 h 341"/>
                <a:gd name="T74" fmla="*/ 9 w 350"/>
                <a:gd name="T75" fmla="*/ 2 h 341"/>
                <a:gd name="T76" fmla="*/ 9 w 350"/>
                <a:gd name="T77" fmla="*/ 1 h 341"/>
                <a:gd name="T78" fmla="*/ 7 w 350"/>
                <a:gd name="T79" fmla="*/ 1 h 341"/>
                <a:gd name="T80" fmla="*/ 6 w 350"/>
                <a:gd name="T81" fmla="*/ 1 h 341"/>
                <a:gd name="T82" fmla="*/ 5 w 350"/>
                <a:gd name="T83" fmla="*/ 0 h 34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1"/>
                <a:gd name="T128" fmla="*/ 350 w 350"/>
                <a:gd name="T129" fmla="*/ 341 h 341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1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3"/>
                  </a:lnTo>
                  <a:lnTo>
                    <a:pt x="123" y="7"/>
                  </a:lnTo>
                  <a:lnTo>
                    <a:pt x="107" y="13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4" y="38"/>
                  </a:lnTo>
                  <a:lnTo>
                    <a:pt x="52" y="50"/>
                  </a:lnTo>
                  <a:lnTo>
                    <a:pt x="40" y="61"/>
                  </a:lnTo>
                  <a:lnTo>
                    <a:pt x="30" y="75"/>
                  </a:lnTo>
                  <a:lnTo>
                    <a:pt x="20" y="89"/>
                  </a:lnTo>
                  <a:lnTo>
                    <a:pt x="14" y="104"/>
                  </a:lnTo>
                  <a:lnTo>
                    <a:pt x="7" y="119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4"/>
                  </a:lnTo>
                  <a:lnTo>
                    <a:pt x="0" y="152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7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5" y="214"/>
                  </a:lnTo>
                  <a:lnTo>
                    <a:pt x="7" y="220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5"/>
                  </a:lnTo>
                  <a:lnTo>
                    <a:pt x="40" y="278"/>
                  </a:lnTo>
                  <a:lnTo>
                    <a:pt x="52" y="292"/>
                  </a:lnTo>
                  <a:lnTo>
                    <a:pt x="64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8"/>
                  </a:lnTo>
                  <a:lnTo>
                    <a:pt x="123" y="333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1"/>
                  </a:lnTo>
                  <a:lnTo>
                    <a:pt x="175" y="341"/>
                  </a:lnTo>
                  <a:lnTo>
                    <a:pt x="185" y="341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3"/>
                  </a:lnTo>
                  <a:lnTo>
                    <a:pt x="243" y="328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8"/>
                  </a:lnTo>
                  <a:lnTo>
                    <a:pt x="321" y="265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0"/>
                  </a:lnTo>
                  <a:lnTo>
                    <a:pt x="345" y="214"/>
                  </a:lnTo>
                  <a:lnTo>
                    <a:pt x="347" y="206"/>
                  </a:lnTo>
                  <a:lnTo>
                    <a:pt x="349" y="196"/>
                  </a:lnTo>
                  <a:lnTo>
                    <a:pt x="349" y="187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2"/>
                  </a:lnTo>
                  <a:lnTo>
                    <a:pt x="349" y="144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19"/>
                  </a:lnTo>
                  <a:lnTo>
                    <a:pt x="337" y="104"/>
                  </a:lnTo>
                  <a:lnTo>
                    <a:pt x="329" y="89"/>
                  </a:lnTo>
                  <a:lnTo>
                    <a:pt x="321" y="75"/>
                  </a:lnTo>
                  <a:lnTo>
                    <a:pt x="311" y="61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3"/>
                  </a:lnTo>
                  <a:lnTo>
                    <a:pt x="228" y="7"/>
                  </a:lnTo>
                  <a:lnTo>
                    <a:pt x="211" y="3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82" name="Rectangle 402"/>
            <p:cNvSpPr>
              <a:spLocks noChangeArrowheads="1"/>
            </p:cNvSpPr>
            <p:nvPr/>
          </p:nvSpPr>
          <p:spPr bwMode="auto">
            <a:xfrm>
              <a:off x="3153" y="2414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83" name="Rectangle 403"/>
            <p:cNvSpPr>
              <a:spLocks noChangeArrowheads="1"/>
            </p:cNvSpPr>
            <p:nvPr/>
          </p:nvSpPr>
          <p:spPr bwMode="auto">
            <a:xfrm>
              <a:off x="3213" y="2478"/>
              <a:ext cx="8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2</a:t>
              </a:r>
              <a:endParaRPr lang="en-GB" altLang="en-US"/>
            </a:p>
          </p:txBody>
        </p:sp>
        <p:sp>
          <p:nvSpPr>
            <p:cNvPr id="9384" name="Freeform 404"/>
            <p:cNvSpPr>
              <a:spLocks/>
            </p:cNvSpPr>
            <p:nvPr/>
          </p:nvSpPr>
          <p:spPr bwMode="auto">
            <a:xfrm>
              <a:off x="2662" y="2700"/>
              <a:ext cx="175" cy="171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1 h 342"/>
                <a:gd name="T4" fmla="*/ 3 w 350"/>
                <a:gd name="T5" fmla="*/ 1 h 342"/>
                <a:gd name="T6" fmla="*/ 3 w 350"/>
                <a:gd name="T7" fmla="*/ 1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3 h 342"/>
                <a:gd name="T14" fmla="*/ 1 w 350"/>
                <a:gd name="T15" fmla="*/ 3 h 342"/>
                <a:gd name="T16" fmla="*/ 1 w 350"/>
                <a:gd name="T17" fmla="*/ 5 h 342"/>
                <a:gd name="T18" fmla="*/ 0 w 350"/>
                <a:gd name="T19" fmla="*/ 5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9 h 342"/>
                <a:gd name="T32" fmla="*/ 1 w 350"/>
                <a:gd name="T33" fmla="*/ 10 h 342"/>
                <a:gd name="T34" fmla="*/ 3 w 350"/>
                <a:gd name="T35" fmla="*/ 10 h 342"/>
                <a:gd name="T36" fmla="*/ 3 w 350"/>
                <a:gd name="T37" fmla="*/ 11 h 342"/>
                <a:gd name="T38" fmla="*/ 5 w 350"/>
                <a:gd name="T39" fmla="*/ 11 h 342"/>
                <a:gd name="T40" fmla="*/ 5 w 350"/>
                <a:gd name="T41" fmla="*/ 11 h 342"/>
                <a:gd name="T42" fmla="*/ 5 w 350"/>
                <a:gd name="T43" fmla="*/ 11 h 342"/>
                <a:gd name="T44" fmla="*/ 6 w 350"/>
                <a:gd name="T45" fmla="*/ 11 h 342"/>
                <a:gd name="T46" fmla="*/ 7 w 350"/>
                <a:gd name="T47" fmla="*/ 11 h 342"/>
                <a:gd name="T48" fmla="*/ 9 w 350"/>
                <a:gd name="T49" fmla="*/ 10 h 342"/>
                <a:gd name="T50" fmla="*/ 9 w 350"/>
                <a:gd name="T51" fmla="*/ 10 h 342"/>
                <a:gd name="T52" fmla="*/ 10 w 350"/>
                <a:gd name="T53" fmla="*/ 9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5 h 342"/>
                <a:gd name="T66" fmla="*/ 11 w 350"/>
                <a:gd name="T67" fmla="*/ 5 h 342"/>
                <a:gd name="T68" fmla="*/ 11 w 350"/>
                <a:gd name="T69" fmla="*/ 3 h 342"/>
                <a:gd name="T70" fmla="*/ 11 w 350"/>
                <a:gd name="T71" fmla="*/ 3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1 h 342"/>
                <a:gd name="T78" fmla="*/ 7 w 350"/>
                <a:gd name="T79" fmla="*/ 1 h 342"/>
                <a:gd name="T80" fmla="*/ 6 w 350"/>
                <a:gd name="T81" fmla="*/ 1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6" y="0"/>
                  </a:lnTo>
                  <a:lnTo>
                    <a:pt x="156" y="0"/>
                  </a:lnTo>
                  <a:lnTo>
                    <a:pt x="148" y="2"/>
                  </a:lnTo>
                  <a:lnTo>
                    <a:pt x="140" y="4"/>
                  </a:lnTo>
                  <a:lnTo>
                    <a:pt x="123" y="7"/>
                  </a:lnTo>
                  <a:lnTo>
                    <a:pt x="107" y="14"/>
                  </a:lnTo>
                  <a:lnTo>
                    <a:pt x="92" y="20"/>
                  </a:lnTo>
                  <a:lnTo>
                    <a:pt x="77" y="28"/>
                  </a:lnTo>
                  <a:lnTo>
                    <a:pt x="63" y="38"/>
                  </a:lnTo>
                  <a:lnTo>
                    <a:pt x="52" y="50"/>
                  </a:lnTo>
                  <a:lnTo>
                    <a:pt x="40" y="62"/>
                  </a:lnTo>
                  <a:lnTo>
                    <a:pt x="30" y="75"/>
                  </a:lnTo>
                  <a:lnTo>
                    <a:pt x="20" y="90"/>
                  </a:lnTo>
                  <a:lnTo>
                    <a:pt x="14" y="105"/>
                  </a:lnTo>
                  <a:lnTo>
                    <a:pt x="7" y="120"/>
                  </a:lnTo>
                  <a:lnTo>
                    <a:pt x="5" y="128"/>
                  </a:lnTo>
                  <a:lnTo>
                    <a:pt x="4" y="136"/>
                  </a:lnTo>
                  <a:lnTo>
                    <a:pt x="2" y="145"/>
                  </a:lnTo>
                  <a:lnTo>
                    <a:pt x="0" y="153"/>
                  </a:lnTo>
                  <a:lnTo>
                    <a:pt x="0" y="161"/>
                  </a:lnTo>
                  <a:lnTo>
                    <a:pt x="0" y="171"/>
                  </a:lnTo>
                  <a:lnTo>
                    <a:pt x="0" y="179"/>
                  </a:lnTo>
                  <a:lnTo>
                    <a:pt x="0" y="188"/>
                  </a:lnTo>
                  <a:lnTo>
                    <a:pt x="2" y="196"/>
                  </a:lnTo>
                  <a:lnTo>
                    <a:pt x="4" y="204"/>
                  </a:lnTo>
                  <a:lnTo>
                    <a:pt x="5" y="212"/>
                  </a:lnTo>
                  <a:lnTo>
                    <a:pt x="7" y="221"/>
                  </a:lnTo>
                  <a:lnTo>
                    <a:pt x="14" y="237"/>
                  </a:lnTo>
                  <a:lnTo>
                    <a:pt x="20" y="252"/>
                  </a:lnTo>
                  <a:lnTo>
                    <a:pt x="30" y="266"/>
                  </a:lnTo>
                  <a:lnTo>
                    <a:pt x="40" y="279"/>
                  </a:lnTo>
                  <a:lnTo>
                    <a:pt x="52" y="292"/>
                  </a:lnTo>
                  <a:lnTo>
                    <a:pt x="63" y="302"/>
                  </a:lnTo>
                  <a:lnTo>
                    <a:pt x="77" y="312"/>
                  </a:lnTo>
                  <a:lnTo>
                    <a:pt x="92" y="320"/>
                  </a:lnTo>
                  <a:lnTo>
                    <a:pt x="107" y="329"/>
                  </a:lnTo>
                  <a:lnTo>
                    <a:pt x="123" y="334"/>
                  </a:lnTo>
                  <a:lnTo>
                    <a:pt x="140" y="338"/>
                  </a:lnTo>
                  <a:lnTo>
                    <a:pt x="148" y="340"/>
                  </a:lnTo>
                  <a:lnTo>
                    <a:pt x="156" y="340"/>
                  </a:lnTo>
                  <a:lnTo>
                    <a:pt x="166" y="342"/>
                  </a:lnTo>
                  <a:lnTo>
                    <a:pt x="175" y="342"/>
                  </a:lnTo>
                  <a:lnTo>
                    <a:pt x="185" y="342"/>
                  </a:lnTo>
                  <a:lnTo>
                    <a:pt x="193" y="340"/>
                  </a:lnTo>
                  <a:lnTo>
                    <a:pt x="201" y="340"/>
                  </a:lnTo>
                  <a:lnTo>
                    <a:pt x="211" y="338"/>
                  </a:lnTo>
                  <a:lnTo>
                    <a:pt x="228" y="334"/>
                  </a:lnTo>
                  <a:lnTo>
                    <a:pt x="243" y="329"/>
                  </a:lnTo>
                  <a:lnTo>
                    <a:pt x="259" y="320"/>
                  </a:lnTo>
                  <a:lnTo>
                    <a:pt x="272" y="312"/>
                  </a:lnTo>
                  <a:lnTo>
                    <a:pt x="287" y="302"/>
                  </a:lnTo>
                  <a:lnTo>
                    <a:pt x="299" y="292"/>
                  </a:lnTo>
                  <a:lnTo>
                    <a:pt x="311" y="279"/>
                  </a:lnTo>
                  <a:lnTo>
                    <a:pt x="320" y="266"/>
                  </a:lnTo>
                  <a:lnTo>
                    <a:pt x="329" y="252"/>
                  </a:lnTo>
                  <a:lnTo>
                    <a:pt x="337" y="237"/>
                  </a:lnTo>
                  <a:lnTo>
                    <a:pt x="342" y="221"/>
                  </a:lnTo>
                  <a:lnTo>
                    <a:pt x="345" y="212"/>
                  </a:lnTo>
                  <a:lnTo>
                    <a:pt x="347" y="204"/>
                  </a:lnTo>
                  <a:lnTo>
                    <a:pt x="349" y="196"/>
                  </a:lnTo>
                  <a:lnTo>
                    <a:pt x="349" y="188"/>
                  </a:lnTo>
                  <a:lnTo>
                    <a:pt x="350" y="179"/>
                  </a:lnTo>
                  <a:lnTo>
                    <a:pt x="350" y="171"/>
                  </a:lnTo>
                  <a:lnTo>
                    <a:pt x="350" y="161"/>
                  </a:lnTo>
                  <a:lnTo>
                    <a:pt x="349" y="153"/>
                  </a:lnTo>
                  <a:lnTo>
                    <a:pt x="349" y="145"/>
                  </a:lnTo>
                  <a:lnTo>
                    <a:pt x="347" y="136"/>
                  </a:lnTo>
                  <a:lnTo>
                    <a:pt x="345" y="128"/>
                  </a:lnTo>
                  <a:lnTo>
                    <a:pt x="342" y="120"/>
                  </a:lnTo>
                  <a:lnTo>
                    <a:pt x="337" y="105"/>
                  </a:lnTo>
                  <a:lnTo>
                    <a:pt x="329" y="90"/>
                  </a:lnTo>
                  <a:lnTo>
                    <a:pt x="320" y="75"/>
                  </a:lnTo>
                  <a:lnTo>
                    <a:pt x="311" y="62"/>
                  </a:lnTo>
                  <a:lnTo>
                    <a:pt x="299" y="50"/>
                  </a:lnTo>
                  <a:lnTo>
                    <a:pt x="287" y="38"/>
                  </a:lnTo>
                  <a:lnTo>
                    <a:pt x="272" y="28"/>
                  </a:lnTo>
                  <a:lnTo>
                    <a:pt x="259" y="20"/>
                  </a:lnTo>
                  <a:lnTo>
                    <a:pt x="243" y="14"/>
                  </a:lnTo>
                  <a:lnTo>
                    <a:pt x="228" y="7"/>
                  </a:lnTo>
                  <a:lnTo>
                    <a:pt x="211" y="4"/>
                  </a:lnTo>
                  <a:lnTo>
                    <a:pt x="201" y="2"/>
                  </a:lnTo>
                  <a:lnTo>
                    <a:pt x="193" y="0"/>
                  </a:lnTo>
                  <a:lnTo>
                    <a:pt x="185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85" name="Rectangle 405"/>
            <p:cNvSpPr>
              <a:spLocks noChangeArrowheads="1"/>
            </p:cNvSpPr>
            <p:nvPr/>
          </p:nvSpPr>
          <p:spPr bwMode="auto">
            <a:xfrm>
              <a:off x="2724" y="2704"/>
              <a:ext cx="106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r</a:t>
              </a:r>
              <a:endParaRPr lang="en-GB" altLang="en-US"/>
            </a:p>
          </p:txBody>
        </p:sp>
        <p:sp>
          <p:nvSpPr>
            <p:cNvPr id="9386" name="Line 406"/>
            <p:cNvSpPr>
              <a:spLocks noChangeShapeType="1"/>
            </p:cNvSpPr>
            <p:nvPr/>
          </p:nvSpPr>
          <p:spPr bwMode="auto">
            <a:xfrm>
              <a:off x="2829" y="2842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87" name="Freeform 407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88" name="Freeform 408"/>
            <p:cNvSpPr>
              <a:spLocks/>
            </p:cNvSpPr>
            <p:nvPr/>
          </p:nvSpPr>
          <p:spPr bwMode="auto">
            <a:xfrm>
              <a:off x="2843" y="3012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89" name="Rectangle 409"/>
            <p:cNvSpPr>
              <a:spLocks noChangeArrowheads="1"/>
            </p:cNvSpPr>
            <p:nvPr/>
          </p:nvSpPr>
          <p:spPr bwMode="auto">
            <a:xfrm>
              <a:off x="2934" y="3086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90" name="Rectangle 410"/>
            <p:cNvSpPr>
              <a:spLocks noChangeArrowheads="1"/>
            </p:cNvSpPr>
            <p:nvPr/>
          </p:nvSpPr>
          <p:spPr bwMode="auto">
            <a:xfrm>
              <a:off x="3001" y="3145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3</a:t>
              </a:r>
              <a:endParaRPr lang="en-GB" altLang="en-US"/>
            </a:p>
          </p:txBody>
        </p:sp>
        <p:sp>
          <p:nvSpPr>
            <p:cNvPr id="9391" name="Freeform 411"/>
            <p:cNvSpPr>
              <a:spLocks/>
            </p:cNvSpPr>
            <p:nvPr/>
          </p:nvSpPr>
          <p:spPr bwMode="auto">
            <a:xfrm>
              <a:off x="2315" y="2940"/>
              <a:ext cx="175" cy="170"/>
            </a:xfrm>
            <a:custGeom>
              <a:avLst/>
              <a:gdLst>
                <a:gd name="T0" fmla="*/ 5 w 350"/>
                <a:gd name="T1" fmla="*/ 0 h 342"/>
                <a:gd name="T2" fmla="*/ 5 w 350"/>
                <a:gd name="T3" fmla="*/ 0 h 342"/>
                <a:gd name="T4" fmla="*/ 3 w 350"/>
                <a:gd name="T5" fmla="*/ 0 h 342"/>
                <a:gd name="T6" fmla="*/ 3 w 350"/>
                <a:gd name="T7" fmla="*/ 0 h 342"/>
                <a:gd name="T8" fmla="*/ 1 w 350"/>
                <a:gd name="T9" fmla="*/ 1 h 342"/>
                <a:gd name="T10" fmla="*/ 1 w 350"/>
                <a:gd name="T11" fmla="*/ 1 h 342"/>
                <a:gd name="T12" fmla="*/ 1 w 350"/>
                <a:gd name="T13" fmla="*/ 2 h 342"/>
                <a:gd name="T14" fmla="*/ 1 w 350"/>
                <a:gd name="T15" fmla="*/ 3 h 342"/>
                <a:gd name="T16" fmla="*/ 1 w 350"/>
                <a:gd name="T17" fmla="*/ 4 h 342"/>
                <a:gd name="T18" fmla="*/ 0 w 350"/>
                <a:gd name="T19" fmla="*/ 4 h 342"/>
                <a:gd name="T20" fmla="*/ 0 w 350"/>
                <a:gd name="T21" fmla="*/ 5 h 342"/>
                <a:gd name="T22" fmla="*/ 0 w 350"/>
                <a:gd name="T23" fmla="*/ 5 h 342"/>
                <a:gd name="T24" fmla="*/ 1 w 350"/>
                <a:gd name="T25" fmla="*/ 6 h 342"/>
                <a:gd name="T26" fmla="*/ 1 w 350"/>
                <a:gd name="T27" fmla="*/ 6 h 342"/>
                <a:gd name="T28" fmla="*/ 1 w 350"/>
                <a:gd name="T29" fmla="*/ 7 h 342"/>
                <a:gd name="T30" fmla="*/ 1 w 350"/>
                <a:gd name="T31" fmla="*/ 8 h 342"/>
                <a:gd name="T32" fmla="*/ 1 w 350"/>
                <a:gd name="T33" fmla="*/ 9 h 342"/>
                <a:gd name="T34" fmla="*/ 3 w 350"/>
                <a:gd name="T35" fmla="*/ 10 h 342"/>
                <a:gd name="T36" fmla="*/ 3 w 350"/>
                <a:gd name="T37" fmla="*/ 10 h 342"/>
                <a:gd name="T38" fmla="*/ 5 w 350"/>
                <a:gd name="T39" fmla="*/ 10 h 342"/>
                <a:gd name="T40" fmla="*/ 5 w 350"/>
                <a:gd name="T41" fmla="*/ 10 h 342"/>
                <a:gd name="T42" fmla="*/ 5 w 350"/>
                <a:gd name="T43" fmla="*/ 10 h 342"/>
                <a:gd name="T44" fmla="*/ 6 w 350"/>
                <a:gd name="T45" fmla="*/ 10 h 342"/>
                <a:gd name="T46" fmla="*/ 7 w 350"/>
                <a:gd name="T47" fmla="*/ 10 h 342"/>
                <a:gd name="T48" fmla="*/ 9 w 350"/>
                <a:gd name="T49" fmla="*/ 10 h 342"/>
                <a:gd name="T50" fmla="*/ 9 w 350"/>
                <a:gd name="T51" fmla="*/ 9 h 342"/>
                <a:gd name="T52" fmla="*/ 10 w 350"/>
                <a:gd name="T53" fmla="*/ 8 h 342"/>
                <a:gd name="T54" fmla="*/ 11 w 350"/>
                <a:gd name="T55" fmla="*/ 7 h 342"/>
                <a:gd name="T56" fmla="*/ 11 w 350"/>
                <a:gd name="T57" fmla="*/ 6 h 342"/>
                <a:gd name="T58" fmla="*/ 11 w 350"/>
                <a:gd name="T59" fmla="*/ 6 h 342"/>
                <a:gd name="T60" fmla="*/ 11 w 350"/>
                <a:gd name="T61" fmla="*/ 5 h 342"/>
                <a:gd name="T62" fmla="*/ 11 w 350"/>
                <a:gd name="T63" fmla="*/ 5 h 342"/>
                <a:gd name="T64" fmla="*/ 11 w 350"/>
                <a:gd name="T65" fmla="*/ 4 h 342"/>
                <a:gd name="T66" fmla="*/ 11 w 350"/>
                <a:gd name="T67" fmla="*/ 4 h 342"/>
                <a:gd name="T68" fmla="*/ 11 w 350"/>
                <a:gd name="T69" fmla="*/ 3 h 342"/>
                <a:gd name="T70" fmla="*/ 11 w 350"/>
                <a:gd name="T71" fmla="*/ 2 h 342"/>
                <a:gd name="T72" fmla="*/ 10 w 350"/>
                <a:gd name="T73" fmla="*/ 1 h 342"/>
                <a:gd name="T74" fmla="*/ 9 w 350"/>
                <a:gd name="T75" fmla="*/ 1 h 342"/>
                <a:gd name="T76" fmla="*/ 9 w 350"/>
                <a:gd name="T77" fmla="*/ 0 h 342"/>
                <a:gd name="T78" fmla="*/ 7 w 350"/>
                <a:gd name="T79" fmla="*/ 0 h 342"/>
                <a:gd name="T80" fmla="*/ 6 w 350"/>
                <a:gd name="T81" fmla="*/ 0 h 342"/>
                <a:gd name="T82" fmla="*/ 5 w 350"/>
                <a:gd name="T83" fmla="*/ 0 h 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50"/>
                <a:gd name="T127" fmla="*/ 0 h 342"/>
                <a:gd name="T128" fmla="*/ 350 w 350"/>
                <a:gd name="T129" fmla="*/ 342 h 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50" h="342">
                  <a:moveTo>
                    <a:pt x="175" y="0"/>
                  </a:moveTo>
                  <a:lnTo>
                    <a:pt x="165" y="0"/>
                  </a:lnTo>
                  <a:lnTo>
                    <a:pt x="157" y="2"/>
                  </a:lnTo>
                  <a:lnTo>
                    <a:pt x="147" y="2"/>
                  </a:lnTo>
                  <a:lnTo>
                    <a:pt x="139" y="4"/>
                  </a:lnTo>
                  <a:lnTo>
                    <a:pt x="122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6" y="30"/>
                  </a:lnTo>
                  <a:lnTo>
                    <a:pt x="63" y="40"/>
                  </a:lnTo>
                  <a:lnTo>
                    <a:pt x="51" y="50"/>
                  </a:lnTo>
                  <a:lnTo>
                    <a:pt x="39" y="63"/>
                  </a:lnTo>
                  <a:lnTo>
                    <a:pt x="29" y="77"/>
                  </a:lnTo>
                  <a:lnTo>
                    <a:pt x="21" y="90"/>
                  </a:lnTo>
                  <a:lnTo>
                    <a:pt x="13" y="105"/>
                  </a:lnTo>
                  <a:lnTo>
                    <a:pt x="8" y="121"/>
                  </a:lnTo>
                  <a:lnTo>
                    <a:pt x="5" y="128"/>
                  </a:lnTo>
                  <a:lnTo>
                    <a:pt x="3" y="136"/>
                  </a:lnTo>
                  <a:lnTo>
                    <a:pt x="1" y="146"/>
                  </a:lnTo>
                  <a:lnTo>
                    <a:pt x="0" y="155"/>
                  </a:lnTo>
                  <a:lnTo>
                    <a:pt x="0" y="163"/>
                  </a:lnTo>
                  <a:lnTo>
                    <a:pt x="0" y="171"/>
                  </a:lnTo>
                  <a:lnTo>
                    <a:pt x="0" y="181"/>
                  </a:lnTo>
                  <a:lnTo>
                    <a:pt x="0" y="189"/>
                  </a:lnTo>
                  <a:lnTo>
                    <a:pt x="1" y="198"/>
                  </a:lnTo>
                  <a:lnTo>
                    <a:pt x="3" y="206"/>
                  </a:lnTo>
                  <a:lnTo>
                    <a:pt x="5" y="214"/>
                  </a:lnTo>
                  <a:lnTo>
                    <a:pt x="8" y="223"/>
                  </a:lnTo>
                  <a:lnTo>
                    <a:pt x="13" y="238"/>
                  </a:lnTo>
                  <a:lnTo>
                    <a:pt x="21" y="252"/>
                  </a:lnTo>
                  <a:lnTo>
                    <a:pt x="29" y="267"/>
                  </a:lnTo>
                  <a:lnTo>
                    <a:pt x="39" y="281"/>
                  </a:lnTo>
                  <a:lnTo>
                    <a:pt x="51" y="292"/>
                  </a:lnTo>
                  <a:lnTo>
                    <a:pt x="63" y="304"/>
                  </a:lnTo>
                  <a:lnTo>
                    <a:pt x="76" y="314"/>
                  </a:lnTo>
                  <a:lnTo>
                    <a:pt x="91" y="322"/>
                  </a:lnTo>
                  <a:lnTo>
                    <a:pt x="106" y="329"/>
                  </a:lnTo>
                  <a:lnTo>
                    <a:pt x="122" y="335"/>
                  </a:lnTo>
                  <a:lnTo>
                    <a:pt x="139" y="339"/>
                  </a:lnTo>
                  <a:lnTo>
                    <a:pt x="147" y="340"/>
                  </a:lnTo>
                  <a:lnTo>
                    <a:pt x="157" y="342"/>
                  </a:lnTo>
                  <a:lnTo>
                    <a:pt x="165" y="342"/>
                  </a:lnTo>
                  <a:lnTo>
                    <a:pt x="175" y="342"/>
                  </a:lnTo>
                  <a:lnTo>
                    <a:pt x="184" y="342"/>
                  </a:lnTo>
                  <a:lnTo>
                    <a:pt x="192" y="342"/>
                  </a:lnTo>
                  <a:lnTo>
                    <a:pt x="202" y="340"/>
                  </a:lnTo>
                  <a:lnTo>
                    <a:pt x="210" y="339"/>
                  </a:lnTo>
                  <a:lnTo>
                    <a:pt x="227" y="335"/>
                  </a:lnTo>
                  <a:lnTo>
                    <a:pt x="243" y="329"/>
                  </a:lnTo>
                  <a:lnTo>
                    <a:pt x="258" y="322"/>
                  </a:lnTo>
                  <a:lnTo>
                    <a:pt x="273" y="314"/>
                  </a:lnTo>
                  <a:lnTo>
                    <a:pt x="287" y="304"/>
                  </a:lnTo>
                  <a:lnTo>
                    <a:pt x="298" y="292"/>
                  </a:lnTo>
                  <a:lnTo>
                    <a:pt x="310" y="281"/>
                  </a:lnTo>
                  <a:lnTo>
                    <a:pt x="320" y="267"/>
                  </a:lnTo>
                  <a:lnTo>
                    <a:pt x="328" y="252"/>
                  </a:lnTo>
                  <a:lnTo>
                    <a:pt x="336" y="238"/>
                  </a:lnTo>
                  <a:lnTo>
                    <a:pt x="343" y="223"/>
                  </a:lnTo>
                  <a:lnTo>
                    <a:pt x="345" y="214"/>
                  </a:lnTo>
                  <a:lnTo>
                    <a:pt x="346" y="206"/>
                  </a:lnTo>
                  <a:lnTo>
                    <a:pt x="348" y="198"/>
                  </a:lnTo>
                  <a:lnTo>
                    <a:pt x="350" y="189"/>
                  </a:lnTo>
                  <a:lnTo>
                    <a:pt x="350" y="181"/>
                  </a:lnTo>
                  <a:lnTo>
                    <a:pt x="350" y="171"/>
                  </a:lnTo>
                  <a:lnTo>
                    <a:pt x="350" y="163"/>
                  </a:lnTo>
                  <a:lnTo>
                    <a:pt x="350" y="155"/>
                  </a:lnTo>
                  <a:lnTo>
                    <a:pt x="348" y="146"/>
                  </a:lnTo>
                  <a:lnTo>
                    <a:pt x="346" y="136"/>
                  </a:lnTo>
                  <a:lnTo>
                    <a:pt x="345" y="128"/>
                  </a:lnTo>
                  <a:lnTo>
                    <a:pt x="343" y="121"/>
                  </a:lnTo>
                  <a:lnTo>
                    <a:pt x="336" y="105"/>
                  </a:lnTo>
                  <a:lnTo>
                    <a:pt x="330" y="90"/>
                  </a:lnTo>
                  <a:lnTo>
                    <a:pt x="320" y="77"/>
                  </a:lnTo>
                  <a:lnTo>
                    <a:pt x="310" y="63"/>
                  </a:lnTo>
                  <a:lnTo>
                    <a:pt x="298" y="50"/>
                  </a:lnTo>
                  <a:lnTo>
                    <a:pt x="287" y="40"/>
                  </a:lnTo>
                  <a:lnTo>
                    <a:pt x="273" y="30"/>
                  </a:lnTo>
                  <a:lnTo>
                    <a:pt x="258" y="22"/>
                  </a:lnTo>
                  <a:lnTo>
                    <a:pt x="243" y="14"/>
                  </a:lnTo>
                  <a:lnTo>
                    <a:pt x="227" y="9"/>
                  </a:lnTo>
                  <a:lnTo>
                    <a:pt x="210" y="4"/>
                  </a:lnTo>
                  <a:lnTo>
                    <a:pt x="202" y="2"/>
                  </a:lnTo>
                  <a:lnTo>
                    <a:pt x="192" y="2"/>
                  </a:lnTo>
                  <a:lnTo>
                    <a:pt x="184" y="0"/>
                  </a:lnTo>
                  <a:lnTo>
                    <a:pt x="175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92" name="Rectangle 412"/>
            <p:cNvSpPr>
              <a:spLocks noChangeArrowheads="1"/>
            </p:cNvSpPr>
            <p:nvPr/>
          </p:nvSpPr>
          <p:spPr bwMode="auto">
            <a:xfrm>
              <a:off x="2355" y="2945"/>
              <a:ext cx="113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>
                  <a:solidFill>
                    <a:srgbClr val="000000"/>
                  </a:solidFill>
                  <a:latin typeface="Comic Sans MS" pitchFamily="66" charset="0"/>
                </a:rPr>
                <a:t>k</a:t>
              </a:r>
              <a:endParaRPr lang="en-GB" altLang="en-US"/>
            </a:p>
          </p:txBody>
        </p:sp>
        <p:sp>
          <p:nvSpPr>
            <p:cNvPr id="9393" name="Rectangle 413"/>
            <p:cNvSpPr>
              <a:spLocks noChangeArrowheads="1"/>
            </p:cNvSpPr>
            <p:nvPr/>
          </p:nvSpPr>
          <p:spPr bwMode="auto">
            <a:xfrm>
              <a:off x="2415" y="3008"/>
              <a:ext cx="7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>
                  <a:solidFill>
                    <a:srgbClr val="000000"/>
                  </a:solidFill>
                  <a:latin typeface="Comic Sans MS" pitchFamily="66" charset="0"/>
                </a:rPr>
                <a:t>1</a:t>
              </a:r>
              <a:endParaRPr lang="en-GB" altLang="en-US"/>
            </a:p>
          </p:txBody>
        </p:sp>
        <p:sp>
          <p:nvSpPr>
            <p:cNvPr id="9394" name="Freeform 414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95" name="Freeform 415"/>
            <p:cNvSpPr>
              <a:spLocks/>
            </p:cNvSpPr>
            <p:nvPr/>
          </p:nvSpPr>
          <p:spPr bwMode="auto">
            <a:xfrm>
              <a:off x="1916" y="3239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96" name="Rectangle 416"/>
            <p:cNvSpPr>
              <a:spLocks noChangeArrowheads="1"/>
            </p:cNvSpPr>
            <p:nvPr/>
          </p:nvSpPr>
          <p:spPr bwMode="auto">
            <a:xfrm>
              <a:off x="2006" y="3314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397" name="Rectangle 417"/>
            <p:cNvSpPr>
              <a:spLocks noChangeArrowheads="1"/>
            </p:cNvSpPr>
            <p:nvPr/>
          </p:nvSpPr>
          <p:spPr bwMode="auto">
            <a:xfrm>
              <a:off x="2074" y="3372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1</a:t>
              </a:r>
              <a:endParaRPr lang="en-GB" altLang="en-US"/>
            </a:p>
          </p:txBody>
        </p:sp>
        <p:sp>
          <p:nvSpPr>
            <p:cNvPr id="9398" name="Line 418"/>
            <p:cNvSpPr>
              <a:spLocks noChangeShapeType="1"/>
            </p:cNvSpPr>
            <p:nvPr/>
          </p:nvSpPr>
          <p:spPr bwMode="auto">
            <a:xfrm flipV="1">
              <a:off x="2062" y="3057"/>
              <a:ext cx="261" cy="177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99" name="Line 419"/>
            <p:cNvSpPr>
              <a:spLocks noChangeShapeType="1"/>
            </p:cNvSpPr>
            <p:nvPr/>
          </p:nvSpPr>
          <p:spPr bwMode="auto">
            <a:xfrm flipV="1">
              <a:off x="2475" y="2829"/>
              <a:ext cx="196" cy="13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0" name="Line 420"/>
            <p:cNvSpPr>
              <a:spLocks noChangeShapeType="1"/>
            </p:cNvSpPr>
            <p:nvPr/>
          </p:nvSpPr>
          <p:spPr bwMode="auto">
            <a:xfrm flipV="1">
              <a:off x="2821" y="2521"/>
              <a:ext cx="314" cy="203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1" name="Line 421"/>
            <p:cNvSpPr>
              <a:spLocks noChangeShapeType="1"/>
            </p:cNvSpPr>
            <p:nvPr/>
          </p:nvSpPr>
          <p:spPr bwMode="auto">
            <a:xfrm>
              <a:off x="2459" y="3101"/>
              <a:ext cx="151" cy="16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2" name="Freeform 422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3" name="Freeform 423"/>
            <p:cNvSpPr>
              <a:spLocks/>
            </p:cNvSpPr>
            <p:nvPr/>
          </p:nvSpPr>
          <p:spPr bwMode="auto">
            <a:xfrm>
              <a:off x="2469" y="3266"/>
              <a:ext cx="290" cy="214"/>
            </a:xfrm>
            <a:custGeom>
              <a:avLst/>
              <a:gdLst>
                <a:gd name="T0" fmla="*/ 9 w 580"/>
                <a:gd name="T1" fmla="*/ 0 h 427"/>
                <a:gd name="T2" fmla="*/ 0 w 580"/>
                <a:gd name="T3" fmla="*/ 14 h 427"/>
                <a:gd name="T4" fmla="*/ 18 w 580"/>
                <a:gd name="T5" fmla="*/ 14 h 427"/>
                <a:gd name="T6" fmla="*/ 9 w 580"/>
                <a:gd name="T7" fmla="*/ 0 h 4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7"/>
                <a:gd name="T14" fmla="*/ 580 w 580"/>
                <a:gd name="T15" fmla="*/ 427 h 4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7">
                  <a:moveTo>
                    <a:pt x="290" y="0"/>
                  </a:moveTo>
                  <a:lnTo>
                    <a:pt x="0" y="427"/>
                  </a:lnTo>
                  <a:lnTo>
                    <a:pt x="580" y="427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4" name="Rectangle 424"/>
            <p:cNvSpPr>
              <a:spLocks noChangeArrowheads="1"/>
            </p:cNvSpPr>
            <p:nvPr/>
          </p:nvSpPr>
          <p:spPr bwMode="auto">
            <a:xfrm>
              <a:off x="2560" y="3341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05" name="Rectangle 425"/>
            <p:cNvSpPr>
              <a:spLocks noChangeArrowheads="1"/>
            </p:cNvSpPr>
            <p:nvPr/>
          </p:nvSpPr>
          <p:spPr bwMode="auto">
            <a:xfrm>
              <a:off x="2627" y="3399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2</a:t>
              </a:r>
              <a:endParaRPr lang="en-GB" altLang="en-US"/>
            </a:p>
          </p:txBody>
        </p:sp>
        <p:sp>
          <p:nvSpPr>
            <p:cNvPr id="9406" name="Line 426"/>
            <p:cNvSpPr>
              <a:spLocks noChangeShapeType="1"/>
            </p:cNvSpPr>
            <p:nvPr/>
          </p:nvSpPr>
          <p:spPr bwMode="auto">
            <a:xfrm>
              <a:off x="3277" y="2553"/>
              <a:ext cx="152" cy="16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7" name="Freeform 427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8" name="Freeform 428"/>
            <p:cNvSpPr>
              <a:spLocks/>
            </p:cNvSpPr>
            <p:nvPr/>
          </p:nvSpPr>
          <p:spPr bwMode="auto">
            <a:xfrm>
              <a:off x="3289" y="2720"/>
              <a:ext cx="290" cy="214"/>
            </a:xfrm>
            <a:custGeom>
              <a:avLst/>
              <a:gdLst>
                <a:gd name="T0" fmla="*/ 9 w 580"/>
                <a:gd name="T1" fmla="*/ 0 h 428"/>
                <a:gd name="T2" fmla="*/ 0 w 580"/>
                <a:gd name="T3" fmla="*/ 13 h 428"/>
                <a:gd name="T4" fmla="*/ 18 w 580"/>
                <a:gd name="T5" fmla="*/ 13 h 428"/>
                <a:gd name="T6" fmla="*/ 9 w 580"/>
                <a:gd name="T7" fmla="*/ 0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0"/>
                <a:gd name="T13" fmla="*/ 0 h 428"/>
                <a:gd name="T14" fmla="*/ 580 w 580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0" h="428">
                  <a:moveTo>
                    <a:pt x="290" y="0"/>
                  </a:moveTo>
                  <a:lnTo>
                    <a:pt x="0" y="428"/>
                  </a:lnTo>
                  <a:lnTo>
                    <a:pt x="580" y="428"/>
                  </a:lnTo>
                  <a:lnTo>
                    <a:pt x="290" y="0"/>
                  </a:lnTo>
                  <a:close/>
                </a:path>
              </a:pathLst>
            </a:cu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09" name="Rectangle 429"/>
            <p:cNvSpPr>
              <a:spLocks noChangeArrowheads="1"/>
            </p:cNvSpPr>
            <p:nvPr/>
          </p:nvSpPr>
          <p:spPr bwMode="auto">
            <a:xfrm>
              <a:off x="3380" y="2795"/>
              <a:ext cx="12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400" b="1">
                  <a:solidFill>
                    <a:srgbClr val="000000"/>
                  </a:solidFill>
                </a:rPr>
                <a:t>T</a:t>
              </a:r>
              <a:endParaRPr lang="en-GB" altLang="en-US"/>
            </a:p>
          </p:txBody>
        </p:sp>
        <p:sp>
          <p:nvSpPr>
            <p:cNvPr id="9410" name="Rectangle 430"/>
            <p:cNvSpPr>
              <a:spLocks noChangeArrowheads="1"/>
            </p:cNvSpPr>
            <p:nvPr/>
          </p:nvSpPr>
          <p:spPr bwMode="auto">
            <a:xfrm>
              <a:off x="3447" y="2853"/>
              <a:ext cx="83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000" b="1">
                  <a:solidFill>
                    <a:srgbClr val="000000"/>
                  </a:solidFill>
                </a:rPr>
                <a:t>4</a:t>
              </a:r>
              <a:endParaRPr lang="en-GB" altLang="en-US"/>
            </a:p>
          </p:txBody>
        </p:sp>
      </p:grpSp>
      <p:sp>
        <p:nvSpPr>
          <p:cNvPr id="9222" name="Text Box 431"/>
          <p:cNvSpPr txBox="1">
            <a:spLocks noChangeArrowheads="1"/>
          </p:cNvSpPr>
          <p:nvPr/>
        </p:nvSpPr>
        <p:spPr bwMode="auto">
          <a:xfrm>
            <a:off x="228600" y="385468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rgbClr val="0066FF"/>
                </a:solidFill>
                <a:latin typeface="Calibri" panose="020F0502020204030204" pitchFamily="34" charset="0"/>
              </a:rPr>
              <a:t>right rotation</a:t>
            </a:r>
          </a:p>
        </p:txBody>
      </p:sp>
      <p:sp>
        <p:nvSpPr>
          <p:cNvPr id="9223" name="Text Box 432"/>
          <p:cNvSpPr txBox="1">
            <a:spLocks noChangeArrowheads="1"/>
          </p:cNvSpPr>
          <p:nvPr/>
        </p:nvSpPr>
        <p:spPr bwMode="auto">
          <a:xfrm>
            <a:off x="163513" y="3594894"/>
            <a:ext cx="243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rgbClr val="0066FF"/>
                </a:solidFill>
                <a:latin typeface="Calibri" panose="020F0502020204030204" pitchFamily="34" charset="0"/>
              </a:rPr>
              <a:t>left rotation</a:t>
            </a:r>
          </a:p>
        </p:txBody>
      </p:sp>
      <p:sp>
        <p:nvSpPr>
          <p:cNvPr id="9224" name="Slide Number Placeholder 37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913A8D1-5CDB-4D36-B799-DC7763E21000}" type="slidenum">
              <a:rPr lang="en-GB" altLang="en-US" smtClean="0"/>
              <a:pPr eaLnBrk="1" hangingPunct="1"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0677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413359"/>
            <a:ext cx="8229600" cy="990600"/>
          </a:xfrm>
        </p:spPr>
        <p:txBody>
          <a:bodyPr/>
          <a:lstStyle/>
          <a:p>
            <a:r>
              <a:rPr lang="en-GB" altLang="en-US" dirty="0"/>
              <a:t>Example: right rotation</a:t>
            </a:r>
          </a:p>
        </p:txBody>
      </p:sp>
      <p:sp>
        <p:nvSpPr>
          <p:cNvPr id="10243" name="Oval 5"/>
          <p:cNvSpPr>
            <a:spLocks noChangeAspect="1" noChangeArrowheads="1"/>
          </p:cNvSpPr>
          <p:nvPr/>
        </p:nvSpPr>
        <p:spPr bwMode="auto">
          <a:xfrm>
            <a:off x="2667000" y="22606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10</a:t>
            </a:r>
          </a:p>
        </p:txBody>
      </p:sp>
      <p:sp>
        <p:nvSpPr>
          <p:cNvPr id="10244" name="Oval 6"/>
          <p:cNvSpPr>
            <a:spLocks noChangeAspect="1" noChangeArrowheads="1"/>
          </p:cNvSpPr>
          <p:nvPr/>
        </p:nvSpPr>
        <p:spPr bwMode="auto">
          <a:xfrm>
            <a:off x="1600200" y="2260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0245" name="Oval 7"/>
          <p:cNvSpPr>
            <a:spLocks noChangeAspect="1" noChangeArrowheads="1"/>
          </p:cNvSpPr>
          <p:nvPr/>
        </p:nvSpPr>
        <p:spPr bwMode="auto">
          <a:xfrm>
            <a:off x="2133600" y="1371600"/>
            <a:ext cx="381000" cy="3810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cxnSp>
        <p:nvCxnSpPr>
          <p:cNvPr id="10246" name="AutoShape 8"/>
          <p:cNvCxnSpPr>
            <a:cxnSpLocks noChangeShapeType="1"/>
            <a:stCxn id="10245" idx="3"/>
            <a:endCxn id="10244" idx="0"/>
          </p:cNvCxnSpPr>
          <p:nvPr/>
        </p:nvCxnSpPr>
        <p:spPr bwMode="auto">
          <a:xfrm flipH="1">
            <a:off x="1790700" y="1716088"/>
            <a:ext cx="3984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47" name="AutoShape 9"/>
          <p:cNvCxnSpPr>
            <a:cxnSpLocks noChangeShapeType="1"/>
            <a:stCxn id="10245" idx="5"/>
            <a:endCxn id="10243" idx="0"/>
          </p:cNvCxnSpPr>
          <p:nvPr/>
        </p:nvCxnSpPr>
        <p:spPr bwMode="auto">
          <a:xfrm rot="16200000" flipH="1">
            <a:off x="2414588" y="1741488"/>
            <a:ext cx="563562" cy="474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8" name="Oval 10"/>
          <p:cNvSpPr>
            <a:spLocks noChangeAspect="1" noChangeArrowheads="1"/>
          </p:cNvSpPr>
          <p:nvPr/>
        </p:nvSpPr>
        <p:spPr bwMode="auto">
          <a:xfrm>
            <a:off x="685800" y="3911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0249" name="Oval 11"/>
          <p:cNvSpPr>
            <a:spLocks noChangeAspect="1" noChangeArrowheads="1"/>
          </p:cNvSpPr>
          <p:nvPr/>
        </p:nvSpPr>
        <p:spPr bwMode="auto">
          <a:xfrm>
            <a:off x="1143000" y="3149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10250" name="AutoShape 12"/>
          <p:cNvCxnSpPr>
            <a:cxnSpLocks noChangeShapeType="1"/>
            <a:stCxn id="10244" idx="3"/>
            <a:endCxn id="10249" idx="0"/>
          </p:cNvCxnSpPr>
          <p:nvPr/>
        </p:nvCxnSpPr>
        <p:spPr bwMode="auto">
          <a:xfrm flipH="1">
            <a:off x="1333500" y="2605088"/>
            <a:ext cx="322263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1" name="AutoShape 13"/>
          <p:cNvCxnSpPr>
            <a:cxnSpLocks noChangeShapeType="1"/>
            <a:stCxn id="10249" idx="3"/>
            <a:endCxn id="10248" idx="0"/>
          </p:cNvCxnSpPr>
          <p:nvPr/>
        </p:nvCxnSpPr>
        <p:spPr bwMode="auto">
          <a:xfrm flipH="1">
            <a:off x="876300" y="3494088"/>
            <a:ext cx="322263" cy="398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2" name="Oval 14"/>
          <p:cNvSpPr>
            <a:spLocks noChangeAspect="1" noChangeArrowheads="1"/>
          </p:cNvSpPr>
          <p:nvPr/>
        </p:nvSpPr>
        <p:spPr bwMode="auto">
          <a:xfrm>
            <a:off x="1854200" y="3149600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cxnSp>
        <p:nvCxnSpPr>
          <p:cNvPr id="10253" name="AutoShape 15"/>
          <p:cNvCxnSpPr>
            <a:cxnSpLocks noChangeShapeType="1"/>
            <a:stCxn id="10244" idx="5"/>
            <a:endCxn id="10252" idx="0"/>
          </p:cNvCxnSpPr>
          <p:nvPr/>
        </p:nvCxnSpPr>
        <p:spPr bwMode="auto">
          <a:xfrm>
            <a:off x="1925638" y="2605088"/>
            <a:ext cx="119062" cy="525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4" name="Oval 16"/>
          <p:cNvSpPr>
            <a:spLocks noChangeAspect="1" noChangeArrowheads="1"/>
          </p:cNvSpPr>
          <p:nvPr/>
        </p:nvSpPr>
        <p:spPr bwMode="auto">
          <a:xfrm>
            <a:off x="7675563" y="2932113"/>
            <a:ext cx="477837" cy="47783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10</a:t>
            </a:r>
          </a:p>
        </p:txBody>
      </p:sp>
      <p:sp>
        <p:nvSpPr>
          <p:cNvPr id="10255" name="Oval 17"/>
          <p:cNvSpPr>
            <a:spLocks noChangeAspect="1" noChangeArrowheads="1"/>
          </p:cNvSpPr>
          <p:nvPr/>
        </p:nvSpPr>
        <p:spPr bwMode="auto">
          <a:xfrm>
            <a:off x="6684963" y="1255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0256" name="Oval 18"/>
          <p:cNvSpPr>
            <a:spLocks noChangeAspect="1" noChangeArrowheads="1"/>
          </p:cNvSpPr>
          <p:nvPr/>
        </p:nvSpPr>
        <p:spPr bwMode="auto">
          <a:xfrm>
            <a:off x="7269163" y="2144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cxnSp>
        <p:nvCxnSpPr>
          <p:cNvPr id="10257" name="AutoShape 19"/>
          <p:cNvCxnSpPr>
            <a:cxnSpLocks noChangeShapeType="1"/>
            <a:stCxn id="10256" idx="3"/>
            <a:endCxn id="10263" idx="0"/>
          </p:cNvCxnSpPr>
          <p:nvPr/>
        </p:nvCxnSpPr>
        <p:spPr bwMode="auto">
          <a:xfrm flipH="1">
            <a:off x="7027863" y="2489200"/>
            <a:ext cx="296862" cy="423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8" name="AutoShape 20"/>
          <p:cNvCxnSpPr>
            <a:cxnSpLocks noChangeShapeType="1"/>
            <a:stCxn id="10256" idx="5"/>
            <a:endCxn id="10254" idx="0"/>
          </p:cNvCxnSpPr>
          <p:nvPr/>
        </p:nvCxnSpPr>
        <p:spPr bwMode="auto">
          <a:xfrm rot="16200000" flipH="1">
            <a:off x="7523956" y="2540794"/>
            <a:ext cx="461963" cy="320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9" name="Oval 21"/>
          <p:cNvSpPr>
            <a:spLocks noChangeAspect="1" noChangeArrowheads="1"/>
          </p:cNvSpPr>
          <p:nvPr/>
        </p:nvSpPr>
        <p:spPr bwMode="auto">
          <a:xfrm>
            <a:off x="5770563" y="2906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0260" name="Oval 22"/>
          <p:cNvSpPr>
            <a:spLocks noChangeAspect="1" noChangeArrowheads="1"/>
          </p:cNvSpPr>
          <p:nvPr/>
        </p:nvSpPr>
        <p:spPr bwMode="auto">
          <a:xfrm>
            <a:off x="6227763" y="21447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10261" name="AutoShape 23"/>
          <p:cNvCxnSpPr>
            <a:cxnSpLocks noChangeShapeType="1"/>
            <a:stCxn id="10255" idx="3"/>
            <a:endCxn id="10260" idx="0"/>
          </p:cNvCxnSpPr>
          <p:nvPr/>
        </p:nvCxnSpPr>
        <p:spPr bwMode="auto">
          <a:xfrm flipH="1">
            <a:off x="6418263" y="1600200"/>
            <a:ext cx="322262" cy="525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2" name="AutoShape 24"/>
          <p:cNvCxnSpPr>
            <a:cxnSpLocks noChangeShapeType="1"/>
            <a:stCxn id="10260" idx="3"/>
            <a:endCxn id="10259" idx="0"/>
          </p:cNvCxnSpPr>
          <p:nvPr/>
        </p:nvCxnSpPr>
        <p:spPr bwMode="auto">
          <a:xfrm flipH="1">
            <a:off x="5961063" y="2489200"/>
            <a:ext cx="322262" cy="3984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63" name="Oval 25"/>
          <p:cNvSpPr>
            <a:spLocks noChangeAspect="1" noChangeArrowheads="1"/>
          </p:cNvSpPr>
          <p:nvPr/>
        </p:nvSpPr>
        <p:spPr bwMode="auto">
          <a:xfrm>
            <a:off x="6837363" y="2932113"/>
            <a:ext cx="381000" cy="381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cxnSp>
        <p:nvCxnSpPr>
          <p:cNvPr id="10264" name="AutoShape 26"/>
          <p:cNvCxnSpPr>
            <a:cxnSpLocks noChangeShapeType="1"/>
            <a:stCxn id="10255" idx="5"/>
            <a:endCxn id="10256" idx="1"/>
          </p:cNvCxnSpPr>
          <p:nvPr/>
        </p:nvCxnSpPr>
        <p:spPr bwMode="auto">
          <a:xfrm>
            <a:off x="7010400" y="1600200"/>
            <a:ext cx="314325" cy="581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66" name="Text Box 29"/>
          <p:cNvSpPr txBox="1">
            <a:spLocks noChangeArrowheads="1"/>
          </p:cNvSpPr>
          <p:nvPr/>
        </p:nvSpPr>
        <p:spPr bwMode="auto">
          <a:xfrm>
            <a:off x="533400" y="4495800"/>
            <a:ext cx="80010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 Note that the first tree is not an AVL tree, but the second one is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dirty="0">
                <a:latin typeface="Calibri" panose="020F0502020204030204" pitchFamily="34" charset="0"/>
              </a:rPr>
              <a:t> Rotation involves only a few pointer changes and allows us to fix the  structure of a tree whilst preserving search tree property</a:t>
            </a:r>
          </a:p>
          <a:p>
            <a:pPr eaLnBrk="1" hangingPunct="1">
              <a:spcBef>
                <a:spcPct val="50000"/>
              </a:spcBef>
            </a:pPr>
            <a:endParaRPr lang="en-GB" altLang="en-US" dirty="0">
              <a:latin typeface="Calibri" panose="020F0502020204030204" pitchFamily="34" charset="0"/>
            </a:endParaRPr>
          </a:p>
        </p:txBody>
      </p:sp>
      <p:sp>
        <p:nvSpPr>
          <p:cNvPr id="10267" name="AutoShape 30"/>
          <p:cNvSpPr>
            <a:spLocks noChangeArrowheads="1"/>
          </p:cNvSpPr>
          <p:nvPr/>
        </p:nvSpPr>
        <p:spPr bwMode="auto">
          <a:xfrm>
            <a:off x="3962400" y="190500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8" name="Slide Number Placeholder 2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3C77F8-BCAC-407C-A6B6-2D266EAD1368}" type="slidenum">
              <a:rPr lang="en-GB" altLang="en-US" smtClean="0"/>
              <a:pPr eaLnBrk="1" hangingPunct="1"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897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altLang="en-US"/>
              <a:t>Rotation continued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762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GB" altLang="en-US" sz="2000"/>
              <a:t>Doesn’t have to be done at the root of a tree; can be done at any node since that node is the root of some subtree.</a:t>
            </a:r>
          </a:p>
          <a:p>
            <a:endParaRPr lang="en-GB" altLang="en-US" sz="2000"/>
          </a:p>
        </p:txBody>
      </p:sp>
      <p:sp>
        <p:nvSpPr>
          <p:cNvPr id="11268" name="Text Box 45"/>
          <p:cNvSpPr txBox="1">
            <a:spLocks noChangeArrowheads="1"/>
          </p:cNvSpPr>
          <p:nvPr/>
        </p:nvSpPr>
        <p:spPr bwMode="auto">
          <a:xfrm>
            <a:off x="228599" y="1828800"/>
            <a:ext cx="1654176" cy="92333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We are doing the balancing about this node </a:t>
            </a:r>
          </a:p>
        </p:txBody>
      </p:sp>
      <p:sp>
        <p:nvSpPr>
          <p:cNvPr id="11269" name="Freeform 51"/>
          <p:cNvSpPr>
            <a:spLocks/>
          </p:cNvSpPr>
          <p:nvPr/>
        </p:nvSpPr>
        <p:spPr bwMode="auto">
          <a:xfrm>
            <a:off x="4144963" y="29892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4" y="11"/>
                </a:lnTo>
                <a:lnTo>
                  <a:pt x="115" y="15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6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5"/>
                </a:lnTo>
                <a:lnTo>
                  <a:pt x="11" y="124"/>
                </a:lnTo>
                <a:lnTo>
                  <a:pt x="8" y="133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7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0" name="Rectangle 52"/>
          <p:cNvSpPr>
            <a:spLocks noChangeArrowheads="1"/>
          </p:cNvSpPr>
          <p:nvPr/>
        </p:nvSpPr>
        <p:spPr bwMode="auto">
          <a:xfrm>
            <a:off x="4176713" y="30099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21</a:t>
            </a:r>
            <a:endParaRPr lang="en-GB" altLang="en-US"/>
          </a:p>
        </p:txBody>
      </p:sp>
      <p:sp>
        <p:nvSpPr>
          <p:cNvPr id="11271" name="Freeform 53"/>
          <p:cNvSpPr>
            <a:spLocks/>
          </p:cNvSpPr>
          <p:nvPr/>
        </p:nvSpPr>
        <p:spPr bwMode="auto">
          <a:xfrm>
            <a:off x="3725863" y="2290763"/>
            <a:ext cx="300037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2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5" y="55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9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1"/>
                </a:lnTo>
                <a:lnTo>
                  <a:pt x="19" y="270"/>
                </a:lnTo>
                <a:lnTo>
                  <a:pt x="23" y="278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8"/>
                </a:lnTo>
                <a:lnTo>
                  <a:pt x="115" y="362"/>
                </a:lnTo>
                <a:lnTo>
                  <a:pt x="124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3"/>
                </a:lnTo>
                <a:lnTo>
                  <a:pt x="159" y="374"/>
                </a:lnTo>
                <a:lnTo>
                  <a:pt x="169" y="376"/>
                </a:lnTo>
                <a:lnTo>
                  <a:pt x="178" y="376"/>
                </a:lnTo>
                <a:lnTo>
                  <a:pt x="189" y="377"/>
                </a:lnTo>
                <a:lnTo>
                  <a:pt x="198" y="376"/>
                </a:lnTo>
                <a:lnTo>
                  <a:pt x="207" y="376"/>
                </a:lnTo>
                <a:lnTo>
                  <a:pt x="217" y="374"/>
                </a:lnTo>
                <a:lnTo>
                  <a:pt x="227" y="373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8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4" y="308"/>
                </a:lnTo>
                <a:lnTo>
                  <a:pt x="344" y="293"/>
                </a:lnTo>
                <a:lnTo>
                  <a:pt x="353" y="278"/>
                </a:lnTo>
                <a:lnTo>
                  <a:pt x="358" y="270"/>
                </a:lnTo>
                <a:lnTo>
                  <a:pt x="362" y="261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9"/>
                </a:lnTo>
                <a:lnTo>
                  <a:pt x="373" y="150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5"/>
                </a:lnTo>
                <a:lnTo>
                  <a:pt x="308" y="43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7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2" name="Rectangle 54"/>
          <p:cNvSpPr>
            <a:spLocks noChangeArrowheads="1"/>
          </p:cNvSpPr>
          <p:nvPr/>
        </p:nvSpPr>
        <p:spPr bwMode="auto">
          <a:xfrm>
            <a:off x="3757613" y="23114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GB" altLang="en-US"/>
          </a:p>
        </p:txBody>
      </p:sp>
      <p:sp>
        <p:nvSpPr>
          <p:cNvPr id="11273" name="Freeform 55"/>
          <p:cNvSpPr>
            <a:spLocks/>
          </p:cNvSpPr>
          <p:nvPr/>
        </p:nvSpPr>
        <p:spPr bwMode="auto">
          <a:xfrm>
            <a:off x="2828925" y="1752600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3" y="11"/>
                </a:lnTo>
                <a:lnTo>
                  <a:pt x="114" y="14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2" y="98"/>
                </a:lnTo>
                <a:lnTo>
                  <a:pt x="18" y="106"/>
                </a:lnTo>
                <a:lnTo>
                  <a:pt x="13" y="115"/>
                </a:lnTo>
                <a:lnTo>
                  <a:pt x="10" y="124"/>
                </a:lnTo>
                <a:lnTo>
                  <a:pt x="7" y="131"/>
                </a:lnTo>
                <a:lnTo>
                  <a:pt x="4" y="140"/>
                </a:lnTo>
                <a:lnTo>
                  <a:pt x="3" y="149"/>
                </a:lnTo>
                <a:lnTo>
                  <a:pt x="1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8"/>
                </a:lnTo>
                <a:lnTo>
                  <a:pt x="0" y="207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1"/>
                </a:lnTo>
                <a:lnTo>
                  <a:pt x="18" y="270"/>
                </a:lnTo>
                <a:lnTo>
                  <a:pt x="22" y="277"/>
                </a:lnTo>
                <a:lnTo>
                  <a:pt x="32" y="292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5" y="357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8" y="377"/>
                </a:lnTo>
                <a:lnTo>
                  <a:pt x="197" y="375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2" y="344"/>
                </a:lnTo>
                <a:lnTo>
                  <a:pt x="307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2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8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6" y="0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4" name="Rectangle 56"/>
          <p:cNvSpPr>
            <a:spLocks noChangeArrowheads="1"/>
          </p:cNvSpPr>
          <p:nvPr/>
        </p:nvSpPr>
        <p:spPr bwMode="auto">
          <a:xfrm>
            <a:off x="2860675" y="1773238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1275" name="Freeform 58"/>
          <p:cNvSpPr>
            <a:spLocks noEditPoints="1"/>
          </p:cNvSpPr>
          <p:nvPr/>
        </p:nvSpPr>
        <p:spPr bwMode="auto">
          <a:xfrm>
            <a:off x="3078163" y="2017713"/>
            <a:ext cx="796925" cy="268287"/>
          </a:xfrm>
          <a:custGeom>
            <a:avLst/>
            <a:gdLst>
              <a:gd name="T0" fmla="*/ 2147483647 w 1004"/>
              <a:gd name="T1" fmla="*/ 2147483647 h 339"/>
              <a:gd name="T2" fmla="*/ 2147483647 w 1004"/>
              <a:gd name="T3" fmla="*/ 2147483647 h 339"/>
              <a:gd name="T4" fmla="*/ 2147483647 w 1004"/>
              <a:gd name="T5" fmla="*/ 2147483647 h 339"/>
              <a:gd name="T6" fmla="*/ 2147483647 w 1004"/>
              <a:gd name="T7" fmla="*/ 2147483647 h 339"/>
              <a:gd name="T8" fmla="*/ 2147483647 w 1004"/>
              <a:gd name="T9" fmla="*/ 2147483647 h 339"/>
              <a:gd name="T10" fmla="*/ 2147483647 w 1004"/>
              <a:gd name="T11" fmla="*/ 2147483647 h 339"/>
              <a:gd name="T12" fmla="*/ 2147483647 w 1004"/>
              <a:gd name="T13" fmla="*/ 2147483647 h 339"/>
              <a:gd name="T14" fmla="*/ 2147483647 w 1004"/>
              <a:gd name="T15" fmla="*/ 2147483647 h 339"/>
              <a:gd name="T16" fmla="*/ 2147483647 w 1004"/>
              <a:gd name="T17" fmla="*/ 2147483647 h 339"/>
              <a:gd name="T18" fmla="*/ 2147483647 w 1004"/>
              <a:gd name="T19" fmla="*/ 2147483647 h 339"/>
              <a:gd name="T20" fmla="*/ 2147483647 w 1004"/>
              <a:gd name="T21" fmla="*/ 2147483647 h 339"/>
              <a:gd name="T22" fmla="*/ 2147483647 w 1004"/>
              <a:gd name="T23" fmla="*/ 2147483647 h 339"/>
              <a:gd name="T24" fmla="*/ 0 w 1004"/>
              <a:gd name="T25" fmla="*/ 2147483647 h 339"/>
              <a:gd name="T26" fmla="*/ 0 w 1004"/>
              <a:gd name="T27" fmla="*/ 2147483647 h 339"/>
              <a:gd name="T28" fmla="*/ 0 w 1004"/>
              <a:gd name="T29" fmla="*/ 2147483647 h 339"/>
              <a:gd name="T30" fmla="*/ 2147483647 w 1004"/>
              <a:gd name="T31" fmla="*/ 2147483647 h 339"/>
              <a:gd name="T32" fmla="*/ 2147483647 w 1004"/>
              <a:gd name="T33" fmla="*/ 2147483647 h 339"/>
              <a:gd name="T34" fmla="*/ 2147483647 w 1004"/>
              <a:gd name="T35" fmla="*/ 0 h 339"/>
              <a:gd name="T36" fmla="*/ 2147483647 w 1004"/>
              <a:gd name="T37" fmla="*/ 2147483647 h 339"/>
              <a:gd name="T38" fmla="*/ 2147483647 w 1004"/>
              <a:gd name="T39" fmla="*/ 2147483647 h 339"/>
              <a:gd name="T40" fmla="*/ 2147483647 w 1004"/>
              <a:gd name="T41" fmla="*/ 2147483647 h 339"/>
              <a:gd name="T42" fmla="*/ 2147483647 w 1004"/>
              <a:gd name="T43" fmla="*/ 2147483647 h 339"/>
              <a:gd name="T44" fmla="*/ 2147483647 w 1004"/>
              <a:gd name="T45" fmla="*/ 2147483647 h 339"/>
              <a:gd name="T46" fmla="*/ 2147483647 w 1004"/>
              <a:gd name="T47" fmla="*/ 2147483647 h 33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004"/>
              <a:gd name="T73" fmla="*/ 0 h 339"/>
              <a:gd name="T74" fmla="*/ 1004 w 1004"/>
              <a:gd name="T75" fmla="*/ 339 h 33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004" h="339">
                <a:moveTo>
                  <a:pt x="7" y="2"/>
                </a:moveTo>
                <a:lnTo>
                  <a:pt x="945" y="300"/>
                </a:lnTo>
                <a:lnTo>
                  <a:pt x="948" y="302"/>
                </a:lnTo>
                <a:lnTo>
                  <a:pt x="950" y="305"/>
                </a:lnTo>
                <a:lnTo>
                  <a:pt x="950" y="306"/>
                </a:lnTo>
                <a:lnTo>
                  <a:pt x="950" y="309"/>
                </a:lnTo>
                <a:lnTo>
                  <a:pt x="948" y="311"/>
                </a:lnTo>
                <a:lnTo>
                  <a:pt x="947" y="312"/>
                </a:lnTo>
                <a:lnTo>
                  <a:pt x="944" y="314"/>
                </a:lnTo>
                <a:lnTo>
                  <a:pt x="942" y="312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6" y="0"/>
                </a:lnTo>
                <a:lnTo>
                  <a:pt x="7" y="2"/>
                </a:lnTo>
                <a:close/>
                <a:moveTo>
                  <a:pt x="944" y="267"/>
                </a:moveTo>
                <a:lnTo>
                  <a:pt x="1004" y="326"/>
                </a:lnTo>
                <a:lnTo>
                  <a:pt x="919" y="339"/>
                </a:lnTo>
                <a:lnTo>
                  <a:pt x="944" y="26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76" name="Freeform 59"/>
          <p:cNvSpPr>
            <a:spLocks noEditPoints="1"/>
          </p:cNvSpPr>
          <p:nvPr/>
        </p:nvSpPr>
        <p:spPr bwMode="auto">
          <a:xfrm>
            <a:off x="3976688" y="2555875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2147483647 h 526"/>
              <a:gd name="T30" fmla="*/ 2147483647 w 401"/>
              <a:gd name="T31" fmla="*/ 2147483647 h 526"/>
              <a:gd name="T32" fmla="*/ 2147483647 w 401"/>
              <a:gd name="T33" fmla="*/ 0 h 526"/>
              <a:gd name="T34" fmla="*/ 2147483647 w 401"/>
              <a:gd name="T35" fmla="*/ 2147483647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1" y="3"/>
                </a:moveTo>
                <a:lnTo>
                  <a:pt x="368" y="474"/>
                </a:lnTo>
                <a:lnTo>
                  <a:pt x="368" y="475"/>
                </a:lnTo>
                <a:lnTo>
                  <a:pt x="370" y="478"/>
                </a:lnTo>
                <a:lnTo>
                  <a:pt x="368" y="480"/>
                </a:lnTo>
                <a:lnTo>
                  <a:pt x="367" y="483"/>
                </a:lnTo>
                <a:lnTo>
                  <a:pt x="364" y="483"/>
                </a:lnTo>
                <a:lnTo>
                  <a:pt x="362" y="483"/>
                </a:lnTo>
                <a:lnTo>
                  <a:pt x="359" y="483"/>
                </a:lnTo>
                <a:lnTo>
                  <a:pt x="358" y="481"/>
                </a:lnTo>
                <a:lnTo>
                  <a:pt x="2" y="11"/>
                </a:lnTo>
                <a:lnTo>
                  <a:pt x="0" y="9"/>
                </a:lnTo>
                <a:lnTo>
                  <a:pt x="0" y="6"/>
                </a:lnTo>
                <a:lnTo>
                  <a:pt x="2" y="5"/>
                </a:lnTo>
                <a:lnTo>
                  <a:pt x="3" y="2"/>
                </a:lnTo>
                <a:lnTo>
                  <a:pt x="5" y="2"/>
                </a:lnTo>
                <a:lnTo>
                  <a:pt x="8" y="0"/>
                </a:lnTo>
                <a:lnTo>
                  <a:pt x="9" y="2"/>
                </a:lnTo>
                <a:lnTo>
                  <a:pt x="11" y="3"/>
                </a:lnTo>
                <a:close/>
                <a:moveTo>
                  <a:pt x="385" y="445"/>
                </a:moveTo>
                <a:lnTo>
                  <a:pt x="401" y="526"/>
                </a:lnTo>
                <a:lnTo>
                  <a:pt x="325" y="490"/>
                </a:lnTo>
                <a:lnTo>
                  <a:pt x="385" y="44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77" name="Freeform 60"/>
          <p:cNvSpPr>
            <a:spLocks/>
          </p:cNvSpPr>
          <p:nvPr/>
        </p:nvSpPr>
        <p:spPr bwMode="auto">
          <a:xfrm>
            <a:off x="2470150" y="29892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78" name="Rectangle 61"/>
          <p:cNvSpPr>
            <a:spLocks noChangeArrowheads="1"/>
          </p:cNvSpPr>
          <p:nvPr/>
        </p:nvSpPr>
        <p:spPr bwMode="auto">
          <a:xfrm>
            <a:off x="2500313" y="30099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11279" name="Freeform 62"/>
          <p:cNvSpPr>
            <a:spLocks/>
          </p:cNvSpPr>
          <p:nvPr/>
        </p:nvSpPr>
        <p:spPr bwMode="auto">
          <a:xfrm>
            <a:off x="1631950" y="2989263"/>
            <a:ext cx="300038" cy="298450"/>
          </a:xfrm>
          <a:custGeom>
            <a:avLst/>
            <a:gdLst>
              <a:gd name="T0" fmla="*/ 2147483647 w 376"/>
              <a:gd name="T1" fmla="*/ 0 h 377"/>
              <a:gd name="T2" fmla="*/ 2147483647 w 376"/>
              <a:gd name="T3" fmla="*/ 2147483647 h 377"/>
              <a:gd name="T4" fmla="*/ 2147483647 w 376"/>
              <a:gd name="T5" fmla="*/ 2147483647 h 377"/>
              <a:gd name="T6" fmla="*/ 2147483647 w 376"/>
              <a:gd name="T7" fmla="*/ 2147483647 h 377"/>
              <a:gd name="T8" fmla="*/ 2147483647 w 376"/>
              <a:gd name="T9" fmla="*/ 2147483647 h 377"/>
              <a:gd name="T10" fmla="*/ 2147483647 w 376"/>
              <a:gd name="T11" fmla="*/ 2147483647 h 377"/>
              <a:gd name="T12" fmla="*/ 2147483647 w 376"/>
              <a:gd name="T13" fmla="*/ 2147483647 h 377"/>
              <a:gd name="T14" fmla="*/ 2147483647 w 376"/>
              <a:gd name="T15" fmla="*/ 2147483647 h 377"/>
              <a:gd name="T16" fmla="*/ 2147483647 w 376"/>
              <a:gd name="T17" fmla="*/ 2147483647 h 377"/>
              <a:gd name="T18" fmla="*/ 2147483647 w 376"/>
              <a:gd name="T19" fmla="*/ 2147483647 h 377"/>
              <a:gd name="T20" fmla="*/ 2147483647 w 376"/>
              <a:gd name="T21" fmla="*/ 2147483647 h 377"/>
              <a:gd name="T22" fmla="*/ 2147483647 w 376"/>
              <a:gd name="T23" fmla="*/ 2147483647 h 377"/>
              <a:gd name="T24" fmla="*/ 0 w 376"/>
              <a:gd name="T25" fmla="*/ 2147483647 h 377"/>
              <a:gd name="T26" fmla="*/ 0 w 376"/>
              <a:gd name="T27" fmla="*/ 2147483647 h 377"/>
              <a:gd name="T28" fmla="*/ 2147483647 w 376"/>
              <a:gd name="T29" fmla="*/ 2147483647 h 377"/>
              <a:gd name="T30" fmla="*/ 2147483647 w 376"/>
              <a:gd name="T31" fmla="*/ 2147483647 h 377"/>
              <a:gd name="T32" fmla="*/ 2147483647 w 376"/>
              <a:gd name="T33" fmla="*/ 2147483647 h 377"/>
              <a:gd name="T34" fmla="*/ 2147483647 w 376"/>
              <a:gd name="T35" fmla="*/ 2147483647 h 377"/>
              <a:gd name="T36" fmla="*/ 2147483647 w 376"/>
              <a:gd name="T37" fmla="*/ 2147483647 h 377"/>
              <a:gd name="T38" fmla="*/ 2147483647 w 376"/>
              <a:gd name="T39" fmla="*/ 2147483647 h 377"/>
              <a:gd name="T40" fmla="*/ 2147483647 w 376"/>
              <a:gd name="T41" fmla="*/ 2147483647 h 377"/>
              <a:gd name="T42" fmla="*/ 2147483647 w 376"/>
              <a:gd name="T43" fmla="*/ 2147483647 h 377"/>
              <a:gd name="T44" fmla="*/ 2147483647 w 376"/>
              <a:gd name="T45" fmla="*/ 2147483647 h 377"/>
              <a:gd name="T46" fmla="*/ 2147483647 w 376"/>
              <a:gd name="T47" fmla="*/ 2147483647 h 377"/>
              <a:gd name="T48" fmla="*/ 2147483647 w 376"/>
              <a:gd name="T49" fmla="*/ 2147483647 h 377"/>
              <a:gd name="T50" fmla="*/ 2147483647 w 376"/>
              <a:gd name="T51" fmla="*/ 2147483647 h 377"/>
              <a:gd name="T52" fmla="*/ 2147483647 w 376"/>
              <a:gd name="T53" fmla="*/ 2147483647 h 377"/>
              <a:gd name="T54" fmla="*/ 2147483647 w 376"/>
              <a:gd name="T55" fmla="*/ 2147483647 h 377"/>
              <a:gd name="T56" fmla="*/ 2147483647 w 376"/>
              <a:gd name="T57" fmla="*/ 2147483647 h 377"/>
              <a:gd name="T58" fmla="*/ 2147483647 w 376"/>
              <a:gd name="T59" fmla="*/ 2147483647 h 377"/>
              <a:gd name="T60" fmla="*/ 2147483647 w 376"/>
              <a:gd name="T61" fmla="*/ 2147483647 h 377"/>
              <a:gd name="T62" fmla="*/ 2147483647 w 376"/>
              <a:gd name="T63" fmla="*/ 2147483647 h 377"/>
              <a:gd name="T64" fmla="*/ 2147483647 w 376"/>
              <a:gd name="T65" fmla="*/ 2147483647 h 377"/>
              <a:gd name="T66" fmla="*/ 2147483647 w 376"/>
              <a:gd name="T67" fmla="*/ 2147483647 h 377"/>
              <a:gd name="T68" fmla="*/ 2147483647 w 376"/>
              <a:gd name="T69" fmla="*/ 2147483647 h 377"/>
              <a:gd name="T70" fmla="*/ 2147483647 w 376"/>
              <a:gd name="T71" fmla="*/ 2147483647 h 377"/>
              <a:gd name="T72" fmla="*/ 2147483647 w 376"/>
              <a:gd name="T73" fmla="*/ 2147483647 h 377"/>
              <a:gd name="T74" fmla="*/ 2147483647 w 376"/>
              <a:gd name="T75" fmla="*/ 2147483647 h 377"/>
              <a:gd name="T76" fmla="*/ 2147483647 w 376"/>
              <a:gd name="T77" fmla="*/ 2147483647 h 377"/>
              <a:gd name="T78" fmla="*/ 2147483647 w 376"/>
              <a:gd name="T79" fmla="*/ 2147483647 h 377"/>
              <a:gd name="T80" fmla="*/ 2147483647 w 376"/>
              <a:gd name="T81" fmla="*/ 2147483647 h 377"/>
              <a:gd name="T82" fmla="*/ 2147483647 w 376"/>
              <a:gd name="T83" fmla="*/ 2147483647 h 377"/>
              <a:gd name="T84" fmla="*/ 2147483647 w 376"/>
              <a:gd name="T85" fmla="*/ 2147483647 h 377"/>
              <a:gd name="T86" fmla="*/ 2147483647 w 376"/>
              <a:gd name="T87" fmla="*/ 2147483647 h 377"/>
              <a:gd name="T88" fmla="*/ 2147483647 w 376"/>
              <a:gd name="T89" fmla="*/ 2147483647 h 377"/>
              <a:gd name="T90" fmla="*/ 2147483647 w 376"/>
              <a:gd name="T91" fmla="*/ 2147483647 h 377"/>
              <a:gd name="T92" fmla="*/ 2147483647 w 376"/>
              <a:gd name="T93" fmla="*/ 2147483647 h 377"/>
              <a:gd name="T94" fmla="*/ 2147483647 w 376"/>
              <a:gd name="T95" fmla="*/ 2147483647 h 377"/>
              <a:gd name="T96" fmla="*/ 2147483647 w 376"/>
              <a:gd name="T97" fmla="*/ 2147483647 h 377"/>
              <a:gd name="T98" fmla="*/ 2147483647 w 376"/>
              <a:gd name="T99" fmla="*/ 2147483647 h 377"/>
              <a:gd name="T100" fmla="*/ 2147483647 w 376"/>
              <a:gd name="T101" fmla="*/ 2147483647 h 377"/>
              <a:gd name="T102" fmla="*/ 2147483647 w 376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6"/>
              <a:gd name="T157" fmla="*/ 0 h 377"/>
              <a:gd name="T158" fmla="*/ 376 w 376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6" h="377">
                <a:moveTo>
                  <a:pt x="188" y="0"/>
                </a:moveTo>
                <a:lnTo>
                  <a:pt x="177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7" y="23"/>
                </a:lnTo>
                <a:lnTo>
                  <a:pt x="82" y="32"/>
                </a:lnTo>
                <a:lnTo>
                  <a:pt x="67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7" y="333"/>
                </a:lnTo>
                <a:lnTo>
                  <a:pt x="82" y="345"/>
                </a:lnTo>
                <a:lnTo>
                  <a:pt x="97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7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3" y="217"/>
                </a:lnTo>
                <a:lnTo>
                  <a:pt x="375" y="208"/>
                </a:lnTo>
                <a:lnTo>
                  <a:pt x="375" y="197"/>
                </a:lnTo>
                <a:lnTo>
                  <a:pt x="376" y="188"/>
                </a:lnTo>
                <a:lnTo>
                  <a:pt x="375" y="178"/>
                </a:lnTo>
                <a:lnTo>
                  <a:pt x="375" y="169"/>
                </a:lnTo>
                <a:lnTo>
                  <a:pt x="373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0" name="Rectangle 63"/>
          <p:cNvSpPr>
            <a:spLocks noChangeArrowheads="1"/>
          </p:cNvSpPr>
          <p:nvPr/>
        </p:nvSpPr>
        <p:spPr bwMode="auto">
          <a:xfrm>
            <a:off x="1724025" y="30099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1281" name="Freeform 64"/>
          <p:cNvSpPr>
            <a:spLocks/>
          </p:cNvSpPr>
          <p:nvPr/>
        </p:nvSpPr>
        <p:spPr bwMode="auto">
          <a:xfrm>
            <a:off x="2051050" y="2290763"/>
            <a:ext cx="298450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4" y="55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1"/>
                </a:lnTo>
                <a:lnTo>
                  <a:pt x="18" y="270"/>
                </a:lnTo>
                <a:lnTo>
                  <a:pt x="23" y="278"/>
                </a:lnTo>
                <a:lnTo>
                  <a:pt x="32" y="293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8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3"/>
                </a:lnTo>
                <a:lnTo>
                  <a:pt x="158" y="374"/>
                </a:lnTo>
                <a:lnTo>
                  <a:pt x="169" y="376"/>
                </a:lnTo>
                <a:lnTo>
                  <a:pt x="178" y="376"/>
                </a:lnTo>
                <a:lnTo>
                  <a:pt x="189" y="377"/>
                </a:lnTo>
                <a:lnTo>
                  <a:pt x="198" y="376"/>
                </a:lnTo>
                <a:lnTo>
                  <a:pt x="207" y="376"/>
                </a:lnTo>
                <a:lnTo>
                  <a:pt x="217" y="374"/>
                </a:lnTo>
                <a:lnTo>
                  <a:pt x="226" y="373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8"/>
                </a:lnTo>
                <a:lnTo>
                  <a:pt x="277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3"/>
                </a:lnTo>
                <a:lnTo>
                  <a:pt x="353" y="278"/>
                </a:lnTo>
                <a:lnTo>
                  <a:pt x="357" y="270"/>
                </a:lnTo>
                <a:lnTo>
                  <a:pt x="362" y="261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8"/>
                </a:lnTo>
                <a:lnTo>
                  <a:pt x="377" y="189"/>
                </a:lnTo>
                <a:lnTo>
                  <a:pt x="375" y="178"/>
                </a:lnTo>
                <a:lnTo>
                  <a:pt x="375" y="169"/>
                </a:lnTo>
                <a:lnTo>
                  <a:pt x="374" y="159"/>
                </a:lnTo>
                <a:lnTo>
                  <a:pt x="372" y="150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5"/>
                </a:lnTo>
                <a:lnTo>
                  <a:pt x="308" y="43"/>
                </a:lnTo>
                <a:lnTo>
                  <a:pt x="293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2" name="Rectangle 65"/>
          <p:cNvSpPr>
            <a:spLocks noChangeArrowheads="1"/>
          </p:cNvSpPr>
          <p:nvPr/>
        </p:nvSpPr>
        <p:spPr bwMode="auto">
          <a:xfrm>
            <a:off x="2141538" y="23114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1283" name="Freeform 66"/>
          <p:cNvSpPr>
            <a:spLocks noEditPoints="1"/>
          </p:cNvSpPr>
          <p:nvPr/>
        </p:nvSpPr>
        <p:spPr bwMode="auto">
          <a:xfrm>
            <a:off x="1781175" y="2555875"/>
            <a:ext cx="317500" cy="417513"/>
          </a:xfrm>
          <a:custGeom>
            <a:avLst/>
            <a:gdLst>
              <a:gd name="T0" fmla="*/ 2147483647 w 399"/>
              <a:gd name="T1" fmla="*/ 2147483647 h 526"/>
              <a:gd name="T2" fmla="*/ 2147483647 w 399"/>
              <a:gd name="T3" fmla="*/ 2147483647 h 526"/>
              <a:gd name="T4" fmla="*/ 2147483647 w 399"/>
              <a:gd name="T5" fmla="*/ 2147483647 h 526"/>
              <a:gd name="T6" fmla="*/ 2147483647 w 399"/>
              <a:gd name="T7" fmla="*/ 2147483647 h 526"/>
              <a:gd name="T8" fmla="*/ 2147483647 w 399"/>
              <a:gd name="T9" fmla="*/ 2147483647 h 526"/>
              <a:gd name="T10" fmla="*/ 2147483647 w 399"/>
              <a:gd name="T11" fmla="*/ 2147483647 h 526"/>
              <a:gd name="T12" fmla="*/ 2147483647 w 399"/>
              <a:gd name="T13" fmla="*/ 2147483647 h 526"/>
              <a:gd name="T14" fmla="*/ 2147483647 w 399"/>
              <a:gd name="T15" fmla="*/ 2147483647 h 526"/>
              <a:gd name="T16" fmla="*/ 2147483647 w 399"/>
              <a:gd name="T17" fmla="*/ 2147483647 h 526"/>
              <a:gd name="T18" fmla="*/ 2147483647 w 399"/>
              <a:gd name="T19" fmla="*/ 2147483647 h 526"/>
              <a:gd name="T20" fmla="*/ 2147483647 w 399"/>
              <a:gd name="T21" fmla="*/ 2147483647 h 526"/>
              <a:gd name="T22" fmla="*/ 2147483647 w 399"/>
              <a:gd name="T23" fmla="*/ 2147483647 h 526"/>
              <a:gd name="T24" fmla="*/ 2147483647 w 399"/>
              <a:gd name="T25" fmla="*/ 0 h 526"/>
              <a:gd name="T26" fmla="*/ 2147483647 w 399"/>
              <a:gd name="T27" fmla="*/ 2147483647 h 526"/>
              <a:gd name="T28" fmla="*/ 2147483647 w 399"/>
              <a:gd name="T29" fmla="*/ 2147483647 h 526"/>
              <a:gd name="T30" fmla="*/ 2147483647 w 399"/>
              <a:gd name="T31" fmla="*/ 2147483647 h 526"/>
              <a:gd name="T32" fmla="*/ 2147483647 w 399"/>
              <a:gd name="T33" fmla="*/ 2147483647 h 526"/>
              <a:gd name="T34" fmla="*/ 2147483647 w 399"/>
              <a:gd name="T35" fmla="*/ 2147483647 h 526"/>
              <a:gd name="T36" fmla="*/ 2147483647 w 399"/>
              <a:gd name="T37" fmla="*/ 2147483647 h 526"/>
              <a:gd name="T38" fmla="*/ 2147483647 w 399"/>
              <a:gd name="T39" fmla="*/ 2147483647 h 526"/>
              <a:gd name="T40" fmla="*/ 2147483647 w 399"/>
              <a:gd name="T41" fmla="*/ 2147483647 h 526"/>
              <a:gd name="T42" fmla="*/ 0 w 399"/>
              <a:gd name="T43" fmla="*/ 2147483647 h 526"/>
              <a:gd name="T44" fmla="*/ 2147483647 w 399"/>
              <a:gd name="T45" fmla="*/ 2147483647 h 526"/>
              <a:gd name="T46" fmla="*/ 2147483647 w 399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9"/>
              <a:gd name="T73" fmla="*/ 0 h 526"/>
              <a:gd name="T74" fmla="*/ 399 w 399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9" h="526">
                <a:moveTo>
                  <a:pt x="398" y="11"/>
                </a:moveTo>
                <a:lnTo>
                  <a:pt x="42" y="481"/>
                </a:lnTo>
                <a:lnTo>
                  <a:pt x="41" y="483"/>
                </a:lnTo>
                <a:lnTo>
                  <a:pt x="38" y="483"/>
                </a:lnTo>
                <a:lnTo>
                  <a:pt x="36" y="483"/>
                </a:lnTo>
                <a:lnTo>
                  <a:pt x="33" y="483"/>
                </a:lnTo>
                <a:lnTo>
                  <a:pt x="32" y="480"/>
                </a:lnTo>
                <a:lnTo>
                  <a:pt x="32" y="478"/>
                </a:lnTo>
                <a:lnTo>
                  <a:pt x="32" y="475"/>
                </a:lnTo>
                <a:lnTo>
                  <a:pt x="32" y="474"/>
                </a:lnTo>
                <a:lnTo>
                  <a:pt x="389" y="3"/>
                </a:lnTo>
                <a:lnTo>
                  <a:pt x="390" y="2"/>
                </a:lnTo>
                <a:lnTo>
                  <a:pt x="392" y="0"/>
                </a:lnTo>
                <a:lnTo>
                  <a:pt x="395" y="2"/>
                </a:lnTo>
                <a:lnTo>
                  <a:pt x="398" y="2"/>
                </a:lnTo>
                <a:lnTo>
                  <a:pt x="399" y="5"/>
                </a:lnTo>
                <a:lnTo>
                  <a:pt x="399" y="6"/>
                </a:lnTo>
                <a:lnTo>
                  <a:pt x="399" y="9"/>
                </a:lnTo>
                <a:lnTo>
                  <a:pt x="398" y="11"/>
                </a:lnTo>
                <a:close/>
                <a:moveTo>
                  <a:pt x="75" y="490"/>
                </a:moveTo>
                <a:lnTo>
                  <a:pt x="0" y="526"/>
                </a:lnTo>
                <a:lnTo>
                  <a:pt x="15" y="444"/>
                </a:lnTo>
                <a:lnTo>
                  <a:pt x="75" y="49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84" name="Freeform 67"/>
          <p:cNvSpPr>
            <a:spLocks noEditPoints="1"/>
          </p:cNvSpPr>
          <p:nvPr/>
        </p:nvSpPr>
        <p:spPr bwMode="auto">
          <a:xfrm>
            <a:off x="2301875" y="2555875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2147483647 h 526"/>
              <a:gd name="T30" fmla="*/ 2147483647 w 401"/>
              <a:gd name="T31" fmla="*/ 2147483647 h 526"/>
              <a:gd name="T32" fmla="*/ 2147483647 w 401"/>
              <a:gd name="T33" fmla="*/ 0 h 526"/>
              <a:gd name="T34" fmla="*/ 2147483647 w 401"/>
              <a:gd name="T35" fmla="*/ 2147483647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1" y="3"/>
                </a:moveTo>
                <a:lnTo>
                  <a:pt x="368" y="474"/>
                </a:lnTo>
                <a:lnTo>
                  <a:pt x="368" y="475"/>
                </a:lnTo>
                <a:lnTo>
                  <a:pt x="369" y="478"/>
                </a:lnTo>
                <a:lnTo>
                  <a:pt x="368" y="480"/>
                </a:lnTo>
                <a:lnTo>
                  <a:pt x="366" y="483"/>
                </a:lnTo>
                <a:lnTo>
                  <a:pt x="363" y="483"/>
                </a:lnTo>
                <a:lnTo>
                  <a:pt x="362" y="483"/>
                </a:lnTo>
                <a:lnTo>
                  <a:pt x="359" y="483"/>
                </a:lnTo>
                <a:lnTo>
                  <a:pt x="357" y="481"/>
                </a:lnTo>
                <a:lnTo>
                  <a:pt x="2" y="11"/>
                </a:lnTo>
                <a:lnTo>
                  <a:pt x="0" y="9"/>
                </a:lnTo>
                <a:lnTo>
                  <a:pt x="0" y="6"/>
                </a:lnTo>
                <a:lnTo>
                  <a:pt x="2" y="5"/>
                </a:lnTo>
                <a:lnTo>
                  <a:pt x="3" y="2"/>
                </a:lnTo>
                <a:lnTo>
                  <a:pt x="5" y="2"/>
                </a:lnTo>
                <a:lnTo>
                  <a:pt x="8" y="0"/>
                </a:lnTo>
                <a:lnTo>
                  <a:pt x="9" y="2"/>
                </a:lnTo>
                <a:lnTo>
                  <a:pt x="11" y="3"/>
                </a:lnTo>
                <a:close/>
                <a:moveTo>
                  <a:pt x="385" y="444"/>
                </a:moveTo>
                <a:lnTo>
                  <a:pt x="401" y="526"/>
                </a:lnTo>
                <a:lnTo>
                  <a:pt x="324" y="490"/>
                </a:lnTo>
                <a:lnTo>
                  <a:pt x="385" y="44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85" name="Freeform 68"/>
          <p:cNvSpPr>
            <a:spLocks/>
          </p:cNvSpPr>
          <p:nvPr/>
        </p:nvSpPr>
        <p:spPr bwMode="auto">
          <a:xfrm>
            <a:off x="914400" y="42846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3"/>
                </a:lnTo>
                <a:lnTo>
                  <a:pt x="149" y="5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20"/>
                </a:lnTo>
                <a:lnTo>
                  <a:pt x="98" y="23"/>
                </a:lnTo>
                <a:lnTo>
                  <a:pt x="83" y="33"/>
                </a:lnTo>
                <a:lnTo>
                  <a:pt x="68" y="44"/>
                </a:lnTo>
                <a:lnTo>
                  <a:pt x="54" y="56"/>
                </a:lnTo>
                <a:lnTo>
                  <a:pt x="42" y="70"/>
                </a:lnTo>
                <a:lnTo>
                  <a:pt x="32" y="83"/>
                </a:lnTo>
                <a:lnTo>
                  <a:pt x="23" y="100"/>
                </a:lnTo>
                <a:lnTo>
                  <a:pt x="18" y="107"/>
                </a:lnTo>
                <a:lnTo>
                  <a:pt x="14" y="116"/>
                </a:lnTo>
                <a:lnTo>
                  <a:pt x="11" y="124"/>
                </a:lnTo>
                <a:lnTo>
                  <a:pt x="8" y="133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3"/>
                </a:lnTo>
                <a:lnTo>
                  <a:pt x="68" y="335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7"/>
                </a:lnTo>
                <a:lnTo>
                  <a:pt x="131" y="370"/>
                </a:lnTo>
                <a:lnTo>
                  <a:pt x="140" y="371"/>
                </a:lnTo>
                <a:lnTo>
                  <a:pt x="149" y="374"/>
                </a:lnTo>
                <a:lnTo>
                  <a:pt x="158" y="376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6"/>
                </a:lnTo>
                <a:lnTo>
                  <a:pt x="226" y="374"/>
                </a:lnTo>
                <a:lnTo>
                  <a:pt x="235" y="371"/>
                </a:lnTo>
                <a:lnTo>
                  <a:pt x="244" y="370"/>
                </a:lnTo>
                <a:lnTo>
                  <a:pt x="253" y="367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3" y="345"/>
                </a:lnTo>
                <a:lnTo>
                  <a:pt x="308" y="335"/>
                </a:lnTo>
                <a:lnTo>
                  <a:pt x="321" y="323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9"/>
                </a:lnTo>
                <a:lnTo>
                  <a:pt x="377" y="189"/>
                </a:lnTo>
                <a:lnTo>
                  <a:pt x="375" y="180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6"/>
                </a:lnTo>
                <a:lnTo>
                  <a:pt x="357" y="107"/>
                </a:lnTo>
                <a:lnTo>
                  <a:pt x="353" y="100"/>
                </a:lnTo>
                <a:lnTo>
                  <a:pt x="344" y="83"/>
                </a:lnTo>
                <a:lnTo>
                  <a:pt x="333" y="70"/>
                </a:lnTo>
                <a:lnTo>
                  <a:pt x="321" y="56"/>
                </a:lnTo>
                <a:lnTo>
                  <a:pt x="308" y="44"/>
                </a:lnTo>
                <a:lnTo>
                  <a:pt x="293" y="33"/>
                </a:lnTo>
                <a:lnTo>
                  <a:pt x="277" y="23"/>
                </a:lnTo>
                <a:lnTo>
                  <a:pt x="270" y="20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5"/>
                </a:lnTo>
                <a:lnTo>
                  <a:pt x="217" y="3"/>
                </a:lnTo>
                <a:lnTo>
                  <a:pt x="207" y="2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6" name="Rectangle 69"/>
          <p:cNvSpPr>
            <a:spLocks noChangeArrowheads="1"/>
          </p:cNvSpPr>
          <p:nvPr/>
        </p:nvSpPr>
        <p:spPr bwMode="auto">
          <a:xfrm>
            <a:off x="1004888" y="43053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1287" name="Freeform 70"/>
          <p:cNvSpPr>
            <a:spLocks/>
          </p:cNvSpPr>
          <p:nvPr/>
        </p:nvSpPr>
        <p:spPr bwMode="auto">
          <a:xfrm>
            <a:off x="1273175" y="3686175"/>
            <a:ext cx="300038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59" y="3"/>
                </a:lnTo>
                <a:lnTo>
                  <a:pt x="150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9"/>
                </a:lnTo>
                <a:lnTo>
                  <a:pt x="98" y="22"/>
                </a:lnTo>
                <a:lnTo>
                  <a:pt x="83" y="33"/>
                </a:lnTo>
                <a:lnTo>
                  <a:pt x="68" y="43"/>
                </a:lnTo>
                <a:lnTo>
                  <a:pt x="55" y="55"/>
                </a:lnTo>
                <a:lnTo>
                  <a:pt x="43" y="69"/>
                </a:lnTo>
                <a:lnTo>
                  <a:pt x="32" y="83"/>
                </a:lnTo>
                <a:lnTo>
                  <a:pt x="23" y="99"/>
                </a:lnTo>
                <a:lnTo>
                  <a:pt x="18" y="107"/>
                </a:lnTo>
                <a:lnTo>
                  <a:pt x="14" y="116"/>
                </a:lnTo>
                <a:lnTo>
                  <a:pt x="11" y="123"/>
                </a:lnTo>
                <a:lnTo>
                  <a:pt x="8" y="132"/>
                </a:lnTo>
                <a:lnTo>
                  <a:pt x="5" y="141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69"/>
                </a:lnTo>
                <a:lnTo>
                  <a:pt x="23" y="279"/>
                </a:lnTo>
                <a:lnTo>
                  <a:pt x="32" y="294"/>
                </a:lnTo>
                <a:lnTo>
                  <a:pt x="43" y="309"/>
                </a:lnTo>
                <a:lnTo>
                  <a:pt x="55" y="322"/>
                </a:lnTo>
                <a:lnTo>
                  <a:pt x="68" y="334"/>
                </a:lnTo>
                <a:lnTo>
                  <a:pt x="83" y="345"/>
                </a:lnTo>
                <a:lnTo>
                  <a:pt x="98" y="354"/>
                </a:lnTo>
                <a:lnTo>
                  <a:pt x="106" y="358"/>
                </a:lnTo>
                <a:lnTo>
                  <a:pt x="115" y="361"/>
                </a:lnTo>
                <a:lnTo>
                  <a:pt x="124" y="366"/>
                </a:lnTo>
                <a:lnTo>
                  <a:pt x="131" y="369"/>
                </a:lnTo>
                <a:lnTo>
                  <a:pt x="140" y="370"/>
                </a:lnTo>
                <a:lnTo>
                  <a:pt x="150" y="373"/>
                </a:lnTo>
                <a:lnTo>
                  <a:pt x="159" y="375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4" y="366"/>
                </a:lnTo>
                <a:lnTo>
                  <a:pt x="261" y="361"/>
                </a:lnTo>
                <a:lnTo>
                  <a:pt x="270" y="358"/>
                </a:lnTo>
                <a:lnTo>
                  <a:pt x="278" y="354"/>
                </a:lnTo>
                <a:lnTo>
                  <a:pt x="293" y="345"/>
                </a:lnTo>
                <a:lnTo>
                  <a:pt x="308" y="334"/>
                </a:lnTo>
                <a:lnTo>
                  <a:pt x="321" y="322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8" y="269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8"/>
                </a:lnTo>
                <a:lnTo>
                  <a:pt x="376" y="199"/>
                </a:lnTo>
                <a:lnTo>
                  <a:pt x="377" y="188"/>
                </a:lnTo>
                <a:lnTo>
                  <a:pt x="376" y="179"/>
                </a:lnTo>
                <a:lnTo>
                  <a:pt x="376" y="169"/>
                </a:lnTo>
                <a:lnTo>
                  <a:pt x="374" y="159"/>
                </a:lnTo>
                <a:lnTo>
                  <a:pt x="373" y="150"/>
                </a:lnTo>
                <a:lnTo>
                  <a:pt x="371" y="141"/>
                </a:lnTo>
                <a:lnTo>
                  <a:pt x="368" y="132"/>
                </a:lnTo>
                <a:lnTo>
                  <a:pt x="365" y="123"/>
                </a:lnTo>
                <a:lnTo>
                  <a:pt x="362" y="116"/>
                </a:lnTo>
                <a:lnTo>
                  <a:pt x="358" y="107"/>
                </a:lnTo>
                <a:lnTo>
                  <a:pt x="353" y="99"/>
                </a:lnTo>
                <a:lnTo>
                  <a:pt x="344" y="83"/>
                </a:lnTo>
                <a:lnTo>
                  <a:pt x="333" y="69"/>
                </a:lnTo>
                <a:lnTo>
                  <a:pt x="321" y="55"/>
                </a:lnTo>
                <a:lnTo>
                  <a:pt x="308" y="43"/>
                </a:lnTo>
                <a:lnTo>
                  <a:pt x="293" y="33"/>
                </a:lnTo>
                <a:lnTo>
                  <a:pt x="278" y="22"/>
                </a:lnTo>
                <a:lnTo>
                  <a:pt x="270" y="19"/>
                </a:lnTo>
                <a:lnTo>
                  <a:pt x="261" y="15"/>
                </a:lnTo>
                <a:lnTo>
                  <a:pt x="254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7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88" name="Rectangle 71"/>
          <p:cNvSpPr>
            <a:spLocks noChangeArrowheads="1"/>
          </p:cNvSpPr>
          <p:nvPr/>
        </p:nvSpPr>
        <p:spPr bwMode="auto">
          <a:xfrm>
            <a:off x="13636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1289" name="Freeform 72"/>
          <p:cNvSpPr>
            <a:spLocks noEditPoints="1"/>
          </p:cNvSpPr>
          <p:nvPr/>
        </p:nvSpPr>
        <p:spPr bwMode="auto">
          <a:xfrm>
            <a:off x="1422400" y="3254375"/>
            <a:ext cx="257175" cy="417513"/>
          </a:xfrm>
          <a:custGeom>
            <a:avLst/>
            <a:gdLst>
              <a:gd name="T0" fmla="*/ 2147483647 w 324"/>
              <a:gd name="T1" fmla="*/ 2147483647 h 526"/>
              <a:gd name="T2" fmla="*/ 2147483647 w 324"/>
              <a:gd name="T3" fmla="*/ 2147483647 h 526"/>
              <a:gd name="T4" fmla="*/ 2147483647 w 324"/>
              <a:gd name="T5" fmla="*/ 2147483647 h 526"/>
              <a:gd name="T6" fmla="*/ 2147483647 w 324"/>
              <a:gd name="T7" fmla="*/ 2147483647 h 526"/>
              <a:gd name="T8" fmla="*/ 2147483647 w 324"/>
              <a:gd name="T9" fmla="*/ 2147483647 h 526"/>
              <a:gd name="T10" fmla="*/ 2147483647 w 324"/>
              <a:gd name="T11" fmla="*/ 2147483647 h 526"/>
              <a:gd name="T12" fmla="*/ 2147483647 w 324"/>
              <a:gd name="T13" fmla="*/ 2147483647 h 526"/>
              <a:gd name="T14" fmla="*/ 2147483647 w 324"/>
              <a:gd name="T15" fmla="*/ 2147483647 h 526"/>
              <a:gd name="T16" fmla="*/ 2147483647 w 324"/>
              <a:gd name="T17" fmla="*/ 2147483647 h 526"/>
              <a:gd name="T18" fmla="*/ 2147483647 w 324"/>
              <a:gd name="T19" fmla="*/ 2147483647 h 526"/>
              <a:gd name="T20" fmla="*/ 2147483647 w 324"/>
              <a:gd name="T21" fmla="*/ 2147483647 h 526"/>
              <a:gd name="T22" fmla="*/ 2147483647 w 324"/>
              <a:gd name="T23" fmla="*/ 2147483647 h 526"/>
              <a:gd name="T24" fmla="*/ 2147483647 w 324"/>
              <a:gd name="T25" fmla="*/ 0 h 526"/>
              <a:gd name="T26" fmla="*/ 2147483647 w 324"/>
              <a:gd name="T27" fmla="*/ 0 h 526"/>
              <a:gd name="T28" fmla="*/ 2147483647 w 324"/>
              <a:gd name="T29" fmla="*/ 0 h 526"/>
              <a:gd name="T30" fmla="*/ 2147483647 w 324"/>
              <a:gd name="T31" fmla="*/ 2147483647 h 526"/>
              <a:gd name="T32" fmla="*/ 2147483647 w 324"/>
              <a:gd name="T33" fmla="*/ 2147483647 h 526"/>
              <a:gd name="T34" fmla="*/ 2147483647 w 324"/>
              <a:gd name="T35" fmla="*/ 2147483647 h 526"/>
              <a:gd name="T36" fmla="*/ 2147483647 w 324"/>
              <a:gd name="T37" fmla="*/ 2147483647 h 526"/>
              <a:gd name="T38" fmla="*/ 2147483647 w 324"/>
              <a:gd name="T39" fmla="*/ 2147483647 h 526"/>
              <a:gd name="T40" fmla="*/ 2147483647 w 324"/>
              <a:gd name="T41" fmla="*/ 2147483647 h 526"/>
              <a:gd name="T42" fmla="*/ 0 w 324"/>
              <a:gd name="T43" fmla="*/ 2147483647 h 526"/>
              <a:gd name="T44" fmla="*/ 2147483647 w 324"/>
              <a:gd name="T45" fmla="*/ 2147483647 h 526"/>
              <a:gd name="T46" fmla="*/ 2147483647 w 32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526"/>
              <a:gd name="T74" fmla="*/ 324 w 32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526">
                <a:moveTo>
                  <a:pt x="324" y="9"/>
                </a:moveTo>
                <a:lnTo>
                  <a:pt x="37" y="474"/>
                </a:lnTo>
                <a:lnTo>
                  <a:pt x="36" y="477"/>
                </a:lnTo>
                <a:lnTo>
                  <a:pt x="33" y="477"/>
                </a:lnTo>
                <a:lnTo>
                  <a:pt x="31" y="477"/>
                </a:lnTo>
                <a:lnTo>
                  <a:pt x="28" y="477"/>
                </a:lnTo>
                <a:lnTo>
                  <a:pt x="27" y="476"/>
                </a:lnTo>
                <a:lnTo>
                  <a:pt x="25" y="473"/>
                </a:lnTo>
                <a:lnTo>
                  <a:pt x="25" y="471"/>
                </a:lnTo>
                <a:lnTo>
                  <a:pt x="27" y="468"/>
                </a:lnTo>
                <a:lnTo>
                  <a:pt x="313" y="3"/>
                </a:lnTo>
                <a:lnTo>
                  <a:pt x="315" y="1"/>
                </a:lnTo>
                <a:lnTo>
                  <a:pt x="316" y="0"/>
                </a:lnTo>
                <a:lnTo>
                  <a:pt x="319" y="0"/>
                </a:lnTo>
                <a:lnTo>
                  <a:pt x="321" y="0"/>
                </a:lnTo>
                <a:lnTo>
                  <a:pt x="322" y="3"/>
                </a:lnTo>
                <a:lnTo>
                  <a:pt x="324" y="4"/>
                </a:lnTo>
                <a:lnTo>
                  <a:pt x="324" y="7"/>
                </a:lnTo>
                <a:lnTo>
                  <a:pt x="324" y="9"/>
                </a:lnTo>
                <a:close/>
                <a:moveTo>
                  <a:pt x="71" y="480"/>
                </a:moveTo>
                <a:lnTo>
                  <a:pt x="0" y="526"/>
                </a:lnTo>
                <a:lnTo>
                  <a:pt x="6" y="441"/>
                </a:lnTo>
                <a:lnTo>
                  <a:pt x="71" y="48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90" name="Freeform 73"/>
          <p:cNvSpPr>
            <a:spLocks noEditPoints="1"/>
          </p:cNvSpPr>
          <p:nvPr/>
        </p:nvSpPr>
        <p:spPr bwMode="auto">
          <a:xfrm>
            <a:off x="1063625" y="3951288"/>
            <a:ext cx="257175" cy="319087"/>
          </a:xfrm>
          <a:custGeom>
            <a:avLst/>
            <a:gdLst>
              <a:gd name="T0" fmla="*/ 2147483647 w 324"/>
              <a:gd name="T1" fmla="*/ 2147483647 h 401"/>
              <a:gd name="T2" fmla="*/ 2147483647 w 324"/>
              <a:gd name="T3" fmla="*/ 2147483647 h 401"/>
              <a:gd name="T4" fmla="*/ 2147483647 w 324"/>
              <a:gd name="T5" fmla="*/ 2147483647 h 401"/>
              <a:gd name="T6" fmla="*/ 2147483647 w 324"/>
              <a:gd name="T7" fmla="*/ 2147483647 h 401"/>
              <a:gd name="T8" fmla="*/ 2147483647 w 324"/>
              <a:gd name="T9" fmla="*/ 2147483647 h 401"/>
              <a:gd name="T10" fmla="*/ 2147483647 w 324"/>
              <a:gd name="T11" fmla="*/ 2147483647 h 401"/>
              <a:gd name="T12" fmla="*/ 2147483647 w 324"/>
              <a:gd name="T13" fmla="*/ 2147483647 h 401"/>
              <a:gd name="T14" fmla="*/ 2147483647 w 324"/>
              <a:gd name="T15" fmla="*/ 2147483647 h 401"/>
              <a:gd name="T16" fmla="*/ 2147483647 w 324"/>
              <a:gd name="T17" fmla="*/ 2147483647 h 401"/>
              <a:gd name="T18" fmla="*/ 2147483647 w 324"/>
              <a:gd name="T19" fmla="*/ 2147483647 h 401"/>
              <a:gd name="T20" fmla="*/ 2147483647 w 324"/>
              <a:gd name="T21" fmla="*/ 2147483647 h 401"/>
              <a:gd name="T22" fmla="*/ 2147483647 w 324"/>
              <a:gd name="T23" fmla="*/ 2147483647 h 401"/>
              <a:gd name="T24" fmla="*/ 2147483647 w 324"/>
              <a:gd name="T25" fmla="*/ 0 h 401"/>
              <a:gd name="T26" fmla="*/ 2147483647 w 324"/>
              <a:gd name="T27" fmla="*/ 0 h 401"/>
              <a:gd name="T28" fmla="*/ 2147483647 w 324"/>
              <a:gd name="T29" fmla="*/ 2147483647 h 401"/>
              <a:gd name="T30" fmla="*/ 2147483647 w 324"/>
              <a:gd name="T31" fmla="*/ 2147483647 h 401"/>
              <a:gd name="T32" fmla="*/ 2147483647 w 324"/>
              <a:gd name="T33" fmla="*/ 2147483647 h 401"/>
              <a:gd name="T34" fmla="*/ 2147483647 w 324"/>
              <a:gd name="T35" fmla="*/ 2147483647 h 401"/>
              <a:gd name="T36" fmla="*/ 2147483647 w 324"/>
              <a:gd name="T37" fmla="*/ 2147483647 h 401"/>
              <a:gd name="T38" fmla="*/ 2147483647 w 324"/>
              <a:gd name="T39" fmla="*/ 2147483647 h 401"/>
              <a:gd name="T40" fmla="*/ 2147483647 w 324"/>
              <a:gd name="T41" fmla="*/ 2147483647 h 401"/>
              <a:gd name="T42" fmla="*/ 0 w 324"/>
              <a:gd name="T43" fmla="*/ 2147483647 h 401"/>
              <a:gd name="T44" fmla="*/ 2147483647 w 324"/>
              <a:gd name="T45" fmla="*/ 2147483647 h 401"/>
              <a:gd name="T46" fmla="*/ 2147483647 w 324"/>
              <a:gd name="T47" fmla="*/ 2147483647 h 40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401"/>
              <a:gd name="T74" fmla="*/ 324 w 324"/>
              <a:gd name="T75" fmla="*/ 401 h 401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401">
                <a:moveTo>
                  <a:pt x="322" y="11"/>
                </a:moveTo>
                <a:lnTo>
                  <a:pt x="43" y="356"/>
                </a:lnTo>
                <a:lnTo>
                  <a:pt x="42" y="358"/>
                </a:lnTo>
                <a:lnTo>
                  <a:pt x="39" y="359"/>
                </a:lnTo>
                <a:lnTo>
                  <a:pt x="37" y="358"/>
                </a:lnTo>
                <a:lnTo>
                  <a:pt x="34" y="358"/>
                </a:lnTo>
                <a:lnTo>
                  <a:pt x="33" y="354"/>
                </a:lnTo>
                <a:lnTo>
                  <a:pt x="33" y="353"/>
                </a:lnTo>
                <a:lnTo>
                  <a:pt x="33" y="350"/>
                </a:lnTo>
                <a:lnTo>
                  <a:pt x="34" y="348"/>
                </a:lnTo>
                <a:lnTo>
                  <a:pt x="313" y="3"/>
                </a:lnTo>
                <a:lnTo>
                  <a:pt x="315" y="2"/>
                </a:lnTo>
                <a:lnTo>
                  <a:pt x="318" y="0"/>
                </a:lnTo>
                <a:lnTo>
                  <a:pt x="319" y="0"/>
                </a:lnTo>
                <a:lnTo>
                  <a:pt x="322" y="2"/>
                </a:lnTo>
                <a:lnTo>
                  <a:pt x="324" y="3"/>
                </a:lnTo>
                <a:lnTo>
                  <a:pt x="324" y="6"/>
                </a:lnTo>
                <a:lnTo>
                  <a:pt x="324" y="8"/>
                </a:lnTo>
                <a:lnTo>
                  <a:pt x="322" y="11"/>
                </a:lnTo>
                <a:close/>
                <a:moveTo>
                  <a:pt x="76" y="367"/>
                </a:moveTo>
                <a:lnTo>
                  <a:pt x="0" y="401"/>
                </a:lnTo>
                <a:lnTo>
                  <a:pt x="18" y="318"/>
                </a:lnTo>
                <a:lnTo>
                  <a:pt x="76" y="367"/>
                </a:lnTo>
                <a:close/>
              </a:path>
            </a:pathLst>
          </a:custGeom>
          <a:solidFill>
            <a:srgbClr val="FF0000"/>
          </a:solidFill>
          <a:ln w="1588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91" name="Freeform 74"/>
          <p:cNvSpPr>
            <a:spLocks/>
          </p:cNvSpPr>
          <p:nvPr/>
        </p:nvSpPr>
        <p:spPr bwMode="auto">
          <a:xfrm>
            <a:off x="1830388" y="3686175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9" y="0"/>
                </a:lnTo>
                <a:lnTo>
                  <a:pt x="169" y="1"/>
                </a:lnTo>
                <a:lnTo>
                  <a:pt x="160" y="3"/>
                </a:lnTo>
                <a:lnTo>
                  <a:pt x="150" y="4"/>
                </a:lnTo>
                <a:lnTo>
                  <a:pt x="141" y="6"/>
                </a:lnTo>
                <a:lnTo>
                  <a:pt x="132" y="9"/>
                </a:lnTo>
                <a:lnTo>
                  <a:pt x="123" y="12"/>
                </a:lnTo>
                <a:lnTo>
                  <a:pt x="116" y="15"/>
                </a:lnTo>
                <a:lnTo>
                  <a:pt x="107" y="19"/>
                </a:lnTo>
                <a:lnTo>
                  <a:pt x="99" y="22"/>
                </a:lnTo>
                <a:lnTo>
                  <a:pt x="83" y="33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3"/>
                </a:lnTo>
                <a:lnTo>
                  <a:pt x="22" y="99"/>
                </a:lnTo>
                <a:lnTo>
                  <a:pt x="19" y="107"/>
                </a:lnTo>
                <a:lnTo>
                  <a:pt x="15" y="116"/>
                </a:lnTo>
                <a:lnTo>
                  <a:pt x="12" y="123"/>
                </a:lnTo>
                <a:lnTo>
                  <a:pt x="9" y="132"/>
                </a:lnTo>
                <a:lnTo>
                  <a:pt x="6" y="141"/>
                </a:lnTo>
                <a:lnTo>
                  <a:pt x="4" y="150"/>
                </a:lnTo>
                <a:lnTo>
                  <a:pt x="3" y="159"/>
                </a:lnTo>
                <a:lnTo>
                  <a:pt x="1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1" y="208"/>
                </a:lnTo>
                <a:lnTo>
                  <a:pt x="3" y="217"/>
                </a:lnTo>
                <a:lnTo>
                  <a:pt x="4" y="226"/>
                </a:lnTo>
                <a:lnTo>
                  <a:pt x="6" y="235"/>
                </a:lnTo>
                <a:lnTo>
                  <a:pt x="9" y="244"/>
                </a:lnTo>
                <a:lnTo>
                  <a:pt x="12" y="253"/>
                </a:lnTo>
                <a:lnTo>
                  <a:pt x="15" y="262"/>
                </a:lnTo>
                <a:lnTo>
                  <a:pt x="19" y="269"/>
                </a:lnTo>
                <a:lnTo>
                  <a:pt x="22" y="279"/>
                </a:lnTo>
                <a:lnTo>
                  <a:pt x="33" y="294"/>
                </a:lnTo>
                <a:lnTo>
                  <a:pt x="43" y="309"/>
                </a:lnTo>
                <a:lnTo>
                  <a:pt x="56" y="322"/>
                </a:lnTo>
                <a:lnTo>
                  <a:pt x="69" y="334"/>
                </a:lnTo>
                <a:lnTo>
                  <a:pt x="83" y="345"/>
                </a:lnTo>
                <a:lnTo>
                  <a:pt x="99" y="354"/>
                </a:lnTo>
                <a:lnTo>
                  <a:pt x="107" y="358"/>
                </a:lnTo>
                <a:lnTo>
                  <a:pt x="116" y="361"/>
                </a:lnTo>
                <a:lnTo>
                  <a:pt x="123" y="366"/>
                </a:lnTo>
                <a:lnTo>
                  <a:pt x="132" y="369"/>
                </a:lnTo>
                <a:lnTo>
                  <a:pt x="141" y="370"/>
                </a:lnTo>
                <a:lnTo>
                  <a:pt x="150" y="373"/>
                </a:lnTo>
                <a:lnTo>
                  <a:pt x="160" y="375"/>
                </a:lnTo>
                <a:lnTo>
                  <a:pt x="169" y="377"/>
                </a:lnTo>
                <a:lnTo>
                  <a:pt x="179" y="377"/>
                </a:lnTo>
                <a:lnTo>
                  <a:pt x="188" y="377"/>
                </a:lnTo>
                <a:lnTo>
                  <a:pt x="199" y="377"/>
                </a:lnTo>
                <a:lnTo>
                  <a:pt x="208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3" y="366"/>
                </a:lnTo>
                <a:lnTo>
                  <a:pt x="262" y="361"/>
                </a:lnTo>
                <a:lnTo>
                  <a:pt x="270" y="358"/>
                </a:lnTo>
                <a:lnTo>
                  <a:pt x="279" y="354"/>
                </a:lnTo>
                <a:lnTo>
                  <a:pt x="294" y="345"/>
                </a:lnTo>
                <a:lnTo>
                  <a:pt x="309" y="334"/>
                </a:lnTo>
                <a:lnTo>
                  <a:pt x="322" y="322"/>
                </a:lnTo>
                <a:lnTo>
                  <a:pt x="334" y="309"/>
                </a:lnTo>
                <a:lnTo>
                  <a:pt x="345" y="294"/>
                </a:lnTo>
                <a:lnTo>
                  <a:pt x="354" y="279"/>
                </a:lnTo>
                <a:lnTo>
                  <a:pt x="358" y="269"/>
                </a:lnTo>
                <a:lnTo>
                  <a:pt x="362" y="262"/>
                </a:lnTo>
                <a:lnTo>
                  <a:pt x="366" y="253"/>
                </a:lnTo>
                <a:lnTo>
                  <a:pt x="369" y="244"/>
                </a:lnTo>
                <a:lnTo>
                  <a:pt x="371" y="235"/>
                </a:lnTo>
                <a:lnTo>
                  <a:pt x="374" y="226"/>
                </a:lnTo>
                <a:lnTo>
                  <a:pt x="375" y="217"/>
                </a:lnTo>
                <a:lnTo>
                  <a:pt x="377" y="208"/>
                </a:lnTo>
                <a:lnTo>
                  <a:pt x="377" y="199"/>
                </a:lnTo>
                <a:lnTo>
                  <a:pt x="377" y="188"/>
                </a:lnTo>
                <a:lnTo>
                  <a:pt x="377" y="179"/>
                </a:lnTo>
                <a:lnTo>
                  <a:pt x="377" y="169"/>
                </a:lnTo>
                <a:lnTo>
                  <a:pt x="375" y="159"/>
                </a:lnTo>
                <a:lnTo>
                  <a:pt x="374" y="150"/>
                </a:lnTo>
                <a:lnTo>
                  <a:pt x="371" y="141"/>
                </a:lnTo>
                <a:lnTo>
                  <a:pt x="369" y="132"/>
                </a:lnTo>
                <a:lnTo>
                  <a:pt x="366" y="123"/>
                </a:lnTo>
                <a:lnTo>
                  <a:pt x="362" y="116"/>
                </a:lnTo>
                <a:lnTo>
                  <a:pt x="358" y="107"/>
                </a:lnTo>
                <a:lnTo>
                  <a:pt x="354" y="99"/>
                </a:lnTo>
                <a:lnTo>
                  <a:pt x="345" y="83"/>
                </a:lnTo>
                <a:lnTo>
                  <a:pt x="334" y="69"/>
                </a:lnTo>
                <a:lnTo>
                  <a:pt x="322" y="55"/>
                </a:lnTo>
                <a:lnTo>
                  <a:pt x="309" y="43"/>
                </a:lnTo>
                <a:lnTo>
                  <a:pt x="294" y="33"/>
                </a:lnTo>
                <a:lnTo>
                  <a:pt x="279" y="22"/>
                </a:lnTo>
                <a:lnTo>
                  <a:pt x="270" y="19"/>
                </a:lnTo>
                <a:lnTo>
                  <a:pt x="262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8" y="1"/>
                </a:lnTo>
                <a:lnTo>
                  <a:pt x="199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2" name="Rectangle 75"/>
          <p:cNvSpPr>
            <a:spLocks noChangeArrowheads="1"/>
          </p:cNvSpPr>
          <p:nvPr/>
        </p:nvSpPr>
        <p:spPr bwMode="auto">
          <a:xfrm>
            <a:off x="19224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1293" name="Freeform 76"/>
          <p:cNvSpPr>
            <a:spLocks noEditPoints="1"/>
          </p:cNvSpPr>
          <p:nvPr/>
        </p:nvSpPr>
        <p:spPr bwMode="auto">
          <a:xfrm>
            <a:off x="1882775" y="3254375"/>
            <a:ext cx="114300" cy="417513"/>
          </a:xfrm>
          <a:custGeom>
            <a:avLst/>
            <a:gdLst>
              <a:gd name="T0" fmla="*/ 2147483647 w 144"/>
              <a:gd name="T1" fmla="*/ 2147483647 h 526"/>
              <a:gd name="T2" fmla="*/ 2147483647 w 144"/>
              <a:gd name="T3" fmla="*/ 2147483647 h 526"/>
              <a:gd name="T4" fmla="*/ 2147483647 w 144"/>
              <a:gd name="T5" fmla="*/ 2147483647 h 526"/>
              <a:gd name="T6" fmla="*/ 2147483647 w 144"/>
              <a:gd name="T7" fmla="*/ 2147483647 h 526"/>
              <a:gd name="T8" fmla="*/ 2147483647 w 144"/>
              <a:gd name="T9" fmla="*/ 2147483647 h 526"/>
              <a:gd name="T10" fmla="*/ 2147483647 w 144"/>
              <a:gd name="T11" fmla="*/ 2147483647 h 526"/>
              <a:gd name="T12" fmla="*/ 2147483647 w 144"/>
              <a:gd name="T13" fmla="*/ 2147483647 h 526"/>
              <a:gd name="T14" fmla="*/ 2147483647 w 144"/>
              <a:gd name="T15" fmla="*/ 2147483647 h 526"/>
              <a:gd name="T16" fmla="*/ 2147483647 w 144"/>
              <a:gd name="T17" fmla="*/ 2147483647 h 526"/>
              <a:gd name="T18" fmla="*/ 2147483647 w 144"/>
              <a:gd name="T19" fmla="*/ 2147483647 h 526"/>
              <a:gd name="T20" fmla="*/ 0 w 144"/>
              <a:gd name="T21" fmla="*/ 2147483647 h 526"/>
              <a:gd name="T22" fmla="*/ 0 w 144"/>
              <a:gd name="T23" fmla="*/ 2147483647 h 526"/>
              <a:gd name="T24" fmla="*/ 2147483647 w 144"/>
              <a:gd name="T25" fmla="*/ 2147483647 h 526"/>
              <a:gd name="T26" fmla="*/ 2147483647 w 144"/>
              <a:gd name="T27" fmla="*/ 2147483647 h 526"/>
              <a:gd name="T28" fmla="*/ 2147483647 w 144"/>
              <a:gd name="T29" fmla="*/ 0 h 526"/>
              <a:gd name="T30" fmla="*/ 2147483647 w 144"/>
              <a:gd name="T31" fmla="*/ 0 h 526"/>
              <a:gd name="T32" fmla="*/ 2147483647 w 144"/>
              <a:gd name="T33" fmla="*/ 0 h 526"/>
              <a:gd name="T34" fmla="*/ 2147483647 w 144"/>
              <a:gd name="T35" fmla="*/ 2147483647 h 526"/>
              <a:gd name="T36" fmla="*/ 2147483647 w 144"/>
              <a:gd name="T37" fmla="*/ 2147483647 h 526"/>
              <a:gd name="T38" fmla="*/ 2147483647 w 144"/>
              <a:gd name="T39" fmla="*/ 2147483647 h 526"/>
              <a:gd name="T40" fmla="*/ 2147483647 w 144"/>
              <a:gd name="T41" fmla="*/ 2147483647 h 526"/>
              <a:gd name="T42" fmla="*/ 2147483647 w 144"/>
              <a:gd name="T43" fmla="*/ 2147483647 h 526"/>
              <a:gd name="T44" fmla="*/ 2147483647 w 144"/>
              <a:gd name="T45" fmla="*/ 2147483647 h 526"/>
              <a:gd name="T46" fmla="*/ 2147483647 w 14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44"/>
              <a:gd name="T73" fmla="*/ 0 h 526"/>
              <a:gd name="T74" fmla="*/ 144 w 14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44" h="526">
                <a:moveTo>
                  <a:pt x="12" y="4"/>
                </a:moveTo>
                <a:lnTo>
                  <a:pt x="116" y="462"/>
                </a:lnTo>
                <a:lnTo>
                  <a:pt x="116" y="465"/>
                </a:lnTo>
                <a:lnTo>
                  <a:pt x="116" y="467"/>
                </a:lnTo>
                <a:lnTo>
                  <a:pt x="113" y="468"/>
                </a:lnTo>
                <a:lnTo>
                  <a:pt x="111" y="470"/>
                </a:lnTo>
                <a:lnTo>
                  <a:pt x="108" y="470"/>
                </a:lnTo>
                <a:lnTo>
                  <a:pt x="107" y="470"/>
                </a:lnTo>
                <a:lnTo>
                  <a:pt x="105" y="468"/>
                </a:lnTo>
                <a:lnTo>
                  <a:pt x="104" y="465"/>
                </a:lnTo>
                <a:lnTo>
                  <a:pt x="0" y="7"/>
                </a:lnTo>
                <a:lnTo>
                  <a:pt x="0" y="4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9" y="0"/>
                </a:lnTo>
                <a:lnTo>
                  <a:pt x="10" y="3"/>
                </a:lnTo>
                <a:lnTo>
                  <a:pt x="12" y="4"/>
                </a:lnTo>
                <a:close/>
                <a:moveTo>
                  <a:pt x="144" y="443"/>
                </a:moveTo>
                <a:lnTo>
                  <a:pt x="123" y="526"/>
                </a:lnTo>
                <a:lnTo>
                  <a:pt x="70" y="461"/>
                </a:lnTo>
                <a:lnTo>
                  <a:pt x="144" y="4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94" name="Freeform 77"/>
          <p:cNvSpPr>
            <a:spLocks/>
          </p:cNvSpPr>
          <p:nvPr/>
        </p:nvSpPr>
        <p:spPr bwMode="auto">
          <a:xfrm>
            <a:off x="3313113" y="2987675"/>
            <a:ext cx="300037" cy="298450"/>
          </a:xfrm>
          <a:custGeom>
            <a:avLst/>
            <a:gdLst>
              <a:gd name="T0" fmla="*/ 2147483647 w 377"/>
              <a:gd name="T1" fmla="*/ 0 h 376"/>
              <a:gd name="T2" fmla="*/ 2147483647 w 377"/>
              <a:gd name="T3" fmla="*/ 2147483647 h 376"/>
              <a:gd name="T4" fmla="*/ 2147483647 w 377"/>
              <a:gd name="T5" fmla="*/ 2147483647 h 376"/>
              <a:gd name="T6" fmla="*/ 2147483647 w 377"/>
              <a:gd name="T7" fmla="*/ 2147483647 h 376"/>
              <a:gd name="T8" fmla="*/ 2147483647 w 377"/>
              <a:gd name="T9" fmla="*/ 2147483647 h 376"/>
              <a:gd name="T10" fmla="*/ 2147483647 w 377"/>
              <a:gd name="T11" fmla="*/ 2147483647 h 376"/>
              <a:gd name="T12" fmla="*/ 2147483647 w 377"/>
              <a:gd name="T13" fmla="*/ 2147483647 h 376"/>
              <a:gd name="T14" fmla="*/ 2147483647 w 377"/>
              <a:gd name="T15" fmla="*/ 2147483647 h 376"/>
              <a:gd name="T16" fmla="*/ 2147483647 w 377"/>
              <a:gd name="T17" fmla="*/ 2147483647 h 376"/>
              <a:gd name="T18" fmla="*/ 2147483647 w 377"/>
              <a:gd name="T19" fmla="*/ 2147483647 h 376"/>
              <a:gd name="T20" fmla="*/ 2147483647 w 377"/>
              <a:gd name="T21" fmla="*/ 2147483647 h 376"/>
              <a:gd name="T22" fmla="*/ 2147483647 w 377"/>
              <a:gd name="T23" fmla="*/ 2147483647 h 376"/>
              <a:gd name="T24" fmla="*/ 0 w 377"/>
              <a:gd name="T25" fmla="*/ 2147483647 h 376"/>
              <a:gd name="T26" fmla="*/ 0 w 377"/>
              <a:gd name="T27" fmla="*/ 2147483647 h 376"/>
              <a:gd name="T28" fmla="*/ 2147483647 w 377"/>
              <a:gd name="T29" fmla="*/ 2147483647 h 376"/>
              <a:gd name="T30" fmla="*/ 2147483647 w 377"/>
              <a:gd name="T31" fmla="*/ 2147483647 h 376"/>
              <a:gd name="T32" fmla="*/ 2147483647 w 377"/>
              <a:gd name="T33" fmla="*/ 2147483647 h 376"/>
              <a:gd name="T34" fmla="*/ 2147483647 w 377"/>
              <a:gd name="T35" fmla="*/ 2147483647 h 376"/>
              <a:gd name="T36" fmla="*/ 2147483647 w 377"/>
              <a:gd name="T37" fmla="*/ 2147483647 h 376"/>
              <a:gd name="T38" fmla="*/ 2147483647 w 377"/>
              <a:gd name="T39" fmla="*/ 2147483647 h 376"/>
              <a:gd name="T40" fmla="*/ 2147483647 w 377"/>
              <a:gd name="T41" fmla="*/ 2147483647 h 376"/>
              <a:gd name="T42" fmla="*/ 2147483647 w 377"/>
              <a:gd name="T43" fmla="*/ 2147483647 h 376"/>
              <a:gd name="T44" fmla="*/ 2147483647 w 377"/>
              <a:gd name="T45" fmla="*/ 2147483647 h 376"/>
              <a:gd name="T46" fmla="*/ 2147483647 w 377"/>
              <a:gd name="T47" fmla="*/ 2147483647 h 376"/>
              <a:gd name="T48" fmla="*/ 2147483647 w 377"/>
              <a:gd name="T49" fmla="*/ 2147483647 h 376"/>
              <a:gd name="T50" fmla="*/ 2147483647 w 377"/>
              <a:gd name="T51" fmla="*/ 2147483647 h 376"/>
              <a:gd name="T52" fmla="*/ 2147483647 w 377"/>
              <a:gd name="T53" fmla="*/ 2147483647 h 376"/>
              <a:gd name="T54" fmla="*/ 2147483647 w 377"/>
              <a:gd name="T55" fmla="*/ 2147483647 h 376"/>
              <a:gd name="T56" fmla="*/ 2147483647 w 377"/>
              <a:gd name="T57" fmla="*/ 2147483647 h 376"/>
              <a:gd name="T58" fmla="*/ 2147483647 w 377"/>
              <a:gd name="T59" fmla="*/ 2147483647 h 376"/>
              <a:gd name="T60" fmla="*/ 2147483647 w 377"/>
              <a:gd name="T61" fmla="*/ 2147483647 h 376"/>
              <a:gd name="T62" fmla="*/ 2147483647 w 377"/>
              <a:gd name="T63" fmla="*/ 2147483647 h 376"/>
              <a:gd name="T64" fmla="*/ 2147483647 w 377"/>
              <a:gd name="T65" fmla="*/ 2147483647 h 376"/>
              <a:gd name="T66" fmla="*/ 2147483647 w 377"/>
              <a:gd name="T67" fmla="*/ 2147483647 h 376"/>
              <a:gd name="T68" fmla="*/ 2147483647 w 377"/>
              <a:gd name="T69" fmla="*/ 2147483647 h 376"/>
              <a:gd name="T70" fmla="*/ 2147483647 w 377"/>
              <a:gd name="T71" fmla="*/ 2147483647 h 376"/>
              <a:gd name="T72" fmla="*/ 2147483647 w 377"/>
              <a:gd name="T73" fmla="*/ 2147483647 h 376"/>
              <a:gd name="T74" fmla="*/ 2147483647 w 377"/>
              <a:gd name="T75" fmla="*/ 2147483647 h 376"/>
              <a:gd name="T76" fmla="*/ 2147483647 w 377"/>
              <a:gd name="T77" fmla="*/ 2147483647 h 376"/>
              <a:gd name="T78" fmla="*/ 2147483647 w 377"/>
              <a:gd name="T79" fmla="*/ 2147483647 h 376"/>
              <a:gd name="T80" fmla="*/ 2147483647 w 377"/>
              <a:gd name="T81" fmla="*/ 2147483647 h 376"/>
              <a:gd name="T82" fmla="*/ 2147483647 w 377"/>
              <a:gd name="T83" fmla="*/ 2147483647 h 376"/>
              <a:gd name="T84" fmla="*/ 2147483647 w 377"/>
              <a:gd name="T85" fmla="*/ 2147483647 h 376"/>
              <a:gd name="T86" fmla="*/ 2147483647 w 377"/>
              <a:gd name="T87" fmla="*/ 2147483647 h 376"/>
              <a:gd name="T88" fmla="*/ 2147483647 w 377"/>
              <a:gd name="T89" fmla="*/ 2147483647 h 376"/>
              <a:gd name="T90" fmla="*/ 2147483647 w 377"/>
              <a:gd name="T91" fmla="*/ 2147483647 h 376"/>
              <a:gd name="T92" fmla="*/ 2147483647 w 377"/>
              <a:gd name="T93" fmla="*/ 2147483647 h 376"/>
              <a:gd name="T94" fmla="*/ 2147483647 w 377"/>
              <a:gd name="T95" fmla="*/ 2147483647 h 376"/>
              <a:gd name="T96" fmla="*/ 2147483647 w 377"/>
              <a:gd name="T97" fmla="*/ 2147483647 h 376"/>
              <a:gd name="T98" fmla="*/ 2147483647 w 377"/>
              <a:gd name="T99" fmla="*/ 2147483647 h 376"/>
              <a:gd name="T100" fmla="*/ 2147483647 w 377"/>
              <a:gd name="T101" fmla="*/ 2147483647 h 376"/>
              <a:gd name="T102" fmla="*/ 2147483647 w 377"/>
              <a:gd name="T103" fmla="*/ 0 h 37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6"/>
              <a:gd name="T158" fmla="*/ 377 w 377"/>
              <a:gd name="T159" fmla="*/ 376 h 37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6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60" y="1"/>
                </a:lnTo>
                <a:lnTo>
                  <a:pt x="151" y="3"/>
                </a:lnTo>
                <a:lnTo>
                  <a:pt x="142" y="6"/>
                </a:lnTo>
                <a:lnTo>
                  <a:pt x="133" y="9"/>
                </a:lnTo>
                <a:lnTo>
                  <a:pt x="124" y="10"/>
                </a:lnTo>
                <a:lnTo>
                  <a:pt x="115" y="15"/>
                </a:lnTo>
                <a:lnTo>
                  <a:pt x="107" y="18"/>
                </a:lnTo>
                <a:lnTo>
                  <a:pt x="98" y="22"/>
                </a:lnTo>
                <a:lnTo>
                  <a:pt x="83" y="31"/>
                </a:lnTo>
                <a:lnTo>
                  <a:pt x="68" y="42"/>
                </a:lnTo>
                <a:lnTo>
                  <a:pt x="55" y="54"/>
                </a:lnTo>
                <a:lnTo>
                  <a:pt x="43" y="67"/>
                </a:lnTo>
                <a:lnTo>
                  <a:pt x="32" y="82"/>
                </a:lnTo>
                <a:lnTo>
                  <a:pt x="23" y="97"/>
                </a:lnTo>
                <a:lnTo>
                  <a:pt x="18" y="107"/>
                </a:lnTo>
                <a:lnTo>
                  <a:pt x="15" y="114"/>
                </a:lnTo>
                <a:lnTo>
                  <a:pt x="11" y="123"/>
                </a:lnTo>
                <a:lnTo>
                  <a:pt x="8" y="132"/>
                </a:lnTo>
                <a:lnTo>
                  <a:pt x="6" y="141"/>
                </a:lnTo>
                <a:lnTo>
                  <a:pt x="3" y="150"/>
                </a:lnTo>
                <a:lnTo>
                  <a:pt x="2" y="159"/>
                </a:lnTo>
                <a:lnTo>
                  <a:pt x="0" y="168"/>
                </a:lnTo>
                <a:lnTo>
                  <a:pt x="0" y="177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6" y="235"/>
                </a:lnTo>
                <a:lnTo>
                  <a:pt x="8" y="244"/>
                </a:lnTo>
                <a:lnTo>
                  <a:pt x="11" y="253"/>
                </a:lnTo>
                <a:lnTo>
                  <a:pt x="15" y="262"/>
                </a:lnTo>
                <a:lnTo>
                  <a:pt x="18" y="269"/>
                </a:lnTo>
                <a:lnTo>
                  <a:pt x="23" y="277"/>
                </a:lnTo>
                <a:lnTo>
                  <a:pt x="32" y="293"/>
                </a:lnTo>
                <a:lnTo>
                  <a:pt x="43" y="307"/>
                </a:lnTo>
                <a:lnTo>
                  <a:pt x="55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7" y="358"/>
                </a:lnTo>
                <a:lnTo>
                  <a:pt x="115" y="361"/>
                </a:lnTo>
                <a:lnTo>
                  <a:pt x="124" y="364"/>
                </a:lnTo>
                <a:lnTo>
                  <a:pt x="133" y="367"/>
                </a:lnTo>
                <a:lnTo>
                  <a:pt x="142" y="370"/>
                </a:lnTo>
                <a:lnTo>
                  <a:pt x="151" y="372"/>
                </a:lnTo>
                <a:lnTo>
                  <a:pt x="160" y="373"/>
                </a:lnTo>
                <a:lnTo>
                  <a:pt x="169" y="375"/>
                </a:lnTo>
                <a:lnTo>
                  <a:pt x="178" y="376"/>
                </a:lnTo>
                <a:lnTo>
                  <a:pt x="189" y="376"/>
                </a:lnTo>
                <a:lnTo>
                  <a:pt x="198" y="376"/>
                </a:lnTo>
                <a:lnTo>
                  <a:pt x="208" y="375"/>
                </a:lnTo>
                <a:lnTo>
                  <a:pt x="217" y="373"/>
                </a:lnTo>
                <a:lnTo>
                  <a:pt x="226" y="372"/>
                </a:lnTo>
                <a:lnTo>
                  <a:pt x="236" y="370"/>
                </a:lnTo>
                <a:lnTo>
                  <a:pt x="245" y="367"/>
                </a:lnTo>
                <a:lnTo>
                  <a:pt x="254" y="364"/>
                </a:lnTo>
                <a:lnTo>
                  <a:pt x="261" y="361"/>
                </a:lnTo>
                <a:lnTo>
                  <a:pt x="270" y="358"/>
                </a:lnTo>
                <a:lnTo>
                  <a:pt x="278" y="354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4" y="307"/>
                </a:lnTo>
                <a:lnTo>
                  <a:pt x="344" y="293"/>
                </a:lnTo>
                <a:lnTo>
                  <a:pt x="355" y="277"/>
                </a:lnTo>
                <a:lnTo>
                  <a:pt x="358" y="269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7" y="197"/>
                </a:lnTo>
                <a:lnTo>
                  <a:pt x="377" y="188"/>
                </a:lnTo>
                <a:lnTo>
                  <a:pt x="377" y="177"/>
                </a:lnTo>
                <a:lnTo>
                  <a:pt x="376" y="168"/>
                </a:lnTo>
                <a:lnTo>
                  <a:pt x="374" y="159"/>
                </a:lnTo>
                <a:lnTo>
                  <a:pt x="373" y="150"/>
                </a:lnTo>
                <a:lnTo>
                  <a:pt x="371" y="141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8" y="107"/>
                </a:lnTo>
                <a:lnTo>
                  <a:pt x="355" y="97"/>
                </a:lnTo>
                <a:lnTo>
                  <a:pt x="344" y="82"/>
                </a:lnTo>
                <a:lnTo>
                  <a:pt x="334" y="67"/>
                </a:lnTo>
                <a:lnTo>
                  <a:pt x="321" y="54"/>
                </a:lnTo>
                <a:lnTo>
                  <a:pt x="308" y="42"/>
                </a:lnTo>
                <a:lnTo>
                  <a:pt x="294" y="31"/>
                </a:lnTo>
                <a:lnTo>
                  <a:pt x="278" y="22"/>
                </a:lnTo>
                <a:lnTo>
                  <a:pt x="270" y="18"/>
                </a:lnTo>
                <a:lnTo>
                  <a:pt x="261" y="15"/>
                </a:lnTo>
                <a:lnTo>
                  <a:pt x="254" y="10"/>
                </a:lnTo>
                <a:lnTo>
                  <a:pt x="245" y="9"/>
                </a:lnTo>
                <a:lnTo>
                  <a:pt x="236" y="6"/>
                </a:lnTo>
                <a:lnTo>
                  <a:pt x="226" y="3"/>
                </a:lnTo>
                <a:lnTo>
                  <a:pt x="217" y="1"/>
                </a:lnTo>
                <a:lnTo>
                  <a:pt x="208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5" name="Rectangle 78"/>
          <p:cNvSpPr>
            <a:spLocks noChangeArrowheads="1"/>
          </p:cNvSpPr>
          <p:nvPr/>
        </p:nvSpPr>
        <p:spPr bwMode="auto">
          <a:xfrm>
            <a:off x="3344863" y="30083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17</a:t>
            </a:r>
            <a:endParaRPr lang="en-GB" altLang="en-US"/>
          </a:p>
        </p:txBody>
      </p:sp>
      <p:sp>
        <p:nvSpPr>
          <p:cNvPr id="11296" name="Freeform 79"/>
          <p:cNvSpPr>
            <a:spLocks noEditPoints="1"/>
          </p:cNvSpPr>
          <p:nvPr/>
        </p:nvSpPr>
        <p:spPr bwMode="auto">
          <a:xfrm>
            <a:off x="3462338" y="2555875"/>
            <a:ext cx="311150" cy="415925"/>
          </a:xfrm>
          <a:custGeom>
            <a:avLst/>
            <a:gdLst>
              <a:gd name="T0" fmla="*/ 2147483647 w 392"/>
              <a:gd name="T1" fmla="*/ 2147483647 h 525"/>
              <a:gd name="T2" fmla="*/ 2147483647 w 392"/>
              <a:gd name="T3" fmla="*/ 2147483647 h 525"/>
              <a:gd name="T4" fmla="*/ 2147483647 w 392"/>
              <a:gd name="T5" fmla="*/ 2147483647 h 525"/>
              <a:gd name="T6" fmla="*/ 2147483647 w 392"/>
              <a:gd name="T7" fmla="*/ 2147483647 h 525"/>
              <a:gd name="T8" fmla="*/ 2147483647 w 392"/>
              <a:gd name="T9" fmla="*/ 2147483647 h 525"/>
              <a:gd name="T10" fmla="*/ 2147483647 w 392"/>
              <a:gd name="T11" fmla="*/ 2147483647 h 525"/>
              <a:gd name="T12" fmla="*/ 2147483647 w 392"/>
              <a:gd name="T13" fmla="*/ 2147483647 h 525"/>
              <a:gd name="T14" fmla="*/ 2147483647 w 392"/>
              <a:gd name="T15" fmla="*/ 2147483647 h 525"/>
              <a:gd name="T16" fmla="*/ 2147483647 w 392"/>
              <a:gd name="T17" fmla="*/ 2147483647 h 525"/>
              <a:gd name="T18" fmla="*/ 2147483647 w 392"/>
              <a:gd name="T19" fmla="*/ 2147483647 h 525"/>
              <a:gd name="T20" fmla="*/ 2147483647 w 392"/>
              <a:gd name="T21" fmla="*/ 2147483647 h 525"/>
              <a:gd name="T22" fmla="*/ 2147483647 w 392"/>
              <a:gd name="T23" fmla="*/ 2147483647 h 525"/>
              <a:gd name="T24" fmla="*/ 2147483647 w 392"/>
              <a:gd name="T25" fmla="*/ 0 h 525"/>
              <a:gd name="T26" fmla="*/ 2147483647 w 392"/>
              <a:gd name="T27" fmla="*/ 2147483647 h 525"/>
              <a:gd name="T28" fmla="*/ 2147483647 w 392"/>
              <a:gd name="T29" fmla="*/ 2147483647 h 525"/>
              <a:gd name="T30" fmla="*/ 2147483647 w 392"/>
              <a:gd name="T31" fmla="*/ 2147483647 h 525"/>
              <a:gd name="T32" fmla="*/ 2147483647 w 392"/>
              <a:gd name="T33" fmla="*/ 2147483647 h 525"/>
              <a:gd name="T34" fmla="*/ 2147483647 w 392"/>
              <a:gd name="T35" fmla="*/ 2147483647 h 525"/>
              <a:gd name="T36" fmla="*/ 2147483647 w 392"/>
              <a:gd name="T37" fmla="*/ 2147483647 h 525"/>
              <a:gd name="T38" fmla="*/ 2147483647 w 392"/>
              <a:gd name="T39" fmla="*/ 2147483647 h 525"/>
              <a:gd name="T40" fmla="*/ 2147483647 w 392"/>
              <a:gd name="T41" fmla="*/ 2147483647 h 525"/>
              <a:gd name="T42" fmla="*/ 0 w 392"/>
              <a:gd name="T43" fmla="*/ 2147483647 h 525"/>
              <a:gd name="T44" fmla="*/ 2147483647 w 392"/>
              <a:gd name="T45" fmla="*/ 2147483647 h 525"/>
              <a:gd name="T46" fmla="*/ 2147483647 w 392"/>
              <a:gd name="T47" fmla="*/ 2147483647 h 5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2"/>
              <a:gd name="T73" fmla="*/ 0 h 525"/>
              <a:gd name="T74" fmla="*/ 392 w 392"/>
              <a:gd name="T75" fmla="*/ 525 h 5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2" h="525">
                <a:moveTo>
                  <a:pt x="390" y="11"/>
                </a:moveTo>
                <a:lnTo>
                  <a:pt x="42" y="478"/>
                </a:lnTo>
                <a:lnTo>
                  <a:pt x="40" y="481"/>
                </a:lnTo>
                <a:lnTo>
                  <a:pt x="37" y="481"/>
                </a:lnTo>
                <a:lnTo>
                  <a:pt x="36" y="481"/>
                </a:lnTo>
                <a:lnTo>
                  <a:pt x="33" y="480"/>
                </a:lnTo>
                <a:lnTo>
                  <a:pt x="31" y="478"/>
                </a:lnTo>
                <a:lnTo>
                  <a:pt x="31" y="477"/>
                </a:lnTo>
                <a:lnTo>
                  <a:pt x="31" y="474"/>
                </a:lnTo>
                <a:lnTo>
                  <a:pt x="31" y="472"/>
                </a:lnTo>
                <a:lnTo>
                  <a:pt x="381" y="3"/>
                </a:lnTo>
                <a:lnTo>
                  <a:pt x="383" y="2"/>
                </a:lnTo>
                <a:lnTo>
                  <a:pt x="384" y="0"/>
                </a:lnTo>
                <a:lnTo>
                  <a:pt x="387" y="2"/>
                </a:lnTo>
                <a:lnTo>
                  <a:pt x="390" y="2"/>
                </a:lnTo>
                <a:lnTo>
                  <a:pt x="392" y="5"/>
                </a:lnTo>
                <a:lnTo>
                  <a:pt x="392" y="6"/>
                </a:lnTo>
                <a:lnTo>
                  <a:pt x="392" y="9"/>
                </a:lnTo>
                <a:lnTo>
                  <a:pt x="390" y="11"/>
                </a:lnTo>
                <a:close/>
                <a:moveTo>
                  <a:pt x="75" y="487"/>
                </a:moveTo>
                <a:lnTo>
                  <a:pt x="0" y="525"/>
                </a:lnTo>
                <a:lnTo>
                  <a:pt x="15" y="442"/>
                </a:lnTo>
                <a:lnTo>
                  <a:pt x="75" y="48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297" name="Freeform 80"/>
          <p:cNvSpPr>
            <a:spLocks/>
          </p:cNvSpPr>
          <p:nvPr/>
        </p:nvSpPr>
        <p:spPr bwMode="auto">
          <a:xfrm>
            <a:off x="4144963" y="5619750"/>
            <a:ext cx="298450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1"/>
                </a:lnTo>
                <a:lnTo>
                  <a:pt x="158" y="1"/>
                </a:lnTo>
                <a:lnTo>
                  <a:pt x="149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8"/>
                </a:lnTo>
                <a:lnTo>
                  <a:pt x="98" y="22"/>
                </a:lnTo>
                <a:lnTo>
                  <a:pt x="83" y="31"/>
                </a:lnTo>
                <a:lnTo>
                  <a:pt x="68" y="44"/>
                </a:lnTo>
                <a:lnTo>
                  <a:pt x="54" y="56"/>
                </a:lnTo>
                <a:lnTo>
                  <a:pt x="42" y="69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4"/>
                </a:lnTo>
                <a:lnTo>
                  <a:pt x="11" y="123"/>
                </a:lnTo>
                <a:lnTo>
                  <a:pt x="8" y="132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5"/>
                </a:lnTo>
                <a:lnTo>
                  <a:pt x="169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7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4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9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9"/>
                </a:lnTo>
                <a:lnTo>
                  <a:pt x="321" y="56"/>
                </a:lnTo>
                <a:lnTo>
                  <a:pt x="307" y="44"/>
                </a:lnTo>
                <a:lnTo>
                  <a:pt x="294" y="31"/>
                </a:lnTo>
                <a:lnTo>
                  <a:pt x="277" y="22"/>
                </a:lnTo>
                <a:lnTo>
                  <a:pt x="270" y="18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7" y="1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298" name="Rectangle 81"/>
          <p:cNvSpPr>
            <a:spLocks noChangeArrowheads="1"/>
          </p:cNvSpPr>
          <p:nvPr/>
        </p:nvSpPr>
        <p:spPr bwMode="auto">
          <a:xfrm>
            <a:off x="4176713" y="5641975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21</a:t>
            </a:r>
            <a:endParaRPr lang="en-GB" altLang="en-US"/>
          </a:p>
        </p:txBody>
      </p:sp>
      <p:sp>
        <p:nvSpPr>
          <p:cNvPr id="11299" name="Freeform 82"/>
          <p:cNvSpPr>
            <a:spLocks/>
          </p:cNvSpPr>
          <p:nvPr/>
        </p:nvSpPr>
        <p:spPr bwMode="auto">
          <a:xfrm>
            <a:off x="2709863" y="62388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4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4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0" name="Rectangle 83"/>
          <p:cNvSpPr>
            <a:spLocks noChangeArrowheads="1"/>
          </p:cNvSpPr>
          <p:nvPr/>
        </p:nvSpPr>
        <p:spPr bwMode="auto">
          <a:xfrm>
            <a:off x="2740025" y="62595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11301" name="Freeform 84"/>
          <p:cNvSpPr>
            <a:spLocks/>
          </p:cNvSpPr>
          <p:nvPr/>
        </p:nvSpPr>
        <p:spPr bwMode="auto">
          <a:xfrm>
            <a:off x="1931988" y="4922838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5" y="54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3"/>
                </a:lnTo>
                <a:lnTo>
                  <a:pt x="353" y="277"/>
                </a:lnTo>
                <a:lnTo>
                  <a:pt x="358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8"/>
                </a:lnTo>
                <a:lnTo>
                  <a:pt x="373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2" name="Rectangle 85"/>
          <p:cNvSpPr>
            <a:spLocks noChangeArrowheads="1"/>
          </p:cNvSpPr>
          <p:nvPr/>
        </p:nvSpPr>
        <p:spPr bwMode="auto">
          <a:xfrm>
            <a:off x="2022475" y="49434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1303" name="Freeform 86"/>
          <p:cNvSpPr>
            <a:spLocks/>
          </p:cNvSpPr>
          <p:nvPr/>
        </p:nvSpPr>
        <p:spPr bwMode="auto">
          <a:xfrm>
            <a:off x="3725863" y="4922838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2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5" y="54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9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9" y="270"/>
                </a:lnTo>
                <a:lnTo>
                  <a:pt x="23" y="277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7" y="372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4" y="308"/>
                </a:lnTo>
                <a:lnTo>
                  <a:pt x="344" y="293"/>
                </a:lnTo>
                <a:lnTo>
                  <a:pt x="353" y="277"/>
                </a:lnTo>
                <a:lnTo>
                  <a:pt x="358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8"/>
                </a:lnTo>
                <a:lnTo>
                  <a:pt x="373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4"/>
                </a:lnTo>
                <a:lnTo>
                  <a:pt x="308" y="42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7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4" name="Rectangle 87"/>
          <p:cNvSpPr>
            <a:spLocks noChangeArrowheads="1"/>
          </p:cNvSpPr>
          <p:nvPr/>
        </p:nvSpPr>
        <p:spPr bwMode="auto">
          <a:xfrm>
            <a:off x="3757613" y="4943475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GB" altLang="en-US"/>
          </a:p>
        </p:txBody>
      </p:sp>
      <p:sp>
        <p:nvSpPr>
          <p:cNvPr id="11305" name="Freeform 88"/>
          <p:cNvSpPr>
            <a:spLocks/>
          </p:cNvSpPr>
          <p:nvPr/>
        </p:nvSpPr>
        <p:spPr bwMode="auto">
          <a:xfrm>
            <a:off x="2389188" y="5619750"/>
            <a:ext cx="300037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9" y="0"/>
                </a:lnTo>
                <a:lnTo>
                  <a:pt x="169" y="1"/>
                </a:lnTo>
                <a:lnTo>
                  <a:pt x="159" y="1"/>
                </a:lnTo>
                <a:lnTo>
                  <a:pt x="150" y="4"/>
                </a:lnTo>
                <a:lnTo>
                  <a:pt x="141" y="6"/>
                </a:lnTo>
                <a:lnTo>
                  <a:pt x="132" y="9"/>
                </a:lnTo>
                <a:lnTo>
                  <a:pt x="123" y="12"/>
                </a:lnTo>
                <a:lnTo>
                  <a:pt x="114" y="15"/>
                </a:lnTo>
                <a:lnTo>
                  <a:pt x="107" y="18"/>
                </a:lnTo>
                <a:lnTo>
                  <a:pt x="98" y="22"/>
                </a:lnTo>
                <a:lnTo>
                  <a:pt x="83" y="31"/>
                </a:lnTo>
                <a:lnTo>
                  <a:pt x="69" y="44"/>
                </a:lnTo>
                <a:lnTo>
                  <a:pt x="55" y="56"/>
                </a:lnTo>
                <a:lnTo>
                  <a:pt x="43" y="69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5" y="114"/>
                </a:lnTo>
                <a:lnTo>
                  <a:pt x="12" y="123"/>
                </a:lnTo>
                <a:lnTo>
                  <a:pt x="9" y="132"/>
                </a:lnTo>
                <a:lnTo>
                  <a:pt x="6" y="142"/>
                </a:lnTo>
                <a:lnTo>
                  <a:pt x="4" y="151"/>
                </a:lnTo>
                <a:lnTo>
                  <a:pt x="1" y="160"/>
                </a:lnTo>
                <a:lnTo>
                  <a:pt x="1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1" y="208"/>
                </a:lnTo>
                <a:lnTo>
                  <a:pt x="1" y="217"/>
                </a:lnTo>
                <a:lnTo>
                  <a:pt x="4" y="226"/>
                </a:lnTo>
                <a:lnTo>
                  <a:pt x="6" y="235"/>
                </a:lnTo>
                <a:lnTo>
                  <a:pt x="9" y="244"/>
                </a:lnTo>
                <a:lnTo>
                  <a:pt x="12" y="253"/>
                </a:lnTo>
                <a:lnTo>
                  <a:pt x="15" y="262"/>
                </a:lnTo>
                <a:lnTo>
                  <a:pt x="18" y="270"/>
                </a:lnTo>
                <a:lnTo>
                  <a:pt x="22" y="279"/>
                </a:lnTo>
                <a:lnTo>
                  <a:pt x="31" y="294"/>
                </a:lnTo>
                <a:lnTo>
                  <a:pt x="43" y="309"/>
                </a:lnTo>
                <a:lnTo>
                  <a:pt x="55" y="321"/>
                </a:lnTo>
                <a:lnTo>
                  <a:pt x="69" y="333"/>
                </a:lnTo>
                <a:lnTo>
                  <a:pt x="83" y="345"/>
                </a:lnTo>
                <a:lnTo>
                  <a:pt x="98" y="354"/>
                </a:lnTo>
                <a:lnTo>
                  <a:pt x="107" y="359"/>
                </a:lnTo>
                <a:lnTo>
                  <a:pt x="114" y="362"/>
                </a:lnTo>
                <a:lnTo>
                  <a:pt x="123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5"/>
                </a:lnTo>
                <a:lnTo>
                  <a:pt x="169" y="375"/>
                </a:lnTo>
                <a:lnTo>
                  <a:pt x="179" y="377"/>
                </a:lnTo>
                <a:lnTo>
                  <a:pt x="188" y="377"/>
                </a:lnTo>
                <a:lnTo>
                  <a:pt x="197" y="377"/>
                </a:lnTo>
                <a:lnTo>
                  <a:pt x="208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2" y="362"/>
                </a:lnTo>
                <a:lnTo>
                  <a:pt x="269" y="359"/>
                </a:lnTo>
                <a:lnTo>
                  <a:pt x="279" y="354"/>
                </a:lnTo>
                <a:lnTo>
                  <a:pt x="294" y="345"/>
                </a:lnTo>
                <a:lnTo>
                  <a:pt x="309" y="333"/>
                </a:lnTo>
                <a:lnTo>
                  <a:pt x="321" y="321"/>
                </a:lnTo>
                <a:lnTo>
                  <a:pt x="333" y="309"/>
                </a:lnTo>
                <a:lnTo>
                  <a:pt x="345" y="294"/>
                </a:lnTo>
                <a:lnTo>
                  <a:pt x="354" y="279"/>
                </a:lnTo>
                <a:lnTo>
                  <a:pt x="358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5" y="217"/>
                </a:lnTo>
                <a:lnTo>
                  <a:pt x="375" y="208"/>
                </a:lnTo>
                <a:lnTo>
                  <a:pt x="377" y="197"/>
                </a:lnTo>
                <a:lnTo>
                  <a:pt x="377" y="188"/>
                </a:lnTo>
                <a:lnTo>
                  <a:pt x="377" y="179"/>
                </a:lnTo>
                <a:lnTo>
                  <a:pt x="375" y="169"/>
                </a:lnTo>
                <a:lnTo>
                  <a:pt x="375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2"/>
                </a:lnTo>
                <a:lnTo>
                  <a:pt x="364" y="123"/>
                </a:lnTo>
                <a:lnTo>
                  <a:pt x="361" y="114"/>
                </a:lnTo>
                <a:lnTo>
                  <a:pt x="358" y="107"/>
                </a:lnTo>
                <a:lnTo>
                  <a:pt x="354" y="98"/>
                </a:lnTo>
                <a:lnTo>
                  <a:pt x="345" y="83"/>
                </a:lnTo>
                <a:lnTo>
                  <a:pt x="333" y="69"/>
                </a:lnTo>
                <a:lnTo>
                  <a:pt x="321" y="56"/>
                </a:lnTo>
                <a:lnTo>
                  <a:pt x="309" y="44"/>
                </a:lnTo>
                <a:lnTo>
                  <a:pt x="294" y="31"/>
                </a:lnTo>
                <a:lnTo>
                  <a:pt x="279" y="22"/>
                </a:lnTo>
                <a:lnTo>
                  <a:pt x="269" y="18"/>
                </a:lnTo>
                <a:lnTo>
                  <a:pt x="262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8" y="1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6" name="Rectangle 89"/>
          <p:cNvSpPr>
            <a:spLocks noChangeArrowheads="1"/>
          </p:cNvSpPr>
          <p:nvPr/>
        </p:nvSpPr>
        <p:spPr bwMode="auto">
          <a:xfrm>
            <a:off x="2481263" y="56419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1307" name="Freeform 90"/>
          <p:cNvSpPr>
            <a:spLocks/>
          </p:cNvSpPr>
          <p:nvPr/>
        </p:nvSpPr>
        <p:spPr bwMode="auto">
          <a:xfrm>
            <a:off x="2828925" y="43846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1"/>
                </a:lnTo>
                <a:lnTo>
                  <a:pt x="149" y="3"/>
                </a:lnTo>
                <a:lnTo>
                  <a:pt x="140" y="4"/>
                </a:lnTo>
                <a:lnTo>
                  <a:pt x="131" y="7"/>
                </a:lnTo>
                <a:lnTo>
                  <a:pt x="123" y="10"/>
                </a:lnTo>
                <a:lnTo>
                  <a:pt x="114" y="13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2" y="98"/>
                </a:lnTo>
                <a:lnTo>
                  <a:pt x="18" y="105"/>
                </a:lnTo>
                <a:lnTo>
                  <a:pt x="13" y="114"/>
                </a:lnTo>
                <a:lnTo>
                  <a:pt x="10" y="123"/>
                </a:lnTo>
                <a:lnTo>
                  <a:pt x="7" y="131"/>
                </a:lnTo>
                <a:lnTo>
                  <a:pt x="4" y="140"/>
                </a:lnTo>
                <a:lnTo>
                  <a:pt x="3" y="149"/>
                </a:lnTo>
                <a:lnTo>
                  <a:pt x="1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6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1"/>
                </a:lnTo>
                <a:lnTo>
                  <a:pt x="18" y="270"/>
                </a:lnTo>
                <a:lnTo>
                  <a:pt x="22" y="277"/>
                </a:lnTo>
                <a:lnTo>
                  <a:pt x="32" y="292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5" y="357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8" y="377"/>
                </a:lnTo>
                <a:lnTo>
                  <a:pt x="197" y="375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2" y="344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4" y="292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6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3"/>
                </a:lnTo>
                <a:lnTo>
                  <a:pt x="362" y="114"/>
                </a:lnTo>
                <a:lnTo>
                  <a:pt x="357" y="105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3"/>
                </a:lnTo>
                <a:lnTo>
                  <a:pt x="253" y="10"/>
                </a:lnTo>
                <a:lnTo>
                  <a:pt x="244" y="7"/>
                </a:lnTo>
                <a:lnTo>
                  <a:pt x="235" y="4"/>
                </a:lnTo>
                <a:lnTo>
                  <a:pt x="226" y="3"/>
                </a:lnTo>
                <a:lnTo>
                  <a:pt x="217" y="1"/>
                </a:lnTo>
                <a:lnTo>
                  <a:pt x="206" y="0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08" name="Rectangle 91"/>
          <p:cNvSpPr>
            <a:spLocks noChangeArrowheads="1"/>
          </p:cNvSpPr>
          <p:nvPr/>
        </p:nvSpPr>
        <p:spPr bwMode="auto">
          <a:xfrm>
            <a:off x="2860675" y="44053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1309" name="Freeform 92"/>
          <p:cNvSpPr>
            <a:spLocks noEditPoints="1"/>
          </p:cNvSpPr>
          <p:nvPr/>
        </p:nvSpPr>
        <p:spPr bwMode="auto">
          <a:xfrm>
            <a:off x="2185988" y="4648200"/>
            <a:ext cx="690562" cy="306388"/>
          </a:xfrm>
          <a:custGeom>
            <a:avLst/>
            <a:gdLst>
              <a:gd name="T0" fmla="*/ 2147483647 w 870"/>
              <a:gd name="T1" fmla="*/ 2147483647 h 386"/>
              <a:gd name="T2" fmla="*/ 2147483647 w 870"/>
              <a:gd name="T3" fmla="*/ 2147483647 h 386"/>
              <a:gd name="T4" fmla="*/ 2147483647 w 870"/>
              <a:gd name="T5" fmla="*/ 2147483647 h 386"/>
              <a:gd name="T6" fmla="*/ 2147483647 w 870"/>
              <a:gd name="T7" fmla="*/ 2147483647 h 386"/>
              <a:gd name="T8" fmla="*/ 2147483647 w 870"/>
              <a:gd name="T9" fmla="*/ 2147483647 h 386"/>
              <a:gd name="T10" fmla="*/ 2147483647 w 870"/>
              <a:gd name="T11" fmla="*/ 2147483647 h 386"/>
              <a:gd name="T12" fmla="*/ 2147483647 w 870"/>
              <a:gd name="T13" fmla="*/ 2147483647 h 386"/>
              <a:gd name="T14" fmla="*/ 2147483647 w 870"/>
              <a:gd name="T15" fmla="*/ 2147483647 h 386"/>
              <a:gd name="T16" fmla="*/ 2147483647 w 870"/>
              <a:gd name="T17" fmla="*/ 2147483647 h 386"/>
              <a:gd name="T18" fmla="*/ 2147483647 w 870"/>
              <a:gd name="T19" fmla="*/ 2147483647 h 386"/>
              <a:gd name="T20" fmla="*/ 2147483647 w 870"/>
              <a:gd name="T21" fmla="*/ 2147483647 h 386"/>
              <a:gd name="T22" fmla="*/ 2147483647 w 870"/>
              <a:gd name="T23" fmla="*/ 0 h 386"/>
              <a:gd name="T24" fmla="*/ 2147483647 w 870"/>
              <a:gd name="T25" fmla="*/ 2147483647 h 386"/>
              <a:gd name="T26" fmla="*/ 2147483647 w 870"/>
              <a:gd name="T27" fmla="*/ 2147483647 h 386"/>
              <a:gd name="T28" fmla="*/ 2147483647 w 870"/>
              <a:gd name="T29" fmla="*/ 2147483647 h 386"/>
              <a:gd name="T30" fmla="*/ 2147483647 w 870"/>
              <a:gd name="T31" fmla="*/ 2147483647 h 386"/>
              <a:gd name="T32" fmla="*/ 2147483647 w 870"/>
              <a:gd name="T33" fmla="*/ 2147483647 h 386"/>
              <a:gd name="T34" fmla="*/ 2147483647 w 870"/>
              <a:gd name="T35" fmla="*/ 2147483647 h 386"/>
              <a:gd name="T36" fmla="*/ 2147483647 w 870"/>
              <a:gd name="T37" fmla="*/ 2147483647 h 386"/>
              <a:gd name="T38" fmla="*/ 2147483647 w 870"/>
              <a:gd name="T39" fmla="*/ 2147483647 h 386"/>
              <a:gd name="T40" fmla="*/ 2147483647 w 870"/>
              <a:gd name="T41" fmla="*/ 2147483647 h 386"/>
              <a:gd name="T42" fmla="*/ 0 w 870"/>
              <a:gd name="T43" fmla="*/ 2147483647 h 386"/>
              <a:gd name="T44" fmla="*/ 2147483647 w 870"/>
              <a:gd name="T45" fmla="*/ 2147483647 h 386"/>
              <a:gd name="T46" fmla="*/ 2147483647 w 870"/>
              <a:gd name="T47" fmla="*/ 2147483647 h 38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870"/>
              <a:gd name="T73" fmla="*/ 0 h 386"/>
              <a:gd name="T74" fmla="*/ 870 w 870"/>
              <a:gd name="T75" fmla="*/ 386 h 38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870" h="386">
                <a:moveTo>
                  <a:pt x="867" y="12"/>
                </a:moveTo>
                <a:lnTo>
                  <a:pt x="61" y="362"/>
                </a:lnTo>
                <a:lnTo>
                  <a:pt x="58" y="362"/>
                </a:lnTo>
                <a:lnTo>
                  <a:pt x="56" y="362"/>
                </a:lnTo>
                <a:lnTo>
                  <a:pt x="53" y="360"/>
                </a:lnTo>
                <a:lnTo>
                  <a:pt x="53" y="359"/>
                </a:lnTo>
                <a:lnTo>
                  <a:pt x="52" y="356"/>
                </a:lnTo>
                <a:lnTo>
                  <a:pt x="53" y="353"/>
                </a:lnTo>
                <a:lnTo>
                  <a:pt x="53" y="351"/>
                </a:lnTo>
                <a:lnTo>
                  <a:pt x="56" y="350"/>
                </a:lnTo>
                <a:lnTo>
                  <a:pt x="861" y="1"/>
                </a:lnTo>
                <a:lnTo>
                  <a:pt x="864" y="0"/>
                </a:lnTo>
                <a:lnTo>
                  <a:pt x="867" y="1"/>
                </a:lnTo>
                <a:lnTo>
                  <a:pt x="869" y="3"/>
                </a:lnTo>
                <a:lnTo>
                  <a:pt x="870" y="5"/>
                </a:lnTo>
                <a:lnTo>
                  <a:pt x="870" y="8"/>
                </a:lnTo>
                <a:lnTo>
                  <a:pt x="870" y="9"/>
                </a:lnTo>
                <a:lnTo>
                  <a:pt x="869" y="11"/>
                </a:lnTo>
                <a:lnTo>
                  <a:pt x="867" y="12"/>
                </a:lnTo>
                <a:close/>
                <a:moveTo>
                  <a:pt x="85" y="386"/>
                </a:moveTo>
                <a:lnTo>
                  <a:pt x="0" y="381"/>
                </a:lnTo>
                <a:lnTo>
                  <a:pt x="55" y="317"/>
                </a:lnTo>
                <a:lnTo>
                  <a:pt x="85" y="386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0" name="Freeform 93"/>
          <p:cNvSpPr>
            <a:spLocks noEditPoints="1"/>
          </p:cNvSpPr>
          <p:nvPr/>
        </p:nvSpPr>
        <p:spPr bwMode="auto">
          <a:xfrm>
            <a:off x="3078163" y="4648200"/>
            <a:ext cx="796925" cy="269875"/>
          </a:xfrm>
          <a:custGeom>
            <a:avLst/>
            <a:gdLst>
              <a:gd name="T0" fmla="*/ 2147483647 w 1004"/>
              <a:gd name="T1" fmla="*/ 2147483647 h 339"/>
              <a:gd name="T2" fmla="*/ 2147483647 w 1004"/>
              <a:gd name="T3" fmla="*/ 2147483647 h 339"/>
              <a:gd name="T4" fmla="*/ 2147483647 w 1004"/>
              <a:gd name="T5" fmla="*/ 2147483647 h 339"/>
              <a:gd name="T6" fmla="*/ 2147483647 w 1004"/>
              <a:gd name="T7" fmla="*/ 2147483647 h 339"/>
              <a:gd name="T8" fmla="*/ 2147483647 w 1004"/>
              <a:gd name="T9" fmla="*/ 2147483647 h 339"/>
              <a:gd name="T10" fmla="*/ 2147483647 w 1004"/>
              <a:gd name="T11" fmla="*/ 2147483647 h 339"/>
              <a:gd name="T12" fmla="*/ 2147483647 w 1004"/>
              <a:gd name="T13" fmla="*/ 2147483647 h 339"/>
              <a:gd name="T14" fmla="*/ 2147483647 w 1004"/>
              <a:gd name="T15" fmla="*/ 2147483647 h 339"/>
              <a:gd name="T16" fmla="*/ 2147483647 w 1004"/>
              <a:gd name="T17" fmla="*/ 2147483647 h 339"/>
              <a:gd name="T18" fmla="*/ 2147483647 w 1004"/>
              <a:gd name="T19" fmla="*/ 2147483647 h 339"/>
              <a:gd name="T20" fmla="*/ 2147483647 w 1004"/>
              <a:gd name="T21" fmla="*/ 2147483647 h 339"/>
              <a:gd name="T22" fmla="*/ 2147483647 w 1004"/>
              <a:gd name="T23" fmla="*/ 2147483647 h 339"/>
              <a:gd name="T24" fmla="*/ 0 w 1004"/>
              <a:gd name="T25" fmla="*/ 2147483647 h 339"/>
              <a:gd name="T26" fmla="*/ 0 w 1004"/>
              <a:gd name="T27" fmla="*/ 2147483647 h 339"/>
              <a:gd name="T28" fmla="*/ 0 w 1004"/>
              <a:gd name="T29" fmla="*/ 2147483647 h 339"/>
              <a:gd name="T30" fmla="*/ 2147483647 w 1004"/>
              <a:gd name="T31" fmla="*/ 2147483647 h 339"/>
              <a:gd name="T32" fmla="*/ 2147483647 w 1004"/>
              <a:gd name="T33" fmla="*/ 2147483647 h 339"/>
              <a:gd name="T34" fmla="*/ 2147483647 w 1004"/>
              <a:gd name="T35" fmla="*/ 0 h 339"/>
              <a:gd name="T36" fmla="*/ 2147483647 w 1004"/>
              <a:gd name="T37" fmla="*/ 2147483647 h 339"/>
              <a:gd name="T38" fmla="*/ 2147483647 w 1004"/>
              <a:gd name="T39" fmla="*/ 2147483647 h 339"/>
              <a:gd name="T40" fmla="*/ 2147483647 w 1004"/>
              <a:gd name="T41" fmla="*/ 2147483647 h 339"/>
              <a:gd name="T42" fmla="*/ 2147483647 w 1004"/>
              <a:gd name="T43" fmla="*/ 2147483647 h 339"/>
              <a:gd name="T44" fmla="*/ 2147483647 w 1004"/>
              <a:gd name="T45" fmla="*/ 2147483647 h 339"/>
              <a:gd name="T46" fmla="*/ 2147483647 w 1004"/>
              <a:gd name="T47" fmla="*/ 2147483647 h 33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004"/>
              <a:gd name="T73" fmla="*/ 0 h 339"/>
              <a:gd name="T74" fmla="*/ 1004 w 1004"/>
              <a:gd name="T75" fmla="*/ 339 h 33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004" h="339">
                <a:moveTo>
                  <a:pt x="7" y="1"/>
                </a:moveTo>
                <a:lnTo>
                  <a:pt x="945" y="300"/>
                </a:lnTo>
                <a:lnTo>
                  <a:pt x="948" y="301"/>
                </a:lnTo>
                <a:lnTo>
                  <a:pt x="950" y="304"/>
                </a:lnTo>
                <a:lnTo>
                  <a:pt x="950" y="306"/>
                </a:lnTo>
                <a:lnTo>
                  <a:pt x="950" y="309"/>
                </a:lnTo>
                <a:lnTo>
                  <a:pt x="948" y="310"/>
                </a:lnTo>
                <a:lnTo>
                  <a:pt x="947" y="312"/>
                </a:lnTo>
                <a:lnTo>
                  <a:pt x="944" y="313"/>
                </a:lnTo>
                <a:lnTo>
                  <a:pt x="942" y="312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1"/>
                </a:lnTo>
                <a:lnTo>
                  <a:pt x="6" y="0"/>
                </a:lnTo>
                <a:lnTo>
                  <a:pt x="7" y="1"/>
                </a:lnTo>
                <a:close/>
                <a:moveTo>
                  <a:pt x="944" y="267"/>
                </a:moveTo>
                <a:lnTo>
                  <a:pt x="1004" y="326"/>
                </a:lnTo>
                <a:lnTo>
                  <a:pt x="919" y="339"/>
                </a:lnTo>
                <a:lnTo>
                  <a:pt x="944" y="26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1" name="Freeform 94"/>
          <p:cNvSpPr>
            <a:spLocks noEditPoints="1"/>
          </p:cNvSpPr>
          <p:nvPr/>
        </p:nvSpPr>
        <p:spPr bwMode="auto">
          <a:xfrm>
            <a:off x="3976688" y="5187950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0 h 526"/>
              <a:gd name="T30" fmla="*/ 2147483647 w 401"/>
              <a:gd name="T31" fmla="*/ 0 h 526"/>
              <a:gd name="T32" fmla="*/ 2147483647 w 401"/>
              <a:gd name="T33" fmla="*/ 0 h 526"/>
              <a:gd name="T34" fmla="*/ 2147483647 w 401"/>
              <a:gd name="T35" fmla="*/ 0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3" y="1"/>
                </a:moveTo>
                <a:lnTo>
                  <a:pt x="368" y="471"/>
                </a:lnTo>
                <a:lnTo>
                  <a:pt x="370" y="473"/>
                </a:lnTo>
                <a:lnTo>
                  <a:pt x="370" y="476"/>
                </a:lnTo>
                <a:lnTo>
                  <a:pt x="368" y="478"/>
                </a:lnTo>
                <a:lnTo>
                  <a:pt x="367" y="481"/>
                </a:lnTo>
                <a:lnTo>
                  <a:pt x="364" y="481"/>
                </a:lnTo>
                <a:lnTo>
                  <a:pt x="362" y="481"/>
                </a:lnTo>
                <a:lnTo>
                  <a:pt x="359" y="481"/>
                </a:lnTo>
                <a:lnTo>
                  <a:pt x="358" y="479"/>
                </a:lnTo>
                <a:lnTo>
                  <a:pt x="2" y="9"/>
                </a:lnTo>
                <a:lnTo>
                  <a:pt x="0" y="7"/>
                </a:lnTo>
                <a:lnTo>
                  <a:pt x="0" y="4"/>
                </a:lnTo>
                <a:lnTo>
                  <a:pt x="2" y="3"/>
                </a:lnTo>
                <a:lnTo>
                  <a:pt x="3" y="0"/>
                </a:ln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3" y="1"/>
                </a:lnTo>
                <a:close/>
                <a:moveTo>
                  <a:pt x="385" y="443"/>
                </a:moveTo>
                <a:lnTo>
                  <a:pt x="401" y="526"/>
                </a:lnTo>
                <a:lnTo>
                  <a:pt x="326" y="488"/>
                </a:lnTo>
                <a:lnTo>
                  <a:pt x="385" y="4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2" name="Freeform 95"/>
          <p:cNvSpPr>
            <a:spLocks noEditPoints="1"/>
          </p:cNvSpPr>
          <p:nvPr/>
        </p:nvSpPr>
        <p:spPr bwMode="auto">
          <a:xfrm>
            <a:off x="2200275" y="5886450"/>
            <a:ext cx="238125" cy="336550"/>
          </a:xfrm>
          <a:custGeom>
            <a:avLst/>
            <a:gdLst>
              <a:gd name="T0" fmla="*/ 2147483647 w 299"/>
              <a:gd name="T1" fmla="*/ 2147483647 h 425"/>
              <a:gd name="T2" fmla="*/ 2147483647 w 299"/>
              <a:gd name="T3" fmla="*/ 2147483647 h 425"/>
              <a:gd name="T4" fmla="*/ 2147483647 w 299"/>
              <a:gd name="T5" fmla="*/ 2147483647 h 425"/>
              <a:gd name="T6" fmla="*/ 2147483647 w 299"/>
              <a:gd name="T7" fmla="*/ 2147483647 h 425"/>
              <a:gd name="T8" fmla="*/ 2147483647 w 299"/>
              <a:gd name="T9" fmla="*/ 2147483647 h 425"/>
              <a:gd name="T10" fmla="*/ 2147483647 w 299"/>
              <a:gd name="T11" fmla="*/ 2147483647 h 425"/>
              <a:gd name="T12" fmla="*/ 2147483647 w 299"/>
              <a:gd name="T13" fmla="*/ 2147483647 h 425"/>
              <a:gd name="T14" fmla="*/ 2147483647 w 299"/>
              <a:gd name="T15" fmla="*/ 2147483647 h 425"/>
              <a:gd name="T16" fmla="*/ 2147483647 w 299"/>
              <a:gd name="T17" fmla="*/ 2147483647 h 425"/>
              <a:gd name="T18" fmla="*/ 2147483647 w 299"/>
              <a:gd name="T19" fmla="*/ 2147483647 h 425"/>
              <a:gd name="T20" fmla="*/ 2147483647 w 299"/>
              <a:gd name="T21" fmla="*/ 2147483647 h 425"/>
              <a:gd name="T22" fmla="*/ 2147483647 w 299"/>
              <a:gd name="T23" fmla="*/ 0 h 425"/>
              <a:gd name="T24" fmla="*/ 2147483647 w 299"/>
              <a:gd name="T25" fmla="*/ 0 h 425"/>
              <a:gd name="T26" fmla="*/ 2147483647 w 299"/>
              <a:gd name="T27" fmla="*/ 0 h 425"/>
              <a:gd name="T28" fmla="*/ 2147483647 w 299"/>
              <a:gd name="T29" fmla="*/ 2147483647 h 425"/>
              <a:gd name="T30" fmla="*/ 2147483647 w 299"/>
              <a:gd name="T31" fmla="*/ 2147483647 h 425"/>
              <a:gd name="T32" fmla="*/ 2147483647 w 299"/>
              <a:gd name="T33" fmla="*/ 2147483647 h 425"/>
              <a:gd name="T34" fmla="*/ 2147483647 w 299"/>
              <a:gd name="T35" fmla="*/ 2147483647 h 425"/>
              <a:gd name="T36" fmla="*/ 2147483647 w 299"/>
              <a:gd name="T37" fmla="*/ 2147483647 h 425"/>
              <a:gd name="T38" fmla="*/ 2147483647 w 299"/>
              <a:gd name="T39" fmla="*/ 2147483647 h 425"/>
              <a:gd name="T40" fmla="*/ 2147483647 w 299"/>
              <a:gd name="T41" fmla="*/ 2147483647 h 425"/>
              <a:gd name="T42" fmla="*/ 0 w 299"/>
              <a:gd name="T43" fmla="*/ 2147483647 h 425"/>
              <a:gd name="T44" fmla="*/ 2147483647 w 299"/>
              <a:gd name="T45" fmla="*/ 2147483647 h 425"/>
              <a:gd name="T46" fmla="*/ 2147483647 w 299"/>
              <a:gd name="T47" fmla="*/ 2147483647 h 4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99"/>
              <a:gd name="T73" fmla="*/ 0 h 425"/>
              <a:gd name="T74" fmla="*/ 299 w 299"/>
              <a:gd name="T75" fmla="*/ 425 h 4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99" h="425">
                <a:moveTo>
                  <a:pt x="298" y="11"/>
                </a:moveTo>
                <a:lnTo>
                  <a:pt x="40" y="379"/>
                </a:lnTo>
                <a:lnTo>
                  <a:pt x="39" y="380"/>
                </a:lnTo>
                <a:lnTo>
                  <a:pt x="36" y="380"/>
                </a:lnTo>
                <a:lnTo>
                  <a:pt x="34" y="380"/>
                </a:lnTo>
                <a:lnTo>
                  <a:pt x="31" y="380"/>
                </a:lnTo>
                <a:lnTo>
                  <a:pt x="30" y="377"/>
                </a:lnTo>
                <a:lnTo>
                  <a:pt x="28" y="376"/>
                </a:lnTo>
                <a:lnTo>
                  <a:pt x="28" y="373"/>
                </a:lnTo>
                <a:lnTo>
                  <a:pt x="30" y="371"/>
                </a:lnTo>
                <a:lnTo>
                  <a:pt x="287" y="3"/>
                </a:lnTo>
                <a:lnTo>
                  <a:pt x="289" y="0"/>
                </a:lnTo>
                <a:lnTo>
                  <a:pt x="292" y="0"/>
                </a:lnTo>
                <a:lnTo>
                  <a:pt x="293" y="0"/>
                </a:lnTo>
                <a:lnTo>
                  <a:pt x="296" y="2"/>
                </a:lnTo>
                <a:lnTo>
                  <a:pt x="298" y="3"/>
                </a:lnTo>
                <a:lnTo>
                  <a:pt x="299" y="5"/>
                </a:lnTo>
                <a:lnTo>
                  <a:pt x="299" y="8"/>
                </a:lnTo>
                <a:lnTo>
                  <a:pt x="298" y="11"/>
                </a:lnTo>
                <a:close/>
                <a:moveTo>
                  <a:pt x="73" y="386"/>
                </a:moveTo>
                <a:lnTo>
                  <a:pt x="0" y="425"/>
                </a:lnTo>
                <a:lnTo>
                  <a:pt x="12" y="343"/>
                </a:lnTo>
                <a:lnTo>
                  <a:pt x="73" y="386"/>
                </a:lnTo>
                <a:close/>
              </a:path>
            </a:pathLst>
          </a:custGeom>
          <a:solidFill>
            <a:srgbClr val="FF0000"/>
          </a:solidFill>
          <a:ln w="1588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3" name="Freeform 96"/>
          <p:cNvSpPr>
            <a:spLocks noEditPoints="1"/>
          </p:cNvSpPr>
          <p:nvPr/>
        </p:nvSpPr>
        <p:spPr bwMode="auto">
          <a:xfrm>
            <a:off x="2640013" y="5886450"/>
            <a:ext cx="219075" cy="336550"/>
          </a:xfrm>
          <a:custGeom>
            <a:avLst/>
            <a:gdLst>
              <a:gd name="T0" fmla="*/ 2147483647 w 276"/>
              <a:gd name="T1" fmla="*/ 2147483647 h 425"/>
              <a:gd name="T2" fmla="*/ 2147483647 w 276"/>
              <a:gd name="T3" fmla="*/ 2147483647 h 425"/>
              <a:gd name="T4" fmla="*/ 2147483647 w 276"/>
              <a:gd name="T5" fmla="*/ 2147483647 h 425"/>
              <a:gd name="T6" fmla="*/ 2147483647 w 276"/>
              <a:gd name="T7" fmla="*/ 2147483647 h 425"/>
              <a:gd name="T8" fmla="*/ 2147483647 w 276"/>
              <a:gd name="T9" fmla="*/ 2147483647 h 425"/>
              <a:gd name="T10" fmla="*/ 2147483647 w 276"/>
              <a:gd name="T11" fmla="*/ 2147483647 h 425"/>
              <a:gd name="T12" fmla="*/ 2147483647 w 276"/>
              <a:gd name="T13" fmla="*/ 2147483647 h 425"/>
              <a:gd name="T14" fmla="*/ 2147483647 w 276"/>
              <a:gd name="T15" fmla="*/ 2147483647 h 425"/>
              <a:gd name="T16" fmla="*/ 2147483647 w 276"/>
              <a:gd name="T17" fmla="*/ 2147483647 h 425"/>
              <a:gd name="T18" fmla="*/ 2147483647 w 276"/>
              <a:gd name="T19" fmla="*/ 2147483647 h 425"/>
              <a:gd name="T20" fmla="*/ 2147483647 w 276"/>
              <a:gd name="T21" fmla="*/ 2147483647 h 425"/>
              <a:gd name="T22" fmla="*/ 0 w 276"/>
              <a:gd name="T23" fmla="*/ 2147483647 h 425"/>
              <a:gd name="T24" fmla="*/ 0 w 276"/>
              <a:gd name="T25" fmla="*/ 2147483647 h 425"/>
              <a:gd name="T26" fmla="*/ 2147483647 w 276"/>
              <a:gd name="T27" fmla="*/ 2147483647 h 425"/>
              <a:gd name="T28" fmla="*/ 2147483647 w 276"/>
              <a:gd name="T29" fmla="*/ 2147483647 h 425"/>
              <a:gd name="T30" fmla="*/ 2147483647 w 276"/>
              <a:gd name="T31" fmla="*/ 0 h 425"/>
              <a:gd name="T32" fmla="*/ 2147483647 w 276"/>
              <a:gd name="T33" fmla="*/ 0 h 425"/>
              <a:gd name="T34" fmla="*/ 2147483647 w 276"/>
              <a:gd name="T35" fmla="*/ 2147483647 h 425"/>
              <a:gd name="T36" fmla="*/ 2147483647 w 276"/>
              <a:gd name="T37" fmla="*/ 2147483647 h 425"/>
              <a:gd name="T38" fmla="*/ 2147483647 w 276"/>
              <a:gd name="T39" fmla="*/ 2147483647 h 425"/>
              <a:gd name="T40" fmla="*/ 2147483647 w 276"/>
              <a:gd name="T41" fmla="*/ 2147483647 h 425"/>
              <a:gd name="T42" fmla="*/ 2147483647 w 276"/>
              <a:gd name="T43" fmla="*/ 2147483647 h 425"/>
              <a:gd name="T44" fmla="*/ 2147483647 w 276"/>
              <a:gd name="T45" fmla="*/ 2147483647 h 425"/>
              <a:gd name="T46" fmla="*/ 2147483647 w 276"/>
              <a:gd name="T47" fmla="*/ 2147483647 h 4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76"/>
              <a:gd name="T73" fmla="*/ 0 h 425"/>
              <a:gd name="T74" fmla="*/ 276 w 276"/>
              <a:gd name="T75" fmla="*/ 425 h 4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76" h="425">
                <a:moveTo>
                  <a:pt x="12" y="3"/>
                </a:moveTo>
                <a:lnTo>
                  <a:pt x="247" y="370"/>
                </a:lnTo>
                <a:lnTo>
                  <a:pt x="247" y="371"/>
                </a:lnTo>
                <a:lnTo>
                  <a:pt x="247" y="374"/>
                </a:lnTo>
                <a:lnTo>
                  <a:pt x="247" y="376"/>
                </a:lnTo>
                <a:lnTo>
                  <a:pt x="245" y="379"/>
                </a:lnTo>
                <a:lnTo>
                  <a:pt x="242" y="379"/>
                </a:lnTo>
                <a:lnTo>
                  <a:pt x="239" y="379"/>
                </a:lnTo>
                <a:lnTo>
                  <a:pt x="238" y="377"/>
                </a:lnTo>
                <a:lnTo>
                  <a:pt x="236" y="376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6" y="0"/>
                </a:lnTo>
                <a:lnTo>
                  <a:pt x="7" y="0"/>
                </a:lnTo>
                <a:lnTo>
                  <a:pt x="10" y="2"/>
                </a:lnTo>
                <a:lnTo>
                  <a:pt x="12" y="3"/>
                </a:lnTo>
                <a:close/>
                <a:moveTo>
                  <a:pt x="267" y="343"/>
                </a:moveTo>
                <a:lnTo>
                  <a:pt x="276" y="425"/>
                </a:lnTo>
                <a:lnTo>
                  <a:pt x="203" y="383"/>
                </a:lnTo>
                <a:lnTo>
                  <a:pt x="267" y="3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4" name="Freeform 97"/>
          <p:cNvSpPr>
            <a:spLocks/>
          </p:cNvSpPr>
          <p:nvPr/>
        </p:nvSpPr>
        <p:spPr bwMode="auto">
          <a:xfrm>
            <a:off x="1212850" y="6218238"/>
            <a:ext cx="300038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2"/>
                </a:lnTo>
                <a:lnTo>
                  <a:pt x="149" y="5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4" y="15"/>
                </a:lnTo>
                <a:lnTo>
                  <a:pt x="105" y="19"/>
                </a:lnTo>
                <a:lnTo>
                  <a:pt x="98" y="23"/>
                </a:lnTo>
                <a:lnTo>
                  <a:pt x="83" y="32"/>
                </a:lnTo>
                <a:lnTo>
                  <a:pt x="68" y="44"/>
                </a:lnTo>
                <a:lnTo>
                  <a:pt x="54" y="56"/>
                </a:lnTo>
                <a:lnTo>
                  <a:pt x="42" y="70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8"/>
                </a:lnTo>
                <a:lnTo>
                  <a:pt x="0" y="208"/>
                </a:lnTo>
                <a:lnTo>
                  <a:pt x="1" y="217"/>
                </a:lnTo>
                <a:lnTo>
                  <a:pt x="3" y="227"/>
                </a:lnTo>
                <a:lnTo>
                  <a:pt x="4" y="236"/>
                </a:lnTo>
                <a:lnTo>
                  <a:pt x="7" y="245"/>
                </a:lnTo>
                <a:lnTo>
                  <a:pt x="10" y="254"/>
                </a:lnTo>
                <a:lnTo>
                  <a:pt x="13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4"/>
                </a:lnTo>
                <a:lnTo>
                  <a:pt x="83" y="346"/>
                </a:lnTo>
                <a:lnTo>
                  <a:pt x="98" y="355"/>
                </a:lnTo>
                <a:lnTo>
                  <a:pt x="105" y="359"/>
                </a:lnTo>
                <a:lnTo>
                  <a:pt x="114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3"/>
                </a:lnTo>
                <a:lnTo>
                  <a:pt x="158" y="376"/>
                </a:lnTo>
                <a:lnTo>
                  <a:pt x="169" y="376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6"/>
                </a:lnTo>
                <a:lnTo>
                  <a:pt x="217" y="376"/>
                </a:lnTo>
                <a:lnTo>
                  <a:pt x="226" y="373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5"/>
                </a:lnTo>
                <a:lnTo>
                  <a:pt x="294" y="346"/>
                </a:lnTo>
                <a:lnTo>
                  <a:pt x="307" y="334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5"/>
                </a:lnTo>
                <a:lnTo>
                  <a:pt x="371" y="236"/>
                </a:lnTo>
                <a:lnTo>
                  <a:pt x="372" y="227"/>
                </a:lnTo>
                <a:lnTo>
                  <a:pt x="374" y="217"/>
                </a:lnTo>
                <a:lnTo>
                  <a:pt x="375" y="208"/>
                </a:lnTo>
                <a:lnTo>
                  <a:pt x="375" y="198"/>
                </a:lnTo>
                <a:lnTo>
                  <a:pt x="377" y="189"/>
                </a:lnTo>
                <a:lnTo>
                  <a:pt x="375" y="180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70"/>
                </a:lnTo>
                <a:lnTo>
                  <a:pt x="321" y="56"/>
                </a:lnTo>
                <a:lnTo>
                  <a:pt x="307" y="44"/>
                </a:lnTo>
                <a:lnTo>
                  <a:pt x="294" y="32"/>
                </a:lnTo>
                <a:lnTo>
                  <a:pt x="277" y="23"/>
                </a:lnTo>
                <a:lnTo>
                  <a:pt x="270" y="19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5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15" name="Rectangle 98"/>
          <p:cNvSpPr>
            <a:spLocks noChangeArrowheads="1"/>
          </p:cNvSpPr>
          <p:nvPr/>
        </p:nvSpPr>
        <p:spPr bwMode="auto">
          <a:xfrm>
            <a:off x="1304925" y="62388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1316" name="Freeform 99"/>
          <p:cNvSpPr>
            <a:spLocks/>
          </p:cNvSpPr>
          <p:nvPr/>
        </p:nvSpPr>
        <p:spPr bwMode="auto">
          <a:xfrm>
            <a:off x="1573213" y="5619750"/>
            <a:ext cx="298450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58" y="1"/>
                </a:lnTo>
                <a:lnTo>
                  <a:pt x="149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8"/>
                </a:lnTo>
                <a:lnTo>
                  <a:pt x="98" y="22"/>
                </a:lnTo>
                <a:lnTo>
                  <a:pt x="83" y="31"/>
                </a:lnTo>
                <a:lnTo>
                  <a:pt x="68" y="44"/>
                </a:lnTo>
                <a:lnTo>
                  <a:pt x="54" y="56"/>
                </a:lnTo>
                <a:lnTo>
                  <a:pt x="42" y="69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4"/>
                </a:lnTo>
                <a:lnTo>
                  <a:pt x="11" y="123"/>
                </a:lnTo>
                <a:lnTo>
                  <a:pt x="8" y="132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5"/>
                </a:lnTo>
                <a:lnTo>
                  <a:pt x="169" y="375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8" y="354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9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9"/>
                </a:lnTo>
                <a:lnTo>
                  <a:pt x="321" y="56"/>
                </a:lnTo>
                <a:lnTo>
                  <a:pt x="308" y="44"/>
                </a:lnTo>
                <a:lnTo>
                  <a:pt x="294" y="31"/>
                </a:lnTo>
                <a:lnTo>
                  <a:pt x="278" y="22"/>
                </a:lnTo>
                <a:lnTo>
                  <a:pt x="270" y="18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7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17" name="Rectangle 100"/>
          <p:cNvSpPr>
            <a:spLocks noChangeArrowheads="1"/>
          </p:cNvSpPr>
          <p:nvPr/>
        </p:nvSpPr>
        <p:spPr bwMode="auto">
          <a:xfrm>
            <a:off x="1663700" y="56419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1318" name="Freeform 101"/>
          <p:cNvSpPr>
            <a:spLocks noEditPoints="1"/>
          </p:cNvSpPr>
          <p:nvPr/>
        </p:nvSpPr>
        <p:spPr bwMode="auto">
          <a:xfrm>
            <a:off x="1722438" y="5187950"/>
            <a:ext cx="257175" cy="417513"/>
          </a:xfrm>
          <a:custGeom>
            <a:avLst/>
            <a:gdLst>
              <a:gd name="T0" fmla="*/ 2147483647 w 324"/>
              <a:gd name="T1" fmla="*/ 2147483647 h 526"/>
              <a:gd name="T2" fmla="*/ 2147483647 w 324"/>
              <a:gd name="T3" fmla="*/ 2147483647 h 526"/>
              <a:gd name="T4" fmla="*/ 2147483647 w 324"/>
              <a:gd name="T5" fmla="*/ 2147483647 h 526"/>
              <a:gd name="T6" fmla="*/ 2147483647 w 324"/>
              <a:gd name="T7" fmla="*/ 2147483647 h 526"/>
              <a:gd name="T8" fmla="*/ 2147483647 w 324"/>
              <a:gd name="T9" fmla="*/ 2147483647 h 526"/>
              <a:gd name="T10" fmla="*/ 2147483647 w 324"/>
              <a:gd name="T11" fmla="*/ 2147483647 h 526"/>
              <a:gd name="T12" fmla="*/ 2147483647 w 324"/>
              <a:gd name="T13" fmla="*/ 2147483647 h 526"/>
              <a:gd name="T14" fmla="*/ 2147483647 w 324"/>
              <a:gd name="T15" fmla="*/ 2147483647 h 526"/>
              <a:gd name="T16" fmla="*/ 2147483647 w 324"/>
              <a:gd name="T17" fmla="*/ 2147483647 h 526"/>
              <a:gd name="T18" fmla="*/ 2147483647 w 324"/>
              <a:gd name="T19" fmla="*/ 2147483647 h 526"/>
              <a:gd name="T20" fmla="*/ 2147483647 w 324"/>
              <a:gd name="T21" fmla="*/ 2147483647 h 526"/>
              <a:gd name="T22" fmla="*/ 2147483647 w 324"/>
              <a:gd name="T23" fmla="*/ 0 h 526"/>
              <a:gd name="T24" fmla="*/ 2147483647 w 324"/>
              <a:gd name="T25" fmla="*/ 0 h 526"/>
              <a:gd name="T26" fmla="*/ 2147483647 w 324"/>
              <a:gd name="T27" fmla="*/ 0 h 526"/>
              <a:gd name="T28" fmla="*/ 2147483647 w 324"/>
              <a:gd name="T29" fmla="*/ 0 h 526"/>
              <a:gd name="T30" fmla="*/ 2147483647 w 324"/>
              <a:gd name="T31" fmla="*/ 2147483647 h 526"/>
              <a:gd name="T32" fmla="*/ 2147483647 w 324"/>
              <a:gd name="T33" fmla="*/ 2147483647 h 526"/>
              <a:gd name="T34" fmla="*/ 2147483647 w 324"/>
              <a:gd name="T35" fmla="*/ 2147483647 h 526"/>
              <a:gd name="T36" fmla="*/ 2147483647 w 324"/>
              <a:gd name="T37" fmla="*/ 2147483647 h 526"/>
              <a:gd name="T38" fmla="*/ 2147483647 w 324"/>
              <a:gd name="T39" fmla="*/ 2147483647 h 526"/>
              <a:gd name="T40" fmla="*/ 2147483647 w 324"/>
              <a:gd name="T41" fmla="*/ 2147483647 h 526"/>
              <a:gd name="T42" fmla="*/ 0 w 324"/>
              <a:gd name="T43" fmla="*/ 2147483647 h 526"/>
              <a:gd name="T44" fmla="*/ 2147483647 w 324"/>
              <a:gd name="T45" fmla="*/ 2147483647 h 526"/>
              <a:gd name="T46" fmla="*/ 2147483647 w 32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526"/>
              <a:gd name="T74" fmla="*/ 324 w 32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526">
                <a:moveTo>
                  <a:pt x="324" y="9"/>
                </a:moveTo>
                <a:lnTo>
                  <a:pt x="37" y="474"/>
                </a:lnTo>
                <a:lnTo>
                  <a:pt x="36" y="476"/>
                </a:lnTo>
                <a:lnTo>
                  <a:pt x="33" y="478"/>
                </a:lnTo>
                <a:lnTo>
                  <a:pt x="31" y="478"/>
                </a:lnTo>
                <a:lnTo>
                  <a:pt x="28" y="478"/>
                </a:lnTo>
                <a:lnTo>
                  <a:pt x="27" y="474"/>
                </a:lnTo>
                <a:lnTo>
                  <a:pt x="25" y="473"/>
                </a:lnTo>
                <a:lnTo>
                  <a:pt x="25" y="470"/>
                </a:lnTo>
                <a:lnTo>
                  <a:pt x="27" y="468"/>
                </a:lnTo>
                <a:lnTo>
                  <a:pt x="313" y="3"/>
                </a:lnTo>
                <a:lnTo>
                  <a:pt x="315" y="0"/>
                </a:lnTo>
                <a:lnTo>
                  <a:pt x="316" y="0"/>
                </a:lnTo>
                <a:lnTo>
                  <a:pt x="319" y="0"/>
                </a:lnTo>
                <a:lnTo>
                  <a:pt x="321" y="0"/>
                </a:lnTo>
                <a:lnTo>
                  <a:pt x="322" y="1"/>
                </a:lnTo>
                <a:lnTo>
                  <a:pt x="324" y="4"/>
                </a:lnTo>
                <a:lnTo>
                  <a:pt x="324" y="6"/>
                </a:lnTo>
                <a:lnTo>
                  <a:pt x="324" y="9"/>
                </a:lnTo>
                <a:close/>
                <a:moveTo>
                  <a:pt x="70" y="481"/>
                </a:moveTo>
                <a:lnTo>
                  <a:pt x="0" y="526"/>
                </a:lnTo>
                <a:lnTo>
                  <a:pt x="7" y="441"/>
                </a:lnTo>
                <a:lnTo>
                  <a:pt x="70" y="481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19" name="Freeform 102"/>
          <p:cNvSpPr>
            <a:spLocks noEditPoints="1"/>
          </p:cNvSpPr>
          <p:nvPr/>
        </p:nvSpPr>
        <p:spPr bwMode="auto">
          <a:xfrm>
            <a:off x="1363663" y="5886450"/>
            <a:ext cx="257175" cy="317500"/>
          </a:xfrm>
          <a:custGeom>
            <a:avLst/>
            <a:gdLst>
              <a:gd name="T0" fmla="*/ 2147483647 w 324"/>
              <a:gd name="T1" fmla="*/ 2147483647 h 401"/>
              <a:gd name="T2" fmla="*/ 2147483647 w 324"/>
              <a:gd name="T3" fmla="*/ 2147483647 h 401"/>
              <a:gd name="T4" fmla="*/ 2147483647 w 324"/>
              <a:gd name="T5" fmla="*/ 2147483647 h 401"/>
              <a:gd name="T6" fmla="*/ 2147483647 w 324"/>
              <a:gd name="T7" fmla="*/ 2147483647 h 401"/>
              <a:gd name="T8" fmla="*/ 2147483647 w 324"/>
              <a:gd name="T9" fmla="*/ 2147483647 h 401"/>
              <a:gd name="T10" fmla="*/ 2147483647 w 324"/>
              <a:gd name="T11" fmla="*/ 2147483647 h 401"/>
              <a:gd name="T12" fmla="*/ 2147483647 w 324"/>
              <a:gd name="T13" fmla="*/ 2147483647 h 401"/>
              <a:gd name="T14" fmla="*/ 2147483647 w 324"/>
              <a:gd name="T15" fmla="*/ 2147483647 h 401"/>
              <a:gd name="T16" fmla="*/ 2147483647 w 324"/>
              <a:gd name="T17" fmla="*/ 2147483647 h 401"/>
              <a:gd name="T18" fmla="*/ 2147483647 w 324"/>
              <a:gd name="T19" fmla="*/ 2147483647 h 401"/>
              <a:gd name="T20" fmla="*/ 2147483647 w 324"/>
              <a:gd name="T21" fmla="*/ 2147483647 h 401"/>
              <a:gd name="T22" fmla="*/ 2147483647 w 324"/>
              <a:gd name="T23" fmla="*/ 0 h 401"/>
              <a:gd name="T24" fmla="*/ 2147483647 w 324"/>
              <a:gd name="T25" fmla="*/ 0 h 401"/>
              <a:gd name="T26" fmla="*/ 2147483647 w 324"/>
              <a:gd name="T27" fmla="*/ 0 h 401"/>
              <a:gd name="T28" fmla="*/ 2147483647 w 324"/>
              <a:gd name="T29" fmla="*/ 2147483647 h 401"/>
              <a:gd name="T30" fmla="*/ 2147483647 w 324"/>
              <a:gd name="T31" fmla="*/ 2147483647 h 401"/>
              <a:gd name="T32" fmla="*/ 2147483647 w 324"/>
              <a:gd name="T33" fmla="*/ 2147483647 h 401"/>
              <a:gd name="T34" fmla="*/ 2147483647 w 324"/>
              <a:gd name="T35" fmla="*/ 2147483647 h 401"/>
              <a:gd name="T36" fmla="*/ 2147483647 w 324"/>
              <a:gd name="T37" fmla="*/ 2147483647 h 401"/>
              <a:gd name="T38" fmla="*/ 2147483647 w 324"/>
              <a:gd name="T39" fmla="*/ 2147483647 h 401"/>
              <a:gd name="T40" fmla="*/ 2147483647 w 324"/>
              <a:gd name="T41" fmla="*/ 2147483647 h 401"/>
              <a:gd name="T42" fmla="*/ 0 w 324"/>
              <a:gd name="T43" fmla="*/ 2147483647 h 401"/>
              <a:gd name="T44" fmla="*/ 2147483647 w 324"/>
              <a:gd name="T45" fmla="*/ 2147483647 h 401"/>
              <a:gd name="T46" fmla="*/ 2147483647 w 324"/>
              <a:gd name="T47" fmla="*/ 2147483647 h 40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401"/>
              <a:gd name="T74" fmla="*/ 324 w 324"/>
              <a:gd name="T75" fmla="*/ 401 h 401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401">
                <a:moveTo>
                  <a:pt x="323" y="11"/>
                </a:moveTo>
                <a:lnTo>
                  <a:pt x="44" y="356"/>
                </a:lnTo>
                <a:lnTo>
                  <a:pt x="43" y="358"/>
                </a:lnTo>
                <a:lnTo>
                  <a:pt x="40" y="358"/>
                </a:lnTo>
                <a:lnTo>
                  <a:pt x="38" y="358"/>
                </a:lnTo>
                <a:lnTo>
                  <a:pt x="35" y="356"/>
                </a:lnTo>
                <a:lnTo>
                  <a:pt x="34" y="355"/>
                </a:lnTo>
                <a:lnTo>
                  <a:pt x="34" y="352"/>
                </a:lnTo>
                <a:lnTo>
                  <a:pt x="34" y="350"/>
                </a:lnTo>
                <a:lnTo>
                  <a:pt x="35" y="349"/>
                </a:lnTo>
                <a:lnTo>
                  <a:pt x="314" y="2"/>
                </a:lnTo>
                <a:lnTo>
                  <a:pt x="315" y="0"/>
                </a:lnTo>
                <a:lnTo>
                  <a:pt x="318" y="0"/>
                </a:lnTo>
                <a:lnTo>
                  <a:pt x="320" y="0"/>
                </a:lnTo>
                <a:lnTo>
                  <a:pt x="323" y="2"/>
                </a:lnTo>
                <a:lnTo>
                  <a:pt x="324" y="3"/>
                </a:lnTo>
                <a:lnTo>
                  <a:pt x="324" y="6"/>
                </a:lnTo>
                <a:lnTo>
                  <a:pt x="324" y="8"/>
                </a:lnTo>
                <a:lnTo>
                  <a:pt x="323" y="11"/>
                </a:lnTo>
                <a:close/>
                <a:moveTo>
                  <a:pt x="77" y="365"/>
                </a:moveTo>
                <a:lnTo>
                  <a:pt x="0" y="401"/>
                </a:lnTo>
                <a:lnTo>
                  <a:pt x="18" y="318"/>
                </a:lnTo>
                <a:lnTo>
                  <a:pt x="77" y="36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20" name="Freeform 103"/>
          <p:cNvSpPr>
            <a:spLocks/>
          </p:cNvSpPr>
          <p:nvPr/>
        </p:nvSpPr>
        <p:spPr bwMode="auto">
          <a:xfrm>
            <a:off x="2051050" y="62388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4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4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21" name="Rectangle 104"/>
          <p:cNvSpPr>
            <a:spLocks noChangeArrowheads="1"/>
          </p:cNvSpPr>
          <p:nvPr/>
        </p:nvSpPr>
        <p:spPr bwMode="auto">
          <a:xfrm>
            <a:off x="2141538" y="62595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1322" name="Freeform 105"/>
          <p:cNvSpPr>
            <a:spLocks noEditPoints="1"/>
          </p:cNvSpPr>
          <p:nvPr/>
        </p:nvSpPr>
        <p:spPr bwMode="auto">
          <a:xfrm>
            <a:off x="2181225" y="5187950"/>
            <a:ext cx="252413" cy="461963"/>
          </a:xfrm>
          <a:custGeom>
            <a:avLst/>
            <a:gdLst>
              <a:gd name="T0" fmla="*/ 2147483647 w 318"/>
              <a:gd name="T1" fmla="*/ 2147483647 h 580"/>
              <a:gd name="T2" fmla="*/ 2147483647 w 318"/>
              <a:gd name="T3" fmla="*/ 2147483647 h 580"/>
              <a:gd name="T4" fmla="*/ 2147483647 w 318"/>
              <a:gd name="T5" fmla="*/ 2147483647 h 580"/>
              <a:gd name="T6" fmla="*/ 2147483647 w 318"/>
              <a:gd name="T7" fmla="*/ 2147483647 h 580"/>
              <a:gd name="T8" fmla="*/ 2147483647 w 318"/>
              <a:gd name="T9" fmla="*/ 2147483647 h 580"/>
              <a:gd name="T10" fmla="*/ 2147483647 w 318"/>
              <a:gd name="T11" fmla="*/ 2147483647 h 580"/>
              <a:gd name="T12" fmla="*/ 2147483647 w 318"/>
              <a:gd name="T13" fmla="*/ 2147483647 h 580"/>
              <a:gd name="T14" fmla="*/ 2147483647 w 318"/>
              <a:gd name="T15" fmla="*/ 2147483647 h 580"/>
              <a:gd name="T16" fmla="*/ 2147483647 w 318"/>
              <a:gd name="T17" fmla="*/ 2147483647 h 580"/>
              <a:gd name="T18" fmla="*/ 2147483647 w 318"/>
              <a:gd name="T19" fmla="*/ 2147483647 h 580"/>
              <a:gd name="T20" fmla="*/ 2147483647 w 318"/>
              <a:gd name="T21" fmla="*/ 2147483647 h 580"/>
              <a:gd name="T22" fmla="*/ 0 w 318"/>
              <a:gd name="T23" fmla="*/ 2147483647 h 580"/>
              <a:gd name="T24" fmla="*/ 0 w 318"/>
              <a:gd name="T25" fmla="*/ 2147483647 h 580"/>
              <a:gd name="T26" fmla="*/ 2147483647 w 318"/>
              <a:gd name="T27" fmla="*/ 2147483647 h 580"/>
              <a:gd name="T28" fmla="*/ 2147483647 w 318"/>
              <a:gd name="T29" fmla="*/ 0 h 580"/>
              <a:gd name="T30" fmla="*/ 2147483647 w 318"/>
              <a:gd name="T31" fmla="*/ 0 h 580"/>
              <a:gd name="T32" fmla="*/ 2147483647 w 318"/>
              <a:gd name="T33" fmla="*/ 0 h 580"/>
              <a:gd name="T34" fmla="*/ 2147483647 w 318"/>
              <a:gd name="T35" fmla="*/ 2147483647 h 580"/>
              <a:gd name="T36" fmla="*/ 2147483647 w 318"/>
              <a:gd name="T37" fmla="*/ 2147483647 h 580"/>
              <a:gd name="T38" fmla="*/ 2147483647 w 318"/>
              <a:gd name="T39" fmla="*/ 2147483647 h 580"/>
              <a:gd name="T40" fmla="*/ 2147483647 w 318"/>
              <a:gd name="T41" fmla="*/ 2147483647 h 580"/>
              <a:gd name="T42" fmla="*/ 2147483647 w 318"/>
              <a:gd name="T43" fmla="*/ 2147483647 h 580"/>
              <a:gd name="T44" fmla="*/ 2147483647 w 318"/>
              <a:gd name="T45" fmla="*/ 2147483647 h 580"/>
              <a:gd name="T46" fmla="*/ 2147483647 w 318"/>
              <a:gd name="T47" fmla="*/ 2147483647 h 58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18"/>
              <a:gd name="T73" fmla="*/ 0 h 580"/>
              <a:gd name="T74" fmla="*/ 318 w 318"/>
              <a:gd name="T75" fmla="*/ 580 h 58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18" h="580">
                <a:moveTo>
                  <a:pt x="12" y="3"/>
                </a:moveTo>
                <a:lnTo>
                  <a:pt x="293" y="521"/>
                </a:lnTo>
                <a:lnTo>
                  <a:pt x="294" y="524"/>
                </a:lnTo>
                <a:lnTo>
                  <a:pt x="294" y="526"/>
                </a:lnTo>
                <a:lnTo>
                  <a:pt x="293" y="529"/>
                </a:lnTo>
                <a:lnTo>
                  <a:pt x="291" y="530"/>
                </a:lnTo>
                <a:lnTo>
                  <a:pt x="288" y="530"/>
                </a:lnTo>
                <a:lnTo>
                  <a:pt x="285" y="530"/>
                </a:lnTo>
                <a:lnTo>
                  <a:pt x="284" y="530"/>
                </a:lnTo>
                <a:lnTo>
                  <a:pt x="282" y="527"/>
                </a:lnTo>
                <a:lnTo>
                  <a:pt x="2" y="9"/>
                </a:lnTo>
                <a:lnTo>
                  <a:pt x="0" y="6"/>
                </a:lnTo>
                <a:lnTo>
                  <a:pt x="0" y="3"/>
                </a:lnTo>
                <a:lnTo>
                  <a:pt x="2" y="1"/>
                </a:lnTo>
                <a:lnTo>
                  <a:pt x="3" y="0"/>
                </a:lnTo>
                <a:lnTo>
                  <a:pt x="6" y="0"/>
                </a:lnTo>
                <a:lnTo>
                  <a:pt x="8" y="0"/>
                </a:lnTo>
                <a:lnTo>
                  <a:pt x="11" y="1"/>
                </a:lnTo>
                <a:lnTo>
                  <a:pt x="12" y="3"/>
                </a:lnTo>
                <a:close/>
                <a:moveTo>
                  <a:pt x="315" y="496"/>
                </a:moveTo>
                <a:lnTo>
                  <a:pt x="318" y="580"/>
                </a:lnTo>
                <a:lnTo>
                  <a:pt x="249" y="532"/>
                </a:lnTo>
                <a:lnTo>
                  <a:pt x="315" y="496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23" name="Freeform 106"/>
          <p:cNvSpPr>
            <a:spLocks/>
          </p:cNvSpPr>
          <p:nvPr/>
        </p:nvSpPr>
        <p:spPr bwMode="auto">
          <a:xfrm>
            <a:off x="3313113" y="5619750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2"/>
                </a:lnTo>
                <a:lnTo>
                  <a:pt x="160" y="2"/>
                </a:lnTo>
                <a:lnTo>
                  <a:pt x="151" y="5"/>
                </a:lnTo>
                <a:lnTo>
                  <a:pt x="142" y="6"/>
                </a:lnTo>
                <a:lnTo>
                  <a:pt x="133" y="9"/>
                </a:lnTo>
                <a:lnTo>
                  <a:pt x="124" y="12"/>
                </a:lnTo>
                <a:lnTo>
                  <a:pt x="115" y="15"/>
                </a:lnTo>
                <a:lnTo>
                  <a:pt x="107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5" y="56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5" y="115"/>
                </a:lnTo>
                <a:lnTo>
                  <a:pt x="11" y="124"/>
                </a:lnTo>
                <a:lnTo>
                  <a:pt x="8" y="133"/>
                </a:lnTo>
                <a:lnTo>
                  <a:pt x="6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8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6" y="235"/>
                </a:lnTo>
                <a:lnTo>
                  <a:pt x="8" y="244"/>
                </a:lnTo>
                <a:lnTo>
                  <a:pt x="11" y="254"/>
                </a:lnTo>
                <a:lnTo>
                  <a:pt x="15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3" y="309"/>
                </a:lnTo>
                <a:lnTo>
                  <a:pt x="55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5"/>
                </a:lnTo>
                <a:lnTo>
                  <a:pt x="107" y="359"/>
                </a:lnTo>
                <a:lnTo>
                  <a:pt x="115" y="362"/>
                </a:lnTo>
                <a:lnTo>
                  <a:pt x="124" y="365"/>
                </a:lnTo>
                <a:lnTo>
                  <a:pt x="133" y="368"/>
                </a:lnTo>
                <a:lnTo>
                  <a:pt x="142" y="371"/>
                </a:lnTo>
                <a:lnTo>
                  <a:pt x="151" y="373"/>
                </a:lnTo>
                <a:lnTo>
                  <a:pt x="160" y="376"/>
                </a:lnTo>
                <a:lnTo>
                  <a:pt x="169" y="376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8" y="376"/>
                </a:lnTo>
                <a:lnTo>
                  <a:pt x="217" y="376"/>
                </a:lnTo>
                <a:lnTo>
                  <a:pt x="226" y="373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9"/>
                </a:lnTo>
                <a:lnTo>
                  <a:pt x="278" y="355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4" y="309"/>
                </a:lnTo>
                <a:lnTo>
                  <a:pt x="344" y="294"/>
                </a:lnTo>
                <a:lnTo>
                  <a:pt x="355" y="279"/>
                </a:lnTo>
                <a:lnTo>
                  <a:pt x="358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8"/>
                </a:lnTo>
                <a:lnTo>
                  <a:pt x="377" y="198"/>
                </a:lnTo>
                <a:lnTo>
                  <a:pt x="377" y="189"/>
                </a:lnTo>
                <a:lnTo>
                  <a:pt x="377" y="180"/>
                </a:lnTo>
                <a:lnTo>
                  <a:pt x="376" y="169"/>
                </a:lnTo>
                <a:lnTo>
                  <a:pt x="374" y="160"/>
                </a:lnTo>
                <a:lnTo>
                  <a:pt x="373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8" y="107"/>
                </a:lnTo>
                <a:lnTo>
                  <a:pt x="355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6"/>
                </a:lnTo>
                <a:lnTo>
                  <a:pt x="308" y="43"/>
                </a:lnTo>
                <a:lnTo>
                  <a:pt x="294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5"/>
                </a:lnTo>
                <a:lnTo>
                  <a:pt x="254" y="12"/>
                </a:lnTo>
                <a:lnTo>
                  <a:pt x="245" y="9"/>
                </a:lnTo>
                <a:lnTo>
                  <a:pt x="236" y="6"/>
                </a:lnTo>
                <a:lnTo>
                  <a:pt x="226" y="5"/>
                </a:lnTo>
                <a:lnTo>
                  <a:pt x="217" y="2"/>
                </a:lnTo>
                <a:lnTo>
                  <a:pt x="208" y="2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24" name="Rectangle 107"/>
          <p:cNvSpPr>
            <a:spLocks noChangeArrowheads="1"/>
          </p:cNvSpPr>
          <p:nvPr/>
        </p:nvSpPr>
        <p:spPr bwMode="auto">
          <a:xfrm>
            <a:off x="3344863" y="5640388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17</a:t>
            </a:r>
            <a:endParaRPr lang="en-GB" altLang="en-US"/>
          </a:p>
        </p:txBody>
      </p:sp>
      <p:sp>
        <p:nvSpPr>
          <p:cNvPr id="11325" name="Freeform 108"/>
          <p:cNvSpPr>
            <a:spLocks noEditPoints="1"/>
          </p:cNvSpPr>
          <p:nvPr/>
        </p:nvSpPr>
        <p:spPr bwMode="auto">
          <a:xfrm>
            <a:off x="3462338" y="5187950"/>
            <a:ext cx="311150" cy="417513"/>
          </a:xfrm>
          <a:custGeom>
            <a:avLst/>
            <a:gdLst>
              <a:gd name="T0" fmla="*/ 2147483647 w 392"/>
              <a:gd name="T1" fmla="*/ 2147483647 h 524"/>
              <a:gd name="T2" fmla="*/ 2147483647 w 392"/>
              <a:gd name="T3" fmla="*/ 2147483647 h 524"/>
              <a:gd name="T4" fmla="*/ 2147483647 w 392"/>
              <a:gd name="T5" fmla="*/ 2147483647 h 524"/>
              <a:gd name="T6" fmla="*/ 2147483647 w 392"/>
              <a:gd name="T7" fmla="*/ 2147483647 h 524"/>
              <a:gd name="T8" fmla="*/ 2147483647 w 392"/>
              <a:gd name="T9" fmla="*/ 2147483647 h 524"/>
              <a:gd name="T10" fmla="*/ 2147483647 w 392"/>
              <a:gd name="T11" fmla="*/ 2147483647 h 524"/>
              <a:gd name="T12" fmla="*/ 2147483647 w 392"/>
              <a:gd name="T13" fmla="*/ 2147483647 h 524"/>
              <a:gd name="T14" fmla="*/ 2147483647 w 392"/>
              <a:gd name="T15" fmla="*/ 2147483647 h 524"/>
              <a:gd name="T16" fmla="*/ 2147483647 w 392"/>
              <a:gd name="T17" fmla="*/ 2147483647 h 524"/>
              <a:gd name="T18" fmla="*/ 2147483647 w 392"/>
              <a:gd name="T19" fmla="*/ 2147483647 h 524"/>
              <a:gd name="T20" fmla="*/ 2147483647 w 392"/>
              <a:gd name="T21" fmla="*/ 2147483647 h 524"/>
              <a:gd name="T22" fmla="*/ 2147483647 w 392"/>
              <a:gd name="T23" fmla="*/ 0 h 524"/>
              <a:gd name="T24" fmla="*/ 2147483647 w 392"/>
              <a:gd name="T25" fmla="*/ 0 h 524"/>
              <a:gd name="T26" fmla="*/ 2147483647 w 392"/>
              <a:gd name="T27" fmla="*/ 0 h 524"/>
              <a:gd name="T28" fmla="*/ 2147483647 w 392"/>
              <a:gd name="T29" fmla="*/ 0 h 524"/>
              <a:gd name="T30" fmla="*/ 2147483647 w 392"/>
              <a:gd name="T31" fmla="*/ 2147483647 h 524"/>
              <a:gd name="T32" fmla="*/ 2147483647 w 392"/>
              <a:gd name="T33" fmla="*/ 2147483647 h 524"/>
              <a:gd name="T34" fmla="*/ 2147483647 w 392"/>
              <a:gd name="T35" fmla="*/ 2147483647 h 524"/>
              <a:gd name="T36" fmla="*/ 2147483647 w 392"/>
              <a:gd name="T37" fmla="*/ 2147483647 h 524"/>
              <a:gd name="T38" fmla="*/ 2147483647 w 392"/>
              <a:gd name="T39" fmla="*/ 2147483647 h 524"/>
              <a:gd name="T40" fmla="*/ 2147483647 w 392"/>
              <a:gd name="T41" fmla="*/ 2147483647 h 524"/>
              <a:gd name="T42" fmla="*/ 0 w 392"/>
              <a:gd name="T43" fmla="*/ 2147483647 h 524"/>
              <a:gd name="T44" fmla="*/ 2147483647 w 392"/>
              <a:gd name="T45" fmla="*/ 2147483647 h 524"/>
              <a:gd name="T46" fmla="*/ 2147483647 w 392"/>
              <a:gd name="T47" fmla="*/ 2147483647 h 52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2"/>
              <a:gd name="T73" fmla="*/ 0 h 524"/>
              <a:gd name="T74" fmla="*/ 392 w 392"/>
              <a:gd name="T75" fmla="*/ 524 h 524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2" h="524">
                <a:moveTo>
                  <a:pt x="392" y="9"/>
                </a:moveTo>
                <a:lnTo>
                  <a:pt x="42" y="478"/>
                </a:lnTo>
                <a:lnTo>
                  <a:pt x="40" y="479"/>
                </a:lnTo>
                <a:lnTo>
                  <a:pt x="37" y="479"/>
                </a:lnTo>
                <a:lnTo>
                  <a:pt x="36" y="479"/>
                </a:lnTo>
                <a:lnTo>
                  <a:pt x="33" y="478"/>
                </a:lnTo>
                <a:lnTo>
                  <a:pt x="31" y="476"/>
                </a:lnTo>
                <a:lnTo>
                  <a:pt x="31" y="474"/>
                </a:lnTo>
                <a:lnTo>
                  <a:pt x="31" y="471"/>
                </a:lnTo>
                <a:lnTo>
                  <a:pt x="33" y="470"/>
                </a:lnTo>
                <a:lnTo>
                  <a:pt x="381" y="1"/>
                </a:lnTo>
                <a:lnTo>
                  <a:pt x="383" y="0"/>
                </a:lnTo>
                <a:lnTo>
                  <a:pt x="384" y="0"/>
                </a:lnTo>
                <a:lnTo>
                  <a:pt x="387" y="0"/>
                </a:lnTo>
                <a:lnTo>
                  <a:pt x="390" y="0"/>
                </a:lnTo>
                <a:lnTo>
                  <a:pt x="392" y="3"/>
                </a:lnTo>
                <a:lnTo>
                  <a:pt x="392" y="4"/>
                </a:lnTo>
                <a:lnTo>
                  <a:pt x="392" y="7"/>
                </a:lnTo>
                <a:lnTo>
                  <a:pt x="392" y="9"/>
                </a:lnTo>
                <a:close/>
                <a:moveTo>
                  <a:pt x="75" y="485"/>
                </a:moveTo>
                <a:lnTo>
                  <a:pt x="0" y="524"/>
                </a:lnTo>
                <a:lnTo>
                  <a:pt x="15" y="441"/>
                </a:lnTo>
                <a:lnTo>
                  <a:pt x="75" y="48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26" name="Freeform 109"/>
          <p:cNvSpPr>
            <a:spLocks/>
          </p:cNvSpPr>
          <p:nvPr/>
        </p:nvSpPr>
        <p:spPr bwMode="auto">
          <a:xfrm>
            <a:off x="4144963" y="29892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4" y="11"/>
                </a:lnTo>
                <a:lnTo>
                  <a:pt x="115" y="15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6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5"/>
                </a:lnTo>
                <a:lnTo>
                  <a:pt x="11" y="124"/>
                </a:lnTo>
                <a:lnTo>
                  <a:pt x="8" y="133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7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27" name="Rectangle 110"/>
          <p:cNvSpPr>
            <a:spLocks noChangeArrowheads="1"/>
          </p:cNvSpPr>
          <p:nvPr/>
        </p:nvSpPr>
        <p:spPr bwMode="auto">
          <a:xfrm>
            <a:off x="4176713" y="30099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21</a:t>
            </a:r>
            <a:endParaRPr lang="en-GB" altLang="en-US"/>
          </a:p>
        </p:txBody>
      </p:sp>
      <p:sp>
        <p:nvSpPr>
          <p:cNvPr id="11328" name="Freeform 111"/>
          <p:cNvSpPr>
            <a:spLocks/>
          </p:cNvSpPr>
          <p:nvPr/>
        </p:nvSpPr>
        <p:spPr bwMode="auto">
          <a:xfrm>
            <a:off x="3725863" y="2290763"/>
            <a:ext cx="300037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2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5" y="55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9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1"/>
                </a:lnTo>
                <a:lnTo>
                  <a:pt x="19" y="270"/>
                </a:lnTo>
                <a:lnTo>
                  <a:pt x="23" y="278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8"/>
                </a:lnTo>
                <a:lnTo>
                  <a:pt x="115" y="362"/>
                </a:lnTo>
                <a:lnTo>
                  <a:pt x="124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3"/>
                </a:lnTo>
                <a:lnTo>
                  <a:pt x="159" y="374"/>
                </a:lnTo>
                <a:lnTo>
                  <a:pt x="169" y="376"/>
                </a:lnTo>
                <a:lnTo>
                  <a:pt x="178" y="376"/>
                </a:lnTo>
                <a:lnTo>
                  <a:pt x="189" y="377"/>
                </a:lnTo>
                <a:lnTo>
                  <a:pt x="198" y="376"/>
                </a:lnTo>
                <a:lnTo>
                  <a:pt x="207" y="376"/>
                </a:lnTo>
                <a:lnTo>
                  <a:pt x="217" y="374"/>
                </a:lnTo>
                <a:lnTo>
                  <a:pt x="227" y="373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8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4" y="308"/>
                </a:lnTo>
                <a:lnTo>
                  <a:pt x="344" y="293"/>
                </a:lnTo>
                <a:lnTo>
                  <a:pt x="353" y="278"/>
                </a:lnTo>
                <a:lnTo>
                  <a:pt x="358" y="270"/>
                </a:lnTo>
                <a:lnTo>
                  <a:pt x="362" y="261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9"/>
                </a:lnTo>
                <a:lnTo>
                  <a:pt x="373" y="150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5"/>
                </a:lnTo>
                <a:lnTo>
                  <a:pt x="308" y="43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7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29" name="Rectangle 112"/>
          <p:cNvSpPr>
            <a:spLocks noChangeArrowheads="1"/>
          </p:cNvSpPr>
          <p:nvPr/>
        </p:nvSpPr>
        <p:spPr bwMode="auto">
          <a:xfrm>
            <a:off x="3757613" y="23114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GB" altLang="en-US"/>
          </a:p>
        </p:txBody>
      </p:sp>
      <p:sp>
        <p:nvSpPr>
          <p:cNvPr id="11330" name="Freeform 113"/>
          <p:cNvSpPr>
            <a:spLocks/>
          </p:cNvSpPr>
          <p:nvPr/>
        </p:nvSpPr>
        <p:spPr bwMode="auto">
          <a:xfrm>
            <a:off x="2828925" y="1752600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3" y="11"/>
                </a:lnTo>
                <a:lnTo>
                  <a:pt x="114" y="14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2" y="98"/>
                </a:lnTo>
                <a:lnTo>
                  <a:pt x="18" y="106"/>
                </a:lnTo>
                <a:lnTo>
                  <a:pt x="13" y="115"/>
                </a:lnTo>
                <a:lnTo>
                  <a:pt x="10" y="124"/>
                </a:lnTo>
                <a:lnTo>
                  <a:pt x="7" y="131"/>
                </a:lnTo>
                <a:lnTo>
                  <a:pt x="4" y="140"/>
                </a:lnTo>
                <a:lnTo>
                  <a:pt x="3" y="149"/>
                </a:lnTo>
                <a:lnTo>
                  <a:pt x="1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8"/>
                </a:lnTo>
                <a:lnTo>
                  <a:pt x="0" y="207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1"/>
                </a:lnTo>
                <a:lnTo>
                  <a:pt x="18" y="270"/>
                </a:lnTo>
                <a:lnTo>
                  <a:pt x="22" y="277"/>
                </a:lnTo>
                <a:lnTo>
                  <a:pt x="32" y="292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5" y="357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8" y="377"/>
                </a:lnTo>
                <a:lnTo>
                  <a:pt x="197" y="375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2" y="344"/>
                </a:lnTo>
                <a:lnTo>
                  <a:pt x="307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2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8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6" y="0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31" name="Rectangle 114"/>
          <p:cNvSpPr>
            <a:spLocks noChangeArrowheads="1"/>
          </p:cNvSpPr>
          <p:nvPr/>
        </p:nvSpPr>
        <p:spPr bwMode="auto">
          <a:xfrm>
            <a:off x="2860675" y="1773238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1332" name="Freeform 116"/>
          <p:cNvSpPr>
            <a:spLocks noEditPoints="1"/>
          </p:cNvSpPr>
          <p:nvPr/>
        </p:nvSpPr>
        <p:spPr bwMode="auto">
          <a:xfrm>
            <a:off x="3078163" y="2017713"/>
            <a:ext cx="796925" cy="268287"/>
          </a:xfrm>
          <a:custGeom>
            <a:avLst/>
            <a:gdLst>
              <a:gd name="T0" fmla="*/ 2147483647 w 1004"/>
              <a:gd name="T1" fmla="*/ 2147483647 h 339"/>
              <a:gd name="T2" fmla="*/ 2147483647 w 1004"/>
              <a:gd name="T3" fmla="*/ 2147483647 h 339"/>
              <a:gd name="T4" fmla="*/ 2147483647 w 1004"/>
              <a:gd name="T5" fmla="*/ 2147483647 h 339"/>
              <a:gd name="T6" fmla="*/ 2147483647 w 1004"/>
              <a:gd name="T7" fmla="*/ 2147483647 h 339"/>
              <a:gd name="T8" fmla="*/ 2147483647 w 1004"/>
              <a:gd name="T9" fmla="*/ 2147483647 h 339"/>
              <a:gd name="T10" fmla="*/ 2147483647 w 1004"/>
              <a:gd name="T11" fmla="*/ 2147483647 h 339"/>
              <a:gd name="T12" fmla="*/ 2147483647 w 1004"/>
              <a:gd name="T13" fmla="*/ 2147483647 h 339"/>
              <a:gd name="T14" fmla="*/ 2147483647 w 1004"/>
              <a:gd name="T15" fmla="*/ 2147483647 h 339"/>
              <a:gd name="T16" fmla="*/ 2147483647 w 1004"/>
              <a:gd name="T17" fmla="*/ 2147483647 h 339"/>
              <a:gd name="T18" fmla="*/ 2147483647 w 1004"/>
              <a:gd name="T19" fmla="*/ 2147483647 h 339"/>
              <a:gd name="T20" fmla="*/ 2147483647 w 1004"/>
              <a:gd name="T21" fmla="*/ 2147483647 h 339"/>
              <a:gd name="T22" fmla="*/ 2147483647 w 1004"/>
              <a:gd name="T23" fmla="*/ 2147483647 h 339"/>
              <a:gd name="T24" fmla="*/ 0 w 1004"/>
              <a:gd name="T25" fmla="*/ 2147483647 h 339"/>
              <a:gd name="T26" fmla="*/ 0 w 1004"/>
              <a:gd name="T27" fmla="*/ 2147483647 h 339"/>
              <a:gd name="T28" fmla="*/ 0 w 1004"/>
              <a:gd name="T29" fmla="*/ 2147483647 h 339"/>
              <a:gd name="T30" fmla="*/ 2147483647 w 1004"/>
              <a:gd name="T31" fmla="*/ 2147483647 h 339"/>
              <a:gd name="T32" fmla="*/ 2147483647 w 1004"/>
              <a:gd name="T33" fmla="*/ 2147483647 h 339"/>
              <a:gd name="T34" fmla="*/ 2147483647 w 1004"/>
              <a:gd name="T35" fmla="*/ 0 h 339"/>
              <a:gd name="T36" fmla="*/ 2147483647 w 1004"/>
              <a:gd name="T37" fmla="*/ 2147483647 h 339"/>
              <a:gd name="T38" fmla="*/ 2147483647 w 1004"/>
              <a:gd name="T39" fmla="*/ 2147483647 h 339"/>
              <a:gd name="T40" fmla="*/ 2147483647 w 1004"/>
              <a:gd name="T41" fmla="*/ 2147483647 h 339"/>
              <a:gd name="T42" fmla="*/ 2147483647 w 1004"/>
              <a:gd name="T43" fmla="*/ 2147483647 h 339"/>
              <a:gd name="T44" fmla="*/ 2147483647 w 1004"/>
              <a:gd name="T45" fmla="*/ 2147483647 h 339"/>
              <a:gd name="T46" fmla="*/ 2147483647 w 1004"/>
              <a:gd name="T47" fmla="*/ 2147483647 h 33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004"/>
              <a:gd name="T73" fmla="*/ 0 h 339"/>
              <a:gd name="T74" fmla="*/ 1004 w 1004"/>
              <a:gd name="T75" fmla="*/ 339 h 33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004" h="339">
                <a:moveTo>
                  <a:pt x="7" y="2"/>
                </a:moveTo>
                <a:lnTo>
                  <a:pt x="945" y="300"/>
                </a:lnTo>
                <a:lnTo>
                  <a:pt x="948" y="302"/>
                </a:lnTo>
                <a:lnTo>
                  <a:pt x="950" y="305"/>
                </a:lnTo>
                <a:lnTo>
                  <a:pt x="950" y="306"/>
                </a:lnTo>
                <a:lnTo>
                  <a:pt x="950" y="309"/>
                </a:lnTo>
                <a:lnTo>
                  <a:pt x="948" y="311"/>
                </a:lnTo>
                <a:lnTo>
                  <a:pt x="947" y="312"/>
                </a:lnTo>
                <a:lnTo>
                  <a:pt x="944" y="314"/>
                </a:lnTo>
                <a:lnTo>
                  <a:pt x="942" y="312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6" y="0"/>
                </a:lnTo>
                <a:lnTo>
                  <a:pt x="7" y="2"/>
                </a:lnTo>
                <a:close/>
                <a:moveTo>
                  <a:pt x="944" y="267"/>
                </a:moveTo>
                <a:lnTo>
                  <a:pt x="1004" y="326"/>
                </a:lnTo>
                <a:lnTo>
                  <a:pt x="919" y="339"/>
                </a:lnTo>
                <a:lnTo>
                  <a:pt x="944" y="26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33" name="Freeform 117"/>
          <p:cNvSpPr>
            <a:spLocks noEditPoints="1"/>
          </p:cNvSpPr>
          <p:nvPr/>
        </p:nvSpPr>
        <p:spPr bwMode="auto">
          <a:xfrm>
            <a:off x="3976688" y="2555875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2147483647 h 526"/>
              <a:gd name="T30" fmla="*/ 2147483647 w 401"/>
              <a:gd name="T31" fmla="*/ 2147483647 h 526"/>
              <a:gd name="T32" fmla="*/ 2147483647 w 401"/>
              <a:gd name="T33" fmla="*/ 0 h 526"/>
              <a:gd name="T34" fmla="*/ 2147483647 w 401"/>
              <a:gd name="T35" fmla="*/ 2147483647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1" y="3"/>
                </a:moveTo>
                <a:lnTo>
                  <a:pt x="368" y="474"/>
                </a:lnTo>
                <a:lnTo>
                  <a:pt x="368" y="475"/>
                </a:lnTo>
                <a:lnTo>
                  <a:pt x="370" y="478"/>
                </a:lnTo>
                <a:lnTo>
                  <a:pt x="368" y="480"/>
                </a:lnTo>
                <a:lnTo>
                  <a:pt x="367" y="483"/>
                </a:lnTo>
                <a:lnTo>
                  <a:pt x="364" y="483"/>
                </a:lnTo>
                <a:lnTo>
                  <a:pt x="362" y="483"/>
                </a:lnTo>
                <a:lnTo>
                  <a:pt x="359" y="483"/>
                </a:lnTo>
                <a:lnTo>
                  <a:pt x="358" y="481"/>
                </a:lnTo>
                <a:lnTo>
                  <a:pt x="2" y="11"/>
                </a:lnTo>
                <a:lnTo>
                  <a:pt x="0" y="9"/>
                </a:lnTo>
                <a:lnTo>
                  <a:pt x="0" y="6"/>
                </a:lnTo>
                <a:lnTo>
                  <a:pt x="2" y="5"/>
                </a:lnTo>
                <a:lnTo>
                  <a:pt x="3" y="2"/>
                </a:lnTo>
                <a:lnTo>
                  <a:pt x="5" y="2"/>
                </a:lnTo>
                <a:lnTo>
                  <a:pt x="8" y="0"/>
                </a:lnTo>
                <a:lnTo>
                  <a:pt x="9" y="2"/>
                </a:lnTo>
                <a:lnTo>
                  <a:pt x="11" y="3"/>
                </a:lnTo>
                <a:close/>
                <a:moveTo>
                  <a:pt x="385" y="445"/>
                </a:moveTo>
                <a:lnTo>
                  <a:pt x="401" y="526"/>
                </a:lnTo>
                <a:lnTo>
                  <a:pt x="325" y="490"/>
                </a:lnTo>
                <a:lnTo>
                  <a:pt x="385" y="44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34" name="Freeform 118"/>
          <p:cNvSpPr>
            <a:spLocks/>
          </p:cNvSpPr>
          <p:nvPr/>
        </p:nvSpPr>
        <p:spPr bwMode="auto">
          <a:xfrm>
            <a:off x="2470150" y="29892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35" name="Rectangle 119"/>
          <p:cNvSpPr>
            <a:spLocks noChangeArrowheads="1"/>
          </p:cNvSpPr>
          <p:nvPr/>
        </p:nvSpPr>
        <p:spPr bwMode="auto">
          <a:xfrm>
            <a:off x="2500313" y="30099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11336" name="Freeform 120"/>
          <p:cNvSpPr>
            <a:spLocks/>
          </p:cNvSpPr>
          <p:nvPr/>
        </p:nvSpPr>
        <p:spPr bwMode="auto">
          <a:xfrm>
            <a:off x="1631950" y="2989263"/>
            <a:ext cx="300038" cy="298450"/>
          </a:xfrm>
          <a:custGeom>
            <a:avLst/>
            <a:gdLst>
              <a:gd name="T0" fmla="*/ 2147483647 w 376"/>
              <a:gd name="T1" fmla="*/ 0 h 377"/>
              <a:gd name="T2" fmla="*/ 2147483647 w 376"/>
              <a:gd name="T3" fmla="*/ 2147483647 h 377"/>
              <a:gd name="T4" fmla="*/ 2147483647 w 376"/>
              <a:gd name="T5" fmla="*/ 2147483647 h 377"/>
              <a:gd name="T6" fmla="*/ 2147483647 w 376"/>
              <a:gd name="T7" fmla="*/ 2147483647 h 377"/>
              <a:gd name="T8" fmla="*/ 2147483647 w 376"/>
              <a:gd name="T9" fmla="*/ 2147483647 h 377"/>
              <a:gd name="T10" fmla="*/ 2147483647 w 376"/>
              <a:gd name="T11" fmla="*/ 2147483647 h 377"/>
              <a:gd name="T12" fmla="*/ 2147483647 w 376"/>
              <a:gd name="T13" fmla="*/ 2147483647 h 377"/>
              <a:gd name="T14" fmla="*/ 2147483647 w 376"/>
              <a:gd name="T15" fmla="*/ 2147483647 h 377"/>
              <a:gd name="T16" fmla="*/ 2147483647 w 376"/>
              <a:gd name="T17" fmla="*/ 2147483647 h 377"/>
              <a:gd name="T18" fmla="*/ 2147483647 w 376"/>
              <a:gd name="T19" fmla="*/ 2147483647 h 377"/>
              <a:gd name="T20" fmla="*/ 2147483647 w 376"/>
              <a:gd name="T21" fmla="*/ 2147483647 h 377"/>
              <a:gd name="T22" fmla="*/ 2147483647 w 376"/>
              <a:gd name="T23" fmla="*/ 2147483647 h 377"/>
              <a:gd name="T24" fmla="*/ 0 w 376"/>
              <a:gd name="T25" fmla="*/ 2147483647 h 377"/>
              <a:gd name="T26" fmla="*/ 0 w 376"/>
              <a:gd name="T27" fmla="*/ 2147483647 h 377"/>
              <a:gd name="T28" fmla="*/ 2147483647 w 376"/>
              <a:gd name="T29" fmla="*/ 2147483647 h 377"/>
              <a:gd name="T30" fmla="*/ 2147483647 w 376"/>
              <a:gd name="T31" fmla="*/ 2147483647 h 377"/>
              <a:gd name="T32" fmla="*/ 2147483647 w 376"/>
              <a:gd name="T33" fmla="*/ 2147483647 h 377"/>
              <a:gd name="T34" fmla="*/ 2147483647 w 376"/>
              <a:gd name="T35" fmla="*/ 2147483647 h 377"/>
              <a:gd name="T36" fmla="*/ 2147483647 w 376"/>
              <a:gd name="T37" fmla="*/ 2147483647 h 377"/>
              <a:gd name="T38" fmla="*/ 2147483647 w 376"/>
              <a:gd name="T39" fmla="*/ 2147483647 h 377"/>
              <a:gd name="T40" fmla="*/ 2147483647 w 376"/>
              <a:gd name="T41" fmla="*/ 2147483647 h 377"/>
              <a:gd name="T42" fmla="*/ 2147483647 w 376"/>
              <a:gd name="T43" fmla="*/ 2147483647 h 377"/>
              <a:gd name="T44" fmla="*/ 2147483647 w 376"/>
              <a:gd name="T45" fmla="*/ 2147483647 h 377"/>
              <a:gd name="T46" fmla="*/ 2147483647 w 376"/>
              <a:gd name="T47" fmla="*/ 2147483647 h 377"/>
              <a:gd name="T48" fmla="*/ 2147483647 w 376"/>
              <a:gd name="T49" fmla="*/ 2147483647 h 377"/>
              <a:gd name="T50" fmla="*/ 2147483647 w 376"/>
              <a:gd name="T51" fmla="*/ 2147483647 h 377"/>
              <a:gd name="T52" fmla="*/ 2147483647 w 376"/>
              <a:gd name="T53" fmla="*/ 2147483647 h 377"/>
              <a:gd name="T54" fmla="*/ 2147483647 w 376"/>
              <a:gd name="T55" fmla="*/ 2147483647 h 377"/>
              <a:gd name="T56" fmla="*/ 2147483647 w 376"/>
              <a:gd name="T57" fmla="*/ 2147483647 h 377"/>
              <a:gd name="T58" fmla="*/ 2147483647 w 376"/>
              <a:gd name="T59" fmla="*/ 2147483647 h 377"/>
              <a:gd name="T60" fmla="*/ 2147483647 w 376"/>
              <a:gd name="T61" fmla="*/ 2147483647 h 377"/>
              <a:gd name="T62" fmla="*/ 2147483647 w 376"/>
              <a:gd name="T63" fmla="*/ 2147483647 h 377"/>
              <a:gd name="T64" fmla="*/ 2147483647 w 376"/>
              <a:gd name="T65" fmla="*/ 2147483647 h 377"/>
              <a:gd name="T66" fmla="*/ 2147483647 w 376"/>
              <a:gd name="T67" fmla="*/ 2147483647 h 377"/>
              <a:gd name="T68" fmla="*/ 2147483647 w 376"/>
              <a:gd name="T69" fmla="*/ 2147483647 h 377"/>
              <a:gd name="T70" fmla="*/ 2147483647 w 376"/>
              <a:gd name="T71" fmla="*/ 2147483647 h 377"/>
              <a:gd name="T72" fmla="*/ 2147483647 w 376"/>
              <a:gd name="T73" fmla="*/ 2147483647 h 377"/>
              <a:gd name="T74" fmla="*/ 2147483647 w 376"/>
              <a:gd name="T75" fmla="*/ 2147483647 h 377"/>
              <a:gd name="T76" fmla="*/ 2147483647 w 376"/>
              <a:gd name="T77" fmla="*/ 2147483647 h 377"/>
              <a:gd name="T78" fmla="*/ 2147483647 w 376"/>
              <a:gd name="T79" fmla="*/ 2147483647 h 377"/>
              <a:gd name="T80" fmla="*/ 2147483647 w 376"/>
              <a:gd name="T81" fmla="*/ 2147483647 h 377"/>
              <a:gd name="T82" fmla="*/ 2147483647 w 376"/>
              <a:gd name="T83" fmla="*/ 2147483647 h 377"/>
              <a:gd name="T84" fmla="*/ 2147483647 w 376"/>
              <a:gd name="T85" fmla="*/ 2147483647 h 377"/>
              <a:gd name="T86" fmla="*/ 2147483647 w 376"/>
              <a:gd name="T87" fmla="*/ 2147483647 h 377"/>
              <a:gd name="T88" fmla="*/ 2147483647 w 376"/>
              <a:gd name="T89" fmla="*/ 2147483647 h 377"/>
              <a:gd name="T90" fmla="*/ 2147483647 w 376"/>
              <a:gd name="T91" fmla="*/ 2147483647 h 377"/>
              <a:gd name="T92" fmla="*/ 2147483647 w 376"/>
              <a:gd name="T93" fmla="*/ 2147483647 h 377"/>
              <a:gd name="T94" fmla="*/ 2147483647 w 376"/>
              <a:gd name="T95" fmla="*/ 2147483647 h 377"/>
              <a:gd name="T96" fmla="*/ 2147483647 w 376"/>
              <a:gd name="T97" fmla="*/ 2147483647 h 377"/>
              <a:gd name="T98" fmla="*/ 2147483647 w 376"/>
              <a:gd name="T99" fmla="*/ 2147483647 h 377"/>
              <a:gd name="T100" fmla="*/ 2147483647 w 376"/>
              <a:gd name="T101" fmla="*/ 2147483647 h 377"/>
              <a:gd name="T102" fmla="*/ 2147483647 w 376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6"/>
              <a:gd name="T157" fmla="*/ 0 h 377"/>
              <a:gd name="T158" fmla="*/ 376 w 376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6" h="377">
                <a:moveTo>
                  <a:pt x="188" y="0"/>
                </a:moveTo>
                <a:lnTo>
                  <a:pt x="177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7" y="23"/>
                </a:lnTo>
                <a:lnTo>
                  <a:pt x="82" y="32"/>
                </a:lnTo>
                <a:lnTo>
                  <a:pt x="67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7" y="333"/>
                </a:lnTo>
                <a:lnTo>
                  <a:pt x="82" y="345"/>
                </a:lnTo>
                <a:lnTo>
                  <a:pt x="97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7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3" y="217"/>
                </a:lnTo>
                <a:lnTo>
                  <a:pt x="375" y="208"/>
                </a:lnTo>
                <a:lnTo>
                  <a:pt x="375" y="197"/>
                </a:lnTo>
                <a:lnTo>
                  <a:pt x="376" y="188"/>
                </a:lnTo>
                <a:lnTo>
                  <a:pt x="375" y="178"/>
                </a:lnTo>
                <a:lnTo>
                  <a:pt x="375" y="169"/>
                </a:lnTo>
                <a:lnTo>
                  <a:pt x="373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37" name="Rectangle 121"/>
          <p:cNvSpPr>
            <a:spLocks noChangeArrowheads="1"/>
          </p:cNvSpPr>
          <p:nvPr/>
        </p:nvSpPr>
        <p:spPr bwMode="auto">
          <a:xfrm>
            <a:off x="1724025" y="30099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1338" name="Freeform 122"/>
          <p:cNvSpPr>
            <a:spLocks/>
          </p:cNvSpPr>
          <p:nvPr/>
        </p:nvSpPr>
        <p:spPr bwMode="auto">
          <a:xfrm>
            <a:off x="2051050" y="2290763"/>
            <a:ext cx="298450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4" y="55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1"/>
                </a:lnTo>
                <a:lnTo>
                  <a:pt x="18" y="270"/>
                </a:lnTo>
                <a:lnTo>
                  <a:pt x="23" y="278"/>
                </a:lnTo>
                <a:lnTo>
                  <a:pt x="32" y="293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8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3"/>
                </a:lnTo>
                <a:lnTo>
                  <a:pt x="158" y="374"/>
                </a:lnTo>
                <a:lnTo>
                  <a:pt x="169" y="376"/>
                </a:lnTo>
                <a:lnTo>
                  <a:pt x="178" y="376"/>
                </a:lnTo>
                <a:lnTo>
                  <a:pt x="189" y="377"/>
                </a:lnTo>
                <a:lnTo>
                  <a:pt x="198" y="376"/>
                </a:lnTo>
                <a:lnTo>
                  <a:pt x="207" y="376"/>
                </a:lnTo>
                <a:lnTo>
                  <a:pt x="217" y="374"/>
                </a:lnTo>
                <a:lnTo>
                  <a:pt x="226" y="373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8"/>
                </a:lnTo>
                <a:lnTo>
                  <a:pt x="277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3"/>
                </a:lnTo>
                <a:lnTo>
                  <a:pt x="353" y="278"/>
                </a:lnTo>
                <a:lnTo>
                  <a:pt x="357" y="270"/>
                </a:lnTo>
                <a:lnTo>
                  <a:pt x="362" y="261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8"/>
                </a:lnTo>
                <a:lnTo>
                  <a:pt x="377" y="189"/>
                </a:lnTo>
                <a:lnTo>
                  <a:pt x="375" y="178"/>
                </a:lnTo>
                <a:lnTo>
                  <a:pt x="375" y="169"/>
                </a:lnTo>
                <a:lnTo>
                  <a:pt x="374" y="159"/>
                </a:lnTo>
                <a:lnTo>
                  <a:pt x="372" y="150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5"/>
                </a:lnTo>
                <a:lnTo>
                  <a:pt x="308" y="43"/>
                </a:lnTo>
                <a:lnTo>
                  <a:pt x="293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39" name="Rectangle 123"/>
          <p:cNvSpPr>
            <a:spLocks noChangeArrowheads="1"/>
          </p:cNvSpPr>
          <p:nvPr/>
        </p:nvSpPr>
        <p:spPr bwMode="auto">
          <a:xfrm>
            <a:off x="2141538" y="23114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1340" name="Freeform 124"/>
          <p:cNvSpPr>
            <a:spLocks noEditPoints="1"/>
          </p:cNvSpPr>
          <p:nvPr/>
        </p:nvSpPr>
        <p:spPr bwMode="auto">
          <a:xfrm>
            <a:off x="1781175" y="2555875"/>
            <a:ext cx="317500" cy="417513"/>
          </a:xfrm>
          <a:custGeom>
            <a:avLst/>
            <a:gdLst>
              <a:gd name="T0" fmla="*/ 2147483647 w 399"/>
              <a:gd name="T1" fmla="*/ 2147483647 h 526"/>
              <a:gd name="T2" fmla="*/ 2147483647 w 399"/>
              <a:gd name="T3" fmla="*/ 2147483647 h 526"/>
              <a:gd name="T4" fmla="*/ 2147483647 w 399"/>
              <a:gd name="T5" fmla="*/ 2147483647 h 526"/>
              <a:gd name="T6" fmla="*/ 2147483647 w 399"/>
              <a:gd name="T7" fmla="*/ 2147483647 h 526"/>
              <a:gd name="T8" fmla="*/ 2147483647 w 399"/>
              <a:gd name="T9" fmla="*/ 2147483647 h 526"/>
              <a:gd name="T10" fmla="*/ 2147483647 w 399"/>
              <a:gd name="T11" fmla="*/ 2147483647 h 526"/>
              <a:gd name="T12" fmla="*/ 2147483647 w 399"/>
              <a:gd name="T13" fmla="*/ 2147483647 h 526"/>
              <a:gd name="T14" fmla="*/ 2147483647 w 399"/>
              <a:gd name="T15" fmla="*/ 2147483647 h 526"/>
              <a:gd name="T16" fmla="*/ 2147483647 w 399"/>
              <a:gd name="T17" fmla="*/ 2147483647 h 526"/>
              <a:gd name="T18" fmla="*/ 2147483647 w 399"/>
              <a:gd name="T19" fmla="*/ 2147483647 h 526"/>
              <a:gd name="T20" fmla="*/ 2147483647 w 399"/>
              <a:gd name="T21" fmla="*/ 2147483647 h 526"/>
              <a:gd name="T22" fmla="*/ 2147483647 w 399"/>
              <a:gd name="T23" fmla="*/ 2147483647 h 526"/>
              <a:gd name="T24" fmla="*/ 2147483647 w 399"/>
              <a:gd name="T25" fmla="*/ 0 h 526"/>
              <a:gd name="T26" fmla="*/ 2147483647 w 399"/>
              <a:gd name="T27" fmla="*/ 2147483647 h 526"/>
              <a:gd name="T28" fmla="*/ 2147483647 w 399"/>
              <a:gd name="T29" fmla="*/ 2147483647 h 526"/>
              <a:gd name="T30" fmla="*/ 2147483647 w 399"/>
              <a:gd name="T31" fmla="*/ 2147483647 h 526"/>
              <a:gd name="T32" fmla="*/ 2147483647 w 399"/>
              <a:gd name="T33" fmla="*/ 2147483647 h 526"/>
              <a:gd name="T34" fmla="*/ 2147483647 w 399"/>
              <a:gd name="T35" fmla="*/ 2147483647 h 526"/>
              <a:gd name="T36" fmla="*/ 2147483647 w 399"/>
              <a:gd name="T37" fmla="*/ 2147483647 h 526"/>
              <a:gd name="T38" fmla="*/ 2147483647 w 399"/>
              <a:gd name="T39" fmla="*/ 2147483647 h 526"/>
              <a:gd name="T40" fmla="*/ 2147483647 w 399"/>
              <a:gd name="T41" fmla="*/ 2147483647 h 526"/>
              <a:gd name="T42" fmla="*/ 0 w 399"/>
              <a:gd name="T43" fmla="*/ 2147483647 h 526"/>
              <a:gd name="T44" fmla="*/ 2147483647 w 399"/>
              <a:gd name="T45" fmla="*/ 2147483647 h 526"/>
              <a:gd name="T46" fmla="*/ 2147483647 w 399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9"/>
              <a:gd name="T73" fmla="*/ 0 h 526"/>
              <a:gd name="T74" fmla="*/ 399 w 399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9" h="526">
                <a:moveTo>
                  <a:pt x="398" y="11"/>
                </a:moveTo>
                <a:lnTo>
                  <a:pt x="42" y="481"/>
                </a:lnTo>
                <a:lnTo>
                  <a:pt x="41" y="483"/>
                </a:lnTo>
                <a:lnTo>
                  <a:pt x="38" y="483"/>
                </a:lnTo>
                <a:lnTo>
                  <a:pt x="36" y="483"/>
                </a:lnTo>
                <a:lnTo>
                  <a:pt x="33" y="483"/>
                </a:lnTo>
                <a:lnTo>
                  <a:pt x="32" y="480"/>
                </a:lnTo>
                <a:lnTo>
                  <a:pt x="32" y="478"/>
                </a:lnTo>
                <a:lnTo>
                  <a:pt x="32" y="475"/>
                </a:lnTo>
                <a:lnTo>
                  <a:pt x="32" y="474"/>
                </a:lnTo>
                <a:lnTo>
                  <a:pt x="389" y="3"/>
                </a:lnTo>
                <a:lnTo>
                  <a:pt x="390" y="2"/>
                </a:lnTo>
                <a:lnTo>
                  <a:pt x="392" y="0"/>
                </a:lnTo>
                <a:lnTo>
                  <a:pt x="395" y="2"/>
                </a:lnTo>
                <a:lnTo>
                  <a:pt x="398" y="2"/>
                </a:lnTo>
                <a:lnTo>
                  <a:pt x="399" y="5"/>
                </a:lnTo>
                <a:lnTo>
                  <a:pt x="399" y="6"/>
                </a:lnTo>
                <a:lnTo>
                  <a:pt x="399" y="9"/>
                </a:lnTo>
                <a:lnTo>
                  <a:pt x="398" y="11"/>
                </a:lnTo>
                <a:close/>
                <a:moveTo>
                  <a:pt x="75" y="490"/>
                </a:moveTo>
                <a:lnTo>
                  <a:pt x="0" y="526"/>
                </a:lnTo>
                <a:lnTo>
                  <a:pt x="15" y="444"/>
                </a:lnTo>
                <a:lnTo>
                  <a:pt x="75" y="49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41" name="Freeform 125"/>
          <p:cNvSpPr>
            <a:spLocks noEditPoints="1"/>
          </p:cNvSpPr>
          <p:nvPr/>
        </p:nvSpPr>
        <p:spPr bwMode="auto">
          <a:xfrm>
            <a:off x="2301875" y="2555875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2147483647 h 526"/>
              <a:gd name="T30" fmla="*/ 2147483647 w 401"/>
              <a:gd name="T31" fmla="*/ 2147483647 h 526"/>
              <a:gd name="T32" fmla="*/ 2147483647 w 401"/>
              <a:gd name="T33" fmla="*/ 0 h 526"/>
              <a:gd name="T34" fmla="*/ 2147483647 w 401"/>
              <a:gd name="T35" fmla="*/ 2147483647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1" y="3"/>
                </a:moveTo>
                <a:lnTo>
                  <a:pt x="368" y="474"/>
                </a:lnTo>
                <a:lnTo>
                  <a:pt x="368" y="475"/>
                </a:lnTo>
                <a:lnTo>
                  <a:pt x="369" y="478"/>
                </a:lnTo>
                <a:lnTo>
                  <a:pt x="368" y="480"/>
                </a:lnTo>
                <a:lnTo>
                  <a:pt x="366" y="483"/>
                </a:lnTo>
                <a:lnTo>
                  <a:pt x="363" y="483"/>
                </a:lnTo>
                <a:lnTo>
                  <a:pt x="362" y="483"/>
                </a:lnTo>
                <a:lnTo>
                  <a:pt x="359" y="483"/>
                </a:lnTo>
                <a:lnTo>
                  <a:pt x="357" y="481"/>
                </a:lnTo>
                <a:lnTo>
                  <a:pt x="2" y="11"/>
                </a:lnTo>
                <a:lnTo>
                  <a:pt x="0" y="9"/>
                </a:lnTo>
                <a:lnTo>
                  <a:pt x="0" y="6"/>
                </a:lnTo>
                <a:lnTo>
                  <a:pt x="2" y="5"/>
                </a:lnTo>
                <a:lnTo>
                  <a:pt x="3" y="2"/>
                </a:lnTo>
                <a:lnTo>
                  <a:pt x="5" y="2"/>
                </a:lnTo>
                <a:lnTo>
                  <a:pt x="8" y="0"/>
                </a:lnTo>
                <a:lnTo>
                  <a:pt x="9" y="2"/>
                </a:lnTo>
                <a:lnTo>
                  <a:pt x="11" y="3"/>
                </a:lnTo>
                <a:close/>
                <a:moveTo>
                  <a:pt x="385" y="444"/>
                </a:moveTo>
                <a:lnTo>
                  <a:pt x="401" y="526"/>
                </a:lnTo>
                <a:lnTo>
                  <a:pt x="324" y="490"/>
                </a:lnTo>
                <a:lnTo>
                  <a:pt x="385" y="444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42" name="Freeform 126"/>
          <p:cNvSpPr>
            <a:spLocks/>
          </p:cNvSpPr>
          <p:nvPr/>
        </p:nvSpPr>
        <p:spPr bwMode="auto">
          <a:xfrm>
            <a:off x="914400" y="42846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3"/>
                </a:lnTo>
                <a:lnTo>
                  <a:pt x="149" y="5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20"/>
                </a:lnTo>
                <a:lnTo>
                  <a:pt x="98" y="23"/>
                </a:lnTo>
                <a:lnTo>
                  <a:pt x="83" y="33"/>
                </a:lnTo>
                <a:lnTo>
                  <a:pt x="68" y="44"/>
                </a:lnTo>
                <a:lnTo>
                  <a:pt x="54" y="56"/>
                </a:lnTo>
                <a:lnTo>
                  <a:pt x="42" y="70"/>
                </a:lnTo>
                <a:lnTo>
                  <a:pt x="32" y="83"/>
                </a:lnTo>
                <a:lnTo>
                  <a:pt x="23" y="100"/>
                </a:lnTo>
                <a:lnTo>
                  <a:pt x="18" y="107"/>
                </a:lnTo>
                <a:lnTo>
                  <a:pt x="14" y="116"/>
                </a:lnTo>
                <a:lnTo>
                  <a:pt x="11" y="124"/>
                </a:lnTo>
                <a:lnTo>
                  <a:pt x="8" y="133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3"/>
                </a:lnTo>
                <a:lnTo>
                  <a:pt x="68" y="335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7"/>
                </a:lnTo>
                <a:lnTo>
                  <a:pt x="131" y="370"/>
                </a:lnTo>
                <a:lnTo>
                  <a:pt x="140" y="371"/>
                </a:lnTo>
                <a:lnTo>
                  <a:pt x="149" y="374"/>
                </a:lnTo>
                <a:lnTo>
                  <a:pt x="158" y="376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6"/>
                </a:lnTo>
                <a:lnTo>
                  <a:pt x="226" y="374"/>
                </a:lnTo>
                <a:lnTo>
                  <a:pt x="235" y="371"/>
                </a:lnTo>
                <a:lnTo>
                  <a:pt x="244" y="370"/>
                </a:lnTo>
                <a:lnTo>
                  <a:pt x="253" y="367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3" y="345"/>
                </a:lnTo>
                <a:lnTo>
                  <a:pt x="308" y="335"/>
                </a:lnTo>
                <a:lnTo>
                  <a:pt x="321" y="323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9"/>
                </a:lnTo>
                <a:lnTo>
                  <a:pt x="377" y="189"/>
                </a:lnTo>
                <a:lnTo>
                  <a:pt x="375" y="180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6"/>
                </a:lnTo>
                <a:lnTo>
                  <a:pt x="357" y="107"/>
                </a:lnTo>
                <a:lnTo>
                  <a:pt x="353" y="100"/>
                </a:lnTo>
                <a:lnTo>
                  <a:pt x="344" y="83"/>
                </a:lnTo>
                <a:lnTo>
                  <a:pt x="333" y="70"/>
                </a:lnTo>
                <a:lnTo>
                  <a:pt x="321" y="56"/>
                </a:lnTo>
                <a:lnTo>
                  <a:pt x="308" y="44"/>
                </a:lnTo>
                <a:lnTo>
                  <a:pt x="293" y="33"/>
                </a:lnTo>
                <a:lnTo>
                  <a:pt x="277" y="23"/>
                </a:lnTo>
                <a:lnTo>
                  <a:pt x="270" y="20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5"/>
                </a:lnTo>
                <a:lnTo>
                  <a:pt x="217" y="3"/>
                </a:lnTo>
                <a:lnTo>
                  <a:pt x="207" y="2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43" name="Rectangle 127"/>
          <p:cNvSpPr>
            <a:spLocks noChangeArrowheads="1"/>
          </p:cNvSpPr>
          <p:nvPr/>
        </p:nvSpPr>
        <p:spPr bwMode="auto">
          <a:xfrm>
            <a:off x="1004888" y="43053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1344" name="Freeform 128"/>
          <p:cNvSpPr>
            <a:spLocks/>
          </p:cNvSpPr>
          <p:nvPr/>
        </p:nvSpPr>
        <p:spPr bwMode="auto">
          <a:xfrm>
            <a:off x="1273175" y="3686175"/>
            <a:ext cx="300038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59" y="3"/>
                </a:lnTo>
                <a:lnTo>
                  <a:pt x="150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9"/>
                </a:lnTo>
                <a:lnTo>
                  <a:pt x="98" y="22"/>
                </a:lnTo>
                <a:lnTo>
                  <a:pt x="83" y="33"/>
                </a:lnTo>
                <a:lnTo>
                  <a:pt x="68" y="43"/>
                </a:lnTo>
                <a:lnTo>
                  <a:pt x="55" y="55"/>
                </a:lnTo>
                <a:lnTo>
                  <a:pt x="43" y="69"/>
                </a:lnTo>
                <a:lnTo>
                  <a:pt x="32" y="83"/>
                </a:lnTo>
                <a:lnTo>
                  <a:pt x="23" y="99"/>
                </a:lnTo>
                <a:lnTo>
                  <a:pt x="18" y="107"/>
                </a:lnTo>
                <a:lnTo>
                  <a:pt x="14" y="116"/>
                </a:lnTo>
                <a:lnTo>
                  <a:pt x="11" y="123"/>
                </a:lnTo>
                <a:lnTo>
                  <a:pt x="8" y="132"/>
                </a:lnTo>
                <a:lnTo>
                  <a:pt x="5" y="141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69"/>
                </a:lnTo>
                <a:lnTo>
                  <a:pt x="23" y="279"/>
                </a:lnTo>
                <a:lnTo>
                  <a:pt x="32" y="294"/>
                </a:lnTo>
                <a:lnTo>
                  <a:pt x="43" y="309"/>
                </a:lnTo>
                <a:lnTo>
                  <a:pt x="55" y="322"/>
                </a:lnTo>
                <a:lnTo>
                  <a:pt x="68" y="334"/>
                </a:lnTo>
                <a:lnTo>
                  <a:pt x="83" y="345"/>
                </a:lnTo>
                <a:lnTo>
                  <a:pt x="98" y="354"/>
                </a:lnTo>
                <a:lnTo>
                  <a:pt x="106" y="358"/>
                </a:lnTo>
                <a:lnTo>
                  <a:pt x="115" y="361"/>
                </a:lnTo>
                <a:lnTo>
                  <a:pt x="124" y="366"/>
                </a:lnTo>
                <a:lnTo>
                  <a:pt x="131" y="369"/>
                </a:lnTo>
                <a:lnTo>
                  <a:pt x="140" y="370"/>
                </a:lnTo>
                <a:lnTo>
                  <a:pt x="150" y="373"/>
                </a:lnTo>
                <a:lnTo>
                  <a:pt x="159" y="375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4" y="366"/>
                </a:lnTo>
                <a:lnTo>
                  <a:pt x="261" y="361"/>
                </a:lnTo>
                <a:lnTo>
                  <a:pt x="270" y="358"/>
                </a:lnTo>
                <a:lnTo>
                  <a:pt x="278" y="354"/>
                </a:lnTo>
                <a:lnTo>
                  <a:pt x="293" y="345"/>
                </a:lnTo>
                <a:lnTo>
                  <a:pt x="308" y="334"/>
                </a:lnTo>
                <a:lnTo>
                  <a:pt x="321" y="322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8" y="269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8"/>
                </a:lnTo>
                <a:lnTo>
                  <a:pt x="376" y="199"/>
                </a:lnTo>
                <a:lnTo>
                  <a:pt x="377" y="188"/>
                </a:lnTo>
                <a:lnTo>
                  <a:pt x="376" y="179"/>
                </a:lnTo>
                <a:lnTo>
                  <a:pt x="376" y="169"/>
                </a:lnTo>
                <a:lnTo>
                  <a:pt x="374" y="159"/>
                </a:lnTo>
                <a:lnTo>
                  <a:pt x="373" y="150"/>
                </a:lnTo>
                <a:lnTo>
                  <a:pt x="371" y="141"/>
                </a:lnTo>
                <a:lnTo>
                  <a:pt x="368" y="132"/>
                </a:lnTo>
                <a:lnTo>
                  <a:pt x="365" y="123"/>
                </a:lnTo>
                <a:lnTo>
                  <a:pt x="362" y="116"/>
                </a:lnTo>
                <a:lnTo>
                  <a:pt x="358" y="107"/>
                </a:lnTo>
                <a:lnTo>
                  <a:pt x="353" y="99"/>
                </a:lnTo>
                <a:lnTo>
                  <a:pt x="344" y="83"/>
                </a:lnTo>
                <a:lnTo>
                  <a:pt x="333" y="69"/>
                </a:lnTo>
                <a:lnTo>
                  <a:pt x="321" y="55"/>
                </a:lnTo>
                <a:lnTo>
                  <a:pt x="308" y="43"/>
                </a:lnTo>
                <a:lnTo>
                  <a:pt x="293" y="33"/>
                </a:lnTo>
                <a:lnTo>
                  <a:pt x="278" y="22"/>
                </a:lnTo>
                <a:lnTo>
                  <a:pt x="270" y="19"/>
                </a:lnTo>
                <a:lnTo>
                  <a:pt x="261" y="15"/>
                </a:lnTo>
                <a:lnTo>
                  <a:pt x="254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7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45" name="Rectangle 129"/>
          <p:cNvSpPr>
            <a:spLocks noChangeArrowheads="1"/>
          </p:cNvSpPr>
          <p:nvPr/>
        </p:nvSpPr>
        <p:spPr bwMode="auto">
          <a:xfrm>
            <a:off x="13636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1346" name="Freeform 130"/>
          <p:cNvSpPr>
            <a:spLocks noEditPoints="1"/>
          </p:cNvSpPr>
          <p:nvPr/>
        </p:nvSpPr>
        <p:spPr bwMode="auto">
          <a:xfrm>
            <a:off x="1422400" y="3254375"/>
            <a:ext cx="257175" cy="417513"/>
          </a:xfrm>
          <a:custGeom>
            <a:avLst/>
            <a:gdLst>
              <a:gd name="T0" fmla="*/ 2147483647 w 324"/>
              <a:gd name="T1" fmla="*/ 2147483647 h 526"/>
              <a:gd name="T2" fmla="*/ 2147483647 w 324"/>
              <a:gd name="T3" fmla="*/ 2147483647 h 526"/>
              <a:gd name="T4" fmla="*/ 2147483647 w 324"/>
              <a:gd name="T5" fmla="*/ 2147483647 h 526"/>
              <a:gd name="T6" fmla="*/ 2147483647 w 324"/>
              <a:gd name="T7" fmla="*/ 2147483647 h 526"/>
              <a:gd name="T8" fmla="*/ 2147483647 w 324"/>
              <a:gd name="T9" fmla="*/ 2147483647 h 526"/>
              <a:gd name="T10" fmla="*/ 2147483647 w 324"/>
              <a:gd name="T11" fmla="*/ 2147483647 h 526"/>
              <a:gd name="T12" fmla="*/ 2147483647 w 324"/>
              <a:gd name="T13" fmla="*/ 2147483647 h 526"/>
              <a:gd name="T14" fmla="*/ 2147483647 w 324"/>
              <a:gd name="T15" fmla="*/ 2147483647 h 526"/>
              <a:gd name="T16" fmla="*/ 2147483647 w 324"/>
              <a:gd name="T17" fmla="*/ 2147483647 h 526"/>
              <a:gd name="T18" fmla="*/ 2147483647 w 324"/>
              <a:gd name="T19" fmla="*/ 2147483647 h 526"/>
              <a:gd name="T20" fmla="*/ 2147483647 w 324"/>
              <a:gd name="T21" fmla="*/ 2147483647 h 526"/>
              <a:gd name="T22" fmla="*/ 2147483647 w 324"/>
              <a:gd name="T23" fmla="*/ 2147483647 h 526"/>
              <a:gd name="T24" fmla="*/ 2147483647 w 324"/>
              <a:gd name="T25" fmla="*/ 0 h 526"/>
              <a:gd name="T26" fmla="*/ 2147483647 w 324"/>
              <a:gd name="T27" fmla="*/ 0 h 526"/>
              <a:gd name="T28" fmla="*/ 2147483647 w 324"/>
              <a:gd name="T29" fmla="*/ 0 h 526"/>
              <a:gd name="T30" fmla="*/ 2147483647 w 324"/>
              <a:gd name="T31" fmla="*/ 2147483647 h 526"/>
              <a:gd name="T32" fmla="*/ 2147483647 w 324"/>
              <a:gd name="T33" fmla="*/ 2147483647 h 526"/>
              <a:gd name="T34" fmla="*/ 2147483647 w 324"/>
              <a:gd name="T35" fmla="*/ 2147483647 h 526"/>
              <a:gd name="T36" fmla="*/ 2147483647 w 324"/>
              <a:gd name="T37" fmla="*/ 2147483647 h 526"/>
              <a:gd name="T38" fmla="*/ 2147483647 w 324"/>
              <a:gd name="T39" fmla="*/ 2147483647 h 526"/>
              <a:gd name="T40" fmla="*/ 2147483647 w 324"/>
              <a:gd name="T41" fmla="*/ 2147483647 h 526"/>
              <a:gd name="T42" fmla="*/ 0 w 324"/>
              <a:gd name="T43" fmla="*/ 2147483647 h 526"/>
              <a:gd name="T44" fmla="*/ 2147483647 w 324"/>
              <a:gd name="T45" fmla="*/ 2147483647 h 526"/>
              <a:gd name="T46" fmla="*/ 2147483647 w 32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526"/>
              <a:gd name="T74" fmla="*/ 324 w 32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526">
                <a:moveTo>
                  <a:pt x="324" y="9"/>
                </a:moveTo>
                <a:lnTo>
                  <a:pt x="37" y="474"/>
                </a:lnTo>
                <a:lnTo>
                  <a:pt x="36" y="477"/>
                </a:lnTo>
                <a:lnTo>
                  <a:pt x="33" y="477"/>
                </a:lnTo>
                <a:lnTo>
                  <a:pt x="31" y="477"/>
                </a:lnTo>
                <a:lnTo>
                  <a:pt x="28" y="477"/>
                </a:lnTo>
                <a:lnTo>
                  <a:pt x="27" y="476"/>
                </a:lnTo>
                <a:lnTo>
                  <a:pt x="25" y="473"/>
                </a:lnTo>
                <a:lnTo>
                  <a:pt x="25" y="471"/>
                </a:lnTo>
                <a:lnTo>
                  <a:pt x="27" y="468"/>
                </a:lnTo>
                <a:lnTo>
                  <a:pt x="313" y="3"/>
                </a:lnTo>
                <a:lnTo>
                  <a:pt x="315" y="1"/>
                </a:lnTo>
                <a:lnTo>
                  <a:pt x="316" y="0"/>
                </a:lnTo>
                <a:lnTo>
                  <a:pt x="319" y="0"/>
                </a:lnTo>
                <a:lnTo>
                  <a:pt x="321" y="0"/>
                </a:lnTo>
                <a:lnTo>
                  <a:pt x="322" y="3"/>
                </a:lnTo>
                <a:lnTo>
                  <a:pt x="324" y="4"/>
                </a:lnTo>
                <a:lnTo>
                  <a:pt x="324" y="7"/>
                </a:lnTo>
                <a:lnTo>
                  <a:pt x="324" y="9"/>
                </a:lnTo>
                <a:close/>
                <a:moveTo>
                  <a:pt x="71" y="480"/>
                </a:moveTo>
                <a:lnTo>
                  <a:pt x="0" y="526"/>
                </a:lnTo>
                <a:lnTo>
                  <a:pt x="6" y="441"/>
                </a:lnTo>
                <a:lnTo>
                  <a:pt x="71" y="48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47" name="Freeform 131"/>
          <p:cNvSpPr>
            <a:spLocks noEditPoints="1"/>
          </p:cNvSpPr>
          <p:nvPr/>
        </p:nvSpPr>
        <p:spPr bwMode="auto">
          <a:xfrm>
            <a:off x="1063625" y="3951288"/>
            <a:ext cx="257175" cy="319087"/>
          </a:xfrm>
          <a:custGeom>
            <a:avLst/>
            <a:gdLst>
              <a:gd name="T0" fmla="*/ 2147483647 w 324"/>
              <a:gd name="T1" fmla="*/ 2147483647 h 401"/>
              <a:gd name="T2" fmla="*/ 2147483647 w 324"/>
              <a:gd name="T3" fmla="*/ 2147483647 h 401"/>
              <a:gd name="T4" fmla="*/ 2147483647 w 324"/>
              <a:gd name="T5" fmla="*/ 2147483647 h 401"/>
              <a:gd name="T6" fmla="*/ 2147483647 w 324"/>
              <a:gd name="T7" fmla="*/ 2147483647 h 401"/>
              <a:gd name="T8" fmla="*/ 2147483647 w 324"/>
              <a:gd name="T9" fmla="*/ 2147483647 h 401"/>
              <a:gd name="T10" fmla="*/ 2147483647 w 324"/>
              <a:gd name="T11" fmla="*/ 2147483647 h 401"/>
              <a:gd name="T12" fmla="*/ 2147483647 w 324"/>
              <a:gd name="T13" fmla="*/ 2147483647 h 401"/>
              <a:gd name="T14" fmla="*/ 2147483647 w 324"/>
              <a:gd name="T15" fmla="*/ 2147483647 h 401"/>
              <a:gd name="T16" fmla="*/ 2147483647 w 324"/>
              <a:gd name="T17" fmla="*/ 2147483647 h 401"/>
              <a:gd name="T18" fmla="*/ 2147483647 w 324"/>
              <a:gd name="T19" fmla="*/ 2147483647 h 401"/>
              <a:gd name="T20" fmla="*/ 2147483647 w 324"/>
              <a:gd name="T21" fmla="*/ 2147483647 h 401"/>
              <a:gd name="T22" fmla="*/ 2147483647 w 324"/>
              <a:gd name="T23" fmla="*/ 2147483647 h 401"/>
              <a:gd name="T24" fmla="*/ 2147483647 w 324"/>
              <a:gd name="T25" fmla="*/ 0 h 401"/>
              <a:gd name="T26" fmla="*/ 2147483647 w 324"/>
              <a:gd name="T27" fmla="*/ 0 h 401"/>
              <a:gd name="T28" fmla="*/ 2147483647 w 324"/>
              <a:gd name="T29" fmla="*/ 2147483647 h 401"/>
              <a:gd name="T30" fmla="*/ 2147483647 w 324"/>
              <a:gd name="T31" fmla="*/ 2147483647 h 401"/>
              <a:gd name="T32" fmla="*/ 2147483647 w 324"/>
              <a:gd name="T33" fmla="*/ 2147483647 h 401"/>
              <a:gd name="T34" fmla="*/ 2147483647 w 324"/>
              <a:gd name="T35" fmla="*/ 2147483647 h 401"/>
              <a:gd name="T36" fmla="*/ 2147483647 w 324"/>
              <a:gd name="T37" fmla="*/ 2147483647 h 401"/>
              <a:gd name="T38" fmla="*/ 2147483647 w 324"/>
              <a:gd name="T39" fmla="*/ 2147483647 h 401"/>
              <a:gd name="T40" fmla="*/ 2147483647 w 324"/>
              <a:gd name="T41" fmla="*/ 2147483647 h 401"/>
              <a:gd name="T42" fmla="*/ 0 w 324"/>
              <a:gd name="T43" fmla="*/ 2147483647 h 401"/>
              <a:gd name="T44" fmla="*/ 2147483647 w 324"/>
              <a:gd name="T45" fmla="*/ 2147483647 h 401"/>
              <a:gd name="T46" fmla="*/ 2147483647 w 324"/>
              <a:gd name="T47" fmla="*/ 2147483647 h 40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401"/>
              <a:gd name="T74" fmla="*/ 324 w 324"/>
              <a:gd name="T75" fmla="*/ 401 h 401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401">
                <a:moveTo>
                  <a:pt x="322" y="11"/>
                </a:moveTo>
                <a:lnTo>
                  <a:pt x="43" y="356"/>
                </a:lnTo>
                <a:lnTo>
                  <a:pt x="42" y="358"/>
                </a:lnTo>
                <a:lnTo>
                  <a:pt x="39" y="359"/>
                </a:lnTo>
                <a:lnTo>
                  <a:pt x="37" y="358"/>
                </a:lnTo>
                <a:lnTo>
                  <a:pt x="34" y="358"/>
                </a:lnTo>
                <a:lnTo>
                  <a:pt x="33" y="354"/>
                </a:lnTo>
                <a:lnTo>
                  <a:pt x="33" y="353"/>
                </a:lnTo>
                <a:lnTo>
                  <a:pt x="33" y="350"/>
                </a:lnTo>
                <a:lnTo>
                  <a:pt x="34" y="348"/>
                </a:lnTo>
                <a:lnTo>
                  <a:pt x="313" y="3"/>
                </a:lnTo>
                <a:lnTo>
                  <a:pt x="315" y="2"/>
                </a:lnTo>
                <a:lnTo>
                  <a:pt x="318" y="0"/>
                </a:lnTo>
                <a:lnTo>
                  <a:pt x="319" y="0"/>
                </a:lnTo>
                <a:lnTo>
                  <a:pt x="322" y="2"/>
                </a:lnTo>
                <a:lnTo>
                  <a:pt x="324" y="3"/>
                </a:lnTo>
                <a:lnTo>
                  <a:pt x="324" y="6"/>
                </a:lnTo>
                <a:lnTo>
                  <a:pt x="324" y="8"/>
                </a:lnTo>
                <a:lnTo>
                  <a:pt x="322" y="11"/>
                </a:lnTo>
                <a:close/>
                <a:moveTo>
                  <a:pt x="76" y="367"/>
                </a:moveTo>
                <a:lnTo>
                  <a:pt x="0" y="401"/>
                </a:lnTo>
                <a:lnTo>
                  <a:pt x="18" y="318"/>
                </a:lnTo>
                <a:lnTo>
                  <a:pt x="76" y="367"/>
                </a:lnTo>
                <a:close/>
              </a:path>
            </a:pathLst>
          </a:custGeom>
          <a:solidFill>
            <a:srgbClr val="FF0000"/>
          </a:solidFill>
          <a:ln w="1588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48" name="Freeform 132"/>
          <p:cNvSpPr>
            <a:spLocks/>
          </p:cNvSpPr>
          <p:nvPr/>
        </p:nvSpPr>
        <p:spPr bwMode="auto">
          <a:xfrm>
            <a:off x="1830388" y="3686175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9" y="0"/>
                </a:lnTo>
                <a:lnTo>
                  <a:pt x="169" y="1"/>
                </a:lnTo>
                <a:lnTo>
                  <a:pt x="160" y="3"/>
                </a:lnTo>
                <a:lnTo>
                  <a:pt x="150" y="4"/>
                </a:lnTo>
                <a:lnTo>
                  <a:pt x="141" y="6"/>
                </a:lnTo>
                <a:lnTo>
                  <a:pt x="132" y="9"/>
                </a:lnTo>
                <a:lnTo>
                  <a:pt x="123" y="12"/>
                </a:lnTo>
                <a:lnTo>
                  <a:pt x="116" y="15"/>
                </a:lnTo>
                <a:lnTo>
                  <a:pt x="107" y="19"/>
                </a:lnTo>
                <a:lnTo>
                  <a:pt x="99" y="22"/>
                </a:lnTo>
                <a:lnTo>
                  <a:pt x="83" y="33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3"/>
                </a:lnTo>
                <a:lnTo>
                  <a:pt x="22" y="99"/>
                </a:lnTo>
                <a:lnTo>
                  <a:pt x="19" y="107"/>
                </a:lnTo>
                <a:lnTo>
                  <a:pt x="15" y="116"/>
                </a:lnTo>
                <a:lnTo>
                  <a:pt x="12" y="123"/>
                </a:lnTo>
                <a:lnTo>
                  <a:pt x="9" y="132"/>
                </a:lnTo>
                <a:lnTo>
                  <a:pt x="6" y="141"/>
                </a:lnTo>
                <a:lnTo>
                  <a:pt x="4" y="150"/>
                </a:lnTo>
                <a:lnTo>
                  <a:pt x="3" y="159"/>
                </a:lnTo>
                <a:lnTo>
                  <a:pt x="1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1" y="208"/>
                </a:lnTo>
                <a:lnTo>
                  <a:pt x="3" y="217"/>
                </a:lnTo>
                <a:lnTo>
                  <a:pt x="4" y="226"/>
                </a:lnTo>
                <a:lnTo>
                  <a:pt x="6" y="235"/>
                </a:lnTo>
                <a:lnTo>
                  <a:pt x="9" y="244"/>
                </a:lnTo>
                <a:lnTo>
                  <a:pt x="12" y="253"/>
                </a:lnTo>
                <a:lnTo>
                  <a:pt x="15" y="262"/>
                </a:lnTo>
                <a:lnTo>
                  <a:pt x="19" y="269"/>
                </a:lnTo>
                <a:lnTo>
                  <a:pt x="22" y="279"/>
                </a:lnTo>
                <a:lnTo>
                  <a:pt x="33" y="294"/>
                </a:lnTo>
                <a:lnTo>
                  <a:pt x="43" y="309"/>
                </a:lnTo>
                <a:lnTo>
                  <a:pt x="56" y="322"/>
                </a:lnTo>
                <a:lnTo>
                  <a:pt x="69" y="334"/>
                </a:lnTo>
                <a:lnTo>
                  <a:pt x="83" y="345"/>
                </a:lnTo>
                <a:lnTo>
                  <a:pt x="99" y="354"/>
                </a:lnTo>
                <a:lnTo>
                  <a:pt x="107" y="358"/>
                </a:lnTo>
                <a:lnTo>
                  <a:pt x="116" y="361"/>
                </a:lnTo>
                <a:lnTo>
                  <a:pt x="123" y="366"/>
                </a:lnTo>
                <a:lnTo>
                  <a:pt x="132" y="369"/>
                </a:lnTo>
                <a:lnTo>
                  <a:pt x="141" y="370"/>
                </a:lnTo>
                <a:lnTo>
                  <a:pt x="150" y="373"/>
                </a:lnTo>
                <a:lnTo>
                  <a:pt x="160" y="375"/>
                </a:lnTo>
                <a:lnTo>
                  <a:pt x="169" y="377"/>
                </a:lnTo>
                <a:lnTo>
                  <a:pt x="179" y="377"/>
                </a:lnTo>
                <a:lnTo>
                  <a:pt x="188" y="377"/>
                </a:lnTo>
                <a:lnTo>
                  <a:pt x="199" y="377"/>
                </a:lnTo>
                <a:lnTo>
                  <a:pt x="208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3" y="366"/>
                </a:lnTo>
                <a:lnTo>
                  <a:pt x="262" y="361"/>
                </a:lnTo>
                <a:lnTo>
                  <a:pt x="270" y="358"/>
                </a:lnTo>
                <a:lnTo>
                  <a:pt x="279" y="354"/>
                </a:lnTo>
                <a:lnTo>
                  <a:pt x="294" y="345"/>
                </a:lnTo>
                <a:lnTo>
                  <a:pt x="309" y="334"/>
                </a:lnTo>
                <a:lnTo>
                  <a:pt x="322" y="322"/>
                </a:lnTo>
                <a:lnTo>
                  <a:pt x="334" y="309"/>
                </a:lnTo>
                <a:lnTo>
                  <a:pt x="345" y="294"/>
                </a:lnTo>
                <a:lnTo>
                  <a:pt x="354" y="279"/>
                </a:lnTo>
                <a:lnTo>
                  <a:pt x="358" y="269"/>
                </a:lnTo>
                <a:lnTo>
                  <a:pt x="362" y="262"/>
                </a:lnTo>
                <a:lnTo>
                  <a:pt x="366" y="253"/>
                </a:lnTo>
                <a:lnTo>
                  <a:pt x="369" y="244"/>
                </a:lnTo>
                <a:lnTo>
                  <a:pt x="371" y="235"/>
                </a:lnTo>
                <a:lnTo>
                  <a:pt x="374" y="226"/>
                </a:lnTo>
                <a:lnTo>
                  <a:pt x="375" y="217"/>
                </a:lnTo>
                <a:lnTo>
                  <a:pt x="377" y="208"/>
                </a:lnTo>
                <a:lnTo>
                  <a:pt x="377" y="199"/>
                </a:lnTo>
                <a:lnTo>
                  <a:pt x="377" y="188"/>
                </a:lnTo>
                <a:lnTo>
                  <a:pt x="377" y="179"/>
                </a:lnTo>
                <a:lnTo>
                  <a:pt x="377" y="169"/>
                </a:lnTo>
                <a:lnTo>
                  <a:pt x="375" y="159"/>
                </a:lnTo>
                <a:lnTo>
                  <a:pt x="374" y="150"/>
                </a:lnTo>
                <a:lnTo>
                  <a:pt x="371" y="141"/>
                </a:lnTo>
                <a:lnTo>
                  <a:pt x="369" y="132"/>
                </a:lnTo>
                <a:lnTo>
                  <a:pt x="366" y="123"/>
                </a:lnTo>
                <a:lnTo>
                  <a:pt x="362" y="116"/>
                </a:lnTo>
                <a:lnTo>
                  <a:pt x="358" y="107"/>
                </a:lnTo>
                <a:lnTo>
                  <a:pt x="354" y="99"/>
                </a:lnTo>
                <a:lnTo>
                  <a:pt x="345" y="83"/>
                </a:lnTo>
                <a:lnTo>
                  <a:pt x="334" y="69"/>
                </a:lnTo>
                <a:lnTo>
                  <a:pt x="322" y="55"/>
                </a:lnTo>
                <a:lnTo>
                  <a:pt x="309" y="43"/>
                </a:lnTo>
                <a:lnTo>
                  <a:pt x="294" y="33"/>
                </a:lnTo>
                <a:lnTo>
                  <a:pt x="279" y="22"/>
                </a:lnTo>
                <a:lnTo>
                  <a:pt x="270" y="19"/>
                </a:lnTo>
                <a:lnTo>
                  <a:pt x="262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8" y="1"/>
                </a:lnTo>
                <a:lnTo>
                  <a:pt x="199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49" name="Rectangle 133"/>
          <p:cNvSpPr>
            <a:spLocks noChangeArrowheads="1"/>
          </p:cNvSpPr>
          <p:nvPr/>
        </p:nvSpPr>
        <p:spPr bwMode="auto">
          <a:xfrm>
            <a:off x="19224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1350" name="Freeform 134"/>
          <p:cNvSpPr>
            <a:spLocks noEditPoints="1"/>
          </p:cNvSpPr>
          <p:nvPr/>
        </p:nvSpPr>
        <p:spPr bwMode="auto">
          <a:xfrm>
            <a:off x="1882775" y="3254375"/>
            <a:ext cx="114300" cy="417513"/>
          </a:xfrm>
          <a:custGeom>
            <a:avLst/>
            <a:gdLst>
              <a:gd name="T0" fmla="*/ 2147483647 w 144"/>
              <a:gd name="T1" fmla="*/ 2147483647 h 526"/>
              <a:gd name="T2" fmla="*/ 2147483647 w 144"/>
              <a:gd name="T3" fmla="*/ 2147483647 h 526"/>
              <a:gd name="T4" fmla="*/ 2147483647 w 144"/>
              <a:gd name="T5" fmla="*/ 2147483647 h 526"/>
              <a:gd name="T6" fmla="*/ 2147483647 w 144"/>
              <a:gd name="T7" fmla="*/ 2147483647 h 526"/>
              <a:gd name="T8" fmla="*/ 2147483647 w 144"/>
              <a:gd name="T9" fmla="*/ 2147483647 h 526"/>
              <a:gd name="T10" fmla="*/ 2147483647 w 144"/>
              <a:gd name="T11" fmla="*/ 2147483647 h 526"/>
              <a:gd name="T12" fmla="*/ 2147483647 w 144"/>
              <a:gd name="T13" fmla="*/ 2147483647 h 526"/>
              <a:gd name="T14" fmla="*/ 2147483647 w 144"/>
              <a:gd name="T15" fmla="*/ 2147483647 h 526"/>
              <a:gd name="T16" fmla="*/ 2147483647 w 144"/>
              <a:gd name="T17" fmla="*/ 2147483647 h 526"/>
              <a:gd name="T18" fmla="*/ 2147483647 w 144"/>
              <a:gd name="T19" fmla="*/ 2147483647 h 526"/>
              <a:gd name="T20" fmla="*/ 0 w 144"/>
              <a:gd name="T21" fmla="*/ 2147483647 h 526"/>
              <a:gd name="T22" fmla="*/ 0 w 144"/>
              <a:gd name="T23" fmla="*/ 2147483647 h 526"/>
              <a:gd name="T24" fmla="*/ 2147483647 w 144"/>
              <a:gd name="T25" fmla="*/ 2147483647 h 526"/>
              <a:gd name="T26" fmla="*/ 2147483647 w 144"/>
              <a:gd name="T27" fmla="*/ 2147483647 h 526"/>
              <a:gd name="T28" fmla="*/ 2147483647 w 144"/>
              <a:gd name="T29" fmla="*/ 0 h 526"/>
              <a:gd name="T30" fmla="*/ 2147483647 w 144"/>
              <a:gd name="T31" fmla="*/ 0 h 526"/>
              <a:gd name="T32" fmla="*/ 2147483647 w 144"/>
              <a:gd name="T33" fmla="*/ 0 h 526"/>
              <a:gd name="T34" fmla="*/ 2147483647 w 144"/>
              <a:gd name="T35" fmla="*/ 2147483647 h 526"/>
              <a:gd name="T36" fmla="*/ 2147483647 w 144"/>
              <a:gd name="T37" fmla="*/ 2147483647 h 526"/>
              <a:gd name="T38" fmla="*/ 2147483647 w 144"/>
              <a:gd name="T39" fmla="*/ 2147483647 h 526"/>
              <a:gd name="T40" fmla="*/ 2147483647 w 144"/>
              <a:gd name="T41" fmla="*/ 2147483647 h 526"/>
              <a:gd name="T42" fmla="*/ 2147483647 w 144"/>
              <a:gd name="T43" fmla="*/ 2147483647 h 526"/>
              <a:gd name="T44" fmla="*/ 2147483647 w 144"/>
              <a:gd name="T45" fmla="*/ 2147483647 h 526"/>
              <a:gd name="T46" fmla="*/ 2147483647 w 14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44"/>
              <a:gd name="T73" fmla="*/ 0 h 526"/>
              <a:gd name="T74" fmla="*/ 144 w 14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44" h="526">
                <a:moveTo>
                  <a:pt x="12" y="4"/>
                </a:moveTo>
                <a:lnTo>
                  <a:pt x="116" y="462"/>
                </a:lnTo>
                <a:lnTo>
                  <a:pt x="116" y="465"/>
                </a:lnTo>
                <a:lnTo>
                  <a:pt x="116" y="467"/>
                </a:lnTo>
                <a:lnTo>
                  <a:pt x="113" y="468"/>
                </a:lnTo>
                <a:lnTo>
                  <a:pt x="111" y="470"/>
                </a:lnTo>
                <a:lnTo>
                  <a:pt x="108" y="470"/>
                </a:lnTo>
                <a:lnTo>
                  <a:pt x="107" y="470"/>
                </a:lnTo>
                <a:lnTo>
                  <a:pt x="105" y="468"/>
                </a:lnTo>
                <a:lnTo>
                  <a:pt x="104" y="465"/>
                </a:lnTo>
                <a:lnTo>
                  <a:pt x="0" y="7"/>
                </a:lnTo>
                <a:lnTo>
                  <a:pt x="0" y="4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9" y="0"/>
                </a:lnTo>
                <a:lnTo>
                  <a:pt x="10" y="3"/>
                </a:lnTo>
                <a:lnTo>
                  <a:pt x="12" y="4"/>
                </a:lnTo>
                <a:close/>
                <a:moveTo>
                  <a:pt x="144" y="443"/>
                </a:moveTo>
                <a:lnTo>
                  <a:pt x="123" y="526"/>
                </a:lnTo>
                <a:lnTo>
                  <a:pt x="70" y="461"/>
                </a:lnTo>
                <a:lnTo>
                  <a:pt x="144" y="4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51" name="Freeform 135"/>
          <p:cNvSpPr>
            <a:spLocks/>
          </p:cNvSpPr>
          <p:nvPr/>
        </p:nvSpPr>
        <p:spPr bwMode="auto">
          <a:xfrm>
            <a:off x="2470150" y="29892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52" name="Rectangle 136"/>
          <p:cNvSpPr>
            <a:spLocks noChangeArrowheads="1"/>
          </p:cNvSpPr>
          <p:nvPr/>
        </p:nvSpPr>
        <p:spPr bwMode="auto">
          <a:xfrm>
            <a:off x="2500313" y="30099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11353" name="Freeform 137"/>
          <p:cNvSpPr>
            <a:spLocks/>
          </p:cNvSpPr>
          <p:nvPr/>
        </p:nvSpPr>
        <p:spPr bwMode="auto">
          <a:xfrm>
            <a:off x="1631950" y="2989263"/>
            <a:ext cx="300038" cy="298450"/>
          </a:xfrm>
          <a:custGeom>
            <a:avLst/>
            <a:gdLst>
              <a:gd name="T0" fmla="*/ 2147483647 w 376"/>
              <a:gd name="T1" fmla="*/ 0 h 377"/>
              <a:gd name="T2" fmla="*/ 2147483647 w 376"/>
              <a:gd name="T3" fmla="*/ 2147483647 h 377"/>
              <a:gd name="T4" fmla="*/ 2147483647 w 376"/>
              <a:gd name="T5" fmla="*/ 2147483647 h 377"/>
              <a:gd name="T6" fmla="*/ 2147483647 w 376"/>
              <a:gd name="T7" fmla="*/ 2147483647 h 377"/>
              <a:gd name="T8" fmla="*/ 2147483647 w 376"/>
              <a:gd name="T9" fmla="*/ 2147483647 h 377"/>
              <a:gd name="T10" fmla="*/ 2147483647 w 376"/>
              <a:gd name="T11" fmla="*/ 2147483647 h 377"/>
              <a:gd name="T12" fmla="*/ 2147483647 w 376"/>
              <a:gd name="T13" fmla="*/ 2147483647 h 377"/>
              <a:gd name="T14" fmla="*/ 2147483647 w 376"/>
              <a:gd name="T15" fmla="*/ 2147483647 h 377"/>
              <a:gd name="T16" fmla="*/ 2147483647 w 376"/>
              <a:gd name="T17" fmla="*/ 2147483647 h 377"/>
              <a:gd name="T18" fmla="*/ 2147483647 w 376"/>
              <a:gd name="T19" fmla="*/ 2147483647 h 377"/>
              <a:gd name="T20" fmla="*/ 2147483647 w 376"/>
              <a:gd name="T21" fmla="*/ 2147483647 h 377"/>
              <a:gd name="T22" fmla="*/ 2147483647 w 376"/>
              <a:gd name="T23" fmla="*/ 2147483647 h 377"/>
              <a:gd name="T24" fmla="*/ 0 w 376"/>
              <a:gd name="T25" fmla="*/ 2147483647 h 377"/>
              <a:gd name="T26" fmla="*/ 0 w 376"/>
              <a:gd name="T27" fmla="*/ 2147483647 h 377"/>
              <a:gd name="T28" fmla="*/ 2147483647 w 376"/>
              <a:gd name="T29" fmla="*/ 2147483647 h 377"/>
              <a:gd name="T30" fmla="*/ 2147483647 w 376"/>
              <a:gd name="T31" fmla="*/ 2147483647 h 377"/>
              <a:gd name="T32" fmla="*/ 2147483647 w 376"/>
              <a:gd name="T33" fmla="*/ 2147483647 h 377"/>
              <a:gd name="T34" fmla="*/ 2147483647 w 376"/>
              <a:gd name="T35" fmla="*/ 2147483647 h 377"/>
              <a:gd name="T36" fmla="*/ 2147483647 w 376"/>
              <a:gd name="T37" fmla="*/ 2147483647 h 377"/>
              <a:gd name="T38" fmla="*/ 2147483647 w 376"/>
              <a:gd name="T39" fmla="*/ 2147483647 h 377"/>
              <a:gd name="T40" fmla="*/ 2147483647 w 376"/>
              <a:gd name="T41" fmla="*/ 2147483647 h 377"/>
              <a:gd name="T42" fmla="*/ 2147483647 w 376"/>
              <a:gd name="T43" fmla="*/ 2147483647 h 377"/>
              <a:gd name="T44" fmla="*/ 2147483647 w 376"/>
              <a:gd name="T45" fmla="*/ 2147483647 h 377"/>
              <a:gd name="T46" fmla="*/ 2147483647 w 376"/>
              <a:gd name="T47" fmla="*/ 2147483647 h 377"/>
              <a:gd name="T48" fmla="*/ 2147483647 w 376"/>
              <a:gd name="T49" fmla="*/ 2147483647 h 377"/>
              <a:gd name="T50" fmla="*/ 2147483647 w 376"/>
              <a:gd name="T51" fmla="*/ 2147483647 h 377"/>
              <a:gd name="T52" fmla="*/ 2147483647 w 376"/>
              <a:gd name="T53" fmla="*/ 2147483647 h 377"/>
              <a:gd name="T54" fmla="*/ 2147483647 w 376"/>
              <a:gd name="T55" fmla="*/ 2147483647 h 377"/>
              <a:gd name="T56" fmla="*/ 2147483647 w 376"/>
              <a:gd name="T57" fmla="*/ 2147483647 h 377"/>
              <a:gd name="T58" fmla="*/ 2147483647 w 376"/>
              <a:gd name="T59" fmla="*/ 2147483647 h 377"/>
              <a:gd name="T60" fmla="*/ 2147483647 w 376"/>
              <a:gd name="T61" fmla="*/ 2147483647 h 377"/>
              <a:gd name="T62" fmla="*/ 2147483647 w 376"/>
              <a:gd name="T63" fmla="*/ 2147483647 h 377"/>
              <a:gd name="T64" fmla="*/ 2147483647 w 376"/>
              <a:gd name="T65" fmla="*/ 2147483647 h 377"/>
              <a:gd name="T66" fmla="*/ 2147483647 w 376"/>
              <a:gd name="T67" fmla="*/ 2147483647 h 377"/>
              <a:gd name="T68" fmla="*/ 2147483647 w 376"/>
              <a:gd name="T69" fmla="*/ 2147483647 h 377"/>
              <a:gd name="T70" fmla="*/ 2147483647 w 376"/>
              <a:gd name="T71" fmla="*/ 2147483647 h 377"/>
              <a:gd name="T72" fmla="*/ 2147483647 w 376"/>
              <a:gd name="T73" fmla="*/ 2147483647 h 377"/>
              <a:gd name="T74" fmla="*/ 2147483647 w 376"/>
              <a:gd name="T75" fmla="*/ 2147483647 h 377"/>
              <a:gd name="T76" fmla="*/ 2147483647 w 376"/>
              <a:gd name="T77" fmla="*/ 2147483647 h 377"/>
              <a:gd name="T78" fmla="*/ 2147483647 w 376"/>
              <a:gd name="T79" fmla="*/ 2147483647 h 377"/>
              <a:gd name="T80" fmla="*/ 2147483647 w 376"/>
              <a:gd name="T81" fmla="*/ 2147483647 h 377"/>
              <a:gd name="T82" fmla="*/ 2147483647 w 376"/>
              <a:gd name="T83" fmla="*/ 2147483647 h 377"/>
              <a:gd name="T84" fmla="*/ 2147483647 w 376"/>
              <a:gd name="T85" fmla="*/ 2147483647 h 377"/>
              <a:gd name="T86" fmla="*/ 2147483647 w 376"/>
              <a:gd name="T87" fmla="*/ 2147483647 h 377"/>
              <a:gd name="T88" fmla="*/ 2147483647 w 376"/>
              <a:gd name="T89" fmla="*/ 2147483647 h 377"/>
              <a:gd name="T90" fmla="*/ 2147483647 w 376"/>
              <a:gd name="T91" fmla="*/ 2147483647 h 377"/>
              <a:gd name="T92" fmla="*/ 2147483647 w 376"/>
              <a:gd name="T93" fmla="*/ 2147483647 h 377"/>
              <a:gd name="T94" fmla="*/ 2147483647 w 376"/>
              <a:gd name="T95" fmla="*/ 2147483647 h 377"/>
              <a:gd name="T96" fmla="*/ 2147483647 w 376"/>
              <a:gd name="T97" fmla="*/ 2147483647 h 377"/>
              <a:gd name="T98" fmla="*/ 2147483647 w 376"/>
              <a:gd name="T99" fmla="*/ 2147483647 h 377"/>
              <a:gd name="T100" fmla="*/ 2147483647 w 376"/>
              <a:gd name="T101" fmla="*/ 2147483647 h 377"/>
              <a:gd name="T102" fmla="*/ 2147483647 w 376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6"/>
              <a:gd name="T157" fmla="*/ 0 h 377"/>
              <a:gd name="T158" fmla="*/ 376 w 376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6" h="377">
                <a:moveTo>
                  <a:pt x="188" y="0"/>
                </a:moveTo>
                <a:lnTo>
                  <a:pt x="177" y="0"/>
                </a:lnTo>
                <a:lnTo>
                  <a:pt x="168" y="2"/>
                </a:lnTo>
                <a:lnTo>
                  <a:pt x="158" y="2"/>
                </a:lnTo>
                <a:lnTo>
                  <a:pt x="149" y="3"/>
                </a:lnTo>
                <a:lnTo>
                  <a:pt x="140" y="6"/>
                </a:lnTo>
                <a:lnTo>
                  <a:pt x="131" y="9"/>
                </a:lnTo>
                <a:lnTo>
                  <a:pt x="123" y="11"/>
                </a:lnTo>
                <a:lnTo>
                  <a:pt x="114" y="15"/>
                </a:lnTo>
                <a:lnTo>
                  <a:pt x="105" y="18"/>
                </a:lnTo>
                <a:lnTo>
                  <a:pt x="97" y="23"/>
                </a:lnTo>
                <a:lnTo>
                  <a:pt x="82" y="32"/>
                </a:lnTo>
                <a:lnTo>
                  <a:pt x="67" y="42"/>
                </a:lnTo>
                <a:lnTo>
                  <a:pt x="54" y="56"/>
                </a:lnTo>
                <a:lnTo>
                  <a:pt x="42" y="68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2"/>
                </a:lnTo>
                <a:lnTo>
                  <a:pt x="18" y="270"/>
                </a:lnTo>
                <a:lnTo>
                  <a:pt x="22" y="277"/>
                </a:lnTo>
                <a:lnTo>
                  <a:pt x="31" y="294"/>
                </a:lnTo>
                <a:lnTo>
                  <a:pt x="42" y="307"/>
                </a:lnTo>
                <a:lnTo>
                  <a:pt x="54" y="321"/>
                </a:lnTo>
                <a:lnTo>
                  <a:pt x="67" y="333"/>
                </a:lnTo>
                <a:lnTo>
                  <a:pt x="82" y="345"/>
                </a:lnTo>
                <a:lnTo>
                  <a:pt x="97" y="354"/>
                </a:lnTo>
                <a:lnTo>
                  <a:pt x="105" y="359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8" y="375"/>
                </a:lnTo>
                <a:lnTo>
                  <a:pt x="177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0" y="362"/>
                </a:lnTo>
                <a:lnTo>
                  <a:pt x="269" y="359"/>
                </a:lnTo>
                <a:lnTo>
                  <a:pt x="277" y="354"/>
                </a:lnTo>
                <a:lnTo>
                  <a:pt x="292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3" y="294"/>
                </a:lnTo>
                <a:lnTo>
                  <a:pt x="352" y="277"/>
                </a:lnTo>
                <a:lnTo>
                  <a:pt x="357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3" y="217"/>
                </a:lnTo>
                <a:lnTo>
                  <a:pt x="375" y="208"/>
                </a:lnTo>
                <a:lnTo>
                  <a:pt x="375" y="197"/>
                </a:lnTo>
                <a:lnTo>
                  <a:pt x="376" y="188"/>
                </a:lnTo>
                <a:lnTo>
                  <a:pt x="375" y="178"/>
                </a:lnTo>
                <a:lnTo>
                  <a:pt x="375" y="169"/>
                </a:lnTo>
                <a:lnTo>
                  <a:pt x="373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3"/>
                </a:lnTo>
                <a:lnTo>
                  <a:pt x="364" y="124"/>
                </a:lnTo>
                <a:lnTo>
                  <a:pt x="361" y="115"/>
                </a:lnTo>
                <a:lnTo>
                  <a:pt x="357" y="107"/>
                </a:lnTo>
                <a:lnTo>
                  <a:pt x="352" y="98"/>
                </a:lnTo>
                <a:lnTo>
                  <a:pt x="343" y="83"/>
                </a:lnTo>
                <a:lnTo>
                  <a:pt x="333" y="68"/>
                </a:lnTo>
                <a:lnTo>
                  <a:pt x="321" y="56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69" y="18"/>
                </a:lnTo>
                <a:lnTo>
                  <a:pt x="260" y="15"/>
                </a:lnTo>
                <a:lnTo>
                  <a:pt x="253" y="11"/>
                </a:lnTo>
                <a:lnTo>
                  <a:pt x="244" y="9"/>
                </a:lnTo>
                <a:lnTo>
                  <a:pt x="235" y="6"/>
                </a:lnTo>
                <a:lnTo>
                  <a:pt x="226" y="3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54" name="Rectangle 138"/>
          <p:cNvSpPr>
            <a:spLocks noChangeArrowheads="1"/>
          </p:cNvSpPr>
          <p:nvPr/>
        </p:nvSpPr>
        <p:spPr bwMode="auto">
          <a:xfrm>
            <a:off x="1724025" y="30099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1355" name="Freeform 139"/>
          <p:cNvSpPr>
            <a:spLocks/>
          </p:cNvSpPr>
          <p:nvPr/>
        </p:nvSpPr>
        <p:spPr bwMode="auto">
          <a:xfrm>
            <a:off x="2051050" y="2290763"/>
            <a:ext cx="298450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4" y="55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1"/>
                </a:lnTo>
                <a:lnTo>
                  <a:pt x="18" y="270"/>
                </a:lnTo>
                <a:lnTo>
                  <a:pt x="23" y="278"/>
                </a:lnTo>
                <a:lnTo>
                  <a:pt x="32" y="293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8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3"/>
                </a:lnTo>
                <a:lnTo>
                  <a:pt x="158" y="374"/>
                </a:lnTo>
                <a:lnTo>
                  <a:pt x="169" y="376"/>
                </a:lnTo>
                <a:lnTo>
                  <a:pt x="178" y="376"/>
                </a:lnTo>
                <a:lnTo>
                  <a:pt x="189" y="377"/>
                </a:lnTo>
                <a:lnTo>
                  <a:pt x="198" y="376"/>
                </a:lnTo>
                <a:lnTo>
                  <a:pt x="207" y="376"/>
                </a:lnTo>
                <a:lnTo>
                  <a:pt x="217" y="374"/>
                </a:lnTo>
                <a:lnTo>
                  <a:pt x="226" y="373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8"/>
                </a:lnTo>
                <a:lnTo>
                  <a:pt x="277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3"/>
                </a:lnTo>
                <a:lnTo>
                  <a:pt x="353" y="278"/>
                </a:lnTo>
                <a:lnTo>
                  <a:pt x="357" y="270"/>
                </a:lnTo>
                <a:lnTo>
                  <a:pt x="362" y="261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8"/>
                </a:lnTo>
                <a:lnTo>
                  <a:pt x="377" y="189"/>
                </a:lnTo>
                <a:lnTo>
                  <a:pt x="375" y="178"/>
                </a:lnTo>
                <a:lnTo>
                  <a:pt x="375" y="169"/>
                </a:lnTo>
                <a:lnTo>
                  <a:pt x="374" y="159"/>
                </a:lnTo>
                <a:lnTo>
                  <a:pt x="372" y="150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5"/>
                </a:lnTo>
                <a:lnTo>
                  <a:pt x="308" y="43"/>
                </a:lnTo>
                <a:lnTo>
                  <a:pt x="293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56" name="Freeform 143"/>
          <p:cNvSpPr>
            <a:spLocks/>
          </p:cNvSpPr>
          <p:nvPr/>
        </p:nvSpPr>
        <p:spPr bwMode="auto">
          <a:xfrm>
            <a:off x="914400" y="4284663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3"/>
                </a:lnTo>
                <a:lnTo>
                  <a:pt x="149" y="5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20"/>
                </a:lnTo>
                <a:lnTo>
                  <a:pt x="98" y="23"/>
                </a:lnTo>
                <a:lnTo>
                  <a:pt x="83" y="33"/>
                </a:lnTo>
                <a:lnTo>
                  <a:pt x="68" y="44"/>
                </a:lnTo>
                <a:lnTo>
                  <a:pt x="54" y="56"/>
                </a:lnTo>
                <a:lnTo>
                  <a:pt x="42" y="70"/>
                </a:lnTo>
                <a:lnTo>
                  <a:pt x="32" y="83"/>
                </a:lnTo>
                <a:lnTo>
                  <a:pt x="23" y="100"/>
                </a:lnTo>
                <a:lnTo>
                  <a:pt x="18" y="107"/>
                </a:lnTo>
                <a:lnTo>
                  <a:pt x="14" y="116"/>
                </a:lnTo>
                <a:lnTo>
                  <a:pt x="11" y="124"/>
                </a:lnTo>
                <a:lnTo>
                  <a:pt x="8" y="133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4"/>
                </a:lnTo>
                <a:lnTo>
                  <a:pt x="14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3"/>
                </a:lnTo>
                <a:lnTo>
                  <a:pt x="68" y="335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7"/>
                </a:lnTo>
                <a:lnTo>
                  <a:pt x="131" y="370"/>
                </a:lnTo>
                <a:lnTo>
                  <a:pt x="140" y="371"/>
                </a:lnTo>
                <a:lnTo>
                  <a:pt x="149" y="374"/>
                </a:lnTo>
                <a:lnTo>
                  <a:pt x="158" y="376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6"/>
                </a:lnTo>
                <a:lnTo>
                  <a:pt x="226" y="374"/>
                </a:lnTo>
                <a:lnTo>
                  <a:pt x="235" y="371"/>
                </a:lnTo>
                <a:lnTo>
                  <a:pt x="244" y="370"/>
                </a:lnTo>
                <a:lnTo>
                  <a:pt x="253" y="367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3" y="345"/>
                </a:lnTo>
                <a:lnTo>
                  <a:pt x="308" y="335"/>
                </a:lnTo>
                <a:lnTo>
                  <a:pt x="321" y="323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9"/>
                </a:lnTo>
                <a:lnTo>
                  <a:pt x="377" y="189"/>
                </a:lnTo>
                <a:lnTo>
                  <a:pt x="375" y="180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6"/>
                </a:lnTo>
                <a:lnTo>
                  <a:pt x="357" y="107"/>
                </a:lnTo>
                <a:lnTo>
                  <a:pt x="353" y="100"/>
                </a:lnTo>
                <a:lnTo>
                  <a:pt x="344" y="83"/>
                </a:lnTo>
                <a:lnTo>
                  <a:pt x="333" y="70"/>
                </a:lnTo>
                <a:lnTo>
                  <a:pt x="321" y="56"/>
                </a:lnTo>
                <a:lnTo>
                  <a:pt x="308" y="44"/>
                </a:lnTo>
                <a:lnTo>
                  <a:pt x="293" y="33"/>
                </a:lnTo>
                <a:lnTo>
                  <a:pt x="277" y="23"/>
                </a:lnTo>
                <a:lnTo>
                  <a:pt x="270" y="20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5"/>
                </a:lnTo>
                <a:lnTo>
                  <a:pt x="217" y="3"/>
                </a:lnTo>
                <a:lnTo>
                  <a:pt x="207" y="2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57" name="Rectangle 144"/>
          <p:cNvSpPr>
            <a:spLocks noChangeArrowheads="1"/>
          </p:cNvSpPr>
          <p:nvPr/>
        </p:nvSpPr>
        <p:spPr bwMode="auto">
          <a:xfrm>
            <a:off x="1004888" y="4305300"/>
            <a:ext cx="130175" cy="298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1358" name="Freeform 145"/>
          <p:cNvSpPr>
            <a:spLocks/>
          </p:cNvSpPr>
          <p:nvPr/>
        </p:nvSpPr>
        <p:spPr bwMode="auto">
          <a:xfrm>
            <a:off x="1273175" y="3686175"/>
            <a:ext cx="300038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59" y="3"/>
                </a:lnTo>
                <a:lnTo>
                  <a:pt x="150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9"/>
                </a:lnTo>
                <a:lnTo>
                  <a:pt x="98" y="22"/>
                </a:lnTo>
                <a:lnTo>
                  <a:pt x="83" y="33"/>
                </a:lnTo>
                <a:lnTo>
                  <a:pt x="68" y="43"/>
                </a:lnTo>
                <a:lnTo>
                  <a:pt x="55" y="55"/>
                </a:lnTo>
                <a:lnTo>
                  <a:pt x="43" y="69"/>
                </a:lnTo>
                <a:lnTo>
                  <a:pt x="32" y="83"/>
                </a:lnTo>
                <a:lnTo>
                  <a:pt x="23" y="99"/>
                </a:lnTo>
                <a:lnTo>
                  <a:pt x="18" y="107"/>
                </a:lnTo>
                <a:lnTo>
                  <a:pt x="14" y="116"/>
                </a:lnTo>
                <a:lnTo>
                  <a:pt x="11" y="123"/>
                </a:lnTo>
                <a:lnTo>
                  <a:pt x="8" y="132"/>
                </a:lnTo>
                <a:lnTo>
                  <a:pt x="5" y="141"/>
                </a:lnTo>
                <a:lnTo>
                  <a:pt x="3" y="150"/>
                </a:lnTo>
                <a:lnTo>
                  <a:pt x="2" y="159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69"/>
                </a:lnTo>
                <a:lnTo>
                  <a:pt x="23" y="279"/>
                </a:lnTo>
                <a:lnTo>
                  <a:pt x="32" y="294"/>
                </a:lnTo>
                <a:lnTo>
                  <a:pt x="43" y="309"/>
                </a:lnTo>
                <a:lnTo>
                  <a:pt x="55" y="322"/>
                </a:lnTo>
                <a:lnTo>
                  <a:pt x="68" y="334"/>
                </a:lnTo>
                <a:lnTo>
                  <a:pt x="83" y="345"/>
                </a:lnTo>
                <a:lnTo>
                  <a:pt x="98" y="354"/>
                </a:lnTo>
                <a:lnTo>
                  <a:pt x="106" y="358"/>
                </a:lnTo>
                <a:lnTo>
                  <a:pt x="115" y="361"/>
                </a:lnTo>
                <a:lnTo>
                  <a:pt x="124" y="366"/>
                </a:lnTo>
                <a:lnTo>
                  <a:pt x="131" y="369"/>
                </a:lnTo>
                <a:lnTo>
                  <a:pt x="140" y="370"/>
                </a:lnTo>
                <a:lnTo>
                  <a:pt x="150" y="373"/>
                </a:lnTo>
                <a:lnTo>
                  <a:pt x="159" y="375"/>
                </a:lnTo>
                <a:lnTo>
                  <a:pt x="169" y="377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4" y="366"/>
                </a:lnTo>
                <a:lnTo>
                  <a:pt x="261" y="361"/>
                </a:lnTo>
                <a:lnTo>
                  <a:pt x="270" y="358"/>
                </a:lnTo>
                <a:lnTo>
                  <a:pt x="278" y="354"/>
                </a:lnTo>
                <a:lnTo>
                  <a:pt x="293" y="345"/>
                </a:lnTo>
                <a:lnTo>
                  <a:pt x="308" y="334"/>
                </a:lnTo>
                <a:lnTo>
                  <a:pt x="321" y="322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8" y="269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8"/>
                </a:lnTo>
                <a:lnTo>
                  <a:pt x="376" y="199"/>
                </a:lnTo>
                <a:lnTo>
                  <a:pt x="377" y="188"/>
                </a:lnTo>
                <a:lnTo>
                  <a:pt x="376" y="179"/>
                </a:lnTo>
                <a:lnTo>
                  <a:pt x="376" y="169"/>
                </a:lnTo>
                <a:lnTo>
                  <a:pt x="374" y="159"/>
                </a:lnTo>
                <a:lnTo>
                  <a:pt x="373" y="150"/>
                </a:lnTo>
                <a:lnTo>
                  <a:pt x="371" y="141"/>
                </a:lnTo>
                <a:lnTo>
                  <a:pt x="368" y="132"/>
                </a:lnTo>
                <a:lnTo>
                  <a:pt x="365" y="123"/>
                </a:lnTo>
                <a:lnTo>
                  <a:pt x="362" y="116"/>
                </a:lnTo>
                <a:lnTo>
                  <a:pt x="358" y="107"/>
                </a:lnTo>
                <a:lnTo>
                  <a:pt x="353" y="99"/>
                </a:lnTo>
                <a:lnTo>
                  <a:pt x="344" y="83"/>
                </a:lnTo>
                <a:lnTo>
                  <a:pt x="333" y="69"/>
                </a:lnTo>
                <a:lnTo>
                  <a:pt x="321" y="55"/>
                </a:lnTo>
                <a:lnTo>
                  <a:pt x="308" y="43"/>
                </a:lnTo>
                <a:lnTo>
                  <a:pt x="293" y="33"/>
                </a:lnTo>
                <a:lnTo>
                  <a:pt x="278" y="22"/>
                </a:lnTo>
                <a:lnTo>
                  <a:pt x="270" y="19"/>
                </a:lnTo>
                <a:lnTo>
                  <a:pt x="261" y="15"/>
                </a:lnTo>
                <a:lnTo>
                  <a:pt x="254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7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59" name="Rectangle 146"/>
          <p:cNvSpPr>
            <a:spLocks noChangeArrowheads="1"/>
          </p:cNvSpPr>
          <p:nvPr/>
        </p:nvSpPr>
        <p:spPr bwMode="auto">
          <a:xfrm>
            <a:off x="13636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1360" name="Freeform 148"/>
          <p:cNvSpPr>
            <a:spLocks noEditPoints="1"/>
          </p:cNvSpPr>
          <p:nvPr/>
        </p:nvSpPr>
        <p:spPr bwMode="auto">
          <a:xfrm>
            <a:off x="1063625" y="3951288"/>
            <a:ext cx="257175" cy="319087"/>
          </a:xfrm>
          <a:custGeom>
            <a:avLst/>
            <a:gdLst>
              <a:gd name="T0" fmla="*/ 2147483647 w 324"/>
              <a:gd name="T1" fmla="*/ 2147483647 h 401"/>
              <a:gd name="T2" fmla="*/ 2147483647 w 324"/>
              <a:gd name="T3" fmla="*/ 2147483647 h 401"/>
              <a:gd name="T4" fmla="*/ 2147483647 w 324"/>
              <a:gd name="T5" fmla="*/ 2147483647 h 401"/>
              <a:gd name="T6" fmla="*/ 2147483647 w 324"/>
              <a:gd name="T7" fmla="*/ 2147483647 h 401"/>
              <a:gd name="T8" fmla="*/ 2147483647 w 324"/>
              <a:gd name="T9" fmla="*/ 2147483647 h 401"/>
              <a:gd name="T10" fmla="*/ 2147483647 w 324"/>
              <a:gd name="T11" fmla="*/ 2147483647 h 401"/>
              <a:gd name="T12" fmla="*/ 2147483647 w 324"/>
              <a:gd name="T13" fmla="*/ 2147483647 h 401"/>
              <a:gd name="T14" fmla="*/ 2147483647 w 324"/>
              <a:gd name="T15" fmla="*/ 2147483647 h 401"/>
              <a:gd name="T16" fmla="*/ 2147483647 w 324"/>
              <a:gd name="T17" fmla="*/ 2147483647 h 401"/>
              <a:gd name="T18" fmla="*/ 2147483647 w 324"/>
              <a:gd name="T19" fmla="*/ 2147483647 h 401"/>
              <a:gd name="T20" fmla="*/ 2147483647 w 324"/>
              <a:gd name="T21" fmla="*/ 2147483647 h 401"/>
              <a:gd name="T22" fmla="*/ 2147483647 w 324"/>
              <a:gd name="T23" fmla="*/ 2147483647 h 401"/>
              <a:gd name="T24" fmla="*/ 2147483647 w 324"/>
              <a:gd name="T25" fmla="*/ 0 h 401"/>
              <a:gd name="T26" fmla="*/ 2147483647 w 324"/>
              <a:gd name="T27" fmla="*/ 0 h 401"/>
              <a:gd name="T28" fmla="*/ 2147483647 w 324"/>
              <a:gd name="T29" fmla="*/ 2147483647 h 401"/>
              <a:gd name="T30" fmla="*/ 2147483647 w 324"/>
              <a:gd name="T31" fmla="*/ 2147483647 h 401"/>
              <a:gd name="T32" fmla="*/ 2147483647 w 324"/>
              <a:gd name="T33" fmla="*/ 2147483647 h 401"/>
              <a:gd name="T34" fmla="*/ 2147483647 w 324"/>
              <a:gd name="T35" fmla="*/ 2147483647 h 401"/>
              <a:gd name="T36" fmla="*/ 2147483647 w 324"/>
              <a:gd name="T37" fmla="*/ 2147483647 h 401"/>
              <a:gd name="T38" fmla="*/ 2147483647 w 324"/>
              <a:gd name="T39" fmla="*/ 2147483647 h 401"/>
              <a:gd name="T40" fmla="*/ 2147483647 w 324"/>
              <a:gd name="T41" fmla="*/ 2147483647 h 401"/>
              <a:gd name="T42" fmla="*/ 0 w 324"/>
              <a:gd name="T43" fmla="*/ 2147483647 h 401"/>
              <a:gd name="T44" fmla="*/ 2147483647 w 324"/>
              <a:gd name="T45" fmla="*/ 2147483647 h 401"/>
              <a:gd name="T46" fmla="*/ 2147483647 w 324"/>
              <a:gd name="T47" fmla="*/ 2147483647 h 40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401"/>
              <a:gd name="T74" fmla="*/ 324 w 324"/>
              <a:gd name="T75" fmla="*/ 401 h 401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401">
                <a:moveTo>
                  <a:pt x="322" y="11"/>
                </a:moveTo>
                <a:lnTo>
                  <a:pt x="43" y="356"/>
                </a:lnTo>
                <a:lnTo>
                  <a:pt x="42" y="358"/>
                </a:lnTo>
                <a:lnTo>
                  <a:pt x="39" y="359"/>
                </a:lnTo>
                <a:lnTo>
                  <a:pt x="37" y="358"/>
                </a:lnTo>
                <a:lnTo>
                  <a:pt x="34" y="358"/>
                </a:lnTo>
                <a:lnTo>
                  <a:pt x="33" y="354"/>
                </a:lnTo>
                <a:lnTo>
                  <a:pt x="33" y="353"/>
                </a:lnTo>
                <a:lnTo>
                  <a:pt x="33" y="350"/>
                </a:lnTo>
                <a:lnTo>
                  <a:pt x="34" y="348"/>
                </a:lnTo>
                <a:lnTo>
                  <a:pt x="313" y="3"/>
                </a:lnTo>
                <a:lnTo>
                  <a:pt x="315" y="2"/>
                </a:lnTo>
                <a:lnTo>
                  <a:pt x="318" y="0"/>
                </a:lnTo>
                <a:lnTo>
                  <a:pt x="319" y="0"/>
                </a:lnTo>
                <a:lnTo>
                  <a:pt x="322" y="2"/>
                </a:lnTo>
                <a:lnTo>
                  <a:pt x="324" y="3"/>
                </a:lnTo>
                <a:lnTo>
                  <a:pt x="324" y="6"/>
                </a:lnTo>
                <a:lnTo>
                  <a:pt x="324" y="8"/>
                </a:lnTo>
                <a:lnTo>
                  <a:pt x="322" y="11"/>
                </a:lnTo>
                <a:close/>
                <a:moveTo>
                  <a:pt x="76" y="367"/>
                </a:moveTo>
                <a:lnTo>
                  <a:pt x="0" y="401"/>
                </a:lnTo>
                <a:lnTo>
                  <a:pt x="18" y="318"/>
                </a:lnTo>
                <a:lnTo>
                  <a:pt x="76" y="367"/>
                </a:lnTo>
                <a:close/>
              </a:path>
            </a:pathLst>
          </a:custGeom>
          <a:solidFill>
            <a:srgbClr val="FF0000"/>
          </a:solidFill>
          <a:ln w="1588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61" name="Freeform 149"/>
          <p:cNvSpPr>
            <a:spLocks/>
          </p:cNvSpPr>
          <p:nvPr/>
        </p:nvSpPr>
        <p:spPr bwMode="auto">
          <a:xfrm>
            <a:off x="1830388" y="3686175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9" y="0"/>
                </a:lnTo>
                <a:lnTo>
                  <a:pt x="169" y="1"/>
                </a:lnTo>
                <a:lnTo>
                  <a:pt x="160" y="3"/>
                </a:lnTo>
                <a:lnTo>
                  <a:pt x="150" y="4"/>
                </a:lnTo>
                <a:lnTo>
                  <a:pt x="141" y="6"/>
                </a:lnTo>
                <a:lnTo>
                  <a:pt x="132" y="9"/>
                </a:lnTo>
                <a:lnTo>
                  <a:pt x="123" y="12"/>
                </a:lnTo>
                <a:lnTo>
                  <a:pt x="116" y="15"/>
                </a:lnTo>
                <a:lnTo>
                  <a:pt x="107" y="19"/>
                </a:lnTo>
                <a:lnTo>
                  <a:pt x="99" y="22"/>
                </a:lnTo>
                <a:lnTo>
                  <a:pt x="83" y="33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3"/>
                </a:lnTo>
                <a:lnTo>
                  <a:pt x="22" y="99"/>
                </a:lnTo>
                <a:lnTo>
                  <a:pt x="19" y="107"/>
                </a:lnTo>
                <a:lnTo>
                  <a:pt x="15" y="116"/>
                </a:lnTo>
                <a:lnTo>
                  <a:pt x="12" y="123"/>
                </a:lnTo>
                <a:lnTo>
                  <a:pt x="9" y="132"/>
                </a:lnTo>
                <a:lnTo>
                  <a:pt x="6" y="141"/>
                </a:lnTo>
                <a:lnTo>
                  <a:pt x="4" y="150"/>
                </a:lnTo>
                <a:lnTo>
                  <a:pt x="3" y="159"/>
                </a:lnTo>
                <a:lnTo>
                  <a:pt x="1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9"/>
                </a:lnTo>
                <a:lnTo>
                  <a:pt x="1" y="208"/>
                </a:lnTo>
                <a:lnTo>
                  <a:pt x="3" y="217"/>
                </a:lnTo>
                <a:lnTo>
                  <a:pt x="4" y="226"/>
                </a:lnTo>
                <a:lnTo>
                  <a:pt x="6" y="235"/>
                </a:lnTo>
                <a:lnTo>
                  <a:pt x="9" y="244"/>
                </a:lnTo>
                <a:lnTo>
                  <a:pt x="12" y="253"/>
                </a:lnTo>
                <a:lnTo>
                  <a:pt x="15" y="262"/>
                </a:lnTo>
                <a:lnTo>
                  <a:pt x="19" y="269"/>
                </a:lnTo>
                <a:lnTo>
                  <a:pt x="22" y="279"/>
                </a:lnTo>
                <a:lnTo>
                  <a:pt x="33" y="294"/>
                </a:lnTo>
                <a:lnTo>
                  <a:pt x="43" y="309"/>
                </a:lnTo>
                <a:lnTo>
                  <a:pt x="56" y="322"/>
                </a:lnTo>
                <a:lnTo>
                  <a:pt x="69" y="334"/>
                </a:lnTo>
                <a:lnTo>
                  <a:pt x="83" y="345"/>
                </a:lnTo>
                <a:lnTo>
                  <a:pt x="99" y="354"/>
                </a:lnTo>
                <a:lnTo>
                  <a:pt x="107" y="358"/>
                </a:lnTo>
                <a:lnTo>
                  <a:pt x="116" y="361"/>
                </a:lnTo>
                <a:lnTo>
                  <a:pt x="123" y="366"/>
                </a:lnTo>
                <a:lnTo>
                  <a:pt x="132" y="369"/>
                </a:lnTo>
                <a:lnTo>
                  <a:pt x="141" y="370"/>
                </a:lnTo>
                <a:lnTo>
                  <a:pt x="150" y="373"/>
                </a:lnTo>
                <a:lnTo>
                  <a:pt x="160" y="375"/>
                </a:lnTo>
                <a:lnTo>
                  <a:pt x="169" y="377"/>
                </a:lnTo>
                <a:lnTo>
                  <a:pt x="179" y="377"/>
                </a:lnTo>
                <a:lnTo>
                  <a:pt x="188" y="377"/>
                </a:lnTo>
                <a:lnTo>
                  <a:pt x="199" y="377"/>
                </a:lnTo>
                <a:lnTo>
                  <a:pt x="208" y="377"/>
                </a:lnTo>
                <a:lnTo>
                  <a:pt x="217" y="375"/>
                </a:lnTo>
                <a:lnTo>
                  <a:pt x="226" y="373"/>
                </a:lnTo>
                <a:lnTo>
                  <a:pt x="235" y="370"/>
                </a:lnTo>
                <a:lnTo>
                  <a:pt x="244" y="369"/>
                </a:lnTo>
                <a:lnTo>
                  <a:pt x="253" y="366"/>
                </a:lnTo>
                <a:lnTo>
                  <a:pt x="262" y="361"/>
                </a:lnTo>
                <a:lnTo>
                  <a:pt x="270" y="358"/>
                </a:lnTo>
                <a:lnTo>
                  <a:pt x="279" y="354"/>
                </a:lnTo>
                <a:lnTo>
                  <a:pt x="294" y="345"/>
                </a:lnTo>
                <a:lnTo>
                  <a:pt x="309" y="334"/>
                </a:lnTo>
                <a:lnTo>
                  <a:pt x="322" y="322"/>
                </a:lnTo>
                <a:lnTo>
                  <a:pt x="334" y="309"/>
                </a:lnTo>
                <a:lnTo>
                  <a:pt x="345" y="294"/>
                </a:lnTo>
                <a:lnTo>
                  <a:pt x="354" y="279"/>
                </a:lnTo>
                <a:lnTo>
                  <a:pt x="358" y="269"/>
                </a:lnTo>
                <a:lnTo>
                  <a:pt x="362" y="262"/>
                </a:lnTo>
                <a:lnTo>
                  <a:pt x="366" y="253"/>
                </a:lnTo>
                <a:lnTo>
                  <a:pt x="369" y="244"/>
                </a:lnTo>
                <a:lnTo>
                  <a:pt x="371" y="235"/>
                </a:lnTo>
                <a:lnTo>
                  <a:pt x="374" y="226"/>
                </a:lnTo>
                <a:lnTo>
                  <a:pt x="375" y="217"/>
                </a:lnTo>
                <a:lnTo>
                  <a:pt x="377" y="208"/>
                </a:lnTo>
                <a:lnTo>
                  <a:pt x="377" y="199"/>
                </a:lnTo>
                <a:lnTo>
                  <a:pt x="377" y="188"/>
                </a:lnTo>
                <a:lnTo>
                  <a:pt x="377" y="179"/>
                </a:lnTo>
                <a:lnTo>
                  <a:pt x="377" y="169"/>
                </a:lnTo>
                <a:lnTo>
                  <a:pt x="375" y="159"/>
                </a:lnTo>
                <a:lnTo>
                  <a:pt x="374" y="150"/>
                </a:lnTo>
                <a:lnTo>
                  <a:pt x="371" y="141"/>
                </a:lnTo>
                <a:lnTo>
                  <a:pt x="369" y="132"/>
                </a:lnTo>
                <a:lnTo>
                  <a:pt x="366" y="123"/>
                </a:lnTo>
                <a:lnTo>
                  <a:pt x="362" y="116"/>
                </a:lnTo>
                <a:lnTo>
                  <a:pt x="358" y="107"/>
                </a:lnTo>
                <a:lnTo>
                  <a:pt x="354" y="99"/>
                </a:lnTo>
                <a:lnTo>
                  <a:pt x="345" y="83"/>
                </a:lnTo>
                <a:lnTo>
                  <a:pt x="334" y="69"/>
                </a:lnTo>
                <a:lnTo>
                  <a:pt x="322" y="55"/>
                </a:lnTo>
                <a:lnTo>
                  <a:pt x="309" y="43"/>
                </a:lnTo>
                <a:lnTo>
                  <a:pt x="294" y="33"/>
                </a:lnTo>
                <a:lnTo>
                  <a:pt x="279" y="22"/>
                </a:lnTo>
                <a:lnTo>
                  <a:pt x="270" y="19"/>
                </a:lnTo>
                <a:lnTo>
                  <a:pt x="262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3"/>
                </a:lnTo>
                <a:lnTo>
                  <a:pt x="208" y="1"/>
                </a:lnTo>
                <a:lnTo>
                  <a:pt x="199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2" name="Rectangle 150"/>
          <p:cNvSpPr>
            <a:spLocks noChangeArrowheads="1"/>
          </p:cNvSpPr>
          <p:nvPr/>
        </p:nvSpPr>
        <p:spPr bwMode="auto">
          <a:xfrm>
            <a:off x="1922463" y="3706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1363" name="Freeform 151"/>
          <p:cNvSpPr>
            <a:spLocks noEditPoints="1"/>
          </p:cNvSpPr>
          <p:nvPr/>
        </p:nvSpPr>
        <p:spPr bwMode="auto">
          <a:xfrm>
            <a:off x="1882775" y="3254375"/>
            <a:ext cx="114300" cy="417513"/>
          </a:xfrm>
          <a:custGeom>
            <a:avLst/>
            <a:gdLst>
              <a:gd name="T0" fmla="*/ 2147483647 w 144"/>
              <a:gd name="T1" fmla="*/ 2147483647 h 526"/>
              <a:gd name="T2" fmla="*/ 2147483647 w 144"/>
              <a:gd name="T3" fmla="*/ 2147483647 h 526"/>
              <a:gd name="T4" fmla="*/ 2147483647 w 144"/>
              <a:gd name="T5" fmla="*/ 2147483647 h 526"/>
              <a:gd name="T6" fmla="*/ 2147483647 w 144"/>
              <a:gd name="T7" fmla="*/ 2147483647 h 526"/>
              <a:gd name="T8" fmla="*/ 2147483647 w 144"/>
              <a:gd name="T9" fmla="*/ 2147483647 h 526"/>
              <a:gd name="T10" fmla="*/ 2147483647 w 144"/>
              <a:gd name="T11" fmla="*/ 2147483647 h 526"/>
              <a:gd name="T12" fmla="*/ 2147483647 w 144"/>
              <a:gd name="T13" fmla="*/ 2147483647 h 526"/>
              <a:gd name="T14" fmla="*/ 2147483647 w 144"/>
              <a:gd name="T15" fmla="*/ 2147483647 h 526"/>
              <a:gd name="T16" fmla="*/ 2147483647 w 144"/>
              <a:gd name="T17" fmla="*/ 2147483647 h 526"/>
              <a:gd name="T18" fmla="*/ 2147483647 w 144"/>
              <a:gd name="T19" fmla="*/ 2147483647 h 526"/>
              <a:gd name="T20" fmla="*/ 0 w 144"/>
              <a:gd name="T21" fmla="*/ 2147483647 h 526"/>
              <a:gd name="T22" fmla="*/ 0 w 144"/>
              <a:gd name="T23" fmla="*/ 2147483647 h 526"/>
              <a:gd name="T24" fmla="*/ 2147483647 w 144"/>
              <a:gd name="T25" fmla="*/ 2147483647 h 526"/>
              <a:gd name="T26" fmla="*/ 2147483647 w 144"/>
              <a:gd name="T27" fmla="*/ 2147483647 h 526"/>
              <a:gd name="T28" fmla="*/ 2147483647 w 144"/>
              <a:gd name="T29" fmla="*/ 0 h 526"/>
              <a:gd name="T30" fmla="*/ 2147483647 w 144"/>
              <a:gd name="T31" fmla="*/ 0 h 526"/>
              <a:gd name="T32" fmla="*/ 2147483647 w 144"/>
              <a:gd name="T33" fmla="*/ 0 h 526"/>
              <a:gd name="T34" fmla="*/ 2147483647 w 144"/>
              <a:gd name="T35" fmla="*/ 2147483647 h 526"/>
              <a:gd name="T36" fmla="*/ 2147483647 w 144"/>
              <a:gd name="T37" fmla="*/ 2147483647 h 526"/>
              <a:gd name="T38" fmla="*/ 2147483647 w 144"/>
              <a:gd name="T39" fmla="*/ 2147483647 h 526"/>
              <a:gd name="T40" fmla="*/ 2147483647 w 144"/>
              <a:gd name="T41" fmla="*/ 2147483647 h 526"/>
              <a:gd name="T42" fmla="*/ 2147483647 w 144"/>
              <a:gd name="T43" fmla="*/ 2147483647 h 526"/>
              <a:gd name="T44" fmla="*/ 2147483647 w 144"/>
              <a:gd name="T45" fmla="*/ 2147483647 h 526"/>
              <a:gd name="T46" fmla="*/ 2147483647 w 14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44"/>
              <a:gd name="T73" fmla="*/ 0 h 526"/>
              <a:gd name="T74" fmla="*/ 144 w 14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44" h="526">
                <a:moveTo>
                  <a:pt x="12" y="4"/>
                </a:moveTo>
                <a:lnTo>
                  <a:pt x="116" y="462"/>
                </a:lnTo>
                <a:lnTo>
                  <a:pt x="116" y="465"/>
                </a:lnTo>
                <a:lnTo>
                  <a:pt x="116" y="467"/>
                </a:lnTo>
                <a:lnTo>
                  <a:pt x="113" y="468"/>
                </a:lnTo>
                <a:lnTo>
                  <a:pt x="111" y="470"/>
                </a:lnTo>
                <a:lnTo>
                  <a:pt x="108" y="470"/>
                </a:lnTo>
                <a:lnTo>
                  <a:pt x="107" y="470"/>
                </a:lnTo>
                <a:lnTo>
                  <a:pt x="105" y="468"/>
                </a:lnTo>
                <a:lnTo>
                  <a:pt x="104" y="465"/>
                </a:lnTo>
                <a:lnTo>
                  <a:pt x="0" y="7"/>
                </a:lnTo>
                <a:lnTo>
                  <a:pt x="0" y="4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7" y="0"/>
                </a:lnTo>
                <a:lnTo>
                  <a:pt x="9" y="0"/>
                </a:lnTo>
                <a:lnTo>
                  <a:pt x="10" y="3"/>
                </a:lnTo>
                <a:lnTo>
                  <a:pt x="12" y="4"/>
                </a:lnTo>
                <a:close/>
                <a:moveTo>
                  <a:pt x="144" y="443"/>
                </a:moveTo>
                <a:lnTo>
                  <a:pt x="123" y="526"/>
                </a:lnTo>
                <a:lnTo>
                  <a:pt x="70" y="461"/>
                </a:lnTo>
                <a:lnTo>
                  <a:pt x="144" y="4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64" name="Freeform 152"/>
          <p:cNvSpPr>
            <a:spLocks/>
          </p:cNvSpPr>
          <p:nvPr/>
        </p:nvSpPr>
        <p:spPr bwMode="auto">
          <a:xfrm>
            <a:off x="3313113" y="2987675"/>
            <a:ext cx="300037" cy="298450"/>
          </a:xfrm>
          <a:custGeom>
            <a:avLst/>
            <a:gdLst>
              <a:gd name="T0" fmla="*/ 2147483647 w 377"/>
              <a:gd name="T1" fmla="*/ 0 h 376"/>
              <a:gd name="T2" fmla="*/ 2147483647 w 377"/>
              <a:gd name="T3" fmla="*/ 2147483647 h 376"/>
              <a:gd name="T4" fmla="*/ 2147483647 w 377"/>
              <a:gd name="T5" fmla="*/ 2147483647 h 376"/>
              <a:gd name="T6" fmla="*/ 2147483647 w 377"/>
              <a:gd name="T7" fmla="*/ 2147483647 h 376"/>
              <a:gd name="T8" fmla="*/ 2147483647 w 377"/>
              <a:gd name="T9" fmla="*/ 2147483647 h 376"/>
              <a:gd name="T10" fmla="*/ 2147483647 w 377"/>
              <a:gd name="T11" fmla="*/ 2147483647 h 376"/>
              <a:gd name="T12" fmla="*/ 2147483647 w 377"/>
              <a:gd name="T13" fmla="*/ 2147483647 h 376"/>
              <a:gd name="T14" fmla="*/ 2147483647 w 377"/>
              <a:gd name="T15" fmla="*/ 2147483647 h 376"/>
              <a:gd name="T16" fmla="*/ 2147483647 w 377"/>
              <a:gd name="T17" fmla="*/ 2147483647 h 376"/>
              <a:gd name="T18" fmla="*/ 2147483647 w 377"/>
              <a:gd name="T19" fmla="*/ 2147483647 h 376"/>
              <a:gd name="T20" fmla="*/ 2147483647 w 377"/>
              <a:gd name="T21" fmla="*/ 2147483647 h 376"/>
              <a:gd name="T22" fmla="*/ 2147483647 w 377"/>
              <a:gd name="T23" fmla="*/ 2147483647 h 376"/>
              <a:gd name="T24" fmla="*/ 0 w 377"/>
              <a:gd name="T25" fmla="*/ 2147483647 h 376"/>
              <a:gd name="T26" fmla="*/ 0 w 377"/>
              <a:gd name="T27" fmla="*/ 2147483647 h 376"/>
              <a:gd name="T28" fmla="*/ 2147483647 w 377"/>
              <a:gd name="T29" fmla="*/ 2147483647 h 376"/>
              <a:gd name="T30" fmla="*/ 2147483647 w 377"/>
              <a:gd name="T31" fmla="*/ 2147483647 h 376"/>
              <a:gd name="T32" fmla="*/ 2147483647 w 377"/>
              <a:gd name="T33" fmla="*/ 2147483647 h 376"/>
              <a:gd name="T34" fmla="*/ 2147483647 w 377"/>
              <a:gd name="T35" fmla="*/ 2147483647 h 376"/>
              <a:gd name="T36" fmla="*/ 2147483647 w 377"/>
              <a:gd name="T37" fmla="*/ 2147483647 h 376"/>
              <a:gd name="T38" fmla="*/ 2147483647 w 377"/>
              <a:gd name="T39" fmla="*/ 2147483647 h 376"/>
              <a:gd name="T40" fmla="*/ 2147483647 w 377"/>
              <a:gd name="T41" fmla="*/ 2147483647 h 376"/>
              <a:gd name="T42" fmla="*/ 2147483647 w 377"/>
              <a:gd name="T43" fmla="*/ 2147483647 h 376"/>
              <a:gd name="T44" fmla="*/ 2147483647 w 377"/>
              <a:gd name="T45" fmla="*/ 2147483647 h 376"/>
              <a:gd name="T46" fmla="*/ 2147483647 w 377"/>
              <a:gd name="T47" fmla="*/ 2147483647 h 376"/>
              <a:gd name="T48" fmla="*/ 2147483647 w 377"/>
              <a:gd name="T49" fmla="*/ 2147483647 h 376"/>
              <a:gd name="T50" fmla="*/ 2147483647 w 377"/>
              <a:gd name="T51" fmla="*/ 2147483647 h 376"/>
              <a:gd name="T52" fmla="*/ 2147483647 w 377"/>
              <a:gd name="T53" fmla="*/ 2147483647 h 376"/>
              <a:gd name="T54" fmla="*/ 2147483647 w 377"/>
              <a:gd name="T55" fmla="*/ 2147483647 h 376"/>
              <a:gd name="T56" fmla="*/ 2147483647 w 377"/>
              <a:gd name="T57" fmla="*/ 2147483647 h 376"/>
              <a:gd name="T58" fmla="*/ 2147483647 w 377"/>
              <a:gd name="T59" fmla="*/ 2147483647 h 376"/>
              <a:gd name="T60" fmla="*/ 2147483647 w 377"/>
              <a:gd name="T61" fmla="*/ 2147483647 h 376"/>
              <a:gd name="T62" fmla="*/ 2147483647 w 377"/>
              <a:gd name="T63" fmla="*/ 2147483647 h 376"/>
              <a:gd name="T64" fmla="*/ 2147483647 w 377"/>
              <a:gd name="T65" fmla="*/ 2147483647 h 376"/>
              <a:gd name="T66" fmla="*/ 2147483647 w 377"/>
              <a:gd name="T67" fmla="*/ 2147483647 h 376"/>
              <a:gd name="T68" fmla="*/ 2147483647 w 377"/>
              <a:gd name="T69" fmla="*/ 2147483647 h 376"/>
              <a:gd name="T70" fmla="*/ 2147483647 w 377"/>
              <a:gd name="T71" fmla="*/ 2147483647 h 376"/>
              <a:gd name="T72" fmla="*/ 2147483647 w 377"/>
              <a:gd name="T73" fmla="*/ 2147483647 h 376"/>
              <a:gd name="T74" fmla="*/ 2147483647 w 377"/>
              <a:gd name="T75" fmla="*/ 2147483647 h 376"/>
              <a:gd name="T76" fmla="*/ 2147483647 w 377"/>
              <a:gd name="T77" fmla="*/ 2147483647 h 376"/>
              <a:gd name="T78" fmla="*/ 2147483647 w 377"/>
              <a:gd name="T79" fmla="*/ 2147483647 h 376"/>
              <a:gd name="T80" fmla="*/ 2147483647 w 377"/>
              <a:gd name="T81" fmla="*/ 2147483647 h 376"/>
              <a:gd name="T82" fmla="*/ 2147483647 w 377"/>
              <a:gd name="T83" fmla="*/ 2147483647 h 376"/>
              <a:gd name="T84" fmla="*/ 2147483647 w 377"/>
              <a:gd name="T85" fmla="*/ 2147483647 h 376"/>
              <a:gd name="T86" fmla="*/ 2147483647 w 377"/>
              <a:gd name="T87" fmla="*/ 2147483647 h 376"/>
              <a:gd name="T88" fmla="*/ 2147483647 w 377"/>
              <a:gd name="T89" fmla="*/ 2147483647 h 376"/>
              <a:gd name="T90" fmla="*/ 2147483647 w 377"/>
              <a:gd name="T91" fmla="*/ 2147483647 h 376"/>
              <a:gd name="T92" fmla="*/ 2147483647 w 377"/>
              <a:gd name="T93" fmla="*/ 2147483647 h 376"/>
              <a:gd name="T94" fmla="*/ 2147483647 w 377"/>
              <a:gd name="T95" fmla="*/ 2147483647 h 376"/>
              <a:gd name="T96" fmla="*/ 2147483647 w 377"/>
              <a:gd name="T97" fmla="*/ 2147483647 h 376"/>
              <a:gd name="T98" fmla="*/ 2147483647 w 377"/>
              <a:gd name="T99" fmla="*/ 2147483647 h 376"/>
              <a:gd name="T100" fmla="*/ 2147483647 w 377"/>
              <a:gd name="T101" fmla="*/ 2147483647 h 376"/>
              <a:gd name="T102" fmla="*/ 2147483647 w 377"/>
              <a:gd name="T103" fmla="*/ 0 h 37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6"/>
              <a:gd name="T158" fmla="*/ 377 w 377"/>
              <a:gd name="T159" fmla="*/ 376 h 37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6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60" y="1"/>
                </a:lnTo>
                <a:lnTo>
                  <a:pt x="151" y="3"/>
                </a:lnTo>
                <a:lnTo>
                  <a:pt x="142" y="6"/>
                </a:lnTo>
                <a:lnTo>
                  <a:pt x="133" y="9"/>
                </a:lnTo>
                <a:lnTo>
                  <a:pt x="124" y="10"/>
                </a:lnTo>
                <a:lnTo>
                  <a:pt x="115" y="15"/>
                </a:lnTo>
                <a:lnTo>
                  <a:pt x="107" y="18"/>
                </a:lnTo>
                <a:lnTo>
                  <a:pt x="98" y="22"/>
                </a:lnTo>
                <a:lnTo>
                  <a:pt x="83" y="31"/>
                </a:lnTo>
                <a:lnTo>
                  <a:pt x="68" y="42"/>
                </a:lnTo>
                <a:lnTo>
                  <a:pt x="55" y="54"/>
                </a:lnTo>
                <a:lnTo>
                  <a:pt x="43" y="67"/>
                </a:lnTo>
                <a:lnTo>
                  <a:pt x="32" y="82"/>
                </a:lnTo>
                <a:lnTo>
                  <a:pt x="23" y="97"/>
                </a:lnTo>
                <a:lnTo>
                  <a:pt x="18" y="107"/>
                </a:lnTo>
                <a:lnTo>
                  <a:pt x="15" y="114"/>
                </a:lnTo>
                <a:lnTo>
                  <a:pt x="11" y="123"/>
                </a:lnTo>
                <a:lnTo>
                  <a:pt x="8" y="132"/>
                </a:lnTo>
                <a:lnTo>
                  <a:pt x="6" y="141"/>
                </a:lnTo>
                <a:lnTo>
                  <a:pt x="3" y="150"/>
                </a:lnTo>
                <a:lnTo>
                  <a:pt x="2" y="159"/>
                </a:lnTo>
                <a:lnTo>
                  <a:pt x="0" y="168"/>
                </a:lnTo>
                <a:lnTo>
                  <a:pt x="0" y="177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6" y="235"/>
                </a:lnTo>
                <a:lnTo>
                  <a:pt x="8" y="244"/>
                </a:lnTo>
                <a:lnTo>
                  <a:pt x="11" y="253"/>
                </a:lnTo>
                <a:lnTo>
                  <a:pt x="15" y="262"/>
                </a:lnTo>
                <a:lnTo>
                  <a:pt x="18" y="269"/>
                </a:lnTo>
                <a:lnTo>
                  <a:pt x="23" y="277"/>
                </a:lnTo>
                <a:lnTo>
                  <a:pt x="32" y="293"/>
                </a:lnTo>
                <a:lnTo>
                  <a:pt x="43" y="307"/>
                </a:lnTo>
                <a:lnTo>
                  <a:pt x="55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7" y="358"/>
                </a:lnTo>
                <a:lnTo>
                  <a:pt x="115" y="361"/>
                </a:lnTo>
                <a:lnTo>
                  <a:pt x="124" y="364"/>
                </a:lnTo>
                <a:lnTo>
                  <a:pt x="133" y="367"/>
                </a:lnTo>
                <a:lnTo>
                  <a:pt x="142" y="370"/>
                </a:lnTo>
                <a:lnTo>
                  <a:pt x="151" y="372"/>
                </a:lnTo>
                <a:lnTo>
                  <a:pt x="160" y="373"/>
                </a:lnTo>
                <a:lnTo>
                  <a:pt x="169" y="375"/>
                </a:lnTo>
                <a:lnTo>
                  <a:pt x="178" y="376"/>
                </a:lnTo>
                <a:lnTo>
                  <a:pt x="189" y="376"/>
                </a:lnTo>
                <a:lnTo>
                  <a:pt x="198" y="376"/>
                </a:lnTo>
                <a:lnTo>
                  <a:pt x="208" y="375"/>
                </a:lnTo>
                <a:lnTo>
                  <a:pt x="217" y="373"/>
                </a:lnTo>
                <a:lnTo>
                  <a:pt x="226" y="372"/>
                </a:lnTo>
                <a:lnTo>
                  <a:pt x="236" y="370"/>
                </a:lnTo>
                <a:lnTo>
                  <a:pt x="245" y="367"/>
                </a:lnTo>
                <a:lnTo>
                  <a:pt x="254" y="364"/>
                </a:lnTo>
                <a:lnTo>
                  <a:pt x="261" y="361"/>
                </a:lnTo>
                <a:lnTo>
                  <a:pt x="270" y="358"/>
                </a:lnTo>
                <a:lnTo>
                  <a:pt x="278" y="354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4" y="307"/>
                </a:lnTo>
                <a:lnTo>
                  <a:pt x="344" y="293"/>
                </a:lnTo>
                <a:lnTo>
                  <a:pt x="355" y="277"/>
                </a:lnTo>
                <a:lnTo>
                  <a:pt x="358" y="269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7" y="197"/>
                </a:lnTo>
                <a:lnTo>
                  <a:pt x="377" y="188"/>
                </a:lnTo>
                <a:lnTo>
                  <a:pt x="377" y="177"/>
                </a:lnTo>
                <a:lnTo>
                  <a:pt x="376" y="168"/>
                </a:lnTo>
                <a:lnTo>
                  <a:pt x="374" y="159"/>
                </a:lnTo>
                <a:lnTo>
                  <a:pt x="373" y="150"/>
                </a:lnTo>
                <a:lnTo>
                  <a:pt x="371" y="141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8" y="107"/>
                </a:lnTo>
                <a:lnTo>
                  <a:pt x="355" y="97"/>
                </a:lnTo>
                <a:lnTo>
                  <a:pt x="344" y="82"/>
                </a:lnTo>
                <a:lnTo>
                  <a:pt x="334" y="67"/>
                </a:lnTo>
                <a:lnTo>
                  <a:pt x="321" y="54"/>
                </a:lnTo>
                <a:lnTo>
                  <a:pt x="308" y="42"/>
                </a:lnTo>
                <a:lnTo>
                  <a:pt x="294" y="31"/>
                </a:lnTo>
                <a:lnTo>
                  <a:pt x="278" y="22"/>
                </a:lnTo>
                <a:lnTo>
                  <a:pt x="270" y="18"/>
                </a:lnTo>
                <a:lnTo>
                  <a:pt x="261" y="15"/>
                </a:lnTo>
                <a:lnTo>
                  <a:pt x="254" y="10"/>
                </a:lnTo>
                <a:lnTo>
                  <a:pt x="245" y="9"/>
                </a:lnTo>
                <a:lnTo>
                  <a:pt x="236" y="6"/>
                </a:lnTo>
                <a:lnTo>
                  <a:pt x="226" y="3"/>
                </a:lnTo>
                <a:lnTo>
                  <a:pt x="217" y="1"/>
                </a:lnTo>
                <a:lnTo>
                  <a:pt x="208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5" name="Rectangle 153"/>
          <p:cNvSpPr>
            <a:spLocks noChangeArrowheads="1"/>
          </p:cNvSpPr>
          <p:nvPr/>
        </p:nvSpPr>
        <p:spPr bwMode="auto">
          <a:xfrm>
            <a:off x="3344863" y="30083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17</a:t>
            </a:r>
            <a:endParaRPr lang="en-GB" altLang="en-US"/>
          </a:p>
        </p:txBody>
      </p:sp>
      <p:sp>
        <p:nvSpPr>
          <p:cNvPr id="11366" name="Freeform 154"/>
          <p:cNvSpPr>
            <a:spLocks noEditPoints="1"/>
          </p:cNvSpPr>
          <p:nvPr/>
        </p:nvSpPr>
        <p:spPr bwMode="auto">
          <a:xfrm>
            <a:off x="3462338" y="2555875"/>
            <a:ext cx="311150" cy="415925"/>
          </a:xfrm>
          <a:custGeom>
            <a:avLst/>
            <a:gdLst>
              <a:gd name="T0" fmla="*/ 2147483647 w 392"/>
              <a:gd name="T1" fmla="*/ 2147483647 h 525"/>
              <a:gd name="T2" fmla="*/ 2147483647 w 392"/>
              <a:gd name="T3" fmla="*/ 2147483647 h 525"/>
              <a:gd name="T4" fmla="*/ 2147483647 w 392"/>
              <a:gd name="T5" fmla="*/ 2147483647 h 525"/>
              <a:gd name="T6" fmla="*/ 2147483647 w 392"/>
              <a:gd name="T7" fmla="*/ 2147483647 h 525"/>
              <a:gd name="T8" fmla="*/ 2147483647 w 392"/>
              <a:gd name="T9" fmla="*/ 2147483647 h 525"/>
              <a:gd name="T10" fmla="*/ 2147483647 w 392"/>
              <a:gd name="T11" fmla="*/ 2147483647 h 525"/>
              <a:gd name="T12" fmla="*/ 2147483647 w 392"/>
              <a:gd name="T13" fmla="*/ 2147483647 h 525"/>
              <a:gd name="T14" fmla="*/ 2147483647 w 392"/>
              <a:gd name="T15" fmla="*/ 2147483647 h 525"/>
              <a:gd name="T16" fmla="*/ 2147483647 w 392"/>
              <a:gd name="T17" fmla="*/ 2147483647 h 525"/>
              <a:gd name="T18" fmla="*/ 2147483647 w 392"/>
              <a:gd name="T19" fmla="*/ 2147483647 h 525"/>
              <a:gd name="T20" fmla="*/ 2147483647 w 392"/>
              <a:gd name="T21" fmla="*/ 2147483647 h 525"/>
              <a:gd name="T22" fmla="*/ 2147483647 w 392"/>
              <a:gd name="T23" fmla="*/ 2147483647 h 525"/>
              <a:gd name="T24" fmla="*/ 2147483647 w 392"/>
              <a:gd name="T25" fmla="*/ 0 h 525"/>
              <a:gd name="T26" fmla="*/ 2147483647 w 392"/>
              <a:gd name="T27" fmla="*/ 2147483647 h 525"/>
              <a:gd name="T28" fmla="*/ 2147483647 w 392"/>
              <a:gd name="T29" fmla="*/ 2147483647 h 525"/>
              <a:gd name="T30" fmla="*/ 2147483647 w 392"/>
              <a:gd name="T31" fmla="*/ 2147483647 h 525"/>
              <a:gd name="T32" fmla="*/ 2147483647 w 392"/>
              <a:gd name="T33" fmla="*/ 2147483647 h 525"/>
              <a:gd name="T34" fmla="*/ 2147483647 w 392"/>
              <a:gd name="T35" fmla="*/ 2147483647 h 525"/>
              <a:gd name="T36" fmla="*/ 2147483647 w 392"/>
              <a:gd name="T37" fmla="*/ 2147483647 h 525"/>
              <a:gd name="T38" fmla="*/ 2147483647 w 392"/>
              <a:gd name="T39" fmla="*/ 2147483647 h 525"/>
              <a:gd name="T40" fmla="*/ 2147483647 w 392"/>
              <a:gd name="T41" fmla="*/ 2147483647 h 525"/>
              <a:gd name="T42" fmla="*/ 0 w 392"/>
              <a:gd name="T43" fmla="*/ 2147483647 h 525"/>
              <a:gd name="T44" fmla="*/ 2147483647 w 392"/>
              <a:gd name="T45" fmla="*/ 2147483647 h 525"/>
              <a:gd name="T46" fmla="*/ 2147483647 w 392"/>
              <a:gd name="T47" fmla="*/ 2147483647 h 5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2"/>
              <a:gd name="T73" fmla="*/ 0 h 525"/>
              <a:gd name="T74" fmla="*/ 392 w 392"/>
              <a:gd name="T75" fmla="*/ 525 h 5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2" h="525">
                <a:moveTo>
                  <a:pt x="390" y="11"/>
                </a:moveTo>
                <a:lnTo>
                  <a:pt x="42" y="478"/>
                </a:lnTo>
                <a:lnTo>
                  <a:pt x="40" y="481"/>
                </a:lnTo>
                <a:lnTo>
                  <a:pt x="37" y="481"/>
                </a:lnTo>
                <a:lnTo>
                  <a:pt x="36" y="481"/>
                </a:lnTo>
                <a:lnTo>
                  <a:pt x="33" y="480"/>
                </a:lnTo>
                <a:lnTo>
                  <a:pt x="31" y="478"/>
                </a:lnTo>
                <a:lnTo>
                  <a:pt x="31" y="477"/>
                </a:lnTo>
                <a:lnTo>
                  <a:pt x="31" y="474"/>
                </a:lnTo>
                <a:lnTo>
                  <a:pt x="31" y="472"/>
                </a:lnTo>
                <a:lnTo>
                  <a:pt x="381" y="3"/>
                </a:lnTo>
                <a:lnTo>
                  <a:pt x="383" y="2"/>
                </a:lnTo>
                <a:lnTo>
                  <a:pt x="384" y="0"/>
                </a:lnTo>
                <a:lnTo>
                  <a:pt x="387" y="2"/>
                </a:lnTo>
                <a:lnTo>
                  <a:pt x="390" y="2"/>
                </a:lnTo>
                <a:lnTo>
                  <a:pt x="392" y="5"/>
                </a:lnTo>
                <a:lnTo>
                  <a:pt x="392" y="6"/>
                </a:lnTo>
                <a:lnTo>
                  <a:pt x="392" y="9"/>
                </a:lnTo>
                <a:lnTo>
                  <a:pt x="390" y="11"/>
                </a:lnTo>
                <a:close/>
                <a:moveTo>
                  <a:pt x="75" y="487"/>
                </a:moveTo>
                <a:lnTo>
                  <a:pt x="0" y="525"/>
                </a:lnTo>
                <a:lnTo>
                  <a:pt x="15" y="442"/>
                </a:lnTo>
                <a:lnTo>
                  <a:pt x="75" y="48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67" name="Freeform 155"/>
          <p:cNvSpPr>
            <a:spLocks/>
          </p:cNvSpPr>
          <p:nvPr/>
        </p:nvSpPr>
        <p:spPr bwMode="auto">
          <a:xfrm>
            <a:off x="4144963" y="5619750"/>
            <a:ext cx="298450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1"/>
                </a:lnTo>
                <a:lnTo>
                  <a:pt x="158" y="1"/>
                </a:lnTo>
                <a:lnTo>
                  <a:pt x="149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8"/>
                </a:lnTo>
                <a:lnTo>
                  <a:pt x="98" y="22"/>
                </a:lnTo>
                <a:lnTo>
                  <a:pt x="83" y="31"/>
                </a:lnTo>
                <a:lnTo>
                  <a:pt x="68" y="44"/>
                </a:lnTo>
                <a:lnTo>
                  <a:pt x="54" y="56"/>
                </a:lnTo>
                <a:lnTo>
                  <a:pt x="42" y="69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4"/>
                </a:lnTo>
                <a:lnTo>
                  <a:pt x="11" y="123"/>
                </a:lnTo>
                <a:lnTo>
                  <a:pt x="8" y="132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5"/>
                </a:lnTo>
                <a:lnTo>
                  <a:pt x="169" y="375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7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4"/>
                </a:lnTo>
                <a:lnTo>
                  <a:pt x="294" y="345"/>
                </a:lnTo>
                <a:lnTo>
                  <a:pt x="307" y="333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9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9"/>
                </a:lnTo>
                <a:lnTo>
                  <a:pt x="321" y="56"/>
                </a:lnTo>
                <a:lnTo>
                  <a:pt x="307" y="44"/>
                </a:lnTo>
                <a:lnTo>
                  <a:pt x="294" y="31"/>
                </a:lnTo>
                <a:lnTo>
                  <a:pt x="277" y="22"/>
                </a:lnTo>
                <a:lnTo>
                  <a:pt x="270" y="18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7" y="1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8" name="Rectangle 156"/>
          <p:cNvSpPr>
            <a:spLocks noChangeArrowheads="1"/>
          </p:cNvSpPr>
          <p:nvPr/>
        </p:nvSpPr>
        <p:spPr bwMode="auto">
          <a:xfrm>
            <a:off x="4176713" y="5641975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21</a:t>
            </a:r>
            <a:endParaRPr lang="en-GB" altLang="en-US"/>
          </a:p>
        </p:txBody>
      </p:sp>
      <p:sp>
        <p:nvSpPr>
          <p:cNvPr id="11369" name="Freeform 157"/>
          <p:cNvSpPr>
            <a:spLocks/>
          </p:cNvSpPr>
          <p:nvPr/>
        </p:nvSpPr>
        <p:spPr bwMode="auto">
          <a:xfrm>
            <a:off x="2709863" y="62388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4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4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70" name="Rectangle 158"/>
          <p:cNvSpPr>
            <a:spLocks noChangeArrowheads="1"/>
          </p:cNvSpPr>
          <p:nvPr/>
        </p:nvSpPr>
        <p:spPr bwMode="auto">
          <a:xfrm>
            <a:off x="2740025" y="62595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11371" name="Freeform 159"/>
          <p:cNvSpPr>
            <a:spLocks/>
          </p:cNvSpPr>
          <p:nvPr/>
        </p:nvSpPr>
        <p:spPr bwMode="auto">
          <a:xfrm>
            <a:off x="1931988" y="4922838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5" y="54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3"/>
                </a:lnTo>
                <a:lnTo>
                  <a:pt x="353" y="277"/>
                </a:lnTo>
                <a:lnTo>
                  <a:pt x="358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8"/>
                </a:lnTo>
                <a:lnTo>
                  <a:pt x="373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72" name="Rectangle 160"/>
          <p:cNvSpPr>
            <a:spLocks noChangeArrowheads="1"/>
          </p:cNvSpPr>
          <p:nvPr/>
        </p:nvSpPr>
        <p:spPr bwMode="auto">
          <a:xfrm>
            <a:off x="2022475" y="49434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1373" name="Freeform 161"/>
          <p:cNvSpPr>
            <a:spLocks/>
          </p:cNvSpPr>
          <p:nvPr/>
        </p:nvSpPr>
        <p:spPr bwMode="auto">
          <a:xfrm>
            <a:off x="3725863" y="4922838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9" y="2"/>
                </a:lnTo>
                <a:lnTo>
                  <a:pt x="150" y="3"/>
                </a:lnTo>
                <a:lnTo>
                  <a:pt x="141" y="5"/>
                </a:lnTo>
                <a:lnTo>
                  <a:pt x="132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5" y="54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9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9"/>
                </a:lnTo>
                <a:lnTo>
                  <a:pt x="0" y="198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9" y="270"/>
                </a:lnTo>
                <a:lnTo>
                  <a:pt x="23" y="277"/>
                </a:lnTo>
                <a:lnTo>
                  <a:pt x="32" y="293"/>
                </a:lnTo>
                <a:lnTo>
                  <a:pt x="43" y="308"/>
                </a:lnTo>
                <a:lnTo>
                  <a:pt x="55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7" y="372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7"/>
                </a:lnTo>
                <a:lnTo>
                  <a:pt x="278" y="353"/>
                </a:lnTo>
                <a:lnTo>
                  <a:pt x="293" y="344"/>
                </a:lnTo>
                <a:lnTo>
                  <a:pt x="308" y="333"/>
                </a:lnTo>
                <a:lnTo>
                  <a:pt x="321" y="321"/>
                </a:lnTo>
                <a:lnTo>
                  <a:pt x="334" y="308"/>
                </a:lnTo>
                <a:lnTo>
                  <a:pt x="344" y="293"/>
                </a:lnTo>
                <a:lnTo>
                  <a:pt x="353" y="277"/>
                </a:lnTo>
                <a:lnTo>
                  <a:pt x="358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7"/>
                </a:lnTo>
                <a:lnTo>
                  <a:pt x="376" y="198"/>
                </a:lnTo>
                <a:lnTo>
                  <a:pt x="377" y="189"/>
                </a:lnTo>
                <a:lnTo>
                  <a:pt x="376" y="178"/>
                </a:lnTo>
                <a:lnTo>
                  <a:pt x="376" y="169"/>
                </a:lnTo>
                <a:lnTo>
                  <a:pt x="374" y="158"/>
                </a:lnTo>
                <a:lnTo>
                  <a:pt x="373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8" y="106"/>
                </a:lnTo>
                <a:lnTo>
                  <a:pt x="353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4"/>
                </a:lnTo>
                <a:lnTo>
                  <a:pt x="308" y="42"/>
                </a:lnTo>
                <a:lnTo>
                  <a:pt x="293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4"/>
                </a:lnTo>
                <a:lnTo>
                  <a:pt x="254" y="11"/>
                </a:lnTo>
                <a:lnTo>
                  <a:pt x="245" y="8"/>
                </a:lnTo>
                <a:lnTo>
                  <a:pt x="236" y="5"/>
                </a:lnTo>
                <a:lnTo>
                  <a:pt x="227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74" name="Rectangle 162"/>
          <p:cNvSpPr>
            <a:spLocks noChangeArrowheads="1"/>
          </p:cNvSpPr>
          <p:nvPr/>
        </p:nvSpPr>
        <p:spPr bwMode="auto">
          <a:xfrm>
            <a:off x="3757613" y="4943475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en-GB" altLang="en-US"/>
          </a:p>
        </p:txBody>
      </p:sp>
      <p:sp>
        <p:nvSpPr>
          <p:cNvPr id="11375" name="Freeform 163"/>
          <p:cNvSpPr>
            <a:spLocks/>
          </p:cNvSpPr>
          <p:nvPr/>
        </p:nvSpPr>
        <p:spPr bwMode="auto">
          <a:xfrm>
            <a:off x="2389188" y="5619750"/>
            <a:ext cx="300037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9" y="0"/>
                </a:lnTo>
                <a:lnTo>
                  <a:pt x="169" y="1"/>
                </a:lnTo>
                <a:lnTo>
                  <a:pt x="159" y="1"/>
                </a:lnTo>
                <a:lnTo>
                  <a:pt x="150" y="4"/>
                </a:lnTo>
                <a:lnTo>
                  <a:pt x="141" y="6"/>
                </a:lnTo>
                <a:lnTo>
                  <a:pt x="132" y="9"/>
                </a:lnTo>
                <a:lnTo>
                  <a:pt x="123" y="12"/>
                </a:lnTo>
                <a:lnTo>
                  <a:pt x="114" y="15"/>
                </a:lnTo>
                <a:lnTo>
                  <a:pt x="107" y="18"/>
                </a:lnTo>
                <a:lnTo>
                  <a:pt x="98" y="22"/>
                </a:lnTo>
                <a:lnTo>
                  <a:pt x="83" y="31"/>
                </a:lnTo>
                <a:lnTo>
                  <a:pt x="69" y="44"/>
                </a:lnTo>
                <a:lnTo>
                  <a:pt x="55" y="56"/>
                </a:lnTo>
                <a:lnTo>
                  <a:pt x="43" y="69"/>
                </a:lnTo>
                <a:lnTo>
                  <a:pt x="31" y="83"/>
                </a:lnTo>
                <a:lnTo>
                  <a:pt x="22" y="98"/>
                </a:lnTo>
                <a:lnTo>
                  <a:pt x="18" y="107"/>
                </a:lnTo>
                <a:lnTo>
                  <a:pt x="15" y="114"/>
                </a:lnTo>
                <a:lnTo>
                  <a:pt x="12" y="123"/>
                </a:lnTo>
                <a:lnTo>
                  <a:pt x="9" y="132"/>
                </a:lnTo>
                <a:lnTo>
                  <a:pt x="6" y="142"/>
                </a:lnTo>
                <a:lnTo>
                  <a:pt x="4" y="151"/>
                </a:lnTo>
                <a:lnTo>
                  <a:pt x="1" y="160"/>
                </a:lnTo>
                <a:lnTo>
                  <a:pt x="1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1" y="208"/>
                </a:lnTo>
                <a:lnTo>
                  <a:pt x="1" y="217"/>
                </a:lnTo>
                <a:lnTo>
                  <a:pt x="4" y="226"/>
                </a:lnTo>
                <a:lnTo>
                  <a:pt x="6" y="235"/>
                </a:lnTo>
                <a:lnTo>
                  <a:pt x="9" y="244"/>
                </a:lnTo>
                <a:lnTo>
                  <a:pt x="12" y="253"/>
                </a:lnTo>
                <a:lnTo>
                  <a:pt x="15" y="262"/>
                </a:lnTo>
                <a:lnTo>
                  <a:pt x="18" y="270"/>
                </a:lnTo>
                <a:lnTo>
                  <a:pt x="22" y="279"/>
                </a:lnTo>
                <a:lnTo>
                  <a:pt x="31" y="294"/>
                </a:lnTo>
                <a:lnTo>
                  <a:pt x="43" y="309"/>
                </a:lnTo>
                <a:lnTo>
                  <a:pt x="55" y="321"/>
                </a:lnTo>
                <a:lnTo>
                  <a:pt x="69" y="333"/>
                </a:lnTo>
                <a:lnTo>
                  <a:pt x="83" y="345"/>
                </a:lnTo>
                <a:lnTo>
                  <a:pt x="98" y="354"/>
                </a:lnTo>
                <a:lnTo>
                  <a:pt x="107" y="359"/>
                </a:lnTo>
                <a:lnTo>
                  <a:pt x="114" y="362"/>
                </a:lnTo>
                <a:lnTo>
                  <a:pt x="123" y="365"/>
                </a:lnTo>
                <a:lnTo>
                  <a:pt x="132" y="368"/>
                </a:lnTo>
                <a:lnTo>
                  <a:pt x="141" y="371"/>
                </a:lnTo>
                <a:lnTo>
                  <a:pt x="150" y="372"/>
                </a:lnTo>
                <a:lnTo>
                  <a:pt x="159" y="375"/>
                </a:lnTo>
                <a:lnTo>
                  <a:pt x="169" y="375"/>
                </a:lnTo>
                <a:lnTo>
                  <a:pt x="179" y="377"/>
                </a:lnTo>
                <a:lnTo>
                  <a:pt x="188" y="377"/>
                </a:lnTo>
                <a:lnTo>
                  <a:pt x="197" y="377"/>
                </a:lnTo>
                <a:lnTo>
                  <a:pt x="208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2" y="362"/>
                </a:lnTo>
                <a:lnTo>
                  <a:pt x="269" y="359"/>
                </a:lnTo>
                <a:lnTo>
                  <a:pt x="279" y="354"/>
                </a:lnTo>
                <a:lnTo>
                  <a:pt x="294" y="345"/>
                </a:lnTo>
                <a:lnTo>
                  <a:pt x="309" y="333"/>
                </a:lnTo>
                <a:lnTo>
                  <a:pt x="321" y="321"/>
                </a:lnTo>
                <a:lnTo>
                  <a:pt x="333" y="309"/>
                </a:lnTo>
                <a:lnTo>
                  <a:pt x="345" y="294"/>
                </a:lnTo>
                <a:lnTo>
                  <a:pt x="354" y="279"/>
                </a:lnTo>
                <a:lnTo>
                  <a:pt x="358" y="270"/>
                </a:lnTo>
                <a:lnTo>
                  <a:pt x="361" y="262"/>
                </a:lnTo>
                <a:lnTo>
                  <a:pt x="364" y="253"/>
                </a:lnTo>
                <a:lnTo>
                  <a:pt x="367" y="244"/>
                </a:lnTo>
                <a:lnTo>
                  <a:pt x="370" y="235"/>
                </a:lnTo>
                <a:lnTo>
                  <a:pt x="372" y="226"/>
                </a:lnTo>
                <a:lnTo>
                  <a:pt x="375" y="217"/>
                </a:lnTo>
                <a:lnTo>
                  <a:pt x="375" y="208"/>
                </a:lnTo>
                <a:lnTo>
                  <a:pt x="377" y="197"/>
                </a:lnTo>
                <a:lnTo>
                  <a:pt x="377" y="188"/>
                </a:lnTo>
                <a:lnTo>
                  <a:pt x="377" y="179"/>
                </a:lnTo>
                <a:lnTo>
                  <a:pt x="375" y="169"/>
                </a:lnTo>
                <a:lnTo>
                  <a:pt x="375" y="160"/>
                </a:lnTo>
                <a:lnTo>
                  <a:pt x="372" y="151"/>
                </a:lnTo>
                <a:lnTo>
                  <a:pt x="370" y="142"/>
                </a:lnTo>
                <a:lnTo>
                  <a:pt x="367" y="132"/>
                </a:lnTo>
                <a:lnTo>
                  <a:pt x="364" y="123"/>
                </a:lnTo>
                <a:lnTo>
                  <a:pt x="361" y="114"/>
                </a:lnTo>
                <a:lnTo>
                  <a:pt x="358" y="107"/>
                </a:lnTo>
                <a:lnTo>
                  <a:pt x="354" y="98"/>
                </a:lnTo>
                <a:lnTo>
                  <a:pt x="345" y="83"/>
                </a:lnTo>
                <a:lnTo>
                  <a:pt x="333" y="69"/>
                </a:lnTo>
                <a:lnTo>
                  <a:pt x="321" y="56"/>
                </a:lnTo>
                <a:lnTo>
                  <a:pt x="309" y="44"/>
                </a:lnTo>
                <a:lnTo>
                  <a:pt x="294" y="31"/>
                </a:lnTo>
                <a:lnTo>
                  <a:pt x="279" y="22"/>
                </a:lnTo>
                <a:lnTo>
                  <a:pt x="269" y="18"/>
                </a:lnTo>
                <a:lnTo>
                  <a:pt x="262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8" y="1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76" name="Rectangle 164"/>
          <p:cNvSpPr>
            <a:spLocks noChangeArrowheads="1"/>
          </p:cNvSpPr>
          <p:nvPr/>
        </p:nvSpPr>
        <p:spPr bwMode="auto">
          <a:xfrm>
            <a:off x="2481263" y="56419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1377" name="Freeform 165"/>
          <p:cNvSpPr>
            <a:spLocks/>
          </p:cNvSpPr>
          <p:nvPr/>
        </p:nvSpPr>
        <p:spPr bwMode="auto">
          <a:xfrm>
            <a:off x="2828925" y="43846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1"/>
                </a:lnTo>
                <a:lnTo>
                  <a:pt x="149" y="3"/>
                </a:lnTo>
                <a:lnTo>
                  <a:pt x="140" y="4"/>
                </a:lnTo>
                <a:lnTo>
                  <a:pt x="131" y="7"/>
                </a:lnTo>
                <a:lnTo>
                  <a:pt x="123" y="10"/>
                </a:lnTo>
                <a:lnTo>
                  <a:pt x="114" y="13"/>
                </a:lnTo>
                <a:lnTo>
                  <a:pt x="105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2" y="98"/>
                </a:lnTo>
                <a:lnTo>
                  <a:pt x="18" y="105"/>
                </a:lnTo>
                <a:lnTo>
                  <a:pt x="13" y="114"/>
                </a:lnTo>
                <a:lnTo>
                  <a:pt x="10" y="123"/>
                </a:lnTo>
                <a:lnTo>
                  <a:pt x="7" y="131"/>
                </a:lnTo>
                <a:lnTo>
                  <a:pt x="4" y="140"/>
                </a:lnTo>
                <a:lnTo>
                  <a:pt x="3" y="149"/>
                </a:lnTo>
                <a:lnTo>
                  <a:pt x="1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6"/>
                </a:lnTo>
                <a:lnTo>
                  <a:pt x="1" y="217"/>
                </a:lnTo>
                <a:lnTo>
                  <a:pt x="3" y="226"/>
                </a:lnTo>
                <a:lnTo>
                  <a:pt x="4" y="235"/>
                </a:lnTo>
                <a:lnTo>
                  <a:pt x="7" y="244"/>
                </a:lnTo>
                <a:lnTo>
                  <a:pt x="10" y="253"/>
                </a:lnTo>
                <a:lnTo>
                  <a:pt x="13" y="261"/>
                </a:lnTo>
                <a:lnTo>
                  <a:pt x="18" y="270"/>
                </a:lnTo>
                <a:lnTo>
                  <a:pt x="22" y="277"/>
                </a:lnTo>
                <a:lnTo>
                  <a:pt x="32" y="292"/>
                </a:lnTo>
                <a:lnTo>
                  <a:pt x="42" y="307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5" y="357"/>
                </a:lnTo>
                <a:lnTo>
                  <a:pt x="114" y="362"/>
                </a:lnTo>
                <a:lnTo>
                  <a:pt x="123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8" y="377"/>
                </a:lnTo>
                <a:lnTo>
                  <a:pt x="197" y="375"/>
                </a:lnTo>
                <a:lnTo>
                  <a:pt x="206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2" y="344"/>
                </a:lnTo>
                <a:lnTo>
                  <a:pt x="307" y="333"/>
                </a:lnTo>
                <a:lnTo>
                  <a:pt x="321" y="321"/>
                </a:lnTo>
                <a:lnTo>
                  <a:pt x="333" y="307"/>
                </a:lnTo>
                <a:lnTo>
                  <a:pt x="344" y="292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6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3"/>
                </a:lnTo>
                <a:lnTo>
                  <a:pt x="362" y="114"/>
                </a:lnTo>
                <a:lnTo>
                  <a:pt x="357" y="105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7" y="42"/>
                </a:lnTo>
                <a:lnTo>
                  <a:pt x="292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3"/>
                </a:lnTo>
                <a:lnTo>
                  <a:pt x="253" y="10"/>
                </a:lnTo>
                <a:lnTo>
                  <a:pt x="244" y="7"/>
                </a:lnTo>
                <a:lnTo>
                  <a:pt x="235" y="4"/>
                </a:lnTo>
                <a:lnTo>
                  <a:pt x="226" y="3"/>
                </a:lnTo>
                <a:lnTo>
                  <a:pt x="217" y="1"/>
                </a:lnTo>
                <a:lnTo>
                  <a:pt x="206" y="0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78" name="Rectangle 166"/>
          <p:cNvSpPr>
            <a:spLocks noChangeArrowheads="1"/>
          </p:cNvSpPr>
          <p:nvPr/>
        </p:nvSpPr>
        <p:spPr bwMode="auto">
          <a:xfrm>
            <a:off x="2860675" y="44053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1379" name="Freeform 167"/>
          <p:cNvSpPr>
            <a:spLocks noEditPoints="1"/>
          </p:cNvSpPr>
          <p:nvPr/>
        </p:nvSpPr>
        <p:spPr bwMode="auto">
          <a:xfrm>
            <a:off x="2185988" y="4648200"/>
            <a:ext cx="690562" cy="306388"/>
          </a:xfrm>
          <a:custGeom>
            <a:avLst/>
            <a:gdLst>
              <a:gd name="T0" fmla="*/ 2147483647 w 870"/>
              <a:gd name="T1" fmla="*/ 2147483647 h 386"/>
              <a:gd name="T2" fmla="*/ 2147483647 w 870"/>
              <a:gd name="T3" fmla="*/ 2147483647 h 386"/>
              <a:gd name="T4" fmla="*/ 2147483647 w 870"/>
              <a:gd name="T5" fmla="*/ 2147483647 h 386"/>
              <a:gd name="T6" fmla="*/ 2147483647 w 870"/>
              <a:gd name="T7" fmla="*/ 2147483647 h 386"/>
              <a:gd name="T8" fmla="*/ 2147483647 w 870"/>
              <a:gd name="T9" fmla="*/ 2147483647 h 386"/>
              <a:gd name="T10" fmla="*/ 2147483647 w 870"/>
              <a:gd name="T11" fmla="*/ 2147483647 h 386"/>
              <a:gd name="T12" fmla="*/ 2147483647 w 870"/>
              <a:gd name="T13" fmla="*/ 2147483647 h 386"/>
              <a:gd name="T14" fmla="*/ 2147483647 w 870"/>
              <a:gd name="T15" fmla="*/ 2147483647 h 386"/>
              <a:gd name="T16" fmla="*/ 2147483647 w 870"/>
              <a:gd name="T17" fmla="*/ 2147483647 h 386"/>
              <a:gd name="T18" fmla="*/ 2147483647 w 870"/>
              <a:gd name="T19" fmla="*/ 2147483647 h 386"/>
              <a:gd name="T20" fmla="*/ 2147483647 w 870"/>
              <a:gd name="T21" fmla="*/ 2147483647 h 386"/>
              <a:gd name="T22" fmla="*/ 2147483647 w 870"/>
              <a:gd name="T23" fmla="*/ 0 h 386"/>
              <a:gd name="T24" fmla="*/ 2147483647 w 870"/>
              <a:gd name="T25" fmla="*/ 2147483647 h 386"/>
              <a:gd name="T26" fmla="*/ 2147483647 w 870"/>
              <a:gd name="T27" fmla="*/ 2147483647 h 386"/>
              <a:gd name="T28" fmla="*/ 2147483647 w 870"/>
              <a:gd name="T29" fmla="*/ 2147483647 h 386"/>
              <a:gd name="T30" fmla="*/ 2147483647 w 870"/>
              <a:gd name="T31" fmla="*/ 2147483647 h 386"/>
              <a:gd name="T32" fmla="*/ 2147483647 w 870"/>
              <a:gd name="T33" fmla="*/ 2147483647 h 386"/>
              <a:gd name="T34" fmla="*/ 2147483647 w 870"/>
              <a:gd name="T35" fmla="*/ 2147483647 h 386"/>
              <a:gd name="T36" fmla="*/ 2147483647 w 870"/>
              <a:gd name="T37" fmla="*/ 2147483647 h 386"/>
              <a:gd name="T38" fmla="*/ 2147483647 w 870"/>
              <a:gd name="T39" fmla="*/ 2147483647 h 386"/>
              <a:gd name="T40" fmla="*/ 2147483647 w 870"/>
              <a:gd name="T41" fmla="*/ 2147483647 h 386"/>
              <a:gd name="T42" fmla="*/ 0 w 870"/>
              <a:gd name="T43" fmla="*/ 2147483647 h 386"/>
              <a:gd name="T44" fmla="*/ 2147483647 w 870"/>
              <a:gd name="T45" fmla="*/ 2147483647 h 386"/>
              <a:gd name="T46" fmla="*/ 2147483647 w 870"/>
              <a:gd name="T47" fmla="*/ 2147483647 h 38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870"/>
              <a:gd name="T73" fmla="*/ 0 h 386"/>
              <a:gd name="T74" fmla="*/ 870 w 870"/>
              <a:gd name="T75" fmla="*/ 386 h 38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870" h="386">
                <a:moveTo>
                  <a:pt x="867" y="12"/>
                </a:moveTo>
                <a:lnTo>
                  <a:pt x="61" y="362"/>
                </a:lnTo>
                <a:lnTo>
                  <a:pt x="58" y="362"/>
                </a:lnTo>
                <a:lnTo>
                  <a:pt x="56" y="362"/>
                </a:lnTo>
                <a:lnTo>
                  <a:pt x="53" y="360"/>
                </a:lnTo>
                <a:lnTo>
                  <a:pt x="53" y="359"/>
                </a:lnTo>
                <a:lnTo>
                  <a:pt x="52" y="356"/>
                </a:lnTo>
                <a:lnTo>
                  <a:pt x="53" y="353"/>
                </a:lnTo>
                <a:lnTo>
                  <a:pt x="53" y="351"/>
                </a:lnTo>
                <a:lnTo>
                  <a:pt x="56" y="350"/>
                </a:lnTo>
                <a:lnTo>
                  <a:pt x="861" y="1"/>
                </a:lnTo>
                <a:lnTo>
                  <a:pt x="864" y="0"/>
                </a:lnTo>
                <a:lnTo>
                  <a:pt x="867" y="1"/>
                </a:lnTo>
                <a:lnTo>
                  <a:pt x="869" y="3"/>
                </a:lnTo>
                <a:lnTo>
                  <a:pt x="870" y="5"/>
                </a:lnTo>
                <a:lnTo>
                  <a:pt x="870" y="8"/>
                </a:lnTo>
                <a:lnTo>
                  <a:pt x="870" y="9"/>
                </a:lnTo>
                <a:lnTo>
                  <a:pt x="869" y="11"/>
                </a:lnTo>
                <a:lnTo>
                  <a:pt x="867" y="12"/>
                </a:lnTo>
                <a:close/>
                <a:moveTo>
                  <a:pt x="85" y="386"/>
                </a:moveTo>
                <a:lnTo>
                  <a:pt x="0" y="381"/>
                </a:lnTo>
                <a:lnTo>
                  <a:pt x="55" y="317"/>
                </a:lnTo>
                <a:lnTo>
                  <a:pt x="85" y="386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0" name="Freeform 168"/>
          <p:cNvSpPr>
            <a:spLocks noEditPoints="1"/>
          </p:cNvSpPr>
          <p:nvPr/>
        </p:nvSpPr>
        <p:spPr bwMode="auto">
          <a:xfrm>
            <a:off x="3078163" y="4648200"/>
            <a:ext cx="796925" cy="269875"/>
          </a:xfrm>
          <a:custGeom>
            <a:avLst/>
            <a:gdLst>
              <a:gd name="T0" fmla="*/ 2147483647 w 1004"/>
              <a:gd name="T1" fmla="*/ 2147483647 h 339"/>
              <a:gd name="T2" fmla="*/ 2147483647 w 1004"/>
              <a:gd name="T3" fmla="*/ 2147483647 h 339"/>
              <a:gd name="T4" fmla="*/ 2147483647 w 1004"/>
              <a:gd name="T5" fmla="*/ 2147483647 h 339"/>
              <a:gd name="T6" fmla="*/ 2147483647 w 1004"/>
              <a:gd name="T7" fmla="*/ 2147483647 h 339"/>
              <a:gd name="T8" fmla="*/ 2147483647 w 1004"/>
              <a:gd name="T9" fmla="*/ 2147483647 h 339"/>
              <a:gd name="T10" fmla="*/ 2147483647 w 1004"/>
              <a:gd name="T11" fmla="*/ 2147483647 h 339"/>
              <a:gd name="T12" fmla="*/ 2147483647 w 1004"/>
              <a:gd name="T13" fmla="*/ 2147483647 h 339"/>
              <a:gd name="T14" fmla="*/ 2147483647 w 1004"/>
              <a:gd name="T15" fmla="*/ 2147483647 h 339"/>
              <a:gd name="T16" fmla="*/ 2147483647 w 1004"/>
              <a:gd name="T17" fmla="*/ 2147483647 h 339"/>
              <a:gd name="T18" fmla="*/ 2147483647 w 1004"/>
              <a:gd name="T19" fmla="*/ 2147483647 h 339"/>
              <a:gd name="T20" fmla="*/ 2147483647 w 1004"/>
              <a:gd name="T21" fmla="*/ 2147483647 h 339"/>
              <a:gd name="T22" fmla="*/ 2147483647 w 1004"/>
              <a:gd name="T23" fmla="*/ 2147483647 h 339"/>
              <a:gd name="T24" fmla="*/ 0 w 1004"/>
              <a:gd name="T25" fmla="*/ 2147483647 h 339"/>
              <a:gd name="T26" fmla="*/ 0 w 1004"/>
              <a:gd name="T27" fmla="*/ 2147483647 h 339"/>
              <a:gd name="T28" fmla="*/ 0 w 1004"/>
              <a:gd name="T29" fmla="*/ 2147483647 h 339"/>
              <a:gd name="T30" fmla="*/ 2147483647 w 1004"/>
              <a:gd name="T31" fmla="*/ 2147483647 h 339"/>
              <a:gd name="T32" fmla="*/ 2147483647 w 1004"/>
              <a:gd name="T33" fmla="*/ 2147483647 h 339"/>
              <a:gd name="T34" fmla="*/ 2147483647 w 1004"/>
              <a:gd name="T35" fmla="*/ 0 h 339"/>
              <a:gd name="T36" fmla="*/ 2147483647 w 1004"/>
              <a:gd name="T37" fmla="*/ 2147483647 h 339"/>
              <a:gd name="T38" fmla="*/ 2147483647 w 1004"/>
              <a:gd name="T39" fmla="*/ 2147483647 h 339"/>
              <a:gd name="T40" fmla="*/ 2147483647 w 1004"/>
              <a:gd name="T41" fmla="*/ 2147483647 h 339"/>
              <a:gd name="T42" fmla="*/ 2147483647 w 1004"/>
              <a:gd name="T43" fmla="*/ 2147483647 h 339"/>
              <a:gd name="T44" fmla="*/ 2147483647 w 1004"/>
              <a:gd name="T45" fmla="*/ 2147483647 h 339"/>
              <a:gd name="T46" fmla="*/ 2147483647 w 1004"/>
              <a:gd name="T47" fmla="*/ 2147483647 h 339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004"/>
              <a:gd name="T73" fmla="*/ 0 h 339"/>
              <a:gd name="T74" fmla="*/ 1004 w 1004"/>
              <a:gd name="T75" fmla="*/ 339 h 339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004" h="339">
                <a:moveTo>
                  <a:pt x="7" y="1"/>
                </a:moveTo>
                <a:lnTo>
                  <a:pt x="945" y="300"/>
                </a:lnTo>
                <a:lnTo>
                  <a:pt x="948" y="301"/>
                </a:lnTo>
                <a:lnTo>
                  <a:pt x="950" y="304"/>
                </a:lnTo>
                <a:lnTo>
                  <a:pt x="950" y="306"/>
                </a:lnTo>
                <a:lnTo>
                  <a:pt x="950" y="309"/>
                </a:lnTo>
                <a:lnTo>
                  <a:pt x="948" y="310"/>
                </a:lnTo>
                <a:lnTo>
                  <a:pt x="947" y="312"/>
                </a:lnTo>
                <a:lnTo>
                  <a:pt x="944" y="313"/>
                </a:lnTo>
                <a:lnTo>
                  <a:pt x="942" y="312"/>
                </a:lnTo>
                <a:lnTo>
                  <a:pt x="4" y="14"/>
                </a:lnTo>
                <a:lnTo>
                  <a:pt x="1" y="12"/>
                </a:lnTo>
                <a:lnTo>
                  <a:pt x="0" y="11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1"/>
                </a:lnTo>
                <a:lnTo>
                  <a:pt x="6" y="0"/>
                </a:lnTo>
                <a:lnTo>
                  <a:pt x="7" y="1"/>
                </a:lnTo>
                <a:close/>
                <a:moveTo>
                  <a:pt x="944" y="267"/>
                </a:moveTo>
                <a:lnTo>
                  <a:pt x="1004" y="326"/>
                </a:lnTo>
                <a:lnTo>
                  <a:pt x="919" y="339"/>
                </a:lnTo>
                <a:lnTo>
                  <a:pt x="944" y="267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1" name="Freeform 169"/>
          <p:cNvSpPr>
            <a:spLocks noEditPoints="1"/>
          </p:cNvSpPr>
          <p:nvPr/>
        </p:nvSpPr>
        <p:spPr bwMode="auto">
          <a:xfrm>
            <a:off x="3976688" y="5187950"/>
            <a:ext cx="317500" cy="417513"/>
          </a:xfrm>
          <a:custGeom>
            <a:avLst/>
            <a:gdLst>
              <a:gd name="T0" fmla="*/ 2147483647 w 401"/>
              <a:gd name="T1" fmla="*/ 2147483647 h 526"/>
              <a:gd name="T2" fmla="*/ 2147483647 w 401"/>
              <a:gd name="T3" fmla="*/ 2147483647 h 526"/>
              <a:gd name="T4" fmla="*/ 2147483647 w 401"/>
              <a:gd name="T5" fmla="*/ 2147483647 h 526"/>
              <a:gd name="T6" fmla="*/ 2147483647 w 401"/>
              <a:gd name="T7" fmla="*/ 2147483647 h 526"/>
              <a:gd name="T8" fmla="*/ 2147483647 w 401"/>
              <a:gd name="T9" fmla="*/ 2147483647 h 526"/>
              <a:gd name="T10" fmla="*/ 2147483647 w 401"/>
              <a:gd name="T11" fmla="*/ 2147483647 h 526"/>
              <a:gd name="T12" fmla="*/ 2147483647 w 401"/>
              <a:gd name="T13" fmla="*/ 2147483647 h 526"/>
              <a:gd name="T14" fmla="*/ 2147483647 w 401"/>
              <a:gd name="T15" fmla="*/ 2147483647 h 526"/>
              <a:gd name="T16" fmla="*/ 2147483647 w 401"/>
              <a:gd name="T17" fmla="*/ 2147483647 h 526"/>
              <a:gd name="T18" fmla="*/ 2147483647 w 401"/>
              <a:gd name="T19" fmla="*/ 2147483647 h 526"/>
              <a:gd name="T20" fmla="*/ 2147483647 w 401"/>
              <a:gd name="T21" fmla="*/ 2147483647 h 526"/>
              <a:gd name="T22" fmla="*/ 0 w 401"/>
              <a:gd name="T23" fmla="*/ 2147483647 h 526"/>
              <a:gd name="T24" fmla="*/ 0 w 401"/>
              <a:gd name="T25" fmla="*/ 2147483647 h 526"/>
              <a:gd name="T26" fmla="*/ 2147483647 w 401"/>
              <a:gd name="T27" fmla="*/ 2147483647 h 526"/>
              <a:gd name="T28" fmla="*/ 2147483647 w 401"/>
              <a:gd name="T29" fmla="*/ 0 h 526"/>
              <a:gd name="T30" fmla="*/ 2147483647 w 401"/>
              <a:gd name="T31" fmla="*/ 0 h 526"/>
              <a:gd name="T32" fmla="*/ 2147483647 w 401"/>
              <a:gd name="T33" fmla="*/ 0 h 526"/>
              <a:gd name="T34" fmla="*/ 2147483647 w 401"/>
              <a:gd name="T35" fmla="*/ 0 h 526"/>
              <a:gd name="T36" fmla="*/ 2147483647 w 401"/>
              <a:gd name="T37" fmla="*/ 2147483647 h 526"/>
              <a:gd name="T38" fmla="*/ 2147483647 w 401"/>
              <a:gd name="T39" fmla="*/ 2147483647 h 526"/>
              <a:gd name="T40" fmla="*/ 2147483647 w 401"/>
              <a:gd name="T41" fmla="*/ 2147483647 h 526"/>
              <a:gd name="T42" fmla="*/ 2147483647 w 401"/>
              <a:gd name="T43" fmla="*/ 2147483647 h 526"/>
              <a:gd name="T44" fmla="*/ 2147483647 w 401"/>
              <a:gd name="T45" fmla="*/ 2147483647 h 526"/>
              <a:gd name="T46" fmla="*/ 2147483647 w 401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1"/>
              <a:gd name="T73" fmla="*/ 0 h 526"/>
              <a:gd name="T74" fmla="*/ 401 w 401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1" h="526">
                <a:moveTo>
                  <a:pt x="13" y="1"/>
                </a:moveTo>
                <a:lnTo>
                  <a:pt x="368" y="471"/>
                </a:lnTo>
                <a:lnTo>
                  <a:pt x="370" y="473"/>
                </a:lnTo>
                <a:lnTo>
                  <a:pt x="370" y="476"/>
                </a:lnTo>
                <a:lnTo>
                  <a:pt x="368" y="478"/>
                </a:lnTo>
                <a:lnTo>
                  <a:pt x="367" y="481"/>
                </a:lnTo>
                <a:lnTo>
                  <a:pt x="364" y="481"/>
                </a:lnTo>
                <a:lnTo>
                  <a:pt x="362" y="481"/>
                </a:lnTo>
                <a:lnTo>
                  <a:pt x="359" y="481"/>
                </a:lnTo>
                <a:lnTo>
                  <a:pt x="358" y="479"/>
                </a:lnTo>
                <a:lnTo>
                  <a:pt x="2" y="9"/>
                </a:lnTo>
                <a:lnTo>
                  <a:pt x="0" y="7"/>
                </a:lnTo>
                <a:lnTo>
                  <a:pt x="0" y="4"/>
                </a:lnTo>
                <a:lnTo>
                  <a:pt x="2" y="3"/>
                </a:lnTo>
                <a:lnTo>
                  <a:pt x="3" y="0"/>
                </a:ln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3" y="1"/>
                </a:lnTo>
                <a:close/>
                <a:moveTo>
                  <a:pt x="385" y="443"/>
                </a:moveTo>
                <a:lnTo>
                  <a:pt x="401" y="526"/>
                </a:lnTo>
                <a:lnTo>
                  <a:pt x="326" y="488"/>
                </a:lnTo>
                <a:lnTo>
                  <a:pt x="385" y="4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2" name="Freeform 170"/>
          <p:cNvSpPr>
            <a:spLocks noEditPoints="1"/>
          </p:cNvSpPr>
          <p:nvPr/>
        </p:nvSpPr>
        <p:spPr bwMode="auto">
          <a:xfrm>
            <a:off x="2200275" y="5886450"/>
            <a:ext cx="238125" cy="336550"/>
          </a:xfrm>
          <a:custGeom>
            <a:avLst/>
            <a:gdLst>
              <a:gd name="T0" fmla="*/ 2147483647 w 299"/>
              <a:gd name="T1" fmla="*/ 2147483647 h 425"/>
              <a:gd name="T2" fmla="*/ 2147483647 w 299"/>
              <a:gd name="T3" fmla="*/ 2147483647 h 425"/>
              <a:gd name="T4" fmla="*/ 2147483647 w 299"/>
              <a:gd name="T5" fmla="*/ 2147483647 h 425"/>
              <a:gd name="T6" fmla="*/ 2147483647 w 299"/>
              <a:gd name="T7" fmla="*/ 2147483647 h 425"/>
              <a:gd name="T8" fmla="*/ 2147483647 w 299"/>
              <a:gd name="T9" fmla="*/ 2147483647 h 425"/>
              <a:gd name="T10" fmla="*/ 2147483647 w 299"/>
              <a:gd name="T11" fmla="*/ 2147483647 h 425"/>
              <a:gd name="T12" fmla="*/ 2147483647 w 299"/>
              <a:gd name="T13" fmla="*/ 2147483647 h 425"/>
              <a:gd name="T14" fmla="*/ 2147483647 w 299"/>
              <a:gd name="T15" fmla="*/ 2147483647 h 425"/>
              <a:gd name="T16" fmla="*/ 2147483647 w 299"/>
              <a:gd name="T17" fmla="*/ 2147483647 h 425"/>
              <a:gd name="T18" fmla="*/ 2147483647 w 299"/>
              <a:gd name="T19" fmla="*/ 2147483647 h 425"/>
              <a:gd name="T20" fmla="*/ 2147483647 w 299"/>
              <a:gd name="T21" fmla="*/ 2147483647 h 425"/>
              <a:gd name="T22" fmla="*/ 2147483647 w 299"/>
              <a:gd name="T23" fmla="*/ 0 h 425"/>
              <a:gd name="T24" fmla="*/ 2147483647 w 299"/>
              <a:gd name="T25" fmla="*/ 0 h 425"/>
              <a:gd name="T26" fmla="*/ 2147483647 w 299"/>
              <a:gd name="T27" fmla="*/ 0 h 425"/>
              <a:gd name="T28" fmla="*/ 2147483647 w 299"/>
              <a:gd name="T29" fmla="*/ 2147483647 h 425"/>
              <a:gd name="T30" fmla="*/ 2147483647 w 299"/>
              <a:gd name="T31" fmla="*/ 2147483647 h 425"/>
              <a:gd name="T32" fmla="*/ 2147483647 w 299"/>
              <a:gd name="T33" fmla="*/ 2147483647 h 425"/>
              <a:gd name="T34" fmla="*/ 2147483647 w 299"/>
              <a:gd name="T35" fmla="*/ 2147483647 h 425"/>
              <a:gd name="T36" fmla="*/ 2147483647 w 299"/>
              <a:gd name="T37" fmla="*/ 2147483647 h 425"/>
              <a:gd name="T38" fmla="*/ 2147483647 w 299"/>
              <a:gd name="T39" fmla="*/ 2147483647 h 425"/>
              <a:gd name="T40" fmla="*/ 2147483647 w 299"/>
              <a:gd name="T41" fmla="*/ 2147483647 h 425"/>
              <a:gd name="T42" fmla="*/ 0 w 299"/>
              <a:gd name="T43" fmla="*/ 2147483647 h 425"/>
              <a:gd name="T44" fmla="*/ 2147483647 w 299"/>
              <a:gd name="T45" fmla="*/ 2147483647 h 425"/>
              <a:gd name="T46" fmla="*/ 2147483647 w 299"/>
              <a:gd name="T47" fmla="*/ 2147483647 h 4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99"/>
              <a:gd name="T73" fmla="*/ 0 h 425"/>
              <a:gd name="T74" fmla="*/ 299 w 299"/>
              <a:gd name="T75" fmla="*/ 425 h 4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99" h="425">
                <a:moveTo>
                  <a:pt x="298" y="11"/>
                </a:moveTo>
                <a:lnTo>
                  <a:pt x="40" y="379"/>
                </a:lnTo>
                <a:lnTo>
                  <a:pt x="39" y="380"/>
                </a:lnTo>
                <a:lnTo>
                  <a:pt x="36" y="380"/>
                </a:lnTo>
                <a:lnTo>
                  <a:pt x="34" y="380"/>
                </a:lnTo>
                <a:lnTo>
                  <a:pt x="31" y="380"/>
                </a:lnTo>
                <a:lnTo>
                  <a:pt x="30" y="377"/>
                </a:lnTo>
                <a:lnTo>
                  <a:pt x="28" y="376"/>
                </a:lnTo>
                <a:lnTo>
                  <a:pt x="28" y="373"/>
                </a:lnTo>
                <a:lnTo>
                  <a:pt x="30" y="371"/>
                </a:lnTo>
                <a:lnTo>
                  <a:pt x="287" y="3"/>
                </a:lnTo>
                <a:lnTo>
                  <a:pt x="289" y="0"/>
                </a:lnTo>
                <a:lnTo>
                  <a:pt x="292" y="0"/>
                </a:lnTo>
                <a:lnTo>
                  <a:pt x="293" y="0"/>
                </a:lnTo>
                <a:lnTo>
                  <a:pt x="296" y="2"/>
                </a:lnTo>
                <a:lnTo>
                  <a:pt x="298" y="3"/>
                </a:lnTo>
                <a:lnTo>
                  <a:pt x="299" y="5"/>
                </a:lnTo>
                <a:lnTo>
                  <a:pt x="299" y="8"/>
                </a:lnTo>
                <a:lnTo>
                  <a:pt x="298" y="11"/>
                </a:lnTo>
                <a:close/>
                <a:moveTo>
                  <a:pt x="73" y="386"/>
                </a:moveTo>
                <a:lnTo>
                  <a:pt x="0" y="425"/>
                </a:lnTo>
                <a:lnTo>
                  <a:pt x="12" y="343"/>
                </a:lnTo>
                <a:lnTo>
                  <a:pt x="73" y="386"/>
                </a:lnTo>
                <a:close/>
              </a:path>
            </a:pathLst>
          </a:custGeom>
          <a:solidFill>
            <a:srgbClr val="FF0000"/>
          </a:solidFill>
          <a:ln w="1588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3" name="Freeform 171"/>
          <p:cNvSpPr>
            <a:spLocks noEditPoints="1"/>
          </p:cNvSpPr>
          <p:nvPr/>
        </p:nvSpPr>
        <p:spPr bwMode="auto">
          <a:xfrm>
            <a:off x="2640013" y="5886450"/>
            <a:ext cx="219075" cy="336550"/>
          </a:xfrm>
          <a:custGeom>
            <a:avLst/>
            <a:gdLst>
              <a:gd name="T0" fmla="*/ 2147483647 w 276"/>
              <a:gd name="T1" fmla="*/ 2147483647 h 425"/>
              <a:gd name="T2" fmla="*/ 2147483647 w 276"/>
              <a:gd name="T3" fmla="*/ 2147483647 h 425"/>
              <a:gd name="T4" fmla="*/ 2147483647 w 276"/>
              <a:gd name="T5" fmla="*/ 2147483647 h 425"/>
              <a:gd name="T6" fmla="*/ 2147483647 w 276"/>
              <a:gd name="T7" fmla="*/ 2147483647 h 425"/>
              <a:gd name="T8" fmla="*/ 2147483647 w 276"/>
              <a:gd name="T9" fmla="*/ 2147483647 h 425"/>
              <a:gd name="T10" fmla="*/ 2147483647 w 276"/>
              <a:gd name="T11" fmla="*/ 2147483647 h 425"/>
              <a:gd name="T12" fmla="*/ 2147483647 w 276"/>
              <a:gd name="T13" fmla="*/ 2147483647 h 425"/>
              <a:gd name="T14" fmla="*/ 2147483647 w 276"/>
              <a:gd name="T15" fmla="*/ 2147483647 h 425"/>
              <a:gd name="T16" fmla="*/ 2147483647 w 276"/>
              <a:gd name="T17" fmla="*/ 2147483647 h 425"/>
              <a:gd name="T18" fmla="*/ 2147483647 w 276"/>
              <a:gd name="T19" fmla="*/ 2147483647 h 425"/>
              <a:gd name="T20" fmla="*/ 2147483647 w 276"/>
              <a:gd name="T21" fmla="*/ 2147483647 h 425"/>
              <a:gd name="T22" fmla="*/ 0 w 276"/>
              <a:gd name="T23" fmla="*/ 2147483647 h 425"/>
              <a:gd name="T24" fmla="*/ 0 w 276"/>
              <a:gd name="T25" fmla="*/ 2147483647 h 425"/>
              <a:gd name="T26" fmla="*/ 2147483647 w 276"/>
              <a:gd name="T27" fmla="*/ 2147483647 h 425"/>
              <a:gd name="T28" fmla="*/ 2147483647 w 276"/>
              <a:gd name="T29" fmla="*/ 2147483647 h 425"/>
              <a:gd name="T30" fmla="*/ 2147483647 w 276"/>
              <a:gd name="T31" fmla="*/ 0 h 425"/>
              <a:gd name="T32" fmla="*/ 2147483647 w 276"/>
              <a:gd name="T33" fmla="*/ 0 h 425"/>
              <a:gd name="T34" fmla="*/ 2147483647 w 276"/>
              <a:gd name="T35" fmla="*/ 2147483647 h 425"/>
              <a:gd name="T36" fmla="*/ 2147483647 w 276"/>
              <a:gd name="T37" fmla="*/ 2147483647 h 425"/>
              <a:gd name="T38" fmla="*/ 2147483647 w 276"/>
              <a:gd name="T39" fmla="*/ 2147483647 h 425"/>
              <a:gd name="T40" fmla="*/ 2147483647 w 276"/>
              <a:gd name="T41" fmla="*/ 2147483647 h 425"/>
              <a:gd name="T42" fmla="*/ 2147483647 w 276"/>
              <a:gd name="T43" fmla="*/ 2147483647 h 425"/>
              <a:gd name="T44" fmla="*/ 2147483647 w 276"/>
              <a:gd name="T45" fmla="*/ 2147483647 h 425"/>
              <a:gd name="T46" fmla="*/ 2147483647 w 276"/>
              <a:gd name="T47" fmla="*/ 2147483647 h 4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276"/>
              <a:gd name="T73" fmla="*/ 0 h 425"/>
              <a:gd name="T74" fmla="*/ 276 w 276"/>
              <a:gd name="T75" fmla="*/ 425 h 42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276" h="425">
                <a:moveTo>
                  <a:pt x="12" y="3"/>
                </a:moveTo>
                <a:lnTo>
                  <a:pt x="247" y="370"/>
                </a:lnTo>
                <a:lnTo>
                  <a:pt x="247" y="371"/>
                </a:lnTo>
                <a:lnTo>
                  <a:pt x="247" y="374"/>
                </a:lnTo>
                <a:lnTo>
                  <a:pt x="247" y="376"/>
                </a:lnTo>
                <a:lnTo>
                  <a:pt x="245" y="379"/>
                </a:lnTo>
                <a:lnTo>
                  <a:pt x="242" y="379"/>
                </a:lnTo>
                <a:lnTo>
                  <a:pt x="239" y="379"/>
                </a:lnTo>
                <a:lnTo>
                  <a:pt x="238" y="377"/>
                </a:lnTo>
                <a:lnTo>
                  <a:pt x="236" y="376"/>
                </a:lnTo>
                <a:lnTo>
                  <a:pt x="1" y="9"/>
                </a:lnTo>
                <a:lnTo>
                  <a:pt x="0" y="8"/>
                </a:lnTo>
                <a:lnTo>
                  <a:pt x="0" y="5"/>
                </a:lnTo>
                <a:lnTo>
                  <a:pt x="1" y="3"/>
                </a:lnTo>
                <a:lnTo>
                  <a:pt x="3" y="2"/>
                </a:lnTo>
                <a:lnTo>
                  <a:pt x="6" y="0"/>
                </a:lnTo>
                <a:lnTo>
                  <a:pt x="7" y="0"/>
                </a:lnTo>
                <a:lnTo>
                  <a:pt x="10" y="2"/>
                </a:lnTo>
                <a:lnTo>
                  <a:pt x="12" y="3"/>
                </a:lnTo>
                <a:close/>
                <a:moveTo>
                  <a:pt x="267" y="343"/>
                </a:moveTo>
                <a:lnTo>
                  <a:pt x="276" y="425"/>
                </a:lnTo>
                <a:lnTo>
                  <a:pt x="203" y="383"/>
                </a:lnTo>
                <a:lnTo>
                  <a:pt x="267" y="343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4" name="Freeform 172"/>
          <p:cNvSpPr>
            <a:spLocks/>
          </p:cNvSpPr>
          <p:nvPr/>
        </p:nvSpPr>
        <p:spPr bwMode="auto">
          <a:xfrm>
            <a:off x="1212850" y="6218238"/>
            <a:ext cx="300038" cy="300037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8" y="0"/>
                </a:moveTo>
                <a:lnTo>
                  <a:pt x="178" y="0"/>
                </a:lnTo>
                <a:lnTo>
                  <a:pt x="169" y="2"/>
                </a:lnTo>
                <a:lnTo>
                  <a:pt x="158" y="2"/>
                </a:lnTo>
                <a:lnTo>
                  <a:pt x="149" y="5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4" y="15"/>
                </a:lnTo>
                <a:lnTo>
                  <a:pt x="105" y="19"/>
                </a:lnTo>
                <a:lnTo>
                  <a:pt x="98" y="23"/>
                </a:lnTo>
                <a:lnTo>
                  <a:pt x="83" y="32"/>
                </a:lnTo>
                <a:lnTo>
                  <a:pt x="68" y="44"/>
                </a:lnTo>
                <a:lnTo>
                  <a:pt x="54" y="56"/>
                </a:lnTo>
                <a:lnTo>
                  <a:pt x="42" y="70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3" y="115"/>
                </a:lnTo>
                <a:lnTo>
                  <a:pt x="10" y="124"/>
                </a:lnTo>
                <a:lnTo>
                  <a:pt x="7" y="133"/>
                </a:lnTo>
                <a:lnTo>
                  <a:pt x="4" y="142"/>
                </a:lnTo>
                <a:lnTo>
                  <a:pt x="3" y="151"/>
                </a:lnTo>
                <a:lnTo>
                  <a:pt x="1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8"/>
                </a:lnTo>
                <a:lnTo>
                  <a:pt x="0" y="208"/>
                </a:lnTo>
                <a:lnTo>
                  <a:pt x="1" y="217"/>
                </a:lnTo>
                <a:lnTo>
                  <a:pt x="3" y="227"/>
                </a:lnTo>
                <a:lnTo>
                  <a:pt x="4" y="236"/>
                </a:lnTo>
                <a:lnTo>
                  <a:pt x="7" y="245"/>
                </a:lnTo>
                <a:lnTo>
                  <a:pt x="10" y="254"/>
                </a:lnTo>
                <a:lnTo>
                  <a:pt x="13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4"/>
                </a:lnTo>
                <a:lnTo>
                  <a:pt x="83" y="346"/>
                </a:lnTo>
                <a:lnTo>
                  <a:pt x="98" y="355"/>
                </a:lnTo>
                <a:lnTo>
                  <a:pt x="105" y="359"/>
                </a:lnTo>
                <a:lnTo>
                  <a:pt x="114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3"/>
                </a:lnTo>
                <a:lnTo>
                  <a:pt x="158" y="376"/>
                </a:lnTo>
                <a:lnTo>
                  <a:pt x="169" y="376"/>
                </a:lnTo>
                <a:lnTo>
                  <a:pt x="178" y="377"/>
                </a:lnTo>
                <a:lnTo>
                  <a:pt x="188" y="377"/>
                </a:lnTo>
                <a:lnTo>
                  <a:pt x="197" y="377"/>
                </a:lnTo>
                <a:lnTo>
                  <a:pt x="206" y="376"/>
                </a:lnTo>
                <a:lnTo>
                  <a:pt x="217" y="376"/>
                </a:lnTo>
                <a:lnTo>
                  <a:pt x="226" y="373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7" y="355"/>
                </a:lnTo>
                <a:lnTo>
                  <a:pt x="294" y="346"/>
                </a:lnTo>
                <a:lnTo>
                  <a:pt x="307" y="334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5"/>
                </a:lnTo>
                <a:lnTo>
                  <a:pt x="371" y="236"/>
                </a:lnTo>
                <a:lnTo>
                  <a:pt x="372" y="227"/>
                </a:lnTo>
                <a:lnTo>
                  <a:pt x="374" y="217"/>
                </a:lnTo>
                <a:lnTo>
                  <a:pt x="375" y="208"/>
                </a:lnTo>
                <a:lnTo>
                  <a:pt x="375" y="198"/>
                </a:lnTo>
                <a:lnTo>
                  <a:pt x="377" y="189"/>
                </a:lnTo>
                <a:lnTo>
                  <a:pt x="375" y="180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70"/>
                </a:lnTo>
                <a:lnTo>
                  <a:pt x="321" y="56"/>
                </a:lnTo>
                <a:lnTo>
                  <a:pt x="307" y="44"/>
                </a:lnTo>
                <a:lnTo>
                  <a:pt x="294" y="32"/>
                </a:lnTo>
                <a:lnTo>
                  <a:pt x="277" y="23"/>
                </a:lnTo>
                <a:lnTo>
                  <a:pt x="270" y="19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5"/>
                </a:lnTo>
                <a:lnTo>
                  <a:pt x="217" y="2"/>
                </a:lnTo>
                <a:lnTo>
                  <a:pt x="206" y="2"/>
                </a:lnTo>
                <a:lnTo>
                  <a:pt x="197" y="0"/>
                </a:lnTo>
                <a:lnTo>
                  <a:pt x="188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85" name="Rectangle 173"/>
          <p:cNvSpPr>
            <a:spLocks noChangeArrowheads="1"/>
          </p:cNvSpPr>
          <p:nvPr/>
        </p:nvSpPr>
        <p:spPr bwMode="auto">
          <a:xfrm>
            <a:off x="1304925" y="62388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1386" name="Freeform 174"/>
          <p:cNvSpPr>
            <a:spLocks/>
          </p:cNvSpPr>
          <p:nvPr/>
        </p:nvSpPr>
        <p:spPr bwMode="auto">
          <a:xfrm>
            <a:off x="1573213" y="5619750"/>
            <a:ext cx="298450" cy="300038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1"/>
                </a:lnTo>
                <a:lnTo>
                  <a:pt x="158" y="1"/>
                </a:lnTo>
                <a:lnTo>
                  <a:pt x="149" y="4"/>
                </a:lnTo>
                <a:lnTo>
                  <a:pt x="140" y="6"/>
                </a:lnTo>
                <a:lnTo>
                  <a:pt x="131" y="9"/>
                </a:lnTo>
                <a:lnTo>
                  <a:pt x="124" y="12"/>
                </a:lnTo>
                <a:lnTo>
                  <a:pt x="115" y="15"/>
                </a:lnTo>
                <a:lnTo>
                  <a:pt x="106" y="18"/>
                </a:lnTo>
                <a:lnTo>
                  <a:pt x="98" y="22"/>
                </a:lnTo>
                <a:lnTo>
                  <a:pt x="83" y="31"/>
                </a:lnTo>
                <a:lnTo>
                  <a:pt x="68" y="44"/>
                </a:lnTo>
                <a:lnTo>
                  <a:pt x="54" y="56"/>
                </a:lnTo>
                <a:lnTo>
                  <a:pt x="42" y="69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4" y="114"/>
                </a:lnTo>
                <a:lnTo>
                  <a:pt x="11" y="123"/>
                </a:lnTo>
                <a:lnTo>
                  <a:pt x="8" y="132"/>
                </a:lnTo>
                <a:lnTo>
                  <a:pt x="5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79"/>
                </a:lnTo>
                <a:lnTo>
                  <a:pt x="0" y="188"/>
                </a:lnTo>
                <a:lnTo>
                  <a:pt x="0" y="197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2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2" y="309"/>
                </a:lnTo>
                <a:lnTo>
                  <a:pt x="54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4"/>
                </a:lnTo>
                <a:lnTo>
                  <a:pt x="106" y="359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5"/>
                </a:lnTo>
                <a:lnTo>
                  <a:pt x="169" y="375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7" y="375"/>
                </a:lnTo>
                <a:lnTo>
                  <a:pt x="217" y="375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9"/>
                </a:lnTo>
                <a:lnTo>
                  <a:pt x="278" y="354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3" y="309"/>
                </a:lnTo>
                <a:lnTo>
                  <a:pt x="344" y="294"/>
                </a:lnTo>
                <a:lnTo>
                  <a:pt x="353" y="279"/>
                </a:lnTo>
                <a:lnTo>
                  <a:pt x="357" y="270"/>
                </a:lnTo>
                <a:lnTo>
                  <a:pt x="362" y="262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8"/>
                </a:lnTo>
                <a:lnTo>
                  <a:pt x="375" y="197"/>
                </a:lnTo>
                <a:lnTo>
                  <a:pt x="377" y="188"/>
                </a:lnTo>
                <a:lnTo>
                  <a:pt x="375" y="179"/>
                </a:lnTo>
                <a:lnTo>
                  <a:pt x="375" y="169"/>
                </a:lnTo>
                <a:lnTo>
                  <a:pt x="374" y="160"/>
                </a:lnTo>
                <a:lnTo>
                  <a:pt x="372" y="151"/>
                </a:lnTo>
                <a:lnTo>
                  <a:pt x="371" y="142"/>
                </a:lnTo>
                <a:lnTo>
                  <a:pt x="368" y="132"/>
                </a:lnTo>
                <a:lnTo>
                  <a:pt x="365" y="123"/>
                </a:lnTo>
                <a:lnTo>
                  <a:pt x="362" y="114"/>
                </a:lnTo>
                <a:lnTo>
                  <a:pt x="357" y="107"/>
                </a:lnTo>
                <a:lnTo>
                  <a:pt x="353" y="98"/>
                </a:lnTo>
                <a:lnTo>
                  <a:pt x="344" y="83"/>
                </a:lnTo>
                <a:lnTo>
                  <a:pt x="333" y="69"/>
                </a:lnTo>
                <a:lnTo>
                  <a:pt x="321" y="56"/>
                </a:lnTo>
                <a:lnTo>
                  <a:pt x="308" y="44"/>
                </a:lnTo>
                <a:lnTo>
                  <a:pt x="294" y="31"/>
                </a:lnTo>
                <a:lnTo>
                  <a:pt x="278" y="22"/>
                </a:lnTo>
                <a:lnTo>
                  <a:pt x="270" y="18"/>
                </a:lnTo>
                <a:lnTo>
                  <a:pt x="261" y="15"/>
                </a:lnTo>
                <a:lnTo>
                  <a:pt x="253" y="12"/>
                </a:lnTo>
                <a:lnTo>
                  <a:pt x="244" y="9"/>
                </a:lnTo>
                <a:lnTo>
                  <a:pt x="235" y="6"/>
                </a:lnTo>
                <a:lnTo>
                  <a:pt x="226" y="4"/>
                </a:lnTo>
                <a:lnTo>
                  <a:pt x="217" y="1"/>
                </a:lnTo>
                <a:lnTo>
                  <a:pt x="207" y="1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87" name="Rectangle 175"/>
          <p:cNvSpPr>
            <a:spLocks noChangeArrowheads="1"/>
          </p:cNvSpPr>
          <p:nvPr/>
        </p:nvSpPr>
        <p:spPr bwMode="auto">
          <a:xfrm>
            <a:off x="1663700" y="56419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1388" name="Freeform 176"/>
          <p:cNvSpPr>
            <a:spLocks noEditPoints="1"/>
          </p:cNvSpPr>
          <p:nvPr/>
        </p:nvSpPr>
        <p:spPr bwMode="auto">
          <a:xfrm>
            <a:off x="1722438" y="5187950"/>
            <a:ext cx="257175" cy="417513"/>
          </a:xfrm>
          <a:custGeom>
            <a:avLst/>
            <a:gdLst>
              <a:gd name="T0" fmla="*/ 2147483647 w 324"/>
              <a:gd name="T1" fmla="*/ 2147483647 h 526"/>
              <a:gd name="T2" fmla="*/ 2147483647 w 324"/>
              <a:gd name="T3" fmla="*/ 2147483647 h 526"/>
              <a:gd name="T4" fmla="*/ 2147483647 w 324"/>
              <a:gd name="T5" fmla="*/ 2147483647 h 526"/>
              <a:gd name="T6" fmla="*/ 2147483647 w 324"/>
              <a:gd name="T7" fmla="*/ 2147483647 h 526"/>
              <a:gd name="T8" fmla="*/ 2147483647 w 324"/>
              <a:gd name="T9" fmla="*/ 2147483647 h 526"/>
              <a:gd name="T10" fmla="*/ 2147483647 w 324"/>
              <a:gd name="T11" fmla="*/ 2147483647 h 526"/>
              <a:gd name="T12" fmla="*/ 2147483647 w 324"/>
              <a:gd name="T13" fmla="*/ 2147483647 h 526"/>
              <a:gd name="T14" fmla="*/ 2147483647 w 324"/>
              <a:gd name="T15" fmla="*/ 2147483647 h 526"/>
              <a:gd name="T16" fmla="*/ 2147483647 w 324"/>
              <a:gd name="T17" fmla="*/ 2147483647 h 526"/>
              <a:gd name="T18" fmla="*/ 2147483647 w 324"/>
              <a:gd name="T19" fmla="*/ 2147483647 h 526"/>
              <a:gd name="T20" fmla="*/ 2147483647 w 324"/>
              <a:gd name="T21" fmla="*/ 2147483647 h 526"/>
              <a:gd name="T22" fmla="*/ 2147483647 w 324"/>
              <a:gd name="T23" fmla="*/ 0 h 526"/>
              <a:gd name="T24" fmla="*/ 2147483647 w 324"/>
              <a:gd name="T25" fmla="*/ 0 h 526"/>
              <a:gd name="T26" fmla="*/ 2147483647 w 324"/>
              <a:gd name="T27" fmla="*/ 0 h 526"/>
              <a:gd name="T28" fmla="*/ 2147483647 w 324"/>
              <a:gd name="T29" fmla="*/ 0 h 526"/>
              <a:gd name="T30" fmla="*/ 2147483647 w 324"/>
              <a:gd name="T31" fmla="*/ 2147483647 h 526"/>
              <a:gd name="T32" fmla="*/ 2147483647 w 324"/>
              <a:gd name="T33" fmla="*/ 2147483647 h 526"/>
              <a:gd name="T34" fmla="*/ 2147483647 w 324"/>
              <a:gd name="T35" fmla="*/ 2147483647 h 526"/>
              <a:gd name="T36" fmla="*/ 2147483647 w 324"/>
              <a:gd name="T37" fmla="*/ 2147483647 h 526"/>
              <a:gd name="T38" fmla="*/ 2147483647 w 324"/>
              <a:gd name="T39" fmla="*/ 2147483647 h 526"/>
              <a:gd name="T40" fmla="*/ 2147483647 w 324"/>
              <a:gd name="T41" fmla="*/ 2147483647 h 526"/>
              <a:gd name="T42" fmla="*/ 0 w 324"/>
              <a:gd name="T43" fmla="*/ 2147483647 h 526"/>
              <a:gd name="T44" fmla="*/ 2147483647 w 324"/>
              <a:gd name="T45" fmla="*/ 2147483647 h 526"/>
              <a:gd name="T46" fmla="*/ 2147483647 w 324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526"/>
              <a:gd name="T74" fmla="*/ 324 w 324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526">
                <a:moveTo>
                  <a:pt x="324" y="9"/>
                </a:moveTo>
                <a:lnTo>
                  <a:pt x="37" y="474"/>
                </a:lnTo>
                <a:lnTo>
                  <a:pt x="36" y="476"/>
                </a:lnTo>
                <a:lnTo>
                  <a:pt x="33" y="478"/>
                </a:lnTo>
                <a:lnTo>
                  <a:pt x="31" y="478"/>
                </a:lnTo>
                <a:lnTo>
                  <a:pt x="28" y="478"/>
                </a:lnTo>
                <a:lnTo>
                  <a:pt x="27" y="474"/>
                </a:lnTo>
                <a:lnTo>
                  <a:pt x="25" y="473"/>
                </a:lnTo>
                <a:lnTo>
                  <a:pt x="25" y="470"/>
                </a:lnTo>
                <a:lnTo>
                  <a:pt x="27" y="468"/>
                </a:lnTo>
                <a:lnTo>
                  <a:pt x="313" y="3"/>
                </a:lnTo>
                <a:lnTo>
                  <a:pt x="315" y="0"/>
                </a:lnTo>
                <a:lnTo>
                  <a:pt x="316" y="0"/>
                </a:lnTo>
                <a:lnTo>
                  <a:pt x="319" y="0"/>
                </a:lnTo>
                <a:lnTo>
                  <a:pt x="321" y="0"/>
                </a:lnTo>
                <a:lnTo>
                  <a:pt x="322" y="1"/>
                </a:lnTo>
                <a:lnTo>
                  <a:pt x="324" y="4"/>
                </a:lnTo>
                <a:lnTo>
                  <a:pt x="324" y="6"/>
                </a:lnTo>
                <a:lnTo>
                  <a:pt x="324" y="9"/>
                </a:lnTo>
                <a:close/>
                <a:moveTo>
                  <a:pt x="70" y="481"/>
                </a:moveTo>
                <a:lnTo>
                  <a:pt x="0" y="526"/>
                </a:lnTo>
                <a:lnTo>
                  <a:pt x="7" y="441"/>
                </a:lnTo>
                <a:lnTo>
                  <a:pt x="70" y="481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89" name="Freeform 177"/>
          <p:cNvSpPr>
            <a:spLocks noEditPoints="1"/>
          </p:cNvSpPr>
          <p:nvPr/>
        </p:nvSpPr>
        <p:spPr bwMode="auto">
          <a:xfrm>
            <a:off x="1363663" y="5886450"/>
            <a:ext cx="257175" cy="317500"/>
          </a:xfrm>
          <a:custGeom>
            <a:avLst/>
            <a:gdLst>
              <a:gd name="T0" fmla="*/ 2147483647 w 324"/>
              <a:gd name="T1" fmla="*/ 2147483647 h 401"/>
              <a:gd name="T2" fmla="*/ 2147483647 w 324"/>
              <a:gd name="T3" fmla="*/ 2147483647 h 401"/>
              <a:gd name="T4" fmla="*/ 2147483647 w 324"/>
              <a:gd name="T5" fmla="*/ 2147483647 h 401"/>
              <a:gd name="T6" fmla="*/ 2147483647 w 324"/>
              <a:gd name="T7" fmla="*/ 2147483647 h 401"/>
              <a:gd name="T8" fmla="*/ 2147483647 w 324"/>
              <a:gd name="T9" fmla="*/ 2147483647 h 401"/>
              <a:gd name="T10" fmla="*/ 2147483647 w 324"/>
              <a:gd name="T11" fmla="*/ 2147483647 h 401"/>
              <a:gd name="T12" fmla="*/ 2147483647 w 324"/>
              <a:gd name="T13" fmla="*/ 2147483647 h 401"/>
              <a:gd name="T14" fmla="*/ 2147483647 w 324"/>
              <a:gd name="T15" fmla="*/ 2147483647 h 401"/>
              <a:gd name="T16" fmla="*/ 2147483647 w 324"/>
              <a:gd name="T17" fmla="*/ 2147483647 h 401"/>
              <a:gd name="T18" fmla="*/ 2147483647 w 324"/>
              <a:gd name="T19" fmla="*/ 2147483647 h 401"/>
              <a:gd name="T20" fmla="*/ 2147483647 w 324"/>
              <a:gd name="T21" fmla="*/ 2147483647 h 401"/>
              <a:gd name="T22" fmla="*/ 2147483647 w 324"/>
              <a:gd name="T23" fmla="*/ 0 h 401"/>
              <a:gd name="T24" fmla="*/ 2147483647 w 324"/>
              <a:gd name="T25" fmla="*/ 0 h 401"/>
              <a:gd name="T26" fmla="*/ 2147483647 w 324"/>
              <a:gd name="T27" fmla="*/ 0 h 401"/>
              <a:gd name="T28" fmla="*/ 2147483647 w 324"/>
              <a:gd name="T29" fmla="*/ 2147483647 h 401"/>
              <a:gd name="T30" fmla="*/ 2147483647 w 324"/>
              <a:gd name="T31" fmla="*/ 2147483647 h 401"/>
              <a:gd name="T32" fmla="*/ 2147483647 w 324"/>
              <a:gd name="T33" fmla="*/ 2147483647 h 401"/>
              <a:gd name="T34" fmla="*/ 2147483647 w 324"/>
              <a:gd name="T35" fmla="*/ 2147483647 h 401"/>
              <a:gd name="T36" fmla="*/ 2147483647 w 324"/>
              <a:gd name="T37" fmla="*/ 2147483647 h 401"/>
              <a:gd name="T38" fmla="*/ 2147483647 w 324"/>
              <a:gd name="T39" fmla="*/ 2147483647 h 401"/>
              <a:gd name="T40" fmla="*/ 2147483647 w 324"/>
              <a:gd name="T41" fmla="*/ 2147483647 h 401"/>
              <a:gd name="T42" fmla="*/ 0 w 324"/>
              <a:gd name="T43" fmla="*/ 2147483647 h 401"/>
              <a:gd name="T44" fmla="*/ 2147483647 w 324"/>
              <a:gd name="T45" fmla="*/ 2147483647 h 401"/>
              <a:gd name="T46" fmla="*/ 2147483647 w 324"/>
              <a:gd name="T47" fmla="*/ 2147483647 h 40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24"/>
              <a:gd name="T73" fmla="*/ 0 h 401"/>
              <a:gd name="T74" fmla="*/ 324 w 324"/>
              <a:gd name="T75" fmla="*/ 401 h 401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24" h="401">
                <a:moveTo>
                  <a:pt x="323" y="11"/>
                </a:moveTo>
                <a:lnTo>
                  <a:pt x="44" y="356"/>
                </a:lnTo>
                <a:lnTo>
                  <a:pt x="43" y="358"/>
                </a:lnTo>
                <a:lnTo>
                  <a:pt x="40" y="358"/>
                </a:lnTo>
                <a:lnTo>
                  <a:pt x="38" y="358"/>
                </a:lnTo>
                <a:lnTo>
                  <a:pt x="35" y="356"/>
                </a:lnTo>
                <a:lnTo>
                  <a:pt x="34" y="355"/>
                </a:lnTo>
                <a:lnTo>
                  <a:pt x="34" y="352"/>
                </a:lnTo>
                <a:lnTo>
                  <a:pt x="34" y="350"/>
                </a:lnTo>
                <a:lnTo>
                  <a:pt x="35" y="349"/>
                </a:lnTo>
                <a:lnTo>
                  <a:pt x="314" y="2"/>
                </a:lnTo>
                <a:lnTo>
                  <a:pt x="315" y="0"/>
                </a:lnTo>
                <a:lnTo>
                  <a:pt x="318" y="0"/>
                </a:lnTo>
                <a:lnTo>
                  <a:pt x="320" y="0"/>
                </a:lnTo>
                <a:lnTo>
                  <a:pt x="323" y="2"/>
                </a:lnTo>
                <a:lnTo>
                  <a:pt x="324" y="3"/>
                </a:lnTo>
                <a:lnTo>
                  <a:pt x="324" y="6"/>
                </a:lnTo>
                <a:lnTo>
                  <a:pt x="324" y="8"/>
                </a:lnTo>
                <a:lnTo>
                  <a:pt x="323" y="11"/>
                </a:lnTo>
                <a:close/>
                <a:moveTo>
                  <a:pt x="77" y="365"/>
                </a:moveTo>
                <a:lnTo>
                  <a:pt x="0" y="401"/>
                </a:lnTo>
                <a:lnTo>
                  <a:pt x="18" y="318"/>
                </a:lnTo>
                <a:lnTo>
                  <a:pt x="77" y="36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90" name="Freeform 178"/>
          <p:cNvSpPr>
            <a:spLocks/>
          </p:cNvSpPr>
          <p:nvPr/>
        </p:nvSpPr>
        <p:spPr bwMode="auto">
          <a:xfrm>
            <a:off x="2051050" y="6238875"/>
            <a:ext cx="298450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0"/>
                </a:lnTo>
                <a:lnTo>
                  <a:pt x="158" y="2"/>
                </a:lnTo>
                <a:lnTo>
                  <a:pt x="149" y="3"/>
                </a:lnTo>
                <a:lnTo>
                  <a:pt x="140" y="5"/>
                </a:lnTo>
                <a:lnTo>
                  <a:pt x="131" y="8"/>
                </a:lnTo>
                <a:lnTo>
                  <a:pt x="124" y="11"/>
                </a:lnTo>
                <a:lnTo>
                  <a:pt x="115" y="14"/>
                </a:lnTo>
                <a:lnTo>
                  <a:pt x="106" y="18"/>
                </a:lnTo>
                <a:lnTo>
                  <a:pt x="98" y="23"/>
                </a:lnTo>
                <a:lnTo>
                  <a:pt x="83" y="32"/>
                </a:lnTo>
                <a:lnTo>
                  <a:pt x="68" y="42"/>
                </a:lnTo>
                <a:lnTo>
                  <a:pt x="54" y="54"/>
                </a:lnTo>
                <a:lnTo>
                  <a:pt x="42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6"/>
                </a:lnTo>
                <a:lnTo>
                  <a:pt x="14" y="115"/>
                </a:lnTo>
                <a:lnTo>
                  <a:pt x="11" y="124"/>
                </a:lnTo>
                <a:lnTo>
                  <a:pt x="8" y="131"/>
                </a:lnTo>
                <a:lnTo>
                  <a:pt x="5" y="140"/>
                </a:lnTo>
                <a:lnTo>
                  <a:pt x="3" y="149"/>
                </a:lnTo>
                <a:lnTo>
                  <a:pt x="2" y="158"/>
                </a:lnTo>
                <a:lnTo>
                  <a:pt x="0" y="169"/>
                </a:lnTo>
                <a:lnTo>
                  <a:pt x="0" y="178"/>
                </a:lnTo>
                <a:lnTo>
                  <a:pt x="0" y="188"/>
                </a:lnTo>
                <a:lnTo>
                  <a:pt x="0" y="197"/>
                </a:lnTo>
                <a:lnTo>
                  <a:pt x="0" y="207"/>
                </a:lnTo>
                <a:lnTo>
                  <a:pt x="2" y="217"/>
                </a:lnTo>
                <a:lnTo>
                  <a:pt x="3" y="226"/>
                </a:lnTo>
                <a:lnTo>
                  <a:pt x="5" y="235"/>
                </a:lnTo>
                <a:lnTo>
                  <a:pt x="8" y="244"/>
                </a:lnTo>
                <a:lnTo>
                  <a:pt x="11" y="253"/>
                </a:lnTo>
                <a:lnTo>
                  <a:pt x="14" y="261"/>
                </a:lnTo>
                <a:lnTo>
                  <a:pt x="18" y="270"/>
                </a:lnTo>
                <a:lnTo>
                  <a:pt x="23" y="277"/>
                </a:lnTo>
                <a:lnTo>
                  <a:pt x="32" y="294"/>
                </a:lnTo>
                <a:lnTo>
                  <a:pt x="42" y="308"/>
                </a:lnTo>
                <a:lnTo>
                  <a:pt x="54" y="321"/>
                </a:lnTo>
                <a:lnTo>
                  <a:pt x="68" y="333"/>
                </a:lnTo>
                <a:lnTo>
                  <a:pt x="83" y="344"/>
                </a:lnTo>
                <a:lnTo>
                  <a:pt x="98" y="353"/>
                </a:lnTo>
                <a:lnTo>
                  <a:pt x="106" y="357"/>
                </a:lnTo>
                <a:lnTo>
                  <a:pt x="115" y="362"/>
                </a:lnTo>
                <a:lnTo>
                  <a:pt x="124" y="365"/>
                </a:lnTo>
                <a:lnTo>
                  <a:pt x="131" y="368"/>
                </a:lnTo>
                <a:lnTo>
                  <a:pt x="140" y="371"/>
                </a:lnTo>
                <a:lnTo>
                  <a:pt x="149" y="372"/>
                </a:lnTo>
                <a:lnTo>
                  <a:pt x="158" y="374"/>
                </a:lnTo>
                <a:lnTo>
                  <a:pt x="169" y="375"/>
                </a:lnTo>
                <a:lnTo>
                  <a:pt x="178" y="375"/>
                </a:lnTo>
                <a:lnTo>
                  <a:pt x="189" y="377"/>
                </a:lnTo>
                <a:lnTo>
                  <a:pt x="198" y="375"/>
                </a:lnTo>
                <a:lnTo>
                  <a:pt x="207" y="375"/>
                </a:lnTo>
                <a:lnTo>
                  <a:pt x="217" y="374"/>
                </a:lnTo>
                <a:lnTo>
                  <a:pt x="226" y="372"/>
                </a:lnTo>
                <a:lnTo>
                  <a:pt x="235" y="371"/>
                </a:lnTo>
                <a:lnTo>
                  <a:pt x="244" y="368"/>
                </a:lnTo>
                <a:lnTo>
                  <a:pt x="253" y="365"/>
                </a:lnTo>
                <a:lnTo>
                  <a:pt x="261" y="362"/>
                </a:lnTo>
                <a:lnTo>
                  <a:pt x="270" y="357"/>
                </a:lnTo>
                <a:lnTo>
                  <a:pt x="277" y="353"/>
                </a:lnTo>
                <a:lnTo>
                  <a:pt x="294" y="344"/>
                </a:lnTo>
                <a:lnTo>
                  <a:pt x="308" y="333"/>
                </a:lnTo>
                <a:lnTo>
                  <a:pt x="321" y="321"/>
                </a:lnTo>
                <a:lnTo>
                  <a:pt x="333" y="308"/>
                </a:lnTo>
                <a:lnTo>
                  <a:pt x="344" y="294"/>
                </a:lnTo>
                <a:lnTo>
                  <a:pt x="353" y="277"/>
                </a:lnTo>
                <a:lnTo>
                  <a:pt x="357" y="270"/>
                </a:lnTo>
                <a:lnTo>
                  <a:pt x="362" y="261"/>
                </a:lnTo>
                <a:lnTo>
                  <a:pt x="365" y="253"/>
                </a:lnTo>
                <a:lnTo>
                  <a:pt x="368" y="244"/>
                </a:lnTo>
                <a:lnTo>
                  <a:pt x="371" y="235"/>
                </a:lnTo>
                <a:lnTo>
                  <a:pt x="372" y="226"/>
                </a:lnTo>
                <a:lnTo>
                  <a:pt x="374" y="217"/>
                </a:lnTo>
                <a:lnTo>
                  <a:pt x="375" y="207"/>
                </a:lnTo>
                <a:lnTo>
                  <a:pt x="375" y="197"/>
                </a:lnTo>
                <a:lnTo>
                  <a:pt x="377" y="188"/>
                </a:lnTo>
                <a:lnTo>
                  <a:pt x="375" y="178"/>
                </a:lnTo>
                <a:lnTo>
                  <a:pt x="375" y="169"/>
                </a:lnTo>
                <a:lnTo>
                  <a:pt x="374" y="158"/>
                </a:lnTo>
                <a:lnTo>
                  <a:pt x="372" y="149"/>
                </a:lnTo>
                <a:lnTo>
                  <a:pt x="371" y="140"/>
                </a:lnTo>
                <a:lnTo>
                  <a:pt x="368" y="131"/>
                </a:lnTo>
                <a:lnTo>
                  <a:pt x="365" y="124"/>
                </a:lnTo>
                <a:lnTo>
                  <a:pt x="362" y="115"/>
                </a:lnTo>
                <a:lnTo>
                  <a:pt x="357" y="106"/>
                </a:lnTo>
                <a:lnTo>
                  <a:pt x="353" y="98"/>
                </a:lnTo>
                <a:lnTo>
                  <a:pt x="344" y="83"/>
                </a:lnTo>
                <a:lnTo>
                  <a:pt x="333" y="68"/>
                </a:lnTo>
                <a:lnTo>
                  <a:pt x="321" y="54"/>
                </a:lnTo>
                <a:lnTo>
                  <a:pt x="308" y="42"/>
                </a:lnTo>
                <a:lnTo>
                  <a:pt x="294" y="32"/>
                </a:lnTo>
                <a:lnTo>
                  <a:pt x="277" y="23"/>
                </a:lnTo>
                <a:lnTo>
                  <a:pt x="270" y="18"/>
                </a:lnTo>
                <a:lnTo>
                  <a:pt x="261" y="14"/>
                </a:lnTo>
                <a:lnTo>
                  <a:pt x="253" y="11"/>
                </a:lnTo>
                <a:lnTo>
                  <a:pt x="244" y="8"/>
                </a:lnTo>
                <a:lnTo>
                  <a:pt x="235" y="5"/>
                </a:lnTo>
                <a:lnTo>
                  <a:pt x="226" y="3"/>
                </a:lnTo>
                <a:lnTo>
                  <a:pt x="217" y="2"/>
                </a:lnTo>
                <a:lnTo>
                  <a:pt x="207" y="0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91" name="Rectangle 179"/>
          <p:cNvSpPr>
            <a:spLocks noChangeArrowheads="1"/>
          </p:cNvSpPr>
          <p:nvPr/>
        </p:nvSpPr>
        <p:spPr bwMode="auto">
          <a:xfrm>
            <a:off x="2141538" y="62595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1392" name="Freeform 180"/>
          <p:cNvSpPr>
            <a:spLocks noEditPoints="1"/>
          </p:cNvSpPr>
          <p:nvPr/>
        </p:nvSpPr>
        <p:spPr bwMode="auto">
          <a:xfrm>
            <a:off x="2181225" y="5187950"/>
            <a:ext cx="252413" cy="461963"/>
          </a:xfrm>
          <a:custGeom>
            <a:avLst/>
            <a:gdLst>
              <a:gd name="T0" fmla="*/ 2147483647 w 318"/>
              <a:gd name="T1" fmla="*/ 2147483647 h 580"/>
              <a:gd name="T2" fmla="*/ 2147483647 w 318"/>
              <a:gd name="T3" fmla="*/ 2147483647 h 580"/>
              <a:gd name="T4" fmla="*/ 2147483647 w 318"/>
              <a:gd name="T5" fmla="*/ 2147483647 h 580"/>
              <a:gd name="T6" fmla="*/ 2147483647 w 318"/>
              <a:gd name="T7" fmla="*/ 2147483647 h 580"/>
              <a:gd name="T8" fmla="*/ 2147483647 w 318"/>
              <a:gd name="T9" fmla="*/ 2147483647 h 580"/>
              <a:gd name="T10" fmla="*/ 2147483647 w 318"/>
              <a:gd name="T11" fmla="*/ 2147483647 h 580"/>
              <a:gd name="T12" fmla="*/ 2147483647 w 318"/>
              <a:gd name="T13" fmla="*/ 2147483647 h 580"/>
              <a:gd name="T14" fmla="*/ 2147483647 w 318"/>
              <a:gd name="T15" fmla="*/ 2147483647 h 580"/>
              <a:gd name="T16" fmla="*/ 2147483647 w 318"/>
              <a:gd name="T17" fmla="*/ 2147483647 h 580"/>
              <a:gd name="T18" fmla="*/ 2147483647 w 318"/>
              <a:gd name="T19" fmla="*/ 2147483647 h 580"/>
              <a:gd name="T20" fmla="*/ 2147483647 w 318"/>
              <a:gd name="T21" fmla="*/ 2147483647 h 580"/>
              <a:gd name="T22" fmla="*/ 0 w 318"/>
              <a:gd name="T23" fmla="*/ 2147483647 h 580"/>
              <a:gd name="T24" fmla="*/ 0 w 318"/>
              <a:gd name="T25" fmla="*/ 2147483647 h 580"/>
              <a:gd name="T26" fmla="*/ 2147483647 w 318"/>
              <a:gd name="T27" fmla="*/ 2147483647 h 580"/>
              <a:gd name="T28" fmla="*/ 2147483647 w 318"/>
              <a:gd name="T29" fmla="*/ 0 h 580"/>
              <a:gd name="T30" fmla="*/ 2147483647 w 318"/>
              <a:gd name="T31" fmla="*/ 0 h 580"/>
              <a:gd name="T32" fmla="*/ 2147483647 w 318"/>
              <a:gd name="T33" fmla="*/ 0 h 580"/>
              <a:gd name="T34" fmla="*/ 2147483647 w 318"/>
              <a:gd name="T35" fmla="*/ 2147483647 h 580"/>
              <a:gd name="T36" fmla="*/ 2147483647 w 318"/>
              <a:gd name="T37" fmla="*/ 2147483647 h 580"/>
              <a:gd name="T38" fmla="*/ 2147483647 w 318"/>
              <a:gd name="T39" fmla="*/ 2147483647 h 580"/>
              <a:gd name="T40" fmla="*/ 2147483647 w 318"/>
              <a:gd name="T41" fmla="*/ 2147483647 h 580"/>
              <a:gd name="T42" fmla="*/ 2147483647 w 318"/>
              <a:gd name="T43" fmla="*/ 2147483647 h 580"/>
              <a:gd name="T44" fmla="*/ 2147483647 w 318"/>
              <a:gd name="T45" fmla="*/ 2147483647 h 580"/>
              <a:gd name="T46" fmla="*/ 2147483647 w 318"/>
              <a:gd name="T47" fmla="*/ 2147483647 h 58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18"/>
              <a:gd name="T73" fmla="*/ 0 h 580"/>
              <a:gd name="T74" fmla="*/ 318 w 318"/>
              <a:gd name="T75" fmla="*/ 580 h 58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18" h="580">
                <a:moveTo>
                  <a:pt x="12" y="3"/>
                </a:moveTo>
                <a:lnTo>
                  <a:pt x="293" y="521"/>
                </a:lnTo>
                <a:lnTo>
                  <a:pt x="294" y="524"/>
                </a:lnTo>
                <a:lnTo>
                  <a:pt x="294" y="526"/>
                </a:lnTo>
                <a:lnTo>
                  <a:pt x="293" y="529"/>
                </a:lnTo>
                <a:lnTo>
                  <a:pt x="291" y="530"/>
                </a:lnTo>
                <a:lnTo>
                  <a:pt x="288" y="530"/>
                </a:lnTo>
                <a:lnTo>
                  <a:pt x="285" y="530"/>
                </a:lnTo>
                <a:lnTo>
                  <a:pt x="284" y="530"/>
                </a:lnTo>
                <a:lnTo>
                  <a:pt x="282" y="527"/>
                </a:lnTo>
                <a:lnTo>
                  <a:pt x="2" y="9"/>
                </a:lnTo>
                <a:lnTo>
                  <a:pt x="0" y="6"/>
                </a:lnTo>
                <a:lnTo>
                  <a:pt x="0" y="3"/>
                </a:lnTo>
                <a:lnTo>
                  <a:pt x="2" y="1"/>
                </a:lnTo>
                <a:lnTo>
                  <a:pt x="3" y="0"/>
                </a:lnTo>
                <a:lnTo>
                  <a:pt x="6" y="0"/>
                </a:lnTo>
                <a:lnTo>
                  <a:pt x="8" y="0"/>
                </a:lnTo>
                <a:lnTo>
                  <a:pt x="11" y="1"/>
                </a:lnTo>
                <a:lnTo>
                  <a:pt x="12" y="3"/>
                </a:lnTo>
                <a:close/>
                <a:moveTo>
                  <a:pt x="315" y="496"/>
                </a:moveTo>
                <a:lnTo>
                  <a:pt x="318" y="580"/>
                </a:lnTo>
                <a:lnTo>
                  <a:pt x="249" y="532"/>
                </a:lnTo>
                <a:lnTo>
                  <a:pt x="315" y="496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93" name="Freeform 181"/>
          <p:cNvSpPr>
            <a:spLocks/>
          </p:cNvSpPr>
          <p:nvPr/>
        </p:nvSpPr>
        <p:spPr bwMode="auto">
          <a:xfrm>
            <a:off x="3313113" y="5619750"/>
            <a:ext cx="300037" cy="298450"/>
          </a:xfrm>
          <a:custGeom>
            <a:avLst/>
            <a:gdLst>
              <a:gd name="T0" fmla="*/ 2147483647 w 377"/>
              <a:gd name="T1" fmla="*/ 0 h 377"/>
              <a:gd name="T2" fmla="*/ 2147483647 w 377"/>
              <a:gd name="T3" fmla="*/ 2147483647 h 377"/>
              <a:gd name="T4" fmla="*/ 2147483647 w 377"/>
              <a:gd name="T5" fmla="*/ 2147483647 h 377"/>
              <a:gd name="T6" fmla="*/ 2147483647 w 377"/>
              <a:gd name="T7" fmla="*/ 2147483647 h 377"/>
              <a:gd name="T8" fmla="*/ 2147483647 w 377"/>
              <a:gd name="T9" fmla="*/ 2147483647 h 377"/>
              <a:gd name="T10" fmla="*/ 2147483647 w 377"/>
              <a:gd name="T11" fmla="*/ 2147483647 h 377"/>
              <a:gd name="T12" fmla="*/ 2147483647 w 377"/>
              <a:gd name="T13" fmla="*/ 2147483647 h 377"/>
              <a:gd name="T14" fmla="*/ 2147483647 w 377"/>
              <a:gd name="T15" fmla="*/ 2147483647 h 377"/>
              <a:gd name="T16" fmla="*/ 2147483647 w 377"/>
              <a:gd name="T17" fmla="*/ 2147483647 h 377"/>
              <a:gd name="T18" fmla="*/ 2147483647 w 377"/>
              <a:gd name="T19" fmla="*/ 2147483647 h 377"/>
              <a:gd name="T20" fmla="*/ 2147483647 w 377"/>
              <a:gd name="T21" fmla="*/ 2147483647 h 377"/>
              <a:gd name="T22" fmla="*/ 2147483647 w 377"/>
              <a:gd name="T23" fmla="*/ 2147483647 h 377"/>
              <a:gd name="T24" fmla="*/ 0 w 377"/>
              <a:gd name="T25" fmla="*/ 2147483647 h 377"/>
              <a:gd name="T26" fmla="*/ 0 w 377"/>
              <a:gd name="T27" fmla="*/ 2147483647 h 377"/>
              <a:gd name="T28" fmla="*/ 2147483647 w 377"/>
              <a:gd name="T29" fmla="*/ 2147483647 h 377"/>
              <a:gd name="T30" fmla="*/ 2147483647 w 377"/>
              <a:gd name="T31" fmla="*/ 2147483647 h 377"/>
              <a:gd name="T32" fmla="*/ 2147483647 w 377"/>
              <a:gd name="T33" fmla="*/ 2147483647 h 377"/>
              <a:gd name="T34" fmla="*/ 2147483647 w 377"/>
              <a:gd name="T35" fmla="*/ 2147483647 h 377"/>
              <a:gd name="T36" fmla="*/ 2147483647 w 377"/>
              <a:gd name="T37" fmla="*/ 2147483647 h 377"/>
              <a:gd name="T38" fmla="*/ 2147483647 w 377"/>
              <a:gd name="T39" fmla="*/ 2147483647 h 377"/>
              <a:gd name="T40" fmla="*/ 2147483647 w 377"/>
              <a:gd name="T41" fmla="*/ 2147483647 h 377"/>
              <a:gd name="T42" fmla="*/ 2147483647 w 377"/>
              <a:gd name="T43" fmla="*/ 2147483647 h 377"/>
              <a:gd name="T44" fmla="*/ 2147483647 w 377"/>
              <a:gd name="T45" fmla="*/ 2147483647 h 377"/>
              <a:gd name="T46" fmla="*/ 2147483647 w 377"/>
              <a:gd name="T47" fmla="*/ 2147483647 h 377"/>
              <a:gd name="T48" fmla="*/ 2147483647 w 377"/>
              <a:gd name="T49" fmla="*/ 2147483647 h 377"/>
              <a:gd name="T50" fmla="*/ 2147483647 w 377"/>
              <a:gd name="T51" fmla="*/ 2147483647 h 377"/>
              <a:gd name="T52" fmla="*/ 2147483647 w 377"/>
              <a:gd name="T53" fmla="*/ 2147483647 h 377"/>
              <a:gd name="T54" fmla="*/ 2147483647 w 377"/>
              <a:gd name="T55" fmla="*/ 2147483647 h 377"/>
              <a:gd name="T56" fmla="*/ 2147483647 w 377"/>
              <a:gd name="T57" fmla="*/ 2147483647 h 377"/>
              <a:gd name="T58" fmla="*/ 2147483647 w 377"/>
              <a:gd name="T59" fmla="*/ 2147483647 h 377"/>
              <a:gd name="T60" fmla="*/ 2147483647 w 377"/>
              <a:gd name="T61" fmla="*/ 2147483647 h 377"/>
              <a:gd name="T62" fmla="*/ 2147483647 w 377"/>
              <a:gd name="T63" fmla="*/ 2147483647 h 377"/>
              <a:gd name="T64" fmla="*/ 2147483647 w 377"/>
              <a:gd name="T65" fmla="*/ 2147483647 h 377"/>
              <a:gd name="T66" fmla="*/ 2147483647 w 377"/>
              <a:gd name="T67" fmla="*/ 2147483647 h 377"/>
              <a:gd name="T68" fmla="*/ 2147483647 w 377"/>
              <a:gd name="T69" fmla="*/ 2147483647 h 377"/>
              <a:gd name="T70" fmla="*/ 2147483647 w 377"/>
              <a:gd name="T71" fmla="*/ 2147483647 h 377"/>
              <a:gd name="T72" fmla="*/ 2147483647 w 377"/>
              <a:gd name="T73" fmla="*/ 2147483647 h 377"/>
              <a:gd name="T74" fmla="*/ 2147483647 w 377"/>
              <a:gd name="T75" fmla="*/ 2147483647 h 377"/>
              <a:gd name="T76" fmla="*/ 2147483647 w 377"/>
              <a:gd name="T77" fmla="*/ 2147483647 h 377"/>
              <a:gd name="T78" fmla="*/ 2147483647 w 377"/>
              <a:gd name="T79" fmla="*/ 2147483647 h 377"/>
              <a:gd name="T80" fmla="*/ 2147483647 w 377"/>
              <a:gd name="T81" fmla="*/ 2147483647 h 377"/>
              <a:gd name="T82" fmla="*/ 2147483647 w 377"/>
              <a:gd name="T83" fmla="*/ 2147483647 h 377"/>
              <a:gd name="T84" fmla="*/ 2147483647 w 377"/>
              <a:gd name="T85" fmla="*/ 2147483647 h 377"/>
              <a:gd name="T86" fmla="*/ 2147483647 w 377"/>
              <a:gd name="T87" fmla="*/ 2147483647 h 377"/>
              <a:gd name="T88" fmla="*/ 2147483647 w 377"/>
              <a:gd name="T89" fmla="*/ 2147483647 h 377"/>
              <a:gd name="T90" fmla="*/ 2147483647 w 377"/>
              <a:gd name="T91" fmla="*/ 2147483647 h 377"/>
              <a:gd name="T92" fmla="*/ 2147483647 w 377"/>
              <a:gd name="T93" fmla="*/ 2147483647 h 377"/>
              <a:gd name="T94" fmla="*/ 2147483647 w 377"/>
              <a:gd name="T95" fmla="*/ 2147483647 h 377"/>
              <a:gd name="T96" fmla="*/ 2147483647 w 377"/>
              <a:gd name="T97" fmla="*/ 2147483647 h 377"/>
              <a:gd name="T98" fmla="*/ 2147483647 w 377"/>
              <a:gd name="T99" fmla="*/ 2147483647 h 377"/>
              <a:gd name="T100" fmla="*/ 2147483647 w 377"/>
              <a:gd name="T101" fmla="*/ 2147483647 h 377"/>
              <a:gd name="T102" fmla="*/ 2147483647 w 377"/>
              <a:gd name="T103" fmla="*/ 0 h 377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77"/>
              <a:gd name="T157" fmla="*/ 0 h 377"/>
              <a:gd name="T158" fmla="*/ 377 w 377"/>
              <a:gd name="T159" fmla="*/ 377 h 377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77" h="377">
                <a:moveTo>
                  <a:pt x="189" y="0"/>
                </a:moveTo>
                <a:lnTo>
                  <a:pt x="178" y="0"/>
                </a:lnTo>
                <a:lnTo>
                  <a:pt x="169" y="2"/>
                </a:lnTo>
                <a:lnTo>
                  <a:pt x="160" y="2"/>
                </a:lnTo>
                <a:lnTo>
                  <a:pt x="151" y="5"/>
                </a:lnTo>
                <a:lnTo>
                  <a:pt x="142" y="6"/>
                </a:lnTo>
                <a:lnTo>
                  <a:pt x="133" y="9"/>
                </a:lnTo>
                <a:lnTo>
                  <a:pt x="124" y="12"/>
                </a:lnTo>
                <a:lnTo>
                  <a:pt x="115" y="15"/>
                </a:lnTo>
                <a:lnTo>
                  <a:pt x="107" y="18"/>
                </a:lnTo>
                <a:lnTo>
                  <a:pt x="98" y="23"/>
                </a:lnTo>
                <a:lnTo>
                  <a:pt x="83" y="32"/>
                </a:lnTo>
                <a:lnTo>
                  <a:pt x="68" y="43"/>
                </a:lnTo>
                <a:lnTo>
                  <a:pt x="55" y="56"/>
                </a:lnTo>
                <a:lnTo>
                  <a:pt x="43" y="68"/>
                </a:lnTo>
                <a:lnTo>
                  <a:pt x="32" y="83"/>
                </a:lnTo>
                <a:lnTo>
                  <a:pt x="23" y="98"/>
                </a:lnTo>
                <a:lnTo>
                  <a:pt x="18" y="107"/>
                </a:lnTo>
                <a:lnTo>
                  <a:pt x="15" y="115"/>
                </a:lnTo>
                <a:lnTo>
                  <a:pt x="11" y="124"/>
                </a:lnTo>
                <a:lnTo>
                  <a:pt x="8" y="133"/>
                </a:lnTo>
                <a:lnTo>
                  <a:pt x="6" y="142"/>
                </a:lnTo>
                <a:lnTo>
                  <a:pt x="3" y="151"/>
                </a:lnTo>
                <a:lnTo>
                  <a:pt x="2" y="160"/>
                </a:lnTo>
                <a:lnTo>
                  <a:pt x="0" y="169"/>
                </a:lnTo>
                <a:lnTo>
                  <a:pt x="0" y="180"/>
                </a:lnTo>
                <a:lnTo>
                  <a:pt x="0" y="189"/>
                </a:lnTo>
                <a:lnTo>
                  <a:pt x="0" y="198"/>
                </a:lnTo>
                <a:lnTo>
                  <a:pt x="0" y="208"/>
                </a:lnTo>
                <a:lnTo>
                  <a:pt x="2" y="217"/>
                </a:lnTo>
                <a:lnTo>
                  <a:pt x="3" y="226"/>
                </a:lnTo>
                <a:lnTo>
                  <a:pt x="6" y="235"/>
                </a:lnTo>
                <a:lnTo>
                  <a:pt x="8" y="244"/>
                </a:lnTo>
                <a:lnTo>
                  <a:pt x="11" y="254"/>
                </a:lnTo>
                <a:lnTo>
                  <a:pt x="15" y="263"/>
                </a:lnTo>
                <a:lnTo>
                  <a:pt x="18" y="270"/>
                </a:lnTo>
                <a:lnTo>
                  <a:pt x="23" y="279"/>
                </a:lnTo>
                <a:lnTo>
                  <a:pt x="32" y="294"/>
                </a:lnTo>
                <a:lnTo>
                  <a:pt x="43" y="309"/>
                </a:lnTo>
                <a:lnTo>
                  <a:pt x="55" y="321"/>
                </a:lnTo>
                <a:lnTo>
                  <a:pt x="68" y="333"/>
                </a:lnTo>
                <a:lnTo>
                  <a:pt x="83" y="345"/>
                </a:lnTo>
                <a:lnTo>
                  <a:pt x="98" y="355"/>
                </a:lnTo>
                <a:lnTo>
                  <a:pt x="107" y="359"/>
                </a:lnTo>
                <a:lnTo>
                  <a:pt x="115" y="362"/>
                </a:lnTo>
                <a:lnTo>
                  <a:pt x="124" y="365"/>
                </a:lnTo>
                <a:lnTo>
                  <a:pt x="133" y="368"/>
                </a:lnTo>
                <a:lnTo>
                  <a:pt x="142" y="371"/>
                </a:lnTo>
                <a:lnTo>
                  <a:pt x="151" y="373"/>
                </a:lnTo>
                <a:lnTo>
                  <a:pt x="160" y="376"/>
                </a:lnTo>
                <a:lnTo>
                  <a:pt x="169" y="376"/>
                </a:lnTo>
                <a:lnTo>
                  <a:pt x="178" y="377"/>
                </a:lnTo>
                <a:lnTo>
                  <a:pt x="189" y="377"/>
                </a:lnTo>
                <a:lnTo>
                  <a:pt x="198" y="377"/>
                </a:lnTo>
                <a:lnTo>
                  <a:pt x="208" y="376"/>
                </a:lnTo>
                <a:lnTo>
                  <a:pt x="217" y="376"/>
                </a:lnTo>
                <a:lnTo>
                  <a:pt x="226" y="373"/>
                </a:lnTo>
                <a:lnTo>
                  <a:pt x="236" y="371"/>
                </a:lnTo>
                <a:lnTo>
                  <a:pt x="245" y="368"/>
                </a:lnTo>
                <a:lnTo>
                  <a:pt x="254" y="365"/>
                </a:lnTo>
                <a:lnTo>
                  <a:pt x="261" y="362"/>
                </a:lnTo>
                <a:lnTo>
                  <a:pt x="270" y="359"/>
                </a:lnTo>
                <a:lnTo>
                  <a:pt x="278" y="355"/>
                </a:lnTo>
                <a:lnTo>
                  <a:pt x="294" y="345"/>
                </a:lnTo>
                <a:lnTo>
                  <a:pt x="308" y="333"/>
                </a:lnTo>
                <a:lnTo>
                  <a:pt x="321" y="321"/>
                </a:lnTo>
                <a:lnTo>
                  <a:pt x="334" y="309"/>
                </a:lnTo>
                <a:lnTo>
                  <a:pt x="344" y="294"/>
                </a:lnTo>
                <a:lnTo>
                  <a:pt x="355" y="279"/>
                </a:lnTo>
                <a:lnTo>
                  <a:pt x="358" y="270"/>
                </a:lnTo>
                <a:lnTo>
                  <a:pt x="362" y="263"/>
                </a:lnTo>
                <a:lnTo>
                  <a:pt x="365" y="254"/>
                </a:lnTo>
                <a:lnTo>
                  <a:pt x="368" y="244"/>
                </a:lnTo>
                <a:lnTo>
                  <a:pt x="371" y="235"/>
                </a:lnTo>
                <a:lnTo>
                  <a:pt x="373" y="226"/>
                </a:lnTo>
                <a:lnTo>
                  <a:pt x="374" y="217"/>
                </a:lnTo>
                <a:lnTo>
                  <a:pt x="376" y="208"/>
                </a:lnTo>
                <a:lnTo>
                  <a:pt x="377" y="198"/>
                </a:lnTo>
                <a:lnTo>
                  <a:pt x="377" y="189"/>
                </a:lnTo>
                <a:lnTo>
                  <a:pt x="377" y="180"/>
                </a:lnTo>
                <a:lnTo>
                  <a:pt x="376" y="169"/>
                </a:lnTo>
                <a:lnTo>
                  <a:pt x="374" y="160"/>
                </a:lnTo>
                <a:lnTo>
                  <a:pt x="373" y="151"/>
                </a:lnTo>
                <a:lnTo>
                  <a:pt x="371" y="142"/>
                </a:lnTo>
                <a:lnTo>
                  <a:pt x="368" y="133"/>
                </a:lnTo>
                <a:lnTo>
                  <a:pt x="365" y="124"/>
                </a:lnTo>
                <a:lnTo>
                  <a:pt x="362" y="115"/>
                </a:lnTo>
                <a:lnTo>
                  <a:pt x="358" y="107"/>
                </a:lnTo>
                <a:lnTo>
                  <a:pt x="355" y="98"/>
                </a:lnTo>
                <a:lnTo>
                  <a:pt x="344" y="83"/>
                </a:lnTo>
                <a:lnTo>
                  <a:pt x="334" y="68"/>
                </a:lnTo>
                <a:lnTo>
                  <a:pt x="321" y="56"/>
                </a:lnTo>
                <a:lnTo>
                  <a:pt x="308" y="43"/>
                </a:lnTo>
                <a:lnTo>
                  <a:pt x="294" y="32"/>
                </a:lnTo>
                <a:lnTo>
                  <a:pt x="278" y="23"/>
                </a:lnTo>
                <a:lnTo>
                  <a:pt x="270" y="18"/>
                </a:lnTo>
                <a:lnTo>
                  <a:pt x="261" y="15"/>
                </a:lnTo>
                <a:lnTo>
                  <a:pt x="254" y="12"/>
                </a:lnTo>
                <a:lnTo>
                  <a:pt x="245" y="9"/>
                </a:lnTo>
                <a:lnTo>
                  <a:pt x="236" y="6"/>
                </a:lnTo>
                <a:lnTo>
                  <a:pt x="226" y="5"/>
                </a:lnTo>
                <a:lnTo>
                  <a:pt x="217" y="2"/>
                </a:lnTo>
                <a:lnTo>
                  <a:pt x="208" y="2"/>
                </a:lnTo>
                <a:lnTo>
                  <a:pt x="198" y="0"/>
                </a:lnTo>
                <a:lnTo>
                  <a:pt x="189" y="0"/>
                </a:lnTo>
              </a:path>
            </a:pathLst>
          </a:cu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94" name="Rectangle 182"/>
          <p:cNvSpPr>
            <a:spLocks noChangeArrowheads="1"/>
          </p:cNvSpPr>
          <p:nvPr/>
        </p:nvSpPr>
        <p:spPr bwMode="auto">
          <a:xfrm>
            <a:off x="3344863" y="5640388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17</a:t>
            </a:r>
            <a:endParaRPr lang="en-GB" altLang="en-US"/>
          </a:p>
        </p:txBody>
      </p:sp>
      <p:sp>
        <p:nvSpPr>
          <p:cNvPr id="11395" name="Freeform 183"/>
          <p:cNvSpPr>
            <a:spLocks noEditPoints="1"/>
          </p:cNvSpPr>
          <p:nvPr/>
        </p:nvSpPr>
        <p:spPr bwMode="auto">
          <a:xfrm>
            <a:off x="3462338" y="5187950"/>
            <a:ext cx="311150" cy="417513"/>
          </a:xfrm>
          <a:custGeom>
            <a:avLst/>
            <a:gdLst>
              <a:gd name="T0" fmla="*/ 2147483647 w 392"/>
              <a:gd name="T1" fmla="*/ 2147483647 h 524"/>
              <a:gd name="T2" fmla="*/ 2147483647 w 392"/>
              <a:gd name="T3" fmla="*/ 2147483647 h 524"/>
              <a:gd name="T4" fmla="*/ 2147483647 w 392"/>
              <a:gd name="T5" fmla="*/ 2147483647 h 524"/>
              <a:gd name="T6" fmla="*/ 2147483647 w 392"/>
              <a:gd name="T7" fmla="*/ 2147483647 h 524"/>
              <a:gd name="T8" fmla="*/ 2147483647 w 392"/>
              <a:gd name="T9" fmla="*/ 2147483647 h 524"/>
              <a:gd name="T10" fmla="*/ 2147483647 w 392"/>
              <a:gd name="T11" fmla="*/ 2147483647 h 524"/>
              <a:gd name="T12" fmla="*/ 2147483647 w 392"/>
              <a:gd name="T13" fmla="*/ 2147483647 h 524"/>
              <a:gd name="T14" fmla="*/ 2147483647 w 392"/>
              <a:gd name="T15" fmla="*/ 2147483647 h 524"/>
              <a:gd name="T16" fmla="*/ 2147483647 w 392"/>
              <a:gd name="T17" fmla="*/ 2147483647 h 524"/>
              <a:gd name="T18" fmla="*/ 2147483647 w 392"/>
              <a:gd name="T19" fmla="*/ 2147483647 h 524"/>
              <a:gd name="T20" fmla="*/ 2147483647 w 392"/>
              <a:gd name="T21" fmla="*/ 2147483647 h 524"/>
              <a:gd name="T22" fmla="*/ 2147483647 w 392"/>
              <a:gd name="T23" fmla="*/ 0 h 524"/>
              <a:gd name="T24" fmla="*/ 2147483647 w 392"/>
              <a:gd name="T25" fmla="*/ 0 h 524"/>
              <a:gd name="T26" fmla="*/ 2147483647 w 392"/>
              <a:gd name="T27" fmla="*/ 0 h 524"/>
              <a:gd name="T28" fmla="*/ 2147483647 w 392"/>
              <a:gd name="T29" fmla="*/ 0 h 524"/>
              <a:gd name="T30" fmla="*/ 2147483647 w 392"/>
              <a:gd name="T31" fmla="*/ 2147483647 h 524"/>
              <a:gd name="T32" fmla="*/ 2147483647 w 392"/>
              <a:gd name="T33" fmla="*/ 2147483647 h 524"/>
              <a:gd name="T34" fmla="*/ 2147483647 w 392"/>
              <a:gd name="T35" fmla="*/ 2147483647 h 524"/>
              <a:gd name="T36" fmla="*/ 2147483647 w 392"/>
              <a:gd name="T37" fmla="*/ 2147483647 h 524"/>
              <a:gd name="T38" fmla="*/ 2147483647 w 392"/>
              <a:gd name="T39" fmla="*/ 2147483647 h 524"/>
              <a:gd name="T40" fmla="*/ 2147483647 w 392"/>
              <a:gd name="T41" fmla="*/ 2147483647 h 524"/>
              <a:gd name="T42" fmla="*/ 0 w 392"/>
              <a:gd name="T43" fmla="*/ 2147483647 h 524"/>
              <a:gd name="T44" fmla="*/ 2147483647 w 392"/>
              <a:gd name="T45" fmla="*/ 2147483647 h 524"/>
              <a:gd name="T46" fmla="*/ 2147483647 w 392"/>
              <a:gd name="T47" fmla="*/ 2147483647 h 52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2"/>
              <a:gd name="T73" fmla="*/ 0 h 524"/>
              <a:gd name="T74" fmla="*/ 392 w 392"/>
              <a:gd name="T75" fmla="*/ 524 h 524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2" h="524">
                <a:moveTo>
                  <a:pt x="392" y="9"/>
                </a:moveTo>
                <a:lnTo>
                  <a:pt x="42" y="478"/>
                </a:lnTo>
                <a:lnTo>
                  <a:pt x="40" y="479"/>
                </a:lnTo>
                <a:lnTo>
                  <a:pt x="37" y="479"/>
                </a:lnTo>
                <a:lnTo>
                  <a:pt x="36" y="479"/>
                </a:lnTo>
                <a:lnTo>
                  <a:pt x="33" y="478"/>
                </a:lnTo>
                <a:lnTo>
                  <a:pt x="31" y="476"/>
                </a:lnTo>
                <a:lnTo>
                  <a:pt x="31" y="474"/>
                </a:lnTo>
                <a:lnTo>
                  <a:pt x="31" y="471"/>
                </a:lnTo>
                <a:lnTo>
                  <a:pt x="33" y="470"/>
                </a:lnTo>
                <a:lnTo>
                  <a:pt x="381" y="1"/>
                </a:lnTo>
                <a:lnTo>
                  <a:pt x="383" y="0"/>
                </a:lnTo>
                <a:lnTo>
                  <a:pt x="384" y="0"/>
                </a:lnTo>
                <a:lnTo>
                  <a:pt x="387" y="0"/>
                </a:lnTo>
                <a:lnTo>
                  <a:pt x="390" y="0"/>
                </a:lnTo>
                <a:lnTo>
                  <a:pt x="392" y="3"/>
                </a:lnTo>
                <a:lnTo>
                  <a:pt x="392" y="4"/>
                </a:lnTo>
                <a:lnTo>
                  <a:pt x="392" y="7"/>
                </a:lnTo>
                <a:lnTo>
                  <a:pt x="392" y="9"/>
                </a:lnTo>
                <a:close/>
                <a:moveTo>
                  <a:pt x="75" y="485"/>
                </a:moveTo>
                <a:lnTo>
                  <a:pt x="0" y="524"/>
                </a:lnTo>
                <a:lnTo>
                  <a:pt x="15" y="441"/>
                </a:lnTo>
                <a:lnTo>
                  <a:pt x="75" y="485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96" name="Freeform 186"/>
          <p:cNvSpPr>
            <a:spLocks noEditPoints="1"/>
          </p:cNvSpPr>
          <p:nvPr/>
        </p:nvSpPr>
        <p:spPr bwMode="auto">
          <a:xfrm>
            <a:off x="2347913" y="1966913"/>
            <a:ext cx="469900" cy="381000"/>
          </a:xfrm>
          <a:custGeom>
            <a:avLst/>
            <a:gdLst>
              <a:gd name="T0" fmla="*/ 2147483647 w 399"/>
              <a:gd name="T1" fmla="*/ 2147483647 h 526"/>
              <a:gd name="T2" fmla="*/ 2147483647 w 399"/>
              <a:gd name="T3" fmla="*/ 2147483647 h 526"/>
              <a:gd name="T4" fmla="*/ 2147483647 w 399"/>
              <a:gd name="T5" fmla="*/ 2147483647 h 526"/>
              <a:gd name="T6" fmla="*/ 2147483647 w 399"/>
              <a:gd name="T7" fmla="*/ 2147483647 h 526"/>
              <a:gd name="T8" fmla="*/ 2147483647 w 399"/>
              <a:gd name="T9" fmla="*/ 2147483647 h 526"/>
              <a:gd name="T10" fmla="*/ 2147483647 w 399"/>
              <a:gd name="T11" fmla="*/ 2147483647 h 526"/>
              <a:gd name="T12" fmla="*/ 2147483647 w 399"/>
              <a:gd name="T13" fmla="*/ 2147483647 h 526"/>
              <a:gd name="T14" fmla="*/ 2147483647 w 399"/>
              <a:gd name="T15" fmla="*/ 2147483647 h 526"/>
              <a:gd name="T16" fmla="*/ 2147483647 w 399"/>
              <a:gd name="T17" fmla="*/ 2147483647 h 526"/>
              <a:gd name="T18" fmla="*/ 2147483647 w 399"/>
              <a:gd name="T19" fmla="*/ 2147483647 h 526"/>
              <a:gd name="T20" fmla="*/ 2147483647 w 399"/>
              <a:gd name="T21" fmla="*/ 2147483647 h 526"/>
              <a:gd name="T22" fmla="*/ 2147483647 w 399"/>
              <a:gd name="T23" fmla="*/ 2147483647 h 526"/>
              <a:gd name="T24" fmla="*/ 2147483647 w 399"/>
              <a:gd name="T25" fmla="*/ 0 h 526"/>
              <a:gd name="T26" fmla="*/ 2147483647 w 399"/>
              <a:gd name="T27" fmla="*/ 2147483647 h 526"/>
              <a:gd name="T28" fmla="*/ 2147483647 w 399"/>
              <a:gd name="T29" fmla="*/ 2147483647 h 526"/>
              <a:gd name="T30" fmla="*/ 2147483647 w 399"/>
              <a:gd name="T31" fmla="*/ 2147483647 h 526"/>
              <a:gd name="T32" fmla="*/ 2147483647 w 399"/>
              <a:gd name="T33" fmla="*/ 2147483647 h 526"/>
              <a:gd name="T34" fmla="*/ 2147483647 w 399"/>
              <a:gd name="T35" fmla="*/ 2147483647 h 526"/>
              <a:gd name="T36" fmla="*/ 2147483647 w 399"/>
              <a:gd name="T37" fmla="*/ 2147483647 h 526"/>
              <a:gd name="T38" fmla="*/ 2147483647 w 399"/>
              <a:gd name="T39" fmla="*/ 2147483647 h 526"/>
              <a:gd name="T40" fmla="*/ 2147483647 w 399"/>
              <a:gd name="T41" fmla="*/ 2147483647 h 526"/>
              <a:gd name="T42" fmla="*/ 0 w 399"/>
              <a:gd name="T43" fmla="*/ 2147483647 h 526"/>
              <a:gd name="T44" fmla="*/ 2147483647 w 399"/>
              <a:gd name="T45" fmla="*/ 2147483647 h 526"/>
              <a:gd name="T46" fmla="*/ 2147483647 w 399"/>
              <a:gd name="T47" fmla="*/ 2147483647 h 52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399"/>
              <a:gd name="T73" fmla="*/ 0 h 526"/>
              <a:gd name="T74" fmla="*/ 399 w 399"/>
              <a:gd name="T75" fmla="*/ 526 h 52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399" h="526">
                <a:moveTo>
                  <a:pt x="398" y="11"/>
                </a:moveTo>
                <a:lnTo>
                  <a:pt x="42" y="481"/>
                </a:lnTo>
                <a:lnTo>
                  <a:pt x="41" y="483"/>
                </a:lnTo>
                <a:lnTo>
                  <a:pt x="38" y="483"/>
                </a:lnTo>
                <a:lnTo>
                  <a:pt x="36" y="483"/>
                </a:lnTo>
                <a:lnTo>
                  <a:pt x="33" y="483"/>
                </a:lnTo>
                <a:lnTo>
                  <a:pt x="32" y="480"/>
                </a:lnTo>
                <a:lnTo>
                  <a:pt x="32" y="478"/>
                </a:lnTo>
                <a:lnTo>
                  <a:pt x="32" y="475"/>
                </a:lnTo>
                <a:lnTo>
                  <a:pt x="32" y="474"/>
                </a:lnTo>
                <a:lnTo>
                  <a:pt x="389" y="3"/>
                </a:lnTo>
                <a:lnTo>
                  <a:pt x="390" y="2"/>
                </a:lnTo>
                <a:lnTo>
                  <a:pt x="392" y="0"/>
                </a:lnTo>
                <a:lnTo>
                  <a:pt x="395" y="2"/>
                </a:lnTo>
                <a:lnTo>
                  <a:pt x="398" y="2"/>
                </a:lnTo>
                <a:lnTo>
                  <a:pt x="399" y="5"/>
                </a:lnTo>
                <a:lnTo>
                  <a:pt x="399" y="6"/>
                </a:lnTo>
                <a:lnTo>
                  <a:pt x="399" y="9"/>
                </a:lnTo>
                <a:lnTo>
                  <a:pt x="398" y="11"/>
                </a:lnTo>
                <a:close/>
                <a:moveTo>
                  <a:pt x="75" y="490"/>
                </a:moveTo>
                <a:lnTo>
                  <a:pt x="0" y="526"/>
                </a:lnTo>
                <a:lnTo>
                  <a:pt x="15" y="444"/>
                </a:lnTo>
                <a:lnTo>
                  <a:pt x="75" y="490"/>
                </a:lnTo>
                <a:close/>
              </a:path>
            </a:pathLst>
          </a:custGeom>
          <a:solidFill>
            <a:srgbClr val="000000"/>
          </a:solidFill>
          <a:ln w="15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1397" name="AutoShape 191"/>
          <p:cNvSpPr>
            <a:spLocks noChangeArrowheads="1"/>
          </p:cNvSpPr>
          <p:nvPr/>
        </p:nvSpPr>
        <p:spPr bwMode="auto">
          <a:xfrm>
            <a:off x="3200400" y="3581400"/>
            <a:ext cx="152400" cy="609600"/>
          </a:xfrm>
          <a:prstGeom prst="down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98" name="Slide Number Placeholder 13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7938F0-AB39-4EB3-B16A-44C59332F3F4}" type="slidenum">
              <a:rPr lang="en-GB" altLang="en-US" smtClean="0"/>
              <a:pPr eaLnBrk="1" hangingPunct="1"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29359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77608"/>
            <a:ext cx="6934200" cy="1143000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Applying single rotation – a worked example</a:t>
            </a:r>
          </a:p>
        </p:txBody>
      </p:sp>
      <p:sp>
        <p:nvSpPr>
          <p:cNvPr id="12291" name="Text Box 4"/>
          <p:cNvSpPr txBox="1">
            <a:spLocks noChangeArrowheads="1"/>
          </p:cNvSpPr>
          <p:nvPr/>
        </p:nvSpPr>
        <p:spPr bwMode="auto">
          <a:xfrm>
            <a:off x="533400" y="2848629"/>
            <a:ext cx="7848600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To maintain balance condition, every time you insert a new node:</a:t>
            </a:r>
          </a:p>
          <a:p>
            <a:pPr eaLnBrk="1" hangingPunct="1">
              <a:spcBef>
                <a:spcPct val="50000"/>
              </a:spcBef>
            </a:pPr>
            <a:endParaRPr lang="en-GB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Starting at the node just inserted, travel up tree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000" dirty="0">
                <a:latin typeface="Calibri" panose="020F0502020204030204" pitchFamily="34" charset="0"/>
              </a:rPr>
              <a:t> If we reach root node without finding a bad node, </a:t>
            </a:r>
            <a:r>
              <a:rPr lang="en-GB" altLang="en-US" sz="2000" dirty="0">
                <a:solidFill>
                  <a:srgbClr val="FF3300"/>
                </a:solidFill>
                <a:latin typeface="Calibri" panose="020F0502020204030204" pitchFamily="34" charset="0"/>
              </a:rPr>
              <a:t>we are done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000" dirty="0">
                <a:latin typeface="Calibri" panose="020F0502020204030204" pitchFamily="34" charset="0"/>
              </a:rPr>
              <a:t> If we reach bad node, do a rotation and </a:t>
            </a:r>
            <a:r>
              <a:rPr lang="en-GB" altLang="en-US" sz="2000" dirty="0">
                <a:solidFill>
                  <a:srgbClr val="FF3300"/>
                </a:solidFill>
                <a:latin typeface="Calibri" panose="020F0502020204030204" pitchFamily="34" charset="0"/>
              </a:rPr>
              <a:t>we are done</a:t>
            </a:r>
          </a:p>
          <a:p>
            <a:pPr eaLnBrk="1" hangingPunct="1">
              <a:spcBef>
                <a:spcPct val="50000"/>
              </a:spcBef>
            </a:pPr>
            <a:endParaRPr lang="en-GB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Note we are balancing the </a:t>
            </a:r>
            <a:r>
              <a:rPr lang="en-GB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deepest unbalanced node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If tree is now </a:t>
            </a:r>
            <a:r>
              <a:rPr lang="en-GB" altLang="en-US" sz="2000" dirty="0">
                <a:solidFill>
                  <a:srgbClr val="FF3300"/>
                </a:solidFill>
                <a:latin typeface="Calibri" panose="020F0502020204030204" pitchFamily="34" charset="0"/>
              </a:rPr>
              <a:t>balanced</a:t>
            </a:r>
            <a:r>
              <a:rPr lang="en-GB" altLang="en-US" sz="2000" dirty="0">
                <a:latin typeface="Calibri" panose="020F0502020204030204" pitchFamily="34" charset="0"/>
              </a:rPr>
              <a:t>, continue.. (</a:t>
            </a:r>
            <a:r>
              <a:rPr lang="en-GB" altLang="en-US" sz="2000" dirty="0" err="1">
                <a:latin typeface="Calibri" panose="020F0502020204030204" pitchFamily="34" charset="0"/>
              </a:rPr>
              <a:t>otherwise..what</a:t>
            </a:r>
            <a:r>
              <a:rPr lang="en-GB" altLang="en-US" sz="2000" dirty="0">
                <a:latin typeface="Calibri" panose="020F0502020204030204" pitchFamily="34" charset="0"/>
              </a:rPr>
              <a:t>?)</a:t>
            </a:r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533400" y="1774520"/>
            <a:ext cx="7543800" cy="7078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Start with an empty AVL tree and insert values 1 to 7 in sequential order then values 8 to 15 in reverse order</a:t>
            </a:r>
          </a:p>
        </p:txBody>
      </p:sp>
      <p:sp>
        <p:nvSpPr>
          <p:cNvPr id="122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FC714B-A622-45F7-AF92-ACAC632661B8}" type="slidenum">
              <a:rPr lang="en-GB" altLang="en-US" smtClean="0"/>
              <a:pPr eaLnBrk="1" hangingPunct="1"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3709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38" y="269081"/>
            <a:ext cx="8680536" cy="792163"/>
          </a:xfrm>
        </p:spPr>
        <p:txBody>
          <a:bodyPr>
            <a:noAutofit/>
          </a:bodyPr>
          <a:lstStyle/>
          <a:p>
            <a:r>
              <a:rPr lang="en-GB" altLang="en-US" sz="2400" dirty="0"/>
              <a:t>Worked example (adding nodes containing 1..7 in order)</a:t>
            </a:r>
          </a:p>
        </p:txBody>
      </p:sp>
      <p:sp>
        <p:nvSpPr>
          <p:cNvPr id="13315" name="Oval 7"/>
          <p:cNvSpPr>
            <a:spLocks noChangeAspect="1" noChangeArrowheads="1"/>
          </p:cNvSpPr>
          <p:nvPr/>
        </p:nvSpPr>
        <p:spPr bwMode="auto">
          <a:xfrm>
            <a:off x="1447800" y="12192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3316" name="AutoShape 28"/>
          <p:cNvSpPr>
            <a:spLocks noChangeArrowheads="1"/>
          </p:cNvSpPr>
          <p:nvPr/>
        </p:nvSpPr>
        <p:spPr bwMode="auto">
          <a:xfrm>
            <a:off x="1981200" y="12954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7" name="Oval 29"/>
          <p:cNvSpPr>
            <a:spLocks noChangeAspect="1" noChangeArrowheads="1"/>
          </p:cNvSpPr>
          <p:nvPr/>
        </p:nvSpPr>
        <p:spPr bwMode="auto">
          <a:xfrm>
            <a:off x="2667000" y="1143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3318" name="Oval 30"/>
          <p:cNvSpPr>
            <a:spLocks noChangeAspect="1" noChangeArrowheads="1"/>
          </p:cNvSpPr>
          <p:nvPr/>
        </p:nvSpPr>
        <p:spPr bwMode="auto">
          <a:xfrm>
            <a:off x="3313113" y="170973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13319" name="AutoShape 31"/>
          <p:cNvCxnSpPr>
            <a:cxnSpLocks noChangeShapeType="1"/>
            <a:endCxn id="13318" idx="1"/>
          </p:cNvCxnSpPr>
          <p:nvPr/>
        </p:nvCxnSpPr>
        <p:spPr bwMode="auto">
          <a:xfrm>
            <a:off x="3040063" y="14335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0" name="AutoShape 32"/>
          <p:cNvSpPr>
            <a:spLocks noChangeArrowheads="1"/>
          </p:cNvSpPr>
          <p:nvPr/>
        </p:nvSpPr>
        <p:spPr bwMode="auto">
          <a:xfrm>
            <a:off x="3352800" y="12954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1" name="Oval 35"/>
          <p:cNvSpPr>
            <a:spLocks noChangeAspect="1" noChangeArrowheads="1"/>
          </p:cNvSpPr>
          <p:nvPr/>
        </p:nvSpPr>
        <p:spPr bwMode="auto">
          <a:xfrm>
            <a:off x="4191000" y="1143000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3322" name="Oval 36"/>
          <p:cNvSpPr>
            <a:spLocks noChangeAspect="1" noChangeArrowheads="1"/>
          </p:cNvSpPr>
          <p:nvPr/>
        </p:nvSpPr>
        <p:spPr bwMode="auto">
          <a:xfrm>
            <a:off x="4837113" y="170973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13323" name="AutoShape 37"/>
          <p:cNvCxnSpPr>
            <a:cxnSpLocks noChangeShapeType="1"/>
            <a:endCxn id="13322" idx="1"/>
          </p:cNvCxnSpPr>
          <p:nvPr/>
        </p:nvCxnSpPr>
        <p:spPr bwMode="auto">
          <a:xfrm>
            <a:off x="4564063" y="14335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4" name="AutoShape 38"/>
          <p:cNvCxnSpPr>
            <a:cxnSpLocks noChangeShapeType="1"/>
          </p:cNvCxnSpPr>
          <p:nvPr/>
        </p:nvCxnSpPr>
        <p:spPr bwMode="auto">
          <a:xfrm>
            <a:off x="5184775" y="2035175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5" name="Oval 39"/>
          <p:cNvSpPr>
            <a:spLocks noChangeAspect="1" noChangeArrowheads="1"/>
          </p:cNvSpPr>
          <p:nvPr/>
        </p:nvSpPr>
        <p:spPr bwMode="auto">
          <a:xfrm>
            <a:off x="5446713" y="2322513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3326" name="Text Box 40"/>
          <p:cNvSpPr txBox="1">
            <a:spLocks noChangeArrowheads="1"/>
          </p:cNvSpPr>
          <p:nvPr/>
        </p:nvSpPr>
        <p:spPr bwMode="auto">
          <a:xfrm>
            <a:off x="228600" y="2819400"/>
            <a:ext cx="3657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Left rotation.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(Node 2 has no left subtree to move)</a:t>
            </a:r>
          </a:p>
        </p:txBody>
      </p:sp>
      <p:sp>
        <p:nvSpPr>
          <p:cNvPr id="13327" name="AutoShape 41"/>
          <p:cNvSpPr>
            <a:spLocks noChangeArrowheads="1"/>
          </p:cNvSpPr>
          <p:nvPr/>
        </p:nvSpPr>
        <p:spPr bwMode="auto">
          <a:xfrm>
            <a:off x="3962400" y="3352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28" name="Oval 43"/>
          <p:cNvSpPr>
            <a:spLocks noChangeAspect="1" noChangeArrowheads="1"/>
          </p:cNvSpPr>
          <p:nvPr/>
        </p:nvSpPr>
        <p:spPr bwMode="auto">
          <a:xfrm>
            <a:off x="5181600" y="3048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3329" name="Oval 44"/>
          <p:cNvSpPr>
            <a:spLocks noChangeAspect="1" noChangeArrowheads="1"/>
          </p:cNvSpPr>
          <p:nvPr/>
        </p:nvSpPr>
        <p:spPr bwMode="auto">
          <a:xfrm>
            <a:off x="5827713" y="361473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cxnSp>
        <p:nvCxnSpPr>
          <p:cNvPr id="13330" name="AutoShape 45"/>
          <p:cNvCxnSpPr>
            <a:cxnSpLocks noChangeShapeType="1"/>
            <a:endCxn id="13329" idx="1"/>
          </p:cNvCxnSpPr>
          <p:nvPr/>
        </p:nvCxnSpPr>
        <p:spPr bwMode="auto">
          <a:xfrm>
            <a:off x="5554663" y="33385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1" name="Line 46"/>
          <p:cNvSpPr>
            <a:spLocks noChangeShapeType="1"/>
          </p:cNvSpPr>
          <p:nvPr/>
        </p:nvSpPr>
        <p:spPr bwMode="auto">
          <a:xfrm flipH="1">
            <a:off x="4824413" y="3352800"/>
            <a:ext cx="357187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332" name="Oval 47"/>
          <p:cNvSpPr>
            <a:spLocks noChangeAspect="1" noChangeArrowheads="1"/>
          </p:cNvSpPr>
          <p:nvPr/>
        </p:nvSpPr>
        <p:spPr bwMode="auto">
          <a:xfrm>
            <a:off x="4495800" y="3657600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13333" name="Text Box 49"/>
          <p:cNvSpPr txBox="1">
            <a:spLocks noChangeArrowheads="1"/>
          </p:cNvSpPr>
          <p:nvPr/>
        </p:nvSpPr>
        <p:spPr bwMode="auto">
          <a:xfrm>
            <a:off x="7086600" y="3048000"/>
            <a:ext cx="1676400" cy="78483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balanced? Yes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sym typeface="Symbol" pitchFamily="18" charset="2"/>
              </a:rPr>
              <a:t> continue</a:t>
            </a:r>
          </a:p>
        </p:txBody>
      </p:sp>
      <p:sp>
        <p:nvSpPr>
          <p:cNvPr id="13334" name="Text Box 58"/>
          <p:cNvSpPr txBox="1">
            <a:spLocks noChangeArrowheads="1"/>
          </p:cNvSpPr>
          <p:nvPr/>
        </p:nvSpPr>
        <p:spPr bwMode="auto">
          <a:xfrm>
            <a:off x="6096000" y="1066800"/>
            <a:ext cx="2514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1 is unbalanced now (too heavy on the right).</a:t>
            </a:r>
          </a:p>
        </p:txBody>
      </p:sp>
      <p:grpSp>
        <p:nvGrpSpPr>
          <p:cNvPr id="13335" name="Group 61"/>
          <p:cNvGrpSpPr>
            <a:grpSpLocks/>
          </p:cNvGrpSpPr>
          <p:nvPr/>
        </p:nvGrpSpPr>
        <p:grpSpPr bwMode="auto">
          <a:xfrm>
            <a:off x="841375" y="4645025"/>
            <a:ext cx="2314575" cy="1573213"/>
            <a:chOff x="1008" y="3024"/>
            <a:chExt cx="1458" cy="991"/>
          </a:xfrm>
        </p:grpSpPr>
        <p:grpSp>
          <p:nvGrpSpPr>
            <p:cNvPr id="13357" name="Group 51"/>
            <p:cNvGrpSpPr>
              <a:grpSpLocks/>
            </p:cNvGrpSpPr>
            <p:nvPr/>
          </p:nvGrpSpPr>
          <p:grpSpPr bwMode="auto">
            <a:xfrm>
              <a:off x="1008" y="3024"/>
              <a:ext cx="1079" cy="624"/>
              <a:chOff x="3408" y="2352"/>
              <a:chExt cx="1079" cy="624"/>
            </a:xfrm>
          </p:grpSpPr>
          <p:sp>
            <p:nvSpPr>
              <p:cNvPr id="13360" name="Oval 52"/>
              <p:cNvSpPr>
                <a:spLocks noChangeAspect="1" noChangeArrowheads="1"/>
              </p:cNvSpPr>
              <p:nvPr/>
            </p:nvSpPr>
            <p:spPr bwMode="auto">
              <a:xfrm>
                <a:off x="3840" y="2352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4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13361" name="Oval 53"/>
              <p:cNvSpPr>
                <a:spLocks noChangeAspect="1" noChangeArrowheads="1"/>
              </p:cNvSpPr>
              <p:nvPr/>
            </p:nvSpPr>
            <p:spPr bwMode="auto">
              <a:xfrm>
                <a:off x="4247" y="2709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400">
                    <a:latin typeface="Times New Roman" pitchFamily="18" charset="0"/>
                  </a:rPr>
                  <a:t>3</a:t>
                </a:r>
              </a:p>
            </p:txBody>
          </p:sp>
          <p:cxnSp>
            <p:nvCxnSpPr>
              <p:cNvPr id="13362" name="AutoShape 54"/>
              <p:cNvCxnSpPr>
                <a:cxnSpLocks noChangeShapeType="1"/>
                <a:endCxn id="13361" idx="1"/>
              </p:cNvCxnSpPr>
              <p:nvPr/>
            </p:nvCxnSpPr>
            <p:spPr bwMode="auto">
              <a:xfrm>
                <a:off x="4075" y="2535"/>
                <a:ext cx="207" cy="20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3363" name="Line 55"/>
              <p:cNvSpPr>
                <a:spLocks noChangeShapeType="1"/>
              </p:cNvSpPr>
              <p:nvPr/>
            </p:nvSpPr>
            <p:spPr bwMode="auto">
              <a:xfrm flipH="1">
                <a:off x="3615" y="2544"/>
                <a:ext cx="225" cy="2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364" name="Oval 56"/>
              <p:cNvSpPr>
                <a:spLocks noChangeAspect="1" noChangeArrowheads="1"/>
              </p:cNvSpPr>
              <p:nvPr/>
            </p:nvSpPr>
            <p:spPr bwMode="auto">
              <a:xfrm>
                <a:off x="3408" y="2736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400">
                    <a:latin typeface="Times New Roman" pitchFamily="18" charset="0"/>
                  </a:rPr>
                  <a:t>1</a:t>
                </a:r>
              </a:p>
            </p:txBody>
          </p:sp>
        </p:grpSp>
        <p:cxnSp>
          <p:nvCxnSpPr>
            <p:cNvPr id="13358" name="AutoShape 57"/>
            <p:cNvCxnSpPr>
              <a:cxnSpLocks noChangeShapeType="1"/>
            </p:cNvCxnSpPr>
            <p:nvPr/>
          </p:nvCxnSpPr>
          <p:spPr bwMode="auto">
            <a:xfrm>
              <a:off x="2064" y="3600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59" name="Oval 59"/>
            <p:cNvSpPr>
              <a:spLocks noChangeAspect="1" noChangeArrowheads="1"/>
            </p:cNvSpPr>
            <p:nvPr/>
          </p:nvSpPr>
          <p:spPr bwMode="auto">
            <a:xfrm>
              <a:off x="2226" y="3775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</p:grpSp>
      <p:sp>
        <p:nvSpPr>
          <p:cNvPr id="13336" name="AutoShape 62"/>
          <p:cNvSpPr>
            <a:spLocks noChangeArrowheads="1"/>
          </p:cNvSpPr>
          <p:nvPr/>
        </p:nvSpPr>
        <p:spPr bwMode="auto">
          <a:xfrm>
            <a:off x="3124200" y="51816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37" name="Oval 65"/>
          <p:cNvSpPr>
            <a:spLocks noChangeAspect="1" noChangeArrowheads="1"/>
          </p:cNvSpPr>
          <p:nvPr/>
        </p:nvSpPr>
        <p:spPr bwMode="auto">
          <a:xfrm>
            <a:off x="4724400" y="4572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3338" name="Oval 66"/>
          <p:cNvSpPr>
            <a:spLocks noChangeAspect="1" noChangeArrowheads="1"/>
          </p:cNvSpPr>
          <p:nvPr/>
        </p:nvSpPr>
        <p:spPr bwMode="auto">
          <a:xfrm>
            <a:off x="5370513" y="5138738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cxnSp>
        <p:nvCxnSpPr>
          <p:cNvPr id="13339" name="AutoShape 67"/>
          <p:cNvCxnSpPr>
            <a:cxnSpLocks noChangeShapeType="1"/>
            <a:endCxn id="13338" idx="1"/>
          </p:cNvCxnSpPr>
          <p:nvPr/>
        </p:nvCxnSpPr>
        <p:spPr bwMode="auto">
          <a:xfrm>
            <a:off x="5097463" y="48625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40" name="Line 68"/>
          <p:cNvSpPr>
            <a:spLocks noChangeShapeType="1"/>
          </p:cNvSpPr>
          <p:nvPr/>
        </p:nvSpPr>
        <p:spPr bwMode="auto">
          <a:xfrm flipH="1">
            <a:off x="4367213" y="4876800"/>
            <a:ext cx="357187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341" name="Oval 69"/>
          <p:cNvSpPr>
            <a:spLocks noChangeAspect="1" noChangeArrowheads="1"/>
          </p:cNvSpPr>
          <p:nvPr/>
        </p:nvSpPr>
        <p:spPr bwMode="auto">
          <a:xfrm>
            <a:off x="4038600" y="51816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cxnSp>
        <p:nvCxnSpPr>
          <p:cNvPr id="13342" name="AutoShape 70"/>
          <p:cNvCxnSpPr>
            <a:cxnSpLocks noChangeShapeType="1"/>
          </p:cNvCxnSpPr>
          <p:nvPr/>
        </p:nvCxnSpPr>
        <p:spPr bwMode="auto">
          <a:xfrm>
            <a:off x="5715000" y="5486400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43" name="Oval 71"/>
          <p:cNvSpPr>
            <a:spLocks noChangeAspect="1" noChangeArrowheads="1"/>
          </p:cNvSpPr>
          <p:nvPr/>
        </p:nvSpPr>
        <p:spPr bwMode="auto">
          <a:xfrm>
            <a:off x="5972175" y="5764213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13344" name="Oval 72"/>
          <p:cNvSpPr>
            <a:spLocks noChangeAspect="1" noChangeArrowheads="1"/>
          </p:cNvSpPr>
          <p:nvPr/>
        </p:nvSpPr>
        <p:spPr bwMode="auto">
          <a:xfrm>
            <a:off x="6553200" y="62484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cxnSp>
        <p:nvCxnSpPr>
          <p:cNvPr id="13345" name="AutoShape 73"/>
          <p:cNvCxnSpPr>
            <a:cxnSpLocks noChangeShapeType="1"/>
          </p:cNvCxnSpPr>
          <p:nvPr/>
        </p:nvCxnSpPr>
        <p:spPr bwMode="auto">
          <a:xfrm>
            <a:off x="6248400" y="6096000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46" name="Text Box 74"/>
          <p:cNvSpPr txBox="1">
            <a:spLocks noChangeArrowheads="1"/>
          </p:cNvSpPr>
          <p:nvPr/>
        </p:nvSpPr>
        <p:spPr bwMode="auto">
          <a:xfrm>
            <a:off x="622300" y="898525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add 1</a:t>
            </a:r>
          </a:p>
        </p:txBody>
      </p:sp>
      <p:sp>
        <p:nvSpPr>
          <p:cNvPr id="13347" name="AutoShape 75"/>
          <p:cNvSpPr>
            <a:spLocks noChangeArrowheads="1"/>
          </p:cNvSpPr>
          <p:nvPr/>
        </p:nvSpPr>
        <p:spPr bwMode="auto">
          <a:xfrm>
            <a:off x="725488" y="1316038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48" name="Text Box 76"/>
          <p:cNvSpPr txBox="1">
            <a:spLocks noChangeArrowheads="1"/>
          </p:cNvSpPr>
          <p:nvPr/>
        </p:nvSpPr>
        <p:spPr bwMode="auto">
          <a:xfrm>
            <a:off x="1828800" y="8382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add 2</a:t>
            </a:r>
          </a:p>
        </p:txBody>
      </p:sp>
      <p:sp>
        <p:nvSpPr>
          <p:cNvPr id="13349" name="Text Box 77"/>
          <p:cNvSpPr txBox="1">
            <a:spLocks noChangeArrowheads="1"/>
          </p:cNvSpPr>
          <p:nvPr/>
        </p:nvSpPr>
        <p:spPr bwMode="auto">
          <a:xfrm>
            <a:off x="3227388" y="87788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add 3</a:t>
            </a:r>
          </a:p>
        </p:txBody>
      </p:sp>
      <p:grpSp>
        <p:nvGrpSpPr>
          <p:cNvPr id="13350" name="Group 82"/>
          <p:cNvGrpSpPr>
            <a:grpSpLocks/>
          </p:cNvGrpSpPr>
          <p:nvPr/>
        </p:nvGrpSpPr>
        <p:grpSpPr bwMode="auto">
          <a:xfrm>
            <a:off x="84138" y="4837113"/>
            <a:ext cx="914400" cy="649287"/>
            <a:chOff x="53" y="3047"/>
            <a:chExt cx="576" cy="409"/>
          </a:xfrm>
        </p:grpSpPr>
        <p:sp>
          <p:nvSpPr>
            <p:cNvPr id="13355" name="AutoShape 50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3356" name="Text Box 78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add 4</a:t>
              </a:r>
            </a:p>
          </p:txBody>
        </p:sp>
      </p:grpSp>
      <p:sp>
        <p:nvSpPr>
          <p:cNvPr id="13351" name="Text Box 79"/>
          <p:cNvSpPr txBox="1">
            <a:spLocks noChangeArrowheads="1"/>
          </p:cNvSpPr>
          <p:nvPr/>
        </p:nvSpPr>
        <p:spPr bwMode="auto">
          <a:xfrm>
            <a:off x="2971800" y="47244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add 5</a:t>
            </a:r>
          </a:p>
        </p:txBody>
      </p:sp>
      <p:sp>
        <p:nvSpPr>
          <p:cNvPr id="13352" name="Text Box 80"/>
          <p:cNvSpPr txBox="1">
            <a:spLocks noChangeArrowheads="1"/>
          </p:cNvSpPr>
          <p:nvPr/>
        </p:nvSpPr>
        <p:spPr bwMode="auto">
          <a:xfrm>
            <a:off x="6248400" y="4648200"/>
            <a:ext cx="2514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3 is unbalanced now (too heavy on the right).</a:t>
            </a:r>
          </a:p>
        </p:txBody>
      </p:sp>
      <p:sp>
        <p:nvSpPr>
          <p:cNvPr id="13353" name="Slide Number Placeholder 5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6B034A2-EC59-44F4-A179-D5086E170B9E}" type="slidenum">
              <a:rPr lang="en-GB" altLang="en-US" smtClean="0"/>
              <a:pPr eaLnBrk="1" hangingPunct="1"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7697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063" y="265243"/>
            <a:ext cx="8229600" cy="792162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Worked example contd.</a:t>
            </a:r>
          </a:p>
        </p:txBody>
      </p:sp>
      <p:grpSp>
        <p:nvGrpSpPr>
          <p:cNvPr id="14339" name="Group 4"/>
          <p:cNvGrpSpPr>
            <a:grpSpLocks/>
          </p:cNvGrpSpPr>
          <p:nvPr/>
        </p:nvGrpSpPr>
        <p:grpSpPr bwMode="auto">
          <a:xfrm>
            <a:off x="533400" y="1066800"/>
            <a:ext cx="2895600" cy="2057400"/>
            <a:chOff x="2544" y="2880"/>
            <a:chExt cx="1824" cy="1296"/>
          </a:xfrm>
        </p:grpSpPr>
        <p:grpSp>
          <p:nvGrpSpPr>
            <p:cNvPr id="14369" name="Group 5"/>
            <p:cNvGrpSpPr>
              <a:grpSpLocks/>
            </p:cNvGrpSpPr>
            <p:nvPr/>
          </p:nvGrpSpPr>
          <p:grpSpPr bwMode="auto">
            <a:xfrm>
              <a:off x="2544" y="2880"/>
              <a:ext cx="1458" cy="991"/>
              <a:chOff x="1008" y="3024"/>
              <a:chExt cx="1458" cy="991"/>
            </a:xfrm>
          </p:grpSpPr>
          <p:grpSp>
            <p:nvGrpSpPr>
              <p:cNvPr id="14372" name="Group 6"/>
              <p:cNvGrpSpPr>
                <a:grpSpLocks/>
              </p:cNvGrpSpPr>
              <p:nvPr/>
            </p:nvGrpSpPr>
            <p:grpSpPr bwMode="auto">
              <a:xfrm>
                <a:off x="1008" y="3024"/>
                <a:ext cx="1079" cy="624"/>
                <a:chOff x="3408" y="2352"/>
                <a:chExt cx="1079" cy="624"/>
              </a:xfrm>
            </p:grpSpPr>
            <p:sp>
              <p:nvSpPr>
                <p:cNvPr id="14375" name="Oval 7"/>
                <p:cNvSpPr>
                  <a:spLocks noChangeAspect="1" noChangeArrowheads="1"/>
                </p:cNvSpPr>
                <p:nvPr/>
              </p:nvSpPr>
              <p:spPr bwMode="auto">
                <a:xfrm>
                  <a:off x="3840" y="2352"/>
                  <a:ext cx="240" cy="24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altLang="en-US" sz="2400">
                      <a:latin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4376" name="Oval 8"/>
                <p:cNvSpPr>
                  <a:spLocks noChangeAspect="1" noChangeArrowheads="1"/>
                </p:cNvSpPr>
                <p:nvPr/>
              </p:nvSpPr>
              <p:spPr bwMode="auto">
                <a:xfrm>
                  <a:off x="4247" y="2709"/>
                  <a:ext cx="240" cy="240"/>
                </a:xfrm>
                <a:prstGeom prst="ellipse">
                  <a:avLst/>
                </a:prstGeom>
                <a:noFill/>
                <a:ln w="19050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altLang="en-US" sz="2400">
                      <a:latin typeface="Times New Roman" pitchFamily="18" charset="0"/>
                    </a:rPr>
                    <a:t>3</a:t>
                  </a:r>
                </a:p>
              </p:txBody>
            </p:sp>
            <p:cxnSp>
              <p:nvCxnSpPr>
                <p:cNvPr id="14377" name="AutoShape 9"/>
                <p:cNvCxnSpPr>
                  <a:cxnSpLocks noChangeShapeType="1"/>
                  <a:endCxn id="14376" idx="1"/>
                </p:cNvCxnSpPr>
                <p:nvPr/>
              </p:nvCxnSpPr>
              <p:spPr bwMode="auto">
                <a:xfrm>
                  <a:off x="4075" y="2535"/>
                  <a:ext cx="207" cy="203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4378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615" y="2544"/>
                  <a:ext cx="225" cy="2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379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3408" y="2736"/>
                  <a:ext cx="240" cy="24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r>
                    <a:rPr lang="en-US" altLang="en-US" sz="2400">
                      <a:latin typeface="Times New Roman" pitchFamily="18" charset="0"/>
                    </a:rPr>
                    <a:t>1</a:t>
                  </a:r>
                </a:p>
              </p:txBody>
            </p:sp>
          </p:grpSp>
          <p:cxnSp>
            <p:nvCxnSpPr>
              <p:cNvPr id="14373" name="AutoShape 12"/>
              <p:cNvCxnSpPr>
                <a:cxnSpLocks noChangeShapeType="1"/>
              </p:cNvCxnSpPr>
              <p:nvPr/>
            </p:nvCxnSpPr>
            <p:spPr bwMode="auto">
              <a:xfrm>
                <a:off x="2064" y="3600"/>
                <a:ext cx="207" cy="20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4374" name="Oval 13"/>
              <p:cNvSpPr>
                <a:spLocks noChangeAspect="1" noChangeArrowheads="1"/>
              </p:cNvSpPr>
              <p:nvPr/>
            </p:nvSpPr>
            <p:spPr bwMode="auto">
              <a:xfrm>
                <a:off x="2226" y="3775"/>
                <a:ext cx="240" cy="24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2400">
                    <a:latin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14370" name="Oval 14"/>
            <p:cNvSpPr>
              <a:spLocks noChangeAspect="1" noChangeArrowheads="1"/>
            </p:cNvSpPr>
            <p:nvPr/>
          </p:nvSpPr>
          <p:spPr bwMode="auto">
            <a:xfrm>
              <a:off x="4128" y="393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4371" name="AutoShape 15"/>
            <p:cNvCxnSpPr>
              <a:cxnSpLocks noChangeShapeType="1"/>
            </p:cNvCxnSpPr>
            <p:nvPr/>
          </p:nvCxnSpPr>
          <p:spPr bwMode="auto">
            <a:xfrm>
              <a:off x="3936" y="3840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0" name="Text Box 16"/>
          <p:cNvSpPr txBox="1">
            <a:spLocks noChangeArrowheads="1"/>
          </p:cNvSpPr>
          <p:nvPr/>
        </p:nvSpPr>
        <p:spPr bwMode="auto">
          <a:xfrm>
            <a:off x="3581400" y="1143000"/>
            <a:ext cx="2133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Left rotation.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(Node 4 has no left subtree to move)</a:t>
            </a:r>
          </a:p>
        </p:txBody>
      </p:sp>
      <p:grpSp>
        <p:nvGrpSpPr>
          <p:cNvPr id="14341" name="Group 33"/>
          <p:cNvGrpSpPr>
            <a:grpSpLocks/>
          </p:cNvGrpSpPr>
          <p:nvPr/>
        </p:nvGrpSpPr>
        <p:grpSpPr bwMode="auto">
          <a:xfrm>
            <a:off x="5867400" y="990600"/>
            <a:ext cx="2286000" cy="1600200"/>
            <a:chOff x="3696" y="624"/>
            <a:chExt cx="1440" cy="1008"/>
          </a:xfrm>
        </p:grpSpPr>
        <p:sp>
          <p:nvSpPr>
            <p:cNvPr id="14360" name="Oval 20"/>
            <p:cNvSpPr>
              <a:spLocks noChangeAspect="1" noChangeArrowheads="1"/>
            </p:cNvSpPr>
            <p:nvPr/>
          </p:nvSpPr>
          <p:spPr bwMode="auto">
            <a:xfrm>
              <a:off x="4128" y="624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4361" name="Oval 21"/>
            <p:cNvSpPr>
              <a:spLocks noChangeAspect="1" noChangeArrowheads="1"/>
            </p:cNvSpPr>
            <p:nvPr/>
          </p:nvSpPr>
          <p:spPr bwMode="auto">
            <a:xfrm>
              <a:off x="4535" y="981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cxnSp>
          <p:nvCxnSpPr>
            <p:cNvPr id="14362" name="AutoShape 22"/>
            <p:cNvCxnSpPr>
              <a:cxnSpLocks noChangeShapeType="1"/>
              <a:endCxn id="14361" idx="1"/>
            </p:cNvCxnSpPr>
            <p:nvPr/>
          </p:nvCxnSpPr>
          <p:spPr bwMode="auto">
            <a:xfrm>
              <a:off x="4363" y="807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3" name="Line 23"/>
            <p:cNvSpPr>
              <a:spLocks noChangeShapeType="1"/>
            </p:cNvSpPr>
            <p:nvPr/>
          </p:nvSpPr>
          <p:spPr bwMode="auto">
            <a:xfrm flipH="1">
              <a:off x="3903" y="816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64" name="Oval 24"/>
            <p:cNvSpPr>
              <a:spLocks noChangeAspect="1" noChangeArrowheads="1"/>
            </p:cNvSpPr>
            <p:nvPr/>
          </p:nvSpPr>
          <p:spPr bwMode="auto">
            <a:xfrm>
              <a:off x="3696" y="100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4365" name="AutoShape 25"/>
            <p:cNvCxnSpPr>
              <a:cxnSpLocks noChangeShapeType="1"/>
            </p:cNvCxnSpPr>
            <p:nvPr/>
          </p:nvCxnSpPr>
          <p:spPr bwMode="auto">
            <a:xfrm>
              <a:off x="4752" y="1200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6" name="Oval 26"/>
            <p:cNvSpPr>
              <a:spLocks noChangeAspect="1" noChangeArrowheads="1"/>
            </p:cNvSpPr>
            <p:nvPr/>
          </p:nvSpPr>
          <p:spPr bwMode="auto">
            <a:xfrm>
              <a:off x="4224" y="1344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4367" name="Oval 27"/>
            <p:cNvSpPr>
              <a:spLocks noChangeAspect="1" noChangeArrowheads="1"/>
            </p:cNvSpPr>
            <p:nvPr/>
          </p:nvSpPr>
          <p:spPr bwMode="auto">
            <a:xfrm>
              <a:off x="4896" y="1392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4368" name="AutoShape 28"/>
            <p:cNvCxnSpPr>
              <a:cxnSpLocks noChangeShapeType="1"/>
            </p:cNvCxnSpPr>
            <p:nvPr/>
          </p:nvCxnSpPr>
          <p:spPr bwMode="auto">
            <a:xfrm flipV="1">
              <a:off x="4414" y="1220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2" name="Text Box 29"/>
          <p:cNvSpPr txBox="1">
            <a:spLocks noChangeArrowheads="1"/>
          </p:cNvSpPr>
          <p:nvPr/>
        </p:nvSpPr>
        <p:spPr bwMode="auto">
          <a:xfrm>
            <a:off x="7086600" y="2743200"/>
            <a:ext cx="1676400" cy="78483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balanced? Yes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sym typeface="Symbol" pitchFamily="18" charset="2"/>
              </a:rPr>
              <a:t> continue</a:t>
            </a:r>
          </a:p>
        </p:txBody>
      </p:sp>
      <p:grpSp>
        <p:nvGrpSpPr>
          <p:cNvPr id="14343" name="Group 30"/>
          <p:cNvGrpSpPr>
            <a:grpSpLocks/>
          </p:cNvGrpSpPr>
          <p:nvPr/>
        </p:nvGrpSpPr>
        <p:grpSpPr bwMode="auto">
          <a:xfrm>
            <a:off x="457200" y="4038600"/>
            <a:ext cx="914400" cy="649288"/>
            <a:chOff x="53" y="3047"/>
            <a:chExt cx="576" cy="409"/>
          </a:xfrm>
        </p:grpSpPr>
        <p:sp>
          <p:nvSpPr>
            <p:cNvPr id="14358" name="AutoShape 31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4359" name="Text Box 32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add 6</a:t>
              </a:r>
            </a:p>
          </p:txBody>
        </p:sp>
      </p:grpSp>
      <p:sp>
        <p:nvSpPr>
          <p:cNvPr id="14344" name="Oval 35"/>
          <p:cNvSpPr>
            <a:spLocks noChangeAspect="1" noChangeArrowheads="1"/>
          </p:cNvSpPr>
          <p:nvPr/>
        </p:nvSpPr>
        <p:spPr bwMode="auto">
          <a:xfrm>
            <a:off x="2057400" y="3810000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14345" name="Oval 36"/>
          <p:cNvSpPr>
            <a:spLocks noChangeAspect="1" noChangeArrowheads="1"/>
          </p:cNvSpPr>
          <p:nvPr/>
        </p:nvSpPr>
        <p:spPr bwMode="auto">
          <a:xfrm>
            <a:off x="2703513" y="437673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cxnSp>
        <p:nvCxnSpPr>
          <p:cNvPr id="14346" name="AutoShape 37"/>
          <p:cNvCxnSpPr>
            <a:cxnSpLocks noChangeShapeType="1"/>
            <a:endCxn id="14345" idx="1"/>
          </p:cNvCxnSpPr>
          <p:nvPr/>
        </p:nvCxnSpPr>
        <p:spPr bwMode="auto">
          <a:xfrm>
            <a:off x="2430463" y="41005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7" name="Line 38"/>
          <p:cNvSpPr>
            <a:spLocks noChangeShapeType="1"/>
          </p:cNvSpPr>
          <p:nvPr/>
        </p:nvSpPr>
        <p:spPr bwMode="auto">
          <a:xfrm flipH="1">
            <a:off x="1700213" y="4114800"/>
            <a:ext cx="357187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348" name="Oval 39"/>
          <p:cNvSpPr>
            <a:spLocks noChangeAspect="1" noChangeArrowheads="1"/>
          </p:cNvSpPr>
          <p:nvPr/>
        </p:nvSpPr>
        <p:spPr bwMode="auto">
          <a:xfrm>
            <a:off x="1371600" y="44196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cxnSp>
        <p:nvCxnSpPr>
          <p:cNvPr id="14349" name="AutoShape 40"/>
          <p:cNvCxnSpPr>
            <a:cxnSpLocks noChangeShapeType="1"/>
          </p:cNvCxnSpPr>
          <p:nvPr/>
        </p:nvCxnSpPr>
        <p:spPr bwMode="auto">
          <a:xfrm>
            <a:off x="3048000" y="4724400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0" name="Oval 41"/>
          <p:cNvSpPr>
            <a:spLocks noChangeAspect="1" noChangeArrowheads="1"/>
          </p:cNvSpPr>
          <p:nvPr/>
        </p:nvSpPr>
        <p:spPr bwMode="auto">
          <a:xfrm>
            <a:off x="2209800" y="4953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4351" name="Oval 42"/>
          <p:cNvSpPr>
            <a:spLocks noChangeAspect="1" noChangeArrowheads="1"/>
          </p:cNvSpPr>
          <p:nvPr/>
        </p:nvSpPr>
        <p:spPr bwMode="auto">
          <a:xfrm>
            <a:off x="3276600" y="50292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cxnSp>
        <p:nvCxnSpPr>
          <p:cNvPr id="14352" name="AutoShape 43"/>
          <p:cNvCxnSpPr>
            <a:cxnSpLocks noChangeShapeType="1"/>
          </p:cNvCxnSpPr>
          <p:nvPr/>
        </p:nvCxnSpPr>
        <p:spPr bwMode="auto">
          <a:xfrm flipV="1">
            <a:off x="2511425" y="4756150"/>
            <a:ext cx="244475" cy="230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AutoShape 44"/>
          <p:cNvCxnSpPr>
            <a:cxnSpLocks noChangeShapeType="1"/>
          </p:cNvCxnSpPr>
          <p:nvPr/>
        </p:nvCxnSpPr>
        <p:spPr bwMode="auto">
          <a:xfrm>
            <a:off x="3624263" y="5373688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4" name="Oval 45"/>
          <p:cNvSpPr>
            <a:spLocks noChangeAspect="1" noChangeArrowheads="1"/>
          </p:cNvSpPr>
          <p:nvPr/>
        </p:nvSpPr>
        <p:spPr bwMode="auto">
          <a:xfrm>
            <a:off x="3852863" y="567848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6</a:t>
            </a:r>
          </a:p>
        </p:txBody>
      </p:sp>
      <p:sp>
        <p:nvSpPr>
          <p:cNvPr id="14355" name="Text Box 46"/>
          <p:cNvSpPr txBox="1">
            <a:spLocks noChangeArrowheads="1"/>
          </p:cNvSpPr>
          <p:nvPr/>
        </p:nvSpPr>
        <p:spPr bwMode="auto">
          <a:xfrm>
            <a:off x="4191000" y="4038600"/>
            <a:ext cx="2514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2 is unbalanced now (too heavy on the right).</a:t>
            </a:r>
          </a:p>
        </p:txBody>
      </p:sp>
      <p:sp>
        <p:nvSpPr>
          <p:cNvPr id="14356" name="Slide Number Placeholder 4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0499612-4C34-40AF-B58A-71DA090478AF}" type="slidenum">
              <a:rPr lang="en-GB" altLang="en-US" smtClean="0"/>
              <a:pPr eaLnBrk="1" hangingPunct="1"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7175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8934" y="274638"/>
            <a:ext cx="8229600" cy="792162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Worked example contd.</a:t>
            </a:r>
          </a:p>
        </p:txBody>
      </p:sp>
      <p:grpSp>
        <p:nvGrpSpPr>
          <p:cNvPr id="15363" name="Group 5"/>
          <p:cNvGrpSpPr>
            <a:grpSpLocks/>
          </p:cNvGrpSpPr>
          <p:nvPr/>
        </p:nvGrpSpPr>
        <p:grpSpPr bwMode="auto">
          <a:xfrm>
            <a:off x="381000" y="1066800"/>
            <a:ext cx="2862263" cy="2249488"/>
            <a:chOff x="864" y="2400"/>
            <a:chExt cx="1803" cy="1417"/>
          </a:xfrm>
        </p:grpSpPr>
        <p:sp>
          <p:nvSpPr>
            <p:cNvPr id="15399" name="Oval 6"/>
            <p:cNvSpPr>
              <a:spLocks noChangeAspect="1" noChangeArrowheads="1"/>
            </p:cNvSpPr>
            <p:nvPr/>
          </p:nvSpPr>
          <p:spPr bwMode="auto">
            <a:xfrm>
              <a:off x="1296" y="2400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5400" name="Oval 7"/>
            <p:cNvSpPr>
              <a:spLocks noChangeAspect="1" noChangeArrowheads="1"/>
            </p:cNvSpPr>
            <p:nvPr/>
          </p:nvSpPr>
          <p:spPr bwMode="auto">
            <a:xfrm>
              <a:off x="1703" y="2757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cxnSp>
          <p:nvCxnSpPr>
            <p:cNvPr id="15401" name="AutoShape 8"/>
            <p:cNvCxnSpPr>
              <a:cxnSpLocks noChangeShapeType="1"/>
              <a:endCxn id="15400" idx="1"/>
            </p:cNvCxnSpPr>
            <p:nvPr/>
          </p:nvCxnSpPr>
          <p:spPr bwMode="auto">
            <a:xfrm>
              <a:off x="1531" y="2583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2" name="Line 9"/>
            <p:cNvSpPr>
              <a:spLocks noChangeShapeType="1"/>
            </p:cNvSpPr>
            <p:nvPr/>
          </p:nvSpPr>
          <p:spPr bwMode="auto">
            <a:xfrm flipH="1">
              <a:off x="1071" y="2592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403" name="Oval 10"/>
            <p:cNvSpPr>
              <a:spLocks noChangeAspect="1" noChangeArrowheads="1"/>
            </p:cNvSpPr>
            <p:nvPr/>
          </p:nvSpPr>
          <p:spPr bwMode="auto">
            <a:xfrm>
              <a:off x="864" y="2784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5404" name="AutoShape 11"/>
            <p:cNvCxnSpPr>
              <a:cxnSpLocks noChangeShapeType="1"/>
            </p:cNvCxnSpPr>
            <p:nvPr/>
          </p:nvCxnSpPr>
          <p:spPr bwMode="auto">
            <a:xfrm>
              <a:off x="1920" y="297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5" name="Oval 12"/>
            <p:cNvSpPr>
              <a:spLocks noChangeAspect="1" noChangeArrowheads="1"/>
            </p:cNvSpPr>
            <p:nvPr/>
          </p:nvSpPr>
          <p:spPr bwMode="auto">
            <a:xfrm>
              <a:off x="1392" y="312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5406" name="Oval 13"/>
            <p:cNvSpPr>
              <a:spLocks noChangeAspect="1" noChangeArrowheads="1"/>
            </p:cNvSpPr>
            <p:nvPr/>
          </p:nvSpPr>
          <p:spPr bwMode="auto">
            <a:xfrm>
              <a:off x="2064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5407" name="AutoShape 14"/>
            <p:cNvCxnSpPr>
              <a:cxnSpLocks noChangeShapeType="1"/>
            </p:cNvCxnSpPr>
            <p:nvPr/>
          </p:nvCxnSpPr>
          <p:spPr bwMode="auto">
            <a:xfrm flipV="1">
              <a:off x="1582" y="2996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8" name="AutoShape 15"/>
            <p:cNvCxnSpPr>
              <a:cxnSpLocks noChangeShapeType="1"/>
            </p:cNvCxnSpPr>
            <p:nvPr/>
          </p:nvCxnSpPr>
          <p:spPr bwMode="auto">
            <a:xfrm>
              <a:off x="2283" y="3385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9" name="Oval 16"/>
            <p:cNvSpPr>
              <a:spLocks noChangeAspect="1" noChangeArrowheads="1"/>
            </p:cNvSpPr>
            <p:nvPr/>
          </p:nvSpPr>
          <p:spPr bwMode="auto">
            <a:xfrm>
              <a:off x="2427" y="3577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15364" name="Text Box 17"/>
          <p:cNvSpPr txBox="1">
            <a:spLocks noChangeArrowheads="1"/>
          </p:cNvSpPr>
          <p:nvPr/>
        </p:nvSpPr>
        <p:spPr bwMode="auto">
          <a:xfrm>
            <a:off x="3124200" y="990600"/>
            <a:ext cx="21336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Left rotation.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(Node 4 </a:t>
            </a:r>
            <a:r>
              <a:rPr lang="en-GB" altLang="en-US" sz="2000" dirty="0">
                <a:solidFill>
                  <a:srgbClr val="FF3300"/>
                </a:solidFill>
                <a:latin typeface="Calibri" panose="020F0502020204030204" pitchFamily="34" charset="0"/>
              </a:rPr>
              <a:t>has </a:t>
            </a:r>
            <a:r>
              <a:rPr lang="en-GB" altLang="en-US" sz="2000" dirty="0">
                <a:latin typeface="Calibri" panose="020F0502020204030204" pitchFamily="34" charset="0"/>
              </a:rPr>
              <a:t> left subtree to move)</a:t>
            </a:r>
          </a:p>
        </p:txBody>
      </p:sp>
      <p:grpSp>
        <p:nvGrpSpPr>
          <p:cNvPr id="15365" name="Group 53"/>
          <p:cNvGrpSpPr>
            <a:grpSpLocks/>
          </p:cNvGrpSpPr>
          <p:nvPr/>
        </p:nvGrpSpPr>
        <p:grpSpPr bwMode="auto">
          <a:xfrm>
            <a:off x="5518150" y="838200"/>
            <a:ext cx="2787650" cy="1608138"/>
            <a:chOff x="3476" y="528"/>
            <a:chExt cx="1756" cy="1013"/>
          </a:xfrm>
        </p:grpSpPr>
        <p:sp>
          <p:nvSpPr>
            <p:cNvPr id="15388" name="Oval 19"/>
            <p:cNvSpPr>
              <a:spLocks noChangeAspect="1" noChangeArrowheads="1"/>
            </p:cNvSpPr>
            <p:nvPr/>
          </p:nvSpPr>
          <p:spPr bwMode="auto">
            <a:xfrm>
              <a:off x="4224" y="52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5389" name="Oval 20"/>
            <p:cNvSpPr>
              <a:spLocks noChangeAspect="1" noChangeArrowheads="1"/>
            </p:cNvSpPr>
            <p:nvPr/>
          </p:nvSpPr>
          <p:spPr bwMode="auto">
            <a:xfrm>
              <a:off x="4631" y="885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cxnSp>
          <p:nvCxnSpPr>
            <p:cNvPr id="15390" name="AutoShape 21"/>
            <p:cNvCxnSpPr>
              <a:cxnSpLocks noChangeShapeType="1"/>
              <a:endCxn id="15389" idx="1"/>
            </p:cNvCxnSpPr>
            <p:nvPr/>
          </p:nvCxnSpPr>
          <p:spPr bwMode="auto">
            <a:xfrm>
              <a:off x="4459" y="711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1" name="Line 22"/>
            <p:cNvSpPr>
              <a:spLocks noChangeShapeType="1"/>
            </p:cNvSpPr>
            <p:nvPr/>
          </p:nvSpPr>
          <p:spPr bwMode="auto">
            <a:xfrm flipH="1">
              <a:off x="3999" y="720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2" name="Oval 23"/>
            <p:cNvSpPr>
              <a:spLocks noChangeAspect="1" noChangeArrowheads="1"/>
            </p:cNvSpPr>
            <p:nvPr/>
          </p:nvSpPr>
          <p:spPr bwMode="auto">
            <a:xfrm>
              <a:off x="3792" y="912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cxnSp>
          <p:nvCxnSpPr>
            <p:cNvPr id="15393" name="AutoShape 24"/>
            <p:cNvCxnSpPr>
              <a:cxnSpLocks noChangeShapeType="1"/>
            </p:cNvCxnSpPr>
            <p:nvPr/>
          </p:nvCxnSpPr>
          <p:spPr bwMode="auto">
            <a:xfrm>
              <a:off x="4848" y="1104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4" name="Oval 25"/>
            <p:cNvSpPr>
              <a:spLocks noChangeAspect="1" noChangeArrowheads="1"/>
            </p:cNvSpPr>
            <p:nvPr/>
          </p:nvSpPr>
          <p:spPr bwMode="auto">
            <a:xfrm>
              <a:off x="4161" y="1301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5395" name="Oval 26"/>
            <p:cNvSpPr>
              <a:spLocks noChangeAspect="1" noChangeArrowheads="1"/>
            </p:cNvSpPr>
            <p:nvPr/>
          </p:nvSpPr>
          <p:spPr bwMode="auto">
            <a:xfrm>
              <a:off x="4992" y="129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15396" name="AutoShape 27"/>
            <p:cNvCxnSpPr>
              <a:cxnSpLocks noChangeShapeType="1"/>
            </p:cNvCxnSpPr>
            <p:nvPr/>
          </p:nvCxnSpPr>
          <p:spPr bwMode="auto">
            <a:xfrm flipV="1">
              <a:off x="3669" y="1131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7" name="Oval 29"/>
            <p:cNvSpPr>
              <a:spLocks noChangeAspect="1" noChangeArrowheads="1"/>
            </p:cNvSpPr>
            <p:nvPr/>
          </p:nvSpPr>
          <p:spPr bwMode="auto">
            <a:xfrm>
              <a:off x="3476" y="1265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5398" name="AutoShape 30"/>
            <p:cNvCxnSpPr>
              <a:cxnSpLocks noChangeShapeType="1"/>
            </p:cNvCxnSpPr>
            <p:nvPr/>
          </p:nvCxnSpPr>
          <p:spPr bwMode="auto">
            <a:xfrm>
              <a:off x="4004" y="1131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366" name="Text Box 31"/>
          <p:cNvSpPr txBox="1">
            <a:spLocks noChangeArrowheads="1"/>
          </p:cNvSpPr>
          <p:nvPr/>
        </p:nvSpPr>
        <p:spPr bwMode="auto">
          <a:xfrm>
            <a:off x="190499" y="4547340"/>
            <a:ext cx="3314701" cy="1200329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Example for you: add the next two nodes, i.e. node containing the value 7 and node containing the value 15</a:t>
            </a:r>
          </a:p>
        </p:txBody>
      </p:sp>
      <p:sp>
        <p:nvSpPr>
          <p:cNvPr id="15367" name="Text Box 32"/>
          <p:cNvSpPr txBox="1">
            <a:spLocks noChangeArrowheads="1"/>
          </p:cNvSpPr>
          <p:nvPr/>
        </p:nvSpPr>
        <p:spPr bwMode="auto">
          <a:xfrm>
            <a:off x="7239000" y="2590800"/>
            <a:ext cx="1676400" cy="78483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balanced? Yes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sym typeface="Symbol" pitchFamily="18" charset="2"/>
              </a:rPr>
              <a:t> continue</a:t>
            </a:r>
          </a:p>
        </p:txBody>
      </p:sp>
      <p:sp>
        <p:nvSpPr>
          <p:cNvPr id="15368" name="AutoShape 34"/>
          <p:cNvSpPr>
            <a:spLocks noChangeArrowheads="1"/>
          </p:cNvSpPr>
          <p:nvPr/>
        </p:nvSpPr>
        <p:spPr bwMode="auto">
          <a:xfrm>
            <a:off x="3954463" y="5221288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Text Box 35"/>
          <p:cNvSpPr txBox="1">
            <a:spLocks noChangeArrowheads="1"/>
          </p:cNvSpPr>
          <p:nvPr/>
        </p:nvSpPr>
        <p:spPr bwMode="auto">
          <a:xfrm>
            <a:off x="3810000" y="44958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add 7 and 15</a:t>
            </a:r>
          </a:p>
        </p:txBody>
      </p:sp>
      <p:grpSp>
        <p:nvGrpSpPr>
          <p:cNvPr id="15370" name="Group 52"/>
          <p:cNvGrpSpPr>
            <a:grpSpLocks/>
          </p:cNvGrpSpPr>
          <p:nvPr/>
        </p:nvGrpSpPr>
        <p:grpSpPr bwMode="auto">
          <a:xfrm>
            <a:off x="5029200" y="3810000"/>
            <a:ext cx="3352800" cy="2286000"/>
            <a:chOff x="3744" y="2400"/>
            <a:chExt cx="2112" cy="1440"/>
          </a:xfrm>
        </p:grpSpPr>
        <p:sp>
          <p:nvSpPr>
            <p:cNvPr id="15373" name="Oval 37"/>
            <p:cNvSpPr>
              <a:spLocks noChangeAspect="1" noChangeArrowheads="1"/>
            </p:cNvSpPr>
            <p:nvPr/>
          </p:nvSpPr>
          <p:spPr bwMode="auto">
            <a:xfrm>
              <a:off x="4512" y="240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5374" name="Oval 38"/>
            <p:cNvSpPr>
              <a:spLocks noChangeAspect="1" noChangeArrowheads="1"/>
            </p:cNvSpPr>
            <p:nvPr/>
          </p:nvSpPr>
          <p:spPr bwMode="auto">
            <a:xfrm>
              <a:off x="4919" y="2757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15375" name="AutoShape 39"/>
            <p:cNvCxnSpPr>
              <a:cxnSpLocks noChangeShapeType="1"/>
              <a:endCxn id="15374" idx="1"/>
            </p:cNvCxnSpPr>
            <p:nvPr/>
          </p:nvCxnSpPr>
          <p:spPr bwMode="auto">
            <a:xfrm>
              <a:off x="4747" y="2583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6" name="Line 40"/>
            <p:cNvSpPr>
              <a:spLocks noChangeShapeType="1"/>
            </p:cNvSpPr>
            <p:nvPr/>
          </p:nvSpPr>
          <p:spPr bwMode="auto">
            <a:xfrm flipH="1">
              <a:off x="4287" y="2592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7" name="Oval 41"/>
            <p:cNvSpPr>
              <a:spLocks noChangeAspect="1" noChangeArrowheads="1"/>
            </p:cNvSpPr>
            <p:nvPr/>
          </p:nvSpPr>
          <p:spPr bwMode="auto">
            <a:xfrm>
              <a:off x="4080" y="2784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cxnSp>
          <p:nvCxnSpPr>
            <p:cNvPr id="15378" name="AutoShape 42"/>
            <p:cNvCxnSpPr>
              <a:cxnSpLocks noChangeShapeType="1"/>
            </p:cNvCxnSpPr>
            <p:nvPr/>
          </p:nvCxnSpPr>
          <p:spPr bwMode="auto">
            <a:xfrm>
              <a:off x="5136" y="297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9" name="Oval 43"/>
            <p:cNvSpPr>
              <a:spLocks noChangeAspect="1"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5380" name="Oval 44"/>
            <p:cNvSpPr>
              <a:spLocks noChangeAspect="1" noChangeArrowheads="1"/>
            </p:cNvSpPr>
            <p:nvPr/>
          </p:nvSpPr>
          <p:spPr bwMode="auto">
            <a:xfrm>
              <a:off x="5280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5381" name="AutoShape 45"/>
            <p:cNvCxnSpPr>
              <a:cxnSpLocks noChangeShapeType="1"/>
            </p:cNvCxnSpPr>
            <p:nvPr/>
          </p:nvCxnSpPr>
          <p:spPr bwMode="auto">
            <a:xfrm flipV="1">
              <a:off x="4836" y="300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2" name="AutoShape 46"/>
            <p:cNvCxnSpPr>
              <a:cxnSpLocks noChangeShapeType="1"/>
            </p:cNvCxnSpPr>
            <p:nvPr/>
          </p:nvCxnSpPr>
          <p:spPr bwMode="auto">
            <a:xfrm>
              <a:off x="4224" y="3024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3" name="AutoShape 47"/>
            <p:cNvCxnSpPr>
              <a:cxnSpLocks noChangeShapeType="1"/>
            </p:cNvCxnSpPr>
            <p:nvPr/>
          </p:nvCxnSpPr>
          <p:spPr bwMode="auto">
            <a:xfrm flipV="1">
              <a:off x="3936" y="302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4" name="Oval 48"/>
            <p:cNvSpPr>
              <a:spLocks noChangeAspect="1" noChangeArrowheads="1"/>
            </p:cNvSpPr>
            <p:nvPr/>
          </p:nvSpPr>
          <p:spPr bwMode="auto">
            <a:xfrm>
              <a:off x="4320" y="321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5385" name="Oval 49"/>
            <p:cNvSpPr>
              <a:spLocks noChangeAspect="1" noChangeArrowheads="1"/>
            </p:cNvSpPr>
            <p:nvPr/>
          </p:nvSpPr>
          <p:spPr bwMode="auto">
            <a:xfrm>
              <a:off x="3744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5386" name="AutoShape 50"/>
            <p:cNvCxnSpPr>
              <a:cxnSpLocks noChangeShapeType="1"/>
            </p:cNvCxnSpPr>
            <p:nvPr/>
          </p:nvCxnSpPr>
          <p:spPr bwMode="auto">
            <a:xfrm>
              <a:off x="5439" y="3398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7" name="Oval 51"/>
            <p:cNvSpPr>
              <a:spLocks noChangeAspect="1" noChangeArrowheads="1"/>
            </p:cNvSpPr>
            <p:nvPr/>
          </p:nvSpPr>
          <p:spPr bwMode="auto">
            <a:xfrm>
              <a:off x="5520" y="3552"/>
              <a:ext cx="336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15</a:t>
              </a:r>
            </a:p>
          </p:txBody>
        </p:sp>
      </p:grpSp>
      <p:sp>
        <p:nvSpPr>
          <p:cNvPr id="15371" name="Slide Number Placeholder 4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5109A5-1F50-4D3E-A7AF-A390557BBD23}" type="slidenum">
              <a:rPr lang="en-GB" altLang="en-US" smtClean="0"/>
              <a:pPr eaLnBrk="1" hangingPunct="1"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5448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5763" y="106363"/>
            <a:ext cx="8229600" cy="792162"/>
          </a:xfrm>
        </p:spPr>
        <p:txBody>
          <a:bodyPr>
            <a:normAutofit/>
          </a:bodyPr>
          <a:lstStyle/>
          <a:p>
            <a:r>
              <a:rPr lang="en-GB" altLang="en-US" sz="2800" dirty="0">
                <a:latin typeface="Calibri" panose="020F0502020204030204" pitchFamily="34" charset="0"/>
              </a:rPr>
              <a:t>Worked example contd.</a:t>
            </a:r>
          </a:p>
        </p:txBody>
      </p:sp>
      <p:grpSp>
        <p:nvGrpSpPr>
          <p:cNvPr id="16387" name="Group 4"/>
          <p:cNvGrpSpPr>
            <a:grpSpLocks/>
          </p:cNvGrpSpPr>
          <p:nvPr/>
        </p:nvGrpSpPr>
        <p:grpSpPr bwMode="auto">
          <a:xfrm>
            <a:off x="444500" y="957263"/>
            <a:ext cx="3200400" cy="2286000"/>
            <a:chOff x="3744" y="2400"/>
            <a:chExt cx="2016" cy="1440"/>
          </a:xfrm>
        </p:grpSpPr>
        <p:sp>
          <p:nvSpPr>
            <p:cNvPr id="16450" name="Oval 5"/>
            <p:cNvSpPr>
              <a:spLocks noChangeAspect="1" noChangeArrowheads="1"/>
            </p:cNvSpPr>
            <p:nvPr/>
          </p:nvSpPr>
          <p:spPr bwMode="auto">
            <a:xfrm>
              <a:off x="4512" y="240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6451" name="Oval 6"/>
            <p:cNvSpPr>
              <a:spLocks noChangeAspect="1" noChangeArrowheads="1"/>
            </p:cNvSpPr>
            <p:nvPr/>
          </p:nvSpPr>
          <p:spPr bwMode="auto">
            <a:xfrm>
              <a:off x="4919" y="2757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16452" name="AutoShape 7"/>
            <p:cNvCxnSpPr>
              <a:cxnSpLocks noChangeShapeType="1"/>
              <a:endCxn id="16451" idx="1"/>
            </p:cNvCxnSpPr>
            <p:nvPr/>
          </p:nvCxnSpPr>
          <p:spPr bwMode="auto">
            <a:xfrm>
              <a:off x="4747" y="2583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53" name="Line 8"/>
            <p:cNvSpPr>
              <a:spLocks noChangeShapeType="1"/>
            </p:cNvSpPr>
            <p:nvPr/>
          </p:nvSpPr>
          <p:spPr bwMode="auto">
            <a:xfrm flipH="1">
              <a:off x="4287" y="2592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54" name="Oval 9"/>
            <p:cNvSpPr>
              <a:spLocks noChangeAspect="1" noChangeArrowheads="1"/>
            </p:cNvSpPr>
            <p:nvPr/>
          </p:nvSpPr>
          <p:spPr bwMode="auto">
            <a:xfrm>
              <a:off x="4080" y="2784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cxnSp>
          <p:nvCxnSpPr>
            <p:cNvPr id="16455" name="AutoShape 10"/>
            <p:cNvCxnSpPr>
              <a:cxnSpLocks noChangeShapeType="1"/>
            </p:cNvCxnSpPr>
            <p:nvPr/>
          </p:nvCxnSpPr>
          <p:spPr bwMode="auto">
            <a:xfrm>
              <a:off x="5136" y="297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56" name="Oval 11"/>
            <p:cNvSpPr>
              <a:spLocks noChangeAspect="1"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6457" name="Oval 12"/>
            <p:cNvSpPr>
              <a:spLocks noChangeAspect="1" noChangeArrowheads="1"/>
            </p:cNvSpPr>
            <p:nvPr/>
          </p:nvSpPr>
          <p:spPr bwMode="auto">
            <a:xfrm>
              <a:off x="5280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6458" name="AutoShape 13"/>
            <p:cNvCxnSpPr>
              <a:cxnSpLocks noChangeShapeType="1"/>
            </p:cNvCxnSpPr>
            <p:nvPr/>
          </p:nvCxnSpPr>
          <p:spPr bwMode="auto">
            <a:xfrm flipV="1">
              <a:off x="4836" y="300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59" name="AutoShape 14"/>
            <p:cNvCxnSpPr>
              <a:cxnSpLocks noChangeShapeType="1"/>
            </p:cNvCxnSpPr>
            <p:nvPr/>
          </p:nvCxnSpPr>
          <p:spPr bwMode="auto">
            <a:xfrm>
              <a:off x="4224" y="3024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0" name="AutoShape 15"/>
            <p:cNvCxnSpPr>
              <a:cxnSpLocks noChangeShapeType="1"/>
            </p:cNvCxnSpPr>
            <p:nvPr/>
          </p:nvCxnSpPr>
          <p:spPr bwMode="auto">
            <a:xfrm flipV="1">
              <a:off x="3936" y="302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61" name="Oval 16"/>
            <p:cNvSpPr>
              <a:spLocks noChangeAspect="1" noChangeArrowheads="1"/>
            </p:cNvSpPr>
            <p:nvPr/>
          </p:nvSpPr>
          <p:spPr bwMode="auto">
            <a:xfrm>
              <a:off x="4320" y="321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462" name="Oval 17"/>
            <p:cNvSpPr>
              <a:spLocks noChangeAspect="1" noChangeArrowheads="1"/>
            </p:cNvSpPr>
            <p:nvPr/>
          </p:nvSpPr>
          <p:spPr bwMode="auto">
            <a:xfrm>
              <a:off x="3744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6463" name="AutoShape 18"/>
            <p:cNvCxnSpPr>
              <a:cxnSpLocks noChangeShapeType="1"/>
            </p:cNvCxnSpPr>
            <p:nvPr/>
          </p:nvCxnSpPr>
          <p:spPr bwMode="auto">
            <a:xfrm>
              <a:off x="5439" y="3398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64" name="Oval 19"/>
            <p:cNvSpPr>
              <a:spLocks noChangeAspect="1" noChangeArrowheads="1"/>
            </p:cNvSpPr>
            <p:nvPr/>
          </p:nvSpPr>
          <p:spPr bwMode="auto">
            <a:xfrm>
              <a:off x="5520" y="360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latin typeface="Times New Roman" pitchFamily="18" charset="0"/>
                </a:rPr>
                <a:t>15</a:t>
              </a:r>
            </a:p>
          </p:txBody>
        </p:sp>
      </p:grpSp>
      <p:grpSp>
        <p:nvGrpSpPr>
          <p:cNvPr id="16388" name="Group 20"/>
          <p:cNvGrpSpPr>
            <a:grpSpLocks/>
          </p:cNvGrpSpPr>
          <p:nvPr/>
        </p:nvGrpSpPr>
        <p:grpSpPr bwMode="auto">
          <a:xfrm>
            <a:off x="3148013" y="1312863"/>
            <a:ext cx="914400" cy="649287"/>
            <a:chOff x="53" y="3047"/>
            <a:chExt cx="576" cy="409"/>
          </a:xfrm>
        </p:grpSpPr>
        <p:sp>
          <p:nvSpPr>
            <p:cNvPr id="16448" name="AutoShape 21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6449" name="Text Box 22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latin typeface="Calibri" panose="020F0502020204030204" pitchFamily="34" charset="0"/>
                </a:rPr>
                <a:t>add 14</a:t>
              </a:r>
            </a:p>
          </p:txBody>
        </p:sp>
      </p:grpSp>
      <p:sp>
        <p:nvSpPr>
          <p:cNvPr id="16389" name="Oval 24"/>
          <p:cNvSpPr>
            <a:spLocks noChangeAspect="1" noChangeArrowheads="1"/>
          </p:cNvSpPr>
          <p:nvPr/>
        </p:nvSpPr>
        <p:spPr bwMode="auto">
          <a:xfrm>
            <a:off x="5181600" y="6858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4</a:t>
            </a:r>
          </a:p>
        </p:txBody>
      </p:sp>
      <p:sp>
        <p:nvSpPr>
          <p:cNvPr id="16390" name="Oval 25"/>
          <p:cNvSpPr>
            <a:spLocks noChangeAspect="1" noChangeArrowheads="1"/>
          </p:cNvSpPr>
          <p:nvPr/>
        </p:nvSpPr>
        <p:spPr bwMode="auto">
          <a:xfrm>
            <a:off x="5827713" y="1252538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6</a:t>
            </a:r>
          </a:p>
        </p:txBody>
      </p:sp>
      <p:cxnSp>
        <p:nvCxnSpPr>
          <p:cNvPr id="16391" name="AutoShape 26"/>
          <p:cNvCxnSpPr>
            <a:cxnSpLocks noChangeShapeType="1"/>
            <a:endCxn id="16390" idx="1"/>
          </p:cNvCxnSpPr>
          <p:nvPr/>
        </p:nvCxnSpPr>
        <p:spPr bwMode="auto">
          <a:xfrm>
            <a:off x="5554663" y="976313"/>
            <a:ext cx="328612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2" name="Line 27"/>
          <p:cNvSpPr>
            <a:spLocks noChangeShapeType="1"/>
          </p:cNvSpPr>
          <p:nvPr/>
        </p:nvSpPr>
        <p:spPr bwMode="auto">
          <a:xfrm flipH="1">
            <a:off x="4824413" y="990600"/>
            <a:ext cx="357187" cy="376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393" name="Oval 28"/>
          <p:cNvSpPr>
            <a:spLocks noChangeAspect="1" noChangeArrowheads="1"/>
          </p:cNvSpPr>
          <p:nvPr/>
        </p:nvSpPr>
        <p:spPr bwMode="auto">
          <a:xfrm>
            <a:off x="4495800" y="12954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2</a:t>
            </a:r>
          </a:p>
        </p:txBody>
      </p:sp>
      <p:cxnSp>
        <p:nvCxnSpPr>
          <p:cNvPr id="16394" name="AutoShape 29"/>
          <p:cNvCxnSpPr>
            <a:cxnSpLocks noChangeShapeType="1"/>
          </p:cNvCxnSpPr>
          <p:nvPr/>
        </p:nvCxnSpPr>
        <p:spPr bwMode="auto">
          <a:xfrm>
            <a:off x="6172200" y="1600200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5" name="Oval 30"/>
          <p:cNvSpPr>
            <a:spLocks noChangeAspect="1" noChangeArrowheads="1"/>
          </p:cNvSpPr>
          <p:nvPr/>
        </p:nvSpPr>
        <p:spPr bwMode="auto">
          <a:xfrm>
            <a:off x="5486400" y="1905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5</a:t>
            </a:r>
          </a:p>
        </p:txBody>
      </p:sp>
      <p:sp>
        <p:nvSpPr>
          <p:cNvPr id="16396" name="Oval 31"/>
          <p:cNvSpPr>
            <a:spLocks noChangeAspect="1" noChangeArrowheads="1"/>
          </p:cNvSpPr>
          <p:nvPr/>
        </p:nvSpPr>
        <p:spPr bwMode="auto">
          <a:xfrm>
            <a:off x="6400800" y="1905000"/>
            <a:ext cx="381000" cy="3810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7</a:t>
            </a:r>
          </a:p>
        </p:txBody>
      </p:sp>
      <p:cxnSp>
        <p:nvCxnSpPr>
          <p:cNvPr id="16397" name="AutoShape 32"/>
          <p:cNvCxnSpPr>
            <a:cxnSpLocks noChangeShapeType="1"/>
          </p:cNvCxnSpPr>
          <p:nvPr/>
        </p:nvCxnSpPr>
        <p:spPr bwMode="auto">
          <a:xfrm flipV="1">
            <a:off x="5695950" y="1644650"/>
            <a:ext cx="244475" cy="230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33"/>
          <p:cNvCxnSpPr>
            <a:cxnSpLocks noChangeShapeType="1"/>
          </p:cNvCxnSpPr>
          <p:nvPr/>
        </p:nvCxnSpPr>
        <p:spPr bwMode="auto">
          <a:xfrm>
            <a:off x="4724400" y="1676400"/>
            <a:ext cx="328613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34"/>
          <p:cNvCxnSpPr>
            <a:cxnSpLocks noChangeShapeType="1"/>
          </p:cNvCxnSpPr>
          <p:nvPr/>
        </p:nvCxnSpPr>
        <p:spPr bwMode="auto">
          <a:xfrm flipV="1">
            <a:off x="4267200" y="1676400"/>
            <a:ext cx="244475" cy="230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0" name="Oval 35"/>
          <p:cNvSpPr>
            <a:spLocks noChangeAspect="1" noChangeArrowheads="1"/>
          </p:cNvSpPr>
          <p:nvPr/>
        </p:nvSpPr>
        <p:spPr bwMode="auto">
          <a:xfrm>
            <a:off x="4876800" y="19812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16401" name="Oval 36"/>
          <p:cNvSpPr>
            <a:spLocks noChangeAspect="1" noChangeArrowheads="1"/>
          </p:cNvSpPr>
          <p:nvPr/>
        </p:nvSpPr>
        <p:spPr bwMode="auto">
          <a:xfrm>
            <a:off x="3962400" y="1905000"/>
            <a:ext cx="381000" cy="3810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400">
                <a:latin typeface="Times New Roman" pitchFamily="18" charset="0"/>
              </a:rPr>
              <a:t>1</a:t>
            </a:r>
          </a:p>
        </p:txBody>
      </p:sp>
      <p:cxnSp>
        <p:nvCxnSpPr>
          <p:cNvPr id="16402" name="AutoShape 37"/>
          <p:cNvCxnSpPr>
            <a:cxnSpLocks noChangeShapeType="1"/>
          </p:cNvCxnSpPr>
          <p:nvPr/>
        </p:nvCxnSpPr>
        <p:spPr bwMode="auto">
          <a:xfrm>
            <a:off x="6653213" y="2270125"/>
            <a:ext cx="328612" cy="3222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3" name="Oval 38"/>
          <p:cNvSpPr>
            <a:spLocks noChangeAspect="1" noChangeArrowheads="1"/>
          </p:cNvSpPr>
          <p:nvPr/>
        </p:nvSpPr>
        <p:spPr bwMode="auto">
          <a:xfrm>
            <a:off x="6781800" y="25908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>
                <a:latin typeface="Times New Roman" pitchFamily="18" charset="0"/>
              </a:rPr>
              <a:t>15</a:t>
            </a:r>
          </a:p>
        </p:txBody>
      </p:sp>
      <p:sp>
        <p:nvSpPr>
          <p:cNvPr id="16404" name="Oval 40"/>
          <p:cNvSpPr>
            <a:spLocks noChangeAspect="1" noChangeArrowheads="1"/>
          </p:cNvSpPr>
          <p:nvPr/>
        </p:nvSpPr>
        <p:spPr bwMode="auto">
          <a:xfrm>
            <a:off x="6400800" y="3192463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>
                <a:latin typeface="Times New Roman" pitchFamily="18" charset="0"/>
              </a:rPr>
              <a:t>14</a:t>
            </a:r>
          </a:p>
        </p:txBody>
      </p:sp>
      <p:sp>
        <p:nvSpPr>
          <p:cNvPr id="16405" name="Text Box 41"/>
          <p:cNvSpPr txBox="1">
            <a:spLocks noChangeArrowheads="1"/>
          </p:cNvSpPr>
          <p:nvPr/>
        </p:nvSpPr>
        <p:spPr bwMode="auto">
          <a:xfrm>
            <a:off x="6805613" y="1327150"/>
            <a:ext cx="2057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>
                <a:latin typeface="Calibri" panose="020F0502020204030204" pitchFamily="34" charset="0"/>
              </a:rPr>
              <a:t>7 is unbalanced now (too heavy on the right).</a:t>
            </a:r>
          </a:p>
        </p:txBody>
      </p:sp>
      <p:sp>
        <p:nvSpPr>
          <p:cNvPr id="16406" name="Text Box 61"/>
          <p:cNvSpPr txBox="1">
            <a:spLocks noChangeArrowheads="1"/>
          </p:cNvSpPr>
          <p:nvPr/>
        </p:nvSpPr>
        <p:spPr bwMode="auto">
          <a:xfrm>
            <a:off x="3048000" y="3657600"/>
            <a:ext cx="1905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Left rotation.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15 </a:t>
            </a:r>
            <a:r>
              <a:rPr lang="en-GB" altLang="en-US">
                <a:solidFill>
                  <a:srgbClr val="FF3300"/>
                </a:solidFill>
                <a:latin typeface="Calibri" panose="020F0502020204030204" pitchFamily="34" charset="0"/>
              </a:rPr>
              <a:t>has</a:t>
            </a:r>
            <a:r>
              <a:rPr lang="en-GB" altLang="en-US">
                <a:latin typeface="Calibri" panose="020F0502020204030204" pitchFamily="34" charset="0"/>
              </a:rPr>
              <a:t> a left subtree to move</a:t>
            </a:r>
          </a:p>
        </p:txBody>
      </p:sp>
      <p:grpSp>
        <p:nvGrpSpPr>
          <p:cNvPr id="16407" name="Group 83"/>
          <p:cNvGrpSpPr>
            <a:grpSpLocks/>
          </p:cNvGrpSpPr>
          <p:nvPr/>
        </p:nvGrpSpPr>
        <p:grpSpPr bwMode="auto">
          <a:xfrm>
            <a:off x="4495800" y="3657600"/>
            <a:ext cx="2971800" cy="2819400"/>
            <a:chOff x="2832" y="2160"/>
            <a:chExt cx="1872" cy="1776"/>
          </a:xfrm>
        </p:grpSpPr>
        <p:sp>
          <p:nvSpPr>
            <p:cNvPr id="16431" name="Oval 63"/>
            <p:cNvSpPr>
              <a:spLocks noChangeAspect="1" noChangeArrowheads="1"/>
            </p:cNvSpPr>
            <p:nvPr/>
          </p:nvSpPr>
          <p:spPr bwMode="auto">
            <a:xfrm>
              <a:off x="3600" y="216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6432" name="Oval 64"/>
            <p:cNvSpPr>
              <a:spLocks noChangeAspect="1" noChangeArrowheads="1"/>
            </p:cNvSpPr>
            <p:nvPr/>
          </p:nvSpPr>
          <p:spPr bwMode="auto">
            <a:xfrm>
              <a:off x="4007" y="2517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16433" name="AutoShape 65"/>
            <p:cNvCxnSpPr>
              <a:cxnSpLocks noChangeShapeType="1"/>
              <a:endCxn id="16432" idx="1"/>
            </p:cNvCxnSpPr>
            <p:nvPr/>
          </p:nvCxnSpPr>
          <p:spPr bwMode="auto">
            <a:xfrm>
              <a:off x="3835" y="2343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34" name="Line 66"/>
            <p:cNvSpPr>
              <a:spLocks noChangeShapeType="1"/>
            </p:cNvSpPr>
            <p:nvPr/>
          </p:nvSpPr>
          <p:spPr bwMode="auto">
            <a:xfrm flipH="1">
              <a:off x="3375" y="2352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5" name="Oval 67"/>
            <p:cNvSpPr>
              <a:spLocks noChangeAspect="1" noChangeArrowheads="1"/>
            </p:cNvSpPr>
            <p:nvPr/>
          </p:nvSpPr>
          <p:spPr bwMode="auto">
            <a:xfrm>
              <a:off x="3168" y="2544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cxnSp>
          <p:nvCxnSpPr>
            <p:cNvPr id="16436" name="AutoShape 68"/>
            <p:cNvCxnSpPr>
              <a:cxnSpLocks noChangeShapeType="1"/>
            </p:cNvCxnSpPr>
            <p:nvPr/>
          </p:nvCxnSpPr>
          <p:spPr bwMode="auto">
            <a:xfrm>
              <a:off x="4224" y="273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37" name="Oval 69"/>
            <p:cNvSpPr>
              <a:spLocks noChangeAspect="1" noChangeArrowheads="1"/>
            </p:cNvSpPr>
            <p:nvPr/>
          </p:nvSpPr>
          <p:spPr bwMode="auto">
            <a:xfrm>
              <a:off x="3792" y="292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6438" name="Oval 70"/>
            <p:cNvSpPr>
              <a:spLocks noChangeAspect="1" noChangeArrowheads="1"/>
            </p:cNvSpPr>
            <p:nvPr/>
          </p:nvSpPr>
          <p:spPr bwMode="auto">
            <a:xfrm>
              <a:off x="4368" y="2928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latin typeface="Times New Roman" pitchFamily="18" charset="0"/>
                </a:rPr>
                <a:t>15</a:t>
              </a:r>
            </a:p>
          </p:txBody>
        </p:sp>
        <p:cxnSp>
          <p:nvCxnSpPr>
            <p:cNvPr id="16439" name="AutoShape 71"/>
            <p:cNvCxnSpPr>
              <a:cxnSpLocks noChangeShapeType="1"/>
            </p:cNvCxnSpPr>
            <p:nvPr/>
          </p:nvCxnSpPr>
          <p:spPr bwMode="auto">
            <a:xfrm flipV="1">
              <a:off x="3924" y="276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40" name="AutoShape 72"/>
            <p:cNvCxnSpPr>
              <a:cxnSpLocks noChangeShapeType="1"/>
            </p:cNvCxnSpPr>
            <p:nvPr/>
          </p:nvCxnSpPr>
          <p:spPr bwMode="auto">
            <a:xfrm>
              <a:off x="3312" y="2784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41" name="AutoShape 73"/>
            <p:cNvCxnSpPr>
              <a:cxnSpLocks noChangeShapeType="1"/>
            </p:cNvCxnSpPr>
            <p:nvPr/>
          </p:nvCxnSpPr>
          <p:spPr bwMode="auto">
            <a:xfrm flipV="1">
              <a:off x="3024" y="2784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42" name="Oval 74"/>
            <p:cNvSpPr>
              <a:spLocks noChangeAspect="1" noChangeArrowheads="1"/>
            </p:cNvSpPr>
            <p:nvPr/>
          </p:nvSpPr>
          <p:spPr bwMode="auto">
            <a:xfrm>
              <a:off x="3408" y="297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443" name="Oval 75"/>
            <p:cNvSpPr>
              <a:spLocks noChangeAspect="1" noChangeArrowheads="1"/>
            </p:cNvSpPr>
            <p:nvPr/>
          </p:nvSpPr>
          <p:spPr bwMode="auto">
            <a:xfrm>
              <a:off x="2832" y="292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6444" name="Oval 77"/>
            <p:cNvSpPr>
              <a:spLocks noChangeAspect="1" noChangeArrowheads="1"/>
            </p:cNvSpPr>
            <p:nvPr/>
          </p:nvSpPr>
          <p:spPr bwMode="auto">
            <a:xfrm>
              <a:off x="4032" y="3264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6445" name="AutoShape 78"/>
            <p:cNvCxnSpPr>
              <a:cxnSpLocks noChangeShapeType="1"/>
            </p:cNvCxnSpPr>
            <p:nvPr/>
          </p:nvCxnSpPr>
          <p:spPr bwMode="auto">
            <a:xfrm>
              <a:off x="4272" y="345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46" name="Oval 79"/>
            <p:cNvSpPr>
              <a:spLocks noChangeAspect="1" noChangeArrowheads="1"/>
            </p:cNvSpPr>
            <p:nvPr/>
          </p:nvSpPr>
          <p:spPr bwMode="auto">
            <a:xfrm>
              <a:off x="4416" y="3648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latin typeface="Times New Roman" pitchFamily="18" charset="0"/>
                </a:rPr>
                <a:t>14</a:t>
              </a:r>
            </a:p>
          </p:txBody>
        </p:sp>
        <p:cxnSp>
          <p:nvCxnSpPr>
            <p:cNvPr id="16447" name="AutoShape 80"/>
            <p:cNvCxnSpPr>
              <a:cxnSpLocks noChangeShapeType="1"/>
            </p:cNvCxnSpPr>
            <p:nvPr/>
          </p:nvCxnSpPr>
          <p:spPr bwMode="auto">
            <a:xfrm flipV="1">
              <a:off x="4224" y="3120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6408" name="AutoShape 81"/>
          <p:cNvCxnSpPr>
            <a:cxnSpLocks noChangeShapeType="1"/>
          </p:cNvCxnSpPr>
          <p:nvPr/>
        </p:nvCxnSpPr>
        <p:spPr bwMode="auto">
          <a:xfrm flipV="1">
            <a:off x="6678613" y="2989263"/>
            <a:ext cx="244475" cy="230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409" name="Group 86"/>
          <p:cNvGrpSpPr>
            <a:grpSpLocks/>
          </p:cNvGrpSpPr>
          <p:nvPr/>
        </p:nvGrpSpPr>
        <p:grpSpPr bwMode="auto">
          <a:xfrm>
            <a:off x="152400" y="3733800"/>
            <a:ext cx="3276600" cy="2971800"/>
            <a:chOff x="96" y="2352"/>
            <a:chExt cx="2064" cy="1872"/>
          </a:xfrm>
        </p:grpSpPr>
        <p:sp>
          <p:nvSpPr>
            <p:cNvPr id="16414" name="Oval 44"/>
            <p:cNvSpPr>
              <a:spLocks noChangeAspect="1" noChangeArrowheads="1"/>
            </p:cNvSpPr>
            <p:nvPr/>
          </p:nvSpPr>
          <p:spPr bwMode="auto">
            <a:xfrm>
              <a:off x="864" y="2352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6415" name="Oval 45"/>
            <p:cNvSpPr>
              <a:spLocks noChangeAspect="1" noChangeArrowheads="1"/>
            </p:cNvSpPr>
            <p:nvPr/>
          </p:nvSpPr>
          <p:spPr bwMode="auto">
            <a:xfrm>
              <a:off x="1271" y="2709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6</a:t>
              </a:r>
            </a:p>
          </p:txBody>
        </p:sp>
        <p:cxnSp>
          <p:nvCxnSpPr>
            <p:cNvPr id="16416" name="AutoShape 46"/>
            <p:cNvCxnSpPr>
              <a:cxnSpLocks noChangeShapeType="1"/>
              <a:endCxn id="16415" idx="1"/>
            </p:cNvCxnSpPr>
            <p:nvPr/>
          </p:nvCxnSpPr>
          <p:spPr bwMode="auto">
            <a:xfrm>
              <a:off x="1099" y="2535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7" name="Line 47"/>
            <p:cNvSpPr>
              <a:spLocks noChangeShapeType="1"/>
            </p:cNvSpPr>
            <p:nvPr/>
          </p:nvSpPr>
          <p:spPr bwMode="auto">
            <a:xfrm flipH="1">
              <a:off x="639" y="2544"/>
              <a:ext cx="225" cy="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8" name="Oval 48"/>
            <p:cNvSpPr>
              <a:spLocks noChangeAspect="1" noChangeArrowheads="1"/>
            </p:cNvSpPr>
            <p:nvPr/>
          </p:nvSpPr>
          <p:spPr bwMode="auto">
            <a:xfrm>
              <a:off x="432" y="2736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2</a:t>
              </a:r>
            </a:p>
          </p:txBody>
        </p:sp>
        <p:cxnSp>
          <p:nvCxnSpPr>
            <p:cNvPr id="16419" name="AutoShape 49"/>
            <p:cNvCxnSpPr>
              <a:cxnSpLocks noChangeShapeType="1"/>
            </p:cNvCxnSpPr>
            <p:nvPr/>
          </p:nvCxnSpPr>
          <p:spPr bwMode="auto">
            <a:xfrm>
              <a:off x="1488" y="2928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20" name="Oval 50"/>
            <p:cNvSpPr>
              <a:spLocks noChangeAspect="1" noChangeArrowheads="1"/>
            </p:cNvSpPr>
            <p:nvPr/>
          </p:nvSpPr>
          <p:spPr bwMode="auto">
            <a:xfrm>
              <a:off x="1056" y="312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6421" name="Oval 51"/>
            <p:cNvSpPr>
              <a:spLocks noChangeAspect="1" noChangeArrowheads="1"/>
            </p:cNvSpPr>
            <p:nvPr/>
          </p:nvSpPr>
          <p:spPr bwMode="auto">
            <a:xfrm>
              <a:off x="1632" y="3120"/>
              <a:ext cx="240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7</a:t>
              </a:r>
            </a:p>
          </p:txBody>
        </p:sp>
        <p:cxnSp>
          <p:nvCxnSpPr>
            <p:cNvPr id="16422" name="AutoShape 52"/>
            <p:cNvCxnSpPr>
              <a:cxnSpLocks noChangeShapeType="1"/>
            </p:cNvCxnSpPr>
            <p:nvPr/>
          </p:nvCxnSpPr>
          <p:spPr bwMode="auto">
            <a:xfrm flipV="1">
              <a:off x="1188" y="2956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3" name="AutoShape 53"/>
            <p:cNvCxnSpPr>
              <a:cxnSpLocks noChangeShapeType="1"/>
            </p:cNvCxnSpPr>
            <p:nvPr/>
          </p:nvCxnSpPr>
          <p:spPr bwMode="auto">
            <a:xfrm>
              <a:off x="576" y="2976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4" name="AutoShape 54"/>
            <p:cNvCxnSpPr>
              <a:cxnSpLocks noChangeShapeType="1"/>
            </p:cNvCxnSpPr>
            <p:nvPr/>
          </p:nvCxnSpPr>
          <p:spPr bwMode="auto">
            <a:xfrm flipV="1">
              <a:off x="288" y="2976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25" name="Oval 55"/>
            <p:cNvSpPr>
              <a:spLocks noChangeAspect="1" noChangeArrowheads="1"/>
            </p:cNvSpPr>
            <p:nvPr/>
          </p:nvSpPr>
          <p:spPr bwMode="auto">
            <a:xfrm>
              <a:off x="672" y="3168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426" name="Oval 56"/>
            <p:cNvSpPr>
              <a:spLocks noChangeAspect="1" noChangeArrowheads="1"/>
            </p:cNvSpPr>
            <p:nvPr/>
          </p:nvSpPr>
          <p:spPr bwMode="auto">
            <a:xfrm>
              <a:off x="96" y="3120"/>
              <a:ext cx="240" cy="24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400">
                  <a:latin typeface="Times New Roman" pitchFamily="18" charset="0"/>
                </a:rPr>
                <a:t>1</a:t>
              </a:r>
            </a:p>
          </p:txBody>
        </p:sp>
        <p:cxnSp>
          <p:nvCxnSpPr>
            <p:cNvPr id="16427" name="AutoShape 57"/>
            <p:cNvCxnSpPr>
              <a:cxnSpLocks noChangeShapeType="1"/>
            </p:cNvCxnSpPr>
            <p:nvPr/>
          </p:nvCxnSpPr>
          <p:spPr bwMode="auto">
            <a:xfrm>
              <a:off x="1791" y="3350"/>
              <a:ext cx="207" cy="2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28" name="Oval 58"/>
            <p:cNvSpPr>
              <a:spLocks noChangeAspect="1" noChangeArrowheads="1"/>
            </p:cNvSpPr>
            <p:nvPr/>
          </p:nvSpPr>
          <p:spPr bwMode="auto">
            <a:xfrm>
              <a:off x="1872" y="3552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16429" name="Oval 60"/>
            <p:cNvSpPr>
              <a:spLocks noChangeAspect="1" noChangeArrowheads="1"/>
            </p:cNvSpPr>
            <p:nvPr/>
          </p:nvSpPr>
          <p:spPr bwMode="auto">
            <a:xfrm>
              <a:off x="1584" y="3936"/>
              <a:ext cx="288" cy="28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latin typeface="Times New Roman" pitchFamily="18" charset="0"/>
                </a:rPr>
                <a:t>14</a:t>
              </a:r>
            </a:p>
          </p:txBody>
        </p:sp>
        <p:cxnSp>
          <p:nvCxnSpPr>
            <p:cNvPr id="16430" name="AutoShape 82"/>
            <p:cNvCxnSpPr>
              <a:cxnSpLocks noChangeShapeType="1"/>
            </p:cNvCxnSpPr>
            <p:nvPr/>
          </p:nvCxnSpPr>
          <p:spPr bwMode="auto">
            <a:xfrm flipV="1">
              <a:off x="1776" y="3792"/>
              <a:ext cx="154" cy="1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410" name="Text Box 84"/>
          <p:cNvSpPr txBox="1">
            <a:spLocks noChangeArrowheads="1"/>
          </p:cNvSpPr>
          <p:nvPr/>
        </p:nvSpPr>
        <p:spPr bwMode="auto">
          <a:xfrm>
            <a:off x="7239000" y="3810000"/>
            <a:ext cx="1676400" cy="7794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balanced? No!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sym typeface="Symbol" pitchFamily="18" charset="2"/>
              </a:rPr>
              <a:t> What now?</a:t>
            </a:r>
          </a:p>
        </p:txBody>
      </p:sp>
      <p:sp>
        <p:nvSpPr>
          <p:cNvPr id="27733" name="Text Box 85"/>
          <p:cNvSpPr txBox="1">
            <a:spLocks noChangeArrowheads="1"/>
          </p:cNvSpPr>
          <p:nvPr/>
        </p:nvSpPr>
        <p:spPr bwMode="auto">
          <a:xfrm>
            <a:off x="7620000" y="4724400"/>
            <a:ext cx="1143000" cy="1061829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Answer: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double rotation</a:t>
            </a:r>
          </a:p>
        </p:txBody>
      </p:sp>
      <p:sp>
        <p:nvSpPr>
          <p:cNvPr id="16412" name="Slide Number Placeholder 7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1AFFDFD-B3DE-47A5-9F61-506C18FF0F4D}" type="slidenum">
              <a:rPr lang="en-GB" altLang="en-US" smtClean="0"/>
              <a:pPr eaLnBrk="1" hangingPunct="1"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421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3422650" cy="914400"/>
          </a:xfrm>
          <a:noFill/>
        </p:spPr>
        <p:txBody>
          <a:bodyPr>
            <a:normAutofit/>
          </a:bodyPr>
          <a:lstStyle/>
          <a:p>
            <a:pPr algn="l"/>
            <a:r>
              <a:rPr lang="en-US" altLang="en-US" dirty="0"/>
              <a:t>AVL tree insert</a:t>
            </a:r>
          </a:p>
        </p:txBody>
      </p:sp>
      <p:sp>
        <p:nvSpPr>
          <p:cNvPr id="17411" name="Rectangle 7"/>
          <p:cNvSpPr>
            <a:spLocks noChangeArrowheads="1"/>
          </p:cNvSpPr>
          <p:nvPr/>
        </p:nvSpPr>
        <p:spPr bwMode="auto">
          <a:xfrm>
            <a:off x="457200" y="1371600"/>
            <a:ext cx="82296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Let </a:t>
            </a:r>
            <a:r>
              <a:rPr lang="en-US" altLang="en-US" sz="2000" i="1" dirty="0">
                <a:latin typeface="Calibri" panose="020F0502020204030204" pitchFamily="34" charset="0"/>
              </a:rPr>
              <a:t>x</a:t>
            </a:r>
            <a:r>
              <a:rPr lang="en-US" altLang="en-US" sz="2000" dirty="0">
                <a:latin typeface="Calibri" panose="020F0502020204030204" pitchFamily="34" charset="0"/>
              </a:rPr>
              <a:t> be the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deepest</a:t>
            </a:r>
            <a:r>
              <a:rPr lang="en-US" altLang="en-US" sz="2000" dirty="0">
                <a:latin typeface="Calibri" panose="020F0502020204030204" pitchFamily="34" charset="0"/>
              </a:rPr>
              <a:t> node where an imbalance occurs.</a:t>
            </a:r>
          </a:p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Four cases to consider.  </a:t>
            </a:r>
          </a:p>
          <a:p>
            <a:pPr eaLnBrk="1" hangingPunct="1"/>
            <a:endParaRPr lang="en-US" altLang="en-US" sz="2000" dirty="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The insertion is in the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left subtree of the left child of </a:t>
            </a:r>
            <a:r>
              <a:rPr lang="en-US" altLang="en-US" sz="2000" i="1" dirty="0">
                <a:latin typeface="Calibri" panose="020F0502020204030204" pitchFamily="34" charset="0"/>
              </a:rPr>
              <a:t>x.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right subtree of the left child of </a:t>
            </a:r>
            <a:r>
              <a:rPr lang="en-US" altLang="en-US" sz="2000" i="1" dirty="0">
                <a:latin typeface="Calibri" panose="020F0502020204030204" pitchFamily="34" charset="0"/>
              </a:rPr>
              <a:t>x.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left subtree of the right child of </a:t>
            </a:r>
            <a:r>
              <a:rPr lang="en-US" altLang="en-US" sz="2000" i="1" dirty="0">
                <a:latin typeface="Calibri" panose="020F0502020204030204" pitchFamily="34" charset="0"/>
              </a:rPr>
              <a:t>x.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dirty="0">
                <a:latin typeface="Calibri" panose="020F0502020204030204" pitchFamily="34" charset="0"/>
              </a:rPr>
              <a:t> right subtree of the right child of </a:t>
            </a:r>
            <a:r>
              <a:rPr lang="en-US" altLang="en-US" sz="2000" i="1" dirty="0">
                <a:latin typeface="Calibri" panose="020F0502020204030204" pitchFamily="34" charset="0"/>
              </a:rPr>
              <a:t>x.</a:t>
            </a:r>
          </a:p>
          <a:p>
            <a:pPr eaLnBrk="1" hangingPunct="1"/>
            <a:endParaRPr lang="en-US" altLang="en-US" sz="2000" dirty="0">
              <a:latin typeface="Calibri" panose="020F0502020204030204" pitchFamily="3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Cases 1 &amp; 4 are solved by a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single rotation</a:t>
            </a:r>
            <a:r>
              <a:rPr lang="en-US" altLang="en-US" sz="2000" dirty="0">
                <a:latin typeface="Calibri" panose="020F0502020204030204" pitchFamily="34" charset="0"/>
              </a:rPr>
              <a:t>.</a:t>
            </a:r>
          </a:p>
          <a:p>
            <a:pPr eaLnBrk="1" hangingPunct="1"/>
            <a:r>
              <a:rPr lang="en-US" altLang="en-US" sz="2000" dirty="0">
                <a:latin typeface="Calibri" panose="020F0502020204030204" pitchFamily="34" charset="0"/>
              </a:rPr>
              <a:t>Cases 2 &amp; 3 are solved by a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double rotation</a:t>
            </a:r>
            <a:r>
              <a:rPr lang="en-US" altLang="en-US" sz="2000" dirty="0">
                <a:latin typeface="Calibri" panose="020F0502020204030204" pitchFamily="34" charset="0"/>
              </a:rPr>
              <a:t>.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562600" y="3429000"/>
            <a:ext cx="2819400" cy="2698750"/>
            <a:chOff x="3504" y="2160"/>
            <a:chExt cx="1776" cy="1700"/>
          </a:xfrm>
        </p:grpSpPr>
        <p:sp>
          <p:nvSpPr>
            <p:cNvPr id="17415" name="Text Box 8"/>
            <p:cNvSpPr txBox="1">
              <a:spLocks noChangeArrowheads="1"/>
            </p:cNvSpPr>
            <p:nvPr/>
          </p:nvSpPr>
          <p:spPr bwMode="auto">
            <a:xfrm>
              <a:off x="3696" y="3456"/>
              <a:ext cx="1584" cy="404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This is the situation we have here</a:t>
              </a:r>
            </a:p>
          </p:txBody>
        </p:sp>
        <p:sp>
          <p:nvSpPr>
            <p:cNvPr id="17416" name="Freeform 9"/>
            <p:cNvSpPr>
              <a:spLocks/>
            </p:cNvSpPr>
            <p:nvPr/>
          </p:nvSpPr>
          <p:spPr bwMode="auto">
            <a:xfrm>
              <a:off x="3504" y="2160"/>
              <a:ext cx="1240" cy="1296"/>
            </a:xfrm>
            <a:custGeom>
              <a:avLst/>
              <a:gdLst>
                <a:gd name="T0" fmla="*/ 912 w 1240"/>
                <a:gd name="T1" fmla="*/ 1296 h 1296"/>
                <a:gd name="T2" fmla="*/ 1200 w 1240"/>
                <a:gd name="T3" fmla="*/ 768 h 1296"/>
                <a:gd name="T4" fmla="*/ 672 w 1240"/>
                <a:gd name="T5" fmla="*/ 144 h 1296"/>
                <a:gd name="T6" fmla="*/ 0 w 1240"/>
                <a:gd name="T7" fmla="*/ 0 h 1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0"/>
                <a:gd name="T13" fmla="*/ 0 h 1296"/>
                <a:gd name="T14" fmla="*/ 1240 w 1240"/>
                <a:gd name="T15" fmla="*/ 1296 h 1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0" h="1296">
                  <a:moveTo>
                    <a:pt x="912" y="1296"/>
                  </a:moveTo>
                  <a:cubicBezTo>
                    <a:pt x="1076" y="1128"/>
                    <a:pt x="1240" y="960"/>
                    <a:pt x="1200" y="768"/>
                  </a:cubicBezTo>
                  <a:cubicBezTo>
                    <a:pt x="1160" y="576"/>
                    <a:pt x="872" y="272"/>
                    <a:pt x="672" y="144"/>
                  </a:cubicBezTo>
                  <a:cubicBezTo>
                    <a:pt x="472" y="16"/>
                    <a:pt x="236" y="8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41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AAF0B72-448D-4CC0-BC2F-AB4B12539F53}" type="slidenum">
              <a:rPr lang="en-GB" altLang="en-US" smtClean="0"/>
              <a:pPr eaLnBrk="1" hangingPunct="1"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8322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9238" y="3810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Double rotation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70" y="1009498"/>
            <a:ext cx="8229600" cy="26670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000" dirty="0"/>
              <a:t> Let </a:t>
            </a:r>
          </a:p>
          <a:p>
            <a:r>
              <a:rPr lang="en-GB" altLang="en-US" sz="2000" dirty="0"/>
              <a:t>k</a:t>
            </a:r>
            <a:r>
              <a:rPr lang="en-GB" altLang="en-US" sz="2000" baseline="-25000" dirty="0"/>
              <a:t>1</a:t>
            </a:r>
            <a:r>
              <a:rPr lang="en-GB" altLang="en-US" sz="2000" dirty="0"/>
              <a:t> be the deepest node at which imbalance occurs</a:t>
            </a:r>
          </a:p>
          <a:p>
            <a:r>
              <a:rPr lang="en-GB" altLang="en-US" sz="2000" dirty="0"/>
              <a:t>k</a:t>
            </a:r>
            <a:r>
              <a:rPr lang="en-GB" altLang="en-US" sz="2000" baseline="-25000" dirty="0"/>
              <a:t>2</a:t>
            </a:r>
            <a:r>
              <a:rPr lang="en-GB" altLang="en-US" sz="2000" dirty="0"/>
              <a:t> and k</a:t>
            </a:r>
            <a:r>
              <a:rPr lang="en-GB" altLang="en-US" sz="2000" baseline="-25000" dirty="0"/>
              <a:t>3</a:t>
            </a:r>
            <a:r>
              <a:rPr lang="en-GB" altLang="en-US" sz="2000" dirty="0"/>
              <a:t> next two nodes along the path leading to the inserted node</a:t>
            </a:r>
          </a:p>
          <a:p>
            <a:pPr>
              <a:buFontTx/>
              <a:buNone/>
            </a:pPr>
            <a:r>
              <a:rPr lang="en-GB" altLang="en-US" sz="2000" dirty="0"/>
              <a:t>Then</a:t>
            </a:r>
          </a:p>
          <a:p>
            <a:r>
              <a:rPr lang="en-GB" altLang="en-US" sz="2000" dirty="0"/>
              <a:t>Rotate about k</a:t>
            </a:r>
            <a:r>
              <a:rPr lang="en-GB" altLang="en-US" sz="2000" baseline="-25000" dirty="0"/>
              <a:t>2 </a:t>
            </a:r>
            <a:r>
              <a:rPr lang="en-GB" altLang="en-US" sz="2000" dirty="0"/>
              <a:t>and k</a:t>
            </a:r>
            <a:r>
              <a:rPr lang="en-GB" altLang="en-US" sz="2000" baseline="-25000" dirty="0"/>
              <a:t>3</a:t>
            </a:r>
          </a:p>
          <a:p>
            <a:r>
              <a:rPr lang="en-GB" altLang="en-US" sz="2000" dirty="0"/>
              <a:t>Rotate about k</a:t>
            </a:r>
            <a:r>
              <a:rPr lang="en-GB" altLang="en-US" sz="2000" baseline="-25000" dirty="0"/>
              <a:t>1 </a:t>
            </a:r>
            <a:r>
              <a:rPr lang="en-GB" altLang="en-US" sz="2000" dirty="0"/>
              <a:t>and k</a:t>
            </a:r>
            <a:r>
              <a:rPr lang="en-GB" altLang="en-US" sz="2000" baseline="-25000" dirty="0"/>
              <a:t>3</a:t>
            </a:r>
          </a:p>
        </p:txBody>
      </p:sp>
      <p:sp>
        <p:nvSpPr>
          <p:cNvPr id="18436" name="Text Box 23"/>
          <p:cNvSpPr txBox="1">
            <a:spLocks noChangeArrowheads="1"/>
          </p:cNvSpPr>
          <p:nvPr/>
        </p:nvSpPr>
        <p:spPr bwMode="auto">
          <a:xfrm>
            <a:off x="2251075" y="4905375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1</a:t>
            </a:r>
          </a:p>
        </p:txBody>
      </p:sp>
      <p:sp>
        <p:nvSpPr>
          <p:cNvPr id="18437" name="Text Box 24"/>
          <p:cNvSpPr txBox="1">
            <a:spLocks noChangeArrowheads="1"/>
          </p:cNvSpPr>
          <p:nvPr/>
        </p:nvSpPr>
        <p:spPr bwMode="auto">
          <a:xfrm>
            <a:off x="2667000" y="55626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2</a:t>
            </a:r>
          </a:p>
        </p:txBody>
      </p:sp>
      <p:sp>
        <p:nvSpPr>
          <p:cNvPr id="18438" name="Text Box 25"/>
          <p:cNvSpPr txBox="1">
            <a:spLocks noChangeArrowheads="1"/>
          </p:cNvSpPr>
          <p:nvPr/>
        </p:nvSpPr>
        <p:spPr bwMode="auto">
          <a:xfrm>
            <a:off x="2216150" y="6048375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3</a:t>
            </a:r>
          </a:p>
        </p:txBody>
      </p:sp>
      <p:grpSp>
        <p:nvGrpSpPr>
          <p:cNvPr id="18439" name="Group 186"/>
          <p:cNvGrpSpPr>
            <a:grpSpLocks/>
          </p:cNvGrpSpPr>
          <p:nvPr/>
        </p:nvGrpSpPr>
        <p:grpSpPr bwMode="auto">
          <a:xfrm>
            <a:off x="3124200" y="4098925"/>
            <a:ext cx="3613150" cy="2349500"/>
            <a:chOff x="1968" y="2582"/>
            <a:chExt cx="2276" cy="1480"/>
          </a:xfrm>
        </p:grpSpPr>
        <p:grpSp>
          <p:nvGrpSpPr>
            <p:cNvPr id="18540" name="Group 81"/>
            <p:cNvGrpSpPr>
              <a:grpSpLocks/>
            </p:cNvGrpSpPr>
            <p:nvPr/>
          </p:nvGrpSpPr>
          <p:grpSpPr bwMode="auto">
            <a:xfrm>
              <a:off x="1968" y="2582"/>
              <a:ext cx="1910" cy="1478"/>
              <a:chOff x="2112" y="2640"/>
              <a:chExt cx="1910" cy="1478"/>
            </a:xfrm>
          </p:grpSpPr>
          <p:sp>
            <p:nvSpPr>
              <p:cNvPr id="18544" name="AutoShape 27"/>
              <p:cNvSpPr>
                <a:spLocks noChangeAspect="1" noChangeArrowheads="1" noTextEdit="1"/>
              </p:cNvSpPr>
              <p:nvPr/>
            </p:nvSpPr>
            <p:spPr bwMode="auto">
              <a:xfrm>
                <a:off x="2112" y="2640"/>
                <a:ext cx="1632" cy="14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45" name="Freeform 29"/>
              <p:cNvSpPr>
                <a:spLocks/>
              </p:cNvSpPr>
              <p:nvPr/>
            </p:nvSpPr>
            <p:spPr bwMode="auto">
              <a:xfrm>
                <a:off x="2732" y="2645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46" name="Rectangle 30"/>
              <p:cNvSpPr>
                <a:spLocks noChangeArrowheads="1"/>
              </p:cNvSpPr>
              <p:nvPr/>
            </p:nvSpPr>
            <p:spPr bwMode="auto">
              <a:xfrm>
                <a:off x="2824" y="265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18547" name="Freeform 31"/>
              <p:cNvSpPr>
                <a:spLocks/>
              </p:cNvSpPr>
              <p:nvPr/>
            </p:nvSpPr>
            <p:spPr bwMode="auto">
              <a:xfrm>
                <a:off x="3058" y="2930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48" name="Rectangle 32"/>
              <p:cNvSpPr>
                <a:spLocks noChangeArrowheads="1"/>
              </p:cNvSpPr>
              <p:nvPr/>
            </p:nvSpPr>
            <p:spPr bwMode="auto">
              <a:xfrm>
                <a:off x="3150" y="2945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  <p:sp>
            <p:nvSpPr>
              <p:cNvPr id="18549" name="Line 33"/>
              <p:cNvSpPr>
                <a:spLocks noChangeShapeType="1"/>
              </p:cNvSpPr>
              <p:nvPr/>
            </p:nvSpPr>
            <p:spPr bwMode="auto">
              <a:xfrm>
                <a:off x="2920" y="2791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0" name="Line 34"/>
              <p:cNvSpPr>
                <a:spLocks noChangeShapeType="1"/>
              </p:cNvSpPr>
              <p:nvPr/>
            </p:nvSpPr>
            <p:spPr bwMode="auto">
              <a:xfrm flipH="1">
                <a:off x="2551" y="2798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1" name="Freeform 35"/>
              <p:cNvSpPr>
                <a:spLocks/>
              </p:cNvSpPr>
              <p:nvPr/>
            </p:nvSpPr>
            <p:spPr bwMode="auto">
              <a:xfrm>
                <a:off x="2386" y="2952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2" name="Rectangle 36"/>
              <p:cNvSpPr>
                <a:spLocks noChangeArrowheads="1"/>
              </p:cNvSpPr>
              <p:nvPr/>
            </p:nvSpPr>
            <p:spPr bwMode="auto">
              <a:xfrm>
                <a:off x="2478" y="2966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18553" name="Line 37"/>
              <p:cNvSpPr>
                <a:spLocks noChangeShapeType="1"/>
              </p:cNvSpPr>
              <p:nvPr/>
            </p:nvSpPr>
            <p:spPr bwMode="auto">
              <a:xfrm>
                <a:off x="3232" y="3106"/>
                <a:ext cx="165" cy="16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4" name="Freeform 38"/>
              <p:cNvSpPr>
                <a:spLocks/>
              </p:cNvSpPr>
              <p:nvPr/>
            </p:nvSpPr>
            <p:spPr bwMode="auto">
              <a:xfrm>
                <a:off x="2886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5" name="Rectangle 39"/>
              <p:cNvSpPr>
                <a:spLocks noChangeArrowheads="1"/>
              </p:cNvSpPr>
              <p:nvPr/>
            </p:nvSpPr>
            <p:spPr bwMode="auto">
              <a:xfrm>
                <a:off x="2978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  <p:sp>
            <p:nvSpPr>
              <p:cNvPr id="18556" name="Freeform 40"/>
              <p:cNvSpPr>
                <a:spLocks/>
              </p:cNvSpPr>
              <p:nvPr/>
            </p:nvSpPr>
            <p:spPr bwMode="auto">
              <a:xfrm>
                <a:off x="3347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7" name="Rectangle 41"/>
              <p:cNvSpPr>
                <a:spLocks noChangeArrowheads="1"/>
              </p:cNvSpPr>
              <p:nvPr/>
            </p:nvSpPr>
            <p:spPr bwMode="auto">
              <a:xfrm>
                <a:off x="3440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18558" name="Line 42"/>
              <p:cNvSpPr>
                <a:spLocks noChangeShapeType="1"/>
              </p:cNvSpPr>
              <p:nvPr/>
            </p:nvSpPr>
            <p:spPr bwMode="auto">
              <a:xfrm flipV="1">
                <a:off x="2991" y="3128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59" name="Line 43"/>
              <p:cNvSpPr>
                <a:spLocks noChangeShapeType="1"/>
              </p:cNvSpPr>
              <p:nvPr/>
            </p:nvSpPr>
            <p:spPr bwMode="auto">
              <a:xfrm>
                <a:off x="2501" y="3144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0" name="Line 44"/>
              <p:cNvSpPr>
                <a:spLocks noChangeShapeType="1"/>
              </p:cNvSpPr>
              <p:nvPr/>
            </p:nvSpPr>
            <p:spPr bwMode="auto">
              <a:xfrm flipV="1">
                <a:off x="2270" y="3144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1" name="Freeform 45"/>
              <p:cNvSpPr>
                <a:spLocks/>
              </p:cNvSpPr>
              <p:nvPr/>
            </p:nvSpPr>
            <p:spPr bwMode="auto">
              <a:xfrm>
                <a:off x="2578" y="329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2" y="0"/>
                    </a:moveTo>
                    <a:lnTo>
                      <a:pt x="182" y="0"/>
                    </a:lnTo>
                    <a:lnTo>
                      <a:pt x="172" y="0"/>
                    </a:lnTo>
                    <a:lnTo>
                      <a:pt x="162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99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39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39"/>
                    </a:lnTo>
                    <a:lnTo>
                      <a:pt x="85" y="350"/>
                    </a:lnTo>
                    <a:lnTo>
                      <a:pt x="100" y="359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79"/>
                    </a:lnTo>
                    <a:lnTo>
                      <a:pt x="162" y="381"/>
                    </a:lnTo>
                    <a:lnTo>
                      <a:pt x="172" y="382"/>
                    </a:lnTo>
                    <a:lnTo>
                      <a:pt x="182" y="382"/>
                    </a:lnTo>
                    <a:lnTo>
                      <a:pt x="192" y="384"/>
                    </a:lnTo>
                    <a:lnTo>
                      <a:pt x="202" y="382"/>
                    </a:lnTo>
                    <a:lnTo>
                      <a:pt x="211" y="382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59"/>
                    </a:lnTo>
                    <a:lnTo>
                      <a:pt x="299" y="350"/>
                    </a:lnTo>
                    <a:lnTo>
                      <a:pt x="314" y="339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9" y="239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5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99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2" name="Rectangle 46"/>
              <p:cNvSpPr>
                <a:spLocks noChangeArrowheads="1"/>
              </p:cNvSpPr>
              <p:nvPr/>
            </p:nvSpPr>
            <p:spPr bwMode="auto">
              <a:xfrm>
                <a:off x="2671" y="331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GB" altLang="en-US"/>
              </a:p>
            </p:txBody>
          </p:sp>
          <p:sp>
            <p:nvSpPr>
              <p:cNvPr id="18563" name="Freeform 47"/>
              <p:cNvSpPr>
                <a:spLocks/>
              </p:cNvSpPr>
              <p:nvPr/>
            </p:nvSpPr>
            <p:spPr bwMode="auto">
              <a:xfrm>
                <a:off x="2117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4" name="Rectangle 48"/>
              <p:cNvSpPr>
                <a:spLocks noChangeArrowheads="1"/>
              </p:cNvSpPr>
              <p:nvPr/>
            </p:nvSpPr>
            <p:spPr bwMode="auto">
              <a:xfrm>
                <a:off x="2209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18565" name="Line 49"/>
              <p:cNvSpPr>
                <a:spLocks noChangeShapeType="1"/>
              </p:cNvSpPr>
              <p:nvPr/>
            </p:nvSpPr>
            <p:spPr bwMode="auto">
              <a:xfrm>
                <a:off x="3474" y="3444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6" name="Freeform 50"/>
              <p:cNvSpPr>
                <a:spLocks/>
              </p:cNvSpPr>
              <p:nvPr/>
            </p:nvSpPr>
            <p:spPr bwMode="auto">
              <a:xfrm>
                <a:off x="3539" y="3606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7" name="Freeform 55"/>
              <p:cNvSpPr>
                <a:spLocks/>
              </p:cNvSpPr>
              <p:nvPr/>
            </p:nvSpPr>
            <p:spPr bwMode="auto">
              <a:xfrm>
                <a:off x="2732" y="2645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68" name="Rectangle 56"/>
              <p:cNvSpPr>
                <a:spLocks noChangeArrowheads="1"/>
              </p:cNvSpPr>
              <p:nvPr/>
            </p:nvSpPr>
            <p:spPr bwMode="auto">
              <a:xfrm>
                <a:off x="2824" y="265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18569" name="Freeform 57"/>
              <p:cNvSpPr>
                <a:spLocks/>
              </p:cNvSpPr>
              <p:nvPr/>
            </p:nvSpPr>
            <p:spPr bwMode="auto">
              <a:xfrm>
                <a:off x="3058" y="2930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0" name="Rectangle 58"/>
              <p:cNvSpPr>
                <a:spLocks noChangeArrowheads="1"/>
              </p:cNvSpPr>
              <p:nvPr/>
            </p:nvSpPr>
            <p:spPr bwMode="auto">
              <a:xfrm>
                <a:off x="3150" y="2945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  <p:sp>
            <p:nvSpPr>
              <p:cNvPr id="18571" name="Line 59"/>
              <p:cNvSpPr>
                <a:spLocks noChangeShapeType="1"/>
              </p:cNvSpPr>
              <p:nvPr/>
            </p:nvSpPr>
            <p:spPr bwMode="auto">
              <a:xfrm>
                <a:off x="2920" y="2791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2" name="Line 60"/>
              <p:cNvSpPr>
                <a:spLocks noChangeShapeType="1"/>
              </p:cNvSpPr>
              <p:nvPr/>
            </p:nvSpPr>
            <p:spPr bwMode="auto">
              <a:xfrm flipH="1">
                <a:off x="2551" y="2798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3" name="Freeform 61"/>
              <p:cNvSpPr>
                <a:spLocks/>
              </p:cNvSpPr>
              <p:nvPr/>
            </p:nvSpPr>
            <p:spPr bwMode="auto">
              <a:xfrm>
                <a:off x="2386" y="2952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4" name="Rectangle 62"/>
              <p:cNvSpPr>
                <a:spLocks noChangeArrowheads="1"/>
              </p:cNvSpPr>
              <p:nvPr/>
            </p:nvSpPr>
            <p:spPr bwMode="auto">
              <a:xfrm>
                <a:off x="2478" y="2966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18575" name="Line 63"/>
              <p:cNvSpPr>
                <a:spLocks noChangeShapeType="1"/>
              </p:cNvSpPr>
              <p:nvPr/>
            </p:nvSpPr>
            <p:spPr bwMode="auto">
              <a:xfrm>
                <a:off x="3232" y="3106"/>
                <a:ext cx="165" cy="16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6" name="Freeform 64"/>
              <p:cNvSpPr>
                <a:spLocks/>
              </p:cNvSpPr>
              <p:nvPr/>
            </p:nvSpPr>
            <p:spPr bwMode="auto">
              <a:xfrm>
                <a:off x="2886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7" name="Rectangle 65"/>
              <p:cNvSpPr>
                <a:spLocks noChangeArrowheads="1"/>
              </p:cNvSpPr>
              <p:nvPr/>
            </p:nvSpPr>
            <p:spPr bwMode="auto">
              <a:xfrm>
                <a:off x="2978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  <p:sp>
            <p:nvSpPr>
              <p:cNvPr id="18578" name="Freeform 66"/>
              <p:cNvSpPr>
                <a:spLocks/>
              </p:cNvSpPr>
              <p:nvPr/>
            </p:nvSpPr>
            <p:spPr bwMode="auto">
              <a:xfrm>
                <a:off x="3347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79" name="Rectangle 67"/>
              <p:cNvSpPr>
                <a:spLocks noChangeArrowheads="1"/>
              </p:cNvSpPr>
              <p:nvPr/>
            </p:nvSpPr>
            <p:spPr bwMode="auto">
              <a:xfrm>
                <a:off x="3440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18580" name="Line 68"/>
              <p:cNvSpPr>
                <a:spLocks noChangeShapeType="1"/>
              </p:cNvSpPr>
              <p:nvPr/>
            </p:nvSpPr>
            <p:spPr bwMode="auto">
              <a:xfrm flipV="1">
                <a:off x="2991" y="3128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1" name="Line 69"/>
              <p:cNvSpPr>
                <a:spLocks noChangeShapeType="1"/>
              </p:cNvSpPr>
              <p:nvPr/>
            </p:nvSpPr>
            <p:spPr bwMode="auto">
              <a:xfrm>
                <a:off x="2501" y="3144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2" name="Line 70"/>
              <p:cNvSpPr>
                <a:spLocks noChangeShapeType="1"/>
              </p:cNvSpPr>
              <p:nvPr/>
            </p:nvSpPr>
            <p:spPr bwMode="auto">
              <a:xfrm flipV="1">
                <a:off x="2270" y="3144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3" name="Freeform 71"/>
              <p:cNvSpPr>
                <a:spLocks/>
              </p:cNvSpPr>
              <p:nvPr/>
            </p:nvSpPr>
            <p:spPr bwMode="auto">
              <a:xfrm>
                <a:off x="2578" y="329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2" y="0"/>
                    </a:moveTo>
                    <a:lnTo>
                      <a:pt x="182" y="0"/>
                    </a:lnTo>
                    <a:lnTo>
                      <a:pt x="172" y="0"/>
                    </a:lnTo>
                    <a:lnTo>
                      <a:pt x="162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99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39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39"/>
                    </a:lnTo>
                    <a:lnTo>
                      <a:pt x="85" y="350"/>
                    </a:lnTo>
                    <a:lnTo>
                      <a:pt x="100" y="359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79"/>
                    </a:lnTo>
                    <a:lnTo>
                      <a:pt x="162" y="381"/>
                    </a:lnTo>
                    <a:lnTo>
                      <a:pt x="172" y="382"/>
                    </a:lnTo>
                    <a:lnTo>
                      <a:pt x="182" y="382"/>
                    </a:lnTo>
                    <a:lnTo>
                      <a:pt x="192" y="384"/>
                    </a:lnTo>
                    <a:lnTo>
                      <a:pt x="202" y="382"/>
                    </a:lnTo>
                    <a:lnTo>
                      <a:pt x="211" y="382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59"/>
                    </a:lnTo>
                    <a:lnTo>
                      <a:pt x="299" y="350"/>
                    </a:lnTo>
                    <a:lnTo>
                      <a:pt x="314" y="339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9" y="239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5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99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4" name="Rectangle 72"/>
              <p:cNvSpPr>
                <a:spLocks noChangeArrowheads="1"/>
              </p:cNvSpPr>
              <p:nvPr/>
            </p:nvSpPr>
            <p:spPr bwMode="auto">
              <a:xfrm>
                <a:off x="2671" y="331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GB" altLang="en-US"/>
              </a:p>
            </p:txBody>
          </p:sp>
          <p:sp>
            <p:nvSpPr>
              <p:cNvPr id="18585" name="Freeform 73"/>
              <p:cNvSpPr>
                <a:spLocks/>
              </p:cNvSpPr>
              <p:nvPr/>
            </p:nvSpPr>
            <p:spPr bwMode="auto">
              <a:xfrm>
                <a:off x="2117" y="326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6" name="Rectangle 74"/>
              <p:cNvSpPr>
                <a:spLocks noChangeArrowheads="1"/>
              </p:cNvSpPr>
              <p:nvPr/>
            </p:nvSpPr>
            <p:spPr bwMode="auto">
              <a:xfrm>
                <a:off x="2209" y="327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18587" name="Line 75"/>
              <p:cNvSpPr>
                <a:spLocks noChangeShapeType="1"/>
              </p:cNvSpPr>
              <p:nvPr/>
            </p:nvSpPr>
            <p:spPr bwMode="auto">
              <a:xfrm>
                <a:off x="3474" y="3444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8" name="Freeform 76"/>
              <p:cNvSpPr>
                <a:spLocks/>
              </p:cNvSpPr>
              <p:nvPr/>
            </p:nvSpPr>
            <p:spPr bwMode="auto">
              <a:xfrm>
                <a:off x="3539" y="3606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89" name="Rectangle 77"/>
              <p:cNvSpPr>
                <a:spLocks noChangeArrowheads="1"/>
              </p:cNvSpPr>
              <p:nvPr/>
            </p:nvSpPr>
            <p:spPr bwMode="auto">
              <a:xfrm>
                <a:off x="3552" y="3617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  <p:sp>
            <p:nvSpPr>
              <p:cNvPr id="18590" name="Freeform 78"/>
              <p:cNvSpPr>
                <a:spLocks/>
              </p:cNvSpPr>
              <p:nvPr/>
            </p:nvSpPr>
            <p:spPr bwMode="auto">
              <a:xfrm>
                <a:off x="3830" y="391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91" name="Rectangle 79"/>
              <p:cNvSpPr>
                <a:spLocks noChangeArrowheads="1"/>
              </p:cNvSpPr>
              <p:nvPr/>
            </p:nvSpPr>
            <p:spPr bwMode="auto">
              <a:xfrm>
                <a:off x="3853" y="391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15</a:t>
                </a:r>
                <a:endParaRPr lang="en-GB" altLang="en-US"/>
              </a:p>
            </p:txBody>
          </p:sp>
          <p:sp>
            <p:nvSpPr>
              <p:cNvPr id="18592" name="Line 80"/>
              <p:cNvSpPr>
                <a:spLocks noChangeShapeType="1"/>
              </p:cNvSpPr>
              <p:nvPr/>
            </p:nvSpPr>
            <p:spPr bwMode="auto">
              <a:xfrm flipH="1" flipV="1">
                <a:off x="3720" y="3729"/>
                <a:ext cx="165" cy="20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541" name="Text Box 182"/>
            <p:cNvSpPr txBox="1">
              <a:spLocks noChangeArrowheads="1"/>
            </p:cNvSpPr>
            <p:nvPr/>
          </p:nvSpPr>
          <p:spPr bwMode="auto">
            <a:xfrm>
              <a:off x="3286" y="3075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1</a:t>
              </a:r>
            </a:p>
          </p:txBody>
        </p:sp>
        <p:sp>
          <p:nvSpPr>
            <p:cNvPr id="18542" name="Text Box 183"/>
            <p:cNvSpPr txBox="1">
              <a:spLocks noChangeArrowheads="1"/>
            </p:cNvSpPr>
            <p:nvPr/>
          </p:nvSpPr>
          <p:spPr bwMode="auto">
            <a:xfrm>
              <a:off x="3580" y="3496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3</a:t>
              </a:r>
            </a:p>
          </p:txBody>
        </p:sp>
        <p:sp>
          <p:nvSpPr>
            <p:cNvPr id="18543" name="Text Box 184"/>
            <p:cNvSpPr txBox="1">
              <a:spLocks noChangeArrowheads="1"/>
            </p:cNvSpPr>
            <p:nvPr/>
          </p:nvSpPr>
          <p:spPr bwMode="auto">
            <a:xfrm>
              <a:off x="3860" y="3831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2</a:t>
              </a:r>
            </a:p>
          </p:txBody>
        </p:sp>
      </p:grpSp>
      <p:grpSp>
        <p:nvGrpSpPr>
          <p:cNvPr id="18440" name="Group 246"/>
          <p:cNvGrpSpPr>
            <a:grpSpLocks/>
          </p:cNvGrpSpPr>
          <p:nvPr/>
        </p:nvGrpSpPr>
        <p:grpSpPr bwMode="auto">
          <a:xfrm>
            <a:off x="5867400" y="4046538"/>
            <a:ext cx="2627313" cy="1812925"/>
            <a:chOff x="3696" y="2549"/>
            <a:chExt cx="1655" cy="1142"/>
          </a:xfrm>
        </p:grpSpPr>
        <p:sp>
          <p:nvSpPr>
            <p:cNvPr id="18501" name="Freeform 84"/>
            <p:cNvSpPr>
              <a:spLocks/>
            </p:cNvSpPr>
            <p:nvPr/>
          </p:nvSpPr>
          <p:spPr bwMode="auto">
            <a:xfrm>
              <a:off x="4311" y="2549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2" name="Rectangle 85"/>
            <p:cNvSpPr>
              <a:spLocks noChangeArrowheads="1"/>
            </p:cNvSpPr>
            <p:nvPr/>
          </p:nvSpPr>
          <p:spPr bwMode="auto">
            <a:xfrm>
              <a:off x="4403" y="25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8503" name="Freeform 86"/>
            <p:cNvSpPr>
              <a:spLocks/>
            </p:cNvSpPr>
            <p:nvPr/>
          </p:nvSpPr>
          <p:spPr bwMode="auto">
            <a:xfrm>
              <a:off x="4637" y="2834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4" name="Rectangle 87"/>
            <p:cNvSpPr>
              <a:spLocks noChangeArrowheads="1"/>
            </p:cNvSpPr>
            <p:nvPr/>
          </p:nvSpPr>
          <p:spPr bwMode="auto">
            <a:xfrm>
              <a:off x="4729" y="284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8505" name="Line 88"/>
            <p:cNvSpPr>
              <a:spLocks noChangeShapeType="1"/>
            </p:cNvSpPr>
            <p:nvPr/>
          </p:nvSpPr>
          <p:spPr bwMode="auto">
            <a:xfrm>
              <a:off x="4499" y="2695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6" name="Line 89"/>
            <p:cNvSpPr>
              <a:spLocks noChangeShapeType="1"/>
            </p:cNvSpPr>
            <p:nvPr/>
          </p:nvSpPr>
          <p:spPr bwMode="auto">
            <a:xfrm flipH="1">
              <a:off x="4130" y="2702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7" name="Freeform 90"/>
            <p:cNvSpPr>
              <a:spLocks/>
            </p:cNvSpPr>
            <p:nvPr/>
          </p:nvSpPr>
          <p:spPr bwMode="auto">
            <a:xfrm>
              <a:off x="3965" y="2856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08" name="Rectangle 91"/>
            <p:cNvSpPr>
              <a:spLocks noChangeArrowheads="1"/>
            </p:cNvSpPr>
            <p:nvPr/>
          </p:nvSpPr>
          <p:spPr bwMode="auto">
            <a:xfrm>
              <a:off x="4057" y="287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18509" name="Line 92"/>
            <p:cNvSpPr>
              <a:spLocks noChangeShapeType="1"/>
            </p:cNvSpPr>
            <p:nvPr/>
          </p:nvSpPr>
          <p:spPr bwMode="auto">
            <a:xfrm>
              <a:off x="4811" y="3010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0" name="Freeform 93"/>
            <p:cNvSpPr>
              <a:spLocks/>
            </p:cNvSpPr>
            <p:nvPr/>
          </p:nvSpPr>
          <p:spPr bwMode="auto">
            <a:xfrm>
              <a:off x="4465" y="3164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1" name="Rectangle 94"/>
            <p:cNvSpPr>
              <a:spLocks noChangeArrowheads="1"/>
            </p:cNvSpPr>
            <p:nvPr/>
          </p:nvSpPr>
          <p:spPr bwMode="auto">
            <a:xfrm>
              <a:off x="4557" y="317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8512" name="Line 97"/>
            <p:cNvSpPr>
              <a:spLocks noChangeShapeType="1"/>
            </p:cNvSpPr>
            <p:nvPr/>
          </p:nvSpPr>
          <p:spPr bwMode="auto">
            <a:xfrm flipV="1">
              <a:off x="4570" y="3032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3" name="Line 98"/>
            <p:cNvSpPr>
              <a:spLocks noChangeShapeType="1"/>
            </p:cNvSpPr>
            <p:nvPr/>
          </p:nvSpPr>
          <p:spPr bwMode="auto">
            <a:xfrm>
              <a:off x="4080" y="3048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4" name="Line 99"/>
            <p:cNvSpPr>
              <a:spLocks noChangeShapeType="1"/>
            </p:cNvSpPr>
            <p:nvPr/>
          </p:nvSpPr>
          <p:spPr bwMode="auto">
            <a:xfrm flipV="1">
              <a:off x="3849" y="3048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5" name="Freeform 100"/>
            <p:cNvSpPr>
              <a:spLocks/>
            </p:cNvSpPr>
            <p:nvPr/>
          </p:nvSpPr>
          <p:spPr bwMode="auto">
            <a:xfrm>
              <a:off x="4157" y="3202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6" name="Rectangle 101"/>
            <p:cNvSpPr>
              <a:spLocks noChangeArrowheads="1"/>
            </p:cNvSpPr>
            <p:nvPr/>
          </p:nvSpPr>
          <p:spPr bwMode="auto">
            <a:xfrm>
              <a:off x="4250" y="321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  <p:sp>
          <p:nvSpPr>
            <p:cNvPr id="18517" name="Freeform 102"/>
            <p:cNvSpPr>
              <a:spLocks/>
            </p:cNvSpPr>
            <p:nvPr/>
          </p:nvSpPr>
          <p:spPr bwMode="auto">
            <a:xfrm>
              <a:off x="3696" y="3164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8" name="Rectangle 103"/>
            <p:cNvSpPr>
              <a:spLocks noChangeArrowheads="1"/>
            </p:cNvSpPr>
            <p:nvPr/>
          </p:nvSpPr>
          <p:spPr bwMode="auto">
            <a:xfrm>
              <a:off x="3788" y="317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18519" name="Line 104"/>
            <p:cNvSpPr>
              <a:spLocks noChangeShapeType="1"/>
            </p:cNvSpPr>
            <p:nvPr/>
          </p:nvSpPr>
          <p:spPr bwMode="auto">
            <a:xfrm>
              <a:off x="5053" y="3348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0" name="Freeform 106"/>
            <p:cNvSpPr>
              <a:spLocks/>
            </p:cNvSpPr>
            <p:nvPr/>
          </p:nvSpPr>
          <p:spPr bwMode="auto">
            <a:xfrm>
              <a:off x="4311" y="2549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1" name="Rectangle 107"/>
            <p:cNvSpPr>
              <a:spLocks noChangeArrowheads="1"/>
            </p:cNvSpPr>
            <p:nvPr/>
          </p:nvSpPr>
          <p:spPr bwMode="auto">
            <a:xfrm>
              <a:off x="4403" y="25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8522" name="Freeform 108"/>
            <p:cNvSpPr>
              <a:spLocks/>
            </p:cNvSpPr>
            <p:nvPr/>
          </p:nvSpPr>
          <p:spPr bwMode="auto">
            <a:xfrm>
              <a:off x="4637" y="2834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3" name="Rectangle 109"/>
            <p:cNvSpPr>
              <a:spLocks noChangeArrowheads="1"/>
            </p:cNvSpPr>
            <p:nvPr/>
          </p:nvSpPr>
          <p:spPr bwMode="auto">
            <a:xfrm>
              <a:off x="4729" y="284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8524" name="Line 111"/>
            <p:cNvSpPr>
              <a:spLocks noChangeShapeType="1"/>
            </p:cNvSpPr>
            <p:nvPr/>
          </p:nvSpPr>
          <p:spPr bwMode="auto">
            <a:xfrm flipH="1">
              <a:off x="4130" y="2702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5" name="Freeform 112"/>
            <p:cNvSpPr>
              <a:spLocks/>
            </p:cNvSpPr>
            <p:nvPr/>
          </p:nvSpPr>
          <p:spPr bwMode="auto">
            <a:xfrm>
              <a:off x="3965" y="2856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6" name="Line 114"/>
            <p:cNvSpPr>
              <a:spLocks noChangeShapeType="1"/>
            </p:cNvSpPr>
            <p:nvPr/>
          </p:nvSpPr>
          <p:spPr bwMode="auto">
            <a:xfrm>
              <a:off x="4811" y="3010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7" name="Freeform 115"/>
            <p:cNvSpPr>
              <a:spLocks/>
            </p:cNvSpPr>
            <p:nvPr/>
          </p:nvSpPr>
          <p:spPr bwMode="auto">
            <a:xfrm>
              <a:off x="4465" y="3164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28" name="Rectangle 116"/>
            <p:cNvSpPr>
              <a:spLocks noChangeArrowheads="1"/>
            </p:cNvSpPr>
            <p:nvPr/>
          </p:nvSpPr>
          <p:spPr bwMode="auto">
            <a:xfrm>
              <a:off x="4557" y="317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grpSp>
          <p:nvGrpSpPr>
            <p:cNvPr id="18529" name="Group 189"/>
            <p:cNvGrpSpPr>
              <a:grpSpLocks/>
            </p:cNvGrpSpPr>
            <p:nvPr/>
          </p:nvGrpSpPr>
          <p:grpSpPr bwMode="auto">
            <a:xfrm>
              <a:off x="4643" y="3420"/>
              <a:ext cx="192" cy="192"/>
              <a:chOff x="5184" y="2592"/>
              <a:chExt cx="192" cy="192"/>
            </a:xfrm>
          </p:grpSpPr>
          <p:sp>
            <p:nvSpPr>
              <p:cNvPr id="18538" name="Freeform 117"/>
              <p:cNvSpPr>
                <a:spLocks/>
              </p:cNvSpPr>
              <p:nvPr/>
            </p:nvSpPr>
            <p:spPr bwMode="auto">
              <a:xfrm>
                <a:off x="5184" y="2592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39" name="Rectangle 118"/>
              <p:cNvSpPr>
                <a:spLocks noChangeArrowheads="1"/>
              </p:cNvSpPr>
              <p:nvPr/>
            </p:nvSpPr>
            <p:spPr bwMode="auto">
              <a:xfrm>
                <a:off x="5229" y="2600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</p:grpSp>
        <p:sp>
          <p:nvSpPr>
            <p:cNvPr id="18530" name="Line 119"/>
            <p:cNvSpPr>
              <a:spLocks noChangeShapeType="1"/>
            </p:cNvSpPr>
            <p:nvPr/>
          </p:nvSpPr>
          <p:spPr bwMode="auto">
            <a:xfrm flipV="1">
              <a:off x="4570" y="3032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31" name="Line 126"/>
            <p:cNvSpPr>
              <a:spLocks noChangeShapeType="1"/>
            </p:cNvSpPr>
            <p:nvPr/>
          </p:nvSpPr>
          <p:spPr bwMode="auto">
            <a:xfrm>
              <a:off x="5053" y="3348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532" name="Group 190"/>
            <p:cNvGrpSpPr>
              <a:grpSpLocks/>
            </p:cNvGrpSpPr>
            <p:nvPr/>
          </p:nvGrpSpPr>
          <p:grpSpPr bwMode="auto">
            <a:xfrm>
              <a:off x="4892" y="3159"/>
              <a:ext cx="193" cy="192"/>
              <a:chOff x="5232" y="3168"/>
              <a:chExt cx="193" cy="192"/>
            </a:xfrm>
          </p:grpSpPr>
          <p:sp>
            <p:nvSpPr>
              <p:cNvPr id="18536" name="Freeform 127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37" name="Rectangle 128"/>
              <p:cNvSpPr>
                <a:spLocks noChangeArrowheads="1"/>
              </p:cNvSpPr>
              <p:nvPr/>
            </p:nvSpPr>
            <p:spPr bwMode="auto">
              <a:xfrm>
                <a:off x="5232" y="316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</p:grpSp>
        <p:sp>
          <p:nvSpPr>
            <p:cNvPr id="18533" name="Freeform 129"/>
            <p:cNvSpPr>
              <a:spLocks/>
            </p:cNvSpPr>
            <p:nvPr/>
          </p:nvSpPr>
          <p:spPr bwMode="auto">
            <a:xfrm>
              <a:off x="5159" y="349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34" name="Rectangle 130"/>
            <p:cNvSpPr>
              <a:spLocks noChangeArrowheads="1"/>
            </p:cNvSpPr>
            <p:nvPr/>
          </p:nvSpPr>
          <p:spPr bwMode="auto">
            <a:xfrm>
              <a:off x="5189" y="350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  <a:endParaRPr lang="en-GB" altLang="en-US"/>
            </a:p>
          </p:txBody>
        </p:sp>
        <p:sp>
          <p:nvSpPr>
            <p:cNvPr id="18535" name="Line 191"/>
            <p:cNvSpPr>
              <a:spLocks noChangeShapeType="1"/>
            </p:cNvSpPr>
            <p:nvPr/>
          </p:nvSpPr>
          <p:spPr bwMode="auto">
            <a:xfrm flipV="1">
              <a:off x="4794" y="3323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441" name="Freeform 194"/>
          <p:cNvSpPr>
            <a:spLocks/>
          </p:cNvSpPr>
          <p:nvPr/>
        </p:nvSpPr>
        <p:spPr bwMode="auto">
          <a:xfrm>
            <a:off x="1039813" y="4103688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4" y="8"/>
                </a:lnTo>
                <a:lnTo>
                  <a:pt x="126" y="11"/>
                </a:lnTo>
                <a:lnTo>
                  <a:pt x="117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69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4" y="117"/>
                </a:lnTo>
                <a:lnTo>
                  <a:pt x="11" y="126"/>
                </a:lnTo>
                <a:lnTo>
                  <a:pt x="7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2"/>
                </a:lnTo>
                <a:lnTo>
                  <a:pt x="0" y="172"/>
                </a:lnTo>
                <a:lnTo>
                  <a:pt x="0" y="182"/>
                </a:lnTo>
                <a:lnTo>
                  <a:pt x="0" y="192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49"/>
                </a:lnTo>
                <a:lnTo>
                  <a:pt x="11" y="259"/>
                </a:lnTo>
                <a:lnTo>
                  <a:pt x="14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4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49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2"/>
                </a:lnTo>
                <a:lnTo>
                  <a:pt x="383" y="182"/>
                </a:lnTo>
                <a:lnTo>
                  <a:pt x="383" y="172"/>
                </a:lnTo>
                <a:lnTo>
                  <a:pt x="381" y="162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69"/>
                </a:lnTo>
                <a:lnTo>
                  <a:pt x="327" y="56"/>
                </a:lnTo>
                <a:lnTo>
                  <a:pt x="314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2" name="Rectangle 195"/>
          <p:cNvSpPr>
            <a:spLocks noChangeArrowheads="1"/>
          </p:cNvSpPr>
          <p:nvPr/>
        </p:nvSpPr>
        <p:spPr bwMode="auto">
          <a:xfrm>
            <a:off x="1185863" y="41259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8443" name="Freeform 196"/>
          <p:cNvSpPr>
            <a:spLocks/>
          </p:cNvSpPr>
          <p:nvPr/>
        </p:nvSpPr>
        <p:spPr bwMode="auto">
          <a:xfrm>
            <a:off x="1557338" y="4556125"/>
            <a:ext cx="304800" cy="304800"/>
          </a:xfrm>
          <a:custGeom>
            <a:avLst/>
            <a:gdLst>
              <a:gd name="T0" fmla="*/ 2147483647 w 384"/>
              <a:gd name="T1" fmla="*/ 2147483647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2147483647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1"/>
                </a:lnTo>
                <a:lnTo>
                  <a:pt x="172" y="1"/>
                </a:lnTo>
                <a:lnTo>
                  <a:pt x="161" y="3"/>
                </a:lnTo>
                <a:lnTo>
                  <a:pt x="152" y="4"/>
                </a:lnTo>
                <a:lnTo>
                  <a:pt x="143" y="6"/>
                </a:lnTo>
                <a:lnTo>
                  <a:pt x="134" y="9"/>
                </a:lnTo>
                <a:lnTo>
                  <a:pt x="126" y="12"/>
                </a:lnTo>
                <a:lnTo>
                  <a:pt x="117" y="15"/>
                </a:lnTo>
                <a:lnTo>
                  <a:pt x="108" y="20"/>
                </a:lnTo>
                <a:lnTo>
                  <a:pt x="100" y="23"/>
                </a:lnTo>
                <a:lnTo>
                  <a:pt x="85" y="34"/>
                </a:lnTo>
                <a:lnTo>
                  <a:pt x="69" y="44"/>
                </a:lnTo>
                <a:lnTo>
                  <a:pt x="55" y="57"/>
                </a:lnTo>
                <a:lnTo>
                  <a:pt x="43" y="71"/>
                </a:lnTo>
                <a:lnTo>
                  <a:pt x="32" y="86"/>
                </a:lnTo>
                <a:lnTo>
                  <a:pt x="23" y="101"/>
                </a:lnTo>
                <a:lnTo>
                  <a:pt x="18" y="109"/>
                </a:lnTo>
                <a:lnTo>
                  <a:pt x="14" y="118"/>
                </a:lnTo>
                <a:lnTo>
                  <a:pt x="11" y="126"/>
                </a:lnTo>
                <a:lnTo>
                  <a:pt x="8" y="135"/>
                </a:lnTo>
                <a:lnTo>
                  <a:pt x="5" y="144"/>
                </a:lnTo>
                <a:lnTo>
                  <a:pt x="3" y="154"/>
                </a:lnTo>
                <a:lnTo>
                  <a:pt x="1" y="163"/>
                </a:lnTo>
                <a:lnTo>
                  <a:pt x="0" y="174"/>
                </a:lnTo>
                <a:lnTo>
                  <a:pt x="0" y="183"/>
                </a:lnTo>
                <a:lnTo>
                  <a:pt x="0" y="192"/>
                </a:lnTo>
                <a:lnTo>
                  <a:pt x="0" y="203"/>
                </a:lnTo>
                <a:lnTo>
                  <a:pt x="0" y="212"/>
                </a:lnTo>
                <a:lnTo>
                  <a:pt x="1" y="221"/>
                </a:lnTo>
                <a:lnTo>
                  <a:pt x="3" y="232"/>
                </a:lnTo>
                <a:lnTo>
                  <a:pt x="5" y="241"/>
                </a:lnTo>
                <a:lnTo>
                  <a:pt x="8" y="251"/>
                </a:lnTo>
                <a:lnTo>
                  <a:pt x="11" y="258"/>
                </a:lnTo>
                <a:lnTo>
                  <a:pt x="14" y="267"/>
                </a:lnTo>
                <a:lnTo>
                  <a:pt x="18" y="277"/>
                </a:lnTo>
                <a:lnTo>
                  <a:pt x="23" y="284"/>
                </a:lnTo>
                <a:lnTo>
                  <a:pt x="32" y="300"/>
                </a:lnTo>
                <a:lnTo>
                  <a:pt x="43" y="315"/>
                </a:lnTo>
                <a:lnTo>
                  <a:pt x="55" y="329"/>
                </a:lnTo>
                <a:lnTo>
                  <a:pt x="69" y="341"/>
                </a:lnTo>
                <a:lnTo>
                  <a:pt x="85" y="352"/>
                </a:lnTo>
                <a:lnTo>
                  <a:pt x="100" y="361"/>
                </a:lnTo>
                <a:lnTo>
                  <a:pt x="108" y="366"/>
                </a:lnTo>
                <a:lnTo>
                  <a:pt x="117" y="370"/>
                </a:lnTo>
                <a:lnTo>
                  <a:pt x="126" y="374"/>
                </a:lnTo>
                <a:lnTo>
                  <a:pt x="134" y="377"/>
                </a:lnTo>
                <a:lnTo>
                  <a:pt x="143" y="378"/>
                </a:lnTo>
                <a:lnTo>
                  <a:pt x="152" y="381"/>
                </a:lnTo>
                <a:lnTo>
                  <a:pt x="161" y="383"/>
                </a:lnTo>
                <a:lnTo>
                  <a:pt x="172" y="384"/>
                </a:lnTo>
                <a:lnTo>
                  <a:pt x="181" y="384"/>
                </a:lnTo>
                <a:lnTo>
                  <a:pt x="192" y="384"/>
                </a:lnTo>
                <a:lnTo>
                  <a:pt x="201" y="384"/>
                </a:lnTo>
                <a:lnTo>
                  <a:pt x="211" y="384"/>
                </a:lnTo>
                <a:lnTo>
                  <a:pt x="221" y="383"/>
                </a:lnTo>
                <a:lnTo>
                  <a:pt x="231" y="381"/>
                </a:lnTo>
                <a:lnTo>
                  <a:pt x="240" y="378"/>
                </a:lnTo>
                <a:lnTo>
                  <a:pt x="249" y="377"/>
                </a:lnTo>
                <a:lnTo>
                  <a:pt x="257" y="374"/>
                </a:lnTo>
                <a:lnTo>
                  <a:pt x="266" y="370"/>
                </a:lnTo>
                <a:lnTo>
                  <a:pt x="275" y="366"/>
                </a:lnTo>
                <a:lnTo>
                  <a:pt x="283" y="361"/>
                </a:lnTo>
                <a:lnTo>
                  <a:pt x="298" y="352"/>
                </a:lnTo>
                <a:lnTo>
                  <a:pt x="314" y="341"/>
                </a:lnTo>
                <a:lnTo>
                  <a:pt x="328" y="329"/>
                </a:lnTo>
                <a:lnTo>
                  <a:pt x="340" y="315"/>
                </a:lnTo>
                <a:lnTo>
                  <a:pt x="351" y="300"/>
                </a:lnTo>
                <a:lnTo>
                  <a:pt x="360" y="284"/>
                </a:lnTo>
                <a:lnTo>
                  <a:pt x="364" y="277"/>
                </a:lnTo>
                <a:lnTo>
                  <a:pt x="369" y="267"/>
                </a:lnTo>
                <a:lnTo>
                  <a:pt x="372" y="258"/>
                </a:lnTo>
                <a:lnTo>
                  <a:pt x="375" y="251"/>
                </a:lnTo>
                <a:lnTo>
                  <a:pt x="378" y="241"/>
                </a:lnTo>
                <a:lnTo>
                  <a:pt x="380" y="232"/>
                </a:lnTo>
                <a:lnTo>
                  <a:pt x="381" y="221"/>
                </a:lnTo>
                <a:lnTo>
                  <a:pt x="383" y="212"/>
                </a:lnTo>
                <a:lnTo>
                  <a:pt x="383" y="203"/>
                </a:lnTo>
                <a:lnTo>
                  <a:pt x="384" y="192"/>
                </a:lnTo>
                <a:lnTo>
                  <a:pt x="383" y="183"/>
                </a:lnTo>
                <a:lnTo>
                  <a:pt x="383" y="174"/>
                </a:lnTo>
                <a:lnTo>
                  <a:pt x="381" y="163"/>
                </a:lnTo>
                <a:lnTo>
                  <a:pt x="380" y="154"/>
                </a:lnTo>
                <a:lnTo>
                  <a:pt x="378" y="144"/>
                </a:lnTo>
                <a:lnTo>
                  <a:pt x="375" y="135"/>
                </a:lnTo>
                <a:lnTo>
                  <a:pt x="372" y="126"/>
                </a:lnTo>
                <a:lnTo>
                  <a:pt x="369" y="118"/>
                </a:lnTo>
                <a:lnTo>
                  <a:pt x="364" y="109"/>
                </a:lnTo>
                <a:lnTo>
                  <a:pt x="360" y="101"/>
                </a:lnTo>
                <a:lnTo>
                  <a:pt x="351" y="86"/>
                </a:lnTo>
                <a:lnTo>
                  <a:pt x="340" y="71"/>
                </a:lnTo>
                <a:lnTo>
                  <a:pt x="328" y="57"/>
                </a:lnTo>
                <a:lnTo>
                  <a:pt x="314" y="44"/>
                </a:lnTo>
                <a:lnTo>
                  <a:pt x="298" y="34"/>
                </a:lnTo>
                <a:lnTo>
                  <a:pt x="283" y="23"/>
                </a:lnTo>
                <a:lnTo>
                  <a:pt x="275" y="20"/>
                </a:lnTo>
                <a:lnTo>
                  <a:pt x="266" y="15"/>
                </a:lnTo>
                <a:lnTo>
                  <a:pt x="257" y="12"/>
                </a:lnTo>
                <a:lnTo>
                  <a:pt x="249" y="9"/>
                </a:lnTo>
                <a:lnTo>
                  <a:pt x="240" y="6"/>
                </a:lnTo>
                <a:lnTo>
                  <a:pt x="231" y="4"/>
                </a:lnTo>
                <a:lnTo>
                  <a:pt x="221" y="3"/>
                </a:lnTo>
                <a:lnTo>
                  <a:pt x="211" y="1"/>
                </a:lnTo>
                <a:lnTo>
                  <a:pt x="201" y="1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4" name="Rectangle 197"/>
          <p:cNvSpPr>
            <a:spLocks noChangeArrowheads="1"/>
          </p:cNvSpPr>
          <p:nvPr/>
        </p:nvSpPr>
        <p:spPr bwMode="auto">
          <a:xfrm>
            <a:off x="1703388" y="457993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en-GB" altLang="en-US"/>
          </a:p>
        </p:txBody>
      </p:sp>
      <p:sp>
        <p:nvSpPr>
          <p:cNvPr id="18445" name="Line 198"/>
          <p:cNvSpPr>
            <a:spLocks noChangeShapeType="1"/>
          </p:cNvSpPr>
          <p:nvPr/>
        </p:nvSpPr>
        <p:spPr bwMode="auto">
          <a:xfrm>
            <a:off x="1338263" y="4335463"/>
            <a:ext cx="263525" cy="258762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6" name="Line 199"/>
          <p:cNvSpPr>
            <a:spLocks noChangeShapeType="1"/>
          </p:cNvSpPr>
          <p:nvPr/>
        </p:nvSpPr>
        <p:spPr bwMode="auto">
          <a:xfrm flipH="1">
            <a:off x="752475" y="4346575"/>
            <a:ext cx="287338" cy="30162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7" name="Freeform 200"/>
          <p:cNvSpPr>
            <a:spLocks/>
          </p:cNvSpPr>
          <p:nvPr/>
        </p:nvSpPr>
        <p:spPr bwMode="auto">
          <a:xfrm>
            <a:off x="490538" y="4591050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3" y="8"/>
                </a:lnTo>
                <a:lnTo>
                  <a:pt x="126" y="11"/>
                </a:lnTo>
                <a:lnTo>
                  <a:pt x="116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70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3" y="117"/>
                </a:lnTo>
                <a:lnTo>
                  <a:pt x="10" y="127"/>
                </a:lnTo>
                <a:lnTo>
                  <a:pt x="7" y="134"/>
                </a:lnTo>
                <a:lnTo>
                  <a:pt x="4" y="143"/>
                </a:lnTo>
                <a:lnTo>
                  <a:pt x="3" y="153"/>
                </a:lnTo>
                <a:lnTo>
                  <a:pt x="1" y="162"/>
                </a:lnTo>
                <a:lnTo>
                  <a:pt x="0" y="173"/>
                </a:lnTo>
                <a:lnTo>
                  <a:pt x="0" y="182"/>
                </a:lnTo>
                <a:lnTo>
                  <a:pt x="0" y="193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50"/>
                </a:lnTo>
                <a:lnTo>
                  <a:pt x="10" y="259"/>
                </a:lnTo>
                <a:lnTo>
                  <a:pt x="13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6" y="370"/>
                </a:lnTo>
                <a:lnTo>
                  <a:pt x="126" y="373"/>
                </a:lnTo>
                <a:lnTo>
                  <a:pt x="133" y="376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6"/>
                </a:lnTo>
                <a:lnTo>
                  <a:pt x="258" y="373"/>
                </a:lnTo>
                <a:lnTo>
                  <a:pt x="266" y="370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3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50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3"/>
                </a:lnTo>
                <a:lnTo>
                  <a:pt x="383" y="182"/>
                </a:lnTo>
                <a:lnTo>
                  <a:pt x="383" y="173"/>
                </a:lnTo>
                <a:lnTo>
                  <a:pt x="381" y="162"/>
                </a:lnTo>
                <a:lnTo>
                  <a:pt x="380" y="153"/>
                </a:lnTo>
                <a:lnTo>
                  <a:pt x="378" y="143"/>
                </a:lnTo>
                <a:lnTo>
                  <a:pt x="375" y="134"/>
                </a:lnTo>
                <a:lnTo>
                  <a:pt x="372" y="127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70"/>
                </a:lnTo>
                <a:lnTo>
                  <a:pt x="327" y="56"/>
                </a:lnTo>
                <a:lnTo>
                  <a:pt x="313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8" name="Rectangle 201"/>
          <p:cNvSpPr>
            <a:spLocks noChangeArrowheads="1"/>
          </p:cNvSpPr>
          <p:nvPr/>
        </p:nvSpPr>
        <p:spPr bwMode="auto">
          <a:xfrm>
            <a:off x="636588" y="46132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8449" name="Line 202"/>
          <p:cNvSpPr>
            <a:spLocks noChangeShapeType="1"/>
          </p:cNvSpPr>
          <p:nvPr/>
        </p:nvSpPr>
        <p:spPr bwMode="auto">
          <a:xfrm>
            <a:off x="1833563" y="4835525"/>
            <a:ext cx="261937" cy="25717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0" name="Freeform 203"/>
          <p:cNvSpPr>
            <a:spLocks/>
          </p:cNvSpPr>
          <p:nvPr/>
        </p:nvSpPr>
        <p:spPr bwMode="auto">
          <a:xfrm>
            <a:off x="1284288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7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7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70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7" y="13"/>
                </a:lnTo>
                <a:lnTo>
                  <a:pt x="259" y="10"/>
                </a:lnTo>
                <a:lnTo>
                  <a:pt x="250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1" name="Rectangle 204"/>
          <p:cNvSpPr>
            <a:spLocks noChangeArrowheads="1"/>
          </p:cNvSpPr>
          <p:nvPr/>
        </p:nvSpPr>
        <p:spPr bwMode="auto">
          <a:xfrm>
            <a:off x="1430338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8452" name="Freeform 205"/>
          <p:cNvSpPr>
            <a:spLocks/>
          </p:cNvSpPr>
          <p:nvPr/>
        </p:nvSpPr>
        <p:spPr bwMode="auto">
          <a:xfrm>
            <a:off x="2016125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3" name="Rectangle 206"/>
          <p:cNvSpPr>
            <a:spLocks noChangeArrowheads="1"/>
          </p:cNvSpPr>
          <p:nvPr/>
        </p:nvSpPr>
        <p:spPr bwMode="auto">
          <a:xfrm>
            <a:off x="2163763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7</a:t>
            </a:r>
            <a:endParaRPr lang="en-GB" altLang="en-US"/>
          </a:p>
        </p:txBody>
      </p:sp>
      <p:sp>
        <p:nvSpPr>
          <p:cNvPr id="18454" name="Line 207"/>
          <p:cNvSpPr>
            <a:spLocks noChangeShapeType="1"/>
          </p:cNvSpPr>
          <p:nvPr/>
        </p:nvSpPr>
        <p:spPr bwMode="auto">
          <a:xfrm flipV="1">
            <a:off x="1450975" y="4870450"/>
            <a:ext cx="196850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5" name="Line 208"/>
          <p:cNvSpPr>
            <a:spLocks noChangeShapeType="1"/>
          </p:cNvSpPr>
          <p:nvPr/>
        </p:nvSpPr>
        <p:spPr bwMode="auto">
          <a:xfrm>
            <a:off x="673100" y="4895850"/>
            <a:ext cx="263525" cy="25876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6" name="Line 209"/>
          <p:cNvSpPr>
            <a:spLocks noChangeShapeType="1"/>
          </p:cNvSpPr>
          <p:nvPr/>
        </p:nvSpPr>
        <p:spPr bwMode="auto">
          <a:xfrm flipV="1">
            <a:off x="306388" y="4895850"/>
            <a:ext cx="195262" cy="18573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7" name="Freeform 210"/>
          <p:cNvSpPr>
            <a:spLocks/>
          </p:cNvSpPr>
          <p:nvPr/>
        </p:nvSpPr>
        <p:spPr bwMode="auto">
          <a:xfrm>
            <a:off x="795338" y="5140325"/>
            <a:ext cx="304800" cy="306388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2" y="0"/>
                </a:moveTo>
                <a:lnTo>
                  <a:pt x="182" y="0"/>
                </a:lnTo>
                <a:lnTo>
                  <a:pt x="172" y="0"/>
                </a:lnTo>
                <a:lnTo>
                  <a:pt x="162" y="1"/>
                </a:lnTo>
                <a:lnTo>
                  <a:pt x="152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2" y="84"/>
                </a:lnTo>
                <a:lnTo>
                  <a:pt x="23" y="99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39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2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39"/>
                </a:lnTo>
                <a:lnTo>
                  <a:pt x="85" y="350"/>
                </a:lnTo>
                <a:lnTo>
                  <a:pt x="100" y="359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2" y="379"/>
                </a:lnTo>
                <a:lnTo>
                  <a:pt x="162" y="381"/>
                </a:lnTo>
                <a:lnTo>
                  <a:pt x="172" y="382"/>
                </a:lnTo>
                <a:lnTo>
                  <a:pt x="182" y="382"/>
                </a:lnTo>
                <a:lnTo>
                  <a:pt x="192" y="384"/>
                </a:lnTo>
                <a:lnTo>
                  <a:pt x="202" y="382"/>
                </a:lnTo>
                <a:lnTo>
                  <a:pt x="211" y="382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5" y="364"/>
                </a:lnTo>
                <a:lnTo>
                  <a:pt x="283" y="359"/>
                </a:lnTo>
                <a:lnTo>
                  <a:pt x="299" y="350"/>
                </a:lnTo>
                <a:lnTo>
                  <a:pt x="314" y="339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5" y="249"/>
                </a:lnTo>
                <a:lnTo>
                  <a:pt x="379" y="239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5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99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5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8" name="Rectangle 211"/>
          <p:cNvSpPr>
            <a:spLocks noChangeArrowheads="1"/>
          </p:cNvSpPr>
          <p:nvPr/>
        </p:nvSpPr>
        <p:spPr bwMode="auto">
          <a:xfrm>
            <a:off x="942975" y="516413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8459" name="Freeform 212"/>
          <p:cNvSpPr>
            <a:spLocks/>
          </p:cNvSpPr>
          <p:nvPr/>
        </p:nvSpPr>
        <p:spPr bwMode="auto">
          <a:xfrm>
            <a:off x="63500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0" name="Rectangle 213"/>
          <p:cNvSpPr>
            <a:spLocks noChangeArrowheads="1"/>
          </p:cNvSpPr>
          <p:nvPr/>
        </p:nvSpPr>
        <p:spPr bwMode="auto">
          <a:xfrm>
            <a:off x="209550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8461" name="Line 214"/>
          <p:cNvSpPr>
            <a:spLocks noChangeShapeType="1"/>
          </p:cNvSpPr>
          <p:nvPr/>
        </p:nvSpPr>
        <p:spPr bwMode="auto">
          <a:xfrm>
            <a:off x="2217738" y="5372100"/>
            <a:ext cx="263525" cy="25876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2" name="Freeform 215"/>
          <p:cNvSpPr>
            <a:spLocks/>
          </p:cNvSpPr>
          <p:nvPr/>
        </p:nvSpPr>
        <p:spPr bwMode="auto">
          <a:xfrm>
            <a:off x="2320925" y="5629275"/>
            <a:ext cx="306388" cy="304800"/>
          </a:xfrm>
          <a:custGeom>
            <a:avLst/>
            <a:gdLst>
              <a:gd name="T0" fmla="*/ 2147483647 w 384"/>
              <a:gd name="T1" fmla="*/ 0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1"/>
                </a:lnTo>
                <a:lnTo>
                  <a:pt x="152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4" y="32"/>
                </a:lnTo>
                <a:lnTo>
                  <a:pt x="69" y="43"/>
                </a:lnTo>
                <a:lnTo>
                  <a:pt x="55" y="55"/>
                </a:lnTo>
                <a:lnTo>
                  <a:pt x="43" y="69"/>
                </a:lnTo>
                <a:lnTo>
                  <a:pt x="32" y="84"/>
                </a:lnTo>
                <a:lnTo>
                  <a:pt x="23" y="100"/>
                </a:lnTo>
                <a:lnTo>
                  <a:pt x="18" y="107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1" y="221"/>
                </a:lnTo>
                <a:lnTo>
                  <a:pt x="3" y="230"/>
                </a:lnTo>
                <a:lnTo>
                  <a:pt x="4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8" y="275"/>
                </a:lnTo>
                <a:lnTo>
                  <a:pt x="23" y="283"/>
                </a:lnTo>
                <a:lnTo>
                  <a:pt x="32" y="298"/>
                </a:lnTo>
                <a:lnTo>
                  <a:pt x="43" y="313"/>
                </a:lnTo>
                <a:lnTo>
                  <a:pt x="55" y="327"/>
                </a:lnTo>
                <a:lnTo>
                  <a:pt x="69" y="340"/>
                </a:lnTo>
                <a:lnTo>
                  <a:pt x="84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2" y="380"/>
                </a:lnTo>
                <a:lnTo>
                  <a:pt x="161" y="381"/>
                </a:lnTo>
                <a:lnTo>
                  <a:pt x="172" y="383"/>
                </a:lnTo>
                <a:lnTo>
                  <a:pt x="181" y="383"/>
                </a:lnTo>
                <a:lnTo>
                  <a:pt x="192" y="384"/>
                </a:lnTo>
                <a:lnTo>
                  <a:pt x="201" y="383"/>
                </a:lnTo>
                <a:lnTo>
                  <a:pt x="211" y="383"/>
                </a:lnTo>
                <a:lnTo>
                  <a:pt x="221" y="381"/>
                </a:lnTo>
                <a:lnTo>
                  <a:pt x="231" y="380"/>
                </a:lnTo>
                <a:lnTo>
                  <a:pt x="240" y="378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4"/>
                </a:lnTo>
                <a:lnTo>
                  <a:pt x="283" y="360"/>
                </a:lnTo>
                <a:lnTo>
                  <a:pt x="298" y="350"/>
                </a:lnTo>
                <a:lnTo>
                  <a:pt x="314" y="340"/>
                </a:lnTo>
                <a:lnTo>
                  <a:pt x="327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4" y="275"/>
                </a:lnTo>
                <a:lnTo>
                  <a:pt x="369" y="266"/>
                </a:lnTo>
                <a:lnTo>
                  <a:pt x="372" y="258"/>
                </a:lnTo>
                <a:lnTo>
                  <a:pt x="375" y="249"/>
                </a:lnTo>
                <a:lnTo>
                  <a:pt x="378" y="240"/>
                </a:lnTo>
                <a:lnTo>
                  <a:pt x="380" y="230"/>
                </a:lnTo>
                <a:lnTo>
                  <a:pt x="381" y="221"/>
                </a:lnTo>
                <a:lnTo>
                  <a:pt x="383" y="210"/>
                </a:lnTo>
                <a:lnTo>
                  <a:pt x="383" y="201"/>
                </a:lnTo>
                <a:lnTo>
                  <a:pt x="384" y="192"/>
                </a:lnTo>
                <a:lnTo>
                  <a:pt x="383" y="181"/>
                </a:lnTo>
                <a:lnTo>
                  <a:pt x="383" y="172"/>
                </a:lnTo>
                <a:lnTo>
                  <a:pt x="381" y="161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7" y="55"/>
                </a:lnTo>
                <a:lnTo>
                  <a:pt x="314" y="43"/>
                </a:lnTo>
                <a:lnTo>
                  <a:pt x="298" y="32"/>
                </a:lnTo>
                <a:lnTo>
                  <a:pt x="283" y="23"/>
                </a:lnTo>
                <a:lnTo>
                  <a:pt x="275" y="18"/>
                </a:lnTo>
                <a:lnTo>
                  <a:pt x="266" y="14"/>
                </a:lnTo>
                <a:lnTo>
                  <a:pt x="258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1" y="1"/>
                </a:lnTo>
                <a:lnTo>
                  <a:pt x="211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3" name="Rectangle 216"/>
          <p:cNvSpPr>
            <a:spLocks noChangeArrowheads="1"/>
          </p:cNvSpPr>
          <p:nvPr/>
        </p:nvSpPr>
        <p:spPr bwMode="auto">
          <a:xfrm>
            <a:off x="2409825" y="56515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8464" name="Freeform 217"/>
          <p:cNvSpPr>
            <a:spLocks/>
          </p:cNvSpPr>
          <p:nvPr/>
        </p:nvSpPr>
        <p:spPr bwMode="auto">
          <a:xfrm>
            <a:off x="1955800" y="6116638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5" name="Rectangle 218"/>
          <p:cNvSpPr>
            <a:spLocks noChangeArrowheads="1"/>
          </p:cNvSpPr>
          <p:nvPr/>
        </p:nvSpPr>
        <p:spPr bwMode="auto">
          <a:xfrm>
            <a:off x="2044700" y="614045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en-GB" altLang="en-US"/>
          </a:p>
        </p:txBody>
      </p:sp>
      <p:sp>
        <p:nvSpPr>
          <p:cNvPr id="18466" name="Line 219"/>
          <p:cNvSpPr>
            <a:spLocks noChangeShapeType="1"/>
          </p:cNvSpPr>
          <p:nvPr/>
        </p:nvSpPr>
        <p:spPr bwMode="auto">
          <a:xfrm flipV="1">
            <a:off x="2200275" y="5934075"/>
            <a:ext cx="195263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7" name="Freeform 220"/>
          <p:cNvSpPr>
            <a:spLocks/>
          </p:cNvSpPr>
          <p:nvPr/>
        </p:nvSpPr>
        <p:spPr bwMode="auto">
          <a:xfrm>
            <a:off x="1039813" y="4103688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4" y="8"/>
                </a:lnTo>
                <a:lnTo>
                  <a:pt x="126" y="11"/>
                </a:lnTo>
                <a:lnTo>
                  <a:pt x="117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69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4" y="117"/>
                </a:lnTo>
                <a:lnTo>
                  <a:pt x="11" y="126"/>
                </a:lnTo>
                <a:lnTo>
                  <a:pt x="7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2"/>
                </a:lnTo>
                <a:lnTo>
                  <a:pt x="0" y="172"/>
                </a:lnTo>
                <a:lnTo>
                  <a:pt x="0" y="182"/>
                </a:lnTo>
                <a:lnTo>
                  <a:pt x="0" y="192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49"/>
                </a:lnTo>
                <a:lnTo>
                  <a:pt x="11" y="259"/>
                </a:lnTo>
                <a:lnTo>
                  <a:pt x="14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4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49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2"/>
                </a:lnTo>
                <a:lnTo>
                  <a:pt x="383" y="182"/>
                </a:lnTo>
                <a:lnTo>
                  <a:pt x="383" y="172"/>
                </a:lnTo>
                <a:lnTo>
                  <a:pt x="381" y="162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69"/>
                </a:lnTo>
                <a:lnTo>
                  <a:pt x="327" y="56"/>
                </a:lnTo>
                <a:lnTo>
                  <a:pt x="314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68" name="Rectangle 221"/>
          <p:cNvSpPr>
            <a:spLocks noChangeArrowheads="1"/>
          </p:cNvSpPr>
          <p:nvPr/>
        </p:nvSpPr>
        <p:spPr bwMode="auto">
          <a:xfrm>
            <a:off x="1185863" y="41259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8469" name="Freeform 222"/>
          <p:cNvSpPr>
            <a:spLocks/>
          </p:cNvSpPr>
          <p:nvPr/>
        </p:nvSpPr>
        <p:spPr bwMode="auto">
          <a:xfrm>
            <a:off x="1557338" y="4556125"/>
            <a:ext cx="304800" cy="304800"/>
          </a:xfrm>
          <a:custGeom>
            <a:avLst/>
            <a:gdLst>
              <a:gd name="T0" fmla="*/ 2147483647 w 384"/>
              <a:gd name="T1" fmla="*/ 2147483647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2147483647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1"/>
                </a:lnTo>
                <a:lnTo>
                  <a:pt x="172" y="1"/>
                </a:lnTo>
                <a:lnTo>
                  <a:pt x="161" y="3"/>
                </a:lnTo>
                <a:lnTo>
                  <a:pt x="152" y="4"/>
                </a:lnTo>
                <a:lnTo>
                  <a:pt x="143" y="6"/>
                </a:lnTo>
                <a:lnTo>
                  <a:pt x="134" y="9"/>
                </a:lnTo>
                <a:lnTo>
                  <a:pt x="126" y="12"/>
                </a:lnTo>
                <a:lnTo>
                  <a:pt x="117" y="15"/>
                </a:lnTo>
                <a:lnTo>
                  <a:pt x="108" y="20"/>
                </a:lnTo>
                <a:lnTo>
                  <a:pt x="100" y="23"/>
                </a:lnTo>
                <a:lnTo>
                  <a:pt x="85" y="34"/>
                </a:lnTo>
                <a:lnTo>
                  <a:pt x="69" y="44"/>
                </a:lnTo>
                <a:lnTo>
                  <a:pt x="55" y="57"/>
                </a:lnTo>
                <a:lnTo>
                  <a:pt x="43" y="71"/>
                </a:lnTo>
                <a:lnTo>
                  <a:pt x="32" y="86"/>
                </a:lnTo>
                <a:lnTo>
                  <a:pt x="23" y="101"/>
                </a:lnTo>
                <a:lnTo>
                  <a:pt x="18" y="109"/>
                </a:lnTo>
                <a:lnTo>
                  <a:pt x="14" y="118"/>
                </a:lnTo>
                <a:lnTo>
                  <a:pt x="11" y="126"/>
                </a:lnTo>
                <a:lnTo>
                  <a:pt x="8" y="135"/>
                </a:lnTo>
                <a:lnTo>
                  <a:pt x="5" y="144"/>
                </a:lnTo>
                <a:lnTo>
                  <a:pt x="3" y="154"/>
                </a:lnTo>
                <a:lnTo>
                  <a:pt x="1" y="163"/>
                </a:lnTo>
                <a:lnTo>
                  <a:pt x="0" y="174"/>
                </a:lnTo>
                <a:lnTo>
                  <a:pt x="0" y="183"/>
                </a:lnTo>
                <a:lnTo>
                  <a:pt x="0" y="192"/>
                </a:lnTo>
                <a:lnTo>
                  <a:pt x="0" y="203"/>
                </a:lnTo>
                <a:lnTo>
                  <a:pt x="0" y="212"/>
                </a:lnTo>
                <a:lnTo>
                  <a:pt x="1" y="221"/>
                </a:lnTo>
                <a:lnTo>
                  <a:pt x="3" y="232"/>
                </a:lnTo>
                <a:lnTo>
                  <a:pt x="5" y="241"/>
                </a:lnTo>
                <a:lnTo>
                  <a:pt x="8" y="251"/>
                </a:lnTo>
                <a:lnTo>
                  <a:pt x="11" y="258"/>
                </a:lnTo>
                <a:lnTo>
                  <a:pt x="14" y="267"/>
                </a:lnTo>
                <a:lnTo>
                  <a:pt x="18" y="277"/>
                </a:lnTo>
                <a:lnTo>
                  <a:pt x="23" y="284"/>
                </a:lnTo>
                <a:lnTo>
                  <a:pt x="32" y="300"/>
                </a:lnTo>
                <a:lnTo>
                  <a:pt x="43" y="315"/>
                </a:lnTo>
                <a:lnTo>
                  <a:pt x="55" y="329"/>
                </a:lnTo>
                <a:lnTo>
                  <a:pt x="69" y="341"/>
                </a:lnTo>
                <a:lnTo>
                  <a:pt x="85" y="352"/>
                </a:lnTo>
                <a:lnTo>
                  <a:pt x="100" y="361"/>
                </a:lnTo>
                <a:lnTo>
                  <a:pt x="108" y="366"/>
                </a:lnTo>
                <a:lnTo>
                  <a:pt x="117" y="370"/>
                </a:lnTo>
                <a:lnTo>
                  <a:pt x="126" y="374"/>
                </a:lnTo>
                <a:lnTo>
                  <a:pt x="134" y="377"/>
                </a:lnTo>
                <a:lnTo>
                  <a:pt x="143" y="378"/>
                </a:lnTo>
                <a:lnTo>
                  <a:pt x="152" y="381"/>
                </a:lnTo>
                <a:lnTo>
                  <a:pt x="161" y="383"/>
                </a:lnTo>
                <a:lnTo>
                  <a:pt x="172" y="384"/>
                </a:lnTo>
                <a:lnTo>
                  <a:pt x="181" y="384"/>
                </a:lnTo>
                <a:lnTo>
                  <a:pt x="192" y="384"/>
                </a:lnTo>
                <a:lnTo>
                  <a:pt x="201" y="384"/>
                </a:lnTo>
                <a:lnTo>
                  <a:pt x="211" y="384"/>
                </a:lnTo>
                <a:lnTo>
                  <a:pt x="221" y="383"/>
                </a:lnTo>
                <a:lnTo>
                  <a:pt x="231" y="381"/>
                </a:lnTo>
                <a:lnTo>
                  <a:pt x="240" y="378"/>
                </a:lnTo>
                <a:lnTo>
                  <a:pt x="249" y="377"/>
                </a:lnTo>
                <a:lnTo>
                  <a:pt x="257" y="374"/>
                </a:lnTo>
                <a:lnTo>
                  <a:pt x="266" y="370"/>
                </a:lnTo>
                <a:lnTo>
                  <a:pt x="275" y="366"/>
                </a:lnTo>
                <a:lnTo>
                  <a:pt x="283" y="361"/>
                </a:lnTo>
                <a:lnTo>
                  <a:pt x="298" y="352"/>
                </a:lnTo>
                <a:lnTo>
                  <a:pt x="314" y="341"/>
                </a:lnTo>
                <a:lnTo>
                  <a:pt x="328" y="329"/>
                </a:lnTo>
                <a:lnTo>
                  <a:pt x="340" y="315"/>
                </a:lnTo>
                <a:lnTo>
                  <a:pt x="351" y="300"/>
                </a:lnTo>
                <a:lnTo>
                  <a:pt x="360" y="284"/>
                </a:lnTo>
                <a:lnTo>
                  <a:pt x="364" y="277"/>
                </a:lnTo>
                <a:lnTo>
                  <a:pt x="369" y="267"/>
                </a:lnTo>
                <a:lnTo>
                  <a:pt x="372" y="258"/>
                </a:lnTo>
                <a:lnTo>
                  <a:pt x="375" y="251"/>
                </a:lnTo>
                <a:lnTo>
                  <a:pt x="378" y="241"/>
                </a:lnTo>
                <a:lnTo>
                  <a:pt x="380" y="232"/>
                </a:lnTo>
                <a:lnTo>
                  <a:pt x="381" y="221"/>
                </a:lnTo>
                <a:lnTo>
                  <a:pt x="383" y="212"/>
                </a:lnTo>
                <a:lnTo>
                  <a:pt x="383" y="203"/>
                </a:lnTo>
                <a:lnTo>
                  <a:pt x="384" y="192"/>
                </a:lnTo>
                <a:lnTo>
                  <a:pt x="383" y="183"/>
                </a:lnTo>
                <a:lnTo>
                  <a:pt x="383" y="174"/>
                </a:lnTo>
                <a:lnTo>
                  <a:pt x="381" y="163"/>
                </a:lnTo>
                <a:lnTo>
                  <a:pt x="380" y="154"/>
                </a:lnTo>
                <a:lnTo>
                  <a:pt x="378" y="144"/>
                </a:lnTo>
                <a:lnTo>
                  <a:pt x="375" y="135"/>
                </a:lnTo>
                <a:lnTo>
                  <a:pt x="372" y="126"/>
                </a:lnTo>
                <a:lnTo>
                  <a:pt x="369" y="118"/>
                </a:lnTo>
                <a:lnTo>
                  <a:pt x="364" y="109"/>
                </a:lnTo>
                <a:lnTo>
                  <a:pt x="360" y="101"/>
                </a:lnTo>
                <a:lnTo>
                  <a:pt x="351" y="86"/>
                </a:lnTo>
                <a:lnTo>
                  <a:pt x="340" y="71"/>
                </a:lnTo>
                <a:lnTo>
                  <a:pt x="328" y="57"/>
                </a:lnTo>
                <a:lnTo>
                  <a:pt x="314" y="44"/>
                </a:lnTo>
                <a:lnTo>
                  <a:pt x="298" y="34"/>
                </a:lnTo>
                <a:lnTo>
                  <a:pt x="283" y="23"/>
                </a:lnTo>
                <a:lnTo>
                  <a:pt x="275" y="20"/>
                </a:lnTo>
                <a:lnTo>
                  <a:pt x="266" y="15"/>
                </a:lnTo>
                <a:lnTo>
                  <a:pt x="257" y="12"/>
                </a:lnTo>
                <a:lnTo>
                  <a:pt x="249" y="9"/>
                </a:lnTo>
                <a:lnTo>
                  <a:pt x="240" y="6"/>
                </a:lnTo>
                <a:lnTo>
                  <a:pt x="231" y="4"/>
                </a:lnTo>
                <a:lnTo>
                  <a:pt x="221" y="3"/>
                </a:lnTo>
                <a:lnTo>
                  <a:pt x="211" y="1"/>
                </a:lnTo>
                <a:lnTo>
                  <a:pt x="201" y="1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0" name="Rectangle 223"/>
          <p:cNvSpPr>
            <a:spLocks noChangeArrowheads="1"/>
          </p:cNvSpPr>
          <p:nvPr/>
        </p:nvSpPr>
        <p:spPr bwMode="auto">
          <a:xfrm>
            <a:off x="1703388" y="457993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en-GB" altLang="en-US"/>
          </a:p>
        </p:txBody>
      </p:sp>
      <p:sp>
        <p:nvSpPr>
          <p:cNvPr id="18471" name="Line 224"/>
          <p:cNvSpPr>
            <a:spLocks noChangeShapeType="1"/>
          </p:cNvSpPr>
          <p:nvPr/>
        </p:nvSpPr>
        <p:spPr bwMode="auto">
          <a:xfrm>
            <a:off x="1338263" y="4335463"/>
            <a:ext cx="263525" cy="258762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2" name="Line 225"/>
          <p:cNvSpPr>
            <a:spLocks noChangeShapeType="1"/>
          </p:cNvSpPr>
          <p:nvPr/>
        </p:nvSpPr>
        <p:spPr bwMode="auto">
          <a:xfrm flipH="1">
            <a:off x="752475" y="4346575"/>
            <a:ext cx="287338" cy="30162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3" name="Freeform 226"/>
          <p:cNvSpPr>
            <a:spLocks/>
          </p:cNvSpPr>
          <p:nvPr/>
        </p:nvSpPr>
        <p:spPr bwMode="auto">
          <a:xfrm>
            <a:off x="490538" y="4591050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3" y="8"/>
                </a:lnTo>
                <a:lnTo>
                  <a:pt x="126" y="11"/>
                </a:lnTo>
                <a:lnTo>
                  <a:pt x="116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70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3" y="117"/>
                </a:lnTo>
                <a:lnTo>
                  <a:pt x="10" y="127"/>
                </a:lnTo>
                <a:lnTo>
                  <a:pt x="7" y="134"/>
                </a:lnTo>
                <a:lnTo>
                  <a:pt x="4" y="143"/>
                </a:lnTo>
                <a:lnTo>
                  <a:pt x="3" y="153"/>
                </a:lnTo>
                <a:lnTo>
                  <a:pt x="1" y="162"/>
                </a:lnTo>
                <a:lnTo>
                  <a:pt x="0" y="173"/>
                </a:lnTo>
                <a:lnTo>
                  <a:pt x="0" y="182"/>
                </a:lnTo>
                <a:lnTo>
                  <a:pt x="0" y="193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50"/>
                </a:lnTo>
                <a:lnTo>
                  <a:pt x="10" y="259"/>
                </a:lnTo>
                <a:lnTo>
                  <a:pt x="13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6" y="370"/>
                </a:lnTo>
                <a:lnTo>
                  <a:pt x="126" y="373"/>
                </a:lnTo>
                <a:lnTo>
                  <a:pt x="133" y="376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6"/>
                </a:lnTo>
                <a:lnTo>
                  <a:pt x="258" y="373"/>
                </a:lnTo>
                <a:lnTo>
                  <a:pt x="266" y="370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3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50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3"/>
                </a:lnTo>
                <a:lnTo>
                  <a:pt x="383" y="182"/>
                </a:lnTo>
                <a:lnTo>
                  <a:pt x="383" y="173"/>
                </a:lnTo>
                <a:lnTo>
                  <a:pt x="381" y="162"/>
                </a:lnTo>
                <a:lnTo>
                  <a:pt x="380" y="153"/>
                </a:lnTo>
                <a:lnTo>
                  <a:pt x="378" y="143"/>
                </a:lnTo>
                <a:lnTo>
                  <a:pt x="375" y="134"/>
                </a:lnTo>
                <a:lnTo>
                  <a:pt x="372" y="127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70"/>
                </a:lnTo>
                <a:lnTo>
                  <a:pt x="327" y="56"/>
                </a:lnTo>
                <a:lnTo>
                  <a:pt x="313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4" name="Rectangle 227"/>
          <p:cNvSpPr>
            <a:spLocks noChangeArrowheads="1"/>
          </p:cNvSpPr>
          <p:nvPr/>
        </p:nvSpPr>
        <p:spPr bwMode="auto">
          <a:xfrm>
            <a:off x="636588" y="46132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8475" name="Line 228"/>
          <p:cNvSpPr>
            <a:spLocks noChangeShapeType="1"/>
          </p:cNvSpPr>
          <p:nvPr/>
        </p:nvSpPr>
        <p:spPr bwMode="auto">
          <a:xfrm>
            <a:off x="1833563" y="4835525"/>
            <a:ext cx="261937" cy="25717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6" name="Freeform 229"/>
          <p:cNvSpPr>
            <a:spLocks/>
          </p:cNvSpPr>
          <p:nvPr/>
        </p:nvSpPr>
        <p:spPr bwMode="auto">
          <a:xfrm>
            <a:off x="1284288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7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7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70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7" y="13"/>
                </a:lnTo>
                <a:lnTo>
                  <a:pt x="259" y="10"/>
                </a:lnTo>
                <a:lnTo>
                  <a:pt x="250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7" name="Rectangle 230"/>
          <p:cNvSpPr>
            <a:spLocks noChangeArrowheads="1"/>
          </p:cNvSpPr>
          <p:nvPr/>
        </p:nvSpPr>
        <p:spPr bwMode="auto">
          <a:xfrm>
            <a:off x="1430338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GB" altLang="en-US"/>
          </a:p>
        </p:txBody>
      </p:sp>
      <p:sp>
        <p:nvSpPr>
          <p:cNvPr id="18478" name="Freeform 231"/>
          <p:cNvSpPr>
            <a:spLocks/>
          </p:cNvSpPr>
          <p:nvPr/>
        </p:nvSpPr>
        <p:spPr bwMode="auto">
          <a:xfrm>
            <a:off x="2016125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79" name="Rectangle 232"/>
          <p:cNvSpPr>
            <a:spLocks noChangeArrowheads="1"/>
          </p:cNvSpPr>
          <p:nvPr/>
        </p:nvSpPr>
        <p:spPr bwMode="auto">
          <a:xfrm>
            <a:off x="2163763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7</a:t>
            </a:r>
            <a:endParaRPr lang="en-GB" altLang="en-US"/>
          </a:p>
        </p:txBody>
      </p:sp>
      <p:sp>
        <p:nvSpPr>
          <p:cNvPr id="18480" name="Line 233"/>
          <p:cNvSpPr>
            <a:spLocks noChangeShapeType="1"/>
          </p:cNvSpPr>
          <p:nvPr/>
        </p:nvSpPr>
        <p:spPr bwMode="auto">
          <a:xfrm flipV="1">
            <a:off x="1450975" y="4870450"/>
            <a:ext cx="196850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1" name="Line 234"/>
          <p:cNvSpPr>
            <a:spLocks noChangeShapeType="1"/>
          </p:cNvSpPr>
          <p:nvPr/>
        </p:nvSpPr>
        <p:spPr bwMode="auto">
          <a:xfrm>
            <a:off x="673100" y="4895850"/>
            <a:ext cx="263525" cy="25876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2" name="Line 235"/>
          <p:cNvSpPr>
            <a:spLocks noChangeShapeType="1"/>
          </p:cNvSpPr>
          <p:nvPr/>
        </p:nvSpPr>
        <p:spPr bwMode="auto">
          <a:xfrm flipV="1">
            <a:off x="306388" y="4895850"/>
            <a:ext cx="195262" cy="18573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3" name="Freeform 236"/>
          <p:cNvSpPr>
            <a:spLocks/>
          </p:cNvSpPr>
          <p:nvPr/>
        </p:nvSpPr>
        <p:spPr bwMode="auto">
          <a:xfrm>
            <a:off x="795338" y="5140325"/>
            <a:ext cx="304800" cy="306388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2" y="0"/>
                </a:moveTo>
                <a:lnTo>
                  <a:pt x="182" y="0"/>
                </a:lnTo>
                <a:lnTo>
                  <a:pt x="172" y="0"/>
                </a:lnTo>
                <a:lnTo>
                  <a:pt x="162" y="1"/>
                </a:lnTo>
                <a:lnTo>
                  <a:pt x="152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2" y="84"/>
                </a:lnTo>
                <a:lnTo>
                  <a:pt x="23" y="99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39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2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39"/>
                </a:lnTo>
                <a:lnTo>
                  <a:pt x="85" y="350"/>
                </a:lnTo>
                <a:lnTo>
                  <a:pt x="100" y="359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2" y="379"/>
                </a:lnTo>
                <a:lnTo>
                  <a:pt x="162" y="381"/>
                </a:lnTo>
                <a:lnTo>
                  <a:pt x="172" y="382"/>
                </a:lnTo>
                <a:lnTo>
                  <a:pt x="182" y="382"/>
                </a:lnTo>
                <a:lnTo>
                  <a:pt x="192" y="384"/>
                </a:lnTo>
                <a:lnTo>
                  <a:pt x="202" y="382"/>
                </a:lnTo>
                <a:lnTo>
                  <a:pt x="211" y="382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5" y="364"/>
                </a:lnTo>
                <a:lnTo>
                  <a:pt x="283" y="359"/>
                </a:lnTo>
                <a:lnTo>
                  <a:pt x="299" y="350"/>
                </a:lnTo>
                <a:lnTo>
                  <a:pt x="314" y="339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5" y="249"/>
                </a:lnTo>
                <a:lnTo>
                  <a:pt x="379" y="239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5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99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5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4" name="Rectangle 237"/>
          <p:cNvSpPr>
            <a:spLocks noChangeArrowheads="1"/>
          </p:cNvSpPr>
          <p:nvPr/>
        </p:nvSpPr>
        <p:spPr bwMode="auto">
          <a:xfrm>
            <a:off x="942975" y="516413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8485" name="Freeform 238"/>
          <p:cNvSpPr>
            <a:spLocks/>
          </p:cNvSpPr>
          <p:nvPr/>
        </p:nvSpPr>
        <p:spPr bwMode="auto">
          <a:xfrm>
            <a:off x="63500" y="50800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6" name="Rectangle 239"/>
          <p:cNvSpPr>
            <a:spLocks noChangeArrowheads="1"/>
          </p:cNvSpPr>
          <p:nvPr/>
        </p:nvSpPr>
        <p:spPr bwMode="auto">
          <a:xfrm>
            <a:off x="209550" y="51022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8487" name="Line 240"/>
          <p:cNvSpPr>
            <a:spLocks noChangeShapeType="1"/>
          </p:cNvSpPr>
          <p:nvPr/>
        </p:nvSpPr>
        <p:spPr bwMode="auto">
          <a:xfrm>
            <a:off x="2217738" y="5372100"/>
            <a:ext cx="263525" cy="25876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8" name="Freeform 241"/>
          <p:cNvSpPr>
            <a:spLocks/>
          </p:cNvSpPr>
          <p:nvPr/>
        </p:nvSpPr>
        <p:spPr bwMode="auto">
          <a:xfrm>
            <a:off x="2320925" y="5629275"/>
            <a:ext cx="346075" cy="314325"/>
          </a:xfrm>
          <a:custGeom>
            <a:avLst/>
            <a:gdLst>
              <a:gd name="T0" fmla="*/ 2147483647 w 384"/>
              <a:gd name="T1" fmla="*/ 0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1"/>
                </a:lnTo>
                <a:lnTo>
                  <a:pt x="152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4" y="32"/>
                </a:lnTo>
                <a:lnTo>
                  <a:pt x="69" y="43"/>
                </a:lnTo>
                <a:lnTo>
                  <a:pt x="55" y="55"/>
                </a:lnTo>
                <a:lnTo>
                  <a:pt x="43" y="69"/>
                </a:lnTo>
                <a:lnTo>
                  <a:pt x="32" y="84"/>
                </a:lnTo>
                <a:lnTo>
                  <a:pt x="23" y="100"/>
                </a:lnTo>
                <a:lnTo>
                  <a:pt x="18" y="107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1" y="221"/>
                </a:lnTo>
                <a:lnTo>
                  <a:pt x="3" y="230"/>
                </a:lnTo>
                <a:lnTo>
                  <a:pt x="4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8" y="275"/>
                </a:lnTo>
                <a:lnTo>
                  <a:pt x="23" y="283"/>
                </a:lnTo>
                <a:lnTo>
                  <a:pt x="32" y="298"/>
                </a:lnTo>
                <a:lnTo>
                  <a:pt x="43" y="313"/>
                </a:lnTo>
                <a:lnTo>
                  <a:pt x="55" y="327"/>
                </a:lnTo>
                <a:lnTo>
                  <a:pt x="69" y="340"/>
                </a:lnTo>
                <a:lnTo>
                  <a:pt x="84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2" y="380"/>
                </a:lnTo>
                <a:lnTo>
                  <a:pt x="161" y="381"/>
                </a:lnTo>
                <a:lnTo>
                  <a:pt x="172" y="383"/>
                </a:lnTo>
                <a:lnTo>
                  <a:pt x="181" y="383"/>
                </a:lnTo>
                <a:lnTo>
                  <a:pt x="192" y="384"/>
                </a:lnTo>
                <a:lnTo>
                  <a:pt x="201" y="383"/>
                </a:lnTo>
                <a:lnTo>
                  <a:pt x="211" y="383"/>
                </a:lnTo>
                <a:lnTo>
                  <a:pt x="221" y="381"/>
                </a:lnTo>
                <a:lnTo>
                  <a:pt x="231" y="380"/>
                </a:lnTo>
                <a:lnTo>
                  <a:pt x="240" y="378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4"/>
                </a:lnTo>
                <a:lnTo>
                  <a:pt x="283" y="360"/>
                </a:lnTo>
                <a:lnTo>
                  <a:pt x="298" y="350"/>
                </a:lnTo>
                <a:lnTo>
                  <a:pt x="314" y="340"/>
                </a:lnTo>
                <a:lnTo>
                  <a:pt x="327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4" y="275"/>
                </a:lnTo>
                <a:lnTo>
                  <a:pt x="369" y="266"/>
                </a:lnTo>
                <a:lnTo>
                  <a:pt x="372" y="258"/>
                </a:lnTo>
                <a:lnTo>
                  <a:pt x="375" y="249"/>
                </a:lnTo>
                <a:lnTo>
                  <a:pt x="378" y="240"/>
                </a:lnTo>
                <a:lnTo>
                  <a:pt x="380" y="230"/>
                </a:lnTo>
                <a:lnTo>
                  <a:pt x="381" y="221"/>
                </a:lnTo>
                <a:lnTo>
                  <a:pt x="383" y="210"/>
                </a:lnTo>
                <a:lnTo>
                  <a:pt x="383" y="201"/>
                </a:lnTo>
                <a:lnTo>
                  <a:pt x="384" y="192"/>
                </a:lnTo>
                <a:lnTo>
                  <a:pt x="383" y="181"/>
                </a:lnTo>
                <a:lnTo>
                  <a:pt x="383" y="172"/>
                </a:lnTo>
                <a:lnTo>
                  <a:pt x="381" y="161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7" y="55"/>
                </a:lnTo>
                <a:lnTo>
                  <a:pt x="314" y="43"/>
                </a:lnTo>
                <a:lnTo>
                  <a:pt x="298" y="32"/>
                </a:lnTo>
                <a:lnTo>
                  <a:pt x="283" y="23"/>
                </a:lnTo>
                <a:lnTo>
                  <a:pt x="275" y="18"/>
                </a:lnTo>
                <a:lnTo>
                  <a:pt x="266" y="14"/>
                </a:lnTo>
                <a:lnTo>
                  <a:pt x="258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1" y="1"/>
                </a:lnTo>
                <a:lnTo>
                  <a:pt x="211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89" name="Rectangle 242"/>
          <p:cNvSpPr>
            <a:spLocks noChangeArrowheads="1"/>
          </p:cNvSpPr>
          <p:nvPr/>
        </p:nvSpPr>
        <p:spPr bwMode="auto">
          <a:xfrm>
            <a:off x="2409825" y="56515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8490" name="Freeform 243"/>
          <p:cNvSpPr>
            <a:spLocks/>
          </p:cNvSpPr>
          <p:nvPr/>
        </p:nvSpPr>
        <p:spPr bwMode="auto">
          <a:xfrm>
            <a:off x="1955800" y="6116638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1" name="Rectangle 244"/>
          <p:cNvSpPr>
            <a:spLocks noChangeArrowheads="1"/>
          </p:cNvSpPr>
          <p:nvPr/>
        </p:nvSpPr>
        <p:spPr bwMode="auto">
          <a:xfrm>
            <a:off x="2044700" y="614045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en-GB" altLang="en-US"/>
          </a:p>
        </p:txBody>
      </p:sp>
      <p:sp>
        <p:nvSpPr>
          <p:cNvPr id="18492" name="Line 245"/>
          <p:cNvSpPr>
            <a:spLocks noChangeShapeType="1"/>
          </p:cNvSpPr>
          <p:nvPr/>
        </p:nvSpPr>
        <p:spPr bwMode="auto">
          <a:xfrm flipV="1">
            <a:off x="2200275" y="5934075"/>
            <a:ext cx="195263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93" name="Text Box 247"/>
          <p:cNvSpPr txBox="1">
            <a:spLocks noChangeArrowheads="1"/>
          </p:cNvSpPr>
          <p:nvPr/>
        </p:nvSpPr>
        <p:spPr bwMode="auto">
          <a:xfrm>
            <a:off x="8316913" y="575151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2</a:t>
            </a:r>
          </a:p>
        </p:txBody>
      </p:sp>
      <p:sp>
        <p:nvSpPr>
          <p:cNvPr id="18494" name="Text Box 248"/>
          <p:cNvSpPr txBox="1">
            <a:spLocks noChangeArrowheads="1"/>
          </p:cNvSpPr>
          <p:nvPr/>
        </p:nvSpPr>
        <p:spPr bwMode="auto">
          <a:xfrm>
            <a:off x="7972425" y="496411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3</a:t>
            </a:r>
          </a:p>
        </p:txBody>
      </p:sp>
      <p:sp>
        <p:nvSpPr>
          <p:cNvPr id="18495" name="Text Box 249"/>
          <p:cNvSpPr txBox="1">
            <a:spLocks noChangeArrowheads="1"/>
          </p:cNvSpPr>
          <p:nvPr/>
        </p:nvSpPr>
        <p:spPr bwMode="auto">
          <a:xfrm>
            <a:off x="7215188" y="565785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1</a:t>
            </a:r>
          </a:p>
        </p:txBody>
      </p:sp>
      <p:sp>
        <p:nvSpPr>
          <p:cNvPr id="18496" name="AutoShape 250"/>
          <p:cNvSpPr>
            <a:spLocks noChangeArrowheads="1"/>
          </p:cNvSpPr>
          <p:nvPr/>
        </p:nvSpPr>
        <p:spPr bwMode="auto">
          <a:xfrm>
            <a:off x="2362200" y="4495800"/>
            <a:ext cx="639763" cy="200025"/>
          </a:xfrm>
          <a:prstGeom prst="rightArrow">
            <a:avLst>
              <a:gd name="adj1" fmla="val 50000"/>
              <a:gd name="adj2" fmla="val 7996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97" name="AutoShape 251"/>
          <p:cNvSpPr>
            <a:spLocks noChangeArrowheads="1"/>
          </p:cNvSpPr>
          <p:nvPr/>
        </p:nvSpPr>
        <p:spPr bwMode="auto">
          <a:xfrm>
            <a:off x="5345113" y="4437063"/>
            <a:ext cx="639762" cy="200025"/>
          </a:xfrm>
          <a:prstGeom prst="rightArrow">
            <a:avLst>
              <a:gd name="adj1" fmla="val 50000"/>
              <a:gd name="adj2" fmla="val 7996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98" name="Text Box 252"/>
          <p:cNvSpPr txBox="1">
            <a:spLocks noChangeArrowheads="1"/>
          </p:cNvSpPr>
          <p:nvPr/>
        </p:nvSpPr>
        <p:spPr bwMode="auto">
          <a:xfrm>
            <a:off x="268799" y="3306763"/>
            <a:ext cx="4754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solidFill>
                  <a:srgbClr val="0066FF"/>
                </a:solidFill>
                <a:latin typeface="Calibri" panose="020F0502020204030204" pitchFamily="34" charset="0"/>
              </a:rPr>
              <a:t>Example: a right-left double rotation</a:t>
            </a:r>
          </a:p>
        </p:txBody>
      </p:sp>
      <p:sp>
        <p:nvSpPr>
          <p:cNvPr id="18499" name="Slide Number Placeholder 16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1D0A8FA-6F6A-4EAB-AEEB-250F540D71C0}" type="slidenum">
              <a:rPr lang="en-GB" altLang="en-US" smtClean="0"/>
              <a:pPr eaLnBrk="1" hangingPunct="1"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627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80"/>
          <p:cNvSpPr>
            <a:spLocks noChangeShapeType="1"/>
          </p:cNvSpPr>
          <p:nvPr/>
        </p:nvSpPr>
        <p:spPr bwMode="auto">
          <a:xfrm flipH="1">
            <a:off x="7302500" y="4695825"/>
            <a:ext cx="101600" cy="239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GB" altLang="en-US"/>
              <a:t>Continuing the example</a:t>
            </a:r>
          </a:p>
        </p:txBody>
      </p:sp>
      <p:grpSp>
        <p:nvGrpSpPr>
          <p:cNvPr id="19460" name="Group 44"/>
          <p:cNvGrpSpPr>
            <a:grpSpLocks/>
          </p:cNvGrpSpPr>
          <p:nvPr/>
        </p:nvGrpSpPr>
        <p:grpSpPr bwMode="auto">
          <a:xfrm>
            <a:off x="2895600" y="1143000"/>
            <a:ext cx="914400" cy="649288"/>
            <a:chOff x="53" y="3047"/>
            <a:chExt cx="576" cy="409"/>
          </a:xfrm>
        </p:grpSpPr>
        <p:sp>
          <p:nvSpPr>
            <p:cNvPr id="19682" name="AutoShape 45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19683" name="Text Box 46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latin typeface="Calibri" panose="020F0502020204030204" pitchFamily="34" charset="0"/>
                </a:rPr>
                <a:t>add 13</a:t>
              </a:r>
            </a:p>
          </p:txBody>
        </p:sp>
      </p:grpSp>
      <p:grpSp>
        <p:nvGrpSpPr>
          <p:cNvPr id="19461" name="Group 88"/>
          <p:cNvGrpSpPr>
            <a:grpSpLocks/>
          </p:cNvGrpSpPr>
          <p:nvPr/>
        </p:nvGrpSpPr>
        <p:grpSpPr bwMode="auto">
          <a:xfrm>
            <a:off x="457200" y="1219200"/>
            <a:ext cx="2627313" cy="1812925"/>
            <a:chOff x="192" y="672"/>
            <a:chExt cx="1655" cy="1142"/>
          </a:xfrm>
        </p:grpSpPr>
        <p:sp>
          <p:nvSpPr>
            <p:cNvPr id="19644" name="Freeform 89"/>
            <p:cNvSpPr>
              <a:spLocks/>
            </p:cNvSpPr>
            <p:nvPr/>
          </p:nvSpPr>
          <p:spPr bwMode="auto">
            <a:xfrm>
              <a:off x="807" y="672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45" name="Rectangle 90"/>
            <p:cNvSpPr>
              <a:spLocks noChangeArrowheads="1"/>
            </p:cNvSpPr>
            <p:nvPr/>
          </p:nvSpPr>
          <p:spPr bwMode="auto">
            <a:xfrm>
              <a:off x="899" y="68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646" name="Freeform 91"/>
            <p:cNvSpPr>
              <a:spLocks/>
            </p:cNvSpPr>
            <p:nvPr/>
          </p:nvSpPr>
          <p:spPr bwMode="auto">
            <a:xfrm>
              <a:off x="1133" y="957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47" name="Rectangle 92"/>
            <p:cNvSpPr>
              <a:spLocks noChangeArrowheads="1"/>
            </p:cNvSpPr>
            <p:nvPr/>
          </p:nvSpPr>
          <p:spPr bwMode="auto">
            <a:xfrm>
              <a:off x="1225" y="97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648" name="Line 93"/>
            <p:cNvSpPr>
              <a:spLocks noChangeShapeType="1"/>
            </p:cNvSpPr>
            <p:nvPr/>
          </p:nvSpPr>
          <p:spPr bwMode="auto">
            <a:xfrm>
              <a:off x="995" y="818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49" name="Line 94"/>
            <p:cNvSpPr>
              <a:spLocks noChangeShapeType="1"/>
            </p:cNvSpPr>
            <p:nvPr/>
          </p:nvSpPr>
          <p:spPr bwMode="auto">
            <a:xfrm flipH="1">
              <a:off x="626" y="825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0" name="Freeform 95"/>
            <p:cNvSpPr>
              <a:spLocks/>
            </p:cNvSpPr>
            <p:nvPr/>
          </p:nvSpPr>
          <p:spPr bwMode="auto">
            <a:xfrm>
              <a:off x="461" y="979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1" name="Rectangle 96"/>
            <p:cNvSpPr>
              <a:spLocks noChangeArrowheads="1"/>
            </p:cNvSpPr>
            <p:nvPr/>
          </p:nvSpPr>
          <p:spPr bwMode="auto">
            <a:xfrm>
              <a:off x="553" y="99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19652" name="Line 97"/>
            <p:cNvSpPr>
              <a:spLocks noChangeShapeType="1"/>
            </p:cNvSpPr>
            <p:nvPr/>
          </p:nvSpPr>
          <p:spPr bwMode="auto">
            <a:xfrm>
              <a:off x="1307" y="1133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3" name="Freeform 98"/>
            <p:cNvSpPr>
              <a:spLocks/>
            </p:cNvSpPr>
            <p:nvPr/>
          </p:nvSpPr>
          <p:spPr bwMode="auto">
            <a:xfrm>
              <a:off x="961" y="1287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4" name="Rectangle 99"/>
            <p:cNvSpPr>
              <a:spLocks noChangeArrowheads="1"/>
            </p:cNvSpPr>
            <p:nvPr/>
          </p:nvSpPr>
          <p:spPr bwMode="auto">
            <a:xfrm>
              <a:off x="1053" y="130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655" name="Line 100"/>
            <p:cNvSpPr>
              <a:spLocks noChangeShapeType="1"/>
            </p:cNvSpPr>
            <p:nvPr/>
          </p:nvSpPr>
          <p:spPr bwMode="auto">
            <a:xfrm flipV="1">
              <a:off x="1066" y="1155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6" name="Line 101"/>
            <p:cNvSpPr>
              <a:spLocks noChangeShapeType="1"/>
            </p:cNvSpPr>
            <p:nvPr/>
          </p:nvSpPr>
          <p:spPr bwMode="auto">
            <a:xfrm>
              <a:off x="576" y="1171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7" name="Line 102"/>
            <p:cNvSpPr>
              <a:spLocks noChangeShapeType="1"/>
            </p:cNvSpPr>
            <p:nvPr/>
          </p:nvSpPr>
          <p:spPr bwMode="auto">
            <a:xfrm flipV="1">
              <a:off x="345" y="1171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8" name="Freeform 103"/>
            <p:cNvSpPr>
              <a:spLocks/>
            </p:cNvSpPr>
            <p:nvPr/>
          </p:nvSpPr>
          <p:spPr bwMode="auto">
            <a:xfrm>
              <a:off x="653" y="1325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59" name="Rectangle 104"/>
            <p:cNvSpPr>
              <a:spLocks noChangeArrowheads="1"/>
            </p:cNvSpPr>
            <p:nvPr/>
          </p:nvSpPr>
          <p:spPr bwMode="auto">
            <a:xfrm>
              <a:off x="746" y="134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  <p:sp>
          <p:nvSpPr>
            <p:cNvPr id="19660" name="Freeform 105"/>
            <p:cNvSpPr>
              <a:spLocks/>
            </p:cNvSpPr>
            <p:nvPr/>
          </p:nvSpPr>
          <p:spPr bwMode="auto">
            <a:xfrm>
              <a:off x="192" y="1287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1" name="Rectangle 106"/>
            <p:cNvSpPr>
              <a:spLocks noChangeArrowheads="1"/>
            </p:cNvSpPr>
            <p:nvPr/>
          </p:nvSpPr>
          <p:spPr bwMode="auto">
            <a:xfrm>
              <a:off x="284" y="130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19662" name="Line 107"/>
            <p:cNvSpPr>
              <a:spLocks noChangeShapeType="1"/>
            </p:cNvSpPr>
            <p:nvPr/>
          </p:nvSpPr>
          <p:spPr bwMode="auto">
            <a:xfrm>
              <a:off x="1549" y="1471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3" name="Freeform 108"/>
            <p:cNvSpPr>
              <a:spLocks/>
            </p:cNvSpPr>
            <p:nvPr/>
          </p:nvSpPr>
          <p:spPr bwMode="auto">
            <a:xfrm>
              <a:off x="807" y="672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4" name="Rectangle 109"/>
            <p:cNvSpPr>
              <a:spLocks noChangeArrowheads="1"/>
            </p:cNvSpPr>
            <p:nvPr/>
          </p:nvSpPr>
          <p:spPr bwMode="auto">
            <a:xfrm>
              <a:off x="899" y="68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665" name="Freeform 110"/>
            <p:cNvSpPr>
              <a:spLocks/>
            </p:cNvSpPr>
            <p:nvPr/>
          </p:nvSpPr>
          <p:spPr bwMode="auto">
            <a:xfrm>
              <a:off x="1133" y="957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6" name="Rectangle 111"/>
            <p:cNvSpPr>
              <a:spLocks noChangeArrowheads="1"/>
            </p:cNvSpPr>
            <p:nvPr/>
          </p:nvSpPr>
          <p:spPr bwMode="auto">
            <a:xfrm>
              <a:off x="1225" y="97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667" name="Line 112"/>
            <p:cNvSpPr>
              <a:spLocks noChangeShapeType="1"/>
            </p:cNvSpPr>
            <p:nvPr/>
          </p:nvSpPr>
          <p:spPr bwMode="auto">
            <a:xfrm flipH="1">
              <a:off x="626" y="825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8" name="Freeform 113"/>
            <p:cNvSpPr>
              <a:spLocks/>
            </p:cNvSpPr>
            <p:nvPr/>
          </p:nvSpPr>
          <p:spPr bwMode="auto">
            <a:xfrm>
              <a:off x="461" y="979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69" name="Line 114"/>
            <p:cNvSpPr>
              <a:spLocks noChangeShapeType="1"/>
            </p:cNvSpPr>
            <p:nvPr/>
          </p:nvSpPr>
          <p:spPr bwMode="auto">
            <a:xfrm>
              <a:off x="1307" y="1133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70" name="Freeform 115"/>
            <p:cNvSpPr>
              <a:spLocks/>
            </p:cNvSpPr>
            <p:nvPr/>
          </p:nvSpPr>
          <p:spPr bwMode="auto">
            <a:xfrm>
              <a:off x="961" y="1287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71" name="Rectangle 116"/>
            <p:cNvSpPr>
              <a:spLocks noChangeArrowheads="1"/>
            </p:cNvSpPr>
            <p:nvPr/>
          </p:nvSpPr>
          <p:spPr bwMode="auto">
            <a:xfrm>
              <a:off x="1053" y="130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672" name="Freeform 117"/>
            <p:cNvSpPr>
              <a:spLocks/>
            </p:cNvSpPr>
            <p:nvPr/>
          </p:nvSpPr>
          <p:spPr bwMode="auto">
            <a:xfrm>
              <a:off x="1139" y="1543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73" name="Rectangle 118"/>
            <p:cNvSpPr>
              <a:spLocks noChangeArrowheads="1"/>
            </p:cNvSpPr>
            <p:nvPr/>
          </p:nvSpPr>
          <p:spPr bwMode="auto">
            <a:xfrm>
              <a:off x="1184" y="155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GB" altLang="en-US"/>
            </a:p>
          </p:txBody>
        </p:sp>
        <p:sp>
          <p:nvSpPr>
            <p:cNvPr id="19674" name="Line 119"/>
            <p:cNvSpPr>
              <a:spLocks noChangeShapeType="1"/>
            </p:cNvSpPr>
            <p:nvPr/>
          </p:nvSpPr>
          <p:spPr bwMode="auto">
            <a:xfrm flipV="1">
              <a:off x="1066" y="1155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75" name="Line 120"/>
            <p:cNvSpPr>
              <a:spLocks noChangeShapeType="1"/>
            </p:cNvSpPr>
            <p:nvPr/>
          </p:nvSpPr>
          <p:spPr bwMode="auto">
            <a:xfrm>
              <a:off x="1549" y="1471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9676" name="Group 121"/>
            <p:cNvGrpSpPr>
              <a:grpSpLocks/>
            </p:cNvGrpSpPr>
            <p:nvPr/>
          </p:nvGrpSpPr>
          <p:grpSpPr bwMode="auto">
            <a:xfrm>
              <a:off x="1388" y="1282"/>
              <a:ext cx="193" cy="192"/>
              <a:chOff x="5232" y="3168"/>
              <a:chExt cx="193" cy="192"/>
            </a:xfrm>
          </p:grpSpPr>
          <p:sp>
            <p:nvSpPr>
              <p:cNvPr id="19680" name="Freeform 122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681" name="Rectangle 123"/>
              <p:cNvSpPr>
                <a:spLocks noChangeArrowheads="1"/>
              </p:cNvSpPr>
              <p:nvPr/>
            </p:nvSpPr>
            <p:spPr bwMode="auto">
              <a:xfrm>
                <a:off x="5232" y="316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</p:grpSp>
        <p:sp>
          <p:nvSpPr>
            <p:cNvPr id="19677" name="Freeform 124"/>
            <p:cNvSpPr>
              <a:spLocks/>
            </p:cNvSpPr>
            <p:nvPr/>
          </p:nvSpPr>
          <p:spPr bwMode="auto">
            <a:xfrm>
              <a:off x="1655" y="1621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78" name="Rectangle 125"/>
            <p:cNvSpPr>
              <a:spLocks noChangeArrowheads="1"/>
            </p:cNvSpPr>
            <p:nvPr/>
          </p:nvSpPr>
          <p:spPr bwMode="auto">
            <a:xfrm>
              <a:off x="1685" y="1632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  <a:endParaRPr lang="en-GB" altLang="en-US"/>
            </a:p>
          </p:txBody>
        </p:sp>
        <p:sp>
          <p:nvSpPr>
            <p:cNvPr id="19679" name="Line 126"/>
            <p:cNvSpPr>
              <a:spLocks noChangeShapeType="1"/>
            </p:cNvSpPr>
            <p:nvPr/>
          </p:nvSpPr>
          <p:spPr bwMode="auto">
            <a:xfrm flipV="1">
              <a:off x="1290" y="1446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9462" name="Group 133"/>
          <p:cNvGrpSpPr>
            <a:grpSpLocks/>
          </p:cNvGrpSpPr>
          <p:nvPr/>
        </p:nvGrpSpPr>
        <p:grpSpPr bwMode="auto">
          <a:xfrm>
            <a:off x="3902075" y="1163638"/>
            <a:ext cx="2627313" cy="2265362"/>
            <a:chOff x="2458" y="733"/>
            <a:chExt cx="1655" cy="1427"/>
          </a:xfrm>
        </p:grpSpPr>
        <p:sp>
          <p:nvSpPr>
            <p:cNvPr id="19602" name="Freeform 5"/>
            <p:cNvSpPr>
              <a:spLocks/>
            </p:cNvSpPr>
            <p:nvPr/>
          </p:nvSpPr>
          <p:spPr bwMode="auto">
            <a:xfrm>
              <a:off x="3073" y="733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03" name="Rectangle 6"/>
            <p:cNvSpPr>
              <a:spLocks noChangeArrowheads="1"/>
            </p:cNvSpPr>
            <p:nvPr/>
          </p:nvSpPr>
          <p:spPr bwMode="auto">
            <a:xfrm>
              <a:off x="3165" y="74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604" name="Freeform 7"/>
            <p:cNvSpPr>
              <a:spLocks/>
            </p:cNvSpPr>
            <p:nvPr/>
          </p:nvSpPr>
          <p:spPr bwMode="auto">
            <a:xfrm>
              <a:off x="3399" y="1018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05" name="Rectangle 8"/>
            <p:cNvSpPr>
              <a:spLocks noChangeArrowheads="1"/>
            </p:cNvSpPr>
            <p:nvPr/>
          </p:nvSpPr>
          <p:spPr bwMode="auto">
            <a:xfrm>
              <a:off x="3491" y="103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606" name="Line 9"/>
            <p:cNvSpPr>
              <a:spLocks noChangeShapeType="1"/>
            </p:cNvSpPr>
            <p:nvPr/>
          </p:nvSpPr>
          <p:spPr bwMode="auto">
            <a:xfrm>
              <a:off x="3261" y="879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07" name="Line 10"/>
            <p:cNvSpPr>
              <a:spLocks noChangeShapeType="1"/>
            </p:cNvSpPr>
            <p:nvPr/>
          </p:nvSpPr>
          <p:spPr bwMode="auto">
            <a:xfrm flipH="1">
              <a:off x="2892" y="886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08" name="Freeform 11"/>
            <p:cNvSpPr>
              <a:spLocks/>
            </p:cNvSpPr>
            <p:nvPr/>
          </p:nvSpPr>
          <p:spPr bwMode="auto">
            <a:xfrm>
              <a:off x="2727" y="1040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09" name="Rectangle 12"/>
            <p:cNvSpPr>
              <a:spLocks noChangeArrowheads="1"/>
            </p:cNvSpPr>
            <p:nvPr/>
          </p:nvSpPr>
          <p:spPr bwMode="auto">
            <a:xfrm>
              <a:off x="2819" y="105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19610" name="Line 13"/>
            <p:cNvSpPr>
              <a:spLocks noChangeShapeType="1"/>
            </p:cNvSpPr>
            <p:nvPr/>
          </p:nvSpPr>
          <p:spPr bwMode="auto">
            <a:xfrm>
              <a:off x="3573" y="1194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1" name="Freeform 14"/>
            <p:cNvSpPr>
              <a:spLocks/>
            </p:cNvSpPr>
            <p:nvPr/>
          </p:nvSpPr>
          <p:spPr bwMode="auto">
            <a:xfrm>
              <a:off x="3227" y="1348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2" name="Rectangle 15"/>
            <p:cNvSpPr>
              <a:spLocks noChangeArrowheads="1"/>
            </p:cNvSpPr>
            <p:nvPr/>
          </p:nvSpPr>
          <p:spPr bwMode="auto">
            <a:xfrm>
              <a:off x="3319" y="136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613" name="Line 16"/>
            <p:cNvSpPr>
              <a:spLocks noChangeShapeType="1"/>
            </p:cNvSpPr>
            <p:nvPr/>
          </p:nvSpPr>
          <p:spPr bwMode="auto">
            <a:xfrm flipV="1">
              <a:off x="3332" y="1216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4" name="Line 17"/>
            <p:cNvSpPr>
              <a:spLocks noChangeShapeType="1"/>
            </p:cNvSpPr>
            <p:nvPr/>
          </p:nvSpPr>
          <p:spPr bwMode="auto">
            <a:xfrm>
              <a:off x="2842" y="1232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5" name="Line 18"/>
            <p:cNvSpPr>
              <a:spLocks noChangeShapeType="1"/>
            </p:cNvSpPr>
            <p:nvPr/>
          </p:nvSpPr>
          <p:spPr bwMode="auto">
            <a:xfrm flipV="1">
              <a:off x="2611" y="1232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6" name="Freeform 19"/>
            <p:cNvSpPr>
              <a:spLocks/>
            </p:cNvSpPr>
            <p:nvPr/>
          </p:nvSpPr>
          <p:spPr bwMode="auto">
            <a:xfrm>
              <a:off x="2919" y="1386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7" name="Rectangle 20"/>
            <p:cNvSpPr>
              <a:spLocks noChangeArrowheads="1"/>
            </p:cNvSpPr>
            <p:nvPr/>
          </p:nvSpPr>
          <p:spPr bwMode="auto">
            <a:xfrm>
              <a:off x="3012" y="140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  <p:sp>
          <p:nvSpPr>
            <p:cNvPr id="19618" name="Freeform 21"/>
            <p:cNvSpPr>
              <a:spLocks/>
            </p:cNvSpPr>
            <p:nvPr/>
          </p:nvSpPr>
          <p:spPr bwMode="auto">
            <a:xfrm>
              <a:off x="2458" y="1348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19" name="Rectangle 22"/>
            <p:cNvSpPr>
              <a:spLocks noChangeArrowheads="1"/>
            </p:cNvSpPr>
            <p:nvPr/>
          </p:nvSpPr>
          <p:spPr bwMode="auto">
            <a:xfrm>
              <a:off x="2550" y="136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19620" name="Line 23"/>
            <p:cNvSpPr>
              <a:spLocks noChangeShapeType="1"/>
            </p:cNvSpPr>
            <p:nvPr/>
          </p:nvSpPr>
          <p:spPr bwMode="auto">
            <a:xfrm>
              <a:off x="3815" y="1532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1" name="Freeform 24"/>
            <p:cNvSpPr>
              <a:spLocks/>
            </p:cNvSpPr>
            <p:nvPr/>
          </p:nvSpPr>
          <p:spPr bwMode="auto">
            <a:xfrm>
              <a:off x="3073" y="733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2" name="Rectangle 25"/>
            <p:cNvSpPr>
              <a:spLocks noChangeArrowheads="1"/>
            </p:cNvSpPr>
            <p:nvPr/>
          </p:nvSpPr>
          <p:spPr bwMode="auto">
            <a:xfrm>
              <a:off x="3165" y="74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623" name="Freeform 26"/>
            <p:cNvSpPr>
              <a:spLocks/>
            </p:cNvSpPr>
            <p:nvPr/>
          </p:nvSpPr>
          <p:spPr bwMode="auto">
            <a:xfrm>
              <a:off x="3399" y="1018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4" name="Rectangle 27"/>
            <p:cNvSpPr>
              <a:spLocks noChangeArrowheads="1"/>
            </p:cNvSpPr>
            <p:nvPr/>
          </p:nvSpPr>
          <p:spPr bwMode="auto">
            <a:xfrm>
              <a:off x="3491" y="103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625" name="Line 28"/>
            <p:cNvSpPr>
              <a:spLocks noChangeShapeType="1"/>
            </p:cNvSpPr>
            <p:nvPr/>
          </p:nvSpPr>
          <p:spPr bwMode="auto">
            <a:xfrm flipH="1">
              <a:off x="2892" y="886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6" name="Freeform 29"/>
            <p:cNvSpPr>
              <a:spLocks/>
            </p:cNvSpPr>
            <p:nvPr/>
          </p:nvSpPr>
          <p:spPr bwMode="auto">
            <a:xfrm>
              <a:off x="2727" y="1040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7" name="Line 30"/>
            <p:cNvSpPr>
              <a:spLocks noChangeShapeType="1"/>
            </p:cNvSpPr>
            <p:nvPr/>
          </p:nvSpPr>
          <p:spPr bwMode="auto">
            <a:xfrm>
              <a:off x="3573" y="1194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8" name="Freeform 31"/>
            <p:cNvSpPr>
              <a:spLocks/>
            </p:cNvSpPr>
            <p:nvPr/>
          </p:nvSpPr>
          <p:spPr bwMode="auto">
            <a:xfrm>
              <a:off x="3227" y="1348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29" name="Rectangle 32"/>
            <p:cNvSpPr>
              <a:spLocks noChangeArrowheads="1"/>
            </p:cNvSpPr>
            <p:nvPr/>
          </p:nvSpPr>
          <p:spPr bwMode="auto">
            <a:xfrm>
              <a:off x="3319" y="136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630" name="Freeform 34"/>
            <p:cNvSpPr>
              <a:spLocks/>
            </p:cNvSpPr>
            <p:nvPr/>
          </p:nvSpPr>
          <p:spPr bwMode="auto">
            <a:xfrm>
              <a:off x="3405" y="1604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31" name="Rectangle 35"/>
            <p:cNvSpPr>
              <a:spLocks noChangeArrowheads="1"/>
            </p:cNvSpPr>
            <p:nvPr/>
          </p:nvSpPr>
          <p:spPr bwMode="auto">
            <a:xfrm>
              <a:off x="3450" y="1612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GB" altLang="en-US"/>
            </a:p>
          </p:txBody>
        </p:sp>
        <p:sp>
          <p:nvSpPr>
            <p:cNvPr id="19632" name="Line 36"/>
            <p:cNvSpPr>
              <a:spLocks noChangeShapeType="1"/>
            </p:cNvSpPr>
            <p:nvPr/>
          </p:nvSpPr>
          <p:spPr bwMode="auto">
            <a:xfrm flipV="1">
              <a:off x="3332" y="1216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9633" name="Group 38"/>
            <p:cNvGrpSpPr>
              <a:grpSpLocks/>
            </p:cNvGrpSpPr>
            <p:nvPr/>
          </p:nvGrpSpPr>
          <p:grpSpPr bwMode="auto">
            <a:xfrm>
              <a:off x="3654" y="1343"/>
              <a:ext cx="193" cy="192"/>
              <a:chOff x="5232" y="3168"/>
              <a:chExt cx="193" cy="192"/>
            </a:xfrm>
          </p:grpSpPr>
          <p:sp>
            <p:nvSpPr>
              <p:cNvPr id="19642" name="Freeform 39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643" name="Rectangle 40"/>
              <p:cNvSpPr>
                <a:spLocks noChangeArrowheads="1"/>
              </p:cNvSpPr>
              <p:nvPr/>
            </p:nvSpPr>
            <p:spPr bwMode="auto">
              <a:xfrm>
                <a:off x="5232" y="316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</p:grpSp>
        <p:sp>
          <p:nvSpPr>
            <p:cNvPr id="19634" name="Freeform 41"/>
            <p:cNvSpPr>
              <a:spLocks/>
            </p:cNvSpPr>
            <p:nvPr/>
          </p:nvSpPr>
          <p:spPr bwMode="auto">
            <a:xfrm>
              <a:off x="3921" y="1682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35" name="Line 37"/>
            <p:cNvSpPr>
              <a:spLocks noChangeShapeType="1"/>
            </p:cNvSpPr>
            <p:nvPr/>
          </p:nvSpPr>
          <p:spPr bwMode="auto">
            <a:xfrm>
              <a:off x="3815" y="1532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36" name="Rectangle 42"/>
            <p:cNvSpPr>
              <a:spLocks noChangeArrowheads="1"/>
            </p:cNvSpPr>
            <p:nvPr/>
          </p:nvSpPr>
          <p:spPr bwMode="auto">
            <a:xfrm>
              <a:off x="3944" y="1680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  <a:endParaRPr lang="en-GB" altLang="en-US"/>
            </a:p>
          </p:txBody>
        </p:sp>
        <p:sp>
          <p:nvSpPr>
            <p:cNvPr id="19637" name="Line 43"/>
            <p:cNvSpPr>
              <a:spLocks noChangeShapeType="1"/>
            </p:cNvSpPr>
            <p:nvPr/>
          </p:nvSpPr>
          <p:spPr bwMode="auto">
            <a:xfrm flipV="1">
              <a:off x="3556" y="1507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9638" name="Group 128"/>
            <p:cNvGrpSpPr>
              <a:grpSpLocks/>
            </p:cNvGrpSpPr>
            <p:nvPr/>
          </p:nvGrpSpPr>
          <p:grpSpPr bwMode="auto">
            <a:xfrm>
              <a:off x="3517" y="1802"/>
              <a:ext cx="288" cy="343"/>
              <a:chOff x="3815" y="1532"/>
              <a:chExt cx="288" cy="343"/>
            </a:xfrm>
          </p:grpSpPr>
          <p:sp>
            <p:nvSpPr>
              <p:cNvPr id="19640" name="Line 129"/>
              <p:cNvSpPr>
                <a:spLocks noChangeShapeType="1"/>
              </p:cNvSpPr>
              <p:nvPr/>
            </p:nvSpPr>
            <p:spPr bwMode="auto">
              <a:xfrm>
                <a:off x="3815" y="1532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641" name="Rectangle 130"/>
              <p:cNvSpPr>
                <a:spLocks noChangeArrowheads="1"/>
              </p:cNvSpPr>
              <p:nvPr/>
            </p:nvSpPr>
            <p:spPr bwMode="auto">
              <a:xfrm>
                <a:off x="3951" y="1693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 dirty="0">
                    <a:solidFill>
                      <a:srgbClr val="000000"/>
                    </a:solidFill>
                    <a:latin typeface="Times New Roman" pitchFamily="18" charset="0"/>
                  </a:rPr>
                  <a:t>13</a:t>
                </a:r>
                <a:endParaRPr lang="en-GB" altLang="en-US" dirty="0"/>
              </a:p>
            </p:txBody>
          </p:sp>
        </p:grpSp>
        <p:sp>
          <p:nvSpPr>
            <p:cNvPr id="19639" name="Freeform 131"/>
            <p:cNvSpPr>
              <a:spLocks/>
            </p:cNvSpPr>
            <p:nvPr/>
          </p:nvSpPr>
          <p:spPr bwMode="auto">
            <a:xfrm>
              <a:off x="3638" y="1967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463" name="Text Box 132"/>
          <p:cNvSpPr txBox="1">
            <a:spLocks noChangeArrowheads="1"/>
          </p:cNvSpPr>
          <p:nvPr/>
        </p:nvSpPr>
        <p:spPr bwMode="auto">
          <a:xfrm>
            <a:off x="6160008" y="670144"/>
            <a:ext cx="283159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6 is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unbalanced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now (too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heavy on the right). New node is in the left subtree of the right child so double     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      rotation required.</a:t>
            </a:r>
          </a:p>
        </p:txBody>
      </p:sp>
      <p:grpSp>
        <p:nvGrpSpPr>
          <p:cNvPr id="19464" name="Group 229"/>
          <p:cNvGrpSpPr>
            <a:grpSpLocks/>
          </p:cNvGrpSpPr>
          <p:nvPr/>
        </p:nvGrpSpPr>
        <p:grpSpPr bwMode="auto">
          <a:xfrm>
            <a:off x="204788" y="4033838"/>
            <a:ext cx="2741612" cy="2265362"/>
            <a:chOff x="129" y="2541"/>
            <a:chExt cx="1727" cy="1427"/>
          </a:xfrm>
        </p:grpSpPr>
        <p:grpSp>
          <p:nvGrpSpPr>
            <p:cNvPr id="19556" name="Group 134"/>
            <p:cNvGrpSpPr>
              <a:grpSpLocks/>
            </p:cNvGrpSpPr>
            <p:nvPr/>
          </p:nvGrpSpPr>
          <p:grpSpPr bwMode="auto">
            <a:xfrm>
              <a:off x="129" y="2541"/>
              <a:ext cx="1655" cy="1427"/>
              <a:chOff x="2458" y="733"/>
              <a:chExt cx="1655" cy="1427"/>
            </a:xfrm>
          </p:grpSpPr>
          <p:sp>
            <p:nvSpPr>
              <p:cNvPr id="19560" name="Freeform 135"/>
              <p:cNvSpPr>
                <a:spLocks/>
              </p:cNvSpPr>
              <p:nvPr/>
            </p:nvSpPr>
            <p:spPr bwMode="auto">
              <a:xfrm>
                <a:off x="3073" y="733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1" name="Rectangle 136"/>
              <p:cNvSpPr>
                <a:spLocks noChangeArrowheads="1"/>
              </p:cNvSpPr>
              <p:nvPr/>
            </p:nvSpPr>
            <p:spPr bwMode="auto">
              <a:xfrm>
                <a:off x="3165" y="747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19562" name="Freeform 137"/>
              <p:cNvSpPr>
                <a:spLocks/>
              </p:cNvSpPr>
              <p:nvPr/>
            </p:nvSpPr>
            <p:spPr bwMode="auto">
              <a:xfrm>
                <a:off x="3399" y="1018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3" name="Rectangle 138"/>
              <p:cNvSpPr>
                <a:spLocks noChangeArrowheads="1"/>
              </p:cNvSpPr>
              <p:nvPr/>
            </p:nvSpPr>
            <p:spPr bwMode="auto">
              <a:xfrm>
                <a:off x="3491" y="103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  <p:sp>
            <p:nvSpPr>
              <p:cNvPr id="19564" name="Line 139"/>
              <p:cNvSpPr>
                <a:spLocks noChangeShapeType="1"/>
              </p:cNvSpPr>
              <p:nvPr/>
            </p:nvSpPr>
            <p:spPr bwMode="auto">
              <a:xfrm>
                <a:off x="3261" y="879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5" name="Line 140"/>
              <p:cNvSpPr>
                <a:spLocks noChangeShapeType="1"/>
              </p:cNvSpPr>
              <p:nvPr/>
            </p:nvSpPr>
            <p:spPr bwMode="auto">
              <a:xfrm flipH="1">
                <a:off x="2892" y="886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6" name="Freeform 141"/>
              <p:cNvSpPr>
                <a:spLocks/>
              </p:cNvSpPr>
              <p:nvPr/>
            </p:nvSpPr>
            <p:spPr bwMode="auto">
              <a:xfrm>
                <a:off x="2727" y="1040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7" name="Rectangle 142"/>
              <p:cNvSpPr>
                <a:spLocks noChangeArrowheads="1"/>
              </p:cNvSpPr>
              <p:nvPr/>
            </p:nvSpPr>
            <p:spPr bwMode="auto">
              <a:xfrm>
                <a:off x="2819" y="105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19568" name="Line 143"/>
              <p:cNvSpPr>
                <a:spLocks noChangeShapeType="1"/>
              </p:cNvSpPr>
              <p:nvPr/>
            </p:nvSpPr>
            <p:spPr bwMode="auto">
              <a:xfrm>
                <a:off x="3573" y="1194"/>
                <a:ext cx="165" cy="16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69" name="Freeform 144"/>
              <p:cNvSpPr>
                <a:spLocks/>
              </p:cNvSpPr>
              <p:nvPr/>
            </p:nvSpPr>
            <p:spPr bwMode="auto">
              <a:xfrm>
                <a:off x="3227" y="134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0" name="Rectangle 145"/>
              <p:cNvSpPr>
                <a:spLocks noChangeArrowheads="1"/>
              </p:cNvSpPr>
              <p:nvPr/>
            </p:nvSpPr>
            <p:spPr bwMode="auto">
              <a:xfrm>
                <a:off x="3319" y="1362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  <p:sp>
            <p:nvSpPr>
              <p:cNvPr id="19571" name="Line 146"/>
              <p:cNvSpPr>
                <a:spLocks noChangeShapeType="1"/>
              </p:cNvSpPr>
              <p:nvPr/>
            </p:nvSpPr>
            <p:spPr bwMode="auto">
              <a:xfrm flipV="1">
                <a:off x="3332" y="1216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2" name="Line 147"/>
              <p:cNvSpPr>
                <a:spLocks noChangeShapeType="1"/>
              </p:cNvSpPr>
              <p:nvPr/>
            </p:nvSpPr>
            <p:spPr bwMode="auto">
              <a:xfrm>
                <a:off x="2842" y="1232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3" name="Line 148"/>
              <p:cNvSpPr>
                <a:spLocks noChangeShapeType="1"/>
              </p:cNvSpPr>
              <p:nvPr/>
            </p:nvSpPr>
            <p:spPr bwMode="auto">
              <a:xfrm flipV="1">
                <a:off x="2611" y="1232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4" name="Freeform 149"/>
              <p:cNvSpPr>
                <a:spLocks/>
              </p:cNvSpPr>
              <p:nvPr/>
            </p:nvSpPr>
            <p:spPr bwMode="auto">
              <a:xfrm>
                <a:off x="2919" y="138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2" y="0"/>
                    </a:moveTo>
                    <a:lnTo>
                      <a:pt x="182" y="0"/>
                    </a:lnTo>
                    <a:lnTo>
                      <a:pt x="172" y="0"/>
                    </a:lnTo>
                    <a:lnTo>
                      <a:pt x="162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99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39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39"/>
                    </a:lnTo>
                    <a:lnTo>
                      <a:pt x="85" y="350"/>
                    </a:lnTo>
                    <a:lnTo>
                      <a:pt x="100" y="359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79"/>
                    </a:lnTo>
                    <a:lnTo>
                      <a:pt x="162" y="381"/>
                    </a:lnTo>
                    <a:lnTo>
                      <a:pt x="172" y="382"/>
                    </a:lnTo>
                    <a:lnTo>
                      <a:pt x="182" y="382"/>
                    </a:lnTo>
                    <a:lnTo>
                      <a:pt x="192" y="384"/>
                    </a:lnTo>
                    <a:lnTo>
                      <a:pt x="202" y="382"/>
                    </a:lnTo>
                    <a:lnTo>
                      <a:pt x="211" y="382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59"/>
                    </a:lnTo>
                    <a:lnTo>
                      <a:pt x="299" y="350"/>
                    </a:lnTo>
                    <a:lnTo>
                      <a:pt x="314" y="339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9" y="239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5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99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5" name="Rectangle 150"/>
              <p:cNvSpPr>
                <a:spLocks noChangeArrowheads="1"/>
              </p:cNvSpPr>
              <p:nvPr/>
            </p:nvSpPr>
            <p:spPr bwMode="auto">
              <a:xfrm>
                <a:off x="3012" y="1401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GB" altLang="en-US"/>
              </a:p>
            </p:txBody>
          </p:sp>
          <p:sp>
            <p:nvSpPr>
              <p:cNvPr id="19576" name="Freeform 151"/>
              <p:cNvSpPr>
                <a:spLocks/>
              </p:cNvSpPr>
              <p:nvPr/>
            </p:nvSpPr>
            <p:spPr bwMode="auto">
              <a:xfrm>
                <a:off x="2458" y="134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7" name="Rectangle 152"/>
              <p:cNvSpPr>
                <a:spLocks noChangeArrowheads="1"/>
              </p:cNvSpPr>
              <p:nvPr/>
            </p:nvSpPr>
            <p:spPr bwMode="auto">
              <a:xfrm>
                <a:off x="2550" y="1362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19578" name="Line 153"/>
              <p:cNvSpPr>
                <a:spLocks noChangeShapeType="1"/>
              </p:cNvSpPr>
              <p:nvPr/>
            </p:nvSpPr>
            <p:spPr bwMode="auto">
              <a:xfrm>
                <a:off x="3815" y="1532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79" name="Freeform 154"/>
              <p:cNvSpPr>
                <a:spLocks/>
              </p:cNvSpPr>
              <p:nvPr/>
            </p:nvSpPr>
            <p:spPr bwMode="auto">
              <a:xfrm>
                <a:off x="3073" y="733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0" name="Rectangle 155"/>
              <p:cNvSpPr>
                <a:spLocks noChangeArrowheads="1"/>
              </p:cNvSpPr>
              <p:nvPr/>
            </p:nvSpPr>
            <p:spPr bwMode="auto">
              <a:xfrm>
                <a:off x="3165" y="747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19581" name="Freeform 156"/>
              <p:cNvSpPr>
                <a:spLocks/>
              </p:cNvSpPr>
              <p:nvPr/>
            </p:nvSpPr>
            <p:spPr bwMode="auto">
              <a:xfrm>
                <a:off x="3399" y="1018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2" name="Rectangle 157"/>
              <p:cNvSpPr>
                <a:spLocks noChangeArrowheads="1"/>
              </p:cNvSpPr>
              <p:nvPr/>
            </p:nvSpPr>
            <p:spPr bwMode="auto">
              <a:xfrm>
                <a:off x="3491" y="103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  <p:sp>
            <p:nvSpPr>
              <p:cNvPr id="19583" name="Line 158"/>
              <p:cNvSpPr>
                <a:spLocks noChangeShapeType="1"/>
              </p:cNvSpPr>
              <p:nvPr/>
            </p:nvSpPr>
            <p:spPr bwMode="auto">
              <a:xfrm flipH="1">
                <a:off x="2892" y="886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4" name="Freeform 159"/>
              <p:cNvSpPr>
                <a:spLocks/>
              </p:cNvSpPr>
              <p:nvPr/>
            </p:nvSpPr>
            <p:spPr bwMode="auto">
              <a:xfrm>
                <a:off x="2727" y="1040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5" name="Line 160"/>
              <p:cNvSpPr>
                <a:spLocks noChangeShapeType="1"/>
              </p:cNvSpPr>
              <p:nvPr/>
            </p:nvSpPr>
            <p:spPr bwMode="auto">
              <a:xfrm>
                <a:off x="3573" y="1194"/>
                <a:ext cx="165" cy="16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6" name="Freeform 161"/>
              <p:cNvSpPr>
                <a:spLocks/>
              </p:cNvSpPr>
              <p:nvPr/>
            </p:nvSpPr>
            <p:spPr bwMode="auto">
              <a:xfrm>
                <a:off x="3227" y="134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7" name="Rectangle 162"/>
              <p:cNvSpPr>
                <a:spLocks noChangeArrowheads="1"/>
              </p:cNvSpPr>
              <p:nvPr/>
            </p:nvSpPr>
            <p:spPr bwMode="auto">
              <a:xfrm>
                <a:off x="3319" y="1362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  <p:sp>
            <p:nvSpPr>
              <p:cNvPr id="19588" name="Freeform 163"/>
              <p:cNvSpPr>
                <a:spLocks/>
              </p:cNvSpPr>
              <p:nvPr/>
            </p:nvSpPr>
            <p:spPr bwMode="auto">
              <a:xfrm>
                <a:off x="3405" y="1604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89" name="Rectangle 164"/>
              <p:cNvSpPr>
                <a:spLocks noChangeArrowheads="1"/>
              </p:cNvSpPr>
              <p:nvPr/>
            </p:nvSpPr>
            <p:spPr bwMode="auto">
              <a:xfrm>
                <a:off x="3450" y="1612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19590" name="Line 165"/>
              <p:cNvSpPr>
                <a:spLocks noChangeShapeType="1"/>
              </p:cNvSpPr>
              <p:nvPr/>
            </p:nvSpPr>
            <p:spPr bwMode="auto">
              <a:xfrm flipV="1">
                <a:off x="3332" y="1216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9591" name="Group 166"/>
              <p:cNvGrpSpPr>
                <a:grpSpLocks/>
              </p:cNvGrpSpPr>
              <p:nvPr/>
            </p:nvGrpSpPr>
            <p:grpSpPr bwMode="auto">
              <a:xfrm>
                <a:off x="3654" y="1343"/>
                <a:ext cx="193" cy="192"/>
                <a:chOff x="5232" y="3168"/>
                <a:chExt cx="193" cy="192"/>
              </a:xfrm>
            </p:grpSpPr>
            <p:sp>
              <p:nvSpPr>
                <p:cNvPr id="19600" name="Freeform 167"/>
                <p:cNvSpPr>
                  <a:spLocks/>
                </p:cNvSpPr>
                <p:nvPr/>
              </p:nvSpPr>
              <p:spPr bwMode="auto">
                <a:xfrm>
                  <a:off x="5232" y="3168"/>
                  <a:ext cx="193" cy="192"/>
                </a:xfrm>
                <a:custGeom>
                  <a:avLst/>
                  <a:gdLst>
                    <a:gd name="T0" fmla="*/ 6 w 384"/>
                    <a:gd name="T1" fmla="*/ 0 h 384"/>
                    <a:gd name="T2" fmla="*/ 6 w 384"/>
                    <a:gd name="T3" fmla="*/ 1 h 384"/>
                    <a:gd name="T4" fmla="*/ 5 w 384"/>
                    <a:gd name="T5" fmla="*/ 1 h 384"/>
                    <a:gd name="T6" fmla="*/ 4 w 384"/>
                    <a:gd name="T7" fmla="*/ 1 h 384"/>
                    <a:gd name="T8" fmla="*/ 4 w 384"/>
                    <a:gd name="T9" fmla="*/ 1 h 384"/>
                    <a:gd name="T10" fmla="*/ 3 w 384"/>
                    <a:gd name="T11" fmla="*/ 1 h 384"/>
                    <a:gd name="T12" fmla="*/ 2 w 384"/>
                    <a:gd name="T13" fmla="*/ 2 h 384"/>
                    <a:gd name="T14" fmla="*/ 1 w 384"/>
                    <a:gd name="T15" fmla="*/ 3 h 384"/>
                    <a:gd name="T16" fmla="*/ 1 w 384"/>
                    <a:gd name="T17" fmla="*/ 3 h 384"/>
                    <a:gd name="T18" fmla="*/ 1 w 384"/>
                    <a:gd name="T19" fmla="*/ 3 h 384"/>
                    <a:gd name="T20" fmla="*/ 1 w 384"/>
                    <a:gd name="T21" fmla="*/ 5 h 384"/>
                    <a:gd name="T22" fmla="*/ 1 w 384"/>
                    <a:gd name="T23" fmla="*/ 6 h 384"/>
                    <a:gd name="T24" fmla="*/ 0 w 384"/>
                    <a:gd name="T25" fmla="*/ 6 h 384"/>
                    <a:gd name="T26" fmla="*/ 0 w 384"/>
                    <a:gd name="T27" fmla="*/ 6 h 384"/>
                    <a:gd name="T28" fmla="*/ 1 w 384"/>
                    <a:gd name="T29" fmla="*/ 6 h 384"/>
                    <a:gd name="T30" fmla="*/ 1 w 384"/>
                    <a:gd name="T31" fmla="*/ 7 h 384"/>
                    <a:gd name="T32" fmla="*/ 1 w 384"/>
                    <a:gd name="T33" fmla="*/ 9 h 384"/>
                    <a:gd name="T34" fmla="*/ 1 w 384"/>
                    <a:gd name="T35" fmla="*/ 9 h 384"/>
                    <a:gd name="T36" fmla="*/ 1 w 384"/>
                    <a:gd name="T37" fmla="*/ 10 h 384"/>
                    <a:gd name="T38" fmla="*/ 2 w 384"/>
                    <a:gd name="T39" fmla="*/ 11 h 384"/>
                    <a:gd name="T40" fmla="*/ 3 w 384"/>
                    <a:gd name="T41" fmla="*/ 11 h 384"/>
                    <a:gd name="T42" fmla="*/ 4 w 384"/>
                    <a:gd name="T43" fmla="*/ 12 h 384"/>
                    <a:gd name="T44" fmla="*/ 4 w 384"/>
                    <a:gd name="T45" fmla="*/ 12 h 384"/>
                    <a:gd name="T46" fmla="*/ 5 w 384"/>
                    <a:gd name="T47" fmla="*/ 12 h 384"/>
                    <a:gd name="T48" fmla="*/ 6 w 384"/>
                    <a:gd name="T49" fmla="*/ 12 h 384"/>
                    <a:gd name="T50" fmla="*/ 6 w 384"/>
                    <a:gd name="T51" fmla="*/ 12 h 384"/>
                    <a:gd name="T52" fmla="*/ 7 w 384"/>
                    <a:gd name="T53" fmla="*/ 12 h 384"/>
                    <a:gd name="T54" fmla="*/ 7 w 384"/>
                    <a:gd name="T55" fmla="*/ 12 h 384"/>
                    <a:gd name="T56" fmla="*/ 8 w 384"/>
                    <a:gd name="T57" fmla="*/ 12 h 384"/>
                    <a:gd name="T58" fmla="*/ 9 w 384"/>
                    <a:gd name="T59" fmla="*/ 12 h 384"/>
                    <a:gd name="T60" fmla="*/ 9 w 384"/>
                    <a:gd name="T61" fmla="*/ 12 h 384"/>
                    <a:gd name="T62" fmla="*/ 10 w 384"/>
                    <a:gd name="T63" fmla="*/ 11 h 384"/>
                    <a:gd name="T64" fmla="*/ 11 w 384"/>
                    <a:gd name="T65" fmla="*/ 11 h 384"/>
                    <a:gd name="T66" fmla="*/ 11 w 384"/>
                    <a:gd name="T67" fmla="*/ 10 h 384"/>
                    <a:gd name="T68" fmla="*/ 12 w 384"/>
                    <a:gd name="T69" fmla="*/ 9 h 384"/>
                    <a:gd name="T70" fmla="*/ 12 w 384"/>
                    <a:gd name="T71" fmla="*/ 9 h 384"/>
                    <a:gd name="T72" fmla="*/ 12 w 384"/>
                    <a:gd name="T73" fmla="*/ 7 h 384"/>
                    <a:gd name="T74" fmla="*/ 12 w 384"/>
                    <a:gd name="T75" fmla="*/ 6 h 384"/>
                    <a:gd name="T76" fmla="*/ 13 w 384"/>
                    <a:gd name="T77" fmla="*/ 6 h 384"/>
                    <a:gd name="T78" fmla="*/ 13 w 384"/>
                    <a:gd name="T79" fmla="*/ 6 h 384"/>
                    <a:gd name="T80" fmla="*/ 12 w 384"/>
                    <a:gd name="T81" fmla="*/ 6 h 384"/>
                    <a:gd name="T82" fmla="*/ 12 w 384"/>
                    <a:gd name="T83" fmla="*/ 5 h 384"/>
                    <a:gd name="T84" fmla="*/ 12 w 384"/>
                    <a:gd name="T85" fmla="*/ 3 h 384"/>
                    <a:gd name="T86" fmla="*/ 12 w 384"/>
                    <a:gd name="T87" fmla="*/ 3 h 384"/>
                    <a:gd name="T88" fmla="*/ 11 w 384"/>
                    <a:gd name="T89" fmla="*/ 3 h 384"/>
                    <a:gd name="T90" fmla="*/ 11 w 384"/>
                    <a:gd name="T91" fmla="*/ 2 h 384"/>
                    <a:gd name="T92" fmla="*/ 10 w 384"/>
                    <a:gd name="T93" fmla="*/ 1 h 384"/>
                    <a:gd name="T94" fmla="*/ 9 w 384"/>
                    <a:gd name="T95" fmla="*/ 1 h 384"/>
                    <a:gd name="T96" fmla="*/ 9 w 384"/>
                    <a:gd name="T97" fmla="*/ 1 h 384"/>
                    <a:gd name="T98" fmla="*/ 8 w 384"/>
                    <a:gd name="T99" fmla="*/ 1 h 384"/>
                    <a:gd name="T100" fmla="*/ 7 w 384"/>
                    <a:gd name="T101" fmla="*/ 1 h 384"/>
                    <a:gd name="T102" fmla="*/ 7 w 384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4"/>
                    <a:gd name="T157" fmla="*/ 0 h 384"/>
                    <a:gd name="T158" fmla="*/ 384 w 384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4" h="384">
                      <a:moveTo>
                        <a:pt x="192" y="0"/>
                      </a:moveTo>
                      <a:lnTo>
                        <a:pt x="181" y="0"/>
                      </a:lnTo>
                      <a:lnTo>
                        <a:pt x="172" y="0"/>
                      </a:lnTo>
                      <a:lnTo>
                        <a:pt x="161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4" y="32"/>
                      </a:lnTo>
                      <a:lnTo>
                        <a:pt x="69" y="43"/>
                      </a:lnTo>
                      <a:lnTo>
                        <a:pt x="55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100"/>
                      </a:lnTo>
                      <a:lnTo>
                        <a:pt x="18" y="107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4" y="143"/>
                      </a:lnTo>
                      <a:lnTo>
                        <a:pt x="3" y="152"/>
                      </a:lnTo>
                      <a:lnTo>
                        <a:pt x="1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1" y="221"/>
                      </a:lnTo>
                      <a:lnTo>
                        <a:pt x="3" y="230"/>
                      </a:lnTo>
                      <a:lnTo>
                        <a:pt x="4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8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5" y="327"/>
                      </a:lnTo>
                      <a:lnTo>
                        <a:pt x="69" y="340"/>
                      </a:lnTo>
                      <a:lnTo>
                        <a:pt x="84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80"/>
                      </a:lnTo>
                      <a:lnTo>
                        <a:pt x="161" y="381"/>
                      </a:lnTo>
                      <a:lnTo>
                        <a:pt x="172" y="383"/>
                      </a:lnTo>
                      <a:lnTo>
                        <a:pt x="181" y="383"/>
                      </a:lnTo>
                      <a:lnTo>
                        <a:pt x="192" y="384"/>
                      </a:lnTo>
                      <a:lnTo>
                        <a:pt x="201" y="383"/>
                      </a:lnTo>
                      <a:lnTo>
                        <a:pt x="211" y="383"/>
                      </a:lnTo>
                      <a:lnTo>
                        <a:pt x="221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8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60"/>
                      </a:lnTo>
                      <a:lnTo>
                        <a:pt x="298" y="350"/>
                      </a:lnTo>
                      <a:lnTo>
                        <a:pt x="314" y="340"/>
                      </a:lnTo>
                      <a:lnTo>
                        <a:pt x="327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4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8" y="240"/>
                      </a:lnTo>
                      <a:lnTo>
                        <a:pt x="380" y="230"/>
                      </a:lnTo>
                      <a:lnTo>
                        <a:pt x="381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4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1" y="161"/>
                      </a:lnTo>
                      <a:lnTo>
                        <a:pt x="380" y="152"/>
                      </a:lnTo>
                      <a:lnTo>
                        <a:pt x="378" y="143"/>
                      </a:lnTo>
                      <a:lnTo>
                        <a:pt x="375" y="134"/>
                      </a:lnTo>
                      <a:lnTo>
                        <a:pt x="372" y="126"/>
                      </a:lnTo>
                      <a:lnTo>
                        <a:pt x="369" y="117"/>
                      </a:lnTo>
                      <a:lnTo>
                        <a:pt x="364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7" y="55"/>
                      </a:lnTo>
                      <a:lnTo>
                        <a:pt x="314" y="43"/>
                      </a:lnTo>
                      <a:lnTo>
                        <a:pt x="298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4"/>
                      </a:lnTo>
                      <a:lnTo>
                        <a:pt x="258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1" y="1"/>
                      </a:lnTo>
                      <a:lnTo>
                        <a:pt x="211" y="0"/>
                      </a:lnTo>
                      <a:lnTo>
                        <a:pt x="201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9601" name="Rectangle 168"/>
                <p:cNvSpPr>
                  <a:spLocks noChangeArrowheads="1"/>
                </p:cNvSpPr>
                <p:nvPr/>
              </p:nvSpPr>
              <p:spPr bwMode="auto">
                <a:xfrm>
                  <a:off x="5232" y="3168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14</a:t>
                  </a:r>
                  <a:endParaRPr lang="en-GB" altLang="en-US"/>
                </a:p>
              </p:txBody>
            </p:sp>
          </p:grpSp>
          <p:sp>
            <p:nvSpPr>
              <p:cNvPr id="19592" name="Freeform 169"/>
              <p:cNvSpPr>
                <a:spLocks/>
              </p:cNvSpPr>
              <p:nvPr/>
            </p:nvSpPr>
            <p:spPr bwMode="auto">
              <a:xfrm>
                <a:off x="3921" y="1682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93" name="Line 170"/>
              <p:cNvSpPr>
                <a:spLocks noChangeShapeType="1"/>
              </p:cNvSpPr>
              <p:nvPr/>
            </p:nvSpPr>
            <p:spPr bwMode="auto">
              <a:xfrm>
                <a:off x="3815" y="1532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94" name="Rectangle 171"/>
              <p:cNvSpPr>
                <a:spLocks noChangeArrowheads="1"/>
              </p:cNvSpPr>
              <p:nvPr/>
            </p:nvSpPr>
            <p:spPr bwMode="auto">
              <a:xfrm>
                <a:off x="3944" y="1680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15</a:t>
                </a:r>
                <a:endParaRPr lang="en-GB" altLang="en-US"/>
              </a:p>
            </p:txBody>
          </p:sp>
          <p:sp>
            <p:nvSpPr>
              <p:cNvPr id="19595" name="Line 172"/>
              <p:cNvSpPr>
                <a:spLocks noChangeShapeType="1"/>
              </p:cNvSpPr>
              <p:nvPr/>
            </p:nvSpPr>
            <p:spPr bwMode="auto">
              <a:xfrm flipV="1">
                <a:off x="3556" y="1507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9596" name="Group 173"/>
              <p:cNvGrpSpPr>
                <a:grpSpLocks/>
              </p:cNvGrpSpPr>
              <p:nvPr/>
            </p:nvGrpSpPr>
            <p:grpSpPr bwMode="auto">
              <a:xfrm>
                <a:off x="3517" y="1802"/>
                <a:ext cx="288" cy="343"/>
                <a:chOff x="3815" y="1532"/>
                <a:chExt cx="288" cy="343"/>
              </a:xfrm>
            </p:grpSpPr>
            <p:sp>
              <p:nvSpPr>
                <p:cNvPr id="19598" name="Line 174"/>
                <p:cNvSpPr>
                  <a:spLocks noChangeShapeType="1"/>
                </p:cNvSpPr>
                <p:nvPr/>
              </p:nvSpPr>
              <p:spPr bwMode="auto">
                <a:xfrm>
                  <a:off x="3815" y="1532"/>
                  <a:ext cx="166" cy="163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9599" name="Rectangle 175"/>
                <p:cNvSpPr>
                  <a:spLocks noChangeArrowheads="1"/>
                </p:cNvSpPr>
                <p:nvPr/>
              </p:nvSpPr>
              <p:spPr bwMode="auto">
                <a:xfrm>
                  <a:off x="3951" y="1693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13</a:t>
                  </a:r>
                  <a:endParaRPr lang="en-GB" altLang="en-US"/>
                </a:p>
              </p:txBody>
            </p:sp>
          </p:grpSp>
          <p:sp>
            <p:nvSpPr>
              <p:cNvPr id="19597" name="Freeform 176"/>
              <p:cNvSpPr>
                <a:spLocks/>
              </p:cNvSpPr>
              <p:nvPr/>
            </p:nvSpPr>
            <p:spPr bwMode="auto">
              <a:xfrm>
                <a:off x="3638" y="1967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9557" name="Text Box 220"/>
            <p:cNvSpPr txBox="1">
              <a:spLocks noChangeArrowheads="1"/>
            </p:cNvSpPr>
            <p:nvPr/>
          </p:nvSpPr>
          <p:spPr bwMode="auto">
            <a:xfrm>
              <a:off x="808" y="3430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3</a:t>
              </a:r>
            </a:p>
          </p:txBody>
        </p:sp>
        <p:sp>
          <p:nvSpPr>
            <p:cNvPr id="19558" name="Text Box 221"/>
            <p:cNvSpPr txBox="1">
              <a:spLocks noChangeArrowheads="1"/>
            </p:cNvSpPr>
            <p:nvPr/>
          </p:nvSpPr>
          <p:spPr bwMode="auto">
            <a:xfrm>
              <a:off x="1472" y="3041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2</a:t>
              </a:r>
            </a:p>
          </p:txBody>
        </p:sp>
        <p:sp>
          <p:nvSpPr>
            <p:cNvPr id="19559" name="Text Box 222"/>
            <p:cNvSpPr txBox="1">
              <a:spLocks noChangeArrowheads="1"/>
            </p:cNvSpPr>
            <p:nvPr/>
          </p:nvSpPr>
          <p:spPr bwMode="auto">
            <a:xfrm>
              <a:off x="1209" y="2752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latin typeface="Comic Sans MS" pitchFamily="66" charset="0"/>
                </a:rPr>
                <a:t>k</a:t>
              </a:r>
              <a:r>
                <a:rPr lang="en-GB" altLang="en-US" baseline="-25000" dirty="0"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9465" name="AutoShape 224"/>
          <p:cNvSpPr>
            <a:spLocks noChangeArrowheads="1"/>
          </p:cNvSpPr>
          <p:nvPr/>
        </p:nvSpPr>
        <p:spPr bwMode="auto">
          <a:xfrm>
            <a:off x="2514600" y="45720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66" name="Text Box 225"/>
          <p:cNvSpPr txBox="1">
            <a:spLocks noChangeArrowheads="1"/>
          </p:cNvSpPr>
          <p:nvPr/>
        </p:nvSpPr>
        <p:spPr bwMode="auto">
          <a:xfrm>
            <a:off x="2438400" y="3822700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right rotate</a:t>
            </a:r>
          </a:p>
        </p:txBody>
      </p:sp>
      <p:sp>
        <p:nvSpPr>
          <p:cNvPr id="19467" name="Text Box 226"/>
          <p:cNvSpPr txBox="1">
            <a:spLocks noChangeArrowheads="1"/>
          </p:cNvSpPr>
          <p:nvPr/>
        </p:nvSpPr>
        <p:spPr bwMode="auto">
          <a:xfrm>
            <a:off x="5173663" y="3802063"/>
            <a:ext cx="914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left rotate</a:t>
            </a:r>
          </a:p>
        </p:txBody>
      </p:sp>
      <p:sp>
        <p:nvSpPr>
          <p:cNvPr id="19468" name="AutoShape 227"/>
          <p:cNvSpPr>
            <a:spLocks noChangeArrowheads="1"/>
          </p:cNvSpPr>
          <p:nvPr/>
        </p:nvSpPr>
        <p:spPr bwMode="auto">
          <a:xfrm>
            <a:off x="5310188" y="4435475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9469" name="Group 233"/>
          <p:cNvGrpSpPr>
            <a:grpSpLocks/>
          </p:cNvGrpSpPr>
          <p:nvPr/>
        </p:nvGrpSpPr>
        <p:grpSpPr bwMode="auto">
          <a:xfrm>
            <a:off x="3048000" y="3962400"/>
            <a:ext cx="3163888" cy="2324100"/>
            <a:chOff x="2016" y="2496"/>
            <a:chExt cx="1993" cy="1464"/>
          </a:xfrm>
        </p:grpSpPr>
        <p:sp>
          <p:nvSpPr>
            <p:cNvPr id="19511" name="Freeform 178"/>
            <p:cNvSpPr>
              <a:spLocks/>
            </p:cNvSpPr>
            <p:nvPr/>
          </p:nvSpPr>
          <p:spPr bwMode="auto">
            <a:xfrm>
              <a:off x="2631" y="2496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2" name="Rectangle 179"/>
            <p:cNvSpPr>
              <a:spLocks noChangeArrowheads="1"/>
            </p:cNvSpPr>
            <p:nvPr/>
          </p:nvSpPr>
          <p:spPr bwMode="auto">
            <a:xfrm>
              <a:off x="2723" y="251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513" name="Freeform 180"/>
            <p:cNvSpPr>
              <a:spLocks/>
            </p:cNvSpPr>
            <p:nvPr/>
          </p:nvSpPr>
          <p:spPr bwMode="auto">
            <a:xfrm>
              <a:off x="2957" y="2781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4" name="Rectangle 181"/>
            <p:cNvSpPr>
              <a:spLocks noChangeArrowheads="1"/>
            </p:cNvSpPr>
            <p:nvPr/>
          </p:nvSpPr>
          <p:spPr bwMode="auto">
            <a:xfrm>
              <a:off x="3049" y="279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515" name="Line 182"/>
            <p:cNvSpPr>
              <a:spLocks noChangeShapeType="1"/>
            </p:cNvSpPr>
            <p:nvPr/>
          </p:nvSpPr>
          <p:spPr bwMode="auto">
            <a:xfrm>
              <a:off x="2819" y="2642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6" name="Line 183"/>
            <p:cNvSpPr>
              <a:spLocks noChangeShapeType="1"/>
            </p:cNvSpPr>
            <p:nvPr/>
          </p:nvSpPr>
          <p:spPr bwMode="auto">
            <a:xfrm flipH="1">
              <a:off x="2450" y="2649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7" name="Freeform 184"/>
            <p:cNvSpPr>
              <a:spLocks/>
            </p:cNvSpPr>
            <p:nvPr/>
          </p:nvSpPr>
          <p:spPr bwMode="auto">
            <a:xfrm>
              <a:off x="2285" y="2803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8" name="Rectangle 185"/>
            <p:cNvSpPr>
              <a:spLocks noChangeArrowheads="1"/>
            </p:cNvSpPr>
            <p:nvPr/>
          </p:nvSpPr>
          <p:spPr bwMode="auto">
            <a:xfrm>
              <a:off x="2377" y="281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19519" name="Line 186"/>
            <p:cNvSpPr>
              <a:spLocks noChangeShapeType="1"/>
            </p:cNvSpPr>
            <p:nvPr/>
          </p:nvSpPr>
          <p:spPr bwMode="auto">
            <a:xfrm>
              <a:off x="3131" y="2957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0" name="Freeform 187"/>
            <p:cNvSpPr>
              <a:spLocks/>
            </p:cNvSpPr>
            <p:nvPr/>
          </p:nvSpPr>
          <p:spPr bwMode="auto">
            <a:xfrm>
              <a:off x="2785" y="3111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1" name="Rectangle 188"/>
            <p:cNvSpPr>
              <a:spLocks noChangeArrowheads="1"/>
            </p:cNvSpPr>
            <p:nvPr/>
          </p:nvSpPr>
          <p:spPr bwMode="auto">
            <a:xfrm>
              <a:off x="2877" y="3125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522" name="Line 189"/>
            <p:cNvSpPr>
              <a:spLocks noChangeShapeType="1"/>
            </p:cNvSpPr>
            <p:nvPr/>
          </p:nvSpPr>
          <p:spPr bwMode="auto">
            <a:xfrm flipV="1">
              <a:off x="2890" y="2979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3" name="Line 190"/>
            <p:cNvSpPr>
              <a:spLocks noChangeShapeType="1"/>
            </p:cNvSpPr>
            <p:nvPr/>
          </p:nvSpPr>
          <p:spPr bwMode="auto">
            <a:xfrm>
              <a:off x="2400" y="2995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4" name="Line 191"/>
            <p:cNvSpPr>
              <a:spLocks noChangeShapeType="1"/>
            </p:cNvSpPr>
            <p:nvPr/>
          </p:nvSpPr>
          <p:spPr bwMode="auto">
            <a:xfrm flipV="1">
              <a:off x="2169" y="2995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5" name="Freeform 192"/>
            <p:cNvSpPr>
              <a:spLocks/>
            </p:cNvSpPr>
            <p:nvPr/>
          </p:nvSpPr>
          <p:spPr bwMode="auto">
            <a:xfrm>
              <a:off x="2477" y="3149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6" name="Rectangle 193"/>
            <p:cNvSpPr>
              <a:spLocks noChangeArrowheads="1"/>
            </p:cNvSpPr>
            <p:nvPr/>
          </p:nvSpPr>
          <p:spPr bwMode="auto">
            <a:xfrm>
              <a:off x="2570" y="316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  <p:sp>
          <p:nvSpPr>
            <p:cNvPr id="19527" name="Freeform 194"/>
            <p:cNvSpPr>
              <a:spLocks/>
            </p:cNvSpPr>
            <p:nvPr/>
          </p:nvSpPr>
          <p:spPr bwMode="auto">
            <a:xfrm>
              <a:off x="2016" y="3111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8" name="Rectangle 195"/>
            <p:cNvSpPr>
              <a:spLocks noChangeArrowheads="1"/>
            </p:cNvSpPr>
            <p:nvPr/>
          </p:nvSpPr>
          <p:spPr bwMode="auto">
            <a:xfrm>
              <a:off x="2108" y="3125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19529" name="Line 196"/>
            <p:cNvSpPr>
              <a:spLocks noChangeShapeType="1"/>
            </p:cNvSpPr>
            <p:nvPr/>
          </p:nvSpPr>
          <p:spPr bwMode="auto">
            <a:xfrm>
              <a:off x="3373" y="3295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0" name="Freeform 197"/>
            <p:cNvSpPr>
              <a:spLocks/>
            </p:cNvSpPr>
            <p:nvPr/>
          </p:nvSpPr>
          <p:spPr bwMode="auto">
            <a:xfrm>
              <a:off x="2631" y="2496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1" name="Rectangle 198"/>
            <p:cNvSpPr>
              <a:spLocks noChangeArrowheads="1"/>
            </p:cNvSpPr>
            <p:nvPr/>
          </p:nvSpPr>
          <p:spPr bwMode="auto">
            <a:xfrm>
              <a:off x="2723" y="251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19532" name="Freeform 199"/>
            <p:cNvSpPr>
              <a:spLocks/>
            </p:cNvSpPr>
            <p:nvPr/>
          </p:nvSpPr>
          <p:spPr bwMode="auto">
            <a:xfrm>
              <a:off x="2957" y="2781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3" name="Rectangle 200"/>
            <p:cNvSpPr>
              <a:spLocks noChangeArrowheads="1"/>
            </p:cNvSpPr>
            <p:nvPr/>
          </p:nvSpPr>
          <p:spPr bwMode="auto">
            <a:xfrm>
              <a:off x="3049" y="279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19534" name="Line 201"/>
            <p:cNvSpPr>
              <a:spLocks noChangeShapeType="1"/>
            </p:cNvSpPr>
            <p:nvPr/>
          </p:nvSpPr>
          <p:spPr bwMode="auto">
            <a:xfrm flipH="1">
              <a:off x="2450" y="2649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5" name="Freeform 202"/>
            <p:cNvSpPr>
              <a:spLocks/>
            </p:cNvSpPr>
            <p:nvPr/>
          </p:nvSpPr>
          <p:spPr bwMode="auto">
            <a:xfrm>
              <a:off x="2285" y="2803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6" name="Line 203"/>
            <p:cNvSpPr>
              <a:spLocks noChangeShapeType="1"/>
            </p:cNvSpPr>
            <p:nvPr/>
          </p:nvSpPr>
          <p:spPr bwMode="auto">
            <a:xfrm>
              <a:off x="3131" y="2957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7" name="Freeform 204"/>
            <p:cNvSpPr>
              <a:spLocks/>
            </p:cNvSpPr>
            <p:nvPr/>
          </p:nvSpPr>
          <p:spPr bwMode="auto">
            <a:xfrm>
              <a:off x="2785" y="3111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8" name="Rectangle 205"/>
            <p:cNvSpPr>
              <a:spLocks noChangeArrowheads="1"/>
            </p:cNvSpPr>
            <p:nvPr/>
          </p:nvSpPr>
          <p:spPr bwMode="auto">
            <a:xfrm>
              <a:off x="2877" y="3125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  <p:sp>
          <p:nvSpPr>
            <p:cNvPr id="19539" name="Freeform 206"/>
            <p:cNvSpPr>
              <a:spLocks/>
            </p:cNvSpPr>
            <p:nvPr/>
          </p:nvSpPr>
          <p:spPr bwMode="auto">
            <a:xfrm>
              <a:off x="3237" y="3689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0" name="Rectangle 207"/>
            <p:cNvSpPr>
              <a:spLocks noChangeArrowheads="1"/>
            </p:cNvSpPr>
            <p:nvPr/>
          </p:nvSpPr>
          <p:spPr bwMode="auto">
            <a:xfrm>
              <a:off x="3252" y="370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13</a:t>
              </a:r>
              <a:endParaRPr lang="en-GB" altLang="en-US"/>
            </a:p>
          </p:txBody>
        </p:sp>
        <p:sp>
          <p:nvSpPr>
            <p:cNvPr id="19541" name="Line 208"/>
            <p:cNvSpPr>
              <a:spLocks noChangeShapeType="1"/>
            </p:cNvSpPr>
            <p:nvPr/>
          </p:nvSpPr>
          <p:spPr bwMode="auto">
            <a:xfrm flipV="1">
              <a:off x="2890" y="2979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9542" name="Group 209"/>
            <p:cNvGrpSpPr>
              <a:grpSpLocks/>
            </p:cNvGrpSpPr>
            <p:nvPr/>
          </p:nvGrpSpPr>
          <p:grpSpPr bwMode="auto">
            <a:xfrm>
              <a:off x="3212" y="3106"/>
              <a:ext cx="193" cy="192"/>
              <a:chOff x="5232" y="3168"/>
              <a:chExt cx="193" cy="192"/>
            </a:xfrm>
          </p:grpSpPr>
          <p:sp>
            <p:nvSpPr>
              <p:cNvPr id="19554" name="Freeform 210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55" name="Rectangle 211"/>
              <p:cNvSpPr>
                <a:spLocks noChangeArrowheads="1"/>
              </p:cNvSpPr>
              <p:nvPr/>
            </p:nvSpPr>
            <p:spPr bwMode="auto">
              <a:xfrm>
                <a:off x="5270" y="316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</p:grpSp>
        <p:sp>
          <p:nvSpPr>
            <p:cNvPr id="19543" name="Freeform 212"/>
            <p:cNvSpPr>
              <a:spLocks/>
            </p:cNvSpPr>
            <p:nvPr/>
          </p:nvSpPr>
          <p:spPr bwMode="auto">
            <a:xfrm>
              <a:off x="3479" y="3445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4" name="Line 213"/>
            <p:cNvSpPr>
              <a:spLocks noChangeShapeType="1"/>
            </p:cNvSpPr>
            <p:nvPr/>
          </p:nvSpPr>
          <p:spPr bwMode="auto">
            <a:xfrm>
              <a:off x="3373" y="3295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5" name="Rectangle 214"/>
            <p:cNvSpPr>
              <a:spLocks noChangeArrowheads="1"/>
            </p:cNvSpPr>
            <p:nvPr/>
          </p:nvSpPr>
          <p:spPr bwMode="auto">
            <a:xfrm>
              <a:off x="3502" y="3443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14</a:t>
              </a:r>
              <a:endParaRPr lang="en-GB" altLang="en-US"/>
            </a:p>
          </p:txBody>
        </p:sp>
        <p:grpSp>
          <p:nvGrpSpPr>
            <p:cNvPr id="19546" name="Group 216"/>
            <p:cNvGrpSpPr>
              <a:grpSpLocks/>
            </p:cNvGrpSpPr>
            <p:nvPr/>
          </p:nvGrpSpPr>
          <p:grpSpPr bwMode="auto">
            <a:xfrm>
              <a:off x="3651" y="3602"/>
              <a:ext cx="288" cy="343"/>
              <a:chOff x="3815" y="1532"/>
              <a:chExt cx="288" cy="343"/>
            </a:xfrm>
          </p:grpSpPr>
          <p:sp>
            <p:nvSpPr>
              <p:cNvPr id="19552" name="Line 217"/>
              <p:cNvSpPr>
                <a:spLocks noChangeShapeType="1"/>
              </p:cNvSpPr>
              <p:nvPr/>
            </p:nvSpPr>
            <p:spPr bwMode="auto">
              <a:xfrm>
                <a:off x="3815" y="1532"/>
                <a:ext cx="166" cy="16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553" name="Rectangle 218"/>
              <p:cNvSpPr>
                <a:spLocks noChangeArrowheads="1"/>
              </p:cNvSpPr>
              <p:nvPr/>
            </p:nvSpPr>
            <p:spPr bwMode="auto">
              <a:xfrm>
                <a:off x="3951" y="1693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15</a:t>
                </a:r>
                <a:endParaRPr lang="en-GB" altLang="en-US"/>
              </a:p>
            </p:txBody>
          </p:sp>
        </p:grpSp>
        <p:sp>
          <p:nvSpPr>
            <p:cNvPr id="19547" name="Freeform 219"/>
            <p:cNvSpPr>
              <a:spLocks/>
            </p:cNvSpPr>
            <p:nvPr/>
          </p:nvSpPr>
          <p:spPr bwMode="auto">
            <a:xfrm>
              <a:off x="3774" y="3767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8" name="Line 228"/>
            <p:cNvSpPr>
              <a:spLocks noChangeShapeType="1"/>
            </p:cNvSpPr>
            <p:nvPr/>
          </p:nvSpPr>
          <p:spPr bwMode="auto">
            <a:xfrm flipV="1">
              <a:off x="3402" y="3598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9" name="Text Box 230"/>
            <p:cNvSpPr txBox="1">
              <a:spLocks noChangeArrowheads="1"/>
            </p:cNvSpPr>
            <p:nvPr/>
          </p:nvSpPr>
          <p:spPr bwMode="auto">
            <a:xfrm>
              <a:off x="3360" y="2976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3</a:t>
              </a:r>
            </a:p>
          </p:txBody>
        </p:sp>
        <p:sp>
          <p:nvSpPr>
            <p:cNvPr id="19550" name="Text Box 231"/>
            <p:cNvSpPr txBox="1">
              <a:spLocks noChangeArrowheads="1"/>
            </p:cNvSpPr>
            <p:nvPr/>
          </p:nvSpPr>
          <p:spPr bwMode="auto">
            <a:xfrm>
              <a:off x="3625" y="3396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2</a:t>
              </a:r>
            </a:p>
          </p:txBody>
        </p:sp>
        <p:sp>
          <p:nvSpPr>
            <p:cNvPr id="19551" name="Text Box 232"/>
            <p:cNvSpPr txBox="1">
              <a:spLocks noChangeArrowheads="1"/>
            </p:cNvSpPr>
            <p:nvPr/>
          </p:nvSpPr>
          <p:spPr bwMode="auto">
            <a:xfrm>
              <a:off x="3115" y="2711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k</a:t>
              </a:r>
              <a:r>
                <a:rPr lang="en-GB" altLang="en-US" baseline="-25000"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19470" name="Freeform 235"/>
          <p:cNvSpPr>
            <a:spLocks/>
          </p:cNvSpPr>
          <p:nvPr/>
        </p:nvSpPr>
        <p:spPr bwMode="auto">
          <a:xfrm>
            <a:off x="6810375" y="3946525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4" y="8"/>
                </a:lnTo>
                <a:lnTo>
                  <a:pt x="126" y="11"/>
                </a:lnTo>
                <a:lnTo>
                  <a:pt x="117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69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4" y="117"/>
                </a:lnTo>
                <a:lnTo>
                  <a:pt x="11" y="126"/>
                </a:lnTo>
                <a:lnTo>
                  <a:pt x="7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2"/>
                </a:lnTo>
                <a:lnTo>
                  <a:pt x="0" y="172"/>
                </a:lnTo>
                <a:lnTo>
                  <a:pt x="0" y="182"/>
                </a:lnTo>
                <a:lnTo>
                  <a:pt x="0" y="192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49"/>
                </a:lnTo>
                <a:lnTo>
                  <a:pt x="11" y="259"/>
                </a:lnTo>
                <a:lnTo>
                  <a:pt x="14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4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49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2"/>
                </a:lnTo>
                <a:lnTo>
                  <a:pt x="383" y="182"/>
                </a:lnTo>
                <a:lnTo>
                  <a:pt x="383" y="172"/>
                </a:lnTo>
                <a:lnTo>
                  <a:pt x="381" y="162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69"/>
                </a:lnTo>
                <a:lnTo>
                  <a:pt x="327" y="56"/>
                </a:lnTo>
                <a:lnTo>
                  <a:pt x="314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1" name="Rectangle 236"/>
          <p:cNvSpPr>
            <a:spLocks noChangeArrowheads="1"/>
          </p:cNvSpPr>
          <p:nvPr/>
        </p:nvSpPr>
        <p:spPr bwMode="auto">
          <a:xfrm>
            <a:off x="6956425" y="396875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9472" name="Freeform 237"/>
          <p:cNvSpPr>
            <a:spLocks/>
          </p:cNvSpPr>
          <p:nvPr/>
        </p:nvSpPr>
        <p:spPr bwMode="auto">
          <a:xfrm>
            <a:off x="7327900" y="4398963"/>
            <a:ext cx="304800" cy="304800"/>
          </a:xfrm>
          <a:custGeom>
            <a:avLst/>
            <a:gdLst>
              <a:gd name="T0" fmla="*/ 2147483647 w 384"/>
              <a:gd name="T1" fmla="*/ 2147483647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2147483647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1"/>
                </a:lnTo>
                <a:lnTo>
                  <a:pt x="172" y="1"/>
                </a:lnTo>
                <a:lnTo>
                  <a:pt x="161" y="3"/>
                </a:lnTo>
                <a:lnTo>
                  <a:pt x="152" y="4"/>
                </a:lnTo>
                <a:lnTo>
                  <a:pt x="143" y="6"/>
                </a:lnTo>
                <a:lnTo>
                  <a:pt x="134" y="9"/>
                </a:lnTo>
                <a:lnTo>
                  <a:pt x="126" y="12"/>
                </a:lnTo>
                <a:lnTo>
                  <a:pt x="117" y="15"/>
                </a:lnTo>
                <a:lnTo>
                  <a:pt x="108" y="20"/>
                </a:lnTo>
                <a:lnTo>
                  <a:pt x="100" y="23"/>
                </a:lnTo>
                <a:lnTo>
                  <a:pt x="85" y="34"/>
                </a:lnTo>
                <a:lnTo>
                  <a:pt x="69" y="44"/>
                </a:lnTo>
                <a:lnTo>
                  <a:pt x="55" y="57"/>
                </a:lnTo>
                <a:lnTo>
                  <a:pt x="43" y="71"/>
                </a:lnTo>
                <a:lnTo>
                  <a:pt x="32" y="86"/>
                </a:lnTo>
                <a:lnTo>
                  <a:pt x="23" y="101"/>
                </a:lnTo>
                <a:lnTo>
                  <a:pt x="18" y="109"/>
                </a:lnTo>
                <a:lnTo>
                  <a:pt x="14" y="118"/>
                </a:lnTo>
                <a:lnTo>
                  <a:pt x="11" y="126"/>
                </a:lnTo>
                <a:lnTo>
                  <a:pt x="8" y="135"/>
                </a:lnTo>
                <a:lnTo>
                  <a:pt x="5" y="144"/>
                </a:lnTo>
                <a:lnTo>
                  <a:pt x="3" y="154"/>
                </a:lnTo>
                <a:lnTo>
                  <a:pt x="1" y="163"/>
                </a:lnTo>
                <a:lnTo>
                  <a:pt x="0" y="174"/>
                </a:lnTo>
                <a:lnTo>
                  <a:pt x="0" y="183"/>
                </a:lnTo>
                <a:lnTo>
                  <a:pt x="0" y="192"/>
                </a:lnTo>
                <a:lnTo>
                  <a:pt x="0" y="203"/>
                </a:lnTo>
                <a:lnTo>
                  <a:pt x="0" y="212"/>
                </a:lnTo>
                <a:lnTo>
                  <a:pt x="1" y="221"/>
                </a:lnTo>
                <a:lnTo>
                  <a:pt x="3" y="232"/>
                </a:lnTo>
                <a:lnTo>
                  <a:pt x="5" y="241"/>
                </a:lnTo>
                <a:lnTo>
                  <a:pt x="8" y="251"/>
                </a:lnTo>
                <a:lnTo>
                  <a:pt x="11" y="258"/>
                </a:lnTo>
                <a:lnTo>
                  <a:pt x="14" y="267"/>
                </a:lnTo>
                <a:lnTo>
                  <a:pt x="18" y="277"/>
                </a:lnTo>
                <a:lnTo>
                  <a:pt x="23" y="284"/>
                </a:lnTo>
                <a:lnTo>
                  <a:pt x="32" y="300"/>
                </a:lnTo>
                <a:lnTo>
                  <a:pt x="43" y="315"/>
                </a:lnTo>
                <a:lnTo>
                  <a:pt x="55" y="329"/>
                </a:lnTo>
                <a:lnTo>
                  <a:pt x="69" y="341"/>
                </a:lnTo>
                <a:lnTo>
                  <a:pt x="85" y="352"/>
                </a:lnTo>
                <a:lnTo>
                  <a:pt x="100" y="361"/>
                </a:lnTo>
                <a:lnTo>
                  <a:pt x="108" y="366"/>
                </a:lnTo>
                <a:lnTo>
                  <a:pt x="117" y="370"/>
                </a:lnTo>
                <a:lnTo>
                  <a:pt x="126" y="374"/>
                </a:lnTo>
                <a:lnTo>
                  <a:pt x="134" y="377"/>
                </a:lnTo>
                <a:lnTo>
                  <a:pt x="143" y="378"/>
                </a:lnTo>
                <a:lnTo>
                  <a:pt x="152" y="381"/>
                </a:lnTo>
                <a:lnTo>
                  <a:pt x="161" y="383"/>
                </a:lnTo>
                <a:lnTo>
                  <a:pt x="172" y="384"/>
                </a:lnTo>
                <a:lnTo>
                  <a:pt x="181" y="384"/>
                </a:lnTo>
                <a:lnTo>
                  <a:pt x="192" y="384"/>
                </a:lnTo>
                <a:lnTo>
                  <a:pt x="201" y="384"/>
                </a:lnTo>
                <a:lnTo>
                  <a:pt x="211" y="384"/>
                </a:lnTo>
                <a:lnTo>
                  <a:pt x="221" y="383"/>
                </a:lnTo>
                <a:lnTo>
                  <a:pt x="231" y="381"/>
                </a:lnTo>
                <a:lnTo>
                  <a:pt x="240" y="378"/>
                </a:lnTo>
                <a:lnTo>
                  <a:pt x="249" y="377"/>
                </a:lnTo>
                <a:lnTo>
                  <a:pt x="257" y="374"/>
                </a:lnTo>
                <a:lnTo>
                  <a:pt x="266" y="370"/>
                </a:lnTo>
                <a:lnTo>
                  <a:pt x="275" y="366"/>
                </a:lnTo>
                <a:lnTo>
                  <a:pt x="283" y="361"/>
                </a:lnTo>
                <a:lnTo>
                  <a:pt x="298" y="352"/>
                </a:lnTo>
                <a:lnTo>
                  <a:pt x="314" y="341"/>
                </a:lnTo>
                <a:lnTo>
                  <a:pt x="328" y="329"/>
                </a:lnTo>
                <a:lnTo>
                  <a:pt x="340" y="315"/>
                </a:lnTo>
                <a:lnTo>
                  <a:pt x="351" y="300"/>
                </a:lnTo>
                <a:lnTo>
                  <a:pt x="360" y="284"/>
                </a:lnTo>
                <a:lnTo>
                  <a:pt x="364" y="277"/>
                </a:lnTo>
                <a:lnTo>
                  <a:pt x="369" y="267"/>
                </a:lnTo>
                <a:lnTo>
                  <a:pt x="372" y="258"/>
                </a:lnTo>
                <a:lnTo>
                  <a:pt x="375" y="251"/>
                </a:lnTo>
                <a:lnTo>
                  <a:pt x="378" y="241"/>
                </a:lnTo>
                <a:lnTo>
                  <a:pt x="380" y="232"/>
                </a:lnTo>
                <a:lnTo>
                  <a:pt x="381" y="221"/>
                </a:lnTo>
                <a:lnTo>
                  <a:pt x="383" y="212"/>
                </a:lnTo>
                <a:lnTo>
                  <a:pt x="383" y="203"/>
                </a:lnTo>
                <a:lnTo>
                  <a:pt x="384" y="192"/>
                </a:lnTo>
                <a:lnTo>
                  <a:pt x="383" y="183"/>
                </a:lnTo>
                <a:lnTo>
                  <a:pt x="383" y="174"/>
                </a:lnTo>
                <a:lnTo>
                  <a:pt x="381" y="163"/>
                </a:lnTo>
                <a:lnTo>
                  <a:pt x="380" y="154"/>
                </a:lnTo>
                <a:lnTo>
                  <a:pt x="378" y="144"/>
                </a:lnTo>
                <a:lnTo>
                  <a:pt x="375" y="135"/>
                </a:lnTo>
                <a:lnTo>
                  <a:pt x="372" y="126"/>
                </a:lnTo>
                <a:lnTo>
                  <a:pt x="369" y="118"/>
                </a:lnTo>
                <a:lnTo>
                  <a:pt x="364" y="109"/>
                </a:lnTo>
                <a:lnTo>
                  <a:pt x="360" y="101"/>
                </a:lnTo>
                <a:lnTo>
                  <a:pt x="351" y="86"/>
                </a:lnTo>
                <a:lnTo>
                  <a:pt x="340" y="71"/>
                </a:lnTo>
                <a:lnTo>
                  <a:pt x="328" y="57"/>
                </a:lnTo>
                <a:lnTo>
                  <a:pt x="314" y="44"/>
                </a:lnTo>
                <a:lnTo>
                  <a:pt x="298" y="34"/>
                </a:lnTo>
                <a:lnTo>
                  <a:pt x="283" y="23"/>
                </a:lnTo>
                <a:lnTo>
                  <a:pt x="275" y="20"/>
                </a:lnTo>
                <a:lnTo>
                  <a:pt x="266" y="15"/>
                </a:lnTo>
                <a:lnTo>
                  <a:pt x="257" y="12"/>
                </a:lnTo>
                <a:lnTo>
                  <a:pt x="249" y="9"/>
                </a:lnTo>
                <a:lnTo>
                  <a:pt x="240" y="6"/>
                </a:lnTo>
                <a:lnTo>
                  <a:pt x="231" y="4"/>
                </a:lnTo>
                <a:lnTo>
                  <a:pt x="221" y="3"/>
                </a:lnTo>
                <a:lnTo>
                  <a:pt x="211" y="1"/>
                </a:lnTo>
                <a:lnTo>
                  <a:pt x="201" y="1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3" name="Line 239"/>
          <p:cNvSpPr>
            <a:spLocks noChangeShapeType="1"/>
          </p:cNvSpPr>
          <p:nvPr/>
        </p:nvSpPr>
        <p:spPr bwMode="auto">
          <a:xfrm>
            <a:off x="7108825" y="4178300"/>
            <a:ext cx="263525" cy="25876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4" name="Line 240"/>
          <p:cNvSpPr>
            <a:spLocks noChangeShapeType="1"/>
          </p:cNvSpPr>
          <p:nvPr/>
        </p:nvSpPr>
        <p:spPr bwMode="auto">
          <a:xfrm flipH="1">
            <a:off x="6523038" y="4189413"/>
            <a:ext cx="287337" cy="30162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5" name="Freeform 241"/>
          <p:cNvSpPr>
            <a:spLocks/>
          </p:cNvSpPr>
          <p:nvPr/>
        </p:nvSpPr>
        <p:spPr bwMode="auto">
          <a:xfrm>
            <a:off x="6261100" y="4433888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3" y="8"/>
                </a:lnTo>
                <a:lnTo>
                  <a:pt x="126" y="11"/>
                </a:lnTo>
                <a:lnTo>
                  <a:pt x="116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70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3" y="117"/>
                </a:lnTo>
                <a:lnTo>
                  <a:pt x="10" y="127"/>
                </a:lnTo>
                <a:lnTo>
                  <a:pt x="7" y="134"/>
                </a:lnTo>
                <a:lnTo>
                  <a:pt x="4" y="143"/>
                </a:lnTo>
                <a:lnTo>
                  <a:pt x="3" y="153"/>
                </a:lnTo>
                <a:lnTo>
                  <a:pt x="1" y="162"/>
                </a:lnTo>
                <a:lnTo>
                  <a:pt x="0" y="173"/>
                </a:lnTo>
                <a:lnTo>
                  <a:pt x="0" y="182"/>
                </a:lnTo>
                <a:lnTo>
                  <a:pt x="0" y="193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50"/>
                </a:lnTo>
                <a:lnTo>
                  <a:pt x="10" y="259"/>
                </a:lnTo>
                <a:lnTo>
                  <a:pt x="13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6" y="370"/>
                </a:lnTo>
                <a:lnTo>
                  <a:pt x="126" y="373"/>
                </a:lnTo>
                <a:lnTo>
                  <a:pt x="133" y="376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6"/>
                </a:lnTo>
                <a:lnTo>
                  <a:pt x="258" y="373"/>
                </a:lnTo>
                <a:lnTo>
                  <a:pt x="266" y="370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3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50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3"/>
                </a:lnTo>
                <a:lnTo>
                  <a:pt x="383" y="182"/>
                </a:lnTo>
                <a:lnTo>
                  <a:pt x="383" y="173"/>
                </a:lnTo>
                <a:lnTo>
                  <a:pt x="381" y="162"/>
                </a:lnTo>
                <a:lnTo>
                  <a:pt x="380" y="153"/>
                </a:lnTo>
                <a:lnTo>
                  <a:pt x="378" y="143"/>
                </a:lnTo>
                <a:lnTo>
                  <a:pt x="375" y="134"/>
                </a:lnTo>
                <a:lnTo>
                  <a:pt x="372" y="127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70"/>
                </a:lnTo>
                <a:lnTo>
                  <a:pt x="327" y="56"/>
                </a:lnTo>
                <a:lnTo>
                  <a:pt x="313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6" name="Rectangle 242"/>
          <p:cNvSpPr>
            <a:spLocks noChangeArrowheads="1"/>
          </p:cNvSpPr>
          <p:nvPr/>
        </p:nvSpPr>
        <p:spPr bwMode="auto">
          <a:xfrm>
            <a:off x="6407150" y="44561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19477" name="Line 243"/>
          <p:cNvSpPr>
            <a:spLocks noChangeShapeType="1"/>
          </p:cNvSpPr>
          <p:nvPr/>
        </p:nvSpPr>
        <p:spPr bwMode="auto">
          <a:xfrm>
            <a:off x="7604125" y="4678363"/>
            <a:ext cx="261938" cy="25717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8" name="Freeform 244"/>
          <p:cNvSpPr>
            <a:spLocks/>
          </p:cNvSpPr>
          <p:nvPr/>
        </p:nvSpPr>
        <p:spPr bwMode="auto">
          <a:xfrm>
            <a:off x="7091363" y="4937125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7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7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70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7" y="13"/>
                </a:lnTo>
                <a:lnTo>
                  <a:pt x="259" y="10"/>
                </a:lnTo>
                <a:lnTo>
                  <a:pt x="250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9" name="Line 247"/>
          <p:cNvSpPr>
            <a:spLocks noChangeShapeType="1"/>
          </p:cNvSpPr>
          <p:nvPr/>
        </p:nvSpPr>
        <p:spPr bwMode="auto">
          <a:xfrm>
            <a:off x="6443663" y="4738688"/>
            <a:ext cx="263525" cy="258762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0" name="Line 248"/>
          <p:cNvSpPr>
            <a:spLocks noChangeShapeType="1"/>
          </p:cNvSpPr>
          <p:nvPr/>
        </p:nvSpPr>
        <p:spPr bwMode="auto">
          <a:xfrm flipV="1">
            <a:off x="6076950" y="4738688"/>
            <a:ext cx="195263" cy="18573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1" name="Freeform 249"/>
          <p:cNvSpPr>
            <a:spLocks/>
          </p:cNvSpPr>
          <p:nvPr/>
        </p:nvSpPr>
        <p:spPr bwMode="auto">
          <a:xfrm>
            <a:off x="6565900" y="4983163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2" y="0"/>
                </a:moveTo>
                <a:lnTo>
                  <a:pt x="182" y="0"/>
                </a:lnTo>
                <a:lnTo>
                  <a:pt x="172" y="0"/>
                </a:lnTo>
                <a:lnTo>
                  <a:pt x="162" y="1"/>
                </a:lnTo>
                <a:lnTo>
                  <a:pt x="152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2" y="84"/>
                </a:lnTo>
                <a:lnTo>
                  <a:pt x="23" y="99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39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2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39"/>
                </a:lnTo>
                <a:lnTo>
                  <a:pt x="85" y="350"/>
                </a:lnTo>
                <a:lnTo>
                  <a:pt x="100" y="359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2" y="379"/>
                </a:lnTo>
                <a:lnTo>
                  <a:pt x="162" y="381"/>
                </a:lnTo>
                <a:lnTo>
                  <a:pt x="172" y="382"/>
                </a:lnTo>
                <a:lnTo>
                  <a:pt x="182" y="382"/>
                </a:lnTo>
                <a:lnTo>
                  <a:pt x="192" y="384"/>
                </a:lnTo>
                <a:lnTo>
                  <a:pt x="202" y="382"/>
                </a:lnTo>
                <a:lnTo>
                  <a:pt x="211" y="382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5" y="364"/>
                </a:lnTo>
                <a:lnTo>
                  <a:pt x="283" y="359"/>
                </a:lnTo>
                <a:lnTo>
                  <a:pt x="299" y="350"/>
                </a:lnTo>
                <a:lnTo>
                  <a:pt x="314" y="339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5" y="249"/>
                </a:lnTo>
                <a:lnTo>
                  <a:pt x="379" y="239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5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99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5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2" name="Rectangle 250"/>
          <p:cNvSpPr>
            <a:spLocks noChangeArrowheads="1"/>
          </p:cNvSpPr>
          <p:nvPr/>
        </p:nvSpPr>
        <p:spPr bwMode="auto">
          <a:xfrm>
            <a:off x="6713538" y="500697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en-GB" altLang="en-US"/>
          </a:p>
        </p:txBody>
      </p:sp>
      <p:sp>
        <p:nvSpPr>
          <p:cNvPr id="19483" name="Freeform 251"/>
          <p:cNvSpPr>
            <a:spLocks/>
          </p:cNvSpPr>
          <p:nvPr/>
        </p:nvSpPr>
        <p:spPr bwMode="auto">
          <a:xfrm>
            <a:off x="5834063" y="4922838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4" name="Rectangle 252"/>
          <p:cNvSpPr>
            <a:spLocks noChangeArrowheads="1"/>
          </p:cNvSpPr>
          <p:nvPr/>
        </p:nvSpPr>
        <p:spPr bwMode="auto">
          <a:xfrm>
            <a:off x="5980113" y="494506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19485" name="Line 253"/>
          <p:cNvSpPr>
            <a:spLocks noChangeShapeType="1"/>
          </p:cNvSpPr>
          <p:nvPr/>
        </p:nvSpPr>
        <p:spPr bwMode="auto">
          <a:xfrm>
            <a:off x="7988300" y="5214938"/>
            <a:ext cx="263525" cy="258762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6" name="Freeform 254"/>
          <p:cNvSpPr>
            <a:spLocks/>
          </p:cNvSpPr>
          <p:nvPr/>
        </p:nvSpPr>
        <p:spPr bwMode="auto">
          <a:xfrm>
            <a:off x="6810375" y="3946525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4" y="8"/>
                </a:lnTo>
                <a:lnTo>
                  <a:pt x="126" y="11"/>
                </a:lnTo>
                <a:lnTo>
                  <a:pt x="117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69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4" y="117"/>
                </a:lnTo>
                <a:lnTo>
                  <a:pt x="11" y="126"/>
                </a:lnTo>
                <a:lnTo>
                  <a:pt x="7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2"/>
                </a:lnTo>
                <a:lnTo>
                  <a:pt x="0" y="172"/>
                </a:lnTo>
                <a:lnTo>
                  <a:pt x="0" y="182"/>
                </a:lnTo>
                <a:lnTo>
                  <a:pt x="0" y="192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49"/>
                </a:lnTo>
                <a:lnTo>
                  <a:pt x="11" y="259"/>
                </a:lnTo>
                <a:lnTo>
                  <a:pt x="14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4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49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2"/>
                </a:lnTo>
                <a:lnTo>
                  <a:pt x="383" y="182"/>
                </a:lnTo>
                <a:lnTo>
                  <a:pt x="383" y="172"/>
                </a:lnTo>
                <a:lnTo>
                  <a:pt x="381" y="162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69"/>
                </a:lnTo>
                <a:lnTo>
                  <a:pt x="327" y="56"/>
                </a:lnTo>
                <a:lnTo>
                  <a:pt x="314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7" name="Rectangle 255"/>
          <p:cNvSpPr>
            <a:spLocks noChangeArrowheads="1"/>
          </p:cNvSpPr>
          <p:nvPr/>
        </p:nvSpPr>
        <p:spPr bwMode="auto">
          <a:xfrm>
            <a:off x="6956425" y="396875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19488" name="Freeform 256"/>
          <p:cNvSpPr>
            <a:spLocks/>
          </p:cNvSpPr>
          <p:nvPr/>
        </p:nvSpPr>
        <p:spPr bwMode="auto">
          <a:xfrm>
            <a:off x="7327900" y="4398963"/>
            <a:ext cx="304800" cy="304800"/>
          </a:xfrm>
          <a:custGeom>
            <a:avLst/>
            <a:gdLst>
              <a:gd name="T0" fmla="*/ 2147483647 w 384"/>
              <a:gd name="T1" fmla="*/ 2147483647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2147483647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1"/>
                </a:lnTo>
                <a:lnTo>
                  <a:pt x="172" y="1"/>
                </a:lnTo>
                <a:lnTo>
                  <a:pt x="161" y="3"/>
                </a:lnTo>
                <a:lnTo>
                  <a:pt x="152" y="4"/>
                </a:lnTo>
                <a:lnTo>
                  <a:pt x="143" y="6"/>
                </a:lnTo>
                <a:lnTo>
                  <a:pt x="134" y="9"/>
                </a:lnTo>
                <a:lnTo>
                  <a:pt x="126" y="12"/>
                </a:lnTo>
                <a:lnTo>
                  <a:pt x="117" y="15"/>
                </a:lnTo>
                <a:lnTo>
                  <a:pt x="108" y="20"/>
                </a:lnTo>
                <a:lnTo>
                  <a:pt x="100" y="23"/>
                </a:lnTo>
                <a:lnTo>
                  <a:pt x="85" y="34"/>
                </a:lnTo>
                <a:lnTo>
                  <a:pt x="69" y="44"/>
                </a:lnTo>
                <a:lnTo>
                  <a:pt x="55" y="57"/>
                </a:lnTo>
                <a:lnTo>
                  <a:pt x="43" y="71"/>
                </a:lnTo>
                <a:lnTo>
                  <a:pt x="32" y="86"/>
                </a:lnTo>
                <a:lnTo>
                  <a:pt x="23" y="101"/>
                </a:lnTo>
                <a:lnTo>
                  <a:pt x="18" y="109"/>
                </a:lnTo>
                <a:lnTo>
                  <a:pt x="14" y="118"/>
                </a:lnTo>
                <a:lnTo>
                  <a:pt x="11" y="126"/>
                </a:lnTo>
                <a:lnTo>
                  <a:pt x="8" y="135"/>
                </a:lnTo>
                <a:lnTo>
                  <a:pt x="5" y="144"/>
                </a:lnTo>
                <a:lnTo>
                  <a:pt x="3" y="154"/>
                </a:lnTo>
                <a:lnTo>
                  <a:pt x="1" y="163"/>
                </a:lnTo>
                <a:lnTo>
                  <a:pt x="0" y="174"/>
                </a:lnTo>
                <a:lnTo>
                  <a:pt x="0" y="183"/>
                </a:lnTo>
                <a:lnTo>
                  <a:pt x="0" y="192"/>
                </a:lnTo>
                <a:lnTo>
                  <a:pt x="0" y="203"/>
                </a:lnTo>
                <a:lnTo>
                  <a:pt x="0" y="212"/>
                </a:lnTo>
                <a:lnTo>
                  <a:pt x="1" y="221"/>
                </a:lnTo>
                <a:lnTo>
                  <a:pt x="3" y="232"/>
                </a:lnTo>
                <a:lnTo>
                  <a:pt x="5" y="241"/>
                </a:lnTo>
                <a:lnTo>
                  <a:pt x="8" y="251"/>
                </a:lnTo>
                <a:lnTo>
                  <a:pt x="11" y="258"/>
                </a:lnTo>
                <a:lnTo>
                  <a:pt x="14" y="267"/>
                </a:lnTo>
                <a:lnTo>
                  <a:pt x="18" y="277"/>
                </a:lnTo>
                <a:lnTo>
                  <a:pt x="23" y="284"/>
                </a:lnTo>
                <a:lnTo>
                  <a:pt x="32" y="300"/>
                </a:lnTo>
                <a:lnTo>
                  <a:pt x="43" y="315"/>
                </a:lnTo>
                <a:lnTo>
                  <a:pt x="55" y="329"/>
                </a:lnTo>
                <a:lnTo>
                  <a:pt x="69" y="341"/>
                </a:lnTo>
                <a:lnTo>
                  <a:pt x="85" y="352"/>
                </a:lnTo>
                <a:lnTo>
                  <a:pt x="100" y="361"/>
                </a:lnTo>
                <a:lnTo>
                  <a:pt x="108" y="366"/>
                </a:lnTo>
                <a:lnTo>
                  <a:pt x="117" y="370"/>
                </a:lnTo>
                <a:lnTo>
                  <a:pt x="126" y="374"/>
                </a:lnTo>
                <a:lnTo>
                  <a:pt x="134" y="377"/>
                </a:lnTo>
                <a:lnTo>
                  <a:pt x="143" y="378"/>
                </a:lnTo>
                <a:lnTo>
                  <a:pt x="152" y="381"/>
                </a:lnTo>
                <a:lnTo>
                  <a:pt x="161" y="383"/>
                </a:lnTo>
                <a:lnTo>
                  <a:pt x="172" y="384"/>
                </a:lnTo>
                <a:lnTo>
                  <a:pt x="181" y="384"/>
                </a:lnTo>
                <a:lnTo>
                  <a:pt x="192" y="384"/>
                </a:lnTo>
                <a:lnTo>
                  <a:pt x="201" y="384"/>
                </a:lnTo>
                <a:lnTo>
                  <a:pt x="211" y="384"/>
                </a:lnTo>
                <a:lnTo>
                  <a:pt x="221" y="383"/>
                </a:lnTo>
                <a:lnTo>
                  <a:pt x="231" y="381"/>
                </a:lnTo>
                <a:lnTo>
                  <a:pt x="240" y="378"/>
                </a:lnTo>
                <a:lnTo>
                  <a:pt x="249" y="377"/>
                </a:lnTo>
                <a:lnTo>
                  <a:pt x="257" y="374"/>
                </a:lnTo>
                <a:lnTo>
                  <a:pt x="266" y="370"/>
                </a:lnTo>
                <a:lnTo>
                  <a:pt x="275" y="366"/>
                </a:lnTo>
                <a:lnTo>
                  <a:pt x="283" y="361"/>
                </a:lnTo>
                <a:lnTo>
                  <a:pt x="298" y="352"/>
                </a:lnTo>
                <a:lnTo>
                  <a:pt x="314" y="341"/>
                </a:lnTo>
                <a:lnTo>
                  <a:pt x="328" y="329"/>
                </a:lnTo>
                <a:lnTo>
                  <a:pt x="340" y="315"/>
                </a:lnTo>
                <a:lnTo>
                  <a:pt x="351" y="300"/>
                </a:lnTo>
                <a:lnTo>
                  <a:pt x="360" y="284"/>
                </a:lnTo>
                <a:lnTo>
                  <a:pt x="364" y="277"/>
                </a:lnTo>
                <a:lnTo>
                  <a:pt x="369" y="267"/>
                </a:lnTo>
                <a:lnTo>
                  <a:pt x="372" y="258"/>
                </a:lnTo>
                <a:lnTo>
                  <a:pt x="375" y="251"/>
                </a:lnTo>
                <a:lnTo>
                  <a:pt x="378" y="241"/>
                </a:lnTo>
                <a:lnTo>
                  <a:pt x="380" y="232"/>
                </a:lnTo>
                <a:lnTo>
                  <a:pt x="381" y="221"/>
                </a:lnTo>
                <a:lnTo>
                  <a:pt x="383" y="212"/>
                </a:lnTo>
                <a:lnTo>
                  <a:pt x="383" y="203"/>
                </a:lnTo>
                <a:lnTo>
                  <a:pt x="384" y="192"/>
                </a:lnTo>
                <a:lnTo>
                  <a:pt x="383" y="183"/>
                </a:lnTo>
                <a:lnTo>
                  <a:pt x="383" y="174"/>
                </a:lnTo>
                <a:lnTo>
                  <a:pt x="381" y="163"/>
                </a:lnTo>
                <a:lnTo>
                  <a:pt x="380" y="154"/>
                </a:lnTo>
                <a:lnTo>
                  <a:pt x="378" y="144"/>
                </a:lnTo>
                <a:lnTo>
                  <a:pt x="375" y="135"/>
                </a:lnTo>
                <a:lnTo>
                  <a:pt x="372" y="126"/>
                </a:lnTo>
                <a:lnTo>
                  <a:pt x="369" y="118"/>
                </a:lnTo>
                <a:lnTo>
                  <a:pt x="364" y="109"/>
                </a:lnTo>
                <a:lnTo>
                  <a:pt x="360" y="101"/>
                </a:lnTo>
                <a:lnTo>
                  <a:pt x="351" y="86"/>
                </a:lnTo>
                <a:lnTo>
                  <a:pt x="340" y="71"/>
                </a:lnTo>
                <a:lnTo>
                  <a:pt x="328" y="57"/>
                </a:lnTo>
                <a:lnTo>
                  <a:pt x="314" y="44"/>
                </a:lnTo>
                <a:lnTo>
                  <a:pt x="298" y="34"/>
                </a:lnTo>
                <a:lnTo>
                  <a:pt x="283" y="23"/>
                </a:lnTo>
                <a:lnTo>
                  <a:pt x="275" y="20"/>
                </a:lnTo>
                <a:lnTo>
                  <a:pt x="266" y="15"/>
                </a:lnTo>
                <a:lnTo>
                  <a:pt x="257" y="12"/>
                </a:lnTo>
                <a:lnTo>
                  <a:pt x="249" y="9"/>
                </a:lnTo>
                <a:lnTo>
                  <a:pt x="240" y="6"/>
                </a:lnTo>
                <a:lnTo>
                  <a:pt x="231" y="4"/>
                </a:lnTo>
                <a:lnTo>
                  <a:pt x="221" y="3"/>
                </a:lnTo>
                <a:lnTo>
                  <a:pt x="211" y="1"/>
                </a:lnTo>
                <a:lnTo>
                  <a:pt x="201" y="1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89" name="Rectangle 257"/>
          <p:cNvSpPr>
            <a:spLocks noChangeArrowheads="1"/>
          </p:cNvSpPr>
          <p:nvPr/>
        </p:nvSpPr>
        <p:spPr bwMode="auto">
          <a:xfrm>
            <a:off x="7415213" y="4403725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7</a:t>
            </a:r>
            <a:endParaRPr lang="en-GB" altLang="en-US"/>
          </a:p>
        </p:txBody>
      </p:sp>
      <p:sp>
        <p:nvSpPr>
          <p:cNvPr id="19490" name="Line 258"/>
          <p:cNvSpPr>
            <a:spLocks noChangeShapeType="1"/>
          </p:cNvSpPr>
          <p:nvPr/>
        </p:nvSpPr>
        <p:spPr bwMode="auto">
          <a:xfrm flipH="1">
            <a:off x="6523038" y="4189413"/>
            <a:ext cx="287337" cy="30162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1" name="Freeform 259"/>
          <p:cNvSpPr>
            <a:spLocks/>
          </p:cNvSpPr>
          <p:nvPr/>
        </p:nvSpPr>
        <p:spPr bwMode="auto">
          <a:xfrm>
            <a:off x="6261100" y="4433888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3" y="8"/>
                </a:lnTo>
                <a:lnTo>
                  <a:pt x="126" y="11"/>
                </a:lnTo>
                <a:lnTo>
                  <a:pt x="116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70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3" y="117"/>
                </a:lnTo>
                <a:lnTo>
                  <a:pt x="10" y="127"/>
                </a:lnTo>
                <a:lnTo>
                  <a:pt x="7" y="134"/>
                </a:lnTo>
                <a:lnTo>
                  <a:pt x="4" y="143"/>
                </a:lnTo>
                <a:lnTo>
                  <a:pt x="3" y="153"/>
                </a:lnTo>
                <a:lnTo>
                  <a:pt x="1" y="162"/>
                </a:lnTo>
                <a:lnTo>
                  <a:pt x="0" y="173"/>
                </a:lnTo>
                <a:lnTo>
                  <a:pt x="0" y="182"/>
                </a:lnTo>
                <a:lnTo>
                  <a:pt x="0" y="193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50"/>
                </a:lnTo>
                <a:lnTo>
                  <a:pt x="10" y="259"/>
                </a:lnTo>
                <a:lnTo>
                  <a:pt x="13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6" y="370"/>
                </a:lnTo>
                <a:lnTo>
                  <a:pt x="126" y="373"/>
                </a:lnTo>
                <a:lnTo>
                  <a:pt x="133" y="376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6"/>
                </a:lnTo>
                <a:lnTo>
                  <a:pt x="258" y="373"/>
                </a:lnTo>
                <a:lnTo>
                  <a:pt x="266" y="370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3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50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3"/>
                </a:lnTo>
                <a:lnTo>
                  <a:pt x="383" y="182"/>
                </a:lnTo>
                <a:lnTo>
                  <a:pt x="383" y="173"/>
                </a:lnTo>
                <a:lnTo>
                  <a:pt x="381" y="162"/>
                </a:lnTo>
                <a:lnTo>
                  <a:pt x="380" y="153"/>
                </a:lnTo>
                <a:lnTo>
                  <a:pt x="378" y="143"/>
                </a:lnTo>
                <a:lnTo>
                  <a:pt x="375" y="134"/>
                </a:lnTo>
                <a:lnTo>
                  <a:pt x="372" y="127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70"/>
                </a:lnTo>
                <a:lnTo>
                  <a:pt x="327" y="56"/>
                </a:lnTo>
                <a:lnTo>
                  <a:pt x="313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2" name="Line 260"/>
          <p:cNvSpPr>
            <a:spLocks noChangeShapeType="1"/>
          </p:cNvSpPr>
          <p:nvPr/>
        </p:nvSpPr>
        <p:spPr bwMode="auto">
          <a:xfrm>
            <a:off x="7604125" y="4678363"/>
            <a:ext cx="261938" cy="25717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3" name="Rectangle 262"/>
          <p:cNvSpPr>
            <a:spLocks noChangeArrowheads="1"/>
          </p:cNvSpPr>
          <p:nvPr/>
        </p:nvSpPr>
        <p:spPr bwMode="auto">
          <a:xfrm>
            <a:off x="7170738" y="494823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en-GB" altLang="en-US"/>
          </a:p>
        </p:txBody>
      </p:sp>
      <p:sp>
        <p:nvSpPr>
          <p:cNvPr id="19494" name="Freeform 263"/>
          <p:cNvSpPr>
            <a:spLocks/>
          </p:cNvSpPr>
          <p:nvPr/>
        </p:nvSpPr>
        <p:spPr bwMode="auto">
          <a:xfrm>
            <a:off x="7519988" y="5394325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5" name="Rectangle 264"/>
          <p:cNvSpPr>
            <a:spLocks noChangeArrowheads="1"/>
          </p:cNvSpPr>
          <p:nvPr/>
        </p:nvSpPr>
        <p:spPr bwMode="auto">
          <a:xfrm>
            <a:off x="7556500" y="542766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13</a:t>
            </a:r>
            <a:endParaRPr lang="en-GB" altLang="en-US"/>
          </a:p>
        </p:txBody>
      </p:sp>
      <p:grpSp>
        <p:nvGrpSpPr>
          <p:cNvPr id="19496" name="Group 266"/>
          <p:cNvGrpSpPr>
            <a:grpSpLocks/>
          </p:cNvGrpSpPr>
          <p:nvPr/>
        </p:nvGrpSpPr>
        <p:grpSpPr bwMode="auto">
          <a:xfrm>
            <a:off x="6854825" y="5467350"/>
            <a:ext cx="306388" cy="304800"/>
            <a:chOff x="5232" y="3168"/>
            <a:chExt cx="193" cy="192"/>
          </a:xfrm>
        </p:grpSpPr>
        <p:sp>
          <p:nvSpPr>
            <p:cNvPr id="19509" name="Freeform 267"/>
            <p:cNvSpPr>
              <a:spLocks/>
            </p:cNvSpPr>
            <p:nvPr/>
          </p:nvSpPr>
          <p:spPr bwMode="auto">
            <a:xfrm>
              <a:off x="5232" y="3168"/>
              <a:ext cx="193" cy="192"/>
            </a:xfrm>
            <a:custGeom>
              <a:avLst/>
              <a:gdLst>
                <a:gd name="T0" fmla="*/ 6 w 384"/>
                <a:gd name="T1" fmla="*/ 0 h 384"/>
                <a:gd name="T2" fmla="*/ 6 w 384"/>
                <a:gd name="T3" fmla="*/ 1 h 384"/>
                <a:gd name="T4" fmla="*/ 5 w 384"/>
                <a:gd name="T5" fmla="*/ 1 h 384"/>
                <a:gd name="T6" fmla="*/ 4 w 384"/>
                <a:gd name="T7" fmla="*/ 1 h 384"/>
                <a:gd name="T8" fmla="*/ 4 w 384"/>
                <a:gd name="T9" fmla="*/ 1 h 384"/>
                <a:gd name="T10" fmla="*/ 3 w 384"/>
                <a:gd name="T11" fmla="*/ 1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4 w 384"/>
                <a:gd name="T43" fmla="*/ 12 h 384"/>
                <a:gd name="T44" fmla="*/ 4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7 w 384"/>
                <a:gd name="T53" fmla="*/ 12 h 384"/>
                <a:gd name="T54" fmla="*/ 7 w 384"/>
                <a:gd name="T55" fmla="*/ 12 h 384"/>
                <a:gd name="T56" fmla="*/ 8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3 w 384"/>
                <a:gd name="T77" fmla="*/ 6 h 384"/>
                <a:gd name="T78" fmla="*/ 13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1 h 384"/>
                <a:gd name="T94" fmla="*/ 9 w 384"/>
                <a:gd name="T95" fmla="*/ 1 h 384"/>
                <a:gd name="T96" fmla="*/ 9 w 384"/>
                <a:gd name="T97" fmla="*/ 1 h 384"/>
                <a:gd name="T98" fmla="*/ 8 w 384"/>
                <a:gd name="T99" fmla="*/ 1 h 384"/>
                <a:gd name="T100" fmla="*/ 7 w 384"/>
                <a:gd name="T101" fmla="*/ 1 h 384"/>
                <a:gd name="T102" fmla="*/ 7 w 384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4" y="32"/>
                  </a:lnTo>
                  <a:lnTo>
                    <a:pt x="69" y="43"/>
                  </a:lnTo>
                  <a:lnTo>
                    <a:pt x="55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100"/>
                  </a:lnTo>
                  <a:lnTo>
                    <a:pt x="18" y="107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1" y="221"/>
                  </a:lnTo>
                  <a:lnTo>
                    <a:pt x="3" y="230"/>
                  </a:lnTo>
                  <a:lnTo>
                    <a:pt x="4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8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5" y="327"/>
                  </a:lnTo>
                  <a:lnTo>
                    <a:pt x="69" y="340"/>
                  </a:lnTo>
                  <a:lnTo>
                    <a:pt x="84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80"/>
                  </a:lnTo>
                  <a:lnTo>
                    <a:pt x="161" y="381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4"/>
                  </a:lnTo>
                  <a:lnTo>
                    <a:pt x="201" y="383"/>
                  </a:lnTo>
                  <a:lnTo>
                    <a:pt x="211" y="383"/>
                  </a:lnTo>
                  <a:lnTo>
                    <a:pt x="221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60"/>
                  </a:lnTo>
                  <a:lnTo>
                    <a:pt x="298" y="350"/>
                  </a:lnTo>
                  <a:lnTo>
                    <a:pt x="314" y="340"/>
                  </a:lnTo>
                  <a:lnTo>
                    <a:pt x="327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4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0"/>
                  </a:lnTo>
                  <a:lnTo>
                    <a:pt x="381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4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1" y="161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7" y="55"/>
                  </a:lnTo>
                  <a:lnTo>
                    <a:pt x="314" y="43"/>
                  </a:lnTo>
                  <a:lnTo>
                    <a:pt x="298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4"/>
                  </a:lnTo>
                  <a:lnTo>
                    <a:pt x="258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1" y="1"/>
                  </a:lnTo>
                  <a:lnTo>
                    <a:pt x="211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0" name="Rectangle 268"/>
            <p:cNvSpPr>
              <a:spLocks noChangeArrowheads="1"/>
            </p:cNvSpPr>
            <p:nvPr/>
          </p:nvSpPr>
          <p:spPr bwMode="auto">
            <a:xfrm>
              <a:off x="5270" y="316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</p:grpSp>
      <p:sp>
        <p:nvSpPr>
          <p:cNvPr id="19497" name="Freeform 269"/>
          <p:cNvSpPr>
            <a:spLocks/>
          </p:cNvSpPr>
          <p:nvPr/>
        </p:nvSpPr>
        <p:spPr bwMode="auto">
          <a:xfrm>
            <a:off x="7770813" y="4953000"/>
            <a:ext cx="382587" cy="276225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98" name="Rectangle 271"/>
          <p:cNvSpPr>
            <a:spLocks noChangeArrowheads="1"/>
          </p:cNvSpPr>
          <p:nvPr/>
        </p:nvSpPr>
        <p:spPr bwMode="auto">
          <a:xfrm>
            <a:off x="7848600" y="4953000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en-GB" altLang="en-US"/>
          </a:p>
        </p:txBody>
      </p:sp>
      <p:sp>
        <p:nvSpPr>
          <p:cNvPr id="19499" name="Rectangle 274"/>
          <p:cNvSpPr>
            <a:spLocks noChangeArrowheads="1"/>
          </p:cNvSpPr>
          <p:nvPr/>
        </p:nvSpPr>
        <p:spPr bwMode="auto">
          <a:xfrm>
            <a:off x="8212138" y="545306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15</a:t>
            </a:r>
            <a:endParaRPr lang="en-GB" altLang="en-US"/>
          </a:p>
        </p:txBody>
      </p:sp>
      <p:sp>
        <p:nvSpPr>
          <p:cNvPr id="19500" name="Freeform 275"/>
          <p:cNvSpPr>
            <a:spLocks/>
          </p:cNvSpPr>
          <p:nvPr/>
        </p:nvSpPr>
        <p:spPr bwMode="auto">
          <a:xfrm>
            <a:off x="8178800" y="5446713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1" name="Line 276"/>
          <p:cNvSpPr>
            <a:spLocks noChangeShapeType="1"/>
          </p:cNvSpPr>
          <p:nvPr/>
        </p:nvSpPr>
        <p:spPr bwMode="auto">
          <a:xfrm flipV="1">
            <a:off x="7697788" y="5214938"/>
            <a:ext cx="196850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2" name="Text Box 277"/>
          <p:cNvSpPr txBox="1">
            <a:spLocks noChangeArrowheads="1"/>
          </p:cNvSpPr>
          <p:nvPr/>
        </p:nvSpPr>
        <p:spPr bwMode="auto">
          <a:xfrm>
            <a:off x="7527925" y="42545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3</a:t>
            </a:r>
          </a:p>
        </p:txBody>
      </p:sp>
      <p:sp>
        <p:nvSpPr>
          <p:cNvPr id="19503" name="Text Box 278"/>
          <p:cNvSpPr txBox="1">
            <a:spLocks noChangeArrowheads="1"/>
          </p:cNvSpPr>
          <p:nvPr/>
        </p:nvSpPr>
        <p:spPr bwMode="auto">
          <a:xfrm>
            <a:off x="8153400" y="4876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2</a:t>
            </a:r>
          </a:p>
        </p:txBody>
      </p:sp>
      <p:sp>
        <p:nvSpPr>
          <p:cNvPr id="19504" name="Text Box 279"/>
          <p:cNvSpPr txBox="1">
            <a:spLocks noChangeArrowheads="1"/>
          </p:cNvSpPr>
          <p:nvPr/>
        </p:nvSpPr>
        <p:spPr bwMode="auto">
          <a:xfrm>
            <a:off x="6832600" y="461645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1</a:t>
            </a:r>
          </a:p>
        </p:txBody>
      </p:sp>
      <p:sp>
        <p:nvSpPr>
          <p:cNvPr id="19505" name="Line 281"/>
          <p:cNvSpPr>
            <a:spLocks noChangeShapeType="1"/>
          </p:cNvSpPr>
          <p:nvPr/>
        </p:nvSpPr>
        <p:spPr bwMode="auto">
          <a:xfrm flipH="1">
            <a:off x="7056438" y="5208588"/>
            <a:ext cx="101600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06" name="Text Box 282"/>
          <p:cNvSpPr txBox="1">
            <a:spLocks noChangeArrowheads="1"/>
          </p:cNvSpPr>
          <p:nvPr/>
        </p:nvSpPr>
        <p:spPr bwMode="auto">
          <a:xfrm>
            <a:off x="228600" y="3352800"/>
            <a:ext cx="411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solidFill>
                  <a:srgbClr val="0066FF"/>
                </a:solidFill>
                <a:latin typeface="Calibri" panose="020F0502020204030204" pitchFamily="34" charset="0"/>
              </a:rPr>
              <a:t>Again, right-left rotation required</a:t>
            </a:r>
          </a:p>
        </p:txBody>
      </p:sp>
      <p:sp>
        <p:nvSpPr>
          <p:cNvPr id="19507" name="Slide Number Placeholder 2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38AC16-14ED-40B5-BED1-36F5AC7D6988}" type="slidenum">
              <a:rPr lang="en-GB" altLang="en-US" smtClean="0"/>
              <a:pPr eaLnBrk="1" hangingPunct="1"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9788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715963"/>
          </a:xfrm>
        </p:spPr>
        <p:txBody>
          <a:bodyPr/>
          <a:lstStyle/>
          <a:p>
            <a:r>
              <a:rPr lang="en-GB" altLang="en-US"/>
              <a:t>Example continued</a:t>
            </a:r>
          </a:p>
        </p:txBody>
      </p:sp>
      <p:grpSp>
        <p:nvGrpSpPr>
          <p:cNvPr id="20483" name="Group 91"/>
          <p:cNvGrpSpPr>
            <a:grpSpLocks/>
          </p:cNvGrpSpPr>
          <p:nvPr/>
        </p:nvGrpSpPr>
        <p:grpSpPr bwMode="auto">
          <a:xfrm>
            <a:off x="381000" y="1143000"/>
            <a:ext cx="2649538" cy="1825625"/>
            <a:chOff x="240" y="720"/>
            <a:chExt cx="1669" cy="1150"/>
          </a:xfrm>
        </p:grpSpPr>
        <p:sp>
          <p:nvSpPr>
            <p:cNvPr id="20621" name="Line 5"/>
            <p:cNvSpPr>
              <a:spLocks noChangeShapeType="1"/>
            </p:cNvSpPr>
            <p:nvPr/>
          </p:nvSpPr>
          <p:spPr bwMode="auto">
            <a:xfrm flipH="1">
              <a:off x="1165" y="1192"/>
              <a:ext cx="64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2" name="Freeform 6"/>
            <p:cNvSpPr>
              <a:spLocks/>
            </p:cNvSpPr>
            <p:nvPr/>
          </p:nvSpPr>
          <p:spPr bwMode="auto">
            <a:xfrm>
              <a:off x="855" y="720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3" name="Rectangle 7"/>
            <p:cNvSpPr>
              <a:spLocks noChangeArrowheads="1"/>
            </p:cNvSpPr>
            <p:nvPr/>
          </p:nvSpPr>
          <p:spPr bwMode="auto">
            <a:xfrm>
              <a:off x="947" y="73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20624" name="Freeform 8"/>
            <p:cNvSpPr>
              <a:spLocks/>
            </p:cNvSpPr>
            <p:nvPr/>
          </p:nvSpPr>
          <p:spPr bwMode="auto">
            <a:xfrm>
              <a:off x="1181" y="1005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5" name="Line 9"/>
            <p:cNvSpPr>
              <a:spLocks noChangeShapeType="1"/>
            </p:cNvSpPr>
            <p:nvPr/>
          </p:nvSpPr>
          <p:spPr bwMode="auto">
            <a:xfrm>
              <a:off x="1043" y="866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6" name="Line 10"/>
            <p:cNvSpPr>
              <a:spLocks noChangeShapeType="1"/>
            </p:cNvSpPr>
            <p:nvPr/>
          </p:nvSpPr>
          <p:spPr bwMode="auto">
            <a:xfrm flipH="1">
              <a:off x="674" y="873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7" name="Freeform 11"/>
            <p:cNvSpPr>
              <a:spLocks/>
            </p:cNvSpPr>
            <p:nvPr/>
          </p:nvSpPr>
          <p:spPr bwMode="auto">
            <a:xfrm>
              <a:off x="509" y="1027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28" name="Rectangle 12"/>
            <p:cNvSpPr>
              <a:spLocks noChangeArrowheads="1"/>
            </p:cNvSpPr>
            <p:nvPr/>
          </p:nvSpPr>
          <p:spPr bwMode="auto">
            <a:xfrm>
              <a:off x="601" y="104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20629" name="Line 13"/>
            <p:cNvSpPr>
              <a:spLocks noChangeShapeType="1"/>
            </p:cNvSpPr>
            <p:nvPr/>
          </p:nvSpPr>
          <p:spPr bwMode="auto">
            <a:xfrm>
              <a:off x="1355" y="1181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0" name="Freeform 14"/>
            <p:cNvSpPr>
              <a:spLocks/>
            </p:cNvSpPr>
            <p:nvPr/>
          </p:nvSpPr>
          <p:spPr bwMode="auto">
            <a:xfrm>
              <a:off x="1032" y="1344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1" name="Line 15"/>
            <p:cNvSpPr>
              <a:spLocks noChangeShapeType="1"/>
            </p:cNvSpPr>
            <p:nvPr/>
          </p:nvSpPr>
          <p:spPr bwMode="auto">
            <a:xfrm>
              <a:off x="624" y="1219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2" name="Line 16"/>
            <p:cNvSpPr>
              <a:spLocks noChangeShapeType="1"/>
            </p:cNvSpPr>
            <p:nvPr/>
          </p:nvSpPr>
          <p:spPr bwMode="auto">
            <a:xfrm flipV="1">
              <a:off x="393" y="1219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3" name="Freeform 17"/>
            <p:cNvSpPr>
              <a:spLocks/>
            </p:cNvSpPr>
            <p:nvPr/>
          </p:nvSpPr>
          <p:spPr bwMode="auto">
            <a:xfrm>
              <a:off x="701" y="1373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4" name="Rectangle 18"/>
            <p:cNvSpPr>
              <a:spLocks noChangeArrowheads="1"/>
            </p:cNvSpPr>
            <p:nvPr/>
          </p:nvSpPr>
          <p:spPr bwMode="auto">
            <a:xfrm>
              <a:off x="794" y="138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  <p:sp>
          <p:nvSpPr>
            <p:cNvPr id="20635" name="Freeform 19"/>
            <p:cNvSpPr>
              <a:spLocks/>
            </p:cNvSpPr>
            <p:nvPr/>
          </p:nvSpPr>
          <p:spPr bwMode="auto">
            <a:xfrm>
              <a:off x="240" y="1335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6" name="Rectangle 20"/>
            <p:cNvSpPr>
              <a:spLocks noChangeArrowheads="1"/>
            </p:cNvSpPr>
            <p:nvPr/>
          </p:nvSpPr>
          <p:spPr bwMode="auto">
            <a:xfrm>
              <a:off x="332" y="134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20637" name="Line 21"/>
            <p:cNvSpPr>
              <a:spLocks noChangeShapeType="1"/>
            </p:cNvSpPr>
            <p:nvPr/>
          </p:nvSpPr>
          <p:spPr bwMode="auto">
            <a:xfrm>
              <a:off x="1597" y="1519"/>
              <a:ext cx="166" cy="16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8" name="Freeform 22"/>
            <p:cNvSpPr>
              <a:spLocks/>
            </p:cNvSpPr>
            <p:nvPr/>
          </p:nvSpPr>
          <p:spPr bwMode="auto">
            <a:xfrm>
              <a:off x="855" y="720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39" name="Rectangle 23"/>
            <p:cNvSpPr>
              <a:spLocks noChangeArrowheads="1"/>
            </p:cNvSpPr>
            <p:nvPr/>
          </p:nvSpPr>
          <p:spPr bwMode="auto">
            <a:xfrm>
              <a:off x="947" y="73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20640" name="Freeform 24"/>
            <p:cNvSpPr>
              <a:spLocks/>
            </p:cNvSpPr>
            <p:nvPr/>
          </p:nvSpPr>
          <p:spPr bwMode="auto">
            <a:xfrm>
              <a:off x="1181" y="1005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41" name="Rectangle 25"/>
            <p:cNvSpPr>
              <a:spLocks noChangeArrowheads="1"/>
            </p:cNvSpPr>
            <p:nvPr/>
          </p:nvSpPr>
          <p:spPr bwMode="auto">
            <a:xfrm>
              <a:off x="1236" y="100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GB" altLang="en-US"/>
            </a:p>
          </p:txBody>
        </p:sp>
        <p:sp>
          <p:nvSpPr>
            <p:cNvPr id="20642" name="Line 26"/>
            <p:cNvSpPr>
              <a:spLocks noChangeShapeType="1"/>
            </p:cNvSpPr>
            <p:nvPr/>
          </p:nvSpPr>
          <p:spPr bwMode="auto">
            <a:xfrm flipH="1">
              <a:off x="674" y="873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43" name="Freeform 27"/>
            <p:cNvSpPr>
              <a:spLocks/>
            </p:cNvSpPr>
            <p:nvPr/>
          </p:nvSpPr>
          <p:spPr bwMode="auto">
            <a:xfrm>
              <a:off x="509" y="1027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44" name="Line 28"/>
            <p:cNvSpPr>
              <a:spLocks noChangeShapeType="1"/>
            </p:cNvSpPr>
            <p:nvPr/>
          </p:nvSpPr>
          <p:spPr bwMode="auto">
            <a:xfrm>
              <a:off x="1355" y="1181"/>
              <a:ext cx="165" cy="1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45" name="Rectangle 29"/>
            <p:cNvSpPr>
              <a:spLocks noChangeArrowheads="1"/>
            </p:cNvSpPr>
            <p:nvPr/>
          </p:nvSpPr>
          <p:spPr bwMode="auto">
            <a:xfrm>
              <a:off x="1082" y="135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  <p:sp>
          <p:nvSpPr>
            <p:cNvPr id="20646" name="Freeform 30"/>
            <p:cNvSpPr>
              <a:spLocks/>
            </p:cNvSpPr>
            <p:nvPr/>
          </p:nvSpPr>
          <p:spPr bwMode="auto">
            <a:xfrm>
              <a:off x="1302" y="1632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47" name="Rectangle 31"/>
            <p:cNvSpPr>
              <a:spLocks noChangeArrowheads="1"/>
            </p:cNvSpPr>
            <p:nvPr/>
          </p:nvSpPr>
          <p:spPr bwMode="auto">
            <a:xfrm>
              <a:off x="1325" y="1653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13</a:t>
              </a:r>
              <a:endParaRPr lang="en-GB" altLang="en-US"/>
            </a:p>
          </p:txBody>
        </p:sp>
        <p:grpSp>
          <p:nvGrpSpPr>
            <p:cNvPr id="20648" name="Group 32"/>
            <p:cNvGrpSpPr>
              <a:grpSpLocks/>
            </p:cNvGrpSpPr>
            <p:nvPr/>
          </p:nvGrpSpPr>
          <p:grpSpPr bwMode="auto">
            <a:xfrm>
              <a:off x="883" y="1678"/>
              <a:ext cx="193" cy="192"/>
              <a:chOff x="5232" y="3168"/>
              <a:chExt cx="193" cy="192"/>
            </a:xfrm>
          </p:grpSpPr>
          <p:sp>
            <p:nvSpPr>
              <p:cNvPr id="20655" name="Freeform 33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656" name="Rectangle 34"/>
              <p:cNvSpPr>
                <a:spLocks noChangeArrowheads="1"/>
              </p:cNvSpPr>
              <p:nvPr/>
            </p:nvSpPr>
            <p:spPr bwMode="auto">
              <a:xfrm>
                <a:off x="5270" y="316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</p:grpSp>
        <p:sp>
          <p:nvSpPr>
            <p:cNvPr id="20649" name="Freeform 35"/>
            <p:cNvSpPr>
              <a:spLocks/>
            </p:cNvSpPr>
            <p:nvPr/>
          </p:nvSpPr>
          <p:spPr bwMode="auto">
            <a:xfrm>
              <a:off x="1460" y="1335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50" name="Rectangle 36"/>
            <p:cNvSpPr>
              <a:spLocks noChangeArrowheads="1"/>
            </p:cNvSpPr>
            <p:nvPr/>
          </p:nvSpPr>
          <p:spPr bwMode="auto">
            <a:xfrm>
              <a:off x="1509" y="1354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14</a:t>
              </a:r>
              <a:endParaRPr lang="en-GB" altLang="en-US"/>
            </a:p>
          </p:txBody>
        </p:sp>
        <p:sp>
          <p:nvSpPr>
            <p:cNvPr id="20651" name="Rectangle 37"/>
            <p:cNvSpPr>
              <a:spLocks noChangeArrowheads="1"/>
            </p:cNvSpPr>
            <p:nvPr/>
          </p:nvSpPr>
          <p:spPr bwMode="auto">
            <a:xfrm>
              <a:off x="1738" y="166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  <a:endParaRPr lang="en-GB" altLang="en-US"/>
            </a:p>
          </p:txBody>
        </p:sp>
        <p:sp>
          <p:nvSpPr>
            <p:cNvPr id="20652" name="Freeform 38"/>
            <p:cNvSpPr>
              <a:spLocks/>
            </p:cNvSpPr>
            <p:nvPr/>
          </p:nvSpPr>
          <p:spPr bwMode="auto">
            <a:xfrm>
              <a:off x="1717" y="1665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53" name="Line 39"/>
            <p:cNvSpPr>
              <a:spLocks noChangeShapeType="1"/>
            </p:cNvSpPr>
            <p:nvPr/>
          </p:nvSpPr>
          <p:spPr bwMode="auto">
            <a:xfrm flipV="1">
              <a:off x="1414" y="1519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654" name="Line 40"/>
            <p:cNvSpPr>
              <a:spLocks noChangeShapeType="1"/>
            </p:cNvSpPr>
            <p:nvPr/>
          </p:nvSpPr>
          <p:spPr bwMode="auto">
            <a:xfrm flipH="1">
              <a:off x="1010" y="1515"/>
              <a:ext cx="64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484" name="Group 41"/>
          <p:cNvGrpSpPr>
            <a:grpSpLocks/>
          </p:cNvGrpSpPr>
          <p:nvPr/>
        </p:nvGrpSpPr>
        <p:grpSpPr bwMode="auto">
          <a:xfrm>
            <a:off x="2798763" y="1071563"/>
            <a:ext cx="914400" cy="649287"/>
            <a:chOff x="53" y="3047"/>
            <a:chExt cx="576" cy="409"/>
          </a:xfrm>
        </p:grpSpPr>
        <p:sp>
          <p:nvSpPr>
            <p:cNvPr id="20619" name="AutoShape 42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sp>
          <p:nvSpPr>
            <p:cNvPr id="20620" name="Text Box 43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 dirty="0">
                  <a:latin typeface="Calibri" panose="020F0502020204030204" pitchFamily="34" charset="0"/>
                </a:rPr>
                <a:t>add 12</a:t>
              </a:r>
            </a:p>
          </p:txBody>
        </p:sp>
      </p:grpSp>
      <p:grpSp>
        <p:nvGrpSpPr>
          <p:cNvPr id="20485" name="Group 94"/>
          <p:cNvGrpSpPr>
            <a:grpSpLocks/>
          </p:cNvGrpSpPr>
          <p:nvPr/>
        </p:nvGrpSpPr>
        <p:grpSpPr bwMode="auto">
          <a:xfrm>
            <a:off x="3540125" y="1042988"/>
            <a:ext cx="2660650" cy="2184400"/>
            <a:chOff x="2208" y="2256"/>
            <a:chExt cx="1676" cy="1376"/>
          </a:xfrm>
        </p:grpSpPr>
        <p:sp>
          <p:nvSpPr>
            <p:cNvPr id="20578" name="Freeform 78"/>
            <p:cNvSpPr>
              <a:spLocks/>
            </p:cNvSpPr>
            <p:nvPr/>
          </p:nvSpPr>
          <p:spPr bwMode="auto">
            <a:xfrm>
              <a:off x="3692" y="318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0579" name="Group 93"/>
            <p:cNvGrpSpPr>
              <a:grpSpLocks/>
            </p:cNvGrpSpPr>
            <p:nvPr/>
          </p:nvGrpSpPr>
          <p:grpSpPr bwMode="auto">
            <a:xfrm>
              <a:off x="2208" y="2256"/>
              <a:ext cx="1650" cy="1376"/>
              <a:chOff x="2208" y="2256"/>
              <a:chExt cx="1650" cy="1376"/>
            </a:xfrm>
          </p:grpSpPr>
          <p:sp>
            <p:nvSpPr>
              <p:cNvPr id="20580" name="Freeform 70"/>
              <p:cNvSpPr>
                <a:spLocks/>
              </p:cNvSpPr>
              <p:nvPr/>
            </p:nvSpPr>
            <p:spPr bwMode="auto">
              <a:xfrm>
                <a:off x="3277" y="317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0581" name="Group 92"/>
              <p:cNvGrpSpPr>
                <a:grpSpLocks/>
              </p:cNvGrpSpPr>
              <p:nvPr/>
            </p:nvGrpSpPr>
            <p:grpSpPr bwMode="auto">
              <a:xfrm>
                <a:off x="2208" y="2256"/>
                <a:ext cx="1650" cy="1376"/>
                <a:chOff x="2208" y="1920"/>
                <a:chExt cx="1650" cy="1376"/>
              </a:xfrm>
            </p:grpSpPr>
            <p:sp>
              <p:nvSpPr>
                <p:cNvPr id="20582" name="Freeform 82"/>
                <p:cNvSpPr>
                  <a:spLocks/>
                </p:cNvSpPr>
                <p:nvPr/>
              </p:nvSpPr>
              <p:spPr bwMode="auto">
                <a:xfrm>
                  <a:off x="3037" y="3103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20583" name="Group 90"/>
                <p:cNvGrpSpPr>
                  <a:grpSpLocks/>
                </p:cNvGrpSpPr>
                <p:nvPr/>
              </p:nvGrpSpPr>
              <p:grpSpPr bwMode="auto">
                <a:xfrm>
                  <a:off x="2208" y="1920"/>
                  <a:ext cx="1650" cy="1364"/>
                  <a:chOff x="2291" y="652"/>
                  <a:chExt cx="1650" cy="1364"/>
                </a:xfrm>
              </p:grpSpPr>
              <p:sp>
                <p:nvSpPr>
                  <p:cNvPr id="20584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406" y="1113"/>
                    <a:ext cx="165" cy="162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20585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2291" y="652"/>
                    <a:ext cx="1650" cy="1364"/>
                    <a:chOff x="2291" y="652"/>
                    <a:chExt cx="1650" cy="1364"/>
                  </a:xfrm>
                </p:grpSpPr>
                <p:grpSp>
                  <p:nvGrpSpPr>
                    <p:cNvPr id="20586" name="Group 8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91" y="652"/>
                      <a:ext cx="1650" cy="1150"/>
                      <a:chOff x="2291" y="652"/>
                      <a:chExt cx="1650" cy="1150"/>
                    </a:xfrm>
                  </p:grpSpPr>
                  <p:sp>
                    <p:nvSpPr>
                      <p:cNvPr id="20589" name="Line 6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451"/>
                        <a:ext cx="166" cy="163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0590" name="Freeform 7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11" y="1267"/>
                        <a:ext cx="192" cy="193"/>
                      </a:xfrm>
                      <a:custGeom>
                        <a:avLst/>
                        <a:gdLst>
                          <a:gd name="T0" fmla="*/ 5 w 385"/>
                          <a:gd name="T1" fmla="*/ 0 h 384"/>
                          <a:gd name="T2" fmla="*/ 5 w 385"/>
                          <a:gd name="T3" fmla="*/ 1 h 384"/>
                          <a:gd name="T4" fmla="*/ 4 w 385"/>
                          <a:gd name="T5" fmla="*/ 1 h 384"/>
                          <a:gd name="T6" fmla="*/ 3 w 385"/>
                          <a:gd name="T7" fmla="*/ 1 h 384"/>
                          <a:gd name="T8" fmla="*/ 3 w 385"/>
                          <a:gd name="T9" fmla="*/ 1 h 384"/>
                          <a:gd name="T10" fmla="*/ 2 w 385"/>
                          <a:gd name="T11" fmla="*/ 1 h 384"/>
                          <a:gd name="T12" fmla="*/ 1 w 385"/>
                          <a:gd name="T13" fmla="*/ 2 h 384"/>
                          <a:gd name="T14" fmla="*/ 1 w 385"/>
                          <a:gd name="T15" fmla="*/ 3 h 384"/>
                          <a:gd name="T16" fmla="*/ 0 w 385"/>
                          <a:gd name="T17" fmla="*/ 4 h 384"/>
                          <a:gd name="T18" fmla="*/ 0 w 385"/>
                          <a:gd name="T19" fmla="*/ 4 h 384"/>
                          <a:gd name="T20" fmla="*/ 0 w 385"/>
                          <a:gd name="T21" fmla="*/ 5 h 384"/>
                          <a:gd name="T22" fmla="*/ 0 w 385"/>
                          <a:gd name="T23" fmla="*/ 6 h 384"/>
                          <a:gd name="T24" fmla="*/ 0 w 385"/>
                          <a:gd name="T25" fmla="*/ 6 h 384"/>
                          <a:gd name="T26" fmla="*/ 0 w 385"/>
                          <a:gd name="T27" fmla="*/ 7 h 384"/>
                          <a:gd name="T28" fmla="*/ 0 w 385"/>
                          <a:gd name="T29" fmla="*/ 7 h 384"/>
                          <a:gd name="T30" fmla="*/ 0 w 385"/>
                          <a:gd name="T31" fmla="*/ 8 h 384"/>
                          <a:gd name="T32" fmla="*/ 0 w 385"/>
                          <a:gd name="T33" fmla="*/ 9 h 384"/>
                          <a:gd name="T34" fmla="*/ 0 w 385"/>
                          <a:gd name="T35" fmla="*/ 9 h 384"/>
                          <a:gd name="T36" fmla="*/ 1 w 385"/>
                          <a:gd name="T37" fmla="*/ 10 h 384"/>
                          <a:gd name="T38" fmla="*/ 1 w 385"/>
                          <a:gd name="T39" fmla="*/ 11 h 384"/>
                          <a:gd name="T40" fmla="*/ 2 w 385"/>
                          <a:gd name="T41" fmla="*/ 11 h 384"/>
                          <a:gd name="T42" fmla="*/ 3 w 385"/>
                          <a:gd name="T43" fmla="*/ 12 h 384"/>
                          <a:gd name="T44" fmla="*/ 3 w 385"/>
                          <a:gd name="T45" fmla="*/ 12 h 384"/>
                          <a:gd name="T46" fmla="*/ 4 w 385"/>
                          <a:gd name="T47" fmla="*/ 12 h 384"/>
                          <a:gd name="T48" fmla="*/ 5 w 385"/>
                          <a:gd name="T49" fmla="*/ 12 h 384"/>
                          <a:gd name="T50" fmla="*/ 5 w 385"/>
                          <a:gd name="T51" fmla="*/ 13 h 384"/>
                          <a:gd name="T52" fmla="*/ 6 w 385"/>
                          <a:gd name="T53" fmla="*/ 13 h 384"/>
                          <a:gd name="T54" fmla="*/ 6 w 385"/>
                          <a:gd name="T55" fmla="*/ 12 h 384"/>
                          <a:gd name="T56" fmla="*/ 7 w 385"/>
                          <a:gd name="T57" fmla="*/ 12 h 384"/>
                          <a:gd name="T58" fmla="*/ 8 w 385"/>
                          <a:gd name="T59" fmla="*/ 12 h 384"/>
                          <a:gd name="T60" fmla="*/ 8 w 385"/>
                          <a:gd name="T61" fmla="*/ 12 h 384"/>
                          <a:gd name="T62" fmla="*/ 9 w 385"/>
                          <a:gd name="T63" fmla="*/ 11 h 384"/>
                          <a:gd name="T64" fmla="*/ 10 w 385"/>
                          <a:gd name="T65" fmla="*/ 11 h 384"/>
                          <a:gd name="T66" fmla="*/ 10 w 385"/>
                          <a:gd name="T67" fmla="*/ 10 h 384"/>
                          <a:gd name="T68" fmla="*/ 11 w 385"/>
                          <a:gd name="T69" fmla="*/ 9 h 384"/>
                          <a:gd name="T70" fmla="*/ 11 w 385"/>
                          <a:gd name="T71" fmla="*/ 9 h 384"/>
                          <a:gd name="T72" fmla="*/ 11 w 385"/>
                          <a:gd name="T73" fmla="*/ 8 h 384"/>
                          <a:gd name="T74" fmla="*/ 11 w 385"/>
                          <a:gd name="T75" fmla="*/ 7 h 384"/>
                          <a:gd name="T76" fmla="*/ 11 w 385"/>
                          <a:gd name="T77" fmla="*/ 7 h 384"/>
                          <a:gd name="T78" fmla="*/ 11 w 385"/>
                          <a:gd name="T79" fmla="*/ 6 h 384"/>
                          <a:gd name="T80" fmla="*/ 11 w 385"/>
                          <a:gd name="T81" fmla="*/ 6 h 384"/>
                          <a:gd name="T82" fmla="*/ 11 w 385"/>
                          <a:gd name="T83" fmla="*/ 5 h 384"/>
                          <a:gd name="T84" fmla="*/ 11 w 385"/>
                          <a:gd name="T85" fmla="*/ 4 h 384"/>
                          <a:gd name="T86" fmla="*/ 11 w 385"/>
                          <a:gd name="T87" fmla="*/ 4 h 384"/>
                          <a:gd name="T88" fmla="*/ 10 w 385"/>
                          <a:gd name="T89" fmla="*/ 3 h 384"/>
                          <a:gd name="T90" fmla="*/ 10 w 385"/>
                          <a:gd name="T91" fmla="*/ 2 h 384"/>
                          <a:gd name="T92" fmla="*/ 9 w 385"/>
                          <a:gd name="T93" fmla="*/ 1 h 384"/>
                          <a:gd name="T94" fmla="*/ 8 w 385"/>
                          <a:gd name="T95" fmla="*/ 1 h 384"/>
                          <a:gd name="T96" fmla="*/ 8 w 385"/>
                          <a:gd name="T97" fmla="*/ 1 h 384"/>
                          <a:gd name="T98" fmla="*/ 7 w 385"/>
                          <a:gd name="T99" fmla="*/ 1 h 384"/>
                          <a:gd name="T100" fmla="*/ 6 w 385"/>
                          <a:gd name="T101" fmla="*/ 1 h 384"/>
                          <a:gd name="T102" fmla="*/ 6 w 385"/>
                          <a:gd name="T103" fmla="*/ 0 h 384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  <a:gd name="T150" fmla="*/ 0 60000 65536"/>
                          <a:gd name="T151" fmla="*/ 0 60000 65536"/>
                          <a:gd name="T152" fmla="*/ 0 60000 65536"/>
                          <a:gd name="T153" fmla="*/ 0 60000 65536"/>
                          <a:gd name="T154" fmla="*/ 0 60000 65536"/>
                          <a:gd name="T155" fmla="*/ 0 60000 65536"/>
                          <a:gd name="T156" fmla="*/ 0 w 385"/>
                          <a:gd name="T157" fmla="*/ 0 h 384"/>
                          <a:gd name="T158" fmla="*/ 385 w 385"/>
                          <a:gd name="T159" fmla="*/ 384 h 384"/>
                        </a:gdLst>
                        <a:ahLst/>
                        <a:cxnLst>
                          <a:cxn ang="T104">
                            <a:pos x="T0" y="T1"/>
                          </a:cxn>
                          <a:cxn ang="T105">
                            <a:pos x="T2" y="T3"/>
                          </a:cxn>
                          <a:cxn ang="T106">
                            <a:pos x="T4" y="T5"/>
                          </a:cxn>
                          <a:cxn ang="T107">
                            <a:pos x="T6" y="T7"/>
                          </a:cxn>
                          <a:cxn ang="T108">
                            <a:pos x="T8" y="T9"/>
                          </a:cxn>
                          <a:cxn ang="T109">
                            <a:pos x="T10" y="T11"/>
                          </a:cxn>
                          <a:cxn ang="T110">
                            <a:pos x="T12" y="T13"/>
                          </a:cxn>
                          <a:cxn ang="T111">
                            <a:pos x="T14" y="T15"/>
                          </a:cxn>
                          <a:cxn ang="T112">
                            <a:pos x="T16" y="T17"/>
                          </a:cxn>
                          <a:cxn ang="T113">
                            <a:pos x="T18" y="T19"/>
                          </a:cxn>
                          <a:cxn ang="T114">
                            <a:pos x="T20" y="T21"/>
                          </a:cxn>
                          <a:cxn ang="T115">
                            <a:pos x="T22" y="T23"/>
                          </a:cxn>
                          <a:cxn ang="T116">
                            <a:pos x="T24" y="T25"/>
                          </a:cxn>
                          <a:cxn ang="T117">
                            <a:pos x="T26" y="T27"/>
                          </a:cxn>
                          <a:cxn ang="T118">
                            <a:pos x="T28" y="T29"/>
                          </a:cxn>
                          <a:cxn ang="T119">
                            <a:pos x="T30" y="T31"/>
                          </a:cxn>
                          <a:cxn ang="T120">
                            <a:pos x="T32" y="T33"/>
                          </a:cxn>
                          <a:cxn ang="T121">
                            <a:pos x="T34" y="T35"/>
                          </a:cxn>
                          <a:cxn ang="T122">
                            <a:pos x="T36" y="T37"/>
                          </a:cxn>
                          <a:cxn ang="T123">
                            <a:pos x="T38" y="T39"/>
                          </a:cxn>
                          <a:cxn ang="T124">
                            <a:pos x="T40" y="T41"/>
                          </a:cxn>
                          <a:cxn ang="T125">
                            <a:pos x="T42" y="T43"/>
                          </a:cxn>
                          <a:cxn ang="T126">
                            <a:pos x="T44" y="T45"/>
                          </a:cxn>
                          <a:cxn ang="T127">
                            <a:pos x="T46" y="T47"/>
                          </a:cxn>
                          <a:cxn ang="T128">
                            <a:pos x="T48" y="T49"/>
                          </a:cxn>
                          <a:cxn ang="T129">
                            <a:pos x="T50" y="T51"/>
                          </a:cxn>
                          <a:cxn ang="T130">
                            <a:pos x="T52" y="T53"/>
                          </a:cxn>
                          <a:cxn ang="T131">
                            <a:pos x="T54" y="T55"/>
                          </a:cxn>
                          <a:cxn ang="T132">
                            <a:pos x="T56" y="T57"/>
                          </a:cxn>
                          <a:cxn ang="T133">
                            <a:pos x="T58" y="T59"/>
                          </a:cxn>
                          <a:cxn ang="T134">
                            <a:pos x="T60" y="T61"/>
                          </a:cxn>
                          <a:cxn ang="T135">
                            <a:pos x="T62" y="T63"/>
                          </a:cxn>
                          <a:cxn ang="T136">
                            <a:pos x="T64" y="T65"/>
                          </a:cxn>
                          <a:cxn ang="T137">
                            <a:pos x="T66" y="T67"/>
                          </a:cxn>
                          <a:cxn ang="T138">
                            <a:pos x="T68" y="T69"/>
                          </a:cxn>
                          <a:cxn ang="T139">
                            <a:pos x="T70" y="T71"/>
                          </a:cxn>
                          <a:cxn ang="T140">
                            <a:pos x="T72" y="T73"/>
                          </a:cxn>
                          <a:cxn ang="T141">
                            <a:pos x="T74" y="T75"/>
                          </a:cxn>
                          <a:cxn ang="T142">
                            <a:pos x="T76" y="T77"/>
                          </a:cxn>
                          <a:cxn ang="T143">
                            <a:pos x="T78" y="T79"/>
                          </a:cxn>
                          <a:cxn ang="T144">
                            <a:pos x="T80" y="T81"/>
                          </a:cxn>
                          <a:cxn ang="T145">
                            <a:pos x="T82" y="T83"/>
                          </a:cxn>
                          <a:cxn ang="T146">
                            <a:pos x="T84" y="T85"/>
                          </a:cxn>
                          <a:cxn ang="T147">
                            <a:pos x="T86" y="T87"/>
                          </a:cxn>
                          <a:cxn ang="T148">
                            <a:pos x="T88" y="T89"/>
                          </a:cxn>
                          <a:cxn ang="T149">
                            <a:pos x="T90" y="T91"/>
                          </a:cxn>
                          <a:cxn ang="T150">
                            <a:pos x="T92" y="T93"/>
                          </a:cxn>
                          <a:cxn ang="T151">
                            <a:pos x="T94" y="T95"/>
                          </a:cxn>
                          <a:cxn ang="T152">
                            <a:pos x="T96" y="T97"/>
                          </a:cxn>
                          <a:cxn ang="T153">
                            <a:pos x="T98" y="T99"/>
                          </a:cxn>
                          <a:cxn ang="T154">
                            <a:pos x="T100" y="T101"/>
                          </a:cxn>
                          <a:cxn ang="T155">
                            <a:pos x="T102" y="T103"/>
                          </a:cxn>
                        </a:cxnLst>
                        <a:rect l="T156" t="T157" r="T158" b="T159"/>
                        <a:pathLst>
                          <a:path w="385" h="384">
                            <a:moveTo>
                              <a:pt x="193" y="0"/>
                            </a:moveTo>
                            <a:lnTo>
                              <a:pt x="182" y="0"/>
                            </a:lnTo>
                            <a:lnTo>
                              <a:pt x="173" y="0"/>
                            </a:lnTo>
                            <a:lnTo>
                              <a:pt x="162" y="1"/>
                            </a:lnTo>
                            <a:lnTo>
                              <a:pt x="153" y="3"/>
                            </a:lnTo>
                            <a:lnTo>
                              <a:pt x="143" y="5"/>
                            </a:lnTo>
                            <a:lnTo>
                              <a:pt x="134" y="8"/>
                            </a:lnTo>
                            <a:lnTo>
                              <a:pt x="127" y="11"/>
                            </a:lnTo>
                            <a:lnTo>
                              <a:pt x="117" y="14"/>
                            </a:lnTo>
                            <a:lnTo>
                              <a:pt x="108" y="18"/>
                            </a:lnTo>
                            <a:lnTo>
                              <a:pt x="100" y="23"/>
                            </a:lnTo>
                            <a:lnTo>
                              <a:pt x="85" y="32"/>
                            </a:lnTo>
                            <a:lnTo>
                              <a:pt x="70" y="43"/>
                            </a:lnTo>
                            <a:lnTo>
                              <a:pt x="56" y="55"/>
                            </a:lnTo>
                            <a:lnTo>
                              <a:pt x="43" y="69"/>
                            </a:lnTo>
                            <a:lnTo>
                              <a:pt x="33" y="84"/>
                            </a:lnTo>
                            <a:lnTo>
                              <a:pt x="23" y="100"/>
                            </a:lnTo>
                            <a:lnTo>
                              <a:pt x="19" y="108"/>
                            </a:lnTo>
                            <a:lnTo>
                              <a:pt x="14" y="117"/>
                            </a:lnTo>
                            <a:lnTo>
                              <a:pt x="11" y="126"/>
                            </a:lnTo>
                            <a:lnTo>
                              <a:pt x="8" y="134"/>
                            </a:lnTo>
                            <a:lnTo>
                              <a:pt x="5" y="143"/>
                            </a:lnTo>
                            <a:lnTo>
                              <a:pt x="3" y="152"/>
                            </a:lnTo>
                            <a:lnTo>
                              <a:pt x="2" y="161"/>
                            </a:lnTo>
                            <a:lnTo>
                              <a:pt x="0" y="172"/>
                            </a:lnTo>
                            <a:lnTo>
                              <a:pt x="0" y="181"/>
                            </a:lnTo>
                            <a:lnTo>
                              <a:pt x="0" y="192"/>
                            </a:lnTo>
                            <a:lnTo>
                              <a:pt x="0" y="201"/>
                            </a:lnTo>
                            <a:lnTo>
                              <a:pt x="0" y="211"/>
                            </a:lnTo>
                            <a:lnTo>
                              <a:pt x="2" y="221"/>
                            </a:lnTo>
                            <a:lnTo>
                              <a:pt x="3" y="231"/>
                            </a:lnTo>
                            <a:lnTo>
                              <a:pt x="5" y="240"/>
                            </a:lnTo>
                            <a:lnTo>
                              <a:pt x="8" y="249"/>
                            </a:lnTo>
                            <a:lnTo>
                              <a:pt x="11" y="258"/>
                            </a:lnTo>
                            <a:lnTo>
                              <a:pt x="14" y="266"/>
                            </a:lnTo>
                            <a:lnTo>
                              <a:pt x="19" y="275"/>
                            </a:lnTo>
                            <a:lnTo>
                              <a:pt x="23" y="283"/>
                            </a:lnTo>
                            <a:lnTo>
                              <a:pt x="33" y="300"/>
                            </a:lnTo>
                            <a:lnTo>
                              <a:pt x="43" y="314"/>
                            </a:lnTo>
                            <a:lnTo>
                              <a:pt x="56" y="327"/>
                            </a:lnTo>
                            <a:lnTo>
                              <a:pt x="70" y="340"/>
                            </a:lnTo>
                            <a:lnTo>
                              <a:pt x="85" y="351"/>
                            </a:lnTo>
                            <a:lnTo>
                              <a:pt x="100" y="360"/>
                            </a:lnTo>
                            <a:lnTo>
                              <a:pt x="108" y="364"/>
                            </a:lnTo>
                            <a:lnTo>
                              <a:pt x="117" y="369"/>
                            </a:lnTo>
                            <a:lnTo>
                              <a:pt x="127" y="372"/>
                            </a:lnTo>
                            <a:lnTo>
                              <a:pt x="134" y="375"/>
                            </a:lnTo>
                            <a:lnTo>
                              <a:pt x="143" y="378"/>
                            </a:lnTo>
                            <a:lnTo>
                              <a:pt x="153" y="380"/>
                            </a:lnTo>
                            <a:lnTo>
                              <a:pt x="162" y="381"/>
                            </a:lnTo>
                            <a:lnTo>
                              <a:pt x="173" y="383"/>
                            </a:lnTo>
                            <a:lnTo>
                              <a:pt x="182" y="383"/>
                            </a:lnTo>
                            <a:lnTo>
                              <a:pt x="193" y="384"/>
                            </a:lnTo>
                            <a:lnTo>
                              <a:pt x="202" y="383"/>
                            </a:lnTo>
                            <a:lnTo>
                              <a:pt x="211" y="383"/>
                            </a:lnTo>
                            <a:lnTo>
                              <a:pt x="222" y="381"/>
                            </a:lnTo>
                            <a:lnTo>
                              <a:pt x="231" y="380"/>
                            </a:lnTo>
                            <a:lnTo>
                              <a:pt x="240" y="378"/>
                            </a:lnTo>
                            <a:lnTo>
                              <a:pt x="250" y="375"/>
                            </a:lnTo>
                            <a:lnTo>
                              <a:pt x="259" y="372"/>
                            </a:lnTo>
                            <a:lnTo>
                              <a:pt x="266" y="369"/>
                            </a:lnTo>
                            <a:lnTo>
                              <a:pt x="276" y="364"/>
                            </a:lnTo>
                            <a:lnTo>
                              <a:pt x="283" y="360"/>
                            </a:lnTo>
                            <a:lnTo>
                              <a:pt x="300" y="351"/>
                            </a:lnTo>
                            <a:lnTo>
                              <a:pt x="314" y="340"/>
                            </a:lnTo>
                            <a:lnTo>
                              <a:pt x="328" y="327"/>
                            </a:lnTo>
                            <a:lnTo>
                              <a:pt x="340" y="314"/>
                            </a:lnTo>
                            <a:lnTo>
                              <a:pt x="351" y="300"/>
                            </a:lnTo>
                            <a:lnTo>
                              <a:pt x="360" y="283"/>
                            </a:lnTo>
                            <a:lnTo>
                              <a:pt x="365" y="275"/>
                            </a:lnTo>
                            <a:lnTo>
                              <a:pt x="370" y="266"/>
                            </a:lnTo>
                            <a:lnTo>
                              <a:pt x="373" y="258"/>
                            </a:lnTo>
                            <a:lnTo>
                              <a:pt x="376" y="249"/>
                            </a:lnTo>
                            <a:lnTo>
                              <a:pt x="379" y="240"/>
                            </a:lnTo>
                            <a:lnTo>
                              <a:pt x="380" y="231"/>
                            </a:lnTo>
                            <a:lnTo>
                              <a:pt x="382" y="221"/>
                            </a:lnTo>
                            <a:lnTo>
                              <a:pt x="383" y="211"/>
                            </a:lnTo>
                            <a:lnTo>
                              <a:pt x="383" y="201"/>
                            </a:lnTo>
                            <a:lnTo>
                              <a:pt x="385" y="192"/>
                            </a:lnTo>
                            <a:lnTo>
                              <a:pt x="383" y="181"/>
                            </a:lnTo>
                            <a:lnTo>
                              <a:pt x="383" y="172"/>
                            </a:lnTo>
                            <a:lnTo>
                              <a:pt x="382" y="161"/>
                            </a:lnTo>
                            <a:lnTo>
                              <a:pt x="380" y="152"/>
                            </a:lnTo>
                            <a:lnTo>
                              <a:pt x="379" y="143"/>
                            </a:lnTo>
                            <a:lnTo>
                              <a:pt x="376" y="134"/>
                            </a:lnTo>
                            <a:lnTo>
                              <a:pt x="373" y="126"/>
                            </a:lnTo>
                            <a:lnTo>
                              <a:pt x="370" y="117"/>
                            </a:lnTo>
                            <a:lnTo>
                              <a:pt x="365" y="108"/>
                            </a:lnTo>
                            <a:lnTo>
                              <a:pt x="360" y="100"/>
                            </a:lnTo>
                            <a:lnTo>
                              <a:pt x="351" y="84"/>
                            </a:lnTo>
                            <a:lnTo>
                              <a:pt x="340" y="69"/>
                            </a:lnTo>
                            <a:lnTo>
                              <a:pt x="328" y="55"/>
                            </a:lnTo>
                            <a:lnTo>
                              <a:pt x="314" y="43"/>
                            </a:lnTo>
                            <a:lnTo>
                              <a:pt x="300" y="32"/>
                            </a:lnTo>
                            <a:lnTo>
                              <a:pt x="283" y="23"/>
                            </a:lnTo>
                            <a:lnTo>
                              <a:pt x="276" y="18"/>
                            </a:lnTo>
                            <a:lnTo>
                              <a:pt x="266" y="14"/>
                            </a:lnTo>
                            <a:lnTo>
                              <a:pt x="259" y="11"/>
                            </a:lnTo>
                            <a:lnTo>
                              <a:pt x="250" y="8"/>
                            </a:lnTo>
                            <a:lnTo>
                              <a:pt x="240" y="5"/>
                            </a:lnTo>
                            <a:lnTo>
                              <a:pt x="231" y="3"/>
                            </a:lnTo>
                            <a:lnTo>
                              <a:pt x="222" y="1"/>
                            </a:lnTo>
                            <a:lnTo>
                              <a:pt x="211" y="0"/>
                            </a:lnTo>
                            <a:lnTo>
                              <a:pt x="202" y="0"/>
                            </a:lnTo>
                            <a:lnTo>
                              <a:pt x="193" y="0"/>
                            </a:lnTo>
                          </a:path>
                        </a:pathLst>
                      </a:cu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0591" name="Rectangle 7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60" y="1286"/>
                        <a:ext cx="152" cy="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0" tIns="0" rIns="0" bIns="0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eaLnBrk="1" hangingPunct="1"/>
                        <a:r>
                          <a:rPr lang="en-GB" altLang="en-US" sz="1900">
                            <a:solidFill>
                              <a:srgbClr val="000000"/>
                            </a:solidFill>
                            <a:latin typeface="Times New Roman" pitchFamily="18" charset="0"/>
                          </a:rPr>
                          <a:t>14</a:t>
                        </a:r>
                        <a:endParaRPr lang="en-GB" altLang="en-US"/>
                      </a:p>
                    </p:txBody>
                  </p:sp>
                  <p:sp>
                    <p:nvSpPr>
                      <p:cNvPr id="20592" name="Rectangle 7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89" y="1601"/>
                        <a:ext cx="152" cy="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0" tIns="0" rIns="0" bIns="0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eaLnBrk="1" hangingPunct="1"/>
                        <a:r>
                          <a:rPr lang="en-GB" altLang="en-US" sz="1900">
                            <a:solidFill>
                              <a:srgbClr val="000000"/>
                            </a:solidFill>
                            <a:latin typeface="Times New Roman" pitchFamily="18" charset="0"/>
                          </a:rPr>
                          <a:t>15</a:t>
                        </a:r>
                        <a:endParaRPr lang="en-GB" altLang="en-US"/>
                      </a:p>
                    </p:txBody>
                  </p:sp>
                  <p:sp>
                    <p:nvSpPr>
                      <p:cNvPr id="20593" name="Line 7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56" y="1440"/>
                        <a:ext cx="124" cy="116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grpSp>
                    <p:nvGrpSpPr>
                      <p:cNvPr id="20594" name="Group 8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91" y="652"/>
                        <a:ext cx="1237" cy="1150"/>
                        <a:chOff x="2291" y="652"/>
                        <a:chExt cx="1237" cy="1150"/>
                      </a:xfrm>
                    </p:grpSpPr>
                    <p:sp>
                      <p:nvSpPr>
                        <p:cNvPr id="20595" name="Rectangle 7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376" y="1585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0" tIns="0" rIns="0" bIns="0"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742950" indent="-28575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11430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6002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20574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GB" altLang="en-US" sz="190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13</a:t>
                          </a:r>
                          <a:endParaRPr lang="en-GB" altLang="en-US"/>
                        </a:p>
                      </p:txBody>
                    </p:sp>
                    <p:grpSp>
                      <p:nvGrpSpPr>
                        <p:cNvPr id="20596" name="Group 8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91" y="652"/>
                          <a:ext cx="1133" cy="1150"/>
                          <a:chOff x="2291" y="652"/>
                          <a:chExt cx="1133" cy="1150"/>
                        </a:xfrm>
                      </p:grpSpPr>
                      <p:sp>
                        <p:nvSpPr>
                          <p:cNvPr id="20597" name="Line 4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216" y="1124"/>
                            <a:ext cx="64" cy="151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98" name="Freeform 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083" y="1276"/>
                            <a:ext cx="192" cy="192"/>
                          </a:xfrm>
                          <a:custGeom>
                            <a:avLst/>
                            <a:gdLst>
                              <a:gd name="T0" fmla="*/ 5 w 385"/>
                              <a:gd name="T1" fmla="*/ 0 h 384"/>
                              <a:gd name="T2" fmla="*/ 5 w 385"/>
                              <a:gd name="T3" fmla="*/ 1 h 384"/>
                              <a:gd name="T4" fmla="*/ 4 w 385"/>
                              <a:gd name="T5" fmla="*/ 1 h 384"/>
                              <a:gd name="T6" fmla="*/ 3 w 385"/>
                              <a:gd name="T7" fmla="*/ 1 h 384"/>
                              <a:gd name="T8" fmla="*/ 3 w 385"/>
                              <a:gd name="T9" fmla="*/ 1 h 384"/>
                              <a:gd name="T10" fmla="*/ 2 w 385"/>
                              <a:gd name="T11" fmla="*/ 1 h 384"/>
                              <a:gd name="T12" fmla="*/ 1 w 385"/>
                              <a:gd name="T13" fmla="*/ 2 h 384"/>
                              <a:gd name="T14" fmla="*/ 1 w 385"/>
                              <a:gd name="T15" fmla="*/ 3 h 384"/>
                              <a:gd name="T16" fmla="*/ 0 w 385"/>
                              <a:gd name="T17" fmla="*/ 3 h 384"/>
                              <a:gd name="T18" fmla="*/ 0 w 385"/>
                              <a:gd name="T19" fmla="*/ 3 h 384"/>
                              <a:gd name="T20" fmla="*/ 0 w 385"/>
                              <a:gd name="T21" fmla="*/ 5 h 384"/>
                              <a:gd name="T22" fmla="*/ 0 w 385"/>
                              <a:gd name="T23" fmla="*/ 6 h 384"/>
                              <a:gd name="T24" fmla="*/ 0 w 385"/>
                              <a:gd name="T25" fmla="*/ 6 h 384"/>
                              <a:gd name="T26" fmla="*/ 0 w 385"/>
                              <a:gd name="T27" fmla="*/ 6 h 384"/>
                              <a:gd name="T28" fmla="*/ 0 w 385"/>
                              <a:gd name="T29" fmla="*/ 6 h 384"/>
                              <a:gd name="T30" fmla="*/ 0 w 385"/>
                              <a:gd name="T31" fmla="*/ 7 h 384"/>
                              <a:gd name="T32" fmla="*/ 0 w 385"/>
                              <a:gd name="T33" fmla="*/ 9 h 384"/>
                              <a:gd name="T34" fmla="*/ 0 w 385"/>
                              <a:gd name="T35" fmla="*/ 9 h 384"/>
                              <a:gd name="T36" fmla="*/ 1 w 385"/>
                              <a:gd name="T37" fmla="*/ 10 h 384"/>
                              <a:gd name="T38" fmla="*/ 1 w 385"/>
                              <a:gd name="T39" fmla="*/ 11 h 384"/>
                              <a:gd name="T40" fmla="*/ 2 w 385"/>
                              <a:gd name="T41" fmla="*/ 11 h 384"/>
                              <a:gd name="T42" fmla="*/ 3 w 385"/>
                              <a:gd name="T43" fmla="*/ 12 h 384"/>
                              <a:gd name="T44" fmla="*/ 3 w 385"/>
                              <a:gd name="T45" fmla="*/ 12 h 384"/>
                              <a:gd name="T46" fmla="*/ 4 w 385"/>
                              <a:gd name="T47" fmla="*/ 12 h 384"/>
                              <a:gd name="T48" fmla="*/ 5 w 385"/>
                              <a:gd name="T49" fmla="*/ 12 h 384"/>
                              <a:gd name="T50" fmla="*/ 5 w 385"/>
                              <a:gd name="T51" fmla="*/ 12 h 384"/>
                              <a:gd name="T52" fmla="*/ 6 w 385"/>
                              <a:gd name="T53" fmla="*/ 12 h 384"/>
                              <a:gd name="T54" fmla="*/ 6 w 385"/>
                              <a:gd name="T55" fmla="*/ 12 h 384"/>
                              <a:gd name="T56" fmla="*/ 7 w 385"/>
                              <a:gd name="T57" fmla="*/ 12 h 384"/>
                              <a:gd name="T58" fmla="*/ 8 w 385"/>
                              <a:gd name="T59" fmla="*/ 12 h 384"/>
                              <a:gd name="T60" fmla="*/ 8 w 385"/>
                              <a:gd name="T61" fmla="*/ 12 h 384"/>
                              <a:gd name="T62" fmla="*/ 9 w 385"/>
                              <a:gd name="T63" fmla="*/ 11 h 384"/>
                              <a:gd name="T64" fmla="*/ 10 w 385"/>
                              <a:gd name="T65" fmla="*/ 11 h 384"/>
                              <a:gd name="T66" fmla="*/ 10 w 385"/>
                              <a:gd name="T67" fmla="*/ 10 h 384"/>
                              <a:gd name="T68" fmla="*/ 11 w 385"/>
                              <a:gd name="T69" fmla="*/ 9 h 384"/>
                              <a:gd name="T70" fmla="*/ 11 w 385"/>
                              <a:gd name="T71" fmla="*/ 9 h 384"/>
                              <a:gd name="T72" fmla="*/ 11 w 385"/>
                              <a:gd name="T73" fmla="*/ 7 h 384"/>
                              <a:gd name="T74" fmla="*/ 11 w 385"/>
                              <a:gd name="T75" fmla="*/ 6 h 384"/>
                              <a:gd name="T76" fmla="*/ 11 w 385"/>
                              <a:gd name="T77" fmla="*/ 6 h 384"/>
                              <a:gd name="T78" fmla="*/ 11 w 385"/>
                              <a:gd name="T79" fmla="*/ 6 h 384"/>
                              <a:gd name="T80" fmla="*/ 11 w 385"/>
                              <a:gd name="T81" fmla="*/ 6 h 384"/>
                              <a:gd name="T82" fmla="*/ 11 w 385"/>
                              <a:gd name="T83" fmla="*/ 5 h 384"/>
                              <a:gd name="T84" fmla="*/ 11 w 385"/>
                              <a:gd name="T85" fmla="*/ 3 h 384"/>
                              <a:gd name="T86" fmla="*/ 11 w 385"/>
                              <a:gd name="T87" fmla="*/ 3 h 384"/>
                              <a:gd name="T88" fmla="*/ 10 w 385"/>
                              <a:gd name="T89" fmla="*/ 3 h 384"/>
                              <a:gd name="T90" fmla="*/ 10 w 385"/>
                              <a:gd name="T91" fmla="*/ 2 h 384"/>
                              <a:gd name="T92" fmla="*/ 9 w 385"/>
                              <a:gd name="T93" fmla="*/ 1 h 384"/>
                              <a:gd name="T94" fmla="*/ 8 w 385"/>
                              <a:gd name="T95" fmla="*/ 1 h 384"/>
                              <a:gd name="T96" fmla="*/ 8 w 385"/>
                              <a:gd name="T97" fmla="*/ 1 h 384"/>
                              <a:gd name="T98" fmla="*/ 7 w 385"/>
                              <a:gd name="T99" fmla="*/ 1 h 384"/>
                              <a:gd name="T100" fmla="*/ 6 w 385"/>
                              <a:gd name="T101" fmla="*/ 1 h 384"/>
                              <a:gd name="T102" fmla="*/ 6 w 385"/>
                              <a:gd name="T103" fmla="*/ 0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5"/>
                              <a:gd name="T157" fmla="*/ 0 h 384"/>
                              <a:gd name="T158" fmla="*/ 385 w 385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5" h="384">
                                <a:moveTo>
                                  <a:pt x="193" y="0"/>
                                </a:moveTo>
                                <a:lnTo>
                                  <a:pt x="182" y="0"/>
                                </a:lnTo>
                                <a:lnTo>
                                  <a:pt x="173" y="0"/>
                                </a:lnTo>
                                <a:lnTo>
                                  <a:pt x="162" y="1"/>
                                </a:lnTo>
                                <a:lnTo>
                                  <a:pt x="153" y="3"/>
                                </a:lnTo>
                                <a:lnTo>
                                  <a:pt x="143" y="4"/>
                                </a:lnTo>
                                <a:lnTo>
                                  <a:pt x="134" y="7"/>
                                </a:lnTo>
                                <a:lnTo>
                                  <a:pt x="127" y="10"/>
                                </a:lnTo>
                                <a:lnTo>
                                  <a:pt x="117" y="13"/>
                                </a:lnTo>
                                <a:lnTo>
                                  <a:pt x="108" y="18"/>
                                </a:lnTo>
                                <a:lnTo>
                                  <a:pt x="100" y="23"/>
                                </a:lnTo>
                                <a:lnTo>
                                  <a:pt x="85" y="32"/>
                                </a:lnTo>
                                <a:lnTo>
                                  <a:pt x="70" y="43"/>
                                </a:lnTo>
                                <a:lnTo>
                                  <a:pt x="56" y="55"/>
                                </a:lnTo>
                                <a:lnTo>
                                  <a:pt x="43" y="69"/>
                                </a:lnTo>
                                <a:lnTo>
                                  <a:pt x="33" y="84"/>
                                </a:lnTo>
                                <a:lnTo>
                                  <a:pt x="23" y="100"/>
                                </a:lnTo>
                                <a:lnTo>
                                  <a:pt x="19" y="107"/>
                                </a:lnTo>
                                <a:lnTo>
                                  <a:pt x="14" y="116"/>
                                </a:lnTo>
                                <a:lnTo>
                                  <a:pt x="11" y="126"/>
                                </a:lnTo>
                                <a:lnTo>
                                  <a:pt x="8" y="133"/>
                                </a:lnTo>
                                <a:lnTo>
                                  <a:pt x="5" y="143"/>
                                </a:lnTo>
                                <a:lnTo>
                                  <a:pt x="3" y="152"/>
                                </a:lnTo>
                                <a:lnTo>
                                  <a:pt x="2" y="161"/>
                                </a:lnTo>
                                <a:lnTo>
                                  <a:pt x="0" y="172"/>
                                </a:lnTo>
                                <a:lnTo>
                                  <a:pt x="0" y="181"/>
                                </a:lnTo>
                                <a:lnTo>
                                  <a:pt x="0" y="192"/>
                                </a:lnTo>
                                <a:lnTo>
                                  <a:pt x="0" y="201"/>
                                </a:lnTo>
                                <a:lnTo>
                                  <a:pt x="0" y="210"/>
                                </a:lnTo>
                                <a:lnTo>
                                  <a:pt x="2" y="221"/>
                                </a:lnTo>
                                <a:lnTo>
                                  <a:pt x="3" y="230"/>
                                </a:lnTo>
                                <a:lnTo>
                                  <a:pt x="5" y="240"/>
                                </a:lnTo>
                                <a:lnTo>
                                  <a:pt x="8" y="249"/>
                                </a:lnTo>
                                <a:lnTo>
                                  <a:pt x="11" y="258"/>
                                </a:lnTo>
                                <a:lnTo>
                                  <a:pt x="14" y="266"/>
                                </a:lnTo>
                                <a:lnTo>
                                  <a:pt x="19" y="275"/>
                                </a:lnTo>
                                <a:lnTo>
                                  <a:pt x="23" y="283"/>
                                </a:lnTo>
                                <a:lnTo>
                                  <a:pt x="33" y="298"/>
                                </a:lnTo>
                                <a:lnTo>
                                  <a:pt x="43" y="313"/>
                                </a:lnTo>
                                <a:lnTo>
                                  <a:pt x="56" y="327"/>
                                </a:lnTo>
                                <a:lnTo>
                                  <a:pt x="70" y="340"/>
                                </a:lnTo>
                                <a:lnTo>
                                  <a:pt x="85" y="350"/>
                                </a:lnTo>
                                <a:lnTo>
                                  <a:pt x="100" y="360"/>
                                </a:lnTo>
                                <a:lnTo>
                                  <a:pt x="108" y="364"/>
                                </a:lnTo>
                                <a:lnTo>
                                  <a:pt x="117" y="369"/>
                                </a:lnTo>
                                <a:lnTo>
                                  <a:pt x="127" y="372"/>
                                </a:lnTo>
                                <a:lnTo>
                                  <a:pt x="134" y="375"/>
                                </a:lnTo>
                                <a:lnTo>
                                  <a:pt x="143" y="378"/>
                                </a:lnTo>
                                <a:lnTo>
                                  <a:pt x="153" y="379"/>
                                </a:lnTo>
                                <a:lnTo>
                                  <a:pt x="162" y="381"/>
                                </a:lnTo>
                                <a:lnTo>
                                  <a:pt x="173" y="383"/>
                                </a:lnTo>
                                <a:lnTo>
                                  <a:pt x="182" y="383"/>
                                </a:lnTo>
                                <a:lnTo>
                                  <a:pt x="193" y="384"/>
                                </a:lnTo>
                                <a:lnTo>
                                  <a:pt x="202" y="383"/>
                                </a:lnTo>
                                <a:lnTo>
                                  <a:pt x="211" y="383"/>
                                </a:lnTo>
                                <a:lnTo>
                                  <a:pt x="222" y="381"/>
                                </a:lnTo>
                                <a:lnTo>
                                  <a:pt x="231" y="379"/>
                                </a:lnTo>
                                <a:lnTo>
                                  <a:pt x="240" y="378"/>
                                </a:lnTo>
                                <a:lnTo>
                                  <a:pt x="250" y="375"/>
                                </a:lnTo>
                                <a:lnTo>
                                  <a:pt x="259" y="372"/>
                                </a:lnTo>
                                <a:lnTo>
                                  <a:pt x="267" y="369"/>
                                </a:lnTo>
                                <a:lnTo>
                                  <a:pt x="276" y="364"/>
                                </a:lnTo>
                                <a:lnTo>
                                  <a:pt x="283" y="360"/>
                                </a:lnTo>
                                <a:lnTo>
                                  <a:pt x="299" y="350"/>
                                </a:lnTo>
                                <a:lnTo>
                                  <a:pt x="314" y="340"/>
                                </a:lnTo>
                                <a:lnTo>
                                  <a:pt x="328" y="327"/>
                                </a:lnTo>
                                <a:lnTo>
                                  <a:pt x="340" y="313"/>
                                </a:lnTo>
                                <a:lnTo>
                                  <a:pt x="351" y="298"/>
                                </a:lnTo>
                                <a:lnTo>
                                  <a:pt x="360" y="283"/>
                                </a:lnTo>
                                <a:lnTo>
                                  <a:pt x="365" y="275"/>
                                </a:lnTo>
                                <a:lnTo>
                                  <a:pt x="370" y="266"/>
                                </a:lnTo>
                                <a:lnTo>
                                  <a:pt x="373" y="258"/>
                                </a:lnTo>
                                <a:lnTo>
                                  <a:pt x="376" y="249"/>
                                </a:lnTo>
                                <a:lnTo>
                                  <a:pt x="379" y="240"/>
                                </a:lnTo>
                                <a:lnTo>
                                  <a:pt x="380" y="230"/>
                                </a:lnTo>
                                <a:lnTo>
                                  <a:pt x="382" y="221"/>
                                </a:lnTo>
                                <a:lnTo>
                                  <a:pt x="383" y="210"/>
                                </a:lnTo>
                                <a:lnTo>
                                  <a:pt x="383" y="201"/>
                                </a:lnTo>
                                <a:lnTo>
                                  <a:pt x="385" y="192"/>
                                </a:lnTo>
                                <a:lnTo>
                                  <a:pt x="383" y="181"/>
                                </a:lnTo>
                                <a:lnTo>
                                  <a:pt x="383" y="172"/>
                                </a:lnTo>
                                <a:lnTo>
                                  <a:pt x="382" y="161"/>
                                </a:lnTo>
                                <a:lnTo>
                                  <a:pt x="380" y="152"/>
                                </a:lnTo>
                                <a:lnTo>
                                  <a:pt x="379" y="143"/>
                                </a:lnTo>
                                <a:lnTo>
                                  <a:pt x="376" y="133"/>
                                </a:lnTo>
                                <a:lnTo>
                                  <a:pt x="373" y="126"/>
                                </a:lnTo>
                                <a:lnTo>
                                  <a:pt x="370" y="116"/>
                                </a:lnTo>
                                <a:lnTo>
                                  <a:pt x="365" y="107"/>
                                </a:lnTo>
                                <a:lnTo>
                                  <a:pt x="360" y="100"/>
                                </a:lnTo>
                                <a:lnTo>
                                  <a:pt x="351" y="84"/>
                                </a:lnTo>
                                <a:lnTo>
                                  <a:pt x="340" y="69"/>
                                </a:lnTo>
                                <a:lnTo>
                                  <a:pt x="328" y="55"/>
                                </a:lnTo>
                                <a:lnTo>
                                  <a:pt x="314" y="43"/>
                                </a:lnTo>
                                <a:lnTo>
                                  <a:pt x="299" y="32"/>
                                </a:lnTo>
                                <a:lnTo>
                                  <a:pt x="283" y="23"/>
                                </a:lnTo>
                                <a:lnTo>
                                  <a:pt x="276" y="18"/>
                                </a:lnTo>
                                <a:lnTo>
                                  <a:pt x="267" y="13"/>
                                </a:lnTo>
                                <a:lnTo>
                                  <a:pt x="259" y="10"/>
                                </a:lnTo>
                                <a:lnTo>
                                  <a:pt x="250" y="7"/>
                                </a:lnTo>
                                <a:lnTo>
                                  <a:pt x="240" y="4"/>
                                </a:lnTo>
                                <a:lnTo>
                                  <a:pt x="231" y="3"/>
                                </a:lnTo>
                                <a:lnTo>
                                  <a:pt x="222" y="1"/>
                                </a:lnTo>
                                <a:lnTo>
                                  <a:pt x="211" y="0"/>
                                </a:lnTo>
                                <a:lnTo>
                                  <a:pt x="202" y="0"/>
                                </a:lnTo>
                                <a:lnTo>
                                  <a:pt x="193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99" name="Line 5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675" y="1151"/>
                            <a:ext cx="166" cy="163"/>
                          </a:xfrm>
                          <a:prstGeom prst="line">
                            <a:avLst/>
                          </a:prstGeom>
                          <a:noFill/>
                          <a:ln w="7938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600" name="Freeform 5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52" y="1305"/>
                            <a:ext cx="192" cy="193"/>
                          </a:xfrm>
                          <a:custGeom>
                            <a:avLst/>
                            <a:gdLst>
                              <a:gd name="T0" fmla="*/ 5 w 385"/>
                              <a:gd name="T1" fmla="*/ 0 h 384"/>
                              <a:gd name="T2" fmla="*/ 5 w 385"/>
                              <a:gd name="T3" fmla="*/ 1 h 384"/>
                              <a:gd name="T4" fmla="*/ 4 w 385"/>
                              <a:gd name="T5" fmla="*/ 1 h 384"/>
                              <a:gd name="T6" fmla="*/ 3 w 385"/>
                              <a:gd name="T7" fmla="*/ 1 h 384"/>
                              <a:gd name="T8" fmla="*/ 3 w 385"/>
                              <a:gd name="T9" fmla="*/ 1 h 384"/>
                              <a:gd name="T10" fmla="*/ 2 w 385"/>
                              <a:gd name="T11" fmla="*/ 1 h 384"/>
                              <a:gd name="T12" fmla="*/ 1 w 385"/>
                              <a:gd name="T13" fmla="*/ 2 h 384"/>
                              <a:gd name="T14" fmla="*/ 1 w 385"/>
                              <a:gd name="T15" fmla="*/ 3 h 384"/>
                              <a:gd name="T16" fmla="*/ 0 w 385"/>
                              <a:gd name="T17" fmla="*/ 4 h 384"/>
                              <a:gd name="T18" fmla="*/ 0 w 385"/>
                              <a:gd name="T19" fmla="*/ 4 h 384"/>
                              <a:gd name="T20" fmla="*/ 0 w 385"/>
                              <a:gd name="T21" fmla="*/ 5 h 384"/>
                              <a:gd name="T22" fmla="*/ 0 w 385"/>
                              <a:gd name="T23" fmla="*/ 6 h 384"/>
                              <a:gd name="T24" fmla="*/ 0 w 385"/>
                              <a:gd name="T25" fmla="*/ 6 h 384"/>
                              <a:gd name="T26" fmla="*/ 0 w 385"/>
                              <a:gd name="T27" fmla="*/ 7 h 384"/>
                              <a:gd name="T28" fmla="*/ 0 w 385"/>
                              <a:gd name="T29" fmla="*/ 7 h 384"/>
                              <a:gd name="T30" fmla="*/ 0 w 385"/>
                              <a:gd name="T31" fmla="*/ 8 h 384"/>
                              <a:gd name="T32" fmla="*/ 0 w 385"/>
                              <a:gd name="T33" fmla="*/ 9 h 384"/>
                              <a:gd name="T34" fmla="*/ 0 w 385"/>
                              <a:gd name="T35" fmla="*/ 9 h 384"/>
                              <a:gd name="T36" fmla="*/ 1 w 385"/>
                              <a:gd name="T37" fmla="*/ 10 h 384"/>
                              <a:gd name="T38" fmla="*/ 1 w 385"/>
                              <a:gd name="T39" fmla="*/ 11 h 384"/>
                              <a:gd name="T40" fmla="*/ 2 w 385"/>
                              <a:gd name="T41" fmla="*/ 11 h 384"/>
                              <a:gd name="T42" fmla="*/ 3 w 385"/>
                              <a:gd name="T43" fmla="*/ 12 h 384"/>
                              <a:gd name="T44" fmla="*/ 3 w 385"/>
                              <a:gd name="T45" fmla="*/ 12 h 384"/>
                              <a:gd name="T46" fmla="*/ 4 w 385"/>
                              <a:gd name="T47" fmla="*/ 12 h 384"/>
                              <a:gd name="T48" fmla="*/ 5 w 385"/>
                              <a:gd name="T49" fmla="*/ 12 h 384"/>
                              <a:gd name="T50" fmla="*/ 5 w 385"/>
                              <a:gd name="T51" fmla="*/ 13 h 384"/>
                              <a:gd name="T52" fmla="*/ 6 w 385"/>
                              <a:gd name="T53" fmla="*/ 13 h 384"/>
                              <a:gd name="T54" fmla="*/ 6 w 385"/>
                              <a:gd name="T55" fmla="*/ 12 h 384"/>
                              <a:gd name="T56" fmla="*/ 7 w 385"/>
                              <a:gd name="T57" fmla="*/ 12 h 384"/>
                              <a:gd name="T58" fmla="*/ 8 w 385"/>
                              <a:gd name="T59" fmla="*/ 12 h 384"/>
                              <a:gd name="T60" fmla="*/ 8 w 385"/>
                              <a:gd name="T61" fmla="*/ 12 h 384"/>
                              <a:gd name="T62" fmla="*/ 9 w 385"/>
                              <a:gd name="T63" fmla="*/ 11 h 384"/>
                              <a:gd name="T64" fmla="*/ 10 w 385"/>
                              <a:gd name="T65" fmla="*/ 11 h 384"/>
                              <a:gd name="T66" fmla="*/ 10 w 385"/>
                              <a:gd name="T67" fmla="*/ 10 h 384"/>
                              <a:gd name="T68" fmla="*/ 11 w 385"/>
                              <a:gd name="T69" fmla="*/ 9 h 384"/>
                              <a:gd name="T70" fmla="*/ 11 w 385"/>
                              <a:gd name="T71" fmla="*/ 9 h 384"/>
                              <a:gd name="T72" fmla="*/ 11 w 385"/>
                              <a:gd name="T73" fmla="*/ 8 h 384"/>
                              <a:gd name="T74" fmla="*/ 11 w 385"/>
                              <a:gd name="T75" fmla="*/ 7 h 384"/>
                              <a:gd name="T76" fmla="*/ 11 w 385"/>
                              <a:gd name="T77" fmla="*/ 7 h 384"/>
                              <a:gd name="T78" fmla="*/ 11 w 385"/>
                              <a:gd name="T79" fmla="*/ 6 h 384"/>
                              <a:gd name="T80" fmla="*/ 11 w 385"/>
                              <a:gd name="T81" fmla="*/ 6 h 384"/>
                              <a:gd name="T82" fmla="*/ 11 w 385"/>
                              <a:gd name="T83" fmla="*/ 5 h 384"/>
                              <a:gd name="T84" fmla="*/ 11 w 385"/>
                              <a:gd name="T85" fmla="*/ 4 h 384"/>
                              <a:gd name="T86" fmla="*/ 11 w 385"/>
                              <a:gd name="T87" fmla="*/ 4 h 384"/>
                              <a:gd name="T88" fmla="*/ 10 w 385"/>
                              <a:gd name="T89" fmla="*/ 3 h 384"/>
                              <a:gd name="T90" fmla="*/ 10 w 385"/>
                              <a:gd name="T91" fmla="*/ 2 h 384"/>
                              <a:gd name="T92" fmla="*/ 9 w 385"/>
                              <a:gd name="T93" fmla="*/ 1 h 384"/>
                              <a:gd name="T94" fmla="*/ 8 w 385"/>
                              <a:gd name="T95" fmla="*/ 1 h 384"/>
                              <a:gd name="T96" fmla="*/ 8 w 385"/>
                              <a:gd name="T97" fmla="*/ 1 h 384"/>
                              <a:gd name="T98" fmla="*/ 7 w 385"/>
                              <a:gd name="T99" fmla="*/ 1 h 384"/>
                              <a:gd name="T100" fmla="*/ 6 w 385"/>
                              <a:gd name="T101" fmla="*/ 1 h 384"/>
                              <a:gd name="T102" fmla="*/ 6 w 385"/>
                              <a:gd name="T103" fmla="*/ 0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5"/>
                              <a:gd name="T157" fmla="*/ 0 h 384"/>
                              <a:gd name="T158" fmla="*/ 385 w 385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5" h="384">
                                <a:moveTo>
                                  <a:pt x="192" y="0"/>
                                </a:moveTo>
                                <a:lnTo>
                                  <a:pt x="182" y="0"/>
                                </a:lnTo>
                                <a:lnTo>
                                  <a:pt x="172" y="0"/>
                                </a:lnTo>
                                <a:lnTo>
                                  <a:pt x="162" y="1"/>
                                </a:lnTo>
                                <a:lnTo>
                                  <a:pt x="152" y="3"/>
                                </a:lnTo>
                                <a:lnTo>
                                  <a:pt x="143" y="4"/>
                                </a:lnTo>
                                <a:lnTo>
                                  <a:pt x="134" y="7"/>
                                </a:lnTo>
                                <a:lnTo>
                                  <a:pt x="126" y="10"/>
                                </a:lnTo>
                                <a:lnTo>
                                  <a:pt x="117" y="13"/>
                                </a:lnTo>
                                <a:lnTo>
                                  <a:pt x="108" y="18"/>
                                </a:lnTo>
                                <a:lnTo>
                                  <a:pt x="100" y="23"/>
                                </a:lnTo>
                                <a:lnTo>
                                  <a:pt x="85" y="32"/>
                                </a:lnTo>
                                <a:lnTo>
                                  <a:pt x="69" y="43"/>
                                </a:lnTo>
                                <a:lnTo>
                                  <a:pt x="56" y="55"/>
                                </a:lnTo>
                                <a:lnTo>
                                  <a:pt x="43" y="69"/>
                                </a:lnTo>
                                <a:lnTo>
                                  <a:pt x="32" y="84"/>
                                </a:lnTo>
                                <a:lnTo>
                                  <a:pt x="23" y="99"/>
                                </a:lnTo>
                                <a:lnTo>
                                  <a:pt x="19" y="107"/>
                                </a:lnTo>
                                <a:lnTo>
                                  <a:pt x="14" y="116"/>
                                </a:lnTo>
                                <a:lnTo>
                                  <a:pt x="11" y="126"/>
                                </a:lnTo>
                                <a:lnTo>
                                  <a:pt x="8" y="133"/>
                                </a:lnTo>
                                <a:lnTo>
                                  <a:pt x="5" y="143"/>
                                </a:lnTo>
                                <a:lnTo>
                                  <a:pt x="3" y="152"/>
                                </a:lnTo>
                                <a:lnTo>
                                  <a:pt x="2" y="161"/>
                                </a:lnTo>
                                <a:lnTo>
                                  <a:pt x="0" y="172"/>
                                </a:lnTo>
                                <a:lnTo>
                                  <a:pt x="0" y="181"/>
                                </a:lnTo>
                                <a:lnTo>
                                  <a:pt x="0" y="192"/>
                                </a:lnTo>
                                <a:lnTo>
                                  <a:pt x="0" y="201"/>
                                </a:lnTo>
                                <a:lnTo>
                                  <a:pt x="0" y="210"/>
                                </a:lnTo>
                                <a:lnTo>
                                  <a:pt x="2" y="221"/>
                                </a:lnTo>
                                <a:lnTo>
                                  <a:pt x="3" y="230"/>
                                </a:lnTo>
                                <a:lnTo>
                                  <a:pt x="5" y="239"/>
                                </a:lnTo>
                                <a:lnTo>
                                  <a:pt x="8" y="249"/>
                                </a:lnTo>
                                <a:lnTo>
                                  <a:pt x="11" y="258"/>
                                </a:lnTo>
                                <a:lnTo>
                                  <a:pt x="14" y="266"/>
                                </a:lnTo>
                                <a:lnTo>
                                  <a:pt x="19" y="275"/>
                                </a:lnTo>
                                <a:lnTo>
                                  <a:pt x="23" y="283"/>
                                </a:lnTo>
                                <a:lnTo>
                                  <a:pt x="32" y="298"/>
                                </a:lnTo>
                                <a:lnTo>
                                  <a:pt x="43" y="313"/>
                                </a:lnTo>
                                <a:lnTo>
                                  <a:pt x="56" y="327"/>
                                </a:lnTo>
                                <a:lnTo>
                                  <a:pt x="69" y="339"/>
                                </a:lnTo>
                                <a:lnTo>
                                  <a:pt x="85" y="350"/>
                                </a:lnTo>
                                <a:lnTo>
                                  <a:pt x="100" y="359"/>
                                </a:lnTo>
                                <a:lnTo>
                                  <a:pt x="108" y="364"/>
                                </a:lnTo>
                                <a:lnTo>
                                  <a:pt x="117" y="369"/>
                                </a:lnTo>
                                <a:lnTo>
                                  <a:pt x="126" y="372"/>
                                </a:lnTo>
                                <a:lnTo>
                                  <a:pt x="134" y="375"/>
                                </a:lnTo>
                                <a:lnTo>
                                  <a:pt x="143" y="378"/>
                                </a:lnTo>
                                <a:lnTo>
                                  <a:pt x="152" y="379"/>
                                </a:lnTo>
                                <a:lnTo>
                                  <a:pt x="162" y="381"/>
                                </a:lnTo>
                                <a:lnTo>
                                  <a:pt x="172" y="382"/>
                                </a:lnTo>
                                <a:lnTo>
                                  <a:pt x="182" y="382"/>
                                </a:lnTo>
                                <a:lnTo>
                                  <a:pt x="192" y="384"/>
                                </a:lnTo>
                                <a:lnTo>
                                  <a:pt x="202" y="382"/>
                                </a:lnTo>
                                <a:lnTo>
                                  <a:pt x="211" y="382"/>
                                </a:lnTo>
                                <a:lnTo>
                                  <a:pt x="222" y="381"/>
                                </a:lnTo>
                                <a:lnTo>
                                  <a:pt x="231" y="379"/>
                                </a:lnTo>
                                <a:lnTo>
                                  <a:pt x="240" y="378"/>
                                </a:lnTo>
                                <a:lnTo>
                                  <a:pt x="249" y="375"/>
                                </a:lnTo>
                                <a:lnTo>
                                  <a:pt x="259" y="372"/>
                                </a:lnTo>
                                <a:lnTo>
                                  <a:pt x="266" y="369"/>
                                </a:lnTo>
                                <a:lnTo>
                                  <a:pt x="275" y="364"/>
                                </a:lnTo>
                                <a:lnTo>
                                  <a:pt x="283" y="359"/>
                                </a:lnTo>
                                <a:lnTo>
                                  <a:pt x="299" y="350"/>
                                </a:lnTo>
                                <a:lnTo>
                                  <a:pt x="314" y="339"/>
                                </a:lnTo>
                                <a:lnTo>
                                  <a:pt x="328" y="327"/>
                                </a:lnTo>
                                <a:lnTo>
                                  <a:pt x="340" y="313"/>
                                </a:lnTo>
                                <a:lnTo>
                                  <a:pt x="351" y="298"/>
                                </a:lnTo>
                                <a:lnTo>
                                  <a:pt x="360" y="283"/>
                                </a:lnTo>
                                <a:lnTo>
                                  <a:pt x="365" y="275"/>
                                </a:lnTo>
                                <a:lnTo>
                                  <a:pt x="369" y="266"/>
                                </a:lnTo>
                                <a:lnTo>
                                  <a:pt x="372" y="258"/>
                                </a:lnTo>
                                <a:lnTo>
                                  <a:pt x="375" y="249"/>
                                </a:lnTo>
                                <a:lnTo>
                                  <a:pt x="379" y="239"/>
                                </a:lnTo>
                                <a:lnTo>
                                  <a:pt x="380" y="230"/>
                                </a:lnTo>
                                <a:lnTo>
                                  <a:pt x="382" y="221"/>
                                </a:lnTo>
                                <a:lnTo>
                                  <a:pt x="383" y="210"/>
                                </a:lnTo>
                                <a:lnTo>
                                  <a:pt x="383" y="201"/>
                                </a:lnTo>
                                <a:lnTo>
                                  <a:pt x="385" y="192"/>
                                </a:lnTo>
                                <a:lnTo>
                                  <a:pt x="383" y="181"/>
                                </a:lnTo>
                                <a:lnTo>
                                  <a:pt x="383" y="172"/>
                                </a:lnTo>
                                <a:lnTo>
                                  <a:pt x="382" y="161"/>
                                </a:lnTo>
                                <a:lnTo>
                                  <a:pt x="380" y="152"/>
                                </a:lnTo>
                                <a:lnTo>
                                  <a:pt x="379" y="143"/>
                                </a:lnTo>
                                <a:lnTo>
                                  <a:pt x="375" y="133"/>
                                </a:lnTo>
                                <a:lnTo>
                                  <a:pt x="372" y="126"/>
                                </a:lnTo>
                                <a:lnTo>
                                  <a:pt x="369" y="116"/>
                                </a:lnTo>
                                <a:lnTo>
                                  <a:pt x="365" y="107"/>
                                </a:lnTo>
                                <a:lnTo>
                                  <a:pt x="360" y="99"/>
                                </a:lnTo>
                                <a:lnTo>
                                  <a:pt x="351" y="84"/>
                                </a:lnTo>
                                <a:lnTo>
                                  <a:pt x="340" y="69"/>
                                </a:lnTo>
                                <a:lnTo>
                                  <a:pt x="328" y="55"/>
                                </a:lnTo>
                                <a:lnTo>
                                  <a:pt x="314" y="43"/>
                                </a:lnTo>
                                <a:lnTo>
                                  <a:pt x="299" y="32"/>
                                </a:lnTo>
                                <a:lnTo>
                                  <a:pt x="283" y="23"/>
                                </a:lnTo>
                                <a:lnTo>
                                  <a:pt x="275" y="18"/>
                                </a:lnTo>
                                <a:lnTo>
                                  <a:pt x="266" y="13"/>
                                </a:lnTo>
                                <a:lnTo>
                                  <a:pt x="259" y="10"/>
                                </a:lnTo>
                                <a:lnTo>
                                  <a:pt x="249" y="7"/>
                                </a:lnTo>
                                <a:lnTo>
                                  <a:pt x="240" y="4"/>
                                </a:lnTo>
                                <a:lnTo>
                                  <a:pt x="231" y="3"/>
                                </a:lnTo>
                                <a:lnTo>
                                  <a:pt x="222" y="1"/>
                                </a:lnTo>
                                <a:lnTo>
                                  <a:pt x="211" y="0"/>
                                </a:lnTo>
                                <a:lnTo>
                                  <a:pt x="202" y="0"/>
                                </a:lnTo>
                                <a:lnTo>
                                  <a:pt x="192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601" name="Rectangle 58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45" y="1320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3</a:t>
                            </a:r>
                            <a:endParaRPr lang="en-GB" altLang="en-US"/>
                          </a:p>
                        </p:txBody>
                      </p:sp>
                      <p:sp>
                        <p:nvSpPr>
                          <p:cNvPr id="20602" name="Freeform 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232" y="937"/>
                            <a:ext cx="192" cy="192"/>
                          </a:xfrm>
                          <a:custGeom>
                            <a:avLst/>
                            <a:gdLst>
                              <a:gd name="T0" fmla="*/ 6 w 384"/>
                              <a:gd name="T1" fmla="*/ 1 h 384"/>
                              <a:gd name="T2" fmla="*/ 6 w 384"/>
                              <a:gd name="T3" fmla="*/ 1 h 384"/>
                              <a:gd name="T4" fmla="*/ 5 w 384"/>
                              <a:gd name="T5" fmla="*/ 1 h 384"/>
                              <a:gd name="T6" fmla="*/ 3 w 384"/>
                              <a:gd name="T7" fmla="*/ 1 h 384"/>
                              <a:gd name="T8" fmla="*/ 3 w 384"/>
                              <a:gd name="T9" fmla="*/ 1 h 384"/>
                              <a:gd name="T10" fmla="*/ 3 w 384"/>
                              <a:gd name="T11" fmla="*/ 2 h 384"/>
                              <a:gd name="T12" fmla="*/ 2 w 384"/>
                              <a:gd name="T13" fmla="*/ 2 h 384"/>
                              <a:gd name="T14" fmla="*/ 1 w 384"/>
                              <a:gd name="T15" fmla="*/ 3 h 384"/>
                              <a:gd name="T16" fmla="*/ 1 w 384"/>
                              <a:gd name="T17" fmla="*/ 3 h 384"/>
                              <a:gd name="T18" fmla="*/ 1 w 384"/>
                              <a:gd name="T19" fmla="*/ 3 h 384"/>
                              <a:gd name="T20" fmla="*/ 1 w 384"/>
                              <a:gd name="T21" fmla="*/ 5 h 384"/>
                              <a:gd name="T22" fmla="*/ 1 w 384"/>
                              <a:gd name="T23" fmla="*/ 6 h 384"/>
                              <a:gd name="T24" fmla="*/ 0 w 384"/>
                              <a:gd name="T25" fmla="*/ 6 h 384"/>
                              <a:gd name="T26" fmla="*/ 0 w 384"/>
                              <a:gd name="T27" fmla="*/ 6 h 384"/>
                              <a:gd name="T28" fmla="*/ 1 w 384"/>
                              <a:gd name="T29" fmla="*/ 6 h 384"/>
                              <a:gd name="T30" fmla="*/ 1 w 384"/>
                              <a:gd name="T31" fmla="*/ 7 h 384"/>
                              <a:gd name="T32" fmla="*/ 1 w 384"/>
                              <a:gd name="T33" fmla="*/ 9 h 384"/>
                              <a:gd name="T34" fmla="*/ 1 w 384"/>
                              <a:gd name="T35" fmla="*/ 9 h 384"/>
                              <a:gd name="T36" fmla="*/ 1 w 384"/>
                              <a:gd name="T37" fmla="*/ 10 h 384"/>
                              <a:gd name="T38" fmla="*/ 2 w 384"/>
                              <a:gd name="T39" fmla="*/ 11 h 384"/>
                              <a:gd name="T40" fmla="*/ 3 w 384"/>
                              <a:gd name="T41" fmla="*/ 11 h 384"/>
                              <a:gd name="T42" fmla="*/ 3 w 384"/>
                              <a:gd name="T43" fmla="*/ 12 h 384"/>
                              <a:gd name="T44" fmla="*/ 3 w 384"/>
                              <a:gd name="T45" fmla="*/ 12 h 384"/>
                              <a:gd name="T46" fmla="*/ 5 w 384"/>
                              <a:gd name="T47" fmla="*/ 12 h 384"/>
                              <a:gd name="T48" fmla="*/ 6 w 384"/>
                              <a:gd name="T49" fmla="*/ 12 h 384"/>
                              <a:gd name="T50" fmla="*/ 6 w 384"/>
                              <a:gd name="T51" fmla="*/ 12 h 384"/>
                              <a:gd name="T52" fmla="*/ 6 w 384"/>
                              <a:gd name="T53" fmla="*/ 12 h 384"/>
                              <a:gd name="T54" fmla="*/ 6 w 384"/>
                              <a:gd name="T55" fmla="*/ 12 h 384"/>
                              <a:gd name="T56" fmla="*/ 7 w 384"/>
                              <a:gd name="T57" fmla="*/ 12 h 384"/>
                              <a:gd name="T58" fmla="*/ 9 w 384"/>
                              <a:gd name="T59" fmla="*/ 12 h 384"/>
                              <a:gd name="T60" fmla="*/ 9 w 384"/>
                              <a:gd name="T61" fmla="*/ 12 h 384"/>
                              <a:gd name="T62" fmla="*/ 10 w 384"/>
                              <a:gd name="T63" fmla="*/ 11 h 384"/>
                              <a:gd name="T64" fmla="*/ 11 w 384"/>
                              <a:gd name="T65" fmla="*/ 11 h 384"/>
                              <a:gd name="T66" fmla="*/ 11 w 384"/>
                              <a:gd name="T67" fmla="*/ 10 h 384"/>
                              <a:gd name="T68" fmla="*/ 12 w 384"/>
                              <a:gd name="T69" fmla="*/ 9 h 384"/>
                              <a:gd name="T70" fmla="*/ 12 w 384"/>
                              <a:gd name="T71" fmla="*/ 9 h 384"/>
                              <a:gd name="T72" fmla="*/ 12 w 384"/>
                              <a:gd name="T73" fmla="*/ 7 h 384"/>
                              <a:gd name="T74" fmla="*/ 12 w 384"/>
                              <a:gd name="T75" fmla="*/ 6 h 384"/>
                              <a:gd name="T76" fmla="*/ 12 w 384"/>
                              <a:gd name="T77" fmla="*/ 6 h 384"/>
                              <a:gd name="T78" fmla="*/ 12 w 384"/>
                              <a:gd name="T79" fmla="*/ 6 h 384"/>
                              <a:gd name="T80" fmla="*/ 12 w 384"/>
                              <a:gd name="T81" fmla="*/ 6 h 384"/>
                              <a:gd name="T82" fmla="*/ 12 w 384"/>
                              <a:gd name="T83" fmla="*/ 5 h 384"/>
                              <a:gd name="T84" fmla="*/ 12 w 384"/>
                              <a:gd name="T85" fmla="*/ 3 h 384"/>
                              <a:gd name="T86" fmla="*/ 12 w 384"/>
                              <a:gd name="T87" fmla="*/ 3 h 384"/>
                              <a:gd name="T88" fmla="*/ 11 w 384"/>
                              <a:gd name="T89" fmla="*/ 3 h 384"/>
                              <a:gd name="T90" fmla="*/ 11 w 384"/>
                              <a:gd name="T91" fmla="*/ 2 h 384"/>
                              <a:gd name="T92" fmla="*/ 10 w 384"/>
                              <a:gd name="T93" fmla="*/ 2 h 384"/>
                              <a:gd name="T94" fmla="*/ 9 w 384"/>
                              <a:gd name="T95" fmla="*/ 1 h 384"/>
                              <a:gd name="T96" fmla="*/ 9 w 384"/>
                              <a:gd name="T97" fmla="*/ 1 h 384"/>
                              <a:gd name="T98" fmla="*/ 7 w 384"/>
                              <a:gd name="T99" fmla="*/ 1 h 384"/>
                              <a:gd name="T100" fmla="*/ 6 w 384"/>
                              <a:gd name="T101" fmla="*/ 1 h 384"/>
                              <a:gd name="T102" fmla="*/ 6 w 384"/>
                              <a:gd name="T103" fmla="*/ 1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4"/>
                              <a:gd name="T157" fmla="*/ 0 h 384"/>
                              <a:gd name="T158" fmla="*/ 384 w 384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4" h="384">
                                <a:moveTo>
                                  <a:pt x="192" y="0"/>
                                </a:moveTo>
                                <a:lnTo>
                                  <a:pt x="181" y="1"/>
                                </a:lnTo>
                                <a:lnTo>
                                  <a:pt x="172" y="1"/>
                                </a:lnTo>
                                <a:lnTo>
                                  <a:pt x="161" y="3"/>
                                </a:lnTo>
                                <a:lnTo>
                                  <a:pt x="152" y="4"/>
                                </a:lnTo>
                                <a:lnTo>
                                  <a:pt x="143" y="6"/>
                                </a:lnTo>
                                <a:lnTo>
                                  <a:pt x="134" y="9"/>
                                </a:lnTo>
                                <a:lnTo>
                                  <a:pt x="126" y="12"/>
                                </a:lnTo>
                                <a:lnTo>
                                  <a:pt x="117" y="15"/>
                                </a:lnTo>
                                <a:lnTo>
                                  <a:pt x="108" y="20"/>
                                </a:lnTo>
                                <a:lnTo>
                                  <a:pt x="100" y="23"/>
                                </a:lnTo>
                                <a:lnTo>
                                  <a:pt x="85" y="34"/>
                                </a:lnTo>
                                <a:lnTo>
                                  <a:pt x="69" y="44"/>
                                </a:lnTo>
                                <a:lnTo>
                                  <a:pt x="55" y="57"/>
                                </a:lnTo>
                                <a:lnTo>
                                  <a:pt x="43" y="71"/>
                                </a:lnTo>
                                <a:lnTo>
                                  <a:pt x="32" y="86"/>
                                </a:lnTo>
                                <a:lnTo>
                                  <a:pt x="23" y="101"/>
                                </a:lnTo>
                                <a:lnTo>
                                  <a:pt x="18" y="109"/>
                                </a:lnTo>
                                <a:lnTo>
                                  <a:pt x="14" y="118"/>
                                </a:lnTo>
                                <a:lnTo>
                                  <a:pt x="11" y="126"/>
                                </a:lnTo>
                                <a:lnTo>
                                  <a:pt x="8" y="135"/>
                                </a:lnTo>
                                <a:lnTo>
                                  <a:pt x="5" y="144"/>
                                </a:lnTo>
                                <a:lnTo>
                                  <a:pt x="3" y="154"/>
                                </a:lnTo>
                                <a:lnTo>
                                  <a:pt x="1" y="163"/>
                                </a:lnTo>
                                <a:lnTo>
                                  <a:pt x="0" y="174"/>
                                </a:lnTo>
                                <a:lnTo>
                                  <a:pt x="0" y="183"/>
                                </a:lnTo>
                                <a:lnTo>
                                  <a:pt x="0" y="192"/>
                                </a:lnTo>
                                <a:lnTo>
                                  <a:pt x="0" y="203"/>
                                </a:lnTo>
                                <a:lnTo>
                                  <a:pt x="0" y="212"/>
                                </a:lnTo>
                                <a:lnTo>
                                  <a:pt x="1" y="221"/>
                                </a:lnTo>
                                <a:lnTo>
                                  <a:pt x="3" y="232"/>
                                </a:lnTo>
                                <a:lnTo>
                                  <a:pt x="5" y="241"/>
                                </a:lnTo>
                                <a:lnTo>
                                  <a:pt x="8" y="251"/>
                                </a:lnTo>
                                <a:lnTo>
                                  <a:pt x="11" y="258"/>
                                </a:lnTo>
                                <a:lnTo>
                                  <a:pt x="14" y="267"/>
                                </a:lnTo>
                                <a:lnTo>
                                  <a:pt x="18" y="277"/>
                                </a:lnTo>
                                <a:lnTo>
                                  <a:pt x="23" y="284"/>
                                </a:lnTo>
                                <a:lnTo>
                                  <a:pt x="32" y="300"/>
                                </a:lnTo>
                                <a:lnTo>
                                  <a:pt x="43" y="315"/>
                                </a:lnTo>
                                <a:lnTo>
                                  <a:pt x="55" y="329"/>
                                </a:lnTo>
                                <a:lnTo>
                                  <a:pt x="69" y="341"/>
                                </a:lnTo>
                                <a:lnTo>
                                  <a:pt x="85" y="352"/>
                                </a:lnTo>
                                <a:lnTo>
                                  <a:pt x="100" y="361"/>
                                </a:lnTo>
                                <a:lnTo>
                                  <a:pt x="108" y="366"/>
                                </a:lnTo>
                                <a:lnTo>
                                  <a:pt x="117" y="370"/>
                                </a:lnTo>
                                <a:lnTo>
                                  <a:pt x="126" y="374"/>
                                </a:lnTo>
                                <a:lnTo>
                                  <a:pt x="134" y="377"/>
                                </a:lnTo>
                                <a:lnTo>
                                  <a:pt x="143" y="378"/>
                                </a:lnTo>
                                <a:lnTo>
                                  <a:pt x="152" y="381"/>
                                </a:lnTo>
                                <a:lnTo>
                                  <a:pt x="161" y="383"/>
                                </a:lnTo>
                                <a:lnTo>
                                  <a:pt x="172" y="384"/>
                                </a:lnTo>
                                <a:lnTo>
                                  <a:pt x="181" y="384"/>
                                </a:lnTo>
                                <a:lnTo>
                                  <a:pt x="192" y="384"/>
                                </a:lnTo>
                                <a:lnTo>
                                  <a:pt x="201" y="384"/>
                                </a:lnTo>
                                <a:lnTo>
                                  <a:pt x="211" y="384"/>
                                </a:lnTo>
                                <a:lnTo>
                                  <a:pt x="221" y="383"/>
                                </a:lnTo>
                                <a:lnTo>
                                  <a:pt x="231" y="381"/>
                                </a:lnTo>
                                <a:lnTo>
                                  <a:pt x="240" y="378"/>
                                </a:lnTo>
                                <a:lnTo>
                                  <a:pt x="249" y="377"/>
                                </a:lnTo>
                                <a:lnTo>
                                  <a:pt x="257" y="374"/>
                                </a:lnTo>
                                <a:lnTo>
                                  <a:pt x="266" y="370"/>
                                </a:lnTo>
                                <a:lnTo>
                                  <a:pt x="275" y="366"/>
                                </a:lnTo>
                                <a:lnTo>
                                  <a:pt x="283" y="361"/>
                                </a:lnTo>
                                <a:lnTo>
                                  <a:pt x="298" y="352"/>
                                </a:lnTo>
                                <a:lnTo>
                                  <a:pt x="314" y="341"/>
                                </a:lnTo>
                                <a:lnTo>
                                  <a:pt x="328" y="329"/>
                                </a:lnTo>
                                <a:lnTo>
                                  <a:pt x="340" y="315"/>
                                </a:lnTo>
                                <a:lnTo>
                                  <a:pt x="351" y="300"/>
                                </a:lnTo>
                                <a:lnTo>
                                  <a:pt x="360" y="284"/>
                                </a:lnTo>
                                <a:lnTo>
                                  <a:pt x="364" y="277"/>
                                </a:lnTo>
                                <a:lnTo>
                                  <a:pt x="369" y="267"/>
                                </a:lnTo>
                                <a:lnTo>
                                  <a:pt x="372" y="258"/>
                                </a:lnTo>
                                <a:lnTo>
                                  <a:pt x="375" y="251"/>
                                </a:lnTo>
                                <a:lnTo>
                                  <a:pt x="378" y="241"/>
                                </a:lnTo>
                                <a:lnTo>
                                  <a:pt x="380" y="232"/>
                                </a:lnTo>
                                <a:lnTo>
                                  <a:pt x="381" y="221"/>
                                </a:lnTo>
                                <a:lnTo>
                                  <a:pt x="383" y="212"/>
                                </a:lnTo>
                                <a:lnTo>
                                  <a:pt x="383" y="203"/>
                                </a:lnTo>
                                <a:lnTo>
                                  <a:pt x="384" y="192"/>
                                </a:lnTo>
                                <a:lnTo>
                                  <a:pt x="383" y="183"/>
                                </a:lnTo>
                                <a:lnTo>
                                  <a:pt x="383" y="174"/>
                                </a:lnTo>
                                <a:lnTo>
                                  <a:pt x="381" y="163"/>
                                </a:lnTo>
                                <a:lnTo>
                                  <a:pt x="380" y="154"/>
                                </a:lnTo>
                                <a:lnTo>
                                  <a:pt x="378" y="144"/>
                                </a:lnTo>
                                <a:lnTo>
                                  <a:pt x="375" y="135"/>
                                </a:lnTo>
                                <a:lnTo>
                                  <a:pt x="372" y="126"/>
                                </a:lnTo>
                                <a:lnTo>
                                  <a:pt x="369" y="118"/>
                                </a:lnTo>
                                <a:lnTo>
                                  <a:pt x="364" y="109"/>
                                </a:lnTo>
                                <a:lnTo>
                                  <a:pt x="360" y="101"/>
                                </a:lnTo>
                                <a:lnTo>
                                  <a:pt x="351" y="86"/>
                                </a:lnTo>
                                <a:lnTo>
                                  <a:pt x="340" y="71"/>
                                </a:lnTo>
                                <a:lnTo>
                                  <a:pt x="328" y="57"/>
                                </a:lnTo>
                                <a:lnTo>
                                  <a:pt x="314" y="44"/>
                                </a:lnTo>
                                <a:lnTo>
                                  <a:pt x="298" y="34"/>
                                </a:lnTo>
                                <a:lnTo>
                                  <a:pt x="283" y="23"/>
                                </a:lnTo>
                                <a:lnTo>
                                  <a:pt x="275" y="20"/>
                                </a:lnTo>
                                <a:lnTo>
                                  <a:pt x="266" y="15"/>
                                </a:lnTo>
                                <a:lnTo>
                                  <a:pt x="257" y="12"/>
                                </a:lnTo>
                                <a:lnTo>
                                  <a:pt x="249" y="9"/>
                                </a:lnTo>
                                <a:lnTo>
                                  <a:pt x="240" y="6"/>
                                </a:lnTo>
                                <a:lnTo>
                                  <a:pt x="231" y="4"/>
                                </a:lnTo>
                                <a:lnTo>
                                  <a:pt x="221" y="3"/>
                                </a:lnTo>
                                <a:lnTo>
                                  <a:pt x="211" y="1"/>
                                </a:lnTo>
                                <a:lnTo>
                                  <a:pt x="201" y="1"/>
                                </a:lnTo>
                                <a:lnTo>
                                  <a:pt x="192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603" name="Rectangle 65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87" y="940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7</a:t>
                            </a:r>
                            <a:endParaRPr lang="en-GB" altLang="en-US"/>
                          </a:p>
                        </p:txBody>
                      </p:sp>
                      <p:grpSp>
                        <p:nvGrpSpPr>
                          <p:cNvPr id="20604" name="Group 85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91" y="652"/>
                            <a:ext cx="969" cy="811"/>
                            <a:chOff x="2291" y="652"/>
                            <a:chExt cx="969" cy="811"/>
                          </a:xfrm>
                        </p:grpSpPr>
                        <p:sp>
                          <p:nvSpPr>
                            <p:cNvPr id="20610" name="Line 49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094" y="798"/>
                              <a:ext cx="166" cy="163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11" name="Rectangle 52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652" y="973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2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612" name="Line 5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444" y="1151"/>
                              <a:ext cx="123" cy="117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13" name="Freeform 5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91" y="1267"/>
                              <a:ext cx="192" cy="192"/>
                            </a:xfrm>
                            <a:custGeom>
                              <a:avLst/>
                              <a:gdLst>
                                <a:gd name="T0" fmla="*/ 5 w 385"/>
                                <a:gd name="T1" fmla="*/ 0 h 384"/>
                                <a:gd name="T2" fmla="*/ 5 w 385"/>
                                <a:gd name="T3" fmla="*/ 1 h 384"/>
                                <a:gd name="T4" fmla="*/ 4 w 385"/>
                                <a:gd name="T5" fmla="*/ 1 h 384"/>
                                <a:gd name="T6" fmla="*/ 3 w 385"/>
                                <a:gd name="T7" fmla="*/ 1 h 384"/>
                                <a:gd name="T8" fmla="*/ 3 w 385"/>
                                <a:gd name="T9" fmla="*/ 1 h 384"/>
                                <a:gd name="T10" fmla="*/ 2 w 385"/>
                                <a:gd name="T11" fmla="*/ 1 h 384"/>
                                <a:gd name="T12" fmla="*/ 1 w 385"/>
                                <a:gd name="T13" fmla="*/ 2 h 384"/>
                                <a:gd name="T14" fmla="*/ 1 w 385"/>
                                <a:gd name="T15" fmla="*/ 3 h 384"/>
                                <a:gd name="T16" fmla="*/ 0 w 385"/>
                                <a:gd name="T17" fmla="*/ 3 h 384"/>
                                <a:gd name="T18" fmla="*/ 0 w 385"/>
                                <a:gd name="T19" fmla="*/ 3 h 384"/>
                                <a:gd name="T20" fmla="*/ 0 w 385"/>
                                <a:gd name="T21" fmla="*/ 5 h 384"/>
                                <a:gd name="T22" fmla="*/ 0 w 385"/>
                                <a:gd name="T23" fmla="*/ 6 h 384"/>
                                <a:gd name="T24" fmla="*/ 0 w 385"/>
                                <a:gd name="T25" fmla="*/ 6 h 384"/>
                                <a:gd name="T26" fmla="*/ 0 w 385"/>
                                <a:gd name="T27" fmla="*/ 6 h 384"/>
                                <a:gd name="T28" fmla="*/ 0 w 385"/>
                                <a:gd name="T29" fmla="*/ 6 h 384"/>
                                <a:gd name="T30" fmla="*/ 0 w 385"/>
                                <a:gd name="T31" fmla="*/ 7 h 384"/>
                                <a:gd name="T32" fmla="*/ 0 w 385"/>
                                <a:gd name="T33" fmla="*/ 9 h 384"/>
                                <a:gd name="T34" fmla="*/ 0 w 385"/>
                                <a:gd name="T35" fmla="*/ 9 h 384"/>
                                <a:gd name="T36" fmla="*/ 1 w 385"/>
                                <a:gd name="T37" fmla="*/ 10 h 384"/>
                                <a:gd name="T38" fmla="*/ 1 w 385"/>
                                <a:gd name="T39" fmla="*/ 11 h 384"/>
                                <a:gd name="T40" fmla="*/ 2 w 385"/>
                                <a:gd name="T41" fmla="*/ 11 h 384"/>
                                <a:gd name="T42" fmla="*/ 3 w 385"/>
                                <a:gd name="T43" fmla="*/ 12 h 384"/>
                                <a:gd name="T44" fmla="*/ 3 w 385"/>
                                <a:gd name="T45" fmla="*/ 12 h 384"/>
                                <a:gd name="T46" fmla="*/ 4 w 385"/>
                                <a:gd name="T47" fmla="*/ 12 h 384"/>
                                <a:gd name="T48" fmla="*/ 5 w 385"/>
                                <a:gd name="T49" fmla="*/ 12 h 384"/>
                                <a:gd name="T50" fmla="*/ 5 w 385"/>
                                <a:gd name="T51" fmla="*/ 12 h 384"/>
                                <a:gd name="T52" fmla="*/ 6 w 385"/>
                                <a:gd name="T53" fmla="*/ 12 h 384"/>
                                <a:gd name="T54" fmla="*/ 6 w 385"/>
                                <a:gd name="T55" fmla="*/ 12 h 384"/>
                                <a:gd name="T56" fmla="*/ 7 w 385"/>
                                <a:gd name="T57" fmla="*/ 12 h 384"/>
                                <a:gd name="T58" fmla="*/ 8 w 385"/>
                                <a:gd name="T59" fmla="*/ 12 h 384"/>
                                <a:gd name="T60" fmla="*/ 8 w 385"/>
                                <a:gd name="T61" fmla="*/ 12 h 384"/>
                                <a:gd name="T62" fmla="*/ 9 w 385"/>
                                <a:gd name="T63" fmla="*/ 11 h 384"/>
                                <a:gd name="T64" fmla="*/ 10 w 385"/>
                                <a:gd name="T65" fmla="*/ 11 h 384"/>
                                <a:gd name="T66" fmla="*/ 10 w 385"/>
                                <a:gd name="T67" fmla="*/ 10 h 384"/>
                                <a:gd name="T68" fmla="*/ 11 w 385"/>
                                <a:gd name="T69" fmla="*/ 9 h 384"/>
                                <a:gd name="T70" fmla="*/ 11 w 385"/>
                                <a:gd name="T71" fmla="*/ 9 h 384"/>
                                <a:gd name="T72" fmla="*/ 11 w 385"/>
                                <a:gd name="T73" fmla="*/ 7 h 384"/>
                                <a:gd name="T74" fmla="*/ 11 w 385"/>
                                <a:gd name="T75" fmla="*/ 6 h 384"/>
                                <a:gd name="T76" fmla="*/ 11 w 385"/>
                                <a:gd name="T77" fmla="*/ 6 h 384"/>
                                <a:gd name="T78" fmla="*/ 11 w 385"/>
                                <a:gd name="T79" fmla="*/ 6 h 384"/>
                                <a:gd name="T80" fmla="*/ 11 w 385"/>
                                <a:gd name="T81" fmla="*/ 6 h 384"/>
                                <a:gd name="T82" fmla="*/ 11 w 385"/>
                                <a:gd name="T83" fmla="*/ 5 h 384"/>
                                <a:gd name="T84" fmla="*/ 11 w 385"/>
                                <a:gd name="T85" fmla="*/ 3 h 384"/>
                                <a:gd name="T86" fmla="*/ 11 w 385"/>
                                <a:gd name="T87" fmla="*/ 3 h 384"/>
                                <a:gd name="T88" fmla="*/ 10 w 385"/>
                                <a:gd name="T89" fmla="*/ 3 h 384"/>
                                <a:gd name="T90" fmla="*/ 10 w 385"/>
                                <a:gd name="T91" fmla="*/ 2 h 384"/>
                                <a:gd name="T92" fmla="*/ 9 w 385"/>
                                <a:gd name="T93" fmla="*/ 1 h 384"/>
                                <a:gd name="T94" fmla="*/ 8 w 385"/>
                                <a:gd name="T95" fmla="*/ 1 h 384"/>
                                <a:gd name="T96" fmla="*/ 8 w 385"/>
                                <a:gd name="T97" fmla="*/ 1 h 384"/>
                                <a:gd name="T98" fmla="*/ 7 w 385"/>
                                <a:gd name="T99" fmla="*/ 1 h 384"/>
                                <a:gd name="T100" fmla="*/ 6 w 385"/>
                                <a:gd name="T101" fmla="*/ 1 h 384"/>
                                <a:gd name="T102" fmla="*/ 6 w 385"/>
                                <a:gd name="T103" fmla="*/ 0 h 384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5"/>
                                <a:gd name="T157" fmla="*/ 0 h 384"/>
                                <a:gd name="T158" fmla="*/ 385 w 385"/>
                                <a:gd name="T159" fmla="*/ 384 h 384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5" h="384">
                                  <a:moveTo>
                                    <a:pt x="193" y="0"/>
                                  </a:moveTo>
                                  <a:lnTo>
                                    <a:pt x="182" y="0"/>
                                  </a:lnTo>
                                  <a:lnTo>
                                    <a:pt x="173" y="0"/>
                                  </a:lnTo>
                                  <a:lnTo>
                                    <a:pt x="162" y="1"/>
                                  </a:lnTo>
                                  <a:lnTo>
                                    <a:pt x="153" y="3"/>
                                  </a:lnTo>
                                  <a:lnTo>
                                    <a:pt x="143" y="4"/>
                                  </a:lnTo>
                                  <a:lnTo>
                                    <a:pt x="134" y="7"/>
                                  </a:lnTo>
                                  <a:lnTo>
                                    <a:pt x="126" y="10"/>
                                  </a:lnTo>
                                  <a:lnTo>
                                    <a:pt x="117" y="13"/>
                                  </a:lnTo>
                                  <a:lnTo>
                                    <a:pt x="108" y="18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5" y="32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6" y="55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3" y="84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9" y="107"/>
                                  </a:lnTo>
                                  <a:lnTo>
                                    <a:pt x="14" y="116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8" y="133"/>
                                  </a:lnTo>
                                  <a:lnTo>
                                    <a:pt x="5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2" y="161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1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1"/>
                                  </a:lnTo>
                                  <a:lnTo>
                                    <a:pt x="0" y="210"/>
                                  </a:lnTo>
                                  <a:lnTo>
                                    <a:pt x="2" y="221"/>
                                  </a:lnTo>
                                  <a:lnTo>
                                    <a:pt x="3" y="230"/>
                                  </a:lnTo>
                                  <a:lnTo>
                                    <a:pt x="5" y="240"/>
                                  </a:lnTo>
                                  <a:lnTo>
                                    <a:pt x="8" y="249"/>
                                  </a:lnTo>
                                  <a:lnTo>
                                    <a:pt x="11" y="258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9" y="275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3" y="298"/>
                                  </a:lnTo>
                                  <a:lnTo>
                                    <a:pt x="43" y="313"/>
                                  </a:lnTo>
                                  <a:lnTo>
                                    <a:pt x="56" y="327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5" y="350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8" y="364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8"/>
                                  </a:lnTo>
                                  <a:lnTo>
                                    <a:pt x="153" y="379"/>
                                  </a:lnTo>
                                  <a:lnTo>
                                    <a:pt x="162" y="381"/>
                                  </a:lnTo>
                                  <a:lnTo>
                                    <a:pt x="173" y="383"/>
                                  </a:lnTo>
                                  <a:lnTo>
                                    <a:pt x="182" y="383"/>
                                  </a:lnTo>
                                  <a:lnTo>
                                    <a:pt x="193" y="384"/>
                                  </a:lnTo>
                                  <a:lnTo>
                                    <a:pt x="202" y="383"/>
                                  </a:lnTo>
                                  <a:lnTo>
                                    <a:pt x="211" y="383"/>
                                  </a:lnTo>
                                  <a:lnTo>
                                    <a:pt x="222" y="381"/>
                                  </a:lnTo>
                                  <a:lnTo>
                                    <a:pt x="231" y="379"/>
                                  </a:lnTo>
                                  <a:lnTo>
                                    <a:pt x="240" y="378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9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6" y="364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9" y="350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8" y="327"/>
                                  </a:lnTo>
                                  <a:lnTo>
                                    <a:pt x="340" y="313"/>
                                  </a:lnTo>
                                  <a:lnTo>
                                    <a:pt x="351" y="298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5" y="275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8"/>
                                  </a:lnTo>
                                  <a:lnTo>
                                    <a:pt x="376" y="249"/>
                                  </a:lnTo>
                                  <a:lnTo>
                                    <a:pt x="379" y="240"/>
                                  </a:lnTo>
                                  <a:lnTo>
                                    <a:pt x="380" y="230"/>
                                  </a:lnTo>
                                  <a:lnTo>
                                    <a:pt x="382" y="221"/>
                                  </a:lnTo>
                                  <a:lnTo>
                                    <a:pt x="383" y="210"/>
                                  </a:lnTo>
                                  <a:lnTo>
                                    <a:pt x="383" y="201"/>
                                  </a:lnTo>
                                  <a:lnTo>
                                    <a:pt x="385" y="192"/>
                                  </a:lnTo>
                                  <a:lnTo>
                                    <a:pt x="383" y="181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2" y="161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9" y="143"/>
                                  </a:lnTo>
                                  <a:lnTo>
                                    <a:pt x="376" y="133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6"/>
                                  </a:lnTo>
                                  <a:lnTo>
                                    <a:pt x="365" y="107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1" y="84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8" y="55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9" y="32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6" y="18"/>
                                  </a:lnTo>
                                  <a:lnTo>
                                    <a:pt x="266" y="13"/>
                                  </a:lnTo>
                                  <a:lnTo>
                                    <a:pt x="259" y="10"/>
                                  </a:lnTo>
                                  <a:lnTo>
                                    <a:pt x="249" y="7"/>
                                  </a:lnTo>
                                  <a:lnTo>
                                    <a:pt x="240" y="4"/>
                                  </a:lnTo>
                                  <a:lnTo>
                                    <a:pt x="231" y="3"/>
                                  </a:lnTo>
                                  <a:lnTo>
                                    <a:pt x="222" y="1"/>
                                  </a:lnTo>
                                  <a:lnTo>
                                    <a:pt x="211" y="0"/>
                                  </a:lnTo>
                                  <a:lnTo>
                                    <a:pt x="202" y="0"/>
                                  </a:lnTo>
                                  <a:lnTo>
                                    <a:pt x="193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14" name="Rectangle 60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383" y="1281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1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615" name="Freeform 62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906" y="652"/>
                              <a:ext cx="192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5"/>
                                <a:gd name="T2" fmla="*/ 6 w 384"/>
                                <a:gd name="T3" fmla="*/ 0 h 385"/>
                                <a:gd name="T4" fmla="*/ 5 w 384"/>
                                <a:gd name="T5" fmla="*/ 0 h 385"/>
                                <a:gd name="T6" fmla="*/ 3 w 384"/>
                                <a:gd name="T7" fmla="*/ 0 h 385"/>
                                <a:gd name="T8" fmla="*/ 3 w 384"/>
                                <a:gd name="T9" fmla="*/ 0 h 385"/>
                                <a:gd name="T10" fmla="*/ 3 w 384"/>
                                <a:gd name="T11" fmla="*/ 1 h 385"/>
                                <a:gd name="T12" fmla="*/ 2 w 384"/>
                                <a:gd name="T13" fmla="*/ 1 h 385"/>
                                <a:gd name="T14" fmla="*/ 1 w 384"/>
                                <a:gd name="T15" fmla="*/ 2 h 385"/>
                                <a:gd name="T16" fmla="*/ 1 w 384"/>
                                <a:gd name="T17" fmla="*/ 3 h 385"/>
                                <a:gd name="T18" fmla="*/ 1 w 384"/>
                                <a:gd name="T19" fmla="*/ 3 h 385"/>
                                <a:gd name="T20" fmla="*/ 1 w 384"/>
                                <a:gd name="T21" fmla="*/ 4 h 385"/>
                                <a:gd name="T22" fmla="*/ 1 w 384"/>
                                <a:gd name="T23" fmla="*/ 5 h 385"/>
                                <a:gd name="T24" fmla="*/ 0 w 384"/>
                                <a:gd name="T25" fmla="*/ 5 h 385"/>
                                <a:gd name="T26" fmla="*/ 0 w 384"/>
                                <a:gd name="T27" fmla="*/ 6 h 385"/>
                                <a:gd name="T28" fmla="*/ 1 w 384"/>
                                <a:gd name="T29" fmla="*/ 6 h 385"/>
                                <a:gd name="T30" fmla="*/ 1 w 384"/>
                                <a:gd name="T31" fmla="*/ 7 h 385"/>
                                <a:gd name="T32" fmla="*/ 1 w 384"/>
                                <a:gd name="T33" fmla="*/ 8 h 385"/>
                                <a:gd name="T34" fmla="*/ 1 w 384"/>
                                <a:gd name="T35" fmla="*/ 8 h 385"/>
                                <a:gd name="T36" fmla="*/ 1 w 384"/>
                                <a:gd name="T37" fmla="*/ 9 h 385"/>
                                <a:gd name="T38" fmla="*/ 2 w 384"/>
                                <a:gd name="T39" fmla="*/ 10 h 385"/>
                                <a:gd name="T40" fmla="*/ 3 w 384"/>
                                <a:gd name="T41" fmla="*/ 10 h 385"/>
                                <a:gd name="T42" fmla="*/ 3 w 384"/>
                                <a:gd name="T43" fmla="*/ 11 h 385"/>
                                <a:gd name="T44" fmla="*/ 3 w 384"/>
                                <a:gd name="T45" fmla="*/ 11 h 385"/>
                                <a:gd name="T46" fmla="*/ 5 w 384"/>
                                <a:gd name="T47" fmla="*/ 11 h 385"/>
                                <a:gd name="T48" fmla="*/ 6 w 384"/>
                                <a:gd name="T49" fmla="*/ 11 h 385"/>
                                <a:gd name="T50" fmla="*/ 6 w 384"/>
                                <a:gd name="T51" fmla="*/ 11 h 385"/>
                                <a:gd name="T52" fmla="*/ 6 w 384"/>
                                <a:gd name="T53" fmla="*/ 11 h 385"/>
                                <a:gd name="T54" fmla="*/ 6 w 384"/>
                                <a:gd name="T55" fmla="*/ 11 h 385"/>
                                <a:gd name="T56" fmla="*/ 7 w 384"/>
                                <a:gd name="T57" fmla="*/ 11 h 385"/>
                                <a:gd name="T58" fmla="*/ 9 w 384"/>
                                <a:gd name="T59" fmla="*/ 11 h 385"/>
                                <a:gd name="T60" fmla="*/ 9 w 384"/>
                                <a:gd name="T61" fmla="*/ 11 h 385"/>
                                <a:gd name="T62" fmla="*/ 10 w 384"/>
                                <a:gd name="T63" fmla="*/ 10 h 385"/>
                                <a:gd name="T64" fmla="*/ 11 w 384"/>
                                <a:gd name="T65" fmla="*/ 10 h 385"/>
                                <a:gd name="T66" fmla="*/ 11 w 384"/>
                                <a:gd name="T67" fmla="*/ 9 h 385"/>
                                <a:gd name="T68" fmla="*/ 12 w 384"/>
                                <a:gd name="T69" fmla="*/ 8 h 385"/>
                                <a:gd name="T70" fmla="*/ 12 w 384"/>
                                <a:gd name="T71" fmla="*/ 8 h 385"/>
                                <a:gd name="T72" fmla="*/ 12 w 384"/>
                                <a:gd name="T73" fmla="*/ 7 h 385"/>
                                <a:gd name="T74" fmla="*/ 12 w 384"/>
                                <a:gd name="T75" fmla="*/ 6 h 385"/>
                                <a:gd name="T76" fmla="*/ 12 w 384"/>
                                <a:gd name="T77" fmla="*/ 6 h 385"/>
                                <a:gd name="T78" fmla="*/ 12 w 384"/>
                                <a:gd name="T79" fmla="*/ 5 h 385"/>
                                <a:gd name="T80" fmla="*/ 12 w 384"/>
                                <a:gd name="T81" fmla="*/ 5 h 385"/>
                                <a:gd name="T82" fmla="*/ 12 w 384"/>
                                <a:gd name="T83" fmla="*/ 4 h 385"/>
                                <a:gd name="T84" fmla="*/ 12 w 384"/>
                                <a:gd name="T85" fmla="*/ 3 h 385"/>
                                <a:gd name="T86" fmla="*/ 12 w 384"/>
                                <a:gd name="T87" fmla="*/ 3 h 385"/>
                                <a:gd name="T88" fmla="*/ 11 w 384"/>
                                <a:gd name="T89" fmla="*/ 2 h 385"/>
                                <a:gd name="T90" fmla="*/ 11 w 384"/>
                                <a:gd name="T91" fmla="*/ 1 h 385"/>
                                <a:gd name="T92" fmla="*/ 10 w 384"/>
                                <a:gd name="T93" fmla="*/ 1 h 385"/>
                                <a:gd name="T94" fmla="*/ 9 w 384"/>
                                <a:gd name="T95" fmla="*/ 0 h 385"/>
                                <a:gd name="T96" fmla="*/ 9 w 384"/>
                                <a:gd name="T97" fmla="*/ 0 h 385"/>
                                <a:gd name="T98" fmla="*/ 7 w 384"/>
                                <a:gd name="T99" fmla="*/ 0 h 385"/>
                                <a:gd name="T100" fmla="*/ 6 w 384"/>
                                <a:gd name="T101" fmla="*/ 0 h 385"/>
                                <a:gd name="T102" fmla="*/ 6 w 384"/>
                                <a:gd name="T103" fmla="*/ 0 h 385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5"/>
                                <a:gd name="T158" fmla="*/ 384 w 384"/>
                                <a:gd name="T159" fmla="*/ 385 h 385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5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2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5"/>
                                  </a:lnTo>
                                  <a:lnTo>
                                    <a:pt x="134" y="8"/>
                                  </a:lnTo>
                                  <a:lnTo>
                                    <a:pt x="126" y="11"/>
                                  </a:lnTo>
                                  <a:lnTo>
                                    <a:pt x="117" y="14"/>
                                  </a:lnTo>
                                  <a:lnTo>
                                    <a:pt x="107" y="19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3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6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2" y="85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4" y="117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7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1" y="162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2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2"/>
                                  </a:lnTo>
                                  <a:lnTo>
                                    <a:pt x="0" y="211"/>
                                  </a:lnTo>
                                  <a:lnTo>
                                    <a:pt x="1" y="222"/>
                                  </a:lnTo>
                                  <a:lnTo>
                                    <a:pt x="3" y="231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7" y="249"/>
                                  </a:lnTo>
                                  <a:lnTo>
                                    <a:pt x="11" y="259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8" y="276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9"/>
                                  </a:lnTo>
                                  <a:lnTo>
                                    <a:pt x="43" y="314"/>
                                  </a:lnTo>
                                  <a:lnTo>
                                    <a:pt x="55" y="328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1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7" y="365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9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2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5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0" y="383"/>
                                  </a:lnTo>
                                  <a:lnTo>
                                    <a:pt x="221" y="382"/>
                                  </a:lnTo>
                                  <a:lnTo>
                                    <a:pt x="230" y="380"/>
                                  </a:lnTo>
                                  <a:lnTo>
                                    <a:pt x="240" y="379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8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5" y="365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1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7" y="328"/>
                                  </a:lnTo>
                                  <a:lnTo>
                                    <a:pt x="340" y="314"/>
                                  </a:lnTo>
                                  <a:lnTo>
                                    <a:pt x="350" y="299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6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9"/>
                                  </a:lnTo>
                                  <a:lnTo>
                                    <a:pt x="375" y="249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1"/>
                                  </a:lnTo>
                                  <a:lnTo>
                                    <a:pt x="381" y="222"/>
                                  </a:lnTo>
                                  <a:lnTo>
                                    <a:pt x="383" y="211"/>
                                  </a:lnTo>
                                  <a:lnTo>
                                    <a:pt x="383" y="202"/>
                                  </a:lnTo>
                                  <a:lnTo>
                                    <a:pt x="384" y="192"/>
                                  </a:lnTo>
                                  <a:lnTo>
                                    <a:pt x="383" y="182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1" y="162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8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0" y="85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7" y="56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8" y="33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9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1"/>
                                  </a:lnTo>
                                  <a:lnTo>
                                    <a:pt x="249" y="8"/>
                                  </a:lnTo>
                                  <a:lnTo>
                                    <a:pt x="240" y="5"/>
                                  </a:lnTo>
                                  <a:lnTo>
                                    <a:pt x="230" y="3"/>
                                  </a:lnTo>
                                  <a:lnTo>
                                    <a:pt x="221" y="2"/>
                                  </a:lnTo>
                                  <a:lnTo>
                                    <a:pt x="210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FF33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16" name="Rectangle 63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998" y="666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4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617" name="Line 66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2725" y="805"/>
                              <a:ext cx="181" cy="190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18" name="Freeform 6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560" y="959"/>
                              <a:ext cx="192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5"/>
                                <a:gd name="T2" fmla="*/ 6 w 384"/>
                                <a:gd name="T3" fmla="*/ 0 h 385"/>
                                <a:gd name="T4" fmla="*/ 5 w 384"/>
                                <a:gd name="T5" fmla="*/ 0 h 385"/>
                                <a:gd name="T6" fmla="*/ 3 w 384"/>
                                <a:gd name="T7" fmla="*/ 0 h 385"/>
                                <a:gd name="T8" fmla="*/ 3 w 384"/>
                                <a:gd name="T9" fmla="*/ 0 h 385"/>
                                <a:gd name="T10" fmla="*/ 3 w 384"/>
                                <a:gd name="T11" fmla="*/ 1 h 385"/>
                                <a:gd name="T12" fmla="*/ 2 w 384"/>
                                <a:gd name="T13" fmla="*/ 1 h 385"/>
                                <a:gd name="T14" fmla="*/ 1 w 384"/>
                                <a:gd name="T15" fmla="*/ 2 h 385"/>
                                <a:gd name="T16" fmla="*/ 1 w 384"/>
                                <a:gd name="T17" fmla="*/ 3 h 385"/>
                                <a:gd name="T18" fmla="*/ 1 w 384"/>
                                <a:gd name="T19" fmla="*/ 3 h 385"/>
                                <a:gd name="T20" fmla="*/ 1 w 384"/>
                                <a:gd name="T21" fmla="*/ 4 h 385"/>
                                <a:gd name="T22" fmla="*/ 1 w 384"/>
                                <a:gd name="T23" fmla="*/ 5 h 385"/>
                                <a:gd name="T24" fmla="*/ 0 w 384"/>
                                <a:gd name="T25" fmla="*/ 5 h 385"/>
                                <a:gd name="T26" fmla="*/ 0 w 384"/>
                                <a:gd name="T27" fmla="*/ 6 h 385"/>
                                <a:gd name="T28" fmla="*/ 1 w 384"/>
                                <a:gd name="T29" fmla="*/ 6 h 385"/>
                                <a:gd name="T30" fmla="*/ 1 w 384"/>
                                <a:gd name="T31" fmla="*/ 7 h 385"/>
                                <a:gd name="T32" fmla="*/ 1 w 384"/>
                                <a:gd name="T33" fmla="*/ 8 h 385"/>
                                <a:gd name="T34" fmla="*/ 1 w 384"/>
                                <a:gd name="T35" fmla="*/ 8 h 385"/>
                                <a:gd name="T36" fmla="*/ 1 w 384"/>
                                <a:gd name="T37" fmla="*/ 9 h 385"/>
                                <a:gd name="T38" fmla="*/ 2 w 384"/>
                                <a:gd name="T39" fmla="*/ 10 h 385"/>
                                <a:gd name="T40" fmla="*/ 3 w 384"/>
                                <a:gd name="T41" fmla="*/ 10 h 385"/>
                                <a:gd name="T42" fmla="*/ 3 w 384"/>
                                <a:gd name="T43" fmla="*/ 11 h 385"/>
                                <a:gd name="T44" fmla="*/ 3 w 384"/>
                                <a:gd name="T45" fmla="*/ 11 h 385"/>
                                <a:gd name="T46" fmla="*/ 5 w 384"/>
                                <a:gd name="T47" fmla="*/ 11 h 385"/>
                                <a:gd name="T48" fmla="*/ 6 w 384"/>
                                <a:gd name="T49" fmla="*/ 11 h 385"/>
                                <a:gd name="T50" fmla="*/ 6 w 384"/>
                                <a:gd name="T51" fmla="*/ 11 h 385"/>
                                <a:gd name="T52" fmla="*/ 6 w 384"/>
                                <a:gd name="T53" fmla="*/ 11 h 385"/>
                                <a:gd name="T54" fmla="*/ 6 w 384"/>
                                <a:gd name="T55" fmla="*/ 11 h 385"/>
                                <a:gd name="T56" fmla="*/ 7 w 384"/>
                                <a:gd name="T57" fmla="*/ 11 h 385"/>
                                <a:gd name="T58" fmla="*/ 9 w 384"/>
                                <a:gd name="T59" fmla="*/ 11 h 385"/>
                                <a:gd name="T60" fmla="*/ 9 w 384"/>
                                <a:gd name="T61" fmla="*/ 11 h 385"/>
                                <a:gd name="T62" fmla="*/ 10 w 384"/>
                                <a:gd name="T63" fmla="*/ 10 h 385"/>
                                <a:gd name="T64" fmla="*/ 11 w 384"/>
                                <a:gd name="T65" fmla="*/ 10 h 385"/>
                                <a:gd name="T66" fmla="*/ 11 w 384"/>
                                <a:gd name="T67" fmla="*/ 9 h 385"/>
                                <a:gd name="T68" fmla="*/ 12 w 384"/>
                                <a:gd name="T69" fmla="*/ 8 h 385"/>
                                <a:gd name="T70" fmla="*/ 12 w 384"/>
                                <a:gd name="T71" fmla="*/ 8 h 385"/>
                                <a:gd name="T72" fmla="*/ 12 w 384"/>
                                <a:gd name="T73" fmla="*/ 7 h 385"/>
                                <a:gd name="T74" fmla="*/ 12 w 384"/>
                                <a:gd name="T75" fmla="*/ 6 h 385"/>
                                <a:gd name="T76" fmla="*/ 12 w 384"/>
                                <a:gd name="T77" fmla="*/ 6 h 385"/>
                                <a:gd name="T78" fmla="*/ 12 w 384"/>
                                <a:gd name="T79" fmla="*/ 5 h 385"/>
                                <a:gd name="T80" fmla="*/ 12 w 384"/>
                                <a:gd name="T81" fmla="*/ 5 h 385"/>
                                <a:gd name="T82" fmla="*/ 12 w 384"/>
                                <a:gd name="T83" fmla="*/ 4 h 385"/>
                                <a:gd name="T84" fmla="*/ 12 w 384"/>
                                <a:gd name="T85" fmla="*/ 3 h 385"/>
                                <a:gd name="T86" fmla="*/ 12 w 384"/>
                                <a:gd name="T87" fmla="*/ 3 h 385"/>
                                <a:gd name="T88" fmla="*/ 11 w 384"/>
                                <a:gd name="T89" fmla="*/ 2 h 385"/>
                                <a:gd name="T90" fmla="*/ 11 w 384"/>
                                <a:gd name="T91" fmla="*/ 1 h 385"/>
                                <a:gd name="T92" fmla="*/ 10 w 384"/>
                                <a:gd name="T93" fmla="*/ 1 h 385"/>
                                <a:gd name="T94" fmla="*/ 9 w 384"/>
                                <a:gd name="T95" fmla="*/ 0 h 385"/>
                                <a:gd name="T96" fmla="*/ 9 w 384"/>
                                <a:gd name="T97" fmla="*/ 0 h 385"/>
                                <a:gd name="T98" fmla="*/ 7 w 384"/>
                                <a:gd name="T99" fmla="*/ 0 h 385"/>
                                <a:gd name="T100" fmla="*/ 6 w 384"/>
                                <a:gd name="T101" fmla="*/ 0 h 385"/>
                                <a:gd name="T102" fmla="*/ 6 w 384"/>
                                <a:gd name="T103" fmla="*/ 0 h 385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5"/>
                                <a:gd name="T158" fmla="*/ 384 w 384"/>
                                <a:gd name="T159" fmla="*/ 385 h 385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5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2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5"/>
                                  </a:lnTo>
                                  <a:lnTo>
                                    <a:pt x="133" y="8"/>
                                  </a:lnTo>
                                  <a:lnTo>
                                    <a:pt x="126" y="11"/>
                                  </a:lnTo>
                                  <a:lnTo>
                                    <a:pt x="116" y="14"/>
                                  </a:lnTo>
                                  <a:lnTo>
                                    <a:pt x="107" y="19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3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6"/>
                                  </a:lnTo>
                                  <a:lnTo>
                                    <a:pt x="43" y="70"/>
                                  </a:lnTo>
                                  <a:lnTo>
                                    <a:pt x="32" y="85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3" y="117"/>
                                  </a:lnTo>
                                  <a:lnTo>
                                    <a:pt x="10" y="127"/>
                                  </a:lnTo>
                                  <a:lnTo>
                                    <a:pt x="7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3"/>
                                  </a:lnTo>
                                  <a:lnTo>
                                    <a:pt x="1" y="162"/>
                                  </a:lnTo>
                                  <a:lnTo>
                                    <a:pt x="0" y="173"/>
                                  </a:lnTo>
                                  <a:lnTo>
                                    <a:pt x="0" y="182"/>
                                  </a:lnTo>
                                  <a:lnTo>
                                    <a:pt x="0" y="193"/>
                                  </a:lnTo>
                                  <a:lnTo>
                                    <a:pt x="0" y="202"/>
                                  </a:lnTo>
                                  <a:lnTo>
                                    <a:pt x="0" y="211"/>
                                  </a:lnTo>
                                  <a:lnTo>
                                    <a:pt x="1" y="222"/>
                                  </a:lnTo>
                                  <a:lnTo>
                                    <a:pt x="3" y="231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7" y="250"/>
                                  </a:lnTo>
                                  <a:lnTo>
                                    <a:pt x="10" y="259"/>
                                  </a:lnTo>
                                  <a:lnTo>
                                    <a:pt x="13" y="266"/>
                                  </a:lnTo>
                                  <a:lnTo>
                                    <a:pt x="18" y="276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9"/>
                                  </a:lnTo>
                                  <a:lnTo>
                                    <a:pt x="43" y="314"/>
                                  </a:lnTo>
                                  <a:lnTo>
                                    <a:pt x="55" y="328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1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7" y="365"/>
                                  </a:lnTo>
                                  <a:lnTo>
                                    <a:pt x="116" y="370"/>
                                  </a:lnTo>
                                  <a:lnTo>
                                    <a:pt x="126" y="373"/>
                                  </a:lnTo>
                                  <a:lnTo>
                                    <a:pt x="133" y="376"/>
                                  </a:lnTo>
                                  <a:lnTo>
                                    <a:pt x="143" y="379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2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5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0" y="383"/>
                                  </a:lnTo>
                                  <a:lnTo>
                                    <a:pt x="221" y="382"/>
                                  </a:lnTo>
                                  <a:lnTo>
                                    <a:pt x="230" y="380"/>
                                  </a:lnTo>
                                  <a:lnTo>
                                    <a:pt x="240" y="379"/>
                                  </a:lnTo>
                                  <a:lnTo>
                                    <a:pt x="249" y="376"/>
                                  </a:lnTo>
                                  <a:lnTo>
                                    <a:pt x="258" y="373"/>
                                  </a:lnTo>
                                  <a:lnTo>
                                    <a:pt x="266" y="370"/>
                                  </a:lnTo>
                                  <a:lnTo>
                                    <a:pt x="275" y="365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1"/>
                                  </a:lnTo>
                                  <a:lnTo>
                                    <a:pt x="313" y="340"/>
                                  </a:lnTo>
                                  <a:lnTo>
                                    <a:pt x="327" y="328"/>
                                  </a:lnTo>
                                  <a:lnTo>
                                    <a:pt x="340" y="314"/>
                                  </a:lnTo>
                                  <a:lnTo>
                                    <a:pt x="350" y="299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6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9"/>
                                  </a:lnTo>
                                  <a:lnTo>
                                    <a:pt x="375" y="250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1"/>
                                  </a:lnTo>
                                  <a:lnTo>
                                    <a:pt x="381" y="222"/>
                                  </a:lnTo>
                                  <a:lnTo>
                                    <a:pt x="383" y="211"/>
                                  </a:lnTo>
                                  <a:lnTo>
                                    <a:pt x="383" y="202"/>
                                  </a:lnTo>
                                  <a:lnTo>
                                    <a:pt x="384" y="193"/>
                                  </a:lnTo>
                                  <a:lnTo>
                                    <a:pt x="383" y="182"/>
                                  </a:lnTo>
                                  <a:lnTo>
                                    <a:pt x="383" y="173"/>
                                  </a:lnTo>
                                  <a:lnTo>
                                    <a:pt x="381" y="162"/>
                                  </a:lnTo>
                                  <a:lnTo>
                                    <a:pt x="380" y="153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7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8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0" y="85"/>
                                  </a:lnTo>
                                  <a:lnTo>
                                    <a:pt x="340" y="70"/>
                                  </a:lnTo>
                                  <a:lnTo>
                                    <a:pt x="327" y="56"/>
                                  </a:lnTo>
                                  <a:lnTo>
                                    <a:pt x="313" y="43"/>
                                  </a:lnTo>
                                  <a:lnTo>
                                    <a:pt x="298" y="33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9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1"/>
                                  </a:lnTo>
                                  <a:lnTo>
                                    <a:pt x="249" y="8"/>
                                  </a:lnTo>
                                  <a:lnTo>
                                    <a:pt x="240" y="5"/>
                                  </a:lnTo>
                                  <a:lnTo>
                                    <a:pt x="230" y="3"/>
                                  </a:lnTo>
                                  <a:lnTo>
                                    <a:pt x="221" y="2"/>
                                  </a:lnTo>
                                  <a:lnTo>
                                    <a:pt x="210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</p:grpSp>
                      <p:sp>
                        <p:nvSpPr>
                          <p:cNvPr id="20605" name="Rectangle 6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133" y="1283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6</a:t>
                            </a:r>
                            <a:endParaRPr lang="en-GB" altLang="en-US"/>
                          </a:p>
                        </p:txBody>
                      </p:sp>
                      <p:grpSp>
                        <p:nvGrpSpPr>
                          <p:cNvPr id="20606" name="Group 7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934" y="1610"/>
                            <a:ext cx="193" cy="192"/>
                            <a:chOff x="5232" y="3168"/>
                            <a:chExt cx="193" cy="192"/>
                          </a:xfrm>
                        </p:grpSpPr>
                        <p:sp>
                          <p:nvSpPr>
                            <p:cNvPr id="20608" name="Freeform 7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5232" y="3168"/>
                              <a:ext cx="193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4"/>
                                <a:gd name="T2" fmla="*/ 6 w 384"/>
                                <a:gd name="T3" fmla="*/ 1 h 384"/>
                                <a:gd name="T4" fmla="*/ 5 w 384"/>
                                <a:gd name="T5" fmla="*/ 1 h 384"/>
                                <a:gd name="T6" fmla="*/ 4 w 384"/>
                                <a:gd name="T7" fmla="*/ 1 h 384"/>
                                <a:gd name="T8" fmla="*/ 4 w 384"/>
                                <a:gd name="T9" fmla="*/ 1 h 384"/>
                                <a:gd name="T10" fmla="*/ 3 w 384"/>
                                <a:gd name="T11" fmla="*/ 1 h 384"/>
                                <a:gd name="T12" fmla="*/ 2 w 384"/>
                                <a:gd name="T13" fmla="*/ 2 h 384"/>
                                <a:gd name="T14" fmla="*/ 1 w 384"/>
                                <a:gd name="T15" fmla="*/ 3 h 384"/>
                                <a:gd name="T16" fmla="*/ 1 w 384"/>
                                <a:gd name="T17" fmla="*/ 3 h 384"/>
                                <a:gd name="T18" fmla="*/ 1 w 384"/>
                                <a:gd name="T19" fmla="*/ 3 h 384"/>
                                <a:gd name="T20" fmla="*/ 1 w 384"/>
                                <a:gd name="T21" fmla="*/ 5 h 384"/>
                                <a:gd name="T22" fmla="*/ 1 w 384"/>
                                <a:gd name="T23" fmla="*/ 6 h 384"/>
                                <a:gd name="T24" fmla="*/ 0 w 384"/>
                                <a:gd name="T25" fmla="*/ 6 h 384"/>
                                <a:gd name="T26" fmla="*/ 0 w 384"/>
                                <a:gd name="T27" fmla="*/ 6 h 384"/>
                                <a:gd name="T28" fmla="*/ 1 w 384"/>
                                <a:gd name="T29" fmla="*/ 6 h 384"/>
                                <a:gd name="T30" fmla="*/ 1 w 384"/>
                                <a:gd name="T31" fmla="*/ 7 h 384"/>
                                <a:gd name="T32" fmla="*/ 1 w 384"/>
                                <a:gd name="T33" fmla="*/ 9 h 384"/>
                                <a:gd name="T34" fmla="*/ 1 w 384"/>
                                <a:gd name="T35" fmla="*/ 9 h 384"/>
                                <a:gd name="T36" fmla="*/ 1 w 384"/>
                                <a:gd name="T37" fmla="*/ 10 h 384"/>
                                <a:gd name="T38" fmla="*/ 2 w 384"/>
                                <a:gd name="T39" fmla="*/ 11 h 384"/>
                                <a:gd name="T40" fmla="*/ 3 w 384"/>
                                <a:gd name="T41" fmla="*/ 11 h 384"/>
                                <a:gd name="T42" fmla="*/ 4 w 384"/>
                                <a:gd name="T43" fmla="*/ 12 h 384"/>
                                <a:gd name="T44" fmla="*/ 4 w 384"/>
                                <a:gd name="T45" fmla="*/ 12 h 384"/>
                                <a:gd name="T46" fmla="*/ 5 w 384"/>
                                <a:gd name="T47" fmla="*/ 12 h 384"/>
                                <a:gd name="T48" fmla="*/ 6 w 384"/>
                                <a:gd name="T49" fmla="*/ 12 h 384"/>
                                <a:gd name="T50" fmla="*/ 6 w 384"/>
                                <a:gd name="T51" fmla="*/ 12 h 384"/>
                                <a:gd name="T52" fmla="*/ 7 w 384"/>
                                <a:gd name="T53" fmla="*/ 12 h 384"/>
                                <a:gd name="T54" fmla="*/ 7 w 384"/>
                                <a:gd name="T55" fmla="*/ 12 h 384"/>
                                <a:gd name="T56" fmla="*/ 8 w 384"/>
                                <a:gd name="T57" fmla="*/ 12 h 384"/>
                                <a:gd name="T58" fmla="*/ 9 w 384"/>
                                <a:gd name="T59" fmla="*/ 12 h 384"/>
                                <a:gd name="T60" fmla="*/ 9 w 384"/>
                                <a:gd name="T61" fmla="*/ 12 h 384"/>
                                <a:gd name="T62" fmla="*/ 10 w 384"/>
                                <a:gd name="T63" fmla="*/ 11 h 384"/>
                                <a:gd name="T64" fmla="*/ 11 w 384"/>
                                <a:gd name="T65" fmla="*/ 11 h 384"/>
                                <a:gd name="T66" fmla="*/ 11 w 384"/>
                                <a:gd name="T67" fmla="*/ 10 h 384"/>
                                <a:gd name="T68" fmla="*/ 12 w 384"/>
                                <a:gd name="T69" fmla="*/ 9 h 384"/>
                                <a:gd name="T70" fmla="*/ 12 w 384"/>
                                <a:gd name="T71" fmla="*/ 9 h 384"/>
                                <a:gd name="T72" fmla="*/ 12 w 384"/>
                                <a:gd name="T73" fmla="*/ 7 h 384"/>
                                <a:gd name="T74" fmla="*/ 12 w 384"/>
                                <a:gd name="T75" fmla="*/ 6 h 384"/>
                                <a:gd name="T76" fmla="*/ 13 w 384"/>
                                <a:gd name="T77" fmla="*/ 6 h 384"/>
                                <a:gd name="T78" fmla="*/ 13 w 384"/>
                                <a:gd name="T79" fmla="*/ 6 h 384"/>
                                <a:gd name="T80" fmla="*/ 12 w 384"/>
                                <a:gd name="T81" fmla="*/ 6 h 384"/>
                                <a:gd name="T82" fmla="*/ 12 w 384"/>
                                <a:gd name="T83" fmla="*/ 5 h 384"/>
                                <a:gd name="T84" fmla="*/ 12 w 384"/>
                                <a:gd name="T85" fmla="*/ 3 h 384"/>
                                <a:gd name="T86" fmla="*/ 12 w 384"/>
                                <a:gd name="T87" fmla="*/ 3 h 384"/>
                                <a:gd name="T88" fmla="*/ 11 w 384"/>
                                <a:gd name="T89" fmla="*/ 3 h 384"/>
                                <a:gd name="T90" fmla="*/ 11 w 384"/>
                                <a:gd name="T91" fmla="*/ 2 h 384"/>
                                <a:gd name="T92" fmla="*/ 10 w 384"/>
                                <a:gd name="T93" fmla="*/ 1 h 384"/>
                                <a:gd name="T94" fmla="*/ 9 w 384"/>
                                <a:gd name="T95" fmla="*/ 1 h 384"/>
                                <a:gd name="T96" fmla="*/ 9 w 384"/>
                                <a:gd name="T97" fmla="*/ 1 h 384"/>
                                <a:gd name="T98" fmla="*/ 8 w 384"/>
                                <a:gd name="T99" fmla="*/ 1 h 384"/>
                                <a:gd name="T100" fmla="*/ 7 w 384"/>
                                <a:gd name="T101" fmla="*/ 1 h 384"/>
                                <a:gd name="T102" fmla="*/ 7 w 384"/>
                                <a:gd name="T103" fmla="*/ 0 h 384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4"/>
                                <a:gd name="T158" fmla="*/ 384 w 384"/>
                                <a:gd name="T159" fmla="*/ 384 h 384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4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1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4"/>
                                  </a:lnTo>
                                  <a:lnTo>
                                    <a:pt x="134" y="7"/>
                                  </a:lnTo>
                                  <a:lnTo>
                                    <a:pt x="126" y="10"/>
                                  </a:lnTo>
                                  <a:lnTo>
                                    <a:pt x="117" y="14"/>
                                  </a:lnTo>
                                  <a:lnTo>
                                    <a:pt x="108" y="18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2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5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2" y="84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7"/>
                                  </a:lnTo>
                                  <a:lnTo>
                                    <a:pt x="14" y="117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8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1" y="161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1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1"/>
                                  </a:lnTo>
                                  <a:lnTo>
                                    <a:pt x="0" y="210"/>
                                  </a:lnTo>
                                  <a:lnTo>
                                    <a:pt x="1" y="221"/>
                                  </a:lnTo>
                                  <a:lnTo>
                                    <a:pt x="3" y="230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8" y="249"/>
                                  </a:lnTo>
                                  <a:lnTo>
                                    <a:pt x="11" y="258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8" y="275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8"/>
                                  </a:lnTo>
                                  <a:lnTo>
                                    <a:pt x="43" y="313"/>
                                  </a:lnTo>
                                  <a:lnTo>
                                    <a:pt x="55" y="327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0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8" y="364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8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1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4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1" y="383"/>
                                  </a:lnTo>
                                  <a:lnTo>
                                    <a:pt x="221" y="381"/>
                                  </a:lnTo>
                                  <a:lnTo>
                                    <a:pt x="231" y="380"/>
                                  </a:lnTo>
                                  <a:lnTo>
                                    <a:pt x="240" y="378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8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5" y="364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0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7" y="327"/>
                                  </a:lnTo>
                                  <a:lnTo>
                                    <a:pt x="340" y="313"/>
                                  </a:lnTo>
                                  <a:lnTo>
                                    <a:pt x="351" y="298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5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8"/>
                                  </a:lnTo>
                                  <a:lnTo>
                                    <a:pt x="375" y="249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0"/>
                                  </a:lnTo>
                                  <a:lnTo>
                                    <a:pt x="381" y="221"/>
                                  </a:lnTo>
                                  <a:lnTo>
                                    <a:pt x="383" y="210"/>
                                  </a:lnTo>
                                  <a:lnTo>
                                    <a:pt x="383" y="201"/>
                                  </a:lnTo>
                                  <a:lnTo>
                                    <a:pt x="384" y="192"/>
                                  </a:lnTo>
                                  <a:lnTo>
                                    <a:pt x="383" y="181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1" y="161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7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1" y="84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7" y="55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8" y="32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8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0"/>
                                  </a:lnTo>
                                  <a:lnTo>
                                    <a:pt x="249" y="7"/>
                                  </a:lnTo>
                                  <a:lnTo>
                                    <a:pt x="240" y="4"/>
                                  </a:lnTo>
                                  <a:lnTo>
                                    <a:pt x="231" y="3"/>
                                  </a:lnTo>
                                  <a:lnTo>
                                    <a:pt x="221" y="1"/>
                                  </a:lnTo>
                                  <a:lnTo>
                                    <a:pt x="211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609" name="Rectangle 74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270" y="3168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5</a:t>
                              </a:r>
                              <a:endParaRPr lang="en-GB" altLang="en-US"/>
                            </a:p>
                          </p:txBody>
                        </p:sp>
                      </p:grpSp>
                      <p:sp>
                        <p:nvSpPr>
                          <p:cNvPr id="20607" name="Line 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1" y="1447"/>
                            <a:ext cx="64" cy="151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</p:grpSp>
                <p:sp>
                  <p:nvSpPr>
                    <p:cNvPr id="20587" name="Line 8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64" y="1728"/>
                      <a:ext cx="124" cy="116"/>
                    </a:xfrm>
                    <a:prstGeom prst="line">
                      <a:avLst/>
                    </a:pr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0588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27" y="1834"/>
                      <a:ext cx="152" cy="18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en-GB" altLang="en-US" sz="190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12</a:t>
                      </a:r>
                      <a:endParaRPr lang="en-GB" altLang="en-US"/>
                    </a:p>
                  </p:txBody>
                </p:sp>
              </p:grpSp>
            </p:grpSp>
          </p:grpSp>
        </p:grpSp>
      </p:grpSp>
      <p:sp>
        <p:nvSpPr>
          <p:cNvPr id="20486" name="Text Box 84"/>
          <p:cNvSpPr txBox="1">
            <a:spLocks noChangeArrowheads="1"/>
          </p:cNvSpPr>
          <p:nvPr/>
        </p:nvSpPr>
        <p:spPr bwMode="auto">
          <a:xfrm>
            <a:off x="5739733" y="742292"/>
            <a:ext cx="313280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4 is unbalanced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now (too heavy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on the right).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New node is in the right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      subtree of the right child so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      single (left) rotation </a:t>
            </a:r>
            <a:br>
              <a:rPr lang="en-GB" altLang="en-US" dirty="0">
                <a:latin typeface="Calibri" panose="020F0502020204030204" pitchFamily="34" charset="0"/>
              </a:rPr>
            </a:br>
            <a:r>
              <a:rPr lang="en-GB" altLang="en-US" dirty="0">
                <a:latin typeface="Calibri" panose="020F0502020204030204" pitchFamily="34" charset="0"/>
              </a:rPr>
              <a:t>            required.</a:t>
            </a:r>
          </a:p>
        </p:txBody>
      </p:sp>
      <p:grpSp>
        <p:nvGrpSpPr>
          <p:cNvPr id="20487" name="Group 95"/>
          <p:cNvGrpSpPr>
            <a:grpSpLocks/>
          </p:cNvGrpSpPr>
          <p:nvPr/>
        </p:nvGrpSpPr>
        <p:grpSpPr bwMode="auto">
          <a:xfrm>
            <a:off x="304800" y="4191000"/>
            <a:ext cx="2660650" cy="2184400"/>
            <a:chOff x="2208" y="2256"/>
            <a:chExt cx="1676" cy="1376"/>
          </a:xfrm>
        </p:grpSpPr>
        <p:sp>
          <p:nvSpPr>
            <p:cNvPr id="20537" name="Freeform 96"/>
            <p:cNvSpPr>
              <a:spLocks/>
            </p:cNvSpPr>
            <p:nvPr/>
          </p:nvSpPr>
          <p:spPr bwMode="auto">
            <a:xfrm>
              <a:off x="3692" y="318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0538" name="Group 97"/>
            <p:cNvGrpSpPr>
              <a:grpSpLocks/>
            </p:cNvGrpSpPr>
            <p:nvPr/>
          </p:nvGrpSpPr>
          <p:grpSpPr bwMode="auto">
            <a:xfrm>
              <a:off x="2208" y="2256"/>
              <a:ext cx="1650" cy="1376"/>
              <a:chOff x="2208" y="2256"/>
              <a:chExt cx="1650" cy="1376"/>
            </a:xfrm>
          </p:grpSpPr>
          <p:sp>
            <p:nvSpPr>
              <p:cNvPr id="20539" name="Freeform 98"/>
              <p:cNvSpPr>
                <a:spLocks/>
              </p:cNvSpPr>
              <p:nvPr/>
            </p:nvSpPr>
            <p:spPr bwMode="auto">
              <a:xfrm>
                <a:off x="3277" y="317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0540" name="Group 99"/>
              <p:cNvGrpSpPr>
                <a:grpSpLocks/>
              </p:cNvGrpSpPr>
              <p:nvPr/>
            </p:nvGrpSpPr>
            <p:grpSpPr bwMode="auto">
              <a:xfrm>
                <a:off x="2208" y="2256"/>
                <a:ext cx="1650" cy="1376"/>
                <a:chOff x="2208" y="1920"/>
                <a:chExt cx="1650" cy="1376"/>
              </a:xfrm>
            </p:grpSpPr>
            <p:sp>
              <p:nvSpPr>
                <p:cNvPr id="20541" name="Freeform 100"/>
                <p:cNvSpPr>
                  <a:spLocks/>
                </p:cNvSpPr>
                <p:nvPr/>
              </p:nvSpPr>
              <p:spPr bwMode="auto">
                <a:xfrm>
                  <a:off x="3037" y="3103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grpSp>
              <p:nvGrpSpPr>
                <p:cNvPr id="20542" name="Group 101"/>
                <p:cNvGrpSpPr>
                  <a:grpSpLocks/>
                </p:cNvGrpSpPr>
                <p:nvPr/>
              </p:nvGrpSpPr>
              <p:grpSpPr bwMode="auto">
                <a:xfrm>
                  <a:off x="2208" y="1920"/>
                  <a:ext cx="1650" cy="1364"/>
                  <a:chOff x="2291" y="652"/>
                  <a:chExt cx="1650" cy="1364"/>
                </a:xfrm>
              </p:grpSpPr>
              <p:sp>
                <p:nvSpPr>
                  <p:cNvPr id="20543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3406" y="1113"/>
                    <a:ext cx="165" cy="162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20544" name="Group 103"/>
                  <p:cNvGrpSpPr>
                    <a:grpSpLocks/>
                  </p:cNvGrpSpPr>
                  <p:nvPr/>
                </p:nvGrpSpPr>
                <p:grpSpPr bwMode="auto">
                  <a:xfrm>
                    <a:off x="2291" y="652"/>
                    <a:ext cx="1650" cy="1364"/>
                    <a:chOff x="2291" y="652"/>
                    <a:chExt cx="1650" cy="1364"/>
                  </a:xfrm>
                </p:grpSpPr>
                <p:grpSp>
                  <p:nvGrpSpPr>
                    <p:cNvPr id="20545" name="Group 10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91" y="652"/>
                      <a:ext cx="1650" cy="1150"/>
                      <a:chOff x="2291" y="652"/>
                      <a:chExt cx="1650" cy="1150"/>
                    </a:xfrm>
                  </p:grpSpPr>
                  <p:sp>
                    <p:nvSpPr>
                      <p:cNvPr id="20548" name="Line 1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48" y="1451"/>
                        <a:ext cx="166" cy="163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0549" name="Freeform 10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511" y="1267"/>
                        <a:ext cx="192" cy="193"/>
                      </a:xfrm>
                      <a:custGeom>
                        <a:avLst/>
                        <a:gdLst>
                          <a:gd name="T0" fmla="*/ 5 w 385"/>
                          <a:gd name="T1" fmla="*/ 0 h 384"/>
                          <a:gd name="T2" fmla="*/ 5 w 385"/>
                          <a:gd name="T3" fmla="*/ 1 h 384"/>
                          <a:gd name="T4" fmla="*/ 4 w 385"/>
                          <a:gd name="T5" fmla="*/ 1 h 384"/>
                          <a:gd name="T6" fmla="*/ 3 w 385"/>
                          <a:gd name="T7" fmla="*/ 1 h 384"/>
                          <a:gd name="T8" fmla="*/ 3 w 385"/>
                          <a:gd name="T9" fmla="*/ 1 h 384"/>
                          <a:gd name="T10" fmla="*/ 2 w 385"/>
                          <a:gd name="T11" fmla="*/ 1 h 384"/>
                          <a:gd name="T12" fmla="*/ 1 w 385"/>
                          <a:gd name="T13" fmla="*/ 2 h 384"/>
                          <a:gd name="T14" fmla="*/ 1 w 385"/>
                          <a:gd name="T15" fmla="*/ 3 h 384"/>
                          <a:gd name="T16" fmla="*/ 0 w 385"/>
                          <a:gd name="T17" fmla="*/ 4 h 384"/>
                          <a:gd name="T18" fmla="*/ 0 w 385"/>
                          <a:gd name="T19" fmla="*/ 4 h 384"/>
                          <a:gd name="T20" fmla="*/ 0 w 385"/>
                          <a:gd name="T21" fmla="*/ 5 h 384"/>
                          <a:gd name="T22" fmla="*/ 0 w 385"/>
                          <a:gd name="T23" fmla="*/ 6 h 384"/>
                          <a:gd name="T24" fmla="*/ 0 w 385"/>
                          <a:gd name="T25" fmla="*/ 6 h 384"/>
                          <a:gd name="T26" fmla="*/ 0 w 385"/>
                          <a:gd name="T27" fmla="*/ 7 h 384"/>
                          <a:gd name="T28" fmla="*/ 0 w 385"/>
                          <a:gd name="T29" fmla="*/ 7 h 384"/>
                          <a:gd name="T30" fmla="*/ 0 w 385"/>
                          <a:gd name="T31" fmla="*/ 8 h 384"/>
                          <a:gd name="T32" fmla="*/ 0 w 385"/>
                          <a:gd name="T33" fmla="*/ 9 h 384"/>
                          <a:gd name="T34" fmla="*/ 0 w 385"/>
                          <a:gd name="T35" fmla="*/ 9 h 384"/>
                          <a:gd name="T36" fmla="*/ 1 w 385"/>
                          <a:gd name="T37" fmla="*/ 10 h 384"/>
                          <a:gd name="T38" fmla="*/ 1 w 385"/>
                          <a:gd name="T39" fmla="*/ 11 h 384"/>
                          <a:gd name="T40" fmla="*/ 2 w 385"/>
                          <a:gd name="T41" fmla="*/ 11 h 384"/>
                          <a:gd name="T42" fmla="*/ 3 w 385"/>
                          <a:gd name="T43" fmla="*/ 12 h 384"/>
                          <a:gd name="T44" fmla="*/ 3 w 385"/>
                          <a:gd name="T45" fmla="*/ 12 h 384"/>
                          <a:gd name="T46" fmla="*/ 4 w 385"/>
                          <a:gd name="T47" fmla="*/ 12 h 384"/>
                          <a:gd name="T48" fmla="*/ 5 w 385"/>
                          <a:gd name="T49" fmla="*/ 12 h 384"/>
                          <a:gd name="T50" fmla="*/ 5 w 385"/>
                          <a:gd name="T51" fmla="*/ 13 h 384"/>
                          <a:gd name="T52" fmla="*/ 6 w 385"/>
                          <a:gd name="T53" fmla="*/ 13 h 384"/>
                          <a:gd name="T54" fmla="*/ 6 w 385"/>
                          <a:gd name="T55" fmla="*/ 12 h 384"/>
                          <a:gd name="T56" fmla="*/ 7 w 385"/>
                          <a:gd name="T57" fmla="*/ 12 h 384"/>
                          <a:gd name="T58" fmla="*/ 8 w 385"/>
                          <a:gd name="T59" fmla="*/ 12 h 384"/>
                          <a:gd name="T60" fmla="*/ 8 w 385"/>
                          <a:gd name="T61" fmla="*/ 12 h 384"/>
                          <a:gd name="T62" fmla="*/ 9 w 385"/>
                          <a:gd name="T63" fmla="*/ 11 h 384"/>
                          <a:gd name="T64" fmla="*/ 10 w 385"/>
                          <a:gd name="T65" fmla="*/ 11 h 384"/>
                          <a:gd name="T66" fmla="*/ 10 w 385"/>
                          <a:gd name="T67" fmla="*/ 10 h 384"/>
                          <a:gd name="T68" fmla="*/ 11 w 385"/>
                          <a:gd name="T69" fmla="*/ 9 h 384"/>
                          <a:gd name="T70" fmla="*/ 11 w 385"/>
                          <a:gd name="T71" fmla="*/ 9 h 384"/>
                          <a:gd name="T72" fmla="*/ 11 w 385"/>
                          <a:gd name="T73" fmla="*/ 8 h 384"/>
                          <a:gd name="T74" fmla="*/ 11 w 385"/>
                          <a:gd name="T75" fmla="*/ 7 h 384"/>
                          <a:gd name="T76" fmla="*/ 11 w 385"/>
                          <a:gd name="T77" fmla="*/ 7 h 384"/>
                          <a:gd name="T78" fmla="*/ 11 w 385"/>
                          <a:gd name="T79" fmla="*/ 6 h 384"/>
                          <a:gd name="T80" fmla="*/ 11 w 385"/>
                          <a:gd name="T81" fmla="*/ 6 h 384"/>
                          <a:gd name="T82" fmla="*/ 11 w 385"/>
                          <a:gd name="T83" fmla="*/ 5 h 384"/>
                          <a:gd name="T84" fmla="*/ 11 w 385"/>
                          <a:gd name="T85" fmla="*/ 4 h 384"/>
                          <a:gd name="T86" fmla="*/ 11 w 385"/>
                          <a:gd name="T87" fmla="*/ 4 h 384"/>
                          <a:gd name="T88" fmla="*/ 10 w 385"/>
                          <a:gd name="T89" fmla="*/ 3 h 384"/>
                          <a:gd name="T90" fmla="*/ 10 w 385"/>
                          <a:gd name="T91" fmla="*/ 2 h 384"/>
                          <a:gd name="T92" fmla="*/ 9 w 385"/>
                          <a:gd name="T93" fmla="*/ 1 h 384"/>
                          <a:gd name="T94" fmla="*/ 8 w 385"/>
                          <a:gd name="T95" fmla="*/ 1 h 384"/>
                          <a:gd name="T96" fmla="*/ 8 w 385"/>
                          <a:gd name="T97" fmla="*/ 1 h 384"/>
                          <a:gd name="T98" fmla="*/ 7 w 385"/>
                          <a:gd name="T99" fmla="*/ 1 h 384"/>
                          <a:gd name="T100" fmla="*/ 6 w 385"/>
                          <a:gd name="T101" fmla="*/ 1 h 384"/>
                          <a:gd name="T102" fmla="*/ 6 w 385"/>
                          <a:gd name="T103" fmla="*/ 0 h 384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  <a:gd name="T150" fmla="*/ 0 60000 65536"/>
                          <a:gd name="T151" fmla="*/ 0 60000 65536"/>
                          <a:gd name="T152" fmla="*/ 0 60000 65536"/>
                          <a:gd name="T153" fmla="*/ 0 60000 65536"/>
                          <a:gd name="T154" fmla="*/ 0 60000 65536"/>
                          <a:gd name="T155" fmla="*/ 0 60000 65536"/>
                          <a:gd name="T156" fmla="*/ 0 w 385"/>
                          <a:gd name="T157" fmla="*/ 0 h 384"/>
                          <a:gd name="T158" fmla="*/ 385 w 385"/>
                          <a:gd name="T159" fmla="*/ 384 h 384"/>
                        </a:gdLst>
                        <a:ahLst/>
                        <a:cxnLst>
                          <a:cxn ang="T104">
                            <a:pos x="T0" y="T1"/>
                          </a:cxn>
                          <a:cxn ang="T105">
                            <a:pos x="T2" y="T3"/>
                          </a:cxn>
                          <a:cxn ang="T106">
                            <a:pos x="T4" y="T5"/>
                          </a:cxn>
                          <a:cxn ang="T107">
                            <a:pos x="T6" y="T7"/>
                          </a:cxn>
                          <a:cxn ang="T108">
                            <a:pos x="T8" y="T9"/>
                          </a:cxn>
                          <a:cxn ang="T109">
                            <a:pos x="T10" y="T11"/>
                          </a:cxn>
                          <a:cxn ang="T110">
                            <a:pos x="T12" y="T13"/>
                          </a:cxn>
                          <a:cxn ang="T111">
                            <a:pos x="T14" y="T15"/>
                          </a:cxn>
                          <a:cxn ang="T112">
                            <a:pos x="T16" y="T17"/>
                          </a:cxn>
                          <a:cxn ang="T113">
                            <a:pos x="T18" y="T19"/>
                          </a:cxn>
                          <a:cxn ang="T114">
                            <a:pos x="T20" y="T21"/>
                          </a:cxn>
                          <a:cxn ang="T115">
                            <a:pos x="T22" y="T23"/>
                          </a:cxn>
                          <a:cxn ang="T116">
                            <a:pos x="T24" y="T25"/>
                          </a:cxn>
                          <a:cxn ang="T117">
                            <a:pos x="T26" y="T27"/>
                          </a:cxn>
                          <a:cxn ang="T118">
                            <a:pos x="T28" y="T29"/>
                          </a:cxn>
                          <a:cxn ang="T119">
                            <a:pos x="T30" y="T31"/>
                          </a:cxn>
                          <a:cxn ang="T120">
                            <a:pos x="T32" y="T33"/>
                          </a:cxn>
                          <a:cxn ang="T121">
                            <a:pos x="T34" y="T35"/>
                          </a:cxn>
                          <a:cxn ang="T122">
                            <a:pos x="T36" y="T37"/>
                          </a:cxn>
                          <a:cxn ang="T123">
                            <a:pos x="T38" y="T39"/>
                          </a:cxn>
                          <a:cxn ang="T124">
                            <a:pos x="T40" y="T41"/>
                          </a:cxn>
                          <a:cxn ang="T125">
                            <a:pos x="T42" y="T43"/>
                          </a:cxn>
                          <a:cxn ang="T126">
                            <a:pos x="T44" y="T45"/>
                          </a:cxn>
                          <a:cxn ang="T127">
                            <a:pos x="T46" y="T47"/>
                          </a:cxn>
                          <a:cxn ang="T128">
                            <a:pos x="T48" y="T49"/>
                          </a:cxn>
                          <a:cxn ang="T129">
                            <a:pos x="T50" y="T51"/>
                          </a:cxn>
                          <a:cxn ang="T130">
                            <a:pos x="T52" y="T53"/>
                          </a:cxn>
                          <a:cxn ang="T131">
                            <a:pos x="T54" y="T55"/>
                          </a:cxn>
                          <a:cxn ang="T132">
                            <a:pos x="T56" y="T57"/>
                          </a:cxn>
                          <a:cxn ang="T133">
                            <a:pos x="T58" y="T59"/>
                          </a:cxn>
                          <a:cxn ang="T134">
                            <a:pos x="T60" y="T61"/>
                          </a:cxn>
                          <a:cxn ang="T135">
                            <a:pos x="T62" y="T63"/>
                          </a:cxn>
                          <a:cxn ang="T136">
                            <a:pos x="T64" y="T65"/>
                          </a:cxn>
                          <a:cxn ang="T137">
                            <a:pos x="T66" y="T67"/>
                          </a:cxn>
                          <a:cxn ang="T138">
                            <a:pos x="T68" y="T69"/>
                          </a:cxn>
                          <a:cxn ang="T139">
                            <a:pos x="T70" y="T71"/>
                          </a:cxn>
                          <a:cxn ang="T140">
                            <a:pos x="T72" y="T73"/>
                          </a:cxn>
                          <a:cxn ang="T141">
                            <a:pos x="T74" y="T75"/>
                          </a:cxn>
                          <a:cxn ang="T142">
                            <a:pos x="T76" y="T77"/>
                          </a:cxn>
                          <a:cxn ang="T143">
                            <a:pos x="T78" y="T79"/>
                          </a:cxn>
                          <a:cxn ang="T144">
                            <a:pos x="T80" y="T81"/>
                          </a:cxn>
                          <a:cxn ang="T145">
                            <a:pos x="T82" y="T83"/>
                          </a:cxn>
                          <a:cxn ang="T146">
                            <a:pos x="T84" y="T85"/>
                          </a:cxn>
                          <a:cxn ang="T147">
                            <a:pos x="T86" y="T87"/>
                          </a:cxn>
                          <a:cxn ang="T148">
                            <a:pos x="T88" y="T89"/>
                          </a:cxn>
                          <a:cxn ang="T149">
                            <a:pos x="T90" y="T91"/>
                          </a:cxn>
                          <a:cxn ang="T150">
                            <a:pos x="T92" y="T93"/>
                          </a:cxn>
                          <a:cxn ang="T151">
                            <a:pos x="T94" y="T95"/>
                          </a:cxn>
                          <a:cxn ang="T152">
                            <a:pos x="T96" y="T97"/>
                          </a:cxn>
                          <a:cxn ang="T153">
                            <a:pos x="T98" y="T99"/>
                          </a:cxn>
                          <a:cxn ang="T154">
                            <a:pos x="T100" y="T101"/>
                          </a:cxn>
                          <a:cxn ang="T155">
                            <a:pos x="T102" y="T103"/>
                          </a:cxn>
                        </a:cxnLst>
                        <a:rect l="T156" t="T157" r="T158" b="T159"/>
                        <a:pathLst>
                          <a:path w="385" h="384">
                            <a:moveTo>
                              <a:pt x="193" y="0"/>
                            </a:moveTo>
                            <a:lnTo>
                              <a:pt x="182" y="0"/>
                            </a:lnTo>
                            <a:lnTo>
                              <a:pt x="173" y="0"/>
                            </a:lnTo>
                            <a:lnTo>
                              <a:pt x="162" y="1"/>
                            </a:lnTo>
                            <a:lnTo>
                              <a:pt x="153" y="3"/>
                            </a:lnTo>
                            <a:lnTo>
                              <a:pt x="143" y="5"/>
                            </a:lnTo>
                            <a:lnTo>
                              <a:pt x="134" y="8"/>
                            </a:lnTo>
                            <a:lnTo>
                              <a:pt x="127" y="11"/>
                            </a:lnTo>
                            <a:lnTo>
                              <a:pt x="117" y="14"/>
                            </a:lnTo>
                            <a:lnTo>
                              <a:pt x="108" y="18"/>
                            </a:lnTo>
                            <a:lnTo>
                              <a:pt x="100" y="23"/>
                            </a:lnTo>
                            <a:lnTo>
                              <a:pt x="85" y="32"/>
                            </a:lnTo>
                            <a:lnTo>
                              <a:pt x="70" y="43"/>
                            </a:lnTo>
                            <a:lnTo>
                              <a:pt x="56" y="55"/>
                            </a:lnTo>
                            <a:lnTo>
                              <a:pt x="43" y="69"/>
                            </a:lnTo>
                            <a:lnTo>
                              <a:pt x="33" y="84"/>
                            </a:lnTo>
                            <a:lnTo>
                              <a:pt x="23" y="100"/>
                            </a:lnTo>
                            <a:lnTo>
                              <a:pt x="19" y="108"/>
                            </a:lnTo>
                            <a:lnTo>
                              <a:pt x="14" y="117"/>
                            </a:lnTo>
                            <a:lnTo>
                              <a:pt x="11" y="126"/>
                            </a:lnTo>
                            <a:lnTo>
                              <a:pt x="8" y="134"/>
                            </a:lnTo>
                            <a:lnTo>
                              <a:pt x="5" y="143"/>
                            </a:lnTo>
                            <a:lnTo>
                              <a:pt x="3" y="152"/>
                            </a:lnTo>
                            <a:lnTo>
                              <a:pt x="2" y="161"/>
                            </a:lnTo>
                            <a:lnTo>
                              <a:pt x="0" y="172"/>
                            </a:lnTo>
                            <a:lnTo>
                              <a:pt x="0" y="181"/>
                            </a:lnTo>
                            <a:lnTo>
                              <a:pt x="0" y="192"/>
                            </a:lnTo>
                            <a:lnTo>
                              <a:pt x="0" y="201"/>
                            </a:lnTo>
                            <a:lnTo>
                              <a:pt x="0" y="211"/>
                            </a:lnTo>
                            <a:lnTo>
                              <a:pt x="2" y="221"/>
                            </a:lnTo>
                            <a:lnTo>
                              <a:pt x="3" y="231"/>
                            </a:lnTo>
                            <a:lnTo>
                              <a:pt x="5" y="240"/>
                            </a:lnTo>
                            <a:lnTo>
                              <a:pt x="8" y="249"/>
                            </a:lnTo>
                            <a:lnTo>
                              <a:pt x="11" y="258"/>
                            </a:lnTo>
                            <a:lnTo>
                              <a:pt x="14" y="266"/>
                            </a:lnTo>
                            <a:lnTo>
                              <a:pt x="19" y="275"/>
                            </a:lnTo>
                            <a:lnTo>
                              <a:pt x="23" y="283"/>
                            </a:lnTo>
                            <a:lnTo>
                              <a:pt x="33" y="300"/>
                            </a:lnTo>
                            <a:lnTo>
                              <a:pt x="43" y="314"/>
                            </a:lnTo>
                            <a:lnTo>
                              <a:pt x="56" y="327"/>
                            </a:lnTo>
                            <a:lnTo>
                              <a:pt x="70" y="340"/>
                            </a:lnTo>
                            <a:lnTo>
                              <a:pt x="85" y="351"/>
                            </a:lnTo>
                            <a:lnTo>
                              <a:pt x="100" y="360"/>
                            </a:lnTo>
                            <a:lnTo>
                              <a:pt x="108" y="364"/>
                            </a:lnTo>
                            <a:lnTo>
                              <a:pt x="117" y="369"/>
                            </a:lnTo>
                            <a:lnTo>
                              <a:pt x="127" y="372"/>
                            </a:lnTo>
                            <a:lnTo>
                              <a:pt x="134" y="375"/>
                            </a:lnTo>
                            <a:lnTo>
                              <a:pt x="143" y="378"/>
                            </a:lnTo>
                            <a:lnTo>
                              <a:pt x="153" y="380"/>
                            </a:lnTo>
                            <a:lnTo>
                              <a:pt x="162" y="381"/>
                            </a:lnTo>
                            <a:lnTo>
                              <a:pt x="173" y="383"/>
                            </a:lnTo>
                            <a:lnTo>
                              <a:pt x="182" y="383"/>
                            </a:lnTo>
                            <a:lnTo>
                              <a:pt x="193" y="384"/>
                            </a:lnTo>
                            <a:lnTo>
                              <a:pt x="202" y="383"/>
                            </a:lnTo>
                            <a:lnTo>
                              <a:pt x="211" y="383"/>
                            </a:lnTo>
                            <a:lnTo>
                              <a:pt x="222" y="381"/>
                            </a:lnTo>
                            <a:lnTo>
                              <a:pt x="231" y="380"/>
                            </a:lnTo>
                            <a:lnTo>
                              <a:pt x="240" y="378"/>
                            </a:lnTo>
                            <a:lnTo>
                              <a:pt x="250" y="375"/>
                            </a:lnTo>
                            <a:lnTo>
                              <a:pt x="259" y="372"/>
                            </a:lnTo>
                            <a:lnTo>
                              <a:pt x="266" y="369"/>
                            </a:lnTo>
                            <a:lnTo>
                              <a:pt x="276" y="364"/>
                            </a:lnTo>
                            <a:lnTo>
                              <a:pt x="283" y="360"/>
                            </a:lnTo>
                            <a:lnTo>
                              <a:pt x="300" y="351"/>
                            </a:lnTo>
                            <a:lnTo>
                              <a:pt x="314" y="340"/>
                            </a:lnTo>
                            <a:lnTo>
                              <a:pt x="328" y="327"/>
                            </a:lnTo>
                            <a:lnTo>
                              <a:pt x="340" y="314"/>
                            </a:lnTo>
                            <a:lnTo>
                              <a:pt x="351" y="300"/>
                            </a:lnTo>
                            <a:lnTo>
                              <a:pt x="360" y="283"/>
                            </a:lnTo>
                            <a:lnTo>
                              <a:pt x="365" y="275"/>
                            </a:lnTo>
                            <a:lnTo>
                              <a:pt x="370" y="266"/>
                            </a:lnTo>
                            <a:lnTo>
                              <a:pt x="373" y="258"/>
                            </a:lnTo>
                            <a:lnTo>
                              <a:pt x="376" y="249"/>
                            </a:lnTo>
                            <a:lnTo>
                              <a:pt x="379" y="240"/>
                            </a:lnTo>
                            <a:lnTo>
                              <a:pt x="380" y="231"/>
                            </a:lnTo>
                            <a:lnTo>
                              <a:pt x="382" y="221"/>
                            </a:lnTo>
                            <a:lnTo>
                              <a:pt x="383" y="211"/>
                            </a:lnTo>
                            <a:lnTo>
                              <a:pt x="383" y="201"/>
                            </a:lnTo>
                            <a:lnTo>
                              <a:pt x="385" y="192"/>
                            </a:lnTo>
                            <a:lnTo>
                              <a:pt x="383" y="181"/>
                            </a:lnTo>
                            <a:lnTo>
                              <a:pt x="383" y="172"/>
                            </a:lnTo>
                            <a:lnTo>
                              <a:pt x="382" y="161"/>
                            </a:lnTo>
                            <a:lnTo>
                              <a:pt x="380" y="152"/>
                            </a:lnTo>
                            <a:lnTo>
                              <a:pt x="379" y="143"/>
                            </a:lnTo>
                            <a:lnTo>
                              <a:pt x="376" y="134"/>
                            </a:lnTo>
                            <a:lnTo>
                              <a:pt x="373" y="126"/>
                            </a:lnTo>
                            <a:lnTo>
                              <a:pt x="370" y="117"/>
                            </a:lnTo>
                            <a:lnTo>
                              <a:pt x="365" y="108"/>
                            </a:lnTo>
                            <a:lnTo>
                              <a:pt x="360" y="100"/>
                            </a:lnTo>
                            <a:lnTo>
                              <a:pt x="351" y="84"/>
                            </a:lnTo>
                            <a:lnTo>
                              <a:pt x="340" y="69"/>
                            </a:lnTo>
                            <a:lnTo>
                              <a:pt x="328" y="55"/>
                            </a:lnTo>
                            <a:lnTo>
                              <a:pt x="314" y="43"/>
                            </a:lnTo>
                            <a:lnTo>
                              <a:pt x="300" y="32"/>
                            </a:lnTo>
                            <a:lnTo>
                              <a:pt x="283" y="23"/>
                            </a:lnTo>
                            <a:lnTo>
                              <a:pt x="276" y="18"/>
                            </a:lnTo>
                            <a:lnTo>
                              <a:pt x="266" y="14"/>
                            </a:lnTo>
                            <a:lnTo>
                              <a:pt x="259" y="11"/>
                            </a:lnTo>
                            <a:lnTo>
                              <a:pt x="250" y="8"/>
                            </a:lnTo>
                            <a:lnTo>
                              <a:pt x="240" y="5"/>
                            </a:lnTo>
                            <a:lnTo>
                              <a:pt x="231" y="3"/>
                            </a:lnTo>
                            <a:lnTo>
                              <a:pt x="222" y="1"/>
                            </a:lnTo>
                            <a:lnTo>
                              <a:pt x="211" y="0"/>
                            </a:lnTo>
                            <a:lnTo>
                              <a:pt x="202" y="0"/>
                            </a:lnTo>
                            <a:lnTo>
                              <a:pt x="193" y="0"/>
                            </a:lnTo>
                          </a:path>
                        </a:pathLst>
                      </a:cu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sp>
                    <p:nvSpPr>
                      <p:cNvPr id="20550" name="Rectangle 10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60" y="1286"/>
                        <a:ext cx="152" cy="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0" tIns="0" rIns="0" bIns="0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eaLnBrk="1" hangingPunct="1"/>
                        <a:r>
                          <a:rPr lang="en-GB" altLang="en-US" sz="1900">
                            <a:solidFill>
                              <a:srgbClr val="000000"/>
                            </a:solidFill>
                            <a:latin typeface="Times New Roman" pitchFamily="18" charset="0"/>
                          </a:rPr>
                          <a:t>14</a:t>
                        </a:r>
                        <a:endParaRPr lang="en-GB" altLang="en-US"/>
                      </a:p>
                    </p:txBody>
                  </p:sp>
                  <p:sp>
                    <p:nvSpPr>
                      <p:cNvPr id="20551" name="Rectangle 10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789" y="1601"/>
                        <a:ext cx="152" cy="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 lIns="0" tIns="0" rIns="0" bIns="0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eaLnBrk="1" hangingPunct="1"/>
                        <a:r>
                          <a:rPr lang="en-GB" altLang="en-US" sz="1900">
                            <a:solidFill>
                              <a:srgbClr val="000000"/>
                            </a:solidFill>
                            <a:latin typeface="Times New Roman" pitchFamily="18" charset="0"/>
                          </a:rPr>
                          <a:t>15</a:t>
                        </a:r>
                        <a:endParaRPr lang="en-GB" altLang="en-US"/>
                      </a:p>
                    </p:txBody>
                  </p:sp>
                  <p:sp>
                    <p:nvSpPr>
                      <p:cNvPr id="20552" name="Line 10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56" y="1440"/>
                        <a:ext cx="124" cy="116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grpSp>
                    <p:nvGrpSpPr>
                      <p:cNvPr id="20553" name="Group 11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91" y="652"/>
                        <a:ext cx="1237" cy="1150"/>
                        <a:chOff x="2291" y="652"/>
                        <a:chExt cx="1237" cy="1150"/>
                      </a:xfrm>
                    </p:grpSpPr>
                    <p:sp>
                      <p:nvSpPr>
                        <p:cNvPr id="20554" name="Rectangle 1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376" y="1585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0" tIns="0" rIns="0" bIns="0"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742950" indent="-28575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11430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6002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20574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GB" altLang="en-US" sz="190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13</a:t>
                          </a:r>
                          <a:endParaRPr lang="en-GB" altLang="en-US"/>
                        </a:p>
                      </p:txBody>
                    </p:sp>
                    <p:grpSp>
                      <p:nvGrpSpPr>
                        <p:cNvPr id="20555" name="Group 112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291" y="652"/>
                          <a:ext cx="1133" cy="1150"/>
                          <a:chOff x="2291" y="652"/>
                          <a:chExt cx="1133" cy="1150"/>
                        </a:xfrm>
                      </p:grpSpPr>
                      <p:sp>
                        <p:nvSpPr>
                          <p:cNvPr id="20556" name="Line 11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216" y="1124"/>
                            <a:ext cx="64" cy="151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57" name="Freeform 11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083" y="1276"/>
                            <a:ext cx="192" cy="192"/>
                          </a:xfrm>
                          <a:custGeom>
                            <a:avLst/>
                            <a:gdLst>
                              <a:gd name="T0" fmla="*/ 5 w 385"/>
                              <a:gd name="T1" fmla="*/ 0 h 384"/>
                              <a:gd name="T2" fmla="*/ 5 w 385"/>
                              <a:gd name="T3" fmla="*/ 1 h 384"/>
                              <a:gd name="T4" fmla="*/ 4 w 385"/>
                              <a:gd name="T5" fmla="*/ 1 h 384"/>
                              <a:gd name="T6" fmla="*/ 3 w 385"/>
                              <a:gd name="T7" fmla="*/ 1 h 384"/>
                              <a:gd name="T8" fmla="*/ 3 w 385"/>
                              <a:gd name="T9" fmla="*/ 1 h 384"/>
                              <a:gd name="T10" fmla="*/ 2 w 385"/>
                              <a:gd name="T11" fmla="*/ 1 h 384"/>
                              <a:gd name="T12" fmla="*/ 1 w 385"/>
                              <a:gd name="T13" fmla="*/ 2 h 384"/>
                              <a:gd name="T14" fmla="*/ 1 w 385"/>
                              <a:gd name="T15" fmla="*/ 3 h 384"/>
                              <a:gd name="T16" fmla="*/ 0 w 385"/>
                              <a:gd name="T17" fmla="*/ 3 h 384"/>
                              <a:gd name="T18" fmla="*/ 0 w 385"/>
                              <a:gd name="T19" fmla="*/ 3 h 384"/>
                              <a:gd name="T20" fmla="*/ 0 w 385"/>
                              <a:gd name="T21" fmla="*/ 5 h 384"/>
                              <a:gd name="T22" fmla="*/ 0 w 385"/>
                              <a:gd name="T23" fmla="*/ 6 h 384"/>
                              <a:gd name="T24" fmla="*/ 0 w 385"/>
                              <a:gd name="T25" fmla="*/ 6 h 384"/>
                              <a:gd name="T26" fmla="*/ 0 w 385"/>
                              <a:gd name="T27" fmla="*/ 6 h 384"/>
                              <a:gd name="T28" fmla="*/ 0 w 385"/>
                              <a:gd name="T29" fmla="*/ 6 h 384"/>
                              <a:gd name="T30" fmla="*/ 0 w 385"/>
                              <a:gd name="T31" fmla="*/ 7 h 384"/>
                              <a:gd name="T32" fmla="*/ 0 w 385"/>
                              <a:gd name="T33" fmla="*/ 9 h 384"/>
                              <a:gd name="T34" fmla="*/ 0 w 385"/>
                              <a:gd name="T35" fmla="*/ 9 h 384"/>
                              <a:gd name="T36" fmla="*/ 1 w 385"/>
                              <a:gd name="T37" fmla="*/ 10 h 384"/>
                              <a:gd name="T38" fmla="*/ 1 w 385"/>
                              <a:gd name="T39" fmla="*/ 11 h 384"/>
                              <a:gd name="T40" fmla="*/ 2 w 385"/>
                              <a:gd name="T41" fmla="*/ 11 h 384"/>
                              <a:gd name="T42" fmla="*/ 3 w 385"/>
                              <a:gd name="T43" fmla="*/ 12 h 384"/>
                              <a:gd name="T44" fmla="*/ 3 w 385"/>
                              <a:gd name="T45" fmla="*/ 12 h 384"/>
                              <a:gd name="T46" fmla="*/ 4 w 385"/>
                              <a:gd name="T47" fmla="*/ 12 h 384"/>
                              <a:gd name="T48" fmla="*/ 5 w 385"/>
                              <a:gd name="T49" fmla="*/ 12 h 384"/>
                              <a:gd name="T50" fmla="*/ 5 w 385"/>
                              <a:gd name="T51" fmla="*/ 12 h 384"/>
                              <a:gd name="T52" fmla="*/ 6 w 385"/>
                              <a:gd name="T53" fmla="*/ 12 h 384"/>
                              <a:gd name="T54" fmla="*/ 6 w 385"/>
                              <a:gd name="T55" fmla="*/ 12 h 384"/>
                              <a:gd name="T56" fmla="*/ 7 w 385"/>
                              <a:gd name="T57" fmla="*/ 12 h 384"/>
                              <a:gd name="T58" fmla="*/ 8 w 385"/>
                              <a:gd name="T59" fmla="*/ 12 h 384"/>
                              <a:gd name="T60" fmla="*/ 8 w 385"/>
                              <a:gd name="T61" fmla="*/ 12 h 384"/>
                              <a:gd name="T62" fmla="*/ 9 w 385"/>
                              <a:gd name="T63" fmla="*/ 11 h 384"/>
                              <a:gd name="T64" fmla="*/ 10 w 385"/>
                              <a:gd name="T65" fmla="*/ 11 h 384"/>
                              <a:gd name="T66" fmla="*/ 10 w 385"/>
                              <a:gd name="T67" fmla="*/ 10 h 384"/>
                              <a:gd name="T68" fmla="*/ 11 w 385"/>
                              <a:gd name="T69" fmla="*/ 9 h 384"/>
                              <a:gd name="T70" fmla="*/ 11 w 385"/>
                              <a:gd name="T71" fmla="*/ 9 h 384"/>
                              <a:gd name="T72" fmla="*/ 11 w 385"/>
                              <a:gd name="T73" fmla="*/ 7 h 384"/>
                              <a:gd name="T74" fmla="*/ 11 w 385"/>
                              <a:gd name="T75" fmla="*/ 6 h 384"/>
                              <a:gd name="T76" fmla="*/ 11 w 385"/>
                              <a:gd name="T77" fmla="*/ 6 h 384"/>
                              <a:gd name="T78" fmla="*/ 11 w 385"/>
                              <a:gd name="T79" fmla="*/ 6 h 384"/>
                              <a:gd name="T80" fmla="*/ 11 w 385"/>
                              <a:gd name="T81" fmla="*/ 6 h 384"/>
                              <a:gd name="T82" fmla="*/ 11 w 385"/>
                              <a:gd name="T83" fmla="*/ 5 h 384"/>
                              <a:gd name="T84" fmla="*/ 11 w 385"/>
                              <a:gd name="T85" fmla="*/ 3 h 384"/>
                              <a:gd name="T86" fmla="*/ 11 w 385"/>
                              <a:gd name="T87" fmla="*/ 3 h 384"/>
                              <a:gd name="T88" fmla="*/ 10 w 385"/>
                              <a:gd name="T89" fmla="*/ 3 h 384"/>
                              <a:gd name="T90" fmla="*/ 10 w 385"/>
                              <a:gd name="T91" fmla="*/ 2 h 384"/>
                              <a:gd name="T92" fmla="*/ 9 w 385"/>
                              <a:gd name="T93" fmla="*/ 1 h 384"/>
                              <a:gd name="T94" fmla="*/ 8 w 385"/>
                              <a:gd name="T95" fmla="*/ 1 h 384"/>
                              <a:gd name="T96" fmla="*/ 8 w 385"/>
                              <a:gd name="T97" fmla="*/ 1 h 384"/>
                              <a:gd name="T98" fmla="*/ 7 w 385"/>
                              <a:gd name="T99" fmla="*/ 1 h 384"/>
                              <a:gd name="T100" fmla="*/ 6 w 385"/>
                              <a:gd name="T101" fmla="*/ 1 h 384"/>
                              <a:gd name="T102" fmla="*/ 6 w 385"/>
                              <a:gd name="T103" fmla="*/ 0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5"/>
                              <a:gd name="T157" fmla="*/ 0 h 384"/>
                              <a:gd name="T158" fmla="*/ 385 w 385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5" h="384">
                                <a:moveTo>
                                  <a:pt x="193" y="0"/>
                                </a:moveTo>
                                <a:lnTo>
                                  <a:pt x="182" y="0"/>
                                </a:lnTo>
                                <a:lnTo>
                                  <a:pt x="173" y="0"/>
                                </a:lnTo>
                                <a:lnTo>
                                  <a:pt x="162" y="1"/>
                                </a:lnTo>
                                <a:lnTo>
                                  <a:pt x="153" y="3"/>
                                </a:lnTo>
                                <a:lnTo>
                                  <a:pt x="143" y="4"/>
                                </a:lnTo>
                                <a:lnTo>
                                  <a:pt x="134" y="7"/>
                                </a:lnTo>
                                <a:lnTo>
                                  <a:pt x="127" y="10"/>
                                </a:lnTo>
                                <a:lnTo>
                                  <a:pt x="117" y="13"/>
                                </a:lnTo>
                                <a:lnTo>
                                  <a:pt x="108" y="18"/>
                                </a:lnTo>
                                <a:lnTo>
                                  <a:pt x="100" y="23"/>
                                </a:lnTo>
                                <a:lnTo>
                                  <a:pt x="85" y="32"/>
                                </a:lnTo>
                                <a:lnTo>
                                  <a:pt x="70" y="43"/>
                                </a:lnTo>
                                <a:lnTo>
                                  <a:pt x="56" y="55"/>
                                </a:lnTo>
                                <a:lnTo>
                                  <a:pt x="43" y="69"/>
                                </a:lnTo>
                                <a:lnTo>
                                  <a:pt x="33" y="84"/>
                                </a:lnTo>
                                <a:lnTo>
                                  <a:pt x="23" y="100"/>
                                </a:lnTo>
                                <a:lnTo>
                                  <a:pt x="19" y="107"/>
                                </a:lnTo>
                                <a:lnTo>
                                  <a:pt x="14" y="116"/>
                                </a:lnTo>
                                <a:lnTo>
                                  <a:pt x="11" y="126"/>
                                </a:lnTo>
                                <a:lnTo>
                                  <a:pt x="8" y="133"/>
                                </a:lnTo>
                                <a:lnTo>
                                  <a:pt x="5" y="143"/>
                                </a:lnTo>
                                <a:lnTo>
                                  <a:pt x="3" y="152"/>
                                </a:lnTo>
                                <a:lnTo>
                                  <a:pt x="2" y="161"/>
                                </a:lnTo>
                                <a:lnTo>
                                  <a:pt x="0" y="172"/>
                                </a:lnTo>
                                <a:lnTo>
                                  <a:pt x="0" y="181"/>
                                </a:lnTo>
                                <a:lnTo>
                                  <a:pt x="0" y="192"/>
                                </a:lnTo>
                                <a:lnTo>
                                  <a:pt x="0" y="201"/>
                                </a:lnTo>
                                <a:lnTo>
                                  <a:pt x="0" y="210"/>
                                </a:lnTo>
                                <a:lnTo>
                                  <a:pt x="2" y="221"/>
                                </a:lnTo>
                                <a:lnTo>
                                  <a:pt x="3" y="230"/>
                                </a:lnTo>
                                <a:lnTo>
                                  <a:pt x="5" y="240"/>
                                </a:lnTo>
                                <a:lnTo>
                                  <a:pt x="8" y="249"/>
                                </a:lnTo>
                                <a:lnTo>
                                  <a:pt x="11" y="258"/>
                                </a:lnTo>
                                <a:lnTo>
                                  <a:pt x="14" y="266"/>
                                </a:lnTo>
                                <a:lnTo>
                                  <a:pt x="19" y="275"/>
                                </a:lnTo>
                                <a:lnTo>
                                  <a:pt x="23" y="283"/>
                                </a:lnTo>
                                <a:lnTo>
                                  <a:pt x="33" y="298"/>
                                </a:lnTo>
                                <a:lnTo>
                                  <a:pt x="43" y="313"/>
                                </a:lnTo>
                                <a:lnTo>
                                  <a:pt x="56" y="327"/>
                                </a:lnTo>
                                <a:lnTo>
                                  <a:pt x="70" y="340"/>
                                </a:lnTo>
                                <a:lnTo>
                                  <a:pt x="85" y="350"/>
                                </a:lnTo>
                                <a:lnTo>
                                  <a:pt x="100" y="360"/>
                                </a:lnTo>
                                <a:lnTo>
                                  <a:pt x="108" y="364"/>
                                </a:lnTo>
                                <a:lnTo>
                                  <a:pt x="117" y="369"/>
                                </a:lnTo>
                                <a:lnTo>
                                  <a:pt x="127" y="372"/>
                                </a:lnTo>
                                <a:lnTo>
                                  <a:pt x="134" y="375"/>
                                </a:lnTo>
                                <a:lnTo>
                                  <a:pt x="143" y="378"/>
                                </a:lnTo>
                                <a:lnTo>
                                  <a:pt x="153" y="379"/>
                                </a:lnTo>
                                <a:lnTo>
                                  <a:pt x="162" y="381"/>
                                </a:lnTo>
                                <a:lnTo>
                                  <a:pt x="173" y="383"/>
                                </a:lnTo>
                                <a:lnTo>
                                  <a:pt x="182" y="383"/>
                                </a:lnTo>
                                <a:lnTo>
                                  <a:pt x="193" y="384"/>
                                </a:lnTo>
                                <a:lnTo>
                                  <a:pt x="202" y="383"/>
                                </a:lnTo>
                                <a:lnTo>
                                  <a:pt x="211" y="383"/>
                                </a:lnTo>
                                <a:lnTo>
                                  <a:pt x="222" y="381"/>
                                </a:lnTo>
                                <a:lnTo>
                                  <a:pt x="231" y="379"/>
                                </a:lnTo>
                                <a:lnTo>
                                  <a:pt x="240" y="378"/>
                                </a:lnTo>
                                <a:lnTo>
                                  <a:pt x="250" y="375"/>
                                </a:lnTo>
                                <a:lnTo>
                                  <a:pt x="259" y="372"/>
                                </a:lnTo>
                                <a:lnTo>
                                  <a:pt x="267" y="369"/>
                                </a:lnTo>
                                <a:lnTo>
                                  <a:pt x="276" y="364"/>
                                </a:lnTo>
                                <a:lnTo>
                                  <a:pt x="283" y="360"/>
                                </a:lnTo>
                                <a:lnTo>
                                  <a:pt x="299" y="350"/>
                                </a:lnTo>
                                <a:lnTo>
                                  <a:pt x="314" y="340"/>
                                </a:lnTo>
                                <a:lnTo>
                                  <a:pt x="328" y="327"/>
                                </a:lnTo>
                                <a:lnTo>
                                  <a:pt x="340" y="313"/>
                                </a:lnTo>
                                <a:lnTo>
                                  <a:pt x="351" y="298"/>
                                </a:lnTo>
                                <a:lnTo>
                                  <a:pt x="360" y="283"/>
                                </a:lnTo>
                                <a:lnTo>
                                  <a:pt x="365" y="275"/>
                                </a:lnTo>
                                <a:lnTo>
                                  <a:pt x="370" y="266"/>
                                </a:lnTo>
                                <a:lnTo>
                                  <a:pt x="373" y="258"/>
                                </a:lnTo>
                                <a:lnTo>
                                  <a:pt x="376" y="249"/>
                                </a:lnTo>
                                <a:lnTo>
                                  <a:pt x="379" y="240"/>
                                </a:lnTo>
                                <a:lnTo>
                                  <a:pt x="380" y="230"/>
                                </a:lnTo>
                                <a:lnTo>
                                  <a:pt x="382" y="221"/>
                                </a:lnTo>
                                <a:lnTo>
                                  <a:pt x="383" y="210"/>
                                </a:lnTo>
                                <a:lnTo>
                                  <a:pt x="383" y="201"/>
                                </a:lnTo>
                                <a:lnTo>
                                  <a:pt x="385" y="192"/>
                                </a:lnTo>
                                <a:lnTo>
                                  <a:pt x="383" y="181"/>
                                </a:lnTo>
                                <a:lnTo>
                                  <a:pt x="383" y="172"/>
                                </a:lnTo>
                                <a:lnTo>
                                  <a:pt x="382" y="161"/>
                                </a:lnTo>
                                <a:lnTo>
                                  <a:pt x="380" y="152"/>
                                </a:lnTo>
                                <a:lnTo>
                                  <a:pt x="379" y="143"/>
                                </a:lnTo>
                                <a:lnTo>
                                  <a:pt x="376" y="133"/>
                                </a:lnTo>
                                <a:lnTo>
                                  <a:pt x="373" y="126"/>
                                </a:lnTo>
                                <a:lnTo>
                                  <a:pt x="370" y="116"/>
                                </a:lnTo>
                                <a:lnTo>
                                  <a:pt x="365" y="107"/>
                                </a:lnTo>
                                <a:lnTo>
                                  <a:pt x="360" y="100"/>
                                </a:lnTo>
                                <a:lnTo>
                                  <a:pt x="351" y="84"/>
                                </a:lnTo>
                                <a:lnTo>
                                  <a:pt x="340" y="69"/>
                                </a:lnTo>
                                <a:lnTo>
                                  <a:pt x="328" y="55"/>
                                </a:lnTo>
                                <a:lnTo>
                                  <a:pt x="314" y="43"/>
                                </a:lnTo>
                                <a:lnTo>
                                  <a:pt x="299" y="32"/>
                                </a:lnTo>
                                <a:lnTo>
                                  <a:pt x="283" y="23"/>
                                </a:lnTo>
                                <a:lnTo>
                                  <a:pt x="276" y="18"/>
                                </a:lnTo>
                                <a:lnTo>
                                  <a:pt x="267" y="13"/>
                                </a:lnTo>
                                <a:lnTo>
                                  <a:pt x="259" y="10"/>
                                </a:lnTo>
                                <a:lnTo>
                                  <a:pt x="250" y="7"/>
                                </a:lnTo>
                                <a:lnTo>
                                  <a:pt x="240" y="4"/>
                                </a:lnTo>
                                <a:lnTo>
                                  <a:pt x="231" y="3"/>
                                </a:lnTo>
                                <a:lnTo>
                                  <a:pt x="222" y="1"/>
                                </a:lnTo>
                                <a:lnTo>
                                  <a:pt x="211" y="0"/>
                                </a:lnTo>
                                <a:lnTo>
                                  <a:pt x="202" y="0"/>
                                </a:lnTo>
                                <a:lnTo>
                                  <a:pt x="193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58" name="Line 11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675" y="1151"/>
                            <a:ext cx="166" cy="163"/>
                          </a:xfrm>
                          <a:prstGeom prst="line">
                            <a:avLst/>
                          </a:prstGeom>
                          <a:noFill/>
                          <a:ln w="7938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59" name="Freeform 11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52" y="1305"/>
                            <a:ext cx="192" cy="193"/>
                          </a:xfrm>
                          <a:custGeom>
                            <a:avLst/>
                            <a:gdLst>
                              <a:gd name="T0" fmla="*/ 5 w 385"/>
                              <a:gd name="T1" fmla="*/ 0 h 384"/>
                              <a:gd name="T2" fmla="*/ 5 w 385"/>
                              <a:gd name="T3" fmla="*/ 1 h 384"/>
                              <a:gd name="T4" fmla="*/ 4 w 385"/>
                              <a:gd name="T5" fmla="*/ 1 h 384"/>
                              <a:gd name="T6" fmla="*/ 3 w 385"/>
                              <a:gd name="T7" fmla="*/ 1 h 384"/>
                              <a:gd name="T8" fmla="*/ 3 w 385"/>
                              <a:gd name="T9" fmla="*/ 1 h 384"/>
                              <a:gd name="T10" fmla="*/ 2 w 385"/>
                              <a:gd name="T11" fmla="*/ 1 h 384"/>
                              <a:gd name="T12" fmla="*/ 1 w 385"/>
                              <a:gd name="T13" fmla="*/ 2 h 384"/>
                              <a:gd name="T14" fmla="*/ 1 w 385"/>
                              <a:gd name="T15" fmla="*/ 3 h 384"/>
                              <a:gd name="T16" fmla="*/ 0 w 385"/>
                              <a:gd name="T17" fmla="*/ 4 h 384"/>
                              <a:gd name="T18" fmla="*/ 0 w 385"/>
                              <a:gd name="T19" fmla="*/ 4 h 384"/>
                              <a:gd name="T20" fmla="*/ 0 w 385"/>
                              <a:gd name="T21" fmla="*/ 5 h 384"/>
                              <a:gd name="T22" fmla="*/ 0 w 385"/>
                              <a:gd name="T23" fmla="*/ 6 h 384"/>
                              <a:gd name="T24" fmla="*/ 0 w 385"/>
                              <a:gd name="T25" fmla="*/ 6 h 384"/>
                              <a:gd name="T26" fmla="*/ 0 w 385"/>
                              <a:gd name="T27" fmla="*/ 7 h 384"/>
                              <a:gd name="T28" fmla="*/ 0 w 385"/>
                              <a:gd name="T29" fmla="*/ 7 h 384"/>
                              <a:gd name="T30" fmla="*/ 0 w 385"/>
                              <a:gd name="T31" fmla="*/ 8 h 384"/>
                              <a:gd name="T32" fmla="*/ 0 w 385"/>
                              <a:gd name="T33" fmla="*/ 9 h 384"/>
                              <a:gd name="T34" fmla="*/ 0 w 385"/>
                              <a:gd name="T35" fmla="*/ 9 h 384"/>
                              <a:gd name="T36" fmla="*/ 1 w 385"/>
                              <a:gd name="T37" fmla="*/ 10 h 384"/>
                              <a:gd name="T38" fmla="*/ 1 w 385"/>
                              <a:gd name="T39" fmla="*/ 11 h 384"/>
                              <a:gd name="T40" fmla="*/ 2 w 385"/>
                              <a:gd name="T41" fmla="*/ 11 h 384"/>
                              <a:gd name="T42" fmla="*/ 3 w 385"/>
                              <a:gd name="T43" fmla="*/ 12 h 384"/>
                              <a:gd name="T44" fmla="*/ 3 w 385"/>
                              <a:gd name="T45" fmla="*/ 12 h 384"/>
                              <a:gd name="T46" fmla="*/ 4 w 385"/>
                              <a:gd name="T47" fmla="*/ 12 h 384"/>
                              <a:gd name="T48" fmla="*/ 5 w 385"/>
                              <a:gd name="T49" fmla="*/ 12 h 384"/>
                              <a:gd name="T50" fmla="*/ 5 w 385"/>
                              <a:gd name="T51" fmla="*/ 13 h 384"/>
                              <a:gd name="T52" fmla="*/ 6 w 385"/>
                              <a:gd name="T53" fmla="*/ 13 h 384"/>
                              <a:gd name="T54" fmla="*/ 6 w 385"/>
                              <a:gd name="T55" fmla="*/ 12 h 384"/>
                              <a:gd name="T56" fmla="*/ 7 w 385"/>
                              <a:gd name="T57" fmla="*/ 12 h 384"/>
                              <a:gd name="T58" fmla="*/ 8 w 385"/>
                              <a:gd name="T59" fmla="*/ 12 h 384"/>
                              <a:gd name="T60" fmla="*/ 8 w 385"/>
                              <a:gd name="T61" fmla="*/ 12 h 384"/>
                              <a:gd name="T62" fmla="*/ 9 w 385"/>
                              <a:gd name="T63" fmla="*/ 11 h 384"/>
                              <a:gd name="T64" fmla="*/ 10 w 385"/>
                              <a:gd name="T65" fmla="*/ 11 h 384"/>
                              <a:gd name="T66" fmla="*/ 10 w 385"/>
                              <a:gd name="T67" fmla="*/ 10 h 384"/>
                              <a:gd name="T68" fmla="*/ 11 w 385"/>
                              <a:gd name="T69" fmla="*/ 9 h 384"/>
                              <a:gd name="T70" fmla="*/ 11 w 385"/>
                              <a:gd name="T71" fmla="*/ 9 h 384"/>
                              <a:gd name="T72" fmla="*/ 11 w 385"/>
                              <a:gd name="T73" fmla="*/ 8 h 384"/>
                              <a:gd name="T74" fmla="*/ 11 w 385"/>
                              <a:gd name="T75" fmla="*/ 7 h 384"/>
                              <a:gd name="T76" fmla="*/ 11 w 385"/>
                              <a:gd name="T77" fmla="*/ 7 h 384"/>
                              <a:gd name="T78" fmla="*/ 11 w 385"/>
                              <a:gd name="T79" fmla="*/ 6 h 384"/>
                              <a:gd name="T80" fmla="*/ 11 w 385"/>
                              <a:gd name="T81" fmla="*/ 6 h 384"/>
                              <a:gd name="T82" fmla="*/ 11 w 385"/>
                              <a:gd name="T83" fmla="*/ 5 h 384"/>
                              <a:gd name="T84" fmla="*/ 11 w 385"/>
                              <a:gd name="T85" fmla="*/ 4 h 384"/>
                              <a:gd name="T86" fmla="*/ 11 w 385"/>
                              <a:gd name="T87" fmla="*/ 4 h 384"/>
                              <a:gd name="T88" fmla="*/ 10 w 385"/>
                              <a:gd name="T89" fmla="*/ 3 h 384"/>
                              <a:gd name="T90" fmla="*/ 10 w 385"/>
                              <a:gd name="T91" fmla="*/ 2 h 384"/>
                              <a:gd name="T92" fmla="*/ 9 w 385"/>
                              <a:gd name="T93" fmla="*/ 1 h 384"/>
                              <a:gd name="T94" fmla="*/ 8 w 385"/>
                              <a:gd name="T95" fmla="*/ 1 h 384"/>
                              <a:gd name="T96" fmla="*/ 8 w 385"/>
                              <a:gd name="T97" fmla="*/ 1 h 384"/>
                              <a:gd name="T98" fmla="*/ 7 w 385"/>
                              <a:gd name="T99" fmla="*/ 1 h 384"/>
                              <a:gd name="T100" fmla="*/ 6 w 385"/>
                              <a:gd name="T101" fmla="*/ 1 h 384"/>
                              <a:gd name="T102" fmla="*/ 6 w 385"/>
                              <a:gd name="T103" fmla="*/ 0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5"/>
                              <a:gd name="T157" fmla="*/ 0 h 384"/>
                              <a:gd name="T158" fmla="*/ 385 w 385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5" h="384">
                                <a:moveTo>
                                  <a:pt x="192" y="0"/>
                                </a:moveTo>
                                <a:lnTo>
                                  <a:pt x="182" y="0"/>
                                </a:lnTo>
                                <a:lnTo>
                                  <a:pt x="172" y="0"/>
                                </a:lnTo>
                                <a:lnTo>
                                  <a:pt x="162" y="1"/>
                                </a:lnTo>
                                <a:lnTo>
                                  <a:pt x="152" y="3"/>
                                </a:lnTo>
                                <a:lnTo>
                                  <a:pt x="143" y="4"/>
                                </a:lnTo>
                                <a:lnTo>
                                  <a:pt x="134" y="7"/>
                                </a:lnTo>
                                <a:lnTo>
                                  <a:pt x="126" y="10"/>
                                </a:lnTo>
                                <a:lnTo>
                                  <a:pt x="117" y="13"/>
                                </a:lnTo>
                                <a:lnTo>
                                  <a:pt x="108" y="18"/>
                                </a:lnTo>
                                <a:lnTo>
                                  <a:pt x="100" y="23"/>
                                </a:lnTo>
                                <a:lnTo>
                                  <a:pt x="85" y="32"/>
                                </a:lnTo>
                                <a:lnTo>
                                  <a:pt x="69" y="43"/>
                                </a:lnTo>
                                <a:lnTo>
                                  <a:pt x="56" y="55"/>
                                </a:lnTo>
                                <a:lnTo>
                                  <a:pt x="43" y="69"/>
                                </a:lnTo>
                                <a:lnTo>
                                  <a:pt x="32" y="84"/>
                                </a:lnTo>
                                <a:lnTo>
                                  <a:pt x="23" y="99"/>
                                </a:lnTo>
                                <a:lnTo>
                                  <a:pt x="19" y="107"/>
                                </a:lnTo>
                                <a:lnTo>
                                  <a:pt x="14" y="116"/>
                                </a:lnTo>
                                <a:lnTo>
                                  <a:pt x="11" y="126"/>
                                </a:lnTo>
                                <a:lnTo>
                                  <a:pt x="8" y="133"/>
                                </a:lnTo>
                                <a:lnTo>
                                  <a:pt x="5" y="143"/>
                                </a:lnTo>
                                <a:lnTo>
                                  <a:pt x="3" y="152"/>
                                </a:lnTo>
                                <a:lnTo>
                                  <a:pt x="2" y="161"/>
                                </a:lnTo>
                                <a:lnTo>
                                  <a:pt x="0" y="172"/>
                                </a:lnTo>
                                <a:lnTo>
                                  <a:pt x="0" y="181"/>
                                </a:lnTo>
                                <a:lnTo>
                                  <a:pt x="0" y="192"/>
                                </a:lnTo>
                                <a:lnTo>
                                  <a:pt x="0" y="201"/>
                                </a:lnTo>
                                <a:lnTo>
                                  <a:pt x="0" y="210"/>
                                </a:lnTo>
                                <a:lnTo>
                                  <a:pt x="2" y="221"/>
                                </a:lnTo>
                                <a:lnTo>
                                  <a:pt x="3" y="230"/>
                                </a:lnTo>
                                <a:lnTo>
                                  <a:pt x="5" y="239"/>
                                </a:lnTo>
                                <a:lnTo>
                                  <a:pt x="8" y="249"/>
                                </a:lnTo>
                                <a:lnTo>
                                  <a:pt x="11" y="258"/>
                                </a:lnTo>
                                <a:lnTo>
                                  <a:pt x="14" y="266"/>
                                </a:lnTo>
                                <a:lnTo>
                                  <a:pt x="19" y="275"/>
                                </a:lnTo>
                                <a:lnTo>
                                  <a:pt x="23" y="283"/>
                                </a:lnTo>
                                <a:lnTo>
                                  <a:pt x="32" y="298"/>
                                </a:lnTo>
                                <a:lnTo>
                                  <a:pt x="43" y="313"/>
                                </a:lnTo>
                                <a:lnTo>
                                  <a:pt x="56" y="327"/>
                                </a:lnTo>
                                <a:lnTo>
                                  <a:pt x="69" y="339"/>
                                </a:lnTo>
                                <a:lnTo>
                                  <a:pt x="85" y="350"/>
                                </a:lnTo>
                                <a:lnTo>
                                  <a:pt x="100" y="359"/>
                                </a:lnTo>
                                <a:lnTo>
                                  <a:pt x="108" y="364"/>
                                </a:lnTo>
                                <a:lnTo>
                                  <a:pt x="117" y="369"/>
                                </a:lnTo>
                                <a:lnTo>
                                  <a:pt x="126" y="372"/>
                                </a:lnTo>
                                <a:lnTo>
                                  <a:pt x="134" y="375"/>
                                </a:lnTo>
                                <a:lnTo>
                                  <a:pt x="143" y="378"/>
                                </a:lnTo>
                                <a:lnTo>
                                  <a:pt x="152" y="379"/>
                                </a:lnTo>
                                <a:lnTo>
                                  <a:pt x="162" y="381"/>
                                </a:lnTo>
                                <a:lnTo>
                                  <a:pt x="172" y="382"/>
                                </a:lnTo>
                                <a:lnTo>
                                  <a:pt x="182" y="382"/>
                                </a:lnTo>
                                <a:lnTo>
                                  <a:pt x="192" y="384"/>
                                </a:lnTo>
                                <a:lnTo>
                                  <a:pt x="202" y="382"/>
                                </a:lnTo>
                                <a:lnTo>
                                  <a:pt x="211" y="382"/>
                                </a:lnTo>
                                <a:lnTo>
                                  <a:pt x="222" y="381"/>
                                </a:lnTo>
                                <a:lnTo>
                                  <a:pt x="231" y="379"/>
                                </a:lnTo>
                                <a:lnTo>
                                  <a:pt x="240" y="378"/>
                                </a:lnTo>
                                <a:lnTo>
                                  <a:pt x="249" y="375"/>
                                </a:lnTo>
                                <a:lnTo>
                                  <a:pt x="259" y="372"/>
                                </a:lnTo>
                                <a:lnTo>
                                  <a:pt x="266" y="369"/>
                                </a:lnTo>
                                <a:lnTo>
                                  <a:pt x="275" y="364"/>
                                </a:lnTo>
                                <a:lnTo>
                                  <a:pt x="283" y="359"/>
                                </a:lnTo>
                                <a:lnTo>
                                  <a:pt x="299" y="350"/>
                                </a:lnTo>
                                <a:lnTo>
                                  <a:pt x="314" y="339"/>
                                </a:lnTo>
                                <a:lnTo>
                                  <a:pt x="328" y="327"/>
                                </a:lnTo>
                                <a:lnTo>
                                  <a:pt x="340" y="313"/>
                                </a:lnTo>
                                <a:lnTo>
                                  <a:pt x="351" y="298"/>
                                </a:lnTo>
                                <a:lnTo>
                                  <a:pt x="360" y="283"/>
                                </a:lnTo>
                                <a:lnTo>
                                  <a:pt x="365" y="275"/>
                                </a:lnTo>
                                <a:lnTo>
                                  <a:pt x="369" y="266"/>
                                </a:lnTo>
                                <a:lnTo>
                                  <a:pt x="372" y="258"/>
                                </a:lnTo>
                                <a:lnTo>
                                  <a:pt x="375" y="249"/>
                                </a:lnTo>
                                <a:lnTo>
                                  <a:pt x="379" y="239"/>
                                </a:lnTo>
                                <a:lnTo>
                                  <a:pt x="380" y="230"/>
                                </a:lnTo>
                                <a:lnTo>
                                  <a:pt x="382" y="221"/>
                                </a:lnTo>
                                <a:lnTo>
                                  <a:pt x="383" y="210"/>
                                </a:lnTo>
                                <a:lnTo>
                                  <a:pt x="383" y="201"/>
                                </a:lnTo>
                                <a:lnTo>
                                  <a:pt x="385" y="192"/>
                                </a:lnTo>
                                <a:lnTo>
                                  <a:pt x="383" y="181"/>
                                </a:lnTo>
                                <a:lnTo>
                                  <a:pt x="383" y="172"/>
                                </a:lnTo>
                                <a:lnTo>
                                  <a:pt x="382" y="161"/>
                                </a:lnTo>
                                <a:lnTo>
                                  <a:pt x="380" y="152"/>
                                </a:lnTo>
                                <a:lnTo>
                                  <a:pt x="379" y="143"/>
                                </a:lnTo>
                                <a:lnTo>
                                  <a:pt x="375" y="133"/>
                                </a:lnTo>
                                <a:lnTo>
                                  <a:pt x="372" y="126"/>
                                </a:lnTo>
                                <a:lnTo>
                                  <a:pt x="369" y="116"/>
                                </a:lnTo>
                                <a:lnTo>
                                  <a:pt x="365" y="107"/>
                                </a:lnTo>
                                <a:lnTo>
                                  <a:pt x="360" y="99"/>
                                </a:lnTo>
                                <a:lnTo>
                                  <a:pt x="351" y="84"/>
                                </a:lnTo>
                                <a:lnTo>
                                  <a:pt x="340" y="69"/>
                                </a:lnTo>
                                <a:lnTo>
                                  <a:pt x="328" y="55"/>
                                </a:lnTo>
                                <a:lnTo>
                                  <a:pt x="314" y="43"/>
                                </a:lnTo>
                                <a:lnTo>
                                  <a:pt x="299" y="32"/>
                                </a:lnTo>
                                <a:lnTo>
                                  <a:pt x="283" y="23"/>
                                </a:lnTo>
                                <a:lnTo>
                                  <a:pt x="275" y="18"/>
                                </a:lnTo>
                                <a:lnTo>
                                  <a:pt x="266" y="13"/>
                                </a:lnTo>
                                <a:lnTo>
                                  <a:pt x="259" y="10"/>
                                </a:lnTo>
                                <a:lnTo>
                                  <a:pt x="249" y="7"/>
                                </a:lnTo>
                                <a:lnTo>
                                  <a:pt x="240" y="4"/>
                                </a:lnTo>
                                <a:lnTo>
                                  <a:pt x="231" y="3"/>
                                </a:lnTo>
                                <a:lnTo>
                                  <a:pt x="222" y="1"/>
                                </a:lnTo>
                                <a:lnTo>
                                  <a:pt x="211" y="0"/>
                                </a:lnTo>
                                <a:lnTo>
                                  <a:pt x="202" y="0"/>
                                </a:lnTo>
                                <a:lnTo>
                                  <a:pt x="192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60" name="Rectangle 11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2845" y="1320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3</a:t>
                            </a:r>
                            <a:endParaRPr lang="en-GB" altLang="en-US"/>
                          </a:p>
                        </p:txBody>
                      </p:sp>
                      <p:sp>
                        <p:nvSpPr>
                          <p:cNvPr id="20561" name="Freeform 11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232" y="937"/>
                            <a:ext cx="192" cy="192"/>
                          </a:xfrm>
                          <a:custGeom>
                            <a:avLst/>
                            <a:gdLst>
                              <a:gd name="T0" fmla="*/ 6 w 384"/>
                              <a:gd name="T1" fmla="*/ 1 h 384"/>
                              <a:gd name="T2" fmla="*/ 6 w 384"/>
                              <a:gd name="T3" fmla="*/ 1 h 384"/>
                              <a:gd name="T4" fmla="*/ 5 w 384"/>
                              <a:gd name="T5" fmla="*/ 1 h 384"/>
                              <a:gd name="T6" fmla="*/ 3 w 384"/>
                              <a:gd name="T7" fmla="*/ 1 h 384"/>
                              <a:gd name="T8" fmla="*/ 3 w 384"/>
                              <a:gd name="T9" fmla="*/ 1 h 384"/>
                              <a:gd name="T10" fmla="*/ 3 w 384"/>
                              <a:gd name="T11" fmla="*/ 2 h 384"/>
                              <a:gd name="T12" fmla="*/ 2 w 384"/>
                              <a:gd name="T13" fmla="*/ 2 h 384"/>
                              <a:gd name="T14" fmla="*/ 1 w 384"/>
                              <a:gd name="T15" fmla="*/ 3 h 384"/>
                              <a:gd name="T16" fmla="*/ 1 w 384"/>
                              <a:gd name="T17" fmla="*/ 3 h 384"/>
                              <a:gd name="T18" fmla="*/ 1 w 384"/>
                              <a:gd name="T19" fmla="*/ 3 h 384"/>
                              <a:gd name="T20" fmla="*/ 1 w 384"/>
                              <a:gd name="T21" fmla="*/ 5 h 384"/>
                              <a:gd name="T22" fmla="*/ 1 w 384"/>
                              <a:gd name="T23" fmla="*/ 6 h 384"/>
                              <a:gd name="T24" fmla="*/ 0 w 384"/>
                              <a:gd name="T25" fmla="*/ 6 h 384"/>
                              <a:gd name="T26" fmla="*/ 0 w 384"/>
                              <a:gd name="T27" fmla="*/ 6 h 384"/>
                              <a:gd name="T28" fmla="*/ 1 w 384"/>
                              <a:gd name="T29" fmla="*/ 6 h 384"/>
                              <a:gd name="T30" fmla="*/ 1 w 384"/>
                              <a:gd name="T31" fmla="*/ 7 h 384"/>
                              <a:gd name="T32" fmla="*/ 1 w 384"/>
                              <a:gd name="T33" fmla="*/ 9 h 384"/>
                              <a:gd name="T34" fmla="*/ 1 w 384"/>
                              <a:gd name="T35" fmla="*/ 9 h 384"/>
                              <a:gd name="T36" fmla="*/ 1 w 384"/>
                              <a:gd name="T37" fmla="*/ 10 h 384"/>
                              <a:gd name="T38" fmla="*/ 2 w 384"/>
                              <a:gd name="T39" fmla="*/ 11 h 384"/>
                              <a:gd name="T40" fmla="*/ 3 w 384"/>
                              <a:gd name="T41" fmla="*/ 11 h 384"/>
                              <a:gd name="T42" fmla="*/ 3 w 384"/>
                              <a:gd name="T43" fmla="*/ 12 h 384"/>
                              <a:gd name="T44" fmla="*/ 3 w 384"/>
                              <a:gd name="T45" fmla="*/ 12 h 384"/>
                              <a:gd name="T46" fmla="*/ 5 w 384"/>
                              <a:gd name="T47" fmla="*/ 12 h 384"/>
                              <a:gd name="T48" fmla="*/ 6 w 384"/>
                              <a:gd name="T49" fmla="*/ 12 h 384"/>
                              <a:gd name="T50" fmla="*/ 6 w 384"/>
                              <a:gd name="T51" fmla="*/ 12 h 384"/>
                              <a:gd name="T52" fmla="*/ 6 w 384"/>
                              <a:gd name="T53" fmla="*/ 12 h 384"/>
                              <a:gd name="T54" fmla="*/ 6 w 384"/>
                              <a:gd name="T55" fmla="*/ 12 h 384"/>
                              <a:gd name="T56" fmla="*/ 7 w 384"/>
                              <a:gd name="T57" fmla="*/ 12 h 384"/>
                              <a:gd name="T58" fmla="*/ 9 w 384"/>
                              <a:gd name="T59" fmla="*/ 12 h 384"/>
                              <a:gd name="T60" fmla="*/ 9 w 384"/>
                              <a:gd name="T61" fmla="*/ 12 h 384"/>
                              <a:gd name="T62" fmla="*/ 10 w 384"/>
                              <a:gd name="T63" fmla="*/ 11 h 384"/>
                              <a:gd name="T64" fmla="*/ 11 w 384"/>
                              <a:gd name="T65" fmla="*/ 11 h 384"/>
                              <a:gd name="T66" fmla="*/ 11 w 384"/>
                              <a:gd name="T67" fmla="*/ 10 h 384"/>
                              <a:gd name="T68" fmla="*/ 12 w 384"/>
                              <a:gd name="T69" fmla="*/ 9 h 384"/>
                              <a:gd name="T70" fmla="*/ 12 w 384"/>
                              <a:gd name="T71" fmla="*/ 9 h 384"/>
                              <a:gd name="T72" fmla="*/ 12 w 384"/>
                              <a:gd name="T73" fmla="*/ 7 h 384"/>
                              <a:gd name="T74" fmla="*/ 12 w 384"/>
                              <a:gd name="T75" fmla="*/ 6 h 384"/>
                              <a:gd name="T76" fmla="*/ 12 w 384"/>
                              <a:gd name="T77" fmla="*/ 6 h 384"/>
                              <a:gd name="T78" fmla="*/ 12 w 384"/>
                              <a:gd name="T79" fmla="*/ 6 h 384"/>
                              <a:gd name="T80" fmla="*/ 12 w 384"/>
                              <a:gd name="T81" fmla="*/ 6 h 384"/>
                              <a:gd name="T82" fmla="*/ 12 w 384"/>
                              <a:gd name="T83" fmla="*/ 5 h 384"/>
                              <a:gd name="T84" fmla="*/ 12 w 384"/>
                              <a:gd name="T85" fmla="*/ 3 h 384"/>
                              <a:gd name="T86" fmla="*/ 12 w 384"/>
                              <a:gd name="T87" fmla="*/ 3 h 384"/>
                              <a:gd name="T88" fmla="*/ 11 w 384"/>
                              <a:gd name="T89" fmla="*/ 3 h 384"/>
                              <a:gd name="T90" fmla="*/ 11 w 384"/>
                              <a:gd name="T91" fmla="*/ 2 h 384"/>
                              <a:gd name="T92" fmla="*/ 10 w 384"/>
                              <a:gd name="T93" fmla="*/ 2 h 384"/>
                              <a:gd name="T94" fmla="*/ 9 w 384"/>
                              <a:gd name="T95" fmla="*/ 1 h 384"/>
                              <a:gd name="T96" fmla="*/ 9 w 384"/>
                              <a:gd name="T97" fmla="*/ 1 h 384"/>
                              <a:gd name="T98" fmla="*/ 7 w 384"/>
                              <a:gd name="T99" fmla="*/ 1 h 384"/>
                              <a:gd name="T100" fmla="*/ 6 w 384"/>
                              <a:gd name="T101" fmla="*/ 1 h 384"/>
                              <a:gd name="T102" fmla="*/ 6 w 384"/>
                              <a:gd name="T103" fmla="*/ 1 h 384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w 384"/>
                              <a:gd name="T157" fmla="*/ 0 h 384"/>
                              <a:gd name="T158" fmla="*/ 384 w 384"/>
                              <a:gd name="T159" fmla="*/ 384 h 384"/>
                            </a:gdLst>
                            <a:ahLst/>
                            <a:cxnLst>
                              <a:cxn ang="T104">
                                <a:pos x="T0" y="T1"/>
                              </a:cxn>
                              <a:cxn ang="T105">
                                <a:pos x="T2" y="T3"/>
                              </a:cxn>
                              <a:cxn ang="T106">
                                <a:pos x="T4" y="T5"/>
                              </a:cxn>
                              <a:cxn ang="T107">
                                <a:pos x="T6" y="T7"/>
                              </a:cxn>
                              <a:cxn ang="T108">
                                <a:pos x="T8" y="T9"/>
                              </a:cxn>
                              <a:cxn ang="T109">
                                <a:pos x="T10" y="T11"/>
                              </a:cxn>
                              <a:cxn ang="T110">
                                <a:pos x="T12" y="T13"/>
                              </a:cxn>
                              <a:cxn ang="T111">
                                <a:pos x="T14" y="T15"/>
                              </a:cxn>
                              <a:cxn ang="T112">
                                <a:pos x="T16" y="T17"/>
                              </a:cxn>
                              <a:cxn ang="T113">
                                <a:pos x="T18" y="T19"/>
                              </a:cxn>
                              <a:cxn ang="T114">
                                <a:pos x="T20" y="T21"/>
                              </a:cxn>
                              <a:cxn ang="T115">
                                <a:pos x="T22" y="T23"/>
                              </a:cxn>
                              <a:cxn ang="T116">
                                <a:pos x="T24" y="T25"/>
                              </a:cxn>
                              <a:cxn ang="T117">
                                <a:pos x="T26" y="T27"/>
                              </a:cxn>
                              <a:cxn ang="T118">
                                <a:pos x="T28" y="T29"/>
                              </a:cxn>
                              <a:cxn ang="T119">
                                <a:pos x="T30" y="T31"/>
                              </a:cxn>
                              <a:cxn ang="T120">
                                <a:pos x="T32" y="T33"/>
                              </a:cxn>
                              <a:cxn ang="T121">
                                <a:pos x="T34" y="T35"/>
                              </a:cxn>
                              <a:cxn ang="T122">
                                <a:pos x="T36" y="T37"/>
                              </a:cxn>
                              <a:cxn ang="T123">
                                <a:pos x="T38" y="T39"/>
                              </a:cxn>
                              <a:cxn ang="T124">
                                <a:pos x="T40" y="T41"/>
                              </a:cxn>
                              <a:cxn ang="T125">
                                <a:pos x="T42" y="T43"/>
                              </a:cxn>
                              <a:cxn ang="T126">
                                <a:pos x="T44" y="T45"/>
                              </a:cxn>
                              <a:cxn ang="T127">
                                <a:pos x="T46" y="T47"/>
                              </a:cxn>
                              <a:cxn ang="T128">
                                <a:pos x="T48" y="T49"/>
                              </a:cxn>
                              <a:cxn ang="T129">
                                <a:pos x="T50" y="T51"/>
                              </a:cxn>
                              <a:cxn ang="T130">
                                <a:pos x="T52" y="T53"/>
                              </a:cxn>
                              <a:cxn ang="T131">
                                <a:pos x="T54" y="T55"/>
                              </a:cxn>
                              <a:cxn ang="T132">
                                <a:pos x="T56" y="T57"/>
                              </a:cxn>
                              <a:cxn ang="T133">
                                <a:pos x="T58" y="T59"/>
                              </a:cxn>
                              <a:cxn ang="T134">
                                <a:pos x="T60" y="T61"/>
                              </a:cxn>
                              <a:cxn ang="T135">
                                <a:pos x="T62" y="T63"/>
                              </a:cxn>
                              <a:cxn ang="T136">
                                <a:pos x="T64" y="T65"/>
                              </a:cxn>
                              <a:cxn ang="T137">
                                <a:pos x="T66" y="T67"/>
                              </a:cxn>
                              <a:cxn ang="T138">
                                <a:pos x="T68" y="T69"/>
                              </a:cxn>
                              <a:cxn ang="T139">
                                <a:pos x="T70" y="T71"/>
                              </a:cxn>
                              <a:cxn ang="T140">
                                <a:pos x="T72" y="T73"/>
                              </a:cxn>
                              <a:cxn ang="T141">
                                <a:pos x="T74" y="T75"/>
                              </a:cxn>
                              <a:cxn ang="T142">
                                <a:pos x="T76" y="T77"/>
                              </a:cxn>
                              <a:cxn ang="T143">
                                <a:pos x="T78" y="T79"/>
                              </a:cxn>
                              <a:cxn ang="T144">
                                <a:pos x="T80" y="T81"/>
                              </a:cxn>
                              <a:cxn ang="T145">
                                <a:pos x="T82" y="T83"/>
                              </a:cxn>
                              <a:cxn ang="T146">
                                <a:pos x="T84" y="T85"/>
                              </a:cxn>
                              <a:cxn ang="T147">
                                <a:pos x="T86" y="T87"/>
                              </a:cxn>
                              <a:cxn ang="T148">
                                <a:pos x="T88" y="T89"/>
                              </a:cxn>
                              <a:cxn ang="T149">
                                <a:pos x="T90" y="T91"/>
                              </a:cxn>
                              <a:cxn ang="T150">
                                <a:pos x="T92" y="T93"/>
                              </a:cxn>
                              <a:cxn ang="T151">
                                <a:pos x="T94" y="T95"/>
                              </a:cxn>
                              <a:cxn ang="T152">
                                <a:pos x="T96" y="T97"/>
                              </a:cxn>
                              <a:cxn ang="T153">
                                <a:pos x="T98" y="T99"/>
                              </a:cxn>
                              <a:cxn ang="T154">
                                <a:pos x="T100" y="T101"/>
                              </a:cxn>
                              <a:cxn ang="T155">
                                <a:pos x="T102" y="T103"/>
                              </a:cxn>
                            </a:cxnLst>
                            <a:rect l="T156" t="T157" r="T158" b="T159"/>
                            <a:pathLst>
                              <a:path w="384" h="384">
                                <a:moveTo>
                                  <a:pt x="192" y="0"/>
                                </a:moveTo>
                                <a:lnTo>
                                  <a:pt x="181" y="1"/>
                                </a:lnTo>
                                <a:lnTo>
                                  <a:pt x="172" y="1"/>
                                </a:lnTo>
                                <a:lnTo>
                                  <a:pt x="161" y="3"/>
                                </a:lnTo>
                                <a:lnTo>
                                  <a:pt x="152" y="4"/>
                                </a:lnTo>
                                <a:lnTo>
                                  <a:pt x="143" y="6"/>
                                </a:lnTo>
                                <a:lnTo>
                                  <a:pt x="134" y="9"/>
                                </a:lnTo>
                                <a:lnTo>
                                  <a:pt x="126" y="12"/>
                                </a:lnTo>
                                <a:lnTo>
                                  <a:pt x="117" y="15"/>
                                </a:lnTo>
                                <a:lnTo>
                                  <a:pt x="108" y="20"/>
                                </a:lnTo>
                                <a:lnTo>
                                  <a:pt x="100" y="23"/>
                                </a:lnTo>
                                <a:lnTo>
                                  <a:pt x="85" y="34"/>
                                </a:lnTo>
                                <a:lnTo>
                                  <a:pt x="69" y="44"/>
                                </a:lnTo>
                                <a:lnTo>
                                  <a:pt x="55" y="57"/>
                                </a:lnTo>
                                <a:lnTo>
                                  <a:pt x="43" y="71"/>
                                </a:lnTo>
                                <a:lnTo>
                                  <a:pt x="32" y="86"/>
                                </a:lnTo>
                                <a:lnTo>
                                  <a:pt x="23" y="101"/>
                                </a:lnTo>
                                <a:lnTo>
                                  <a:pt x="18" y="109"/>
                                </a:lnTo>
                                <a:lnTo>
                                  <a:pt x="14" y="118"/>
                                </a:lnTo>
                                <a:lnTo>
                                  <a:pt x="11" y="126"/>
                                </a:lnTo>
                                <a:lnTo>
                                  <a:pt x="8" y="135"/>
                                </a:lnTo>
                                <a:lnTo>
                                  <a:pt x="5" y="144"/>
                                </a:lnTo>
                                <a:lnTo>
                                  <a:pt x="3" y="154"/>
                                </a:lnTo>
                                <a:lnTo>
                                  <a:pt x="1" y="163"/>
                                </a:lnTo>
                                <a:lnTo>
                                  <a:pt x="0" y="174"/>
                                </a:lnTo>
                                <a:lnTo>
                                  <a:pt x="0" y="183"/>
                                </a:lnTo>
                                <a:lnTo>
                                  <a:pt x="0" y="192"/>
                                </a:lnTo>
                                <a:lnTo>
                                  <a:pt x="0" y="203"/>
                                </a:lnTo>
                                <a:lnTo>
                                  <a:pt x="0" y="212"/>
                                </a:lnTo>
                                <a:lnTo>
                                  <a:pt x="1" y="221"/>
                                </a:lnTo>
                                <a:lnTo>
                                  <a:pt x="3" y="232"/>
                                </a:lnTo>
                                <a:lnTo>
                                  <a:pt x="5" y="241"/>
                                </a:lnTo>
                                <a:lnTo>
                                  <a:pt x="8" y="251"/>
                                </a:lnTo>
                                <a:lnTo>
                                  <a:pt x="11" y="258"/>
                                </a:lnTo>
                                <a:lnTo>
                                  <a:pt x="14" y="267"/>
                                </a:lnTo>
                                <a:lnTo>
                                  <a:pt x="18" y="277"/>
                                </a:lnTo>
                                <a:lnTo>
                                  <a:pt x="23" y="284"/>
                                </a:lnTo>
                                <a:lnTo>
                                  <a:pt x="32" y="300"/>
                                </a:lnTo>
                                <a:lnTo>
                                  <a:pt x="43" y="315"/>
                                </a:lnTo>
                                <a:lnTo>
                                  <a:pt x="55" y="329"/>
                                </a:lnTo>
                                <a:lnTo>
                                  <a:pt x="69" y="341"/>
                                </a:lnTo>
                                <a:lnTo>
                                  <a:pt x="85" y="352"/>
                                </a:lnTo>
                                <a:lnTo>
                                  <a:pt x="100" y="361"/>
                                </a:lnTo>
                                <a:lnTo>
                                  <a:pt x="108" y="366"/>
                                </a:lnTo>
                                <a:lnTo>
                                  <a:pt x="117" y="370"/>
                                </a:lnTo>
                                <a:lnTo>
                                  <a:pt x="126" y="374"/>
                                </a:lnTo>
                                <a:lnTo>
                                  <a:pt x="134" y="377"/>
                                </a:lnTo>
                                <a:lnTo>
                                  <a:pt x="143" y="378"/>
                                </a:lnTo>
                                <a:lnTo>
                                  <a:pt x="152" y="381"/>
                                </a:lnTo>
                                <a:lnTo>
                                  <a:pt x="161" y="383"/>
                                </a:lnTo>
                                <a:lnTo>
                                  <a:pt x="172" y="384"/>
                                </a:lnTo>
                                <a:lnTo>
                                  <a:pt x="181" y="384"/>
                                </a:lnTo>
                                <a:lnTo>
                                  <a:pt x="192" y="384"/>
                                </a:lnTo>
                                <a:lnTo>
                                  <a:pt x="201" y="384"/>
                                </a:lnTo>
                                <a:lnTo>
                                  <a:pt x="211" y="384"/>
                                </a:lnTo>
                                <a:lnTo>
                                  <a:pt x="221" y="383"/>
                                </a:lnTo>
                                <a:lnTo>
                                  <a:pt x="231" y="381"/>
                                </a:lnTo>
                                <a:lnTo>
                                  <a:pt x="240" y="378"/>
                                </a:lnTo>
                                <a:lnTo>
                                  <a:pt x="249" y="377"/>
                                </a:lnTo>
                                <a:lnTo>
                                  <a:pt x="257" y="374"/>
                                </a:lnTo>
                                <a:lnTo>
                                  <a:pt x="266" y="370"/>
                                </a:lnTo>
                                <a:lnTo>
                                  <a:pt x="275" y="366"/>
                                </a:lnTo>
                                <a:lnTo>
                                  <a:pt x="283" y="361"/>
                                </a:lnTo>
                                <a:lnTo>
                                  <a:pt x="298" y="352"/>
                                </a:lnTo>
                                <a:lnTo>
                                  <a:pt x="314" y="341"/>
                                </a:lnTo>
                                <a:lnTo>
                                  <a:pt x="328" y="329"/>
                                </a:lnTo>
                                <a:lnTo>
                                  <a:pt x="340" y="315"/>
                                </a:lnTo>
                                <a:lnTo>
                                  <a:pt x="351" y="300"/>
                                </a:lnTo>
                                <a:lnTo>
                                  <a:pt x="360" y="284"/>
                                </a:lnTo>
                                <a:lnTo>
                                  <a:pt x="364" y="277"/>
                                </a:lnTo>
                                <a:lnTo>
                                  <a:pt x="369" y="267"/>
                                </a:lnTo>
                                <a:lnTo>
                                  <a:pt x="372" y="258"/>
                                </a:lnTo>
                                <a:lnTo>
                                  <a:pt x="375" y="251"/>
                                </a:lnTo>
                                <a:lnTo>
                                  <a:pt x="378" y="241"/>
                                </a:lnTo>
                                <a:lnTo>
                                  <a:pt x="380" y="232"/>
                                </a:lnTo>
                                <a:lnTo>
                                  <a:pt x="381" y="221"/>
                                </a:lnTo>
                                <a:lnTo>
                                  <a:pt x="383" y="212"/>
                                </a:lnTo>
                                <a:lnTo>
                                  <a:pt x="383" y="203"/>
                                </a:lnTo>
                                <a:lnTo>
                                  <a:pt x="384" y="192"/>
                                </a:lnTo>
                                <a:lnTo>
                                  <a:pt x="383" y="183"/>
                                </a:lnTo>
                                <a:lnTo>
                                  <a:pt x="383" y="174"/>
                                </a:lnTo>
                                <a:lnTo>
                                  <a:pt x="381" y="163"/>
                                </a:lnTo>
                                <a:lnTo>
                                  <a:pt x="380" y="154"/>
                                </a:lnTo>
                                <a:lnTo>
                                  <a:pt x="378" y="144"/>
                                </a:lnTo>
                                <a:lnTo>
                                  <a:pt x="375" y="135"/>
                                </a:lnTo>
                                <a:lnTo>
                                  <a:pt x="372" y="126"/>
                                </a:lnTo>
                                <a:lnTo>
                                  <a:pt x="369" y="118"/>
                                </a:lnTo>
                                <a:lnTo>
                                  <a:pt x="364" y="109"/>
                                </a:lnTo>
                                <a:lnTo>
                                  <a:pt x="360" y="101"/>
                                </a:lnTo>
                                <a:lnTo>
                                  <a:pt x="351" y="86"/>
                                </a:lnTo>
                                <a:lnTo>
                                  <a:pt x="340" y="71"/>
                                </a:lnTo>
                                <a:lnTo>
                                  <a:pt x="328" y="57"/>
                                </a:lnTo>
                                <a:lnTo>
                                  <a:pt x="314" y="44"/>
                                </a:lnTo>
                                <a:lnTo>
                                  <a:pt x="298" y="34"/>
                                </a:lnTo>
                                <a:lnTo>
                                  <a:pt x="283" y="23"/>
                                </a:lnTo>
                                <a:lnTo>
                                  <a:pt x="275" y="20"/>
                                </a:lnTo>
                                <a:lnTo>
                                  <a:pt x="266" y="15"/>
                                </a:lnTo>
                                <a:lnTo>
                                  <a:pt x="257" y="12"/>
                                </a:lnTo>
                                <a:lnTo>
                                  <a:pt x="249" y="9"/>
                                </a:lnTo>
                                <a:lnTo>
                                  <a:pt x="240" y="6"/>
                                </a:lnTo>
                                <a:lnTo>
                                  <a:pt x="231" y="4"/>
                                </a:lnTo>
                                <a:lnTo>
                                  <a:pt x="221" y="3"/>
                                </a:lnTo>
                                <a:lnTo>
                                  <a:pt x="211" y="1"/>
                                </a:lnTo>
                                <a:lnTo>
                                  <a:pt x="201" y="1"/>
                                </a:lnTo>
                                <a:lnTo>
                                  <a:pt x="192" y="0"/>
                                </a:lnTo>
                              </a:path>
                            </a:pathLst>
                          </a:custGeom>
                          <a:noFill/>
                          <a:ln w="1587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  <p:sp>
                        <p:nvSpPr>
                          <p:cNvPr id="20562" name="Rectangle 119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287" y="940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7</a:t>
                            </a:r>
                            <a:endParaRPr lang="en-GB" altLang="en-US"/>
                          </a:p>
                        </p:txBody>
                      </p:sp>
                      <p:grpSp>
                        <p:nvGrpSpPr>
                          <p:cNvPr id="20563" name="Group 120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291" y="652"/>
                            <a:ext cx="969" cy="811"/>
                            <a:chOff x="2291" y="652"/>
                            <a:chExt cx="969" cy="811"/>
                          </a:xfrm>
                        </p:grpSpPr>
                        <p:sp>
                          <p:nvSpPr>
                            <p:cNvPr id="20569" name="Line 121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>
                              <a:off x="3094" y="798"/>
                              <a:ext cx="166" cy="163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70" name="Rectangle 122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652" y="973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2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571" name="Line 123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V="1">
                              <a:off x="2444" y="1151"/>
                              <a:ext cx="123" cy="117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72" name="Freeform 12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291" y="1267"/>
                              <a:ext cx="192" cy="192"/>
                            </a:xfrm>
                            <a:custGeom>
                              <a:avLst/>
                              <a:gdLst>
                                <a:gd name="T0" fmla="*/ 5 w 385"/>
                                <a:gd name="T1" fmla="*/ 0 h 384"/>
                                <a:gd name="T2" fmla="*/ 5 w 385"/>
                                <a:gd name="T3" fmla="*/ 1 h 384"/>
                                <a:gd name="T4" fmla="*/ 4 w 385"/>
                                <a:gd name="T5" fmla="*/ 1 h 384"/>
                                <a:gd name="T6" fmla="*/ 3 w 385"/>
                                <a:gd name="T7" fmla="*/ 1 h 384"/>
                                <a:gd name="T8" fmla="*/ 3 w 385"/>
                                <a:gd name="T9" fmla="*/ 1 h 384"/>
                                <a:gd name="T10" fmla="*/ 2 w 385"/>
                                <a:gd name="T11" fmla="*/ 1 h 384"/>
                                <a:gd name="T12" fmla="*/ 1 w 385"/>
                                <a:gd name="T13" fmla="*/ 2 h 384"/>
                                <a:gd name="T14" fmla="*/ 1 w 385"/>
                                <a:gd name="T15" fmla="*/ 3 h 384"/>
                                <a:gd name="T16" fmla="*/ 0 w 385"/>
                                <a:gd name="T17" fmla="*/ 3 h 384"/>
                                <a:gd name="T18" fmla="*/ 0 w 385"/>
                                <a:gd name="T19" fmla="*/ 3 h 384"/>
                                <a:gd name="T20" fmla="*/ 0 w 385"/>
                                <a:gd name="T21" fmla="*/ 5 h 384"/>
                                <a:gd name="T22" fmla="*/ 0 w 385"/>
                                <a:gd name="T23" fmla="*/ 6 h 384"/>
                                <a:gd name="T24" fmla="*/ 0 w 385"/>
                                <a:gd name="T25" fmla="*/ 6 h 384"/>
                                <a:gd name="T26" fmla="*/ 0 w 385"/>
                                <a:gd name="T27" fmla="*/ 6 h 384"/>
                                <a:gd name="T28" fmla="*/ 0 w 385"/>
                                <a:gd name="T29" fmla="*/ 6 h 384"/>
                                <a:gd name="T30" fmla="*/ 0 w 385"/>
                                <a:gd name="T31" fmla="*/ 7 h 384"/>
                                <a:gd name="T32" fmla="*/ 0 w 385"/>
                                <a:gd name="T33" fmla="*/ 9 h 384"/>
                                <a:gd name="T34" fmla="*/ 0 w 385"/>
                                <a:gd name="T35" fmla="*/ 9 h 384"/>
                                <a:gd name="T36" fmla="*/ 1 w 385"/>
                                <a:gd name="T37" fmla="*/ 10 h 384"/>
                                <a:gd name="T38" fmla="*/ 1 w 385"/>
                                <a:gd name="T39" fmla="*/ 11 h 384"/>
                                <a:gd name="T40" fmla="*/ 2 w 385"/>
                                <a:gd name="T41" fmla="*/ 11 h 384"/>
                                <a:gd name="T42" fmla="*/ 3 w 385"/>
                                <a:gd name="T43" fmla="*/ 12 h 384"/>
                                <a:gd name="T44" fmla="*/ 3 w 385"/>
                                <a:gd name="T45" fmla="*/ 12 h 384"/>
                                <a:gd name="T46" fmla="*/ 4 w 385"/>
                                <a:gd name="T47" fmla="*/ 12 h 384"/>
                                <a:gd name="T48" fmla="*/ 5 w 385"/>
                                <a:gd name="T49" fmla="*/ 12 h 384"/>
                                <a:gd name="T50" fmla="*/ 5 w 385"/>
                                <a:gd name="T51" fmla="*/ 12 h 384"/>
                                <a:gd name="T52" fmla="*/ 6 w 385"/>
                                <a:gd name="T53" fmla="*/ 12 h 384"/>
                                <a:gd name="T54" fmla="*/ 6 w 385"/>
                                <a:gd name="T55" fmla="*/ 12 h 384"/>
                                <a:gd name="T56" fmla="*/ 7 w 385"/>
                                <a:gd name="T57" fmla="*/ 12 h 384"/>
                                <a:gd name="T58" fmla="*/ 8 w 385"/>
                                <a:gd name="T59" fmla="*/ 12 h 384"/>
                                <a:gd name="T60" fmla="*/ 8 w 385"/>
                                <a:gd name="T61" fmla="*/ 12 h 384"/>
                                <a:gd name="T62" fmla="*/ 9 w 385"/>
                                <a:gd name="T63" fmla="*/ 11 h 384"/>
                                <a:gd name="T64" fmla="*/ 10 w 385"/>
                                <a:gd name="T65" fmla="*/ 11 h 384"/>
                                <a:gd name="T66" fmla="*/ 10 w 385"/>
                                <a:gd name="T67" fmla="*/ 10 h 384"/>
                                <a:gd name="T68" fmla="*/ 11 w 385"/>
                                <a:gd name="T69" fmla="*/ 9 h 384"/>
                                <a:gd name="T70" fmla="*/ 11 w 385"/>
                                <a:gd name="T71" fmla="*/ 9 h 384"/>
                                <a:gd name="T72" fmla="*/ 11 w 385"/>
                                <a:gd name="T73" fmla="*/ 7 h 384"/>
                                <a:gd name="T74" fmla="*/ 11 w 385"/>
                                <a:gd name="T75" fmla="*/ 6 h 384"/>
                                <a:gd name="T76" fmla="*/ 11 w 385"/>
                                <a:gd name="T77" fmla="*/ 6 h 384"/>
                                <a:gd name="T78" fmla="*/ 11 w 385"/>
                                <a:gd name="T79" fmla="*/ 6 h 384"/>
                                <a:gd name="T80" fmla="*/ 11 w 385"/>
                                <a:gd name="T81" fmla="*/ 6 h 384"/>
                                <a:gd name="T82" fmla="*/ 11 w 385"/>
                                <a:gd name="T83" fmla="*/ 5 h 384"/>
                                <a:gd name="T84" fmla="*/ 11 w 385"/>
                                <a:gd name="T85" fmla="*/ 3 h 384"/>
                                <a:gd name="T86" fmla="*/ 11 w 385"/>
                                <a:gd name="T87" fmla="*/ 3 h 384"/>
                                <a:gd name="T88" fmla="*/ 10 w 385"/>
                                <a:gd name="T89" fmla="*/ 3 h 384"/>
                                <a:gd name="T90" fmla="*/ 10 w 385"/>
                                <a:gd name="T91" fmla="*/ 2 h 384"/>
                                <a:gd name="T92" fmla="*/ 9 w 385"/>
                                <a:gd name="T93" fmla="*/ 1 h 384"/>
                                <a:gd name="T94" fmla="*/ 8 w 385"/>
                                <a:gd name="T95" fmla="*/ 1 h 384"/>
                                <a:gd name="T96" fmla="*/ 8 w 385"/>
                                <a:gd name="T97" fmla="*/ 1 h 384"/>
                                <a:gd name="T98" fmla="*/ 7 w 385"/>
                                <a:gd name="T99" fmla="*/ 1 h 384"/>
                                <a:gd name="T100" fmla="*/ 6 w 385"/>
                                <a:gd name="T101" fmla="*/ 1 h 384"/>
                                <a:gd name="T102" fmla="*/ 6 w 385"/>
                                <a:gd name="T103" fmla="*/ 0 h 384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5"/>
                                <a:gd name="T157" fmla="*/ 0 h 384"/>
                                <a:gd name="T158" fmla="*/ 385 w 385"/>
                                <a:gd name="T159" fmla="*/ 384 h 384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5" h="384">
                                  <a:moveTo>
                                    <a:pt x="193" y="0"/>
                                  </a:moveTo>
                                  <a:lnTo>
                                    <a:pt x="182" y="0"/>
                                  </a:lnTo>
                                  <a:lnTo>
                                    <a:pt x="173" y="0"/>
                                  </a:lnTo>
                                  <a:lnTo>
                                    <a:pt x="162" y="1"/>
                                  </a:lnTo>
                                  <a:lnTo>
                                    <a:pt x="153" y="3"/>
                                  </a:lnTo>
                                  <a:lnTo>
                                    <a:pt x="143" y="4"/>
                                  </a:lnTo>
                                  <a:lnTo>
                                    <a:pt x="134" y="7"/>
                                  </a:lnTo>
                                  <a:lnTo>
                                    <a:pt x="126" y="10"/>
                                  </a:lnTo>
                                  <a:lnTo>
                                    <a:pt x="117" y="13"/>
                                  </a:lnTo>
                                  <a:lnTo>
                                    <a:pt x="108" y="18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5" y="32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6" y="55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3" y="84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9" y="107"/>
                                  </a:lnTo>
                                  <a:lnTo>
                                    <a:pt x="14" y="116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8" y="133"/>
                                  </a:lnTo>
                                  <a:lnTo>
                                    <a:pt x="5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2" y="161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1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1"/>
                                  </a:lnTo>
                                  <a:lnTo>
                                    <a:pt x="0" y="210"/>
                                  </a:lnTo>
                                  <a:lnTo>
                                    <a:pt x="2" y="221"/>
                                  </a:lnTo>
                                  <a:lnTo>
                                    <a:pt x="3" y="230"/>
                                  </a:lnTo>
                                  <a:lnTo>
                                    <a:pt x="5" y="240"/>
                                  </a:lnTo>
                                  <a:lnTo>
                                    <a:pt x="8" y="249"/>
                                  </a:lnTo>
                                  <a:lnTo>
                                    <a:pt x="11" y="258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9" y="275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3" y="298"/>
                                  </a:lnTo>
                                  <a:lnTo>
                                    <a:pt x="43" y="313"/>
                                  </a:lnTo>
                                  <a:lnTo>
                                    <a:pt x="56" y="327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5" y="350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8" y="364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8"/>
                                  </a:lnTo>
                                  <a:lnTo>
                                    <a:pt x="153" y="379"/>
                                  </a:lnTo>
                                  <a:lnTo>
                                    <a:pt x="162" y="381"/>
                                  </a:lnTo>
                                  <a:lnTo>
                                    <a:pt x="173" y="383"/>
                                  </a:lnTo>
                                  <a:lnTo>
                                    <a:pt x="182" y="383"/>
                                  </a:lnTo>
                                  <a:lnTo>
                                    <a:pt x="193" y="384"/>
                                  </a:lnTo>
                                  <a:lnTo>
                                    <a:pt x="202" y="383"/>
                                  </a:lnTo>
                                  <a:lnTo>
                                    <a:pt x="211" y="383"/>
                                  </a:lnTo>
                                  <a:lnTo>
                                    <a:pt x="222" y="381"/>
                                  </a:lnTo>
                                  <a:lnTo>
                                    <a:pt x="231" y="379"/>
                                  </a:lnTo>
                                  <a:lnTo>
                                    <a:pt x="240" y="378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9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6" y="364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9" y="350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8" y="327"/>
                                  </a:lnTo>
                                  <a:lnTo>
                                    <a:pt x="340" y="313"/>
                                  </a:lnTo>
                                  <a:lnTo>
                                    <a:pt x="351" y="298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5" y="275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8"/>
                                  </a:lnTo>
                                  <a:lnTo>
                                    <a:pt x="376" y="249"/>
                                  </a:lnTo>
                                  <a:lnTo>
                                    <a:pt x="379" y="240"/>
                                  </a:lnTo>
                                  <a:lnTo>
                                    <a:pt x="380" y="230"/>
                                  </a:lnTo>
                                  <a:lnTo>
                                    <a:pt x="382" y="221"/>
                                  </a:lnTo>
                                  <a:lnTo>
                                    <a:pt x="383" y="210"/>
                                  </a:lnTo>
                                  <a:lnTo>
                                    <a:pt x="383" y="201"/>
                                  </a:lnTo>
                                  <a:lnTo>
                                    <a:pt x="385" y="192"/>
                                  </a:lnTo>
                                  <a:lnTo>
                                    <a:pt x="383" y="181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2" y="161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9" y="143"/>
                                  </a:lnTo>
                                  <a:lnTo>
                                    <a:pt x="376" y="133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6"/>
                                  </a:lnTo>
                                  <a:lnTo>
                                    <a:pt x="365" y="107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1" y="84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8" y="55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9" y="32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6" y="18"/>
                                  </a:lnTo>
                                  <a:lnTo>
                                    <a:pt x="266" y="13"/>
                                  </a:lnTo>
                                  <a:lnTo>
                                    <a:pt x="259" y="10"/>
                                  </a:lnTo>
                                  <a:lnTo>
                                    <a:pt x="249" y="7"/>
                                  </a:lnTo>
                                  <a:lnTo>
                                    <a:pt x="240" y="4"/>
                                  </a:lnTo>
                                  <a:lnTo>
                                    <a:pt x="231" y="3"/>
                                  </a:lnTo>
                                  <a:lnTo>
                                    <a:pt x="222" y="1"/>
                                  </a:lnTo>
                                  <a:lnTo>
                                    <a:pt x="211" y="0"/>
                                  </a:lnTo>
                                  <a:lnTo>
                                    <a:pt x="202" y="0"/>
                                  </a:lnTo>
                                  <a:lnTo>
                                    <a:pt x="193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73" name="Rectangle 125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383" y="1281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1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574" name="Freeform 126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906" y="652"/>
                              <a:ext cx="192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5"/>
                                <a:gd name="T2" fmla="*/ 6 w 384"/>
                                <a:gd name="T3" fmla="*/ 0 h 385"/>
                                <a:gd name="T4" fmla="*/ 5 w 384"/>
                                <a:gd name="T5" fmla="*/ 0 h 385"/>
                                <a:gd name="T6" fmla="*/ 3 w 384"/>
                                <a:gd name="T7" fmla="*/ 0 h 385"/>
                                <a:gd name="T8" fmla="*/ 3 w 384"/>
                                <a:gd name="T9" fmla="*/ 0 h 385"/>
                                <a:gd name="T10" fmla="*/ 3 w 384"/>
                                <a:gd name="T11" fmla="*/ 1 h 385"/>
                                <a:gd name="T12" fmla="*/ 2 w 384"/>
                                <a:gd name="T13" fmla="*/ 1 h 385"/>
                                <a:gd name="T14" fmla="*/ 1 w 384"/>
                                <a:gd name="T15" fmla="*/ 2 h 385"/>
                                <a:gd name="T16" fmla="*/ 1 w 384"/>
                                <a:gd name="T17" fmla="*/ 3 h 385"/>
                                <a:gd name="T18" fmla="*/ 1 w 384"/>
                                <a:gd name="T19" fmla="*/ 3 h 385"/>
                                <a:gd name="T20" fmla="*/ 1 w 384"/>
                                <a:gd name="T21" fmla="*/ 4 h 385"/>
                                <a:gd name="T22" fmla="*/ 1 w 384"/>
                                <a:gd name="T23" fmla="*/ 5 h 385"/>
                                <a:gd name="T24" fmla="*/ 0 w 384"/>
                                <a:gd name="T25" fmla="*/ 5 h 385"/>
                                <a:gd name="T26" fmla="*/ 0 w 384"/>
                                <a:gd name="T27" fmla="*/ 6 h 385"/>
                                <a:gd name="T28" fmla="*/ 1 w 384"/>
                                <a:gd name="T29" fmla="*/ 6 h 385"/>
                                <a:gd name="T30" fmla="*/ 1 w 384"/>
                                <a:gd name="T31" fmla="*/ 7 h 385"/>
                                <a:gd name="T32" fmla="*/ 1 w 384"/>
                                <a:gd name="T33" fmla="*/ 8 h 385"/>
                                <a:gd name="T34" fmla="*/ 1 w 384"/>
                                <a:gd name="T35" fmla="*/ 8 h 385"/>
                                <a:gd name="T36" fmla="*/ 1 w 384"/>
                                <a:gd name="T37" fmla="*/ 9 h 385"/>
                                <a:gd name="T38" fmla="*/ 2 w 384"/>
                                <a:gd name="T39" fmla="*/ 10 h 385"/>
                                <a:gd name="T40" fmla="*/ 3 w 384"/>
                                <a:gd name="T41" fmla="*/ 10 h 385"/>
                                <a:gd name="T42" fmla="*/ 3 w 384"/>
                                <a:gd name="T43" fmla="*/ 11 h 385"/>
                                <a:gd name="T44" fmla="*/ 3 w 384"/>
                                <a:gd name="T45" fmla="*/ 11 h 385"/>
                                <a:gd name="T46" fmla="*/ 5 w 384"/>
                                <a:gd name="T47" fmla="*/ 11 h 385"/>
                                <a:gd name="T48" fmla="*/ 6 w 384"/>
                                <a:gd name="T49" fmla="*/ 11 h 385"/>
                                <a:gd name="T50" fmla="*/ 6 w 384"/>
                                <a:gd name="T51" fmla="*/ 11 h 385"/>
                                <a:gd name="T52" fmla="*/ 6 w 384"/>
                                <a:gd name="T53" fmla="*/ 11 h 385"/>
                                <a:gd name="T54" fmla="*/ 6 w 384"/>
                                <a:gd name="T55" fmla="*/ 11 h 385"/>
                                <a:gd name="T56" fmla="*/ 7 w 384"/>
                                <a:gd name="T57" fmla="*/ 11 h 385"/>
                                <a:gd name="T58" fmla="*/ 9 w 384"/>
                                <a:gd name="T59" fmla="*/ 11 h 385"/>
                                <a:gd name="T60" fmla="*/ 9 w 384"/>
                                <a:gd name="T61" fmla="*/ 11 h 385"/>
                                <a:gd name="T62" fmla="*/ 10 w 384"/>
                                <a:gd name="T63" fmla="*/ 10 h 385"/>
                                <a:gd name="T64" fmla="*/ 11 w 384"/>
                                <a:gd name="T65" fmla="*/ 10 h 385"/>
                                <a:gd name="T66" fmla="*/ 11 w 384"/>
                                <a:gd name="T67" fmla="*/ 9 h 385"/>
                                <a:gd name="T68" fmla="*/ 12 w 384"/>
                                <a:gd name="T69" fmla="*/ 8 h 385"/>
                                <a:gd name="T70" fmla="*/ 12 w 384"/>
                                <a:gd name="T71" fmla="*/ 8 h 385"/>
                                <a:gd name="T72" fmla="*/ 12 w 384"/>
                                <a:gd name="T73" fmla="*/ 7 h 385"/>
                                <a:gd name="T74" fmla="*/ 12 w 384"/>
                                <a:gd name="T75" fmla="*/ 6 h 385"/>
                                <a:gd name="T76" fmla="*/ 12 w 384"/>
                                <a:gd name="T77" fmla="*/ 6 h 385"/>
                                <a:gd name="T78" fmla="*/ 12 w 384"/>
                                <a:gd name="T79" fmla="*/ 5 h 385"/>
                                <a:gd name="T80" fmla="*/ 12 w 384"/>
                                <a:gd name="T81" fmla="*/ 5 h 385"/>
                                <a:gd name="T82" fmla="*/ 12 w 384"/>
                                <a:gd name="T83" fmla="*/ 4 h 385"/>
                                <a:gd name="T84" fmla="*/ 12 w 384"/>
                                <a:gd name="T85" fmla="*/ 3 h 385"/>
                                <a:gd name="T86" fmla="*/ 12 w 384"/>
                                <a:gd name="T87" fmla="*/ 3 h 385"/>
                                <a:gd name="T88" fmla="*/ 11 w 384"/>
                                <a:gd name="T89" fmla="*/ 2 h 385"/>
                                <a:gd name="T90" fmla="*/ 11 w 384"/>
                                <a:gd name="T91" fmla="*/ 1 h 385"/>
                                <a:gd name="T92" fmla="*/ 10 w 384"/>
                                <a:gd name="T93" fmla="*/ 1 h 385"/>
                                <a:gd name="T94" fmla="*/ 9 w 384"/>
                                <a:gd name="T95" fmla="*/ 0 h 385"/>
                                <a:gd name="T96" fmla="*/ 9 w 384"/>
                                <a:gd name="T97" fmla="*/ 0 h 385"/>
                                <a:gd name="T98" fmla="*/ 7 w 384"/>
                                <a:gd name="T99" fmla="*/ 0 h 385"/>
                                <a:gd name="T100" fmla="*/ 6 w 384"/>
                                <a:gd name="T101" fmla="*/ 0 h 385"/>
                                <a:gd name="T102" fmla="*/ 6 w 384"/>
                                <a:gd name="T103" fmla="*/ 0 h 385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5"/>
                                <a:gd name="T158" fmla="*/ 384 w 384"/>
                                <a:gd name="T159" fmla="*/ 385 h 385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5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2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5"/>
                                  </a:lnTo>
                                  <a:lnTo>
                                    <a:pt x="134" y="8"/>
                                  </a:lnTo>
                                  <a:lnTo>
                                    <a:pt x="126" y="11"/>
                                  </a:lnTo>
                                  <a:lnTo>
                                    <a:pt x="117" y="14"/>
                                  </a:lnTo>
                                  <a:lnTo>
                                    <a:pt x="107" y="19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3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6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2" y="85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4" y="117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7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1" y="162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2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2"/>
                                  </a:lnTo>
                                  <a:lnTo>
                                    <a:pt x="0" y="211"/>
                                  </a:lnTo>
                                  <a:lnTo>
                                    <a:pt x="1" y="222"/>
                                  </a:lnTo>
                                  <a:lnTo>
                                    <a:pt x="3" y="231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7" y="249"/>
                                  </a:lnTo>
                                  <a:lnTo>
                                    <a:pt x="11" y="259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8" y="276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9"/>
                                  </a:lnTo>
                                  <a:lnTo>
                                    <a:pt x="43" y="314"/>
                                  </a:lnTo>
                                  <a:lnTo>
                                    <a:pt x="55" y="328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1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7" y="365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9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2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5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0" y="383"/>
                                  </a:lnTo>
                                  <a:lnTo>
                                    <a:pt x="221" y="382"/>
                                  </a:lnTo>
                                  <a:lnTo>
                                    <a:pt x="230" y="380"/>
                                  </a:lnTo>
                                  <a:lnTo>
                                    <a:pt x="240" y="379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8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5" y="365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1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7" y="328"/>
                                  </a:lnTo>
                                  <a:lnTo>
                                    <a:pt x="340" y="314"/>
                                  </a:lnTo>
                                  <a:lnTo>
                                    <a:pt x="350" y="299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6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9"/>
                                  </a:lnTo>
                                  <a:lnTo>
                                    <a:pt x="375" y="249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1"/>
                                  </a:lnTo>
                                  <a:lnTo>
                                    <a:pt x="381" y="222"/>
                                  </a:lnTo>
                                  <a:lnTo>
                                    <a:pt x="383" y="211"/>
                                  </a:lnTo>
                                  <a:lnTo>
                                    <a:pt x="383" y="202"/>
                                  </a:lnTo>
                                  <a:lnTo>
                                    <a:pt x="384" y="192"/>
                                  </a:lnTo>
                                  <a:lnTo>
                                    <a:pt x="383" y="182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1" y="162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8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0" y="85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7" y="56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8" y="33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9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1"/>
                                  </a:lnTo>
                                  <a:lnTo>
                                    <a:pt x="249" y="8"/>
                                  </a:lnTo>
                                  <a:lnTo>
                                    <a:pt x="240" y="5"/>
                                  </a:lnTo>
                                  <a:lnTo>
                                    <a:pt x="230" y="3"/>
                                  </a:lnTo>
                                  <a:lnTo>
                                    <a:pt x="221" y="2"/>
                                  </a:lnTo>
                                  <a:lnTo>
                                    <a:pt x="210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FF33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75" name="Rectangle 127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2998" y="666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4</a:t>
                              </a:r>
                              <a:endParaRPr lang="en-GB" altLang="en-US"/>
                            </a:p>
                          </p:txBody>
                        </p:sp>
                        <p:sp>
                          <p:nvSpPr>
                            <p:cNvPr id="20576" name="Line 128"/>
                            <p:cNvSpPr>
                              <a:spLocks noChangeShapeType="1"/>
                            </p:cNvSpPr>
                            <p:nvPr/>
                          </p:nvSpPr>
                          <p:spPr bwMode="auto">
                            <a:xfrm flipH="1">
                              <a:off x="2725" y="805"/>
                              <a:ext cx="181" cy="190"/>
                            </a:xfrm>
                            <a:prstGeom prst="line">
                              <a:avLst/>
                            </a:prstGeom>
                            <a:noFill/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noFill/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77" name="Freeform 12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560" y="959"/>
                              <a:ext cx="192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5"/>
                                <a:gd name="T2" fmla="*/ 6 w 384"/>
                                <a:gd name="T3" fmla="*/ 0 h 385"/>
                                <a:gd name="T4" fmla="*/ 5 w 384"/>
                                <a:gd name="T5" fmla="*/ 0 h 385"/>
                                <a:gd name="T6" fmla="*/ 3 w 384"/>
                                <a:gd name="T7" fmla="*/ 0 h 385"/>
                                <a:gd name="T8" fmla="*/ 3 w 384"/>
                                <a:gd name="T9" fmla="*/ 0 h 385"/>
                                <a:gd name="T10" fmla="*/ 3 w 384"/>
                                <a:gd name="T11" fmla="*/ 1 h 385"/>
                                <a:gd name="T12" fmla="*/ 2 w 384"/>
                                <a:gd name="T13" fmla="*/ 1 h 385"/>
                                <a:gd name="T14" fmla="*/ 1 w 384"/>
                                <a:gd name="T15" fmla="*/ 2 h 385"/>
                                <a:gd name="T16" fmla="*/ 1 w 384"/>
                                <a:gd name="T17" fmla="*/ 3 h 385"/>
                                <a:gd name="T18" fmla="*/ 1 w 384"/>
                                <a:gd name="T19" fmla="*/ 3 h 385"/>
                                <a:gd name="T20" fmla="*/ 1 w 384"/>
                                <a:gd name="T21" fmla="*/ 4 h 385"/>
                                <a:gd name="T22" fmla="*/ 1 w 384"/>
                                <a:gd name="T23" fmla="*/ 5 h 385"/>
                                <a:gd name="T24" fmla="*/ 0 w 384"/>
                                <a:gd name="T25" fmla="*/ 5 h 385"/>
                                <a:gd name="T26" fmla="*/ 0 w 384"/>
                                <a:gd name="T27" fmla="*/ 6 h 385"/>
                                <a:gd name="T28" fmla="*/ 1 w 384"/>
                                <a:gd name="T29" fmla="*/ 6 h 385"/>
                                <a:gd name="T30" fmla="*/ 1 w 384"/>
                                <a:gd name="T31" fmla="*/ 7 h 385"/>
                                <a:gd name="T32" fmla="*/ 1 w 384"/>
                                <a:gd name="T33" fmla="*/ 8 h 385"/>
                                <a:gd name="T34" fmla="*/ 1 w 384"/>
                                <a:gd name="T35" fmla="*/ 8 h 385"/>
                                <a:gd name="T36" fmla="*/ 1 w 384"/>
                                <a:gd name="T37" fmla="*/ 9 h 385"/>
                                <a:gd name="T38" fmla="*/ 2 w 384"/>
                                <a:gd name="T39" fmla="*/ 10 h 385"/>
                                <a:gd name="T40" fmla="*/ 3 w 384"/>
                                <a:gd name="T41" fmla="*/ 10 h 385"/>
                                <a:gd name="T42" fmla="*/ 3 w 384"/>
                                <a:gd name="T43" fmla="*/ 11 h 385"/>
                                <a:gd name="T44" fmla="*/ 3 w 384"/>
                                <a:gd name="T45" fmla="*/ 11 h 385"/>
                                <a:gd name="T46" fmla="*/ 5 w 384"/>
                                <a:gd name="T47" fmla="*/ 11 h 385"/>
                                <a:gd name="T48" fmla="*/ 6 w 384"/>
                                <a:gd name="T49" fmla="*/ 11 h 385"/>
                                <a:gd name="T50" fmla="*/ 6 w 384"/>
                                <a:gd name="T51" fmla="*/ 11 h 385"/>
                                <a:gd name="T52" fmla="*/ 6 w 384"/>
                                <a:gd name="T53" fmla="*/ 11 h 385"/>
                                <a:gd name="T54" fmla="*/ 6 w 384"/>
                                <a:gd name="T55" fmla="*/ 11 h 385"/>
                                <a:gd name="T56" fmla="*/ 7 w 384"/>
                                <a:gd name="T57" fmla="*/ 11 h 385"/>
                                <a:gd name="T58" fmla="*/ 9 w 384"/>
                                <a:gd name="T59" fmla="*/ 11 h 385"/>
                                <a:gd name="T60" fmla="*/ 9 w 384"/>
                                <a:gd name="T61" fmla="*/ 11 h 385"/>
                                <a:gd name="T62" fmla="*/ 10 w 384"/>
                                <a:gd name="T63" fmla="*/ 10 h 385"/>
                                <a:gd name="T64" fmla="*/ 11 w 384"/>
                                <a:gd name="T65" fmla="*/ 10 h 385"/>
                                <a:gd name="T66" fmla="*/ 11 w 384"/>
                                <a:gd name="T67" fmla="*/ 9 h 385"/>
                                <a:gd name="T68" fmla="*/ 12 w 384"/>
                                <a:gd name="T69" fmla="*/ 8 h 385"/>
                                <a:gd name="T70" fmla="*/ 12 w 384"/>
                                <a:gd name="T71" fmla="*/ 8 h 385"/>
                                <a:gd name="T72" fmla="*/ 12 w 384"/>
                                <a:gd name="T73" fmla="*/ 7 h 385"/>
                                <a:gd name="T74" fmla="*/ 12 w 384"/>
                                <a:gd name="T75" fmla="*/ 6 h 385"/>
                                <a:gd name="T76" fmla="*/ 12 w 384"/>
                                <a:gd name="T77" fmla="*/ 6 h 385"/>
                                <a:gd name="T78" fmla="*/ 12 w 384"/>
                                <a:gd name="T79" fmla="*/ 5 h 385"/>
                                <a:gd name="T80" fmla="*/ 12 w 384"/>
                                <a:gd name="T81" fmla="*/ 5 h 385"/>
                                <a:gd name="T82" fmla="*/ 12 w 384"/>
                                <a:gd name="T83" fmla="*/ 4 h 385"/>
                                <a:gd name="T84" fmla="*/ 12 w 384"/>
                                <a:gd name="T85" fmla="*/ 3 h 385"/>
                                <a:gd name="T86" fmla="*/ 12 w 384"/>
                                <a:gd name="T87" fmla="*/ 3 h 385"/>
                                <a:gd name="T88" fmla="*/ 11 w 384"/>
                                <a:gd name="T89" fmla="*/ 2 h 385"/>
                                <a:gd name="T90" fmla="*/ 11 w 384"/>
                                <a:gd name="T91" fmla="*/ 1 h 385"/>
                                <a:gd name="T92" fmla="*/ 10 w 384"/>
                                <a:gd name="T93" fmla="*/ 1 h 385"/>
                                <a:gd name="T94" fmla="*/ 9 w 384"/>
                                <a:gd name="T95" fmla="*/ 0 h 385"/>
                                <a:gd name="T96" fmla="*/ 9 w 384"/>
                                <a:gd name="T97" fmla="*/ 0 h 385"/>
                                <a:gd name="T98" fmla="*/ 7 w 384"/>
                                <a:gd name="T99" fmla="*/ 0 h 385"/>
                                <a:gd name="T100" fmla="*/ 6 w 384"/>
                                <a:gd name="T101" fmla="*/ 0 h 385"/>
                                <a:gd name="T102" fmla="*/ 6 w 384"/>
                                <a:gd name="T103" fmla="*/ 0 h 385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5"/>
                                <a:gd name="T158" fmla="*/ 384 w 384"/>
                                <a:gd name="T159" fmla="*/ 385 h 385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5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2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5"/>
                                  </a:lnTo>
                                  <a:lnTo>
                                    <a:pt x="133" y="8"/>
                                  </a:lnTo>
                                  <a:lnTo>
                                    <a:pt x="126" y="11"/>
                                  </a:lnTo>
                                  <a:lnTo>
                                    <a:pt x="116" y="14"/>
                                  </a:lnTo>
                                  <a:lnTo>
                                    <a:pt x="107" y="19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3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6"/>
                                  </a:lnTo>
                                  <a:lnTo>
                                    <a:pt x="43" y="70"/>
                                  </a:lnTo>
                                  <a:lnTo>
                                    <a:pt x="32" y="85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3" y="117"/>
                                  </a:lnTo>
                                  <a:lnTo>
                                    <a:pt x="10" y="127"/>
                                  </a:lnTo>
                                  <a:lnTo>
                                    <a:pt x="7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3"/>
                                  </a:lnTo>
                                  <a:lnTo>
                                    <a:pt x="1" y="162"/>
                                  </a:lnTo>
                                  <a:lnTo>
                                    <a:pt x="0" y="173"/>
                                  </a:lnTo>
                                  <a:lnTo>
                                    <a:pt x="0" y="182"/>
                                  </a:lnTo>
                                  <a:lnTo>
                                    <a:pt x="0" y="193"/>
                                  </a:lnTo>
                                  <a:lnTo>
                                    <a:pt x="0" y="202"/>
                                  </a:lnTo>
                                  <a:lnTo>
                                    <a:pt x="0" y="211"/>
                                  </a:lnTo>
                                  <a:lnTo>
                                    <a:pt x="1" y="222"/>
                                  </a:lnTo>
                                  <a:lnTo>
                                    <a:pt x="3" y="231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7" y="250"/>
                                  </a:lnTo>
                                  <a:lnTo>
                                    <a:pt x="10" y="259"/>
                                  </a:lnTo>
                                  <a:lnTo>
                                    <a:pt x="13" y="266"/>
                                  </a:lnTo>
                                  <a:lnTo>
                                    <a:pt x="18" y="276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9"/>
                                  </a:lnTo>
                                  <a:lnTo>
                                    <a:pt x="43" y="314"/>
                                  </a:lnTo>
                                  <a:lnTo>
                                    <a:pt x="55" y="328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1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7" y="365"/>
                                  </a:lnTo>
                                  <a:lnTo>
                                    <a:pt x="116" y="370"/>
                                  </a:lnTo>
                                  <a:lnTo>
                                    <a:pt x="126" y="373"/>
                                  </a:lnTo>
                                  <a:lnTo>
                                    <a:pt x="133" y="376"/>
                                  </a:lnTo>
                                  <a:lnTo>
                                    <a:pt x="143" y="379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2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5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0" y="383"/>
                                  </a:lnTo>
                                  <a:lnTo>
                                    <a:pt x="221" y="382"/>
                                  </a:lnTo>
                                  <a:lnTo>
                                    <a:pt x="230" y="380"/>
                                  </a:lnTo>
                                  <a:lnTo>
                                    <a:pt x="240" y="379"/>
                                  </a:lnTo>
                                  <a:lnTo>
                                    <a:pt x="249" y="376"/>
                                  </a:lnTo>
                                  <a:lnTo>
                                    <a:pt x="258" y="373"/>
                                  </a:lnTo>
                                  <a:lnTo>
                                    <a:pt x="266" y="370"/>
                                  </a:lnTo>
                                  <a:lnTo>
                                    <a:pt x="275" y="365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1"/>
                                  </a:lnTo>
                                  <a:lnTo>
                                    <a:pt x="313" y="340"/>
                                  </a:lnTo>
                                  <a:lnTo>
                                    <a:pt x="327" y="328"/>
                                  </a:lnTo>
                                  <a:lnTo>
                                    <a:pt x="340" y="314"/>
                                  </a:lnTo>
                                  <a:lnTo>
                                    <a:pt x="350" y="299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6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9"/>
                                  </a:lnTo>
                                  <a:lnTo>
                                    <a:pt x="375" y="250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1"/>
                                  </a:lnTo>
                                  <a:lnTo>
                                    <a:pt x="381" y="222"/>
                                  </a:lnTo>
                                  <a:lnTo>
                                    <a:pt x="383" y="211"/>
                                  </a:lnTo>
                                  <a:lnTo>
                                    <a:pt x="383" y="202"/>
                                  </a:lnTo>
                                  <a:lnTo>
                                    <a:pt x="384" y="193"/>
                                  </a:lnTo>
                                  <a:lnTo>
                                    <a:pt x="383" y="182"/>
                                  </a:lnTo>
                                  <a:lnTo>
                                    <a:pt x="383" y="173"/>
                                  </a:lnTo>
                                  <a:lnTo>
                                    <a:pt x="381" y="162"/>
                                  </a:lnTo>
                                  <a:lnTo>
                                    <a:pt x="380" y="153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7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8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0" y="85"/>
                                  </a:lnTo>
                                  <a:lnTo>
                                    <a:pt x="340" y="70"/>
                                  </a:lnTo>
                                  <a:lnTo>
                                    <a:pt x="327" y="56"/>
                                  </a:lnTo>
                                  <a:lnTo>
                                    <a:pt x="313" y="43"/>
                                  </a:lnTo>
                                  <a:lnTo>
                                    <a:pt x="298" y="33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9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1"/>
                                  </a:lnTo>
                                  <a:lnTo>
                                    <a:pt x="249" y="8"/>
                                  </a:lnTo>
                                  <a:lnTo>
                                    <a:pt x="240" y="5"/>
                                  </a:lnTo>
                                  <a:lnTo>
                                    <a:pt x="230" y="3"/>
                                  </a:lnTo>
                                  <a:lnTo>
                                    <a:pt x="221" y="2"/>
                                  </a:lnTo>
                                  <a:lnTo>
                                    <a:pt x="210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</p:grpSp>
                      <p:sp>
                        <p:nvSpPr>
                          <p:cNvPr id="20564" name="Rectangle 13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133" y="1283"/>
                            <a:ext cx="76" cy="1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 wrap="none" lIns="0" tIns="0" rIns="0" bIns="0">
                            <a:spAutoFit/>
                          </a:bodyPr>
                          <a:lstStyle>
                            <a:lvl1pPr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1pPr>
                            <a:lvl2pPr marL="742950" indent="-28575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2pPr>
                            <a:lvl3pPr marL="11430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3pPr>
                            <a:lvl4pPr marL="16002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4pPr>
                            <a:lvl5pPr marL="2057400" indent="-228600" eaLnBrk="0" hangingPunct="0"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5pPr>
                            <a:lvl6pPr marL="25146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6pPr>
                            <a:lvl7pPr marL="29718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7pPr>
                            <a:lvl8pPr marL="34290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8pPr>
                            <a:lvl9pPr marL="3886200" indent="-228600" eaLnBrk="0" fontAlgn="base" hangingPunct="0">
                              <a:spcBef>
                                <a:spcPct val="0"/>
                              </a:spcBef>
                              <a:spcAft>
                                <a:spcPct val="0"/>
                              </a:spcAft>
                              <a:defRPr>
                                <a:solidFill>
                                  <a:schemeClr val="tx1"/>
                                </a:solidFill>
                                <a:latin typeface="Arial" charset="0"/>
                              </a:defRPr>
                            </a:lvl9pPr>
                          </a:lstStyle>
                          <a:p>
                            <a:pPr eaLnBrk="1" hangingPunct="1"/>
                            <a:r>
                              <a:rPr lang="en-GB" altLang="en-US" sz="1900">
                                <a:solidFill>
                                  <a:srgbClr val="000000"/>
                                </a:solidFill>
                                <a:latin typeface="Times New Roman" pitchFamily="18" charset="0"/>
                              </a:rPr>
                              <a:t>6</a:t>
                            </a:r>
                            <a:endParaRPr lang="en-GB" altLang="en-US"/>
                          </a:p>
                        </p:txBody>
                      </p:sp>
                      <p:grpSp>
                        <p:nvGrpSpPr>
                          <p:cNvPr id="20565" name="Group 131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934" y="1610"/>
                            <a:ext cx="193" cy="192"/>
                            <a:chOff x="5232" y="3168"/>
                            <a:chExt cx="193" cy="192"/>
                          </a:xfrm>
                        </p:grpSpPr>
                        <p:sp>
                          <p:nvSpPr>
                            <p:cNvPr id="20567" name="Freeform 132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5232" y="3168"/>
                              <a:ext cx="193" cy="192"/>
                            </a:xfrm>
                            <a:custGeom>
                              <a:avLst/>
                              <a:gdLst>
                                <a:gd name="T0" fmla="*/ 6 w 384"/>
                                <a:gd name="T1" fmla="*/ 0 h 384"/>
                                <a:gd name="T2" fmla="*/ 6 w 384"/>
                                <a:gd name="T3" fmla="*/ 1 h 384"/>
                                <a:gd name="T4" fmla="*/ 5 w 384"/>
                                <a:gd name="T5" fmla="*/ 1 h 384"/>
                                <a:gd name="T6" fmla="*/ 4 w 384"/>
                                <a:gd name="T7" fmla="*/ 1 h 384"/>
                                <a:gd name="T8" fmla="*/ 4 w 384"/>
                                <a:gd name="T9" fmla="*/ 1 h 384"/>
                                <a:gd name="T10" fmla="*/ 3 w 384"/>
                                <a:gd name="T11" fmla="*/ 1 h 384"/>
                                <a:gd name="T12" fmla="*/ 2 w 384"/>
                                <a:gd name="T13" fmla="*/ 2 h 384"/>
                                <a:gd name="T14" fmla="*/ 1 w 384"/>
                                <a:gd name="T15" fmla="*/ 3 h 384"/>
                                <a:gd name="T16" fmla="*/ 1 w 384"/>
                                <a:gd name="T17" fmla="*/ 3 h 384"/>
                                <a:gd name="T18" fmla="*/ 1 w 384"/>
                                <a:gd name="T19" fmla="*/ 3 h 384"/>
                                <a:gd name="T20" fmla="*/ 1 w 384"/>
                                <a:gd name="T21" fmla="*/ 5 h 384"/>
                                <a:gd name="T22" fmla="*/ 1 w 384"/>
                                <a:gd name="T23" fmla="*/ 6 h 384"/>
                                <a:gd name="T24" fmla="*/ 0 w 384"/>
                                <a:gd name="T25" fmla="*/ 6 h 384"/>
                                <a:gd name="T26" fmla="*/ 0 w 384"/>
                                <a:gd name="T27" fmla="*/ 6 h 384"/>
                                <a:gd name="T28" fmla="*/ 1 w 384"/>
                                <a:gd name="T29" fmla="*/ 6 h 384"/>
                                <a:gd name="T30" fmla="*/ 1 w 384"/>
                                <a:gd name="T31" fmla="*/ 7 h 384"/>
                                <a:gd name="T32" fmla="*/ 1 w 384"/>
                                <a:gd name="T33" fmla="*/ 9 h 384"/>
                                <a:gd name="T34" fmla="*/ 1 w 384"/>
                                <a:gd name="T35" fmla="*/ 9 h 384"/>
                                <a:gd name="T36" fmla="*/ 1 w 384"/>
                                <a:gd name="T37" fmla="*/ 10 h 384"/>
                                <a:gd name="T38" fmla="*/ 2 w 384"/>
                                <a:gd name="T39" fmla="*/ 11 h 384"/>
                                <a:gd name="T40" fmla="*/ 3 w 384"/>
                                <a:gd name="T41" fmla="*/ 11 h 384"/>
                                <a:gd name="T42" fmla="*/ 4 w 384"/>
                                <a:gd name="T43" fmla="*/ 12 h 384"/>
                                <a:gd name="T44" fmla="*/ 4 w 384"/>
                                <a:gd name="T45" fmla="*/ 12 h 384"/>
                                <a:gd name="T46" fmla="*/ 5 w 384"/>
                                <a:gd name="T47" fmla="*/ 12 h 384"/>
                                <a:gd name="T48" fmla="*/ 6 w 384"/>
                                <a:gd name="T49" fmla="*/ 12 h 384"/>
                                <a:gd name="T50" fmla="*/ 6 w 384"/>
                                <a:gd name="T51" fmla="*/ 12 h 384"/>
                                <a:gd name="T52" fmla="*/ 7 w 384"/>
                                <a:gd name="T53" fmla="*/ 12 h 384"/>
                                <a:gd name="T54" fmla="*/ 7 w 384"/>
                                <a:gd name="T55" fmla="*/ 12 h 384"/>
                                <a:gd name="T56" fmla="*/ 8 w 384"/>
                                <a:gd name="T57" fmla="*/ 12 h 384"/>
                                <a:gd name="T58" fmla="*/ 9 w 384"/>
                                <a:gd name="T59" fmla="*/ 12 h 384"/>
                                <a:gd name="T60" fmla="*/ 9 w 384"/>
                                <a:gd name="T61" fmla="*/ 12 h 384"/>
                                <a:gd name="T62" fmla="*/ 10 w 384"/>
                                <a:gd name="T63" fmla="*/ 11 h 384"/>
                                <a:gd name="T64" fmla="*/ 11 w 384"/>
                                <a:gd name="T65" fmla="*/ 11 h 384"/>
                                <a:gd name="T66" fmla="*/ 11 w 384"/>
                                <a:gd name="T67" fmla="*/ 10 h 384"/>
                                <a:gd name="T68" fmla="*/ 12 w 384"/>
                                <a:gd name="T69" fmla="*/ 9 h 384"/>
                                <a:gd name="T70" fmla="*/ 12 w 384"/>
                                <a:gd name="T71" fmla="*/ 9 h 384"/>
                                <a:gd name="T72" fmla="*/ 12 w 384"/>
                                <a:gd name="T73" fmla="*/ 7 h 384"/>
                                <a:gd name="T74" fmla="*/ 12 w 384"/>
                                <a:gd name="T75" fmla="*/ 6 h 384"/>
                                <a:gd name="T76" fmla="*/ 13 w 384"/>
                                <a:gd name="T77" fmla="*/ 6 h 384"/>
                                <a:gd name="T78" fmla="*/ 13 w 384"/>
                                <a:gd name="T79" fmla="*/ 6 h 384"/>
                                <a:gd name="T80" fmla="*/ 12 w 384"/>
                                <a:gd name="T81" fmla="*/ 6 h 384"/>
                                <a:gd name="T82" fmla="*/ 12 w 384"/>
                                <a:gd name="T83" fmla="*/ 5 h 384"/>
                                <a:gd name="T84" fmla="*/ 12 w 384"/>
                                <a:gd name="T85" fmla="*/ 3 h 384"/>
                                <a:gd name="T86" fmla="*/ 12 w 384"/>
                                <a:gd name="T87" fmla="*/ 3 h 384"/>
                                <a:gd name="T88" fmla="*/ 11 w 384"/>
                                <a:gd name="T89" fmla="*/ 3 h 384"/>
                                <a:gd name="T90" fmla="*/ 11 w 384"/>
                                <a:gd name="T91" fmla="*/ 2 h 384"/>
                                <a:gd name="T92" fmla="*/ 10 w 384"/>
                                <a:gd name="T93" fmla="*/ 1 h 384"/>
                                <a:gd name="T94" fmla="*/ 9 w 384"/>
                                <a:gd name="T95" fmla="*/ 1 h 384"/>
                                <a:gd name="T96" fmla="*/ 9 w 384"/>
                                <a:gd name="T97" fmla="*/ 1 h 384"/>
                                <a:gd name="T98" fmla="*/ 8 w 384"/>
                                <a:gd name="T99" fmla="*/ 1 h 384"/>
                                <a:gd name="T100" fmla="*/ 7 w 384"/>
                                <a:gd name="T101" fmla="*/ 1 h 384"/>
                                <a:gd name="T102" fmla="*/ 7 w 384"/>
                                <a:gd name="T103" fmla="*/ 0 h 384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w 384"/>
                                <a:gd name="T157" fmla="*/ 0 h 384"/>
                                <a:gd name="T158" fmla="*/ 384 w 384"/>
                                <a:gd name="T159" fmla="*/ 384 h 384"/>
                              </a:gdLst>
                              <a:ahLst/>
                              <a:cxnLst>
                                <a:cxn ang="T104">
                                  <a:pos x="T0" y="T1"/>
                                </a:cxn>
                                <a:cxn ang="T105">
                                  <a:pos x="T2" y="T3"/>
                                </a:cxn>
                                <a:cxn ang="T106">
                                  <a:pos x="T4" y="T5"/>
                                </a:cxn>
                                <a:cxn ang="T107">
                                  <a:pos x="T6" y="T7"/>
                                </a:cxn>
                                <a:cxn ang="T108">
                                  <a:pos x="T8" y="T9"/>
                                </a:cxn>
                                <a:cxn ang="T109">
                                  <a:pos x="T10" y="T11"/>
                                </a:cxn>
                                <a:cxn ang="T110">
                                  <a:pos x="T12" y="T13"/>
                                </a:cxn>
                                <a:cxn ang="T111">
                                  <a:pos x="T14" y="T15"/>
                                </a:cxn>
                                <a:cxn ang="T112">
                                  <a:pos x="T16" y="T17"/>
                                </a:cxn>
                                <a:cxn ang="T113">
                                  <a:pos x="T18" y="T19"/>
                                </a:cxn>
                                <a:cxn ang="T114">
                                  <a:pos x="T20" y="T21"/>
                                </a:cxn>
                                <a:cxn ang="T115">
                                  <a:pos x="T22" y="T23"/>
                                </a:cxn>
                                <a:cxn ang="T116">
                                  <a:pos x="T24" y="T25"/>
                                </a:cxn>
                                <a:cxn ang="T117">
                                  <a:pos x="T26" y="T27"/>
                                </a:cxn>
                                <a:cxn ang="T118">
                                  <a:pos x="T28" y="T29"/>
                                </a:cxn>
                                <a:cxn ang="T119">
                                  <a:pos x="T30" y="T31"/>
                                </a:cxn>
                                <a:cxn ang="T120">
                                  <a:pos x="T32" y="T33"/>
                                </a:cxn>
                                <a:cxn ang="T121">
                                  <a:pos x="T34" y="T35"/>
                                </a:cxn>
                                <a:cxn ang="T122">
                                  <a:pos x="T36" y="T37"/>
                                </a:cxn>
                                <a:cxn ang="T123">
                                  <a:pos x="T38" y="T39"/>
                                </a:cxn>
                                <a:cxn ang="T124">
                                  <a:pos x="T40" y="T41"/>
                                </a:cxn>
                                <a:cxn ang="T125">
                                  <a:pos x="T42" y="T43"/>
                                </a:cxn>
                                <a:cxn ang="T126">
                                  <a:pos x="T44" y="T45"/>
                                </a:cxn>
                                <a:cxn ang="T127">
                                  <a:pos x="T46" y="T47"/>
                                </a:cxn>
                                <a:cxn ang="T128">
                                  <a:pos x="T48" y="T49"/>
                                </a:cxn>
                                <a:cxn ang="T129">
                                  <a:pos x="T50" y="T51"/>
                                </a:cxn>
                                <a:cxn ang="T130">
                                  <a:pos x="T52" y="T53"/>
                                </a:cxn>
                                <a:cxn ang="T131">
                                  <a:pos x="T54" y="T55"/>
                                </a:cxn>
                                <a:cxn ang="T132">
                                  <a:pos x="T56" y="T57"/>
                                </a:cxn>
                                <a:cxn ang="T133">
                                  <a:pos x="T58" y="T59"/>
                                </a:cxn>
                                <a:cxn ang="T134">
                                  <a:pos x="T60" y="T61"/>
                                </a:cxn>
                                <a:cxn ang="T135">
                                  <a:pos x="T62" y="T63"/>
                                </a:cxn>
                                <a:cxn ang="T136">
                                  <a:pos x="T64" y="T65"/>
                                </a:cxn>
                                <a:cxn ang="T137">
                                  <a:pos x="T66" y="T67"/>
                                </a:cxn>
                                <a:cxn ang="T138">
                                  <a:pos x="T68" y="T69"/>
                                </a:cxn>
                                <a:cxn ang="T139">
                                  <a:pos x="T70" y="T71"/>
                                </a:cxn>
                                <a:cxn ang="T140">
                                  <a:pos x="T72" y="T73"/>
                                </a:cxn>
                                <a:cxn ang="T141">
                                  <a:pos x="T74" y="T75"/>
                                </a:cxn>
                                <a:cxn ang="T142">
                                  <a:pos x="T76" y="T77"/>
                                </a:cxn>
                                <a:cxn ang="T143">
                                  <a:pos x="T78" y="T79"/>
                                </a:cxn>
                                <a:cxn ang="T144">
                                  <a:pos x="T80" y="T81"/>
                                </a:cxn>
                                <a:cxn ang="T145">
                                  <a:pos x="T82" y="T83"/>
                                </a:cxn>
                                <a:cxn ang="T146">
                                  <a:pos x="T84" y="T85"/>
                                </a:cxn>
                                <a:cxn ang="T147">
                                  <a:pos x="T86" y="T87"/>
                                </a:cxn>
                                <a:cxn ang="T148">
                                  <a:pos x="T88" y="T89"/>
                                </a:cxn>
                                <a:cxn ang="T149">
                                  <a:pos x="T90" y="T91"/>
                                </a:cxn>
                                <a:cxn ang="T150">
                                  <a:pos x="T92" y="T93"/>
                                </a:cxn>
                                <a:cxn ang="T151">
                                  <a:pos x="T94" y="T95"/>
                                </a:cxn>
                                <a:cxn ang="T152">
                                  <a:pos x="T96" y="T97"/>
                                </a:cxn>
                                <a:cxn ang="T153">
                                  <a:pos x="T98" y="T99"/>
                                </a:cxn>
                                <a:cxn ang="T154">
                                  <a:pos x="T100" y="T101"/>
                                </a:cxn>
                                <a:cxn ang="T155">
                                  <a:pos x="T102" y="T103"/>
                                </a:cxn>
                              </a:cxnLst>
                              <a:rect l="T156" t="T157" r="T158" b="T159"/>
                              <a:pathLst>
                                <a:path w="384" h="384">
                                  <a:moveTo>
                                    <a:pt x="192" y="0"/>
                                  </a:moveTo>
                                  <a:lnTo>
                                    <a:pt x="181" y="0"/>
                                  </a:lnTo>
                                  <a:lnTo>
                                    <a:pt x="172" y="0"/>
                                  </a:lnTo>
                                  <a:lnTo>
                                    <a:pt x="161" y="1"/>
                                  </a:lnTo>
                                  <a:lnTo>
                                    <a:pt x="152" y="3"/>
                                  </a:lnTo>
                                  <a:lnTo>
                                    <a:pt x="143" y="4"/>
                                  </a:lnTo>
                                  <a:lnTo>
                                    <a:pt x="134" y="7"/>
                                  </a:lnTo>
                                  <a:lnTo>
                                    <a:pt x="126" y="10"/>
                                  </a:lnTo>
                                  <a:lnTo>
                                    <a:pt x="117" y="14"/>
                                  </a:lnTo>
                                  <a:lnTo>
                                    <a:pt x="108" y="18"/>
                                  </a:lnTo>
                                  <a:lnTo>
                                    <a:pt x="100" y="23"/>
                                  </a:lnTo>
                                  <a:lnTo>
                                    <a:pt x="84" y="32"/>
                                  </a:lnTo>
                                  <a:lnTo>
                                    <a:pt x="69" y="43"/>
                                  </a:lnTo>
                                  <a:lnTo>
                                    <a:pt x="55" y="55"/>
                                  </a:lnTo>
                                  <a:lnTo>
                                    <a:pt x="43" y="69"/>
                                  </a:lnTo>
                                  <a:lnTo>
                                    <a:pt x="32" y="84"/>
                                  </a:lnTo>
                                  <a:lnTo>
                                    <a:pt x="23" y="100"/>
                                  </a:lnTo>
                                  <a:lnTo>
                                    <a:pt x="18" y="107"/>
                                  </a:lnTo>
                                  <a:lnTo>
                                    <a:pt x="14" y="117"/>
                                  </a:lnTo>
                                  <a:lnTo>
                                    <a:pt x="11" y="126"/>
                                  </a:lnTo>
                                  <a:lnTo>
                                    <a:pt x="8" y="134"/>
                                  </a:lnTo>
                                  <a:lnTo>
                                    <a:pt x="4" y="143"/>
                                  </a:lnTo>
                                  <a:lnTo>
                                    <a:pt x="3" y="152"/>
                                  </a:lnTo>
                                  <a:lnTo>
                                    <a:pt x="1" y="161"/>
                                  </a:lnTo>
                                  <a:lnTo>
                                    <a:pt x="0" y="172"/>
                                  </a:lnTo>
                                  <a:lnTo>
                                    <a:pt x="0" y="181"/>
                                  </a:lnTo>
                                  <a:lnTo>
                                    <a:pt x="0" y="192"/>
                                  </a:lnTo>
                                  <a:lnTo>
                                    <a:pt x="0" y="201"/>
                                  </a:lnTo>
                                  <a:lnTo>
                                    <a:pt x="0" y="210"/>
                                  </a:lnTo>
                                  <a:lnTo>
                                    <a:pt x="1" y="221"/>
                                  </a:lnTo>
                                  <a:lnTo>
                                    <a:pt x="3" y="230"/>
                                  </a:lnTo>
                                  <a:lnTo>
                                    <a:pt x="4" y="240"/>
                                  </a:lnTo>
                                  <a:lnTo>
                                    <a:pt x="8" y="249"/>
                                  </a:lnTo>
                                  <a:lnTo>
                                    <a:pt x="11" y="258"/>
                                  </a:lnTo>
                                  <a:lnTo>
                                    <a:pt x="14" y="266"/>
                                  </a:lnTo>
                                  <a:lnTo>
                                    <a:pt x="18" y="275"/>
                                  </a:lnTo>
                                  <a:lnTo>
                                    <a:pt x="23" y="283"/>
                                  </a:lnTo>
                                  <a:lnTo>
                                    <a:pt x="32" y="298"/>
                                  </a:lnTo>
                                  <a:lnTo>
                                    <a:pt x="43" y="313"/>
                                  </a:lnTo>
                                  <a:lnTo>
                                    <a:pt x="55" y="327"/>
                                  </a:lnTo>
                                  <a:lnTo>
                                    <a:pt x="69" y="340"/>
                                  </a:lnTo>
                                  <a:lnTo>
                                    <a:pt x="84" y="350"/>
                                  </a:lnTo>
                                  <a:lnTo>
                                    <a:pt x="100" y="360"/>
                                  </a:lnTo>
                                  <a:lnTo>
                                    <a:pt x="108" y="364"/>
                                  </a:lnTo>
                                  <a:lnTo>
                                    <a:pt x="117" y="369"/>
                                  </a:lnTo>
                                  <a:lnTo>
                                    <a:pt x="126" y="372"/>
                                  </a:lnTo>
                                  <a:lnTo>
                                    <a:pt x="134" y="375"/>
                                  </a:lnTo>
                                  <a:lnTo>
                                    <a:pt x="143" y="378"/>
                                  </a:lnTo>
                                  <a:lnTo>
                                    <a:pt x="152" y="380"/>
                                  </a:lnTo>
                                  <a:lnTo>
                                    <a:pt x="161" y="381"/>
                                  </a:lnTo>
                                  <a:lnTo>
                                    <a:pt x="172" y="383"/>
                                  </a:lnTo>
                                  <a:lnTo>
                                    <a:pt x="181" y="383"/>
                                  </a:lnTo>
                                  <a:lnTo>
                                    <a:pt x="192" y="384"/>
                                  </a:lnTo>
                                  <a:lnTo>
                                    <a:pt x="201" y="383"/>
                                  </a:lnTo>
                                  <a:lnTo>
                                    <a:pt x="211" y="383"/>
                                  </a:lnTo>
                                  <a:lnTo>
                                    <a:pt x="221" y="381"/>
                                  </a:lnTo>
                                  <a:lnTo>
                                    <a:pt x="231" y="380"/>
                                  </a:lnTo>
                                  <a:lnTo>
                                    <a:pt x="240" y="378"/>
                                  </a:lnTo>
                                  <a:lnTo>
                                    <a:pt x="249" y="375"/>
                                  </a:lnTo>
                                  <a:lnTo>
                                    <a:pt x="258" y="372"/>
                                  </a:lnTo>
                                  <a:lnTo>
                                    <a:pt x="266" y="369"/>
                                  </a:lnTo>
                                  <a:lnTo>
                                    <a:pt x="275" y="364"/>
                                  </a:lnTo>
                                  <a:lnTo>
                                    <a:pt x="283" y="360"/>
                                  </a:lnTo>
                                  <a:lnTo>
                                    <a:pt x="298" y="350"/>
                                  </a:lnTo>
                                  <a:lnTo>
                                    <a:pt x="314" y="340"/>
                                  </a:lnTo>
                                  <a:lnTo>
                                    <a:pt x="327" y="327"/>
                                  </a:lnTo>
                                  <a:lnTo>
                                    <a:pt x="340" y="313"/>
                                  </a:lnTo>
                                  <a:lnTo>
                                    <a:pt x="351" y="298"/>
                                  </a:lnTo>
                                  <a:lnTo>
                                    <a:pt x="360" y="283"/>
                                  </a:lnTo>
                                  <a:lnTo>
                                    <a:pt x="364" y="275"/>
                                  </a:lnTo>
                                  <a:lnTo>
                                    <a:pt x="369" y="266"/>
                                  </a:lnTo>
                                  <a:lnTo>
                                    <a:pt x="372" y="258"/>
                                  </a:lnTo>
                                  <a:lnTo>
                                    <a:pt x="375" y="249"/>
                                  </a:lnTo>
                                  <a:lnTo>
                                    <a:pt x="378" y="240"/>
                                  </a:lnTo>
                                  <a:lnTo>
                                    <a:pt x="380" y="230"/>
                                  </a:lnTo>
                                  <a:lnTo>
                                    <a:pt x="381" y="221"/>
                                  </a:lnTo>
                                  <a:lnTo>
                                    <a:pt x="383" y="210"/>
                                  </a:lnTo>
                                  <a:lnTo>
                                    <a:pt x="383" y="201"/>
                                  </a:lnTo>
                                  <a:lnTo>
                                    <a:pt x="384" y="192"/>
                                  </a:lnTo>
                                  <a:lnTo>
                                    <a:pt x="383" y="181"/>
                                  </a:lnTo>
                                  <a:lnTo>
                                    <a:pt x="383" y="172"/>
                                  </a:lnTo>
                                  <a:lnTo>
                                    <a:pt x="381" y="161"/>
                                  </a:lnTo>
                                  <a:lnTo>
                                    <a:pt x="380" y="152"/>
                                  </a:lnTo>
                                  <a:lnTo>
                                    <a:pt x="378" y="143"/>
                                  </a:lnTo>
                                  <a:lnTo>
                                    <a:pt x="375" y="134"/>
                                  </a:lnTo>
                                  <a:lnTo>
                                    <a:pt x="372" y="126"/>
                                  </a:lnTo>
                                  <a:lnTo>
                                    <a:pt x="369" y="117"/>
                                  </a:lnTo>
                                  <a:lnTo>
                                    <a:pt x="364" y="107"/>
                                  </a:lnTo>
                                  <a:lnTo>
                                    <a:pt x="360" y="100"/>
                                  </a:lnTo>
                                  <a:lnTo>
                                    <a:pt x="351" y="84"/>
                                  </a:lnTo>
                                  <a:lnTo>
                                    <a:pt x="340" y="69"/>
                                  </a:lnTo>
                                  <a:lnTo>
                                    <a:pt x="327" y="55"/>
                                  </a:lnTo>
                                  <a:lnTo>
                                    <a:pt x="314" y="43"/>
                                  </a:lnTo>
                                  <a:lnTo>
                                    <a:pt x="298" y="32"/>
                                  </a:lnTo>
                                  <a:lnTo>
                                    <a:pt x="283" y="23"/>
                                  </a:lnTo>
                                  <a:lnTo>
                                    <a:pt x="275" y="18"/>
                                  </a:lnTo>
                                  <a:lnTo>
                                    <a:pt x="266" y="14"/>
                                  </a:lnTo>
                                  <a:lnTo>
                                    <a:pt x="258" y="10"/>
                                  </a:lnTo>
                                  <a:lnTo>
                                    <a:pt x="249" y="7"/>
                                  </a:lnTo>
                                  <a:lnTo>
                                    <a:pt x="240" y="4"/>
                                  </a:lnTo>
                                  <a:lnTo>
                                    <a:pt x="231" y="3"/>
                                  </a:lnTo>
                                  <a:lnTo>
                                    <a:pt x="221" y="1"/>
                                  </a:lnTo>
                                  <a:lnTo>
                                    <a:pt x="211" y="0"/>
                                  </a:lnTo>
                                  <a:lnTo>
                                    <a:pt x="201" y="0"/>
                                  </a:lnTo>
                                  <a:lnTo>
                                    <a:pt x="192" y="0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GB"/>
                            </a:p>
                          </p:txBody>
                        </p:sp>
                        <p:sp>
                          <p:nvSpPr>
                            <p:cNvPr id="20568" name="Rectangle 133"/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5270" y="3168"/>
                              <a:ext cx="76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 wrap="none" lIns="0" tIns="0" rIns="0" bIns="0">
                              <a:spAutoFit/>
                            </a:bodyPr>
                            <a:lstStyle>
                              <a:lvl1pPr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1pPr>
                              <a:lvl2pPr marL="742950" indent="-28575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2pPr>
                              <a:lvl3pPr marL="11430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3pPr>
                              <a:lvl4pPr marL="16002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4pPr>
                              <a:lvl5pPr marL="2057400" indent="-228600" eaLnBrk="0" hangingPunct="0"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5pPr>
                              <a:lvl6pPr marL="25146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6pPr>
                              <a:lvl7pPr marL="29718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7pPr>
                              <a:lvl8pPr marL="34290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8pPr>
                              <a:lvl9pPr marL="3886200" indent="-228600" eaLnBrk="0" fontAlgn="base" hangingPunct="0">
                                <a:spcBef>
                                  <a:spcPct val="0"/>
                                </a:spcBef>
                                <a:spcAft>
                                  <a:spcPct val="0"/>
                                </a:spcAft>
                                <a:defRPr>
                                  <a:solidFill>
                                    <a:schemeClr val="tx1"/>
                                  </a:solidFill>
                                  <a:latin typeface="Arial" charset="0"/>
                                </a:defRPr>
                              </a:lvl9pPr>
                            </a:lstStyle>
                            <a:p>
                              <a:pPr eaLnBrk="1" hangingPunct="1"/>
                              <a:r>
                                <a:rPr lang="en-GB" altLang="en-US" sz="1900">
                                  <a:solidFill>
                                    <a:srgbClr val="000000"/>
                                  </a:solidFill>
                                  <a:latin typeface="Times New Roman" pitchFamily="18" charset="0"/>
                                </a:rPr>
                                <a:t>5</a:t>
                              </a:r>
                              <a:endParaRPr lang="en-GB" altLang="en-US"/>
                            </a:p>
                          </p:txBody>
                        </p:sp>
                      </p:grpSp>
                      <p:sp>
                        <p:nvSpPr>
                          <p:cNvPr id="20566" name="Line 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1" y="1447"/>
                            <a:ext cx="64" cy="151"/>
                          </a:xfrm>
                          <a:prstGeom prst="line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GB"/>
                          </a:p>
                        </p:txBody>
                      </p:sp>
                    </p:grpSp>
                  </p:grpSp>
                </p:grpSp>
                <p:sp>
                  <p:nvSpPr>
                    <p:cNvPr id="20546" name="Line 13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64" y="1728"/>
                      <a:ext cx="124" cy="116"/>
                    </a:xfrm>
                    <a:prstGeom prst="line">
                      <a:avLst/>
                    </a:prstGeom>
                    <a:noFill/>
                    <a:ln w="793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0547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27" y="1834"/>
                      <a:ext cx="152" cy="18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en-GB" altLang="en-US" sz="190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12</a:t>
                      </a:r>
                      <a:endParaRPr lang="en-GB" altLang="en-US"/>
                    </a:p>
                  </p:txBody>
                </p:sp>
              </p:grpSp>
            </p:grpSp>
          </p:grpSp>
        </p:grpSp>
      </p:grpSp>
      <p:sp>
        <p:nvSpPr>
          <p:cNvPr id="20488" name="Text Box 140"/>
          <p:cNvSpPr txBox="1">
            <a:spLocks noChangeArrowheads="1"/>
          </p:cNvSpPr>
          <p:nvPr/>
        </p:nvSpPr>
        <p:spPr bwMode="auto">
          <a:xfrm>
            <a:off x="3316288" y="3505200"/>
            <a:ext cx="190500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Left rotation.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7 </a:t>
            </a:r>
            <a:r>
              <a:rPr lang="en-GB" altLang="en-US">
                <a:solidFill>
                  <a:srgbClr val="FF3300"/>
                </a:solidFill>
                <a:latin typeface="Calibri" panose="020F0502020204030204" pitchFamily="34" charset="0"/>
              </a:rPr>
              <a:t>has</a:t>
            </a:r>
            <a:r>
              <a:rPr lang="en-GB" altLang="en-US">
                <a:latin typeface="Calibri" panose="020F0502020204030204" pitchFamily="34" charset="0"/>
              </a:rPr>
              <a:t> a left subtree to move</a:t>
            </a:r>
          </a:p>
        </p:txBody>
      </p:sp>
      <p:sp>
        <p:nvSpPr>
          <p:cNvPr id="20489" name="AutoShape 142"/>
          <p:cNvSpPr>
            <a:spLocks noChangeArrowheads="1"/>
          </p:cNvSpPr>
          <p:nvPr/>
        </p:nvSpPr>
        <p:spPr bwMode="auto">
          <a:xfrm>
            <a:off x="3802063" y="4973638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0490" name="Group 198"/>
          <p:cNvGrpSpPr>
            <a:grpSpLocks/>
          </p:cNvGrpSpPr>
          <p:nvPr/>
        </p:nvGrpSpPr>
        <p:grpSpPr bwMode="auto">
          <a:xfrm>
            <a:off x="5165725" y="4065588"/>
            <a:ext cx="2651125" cy="1900237"/>
            <a:chOff x="2592" y="2261"/>
            <a:chExt cx="1670" cy="1197"/>
          </a:xfrm>
        </p:grpSpPr>
        <p:sp>
          <p:nvSpPr>
            <p:cNvPr id="20493" name="Line 162"/>
            <p:cNvSpPr>
              <a:spLocks noChangeShapeType="1"/>
            </p:cNvSpPr>
            <p:nvPr/>
          </p:nvSpPr>
          <p:spPr bwMode="auto">
            <a:xfrm flipH="1">
              <a:off x="3767" y="2774"/>
              <a:ext cx="64" cy="1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4" name="Line 184"/>
            <p:cNvSpPr>
              <a:spLocks noChangeShapeType="1"/>
            </p:cNvSpPr>
            <p:nvPr/>
          </p:nvSpPr>
          <p:spPr bwMode="auto">
            <a:xfrm flipH="1" flipV="1">
              <a:off x="3330" y="2724"/>
              <a:ext cx="109" cy="8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0495" name="Group 197"/>
            <p:cNvGrpSpPr>
              <a:grpSpLocks/>
            </p:cNvGrpSpPr>
            <p:nvPr/>
          </p:nvGrpSpPr>
          <p:grpSpPr bwMode="auto">
            <a:xfrm>
              <a:off x="2592" y="2261"/>
              <a:ext cx="1670" cy="1197"/>
              <a:chOff x="2592" y="2261"/>
              <a:chExt cx="1670" cy="1197"/>
            </a:xfrm>
          </p:grpSpPr>
          <p:grpSp>
            <p:nvGrpSpPr>
              <p:cNvPr id="20496" name="Group 189"/>
              <p:cNvGrpSpPr>
                <a:grpSpLocks/>
              </p:cNvGrpSpPr>
              <p:nvPr/>
            </p:nvGrpSpPr>
            <p:grpSpPr bwMode="auto">
              <a:xfrm>
                <a:off x="3645" y="2935"/>
                <a:ext cx="192" cy="193"/>
                <a:chOff x="3645" y="2935"/>
                <a:chExt cx="192" cy="193"/>
              </a:xfrm>
            </p:grpSpPr>
            <p:sp>
              <p:nvSpPr>
                <p:cNvPr id="20535" name="Freeform 147"/>
                <p:cNvSpPr>
                  <a:spLocks/>
                </p:cNvSpPr>
                <p:nvPr/>
              </p:nvSpPr>
              <p:spPr bwMode="auto">
                <a:xfrm>
                  <a:off x="3645" y="2935"/>
                  <a:ext cx="192" cy="192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3 h 384"/>
                    <a:gd name="T18" fmla="*/ 0 w 385"/>
                    <a:gd name="T19" fmla="*/ 3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6 h 384"/>
                    <a:gd name="T28" fmla="*/ 0 w 385"/>
                    <a:gd name="T29" fmla="*/ 6 h 384"/>
                    <a:gd name="T30" fmla="*/ 0 w 385"/>
                    <a:gd name="T31" fmla="*/ 7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2 h 384"/>
                    <a:gd name="T52" fmla="*/ 6 w 385"/>
                    <a:gd name="T53" fmla="*/ 12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7 h 384"/>
                    <a:gd name="T74" fmla="*/ 11 w 385"/>
                    <a:gd name="T75" fmla="*/ 6 h 384"/>
                    <a:gd name="T76" fmla="*/ 11 w 385"/>
                    <a:gd name="T77" fmla="*/ 6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3 h 384"/>
                    <a:gd name="T86" fmla="*/ 11 w 385"/>
                    <a:gd name="T87" fmla="*/ 3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79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299" y="350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69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3"/>
                      </a:lnTo>
                      <a:lnTo>
                        <a:pt x="373" y="126"/>
                      </a:lnTo>
                      <a:lnTo>
                        <a:pt x="369" y="116"/>
                      </a:lnTo>
                      <a:lnTo>
                        <a:pt x="365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3"/>
                      </a:lnTo>
                      <a:lnTo>
                        <a:pt x="259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0536" name="Rectangle 160"/>
                <p:cNvSpPr>
                  <a:spLocks noChangeArrowheads="1"/>
                </p:cNvSpPr>
                <p:nvPr/>
              </p:nvSpPr>
              <p:spPr bwMode="auto">
                <a:xfrm>
                  <a:off x="3669" y="2946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13</a:t>
                  </a:r>
                  <a:endParaRPr lang="en-GB" altLang="en-US"/>
                </a:p>
              </p:txBody>
            </p:sp>
          </p:grpSp>
          <p:grpSp>
            <p:nvGrpSpPr>
              <p:cNvPr id="20497" name="Group 196"/>
              <p:cNvGrpSpPr>
                <a:grpSpLocks/>
              </p:cNvGrpSpPr>
              <p:nvPr/>
            </p:nvGrpSpPr>
            <p:grpSpPr bwMode="auto">
              <a:xfrm>
                <a:off x="2592" y="2261"/>
                <a:ext cx="1670" cy="1152"/>
                <a:chOff x="2592" y="2261"/>
                <a:chExt cx="1670" cy="1152"/>
              </a:xfrm>
            </p:grpSpPr>
            <p:grpSp>
              <p:nvGrpSpPr>
                <p:cNvPr id="20502" name="Group 195"/>
                <p:cNvGrpSpPr>
                  <a:grpSpLocks/>
                </p:cNvGrpSpPr>
                <p:nvPr/>
              </p:nvGrpSpPr>
              <p:grpSpPr bwMode="auto">
                <a:xfrm>
                  <a:off x="2592" y="2261"/>
                  <a:ext cx="1670" cy="1152"/>
                  <a:chOff x="2592" y="2261"/>
                  <a:chExt cx="1670" cy="1152"/>
                </a:xfrm>
              </p:grpSpPr>
              <p:sp>
                <p:nvSpPr>
                  <p:cNvPr id="20511" name="Line 1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56" y="2430"/>
                    <a:ext cx="124" cy="116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512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2976" y="3043"/>
                    <a:ext cx="47" cy="183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grpSp>
                <p:nvGrpSpPr>
                  <p:cNvPr id="20513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2947" y="3220"/>
                    <a:ext cx="192" cy="193"/>
                    <a:chOff x="3106" y="3644"/>
                    <a:chExt cx="192" cy="193"/>
                  </a:xfrm>
                </p:grpSpPr>
                <p:sp>
                  <p:nvSpPr>
                    <p:cNvPr id="20533" name="Freeform 165"/>
                    <p:cNvSpPr>
                      <a:spLocks/>
                    </p:cNvSpPr>
                    <p:nvPr/>
                  </p:nvSpPr>
                  <p:spPr bwMode="auto">
                    <a:xfrm>
                      <a:off x="3106" y="3644"/>
                      <a:ext cx="192" cy="193"/>
                    </a:xfrm>
                    <a:custGeom>
                      <a:avLst/>
                      <a:gdLst>
                        <a:gd name="T0" fmla="*/ 5 w 385"/>
                        <a:gd name="T1" fmla="*/ 0 h 384"/>
                        <a:gd name="T2" fmla="*/ 5 w 385"/>
                        <a:gd name="T3" fmla="*/ 1 h 384"/>
                        <a:gd name="T4" fmla="*/ 4 w 385"/>
                        <a:gd name="T5" fmla="*/ 1 h 384"/>
                        <a:gd name="T6" fmla="*/ 3 w 385"/>
                        <a:gd name="T7" fmla="*/ 1 h 384"/>
                        <a:gd name="T8" fmla="*/ 3 w 385"/>
                        <a:gd name="T9" fmla="*/ 1 h 384"/>
                        <a:gd name="T10" fmla="*/ 2 w 385"/>
                        <a:gd name="T11" fmla="*/ 1 h 384"/>
                        <a:gd name="T12" fmla="*/ 1 w 385"/>
                        <a:gd name="T13" fmla="*/ 2 h 384"/>
                        <a:gd name="T14" fmla="*/ 1 w 385"/>
                        <a:gd name="T15" fmla="*/ 3 h 384"/>
                        <a:gd name="T16" fmla="*/ 0 w 385"/>
                        <a:gd name="T17" fmla="*/ 4 h 384"/>
                        <a:gd name="T18" fmla="*/ 0 w 385"/>
                        <a:gd name="T19" fmla="*/ 4 h 384"/>
                        <a:gd name="T20" fmla="*/ 0 w 385"/>
                        <a:gd name="T21" fmla="*/ 5 h 384"/>
                        <a:gd name="T22" fmla="*/ 0 w 385"/>
                        <a:gd name="T23" fmla="*/ 6 h 384"/>
                        <a:gd name="T24" fmla="*/ 0 w 385"/>
                        <a:gd name="T25" fmla="*/ 6 h 384"/>
                        <a:gd name="T26" fmla="*/ 0 w 385"/>
                        <a:gd name="T27" fmla="*/ 7 h 384"/>
                        <a:gd name="T28" fmla="*/ 0 w 385"/>
                        <a:gd name="T29" fmla="*/ 7 h 384"/>
                        <a:gd name="T30" fmla="*/ 0 w 385"/>
                        <a:gd name="T31" fmla="*/ 8 h 384"/>
                        <a:gd name="T32" fmla="*/ 0 w 385"/>
                        <a:gd name="T33" fmla="*/ 9 h 384"/>
                        <a:gd name="T34" fmla="*/ 0 w 385"/>
                        <a:gd name="T35" fmla="*/ 9 h 384"/>
                        <a:gd name="T36" fmla="*/ 1 w 385"/>
                        <a:gd name="T37" fmla="*/ 10 h 384"/>
                        <a:gd name="T38" fmla="*/ 1 w 385"/>
                        <a:gd name="T39" fmla="*/ 11 h 384"/>
                        <a:gd name="T40" fmla="*/ 2 w 385"/>
                        <a:gd name="T41" fmla="*/ 11 h 384"/>
                        <a:gd name="T42" fmla="*/ 3 w 385"/>
                        <a:gd name="T43" fmla="*/ 12 h 384"/>
                        <a:gd name="T44" fmla="*/ 3 w 385"/>
                        <a:gd name="T45" fmla="*/ 12 h 384"/>
                        <a:gd name="T46" fmla="*/ 4 w 385"/>
                        <a:gd name="T47" fmla="*/ 12 h 384"/>
                        <a:gd name="T48" fmla="*/ 5 w 385"/>
                        <a:gd name="T49" fmla="*/ 12 h 384"/>
                        <a:gd name="T50" fmla="*/ 5 w 385"/>
                        <a:gd name="T51" fmla="*/ 13 h 384"/>
                        <a:gd name="T52" fmla="*/ 6 w 385"/>
                        <a:gd name="T53" fmla="*/ 13 h 384"/>
                        <a:gd name="T54" fmla="*/ 6 w 385"/>
                        <a:gd name="T55" fmla="*/ 12 h 384"/>
                        <a:gd name="T56" fmla="*/ 7 w 385"/>
                        <a:gd name="T57" fmla="*/ 12 h 384"/>
                        <a:gd name="T58" fmla="*/ 8 w 385"/>
                        <a:gd name="T59" fmla="*/ 12 h 384"/>
                        <a:gd name="T60" fmla="*/ 8 w 385"/>
                        <a:gd name="T61" fmla="*/ 12 h 384"/>
                        <a:gd name="T62" fmla="*/ 9 w 385"/>
                        <a:gd name="T63" fmla="*/ 11 h 384"/>
                        <a:gd name="T64" fmla="*/ 10 w 385"/>
                        <a:gd name="T65" fmla="*/ 11 h 384"/>
                        <a:gd name="T66" fmla="*/ 10 w 385"/>
                        <a:gd name="T67" fmla="*/ 10 h 384"/>
                        <a:gd name="T68" fmla="*/ 11 w 385"/>
                        <a:gd name="T69" fmla="*/ 9 h 384"/>
                        <a:gd name="T70" fmla="*/ 11 w 385"/>
                        <a:gd name="T71" fmla="*/ 9 h 384"/>
                        <a:gd name="T72" fmla="*/ 11 w 385"/>
                        <a:gd name="T73" fmla="*/ 8 h 384"/>
                        <a:gd name="T74" fmla="*/ 11 w 385"/>
                        <a:gd name="T75" fmla="*/ 7 h 384"/>
                        <a:gd name="T76" fmla="*/ 11 w 385"/>
                        <a:gd name="T77" fmla="*/ 7 h 384"/>
                        <a:gd name="T78" fmla="*/ 11 w 385"/>
                        <a:gd name="T79" fmla="*/ 6 h 384"/>
                        <a:gd name="T80" fmla="*/ 11 w 385"/>
                        <a:gd name="T81" fmla="*/ 6 h 384"/>
                        <a:gd name="T82" fmla="*/ 11 w 385"/>
                        <a:gd name="T83" fmla="*/ 5 h 384"/>
                        <a:gd name="T84" fmla="*/ 11 w 385"/>
                        <a:gd name="T85" fmla="*/ 4 h 384"/>
                        <a:gd name="T86" fmla="*/ 11 w 385"/>
                        <a:gd name="T87" fmla="*/ 4 h 384"/>
                        <a:gd name="T88" fmla="*/ 10 w 385"/>
                        <a:gd name="T89" fmla="*/ 3 h 384"/>
                        <a:gd name="T90" fmla="*/ 10 w 385"/>
                        <a:gd name="T91" fmla="*/ 2 h 384"/>
                        <a:gd name="T92" fmla="*/ 9 w 385"/>
                        <a:gd name="T93" fmla="*/ 1 h 384"/>
                        <a:gd name="T94" fmla="*/ 8 w 385"/>
                        <a:gd name="T95" fmla="*/ 1 h 384"/>
                        <a:gd name="T96" fmla="*/ 8 w 385"/>
                        <a:gd name="T97" fmla="*/ 1 h 384"/>
                        <a:gd name="T98" fmla="*/ 7 w 385"/>
                        <a:gd name="T99" fmla="*/ 1 h 384"/>
                        <a:gd name="T100" fmla="*/ 6 w 385"/>
                        <a:gd name="T101" fmla="*/ 1 h 384"/>
                        <a:gd name="T102" fmla="*/ 6 w 385"/>
                        <a:gd name="T103" fmla="*/ 0 h 384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w 385"/>
                        <a:gd name="T157" fmla="*/ 0 h 384"/>
                        <a:gd name="T158" fmla="*/ 385 w 385"/>
                        <a:gd name="T159" fmla="*/ 384 h 384"/>
                      </a:gdLst>
                      <a:ahLst/>
                      <a:cxnLst>
                        <a:cxn ang="T104">
                          <a:pos x="T0" y="T1"/>
                        </a:cxn>
                        <a:cxn ang="T105">
                          <a:pos x="T2" y="T3"/>
                        </a:cxn>
                        <a:cxn ang="T106">
                          <a:pos x="T4" y="T5"/>
                        </a:cxn>
                        <a:cxn ang="T107">
                          <a:pos x="T6" y="T7"/>
                        </a:cxn>
                        <a:cxn ang="T108">
                          <a:pos x="T8" y="T9"/>
                        </a:cxn>
                        <a:cxn ang="T109">
                          <a:pos x="T10" y="T11"/>
                        </a:cxn>
                        <a:cxn ang="T110">
                          <a:pos x="T12" y="T13"/>
                        </a:cxn>
                        <a:cxn ang="T111">
                          <a:pos x="T14" y="T15"/>
                        </a:cxn>
                        <a:cxn ang="T112">
                          <a:pos x="T16" y="T17"/>
                        </a:cxn>
                        <a:cxn ang="T113">
                          <a:pos x="T18" y="T19"/>
                        </a:cxn>
                        <a:cxn ang="T114">
                          <a:pos x="T20" y="T21"/>
                        </a:cxn>
                        <a:cxn ang="T115">
                          <a:pos x="T22" y="T23"/>
                        </a:cxn>
                        <a:cxn ang="T116">
                          <a:pos x="T24" y="T25"/>
                        </a:cxn>
                        <a:cxn ang="T117">
                          <a:pos x="T26" y="T27"/>
                        </a:cxn>
                        <a:cxn ang="T118">
                          <a:pos x="T28" y="T29"/>
                        </a:cxn>
                        <a:cxn ang="T119">
                          <a:pos x="T30" y="T31"/>
                        </a:cxn>
                        <a:cxn ang="T120">
                          <a:pos x="T32" y="T33"/>
                        </a:cxn>
                        <a:cxn ang="T121">
                          <a:pos x="T34" y="T35"/>
                        </a:cxn>
                        <a:cxn ang="T122">
                          <a:pos x="T36" y="T37"/>
                        </a:cxn>
                        <a:cxn ang="T123">
                          <a:pos x="T38" y="T39"/>
                        </a:cxn>
                        <a:cxn ang="T124">
                          <a:pos x="T40" y="T41"/>
                        </a:cxn>
                        <a:cxn ang="T125">
                          <a:pos x="T42" y="T43"/>
                        </a:cxn>
                        <a:cxn ang="T126">
                          <a:pos x="T44" y="T45"/>
                        </a:cxn>
                        <a:cxn ang="T127">
                          <a:pos x="T46" y="T47"/>
                        </a:cxn>
                        <a:cxn ang="T128">
                          <a:pos x="T48" y="T49"/>
                        </a:cxn>
                        <a:cxn ang="T129">
                          <a:pos x="T50" y="T51"/>
                        </a:cxn>
                        <a:cxn ang="T130">
                          <a:pos x="T52" y="T53"/>
                        </a:cxn>
                        <a:cxn ang="T131">
                          <a:pos x="T54" y="T55"/>
                        </a:cxn>
                        <a:cxn ang="T132">
                          <a:pos x="T56" y="T57"/>
                        </a:cxn>
                        <a:cxn ang="T133">
                          <a:pos x="T58" y="T59"/>
                        </a:cxn>
                        <a:cxn ang="T134">
                          <a:pos x="T60" y="T61"/>
                        </a:cxn>
                        <a:cxn ang="T135">
                          <a:pos x="T62" y="T63"/>
                        </a:cxn>
                        <a:cxn ang="T136">
                          <a:pos x="T64" y="T65"/>
                        </a:cxn>
                        <a:cxn ang="T137">
                          <a:pos x="T66" y="T67"/>
                        </a:cxn>
                        <a:cxn ang="T138">
                          <a:pos x="T68" y="T69"/>
                        </a:cxn>
                        <a:cxn ang="T139">
                          <a:pos x="T70" y="T71"/>
                        </a:cxn>
                        <a:cxn ang="T140">
                          <a:pos x="T72" y="T73"/>
                        </a:cxn>
                        <a:cxn ang="T141">
                          <a:pos x="T74" y="T75"/>
                        </a:cxn>
                        <a:cxn ang="T142">
                          <a:pos x="T76" y="T77"/>
                        </a:cxn>
                        <a:cxn ang="T143">
                          <a:pos x="T78" y="T79"/>
                        </a:cxn>
                        <a:cxn ang="T144">
                          <a:pos x="T80" y="T81"/>
                        </a:cxn>
                        <a:cxn ang="T145">
                          <a:pos x="T82" y="T83"/>
                        </a:cxn>
                        <a:cxn ang="T146">
                          <a:pos x="T84" y="T85"/>
                        </a:cxn>
                        <a:cxn ang="T147">
                          <a:pos x="T86" y="T87"/>
                        </a:cxn>
                        <a:cxn ang="T148">
                          <a:pos x="T88" y="T89"/>
                        </a:cxn>
                        <a:cxn ang="T149">
                          <a:pos x="T90" y="T91"/>
                        </a:cxn>
                        <a:cxn ang="T150">
                          <a:pos x="T92" y="T93"/>
                        </a:cxn>
                        <a:cxn ang="T151">
                          <a:pos x="T94" y="T95"/>
                        </a:cxn>
                        <a:cxn ang="T152">
                          <a:pos x="T96" y="T97"/>
                        </a:cxn>
                        <a:cxn ang="T153">
                          <a:pos x="T98" y="T99"/>
                        </a:cxn>
                        <a:cxn ang="T154">
                          <a:pos x="T100" y="T101"/>
                        </a:cxn>
                        <a:cxn ang="T155">
                          <a:pos x="T102" y="T103"/>
                        </a:cxn>
                      </a:cxnLst>
                      <a:rect l="T156" t="T157" r="T158" b="T159"/>
                      <a:pathLst>
                        <a:path w="385" h="384">
                          <a:moveTo>
                            <a:pt x="192" y="0"/>
                          </a:moveTo>
                          <a:lnTo>
                            <a:pt x="182" y="0"/>
                          </a:lnTo>
                          <a:lnTo>
                            <a:pt x="172" y="0"/>
                          </a:lnTo>
                          <a:lnTo>
                            <a:pt x="162" y="1"/>
                          </a:lnTo>
                          <a:lnTo>
                            <a:pt x="152" y="3"/>
                          </a:lnTo>
                          <a:lnTo>
                            <a:pt x="143" y="4"/>
                          </a:lnTo>
                          <a:lnTo>
                            <a:pt x="134" y="7"/>
                          </a:lnTo>
                          <a:lnTo>
                            <a:pt x="126" y="10"/>
                          </a:lnTo>
                          <a:lnTo>
                            <a:pt x="117" y="13"/>
                          </a:lnTo>
                          <a:lnTo>
                            <a:pt x="108" y="18"/>
                          </a:lnTo>
                          <a:lnTo>
                            <a:pt x="100" y="23"/>
                          </a:lnTo>
                          <a:lnTo>
                            <a:pt x="85" y="32"/>
                          </a:lnTo>
                          <a:lnTo>
                            <a:pt x="69" y="43"/>
                          </a:lnTo>
                          <a:lnTo>
                            <a:pt x="56" y="55"/>
                          </a:lnTo>
                          <a:lnTo>
                            <a:pt x="43" y="69"/>
                          </a:lnTo>
                          <a:lnTo>
                            <a:pt x="32" y="84"/>
                          </a:lnTo>
                          <a:lnTo>
                            <a:pt x="23" y="99"/>
                          </a:lnTo>
                          <a:lnTo>
                            <a:pt x="19" y="107"/>
                          </a:lnTo>
                          <a:lnTo>
                            <a:pt x="14" y="116"/>
                          </a:lnTo>
                          <a:lnTo>
                            <a:pt x="11" y="126"/>
                          </a:lnTo>
                          <a:lnTo>
                            <a:pt x="8" y="133"/>
                          </a:lnTo>
                          <a:lnTo>
                            <a:pt x="5" y="143"/>
                          </a:lnTo>
                          <a:lnTo>
                            <a:pt x="3" y="152"/>
                          </a:lnTo>
                          <a:lnTo>
                            <a:pt x="2" y="161"/>
                          </a:lnTo>
                          <a:lnTo>
                            <a:pt x="0" y="172"/>
                          </a:lnTo>
                          <a:lnTo>
                            <a:pt x="0" y="181"/>
                          </a:lnTo>
                          <a:lnTo>
                            <a:pt x="0" y="192"/>
                          </a:lnTo>
                          <a:lnTo>
                            <a:pt x="0" y="201"/>
                          </a:lnTo>
                          <a:lnTo>
                            <a:pt x="0" y="210"/>
                          </a:lnTo>
                          <a:lnTo>
                            <a:pt x="2" y="221"/>
                          </a:lnTo>
                          <a:lnTo>
                            <a:pt x="3" y="230"/>
                          </a:lnTo>
                          <a:lnTo>
                            <a:pt x="5" y="239"/>
                          </a:lnTo>
                          <a:lnTo>
                            <a:pt x="8" y="249"/>
                          </a:lnTo>
                          <a:lnTo>
                            <a:pt x="11" y="258"/>
                          </a:lnTo>
                          <a:lnTo>
                            <a:pt x="14" y="266"/>
                          </a:lnTo>
                          <a:lnTo>
                            <a:pt x="19" y="275"/>
                          </a:lnTo>
                          <a:lnTo>
                            <a:pt x="23" y="283"/>
                          </a:lnTo>
                          <a:lnTo>
                            <a:pt x="32" y="298"/>
                          </a:lnTo>
                          <a:lnTo>
                            <a:pt x="43" y="313"/>
                          </a:lnTo>
                          <a:lnTo>
                            <a:pt x="56" y="327"/>
                          </a:lnTo>
                          <a:lnTo>
                            <a:pt x="69" y="339"/>
                          </a:lnTo>
                          <a:lnTo>
                            <a:pt x="85" y="350"/>
                          </a:lnTo>
                          <a:lnTo>
                            <a:pt x="100" y="359"/>
                          </a:lnTo>
                          <a:lnTo>
                            <a:pt x="108" y="364"/>
                          </a:lnTo>
                          <a:lnTo>
                            <a:pt x="117" y="369"/>
                          </a:lnTo>
                          <a:lnTo>
                            <a:pt x="126" y="372"/>
                          </a:lnTo>
                          <a:lnTo>
                            <a:pt x="134" y="375"/>
                          </a:lnTo>
                          <a:lnTo>
                            <a:pt x="143" y="378"/>
                          </a:lnTo>
                          <a:lnTo>
                            <a:pt x="152" y="379"/>
                          </a:lnTo>
                          <a:lnTo>
                            <a:pt x="162" y="381"/>
                          </a:lnTo>
                          <a:lnTo>
                            <a:pt x="172" y="382"/>
                          </a:lnTo>
                          <a:lnTo>
                            <a:pt x="182" y="382"/>
                          </a:lnTo>
                          <a:lnTo>
                            <a:pt x="192" y="384"/>
                          </a:lnTo>
                          <a:lnTo>
                            <a:pt x="202" y="382"/>
                          </a:lnTo>
                          <a:lnTo>
                            <a:pt x="211" y="382"/>
                          </a:lnTo>
                          <a:lnTo>
                            <a:pt x="222" y="381"/>
                          </a:lnTo>
                          <a:lnTo>
                            <a:pt x="231" y="379"/>
                          </a:lnTo>
                          <a:lnTo>
                            <a:pt x="240" y="378"/>
                          </a:lnTo>
                          <a:lnTo>
                            <a:pt x="249" y="375"/>
                          </a:lnTo>
                          <a:lnTo>
                            <a:pt x="259" y="372"/>
                          </a:lnTo>
                          <a:lnTo>
                            <a:pt x="266" y="369"/>
                          </a:lnTo>
                          <a:lnTo>
                            <a:pt x="275" y="364"/>
                          </a:lnTo>
                          <a:lnTo>
                            <a:pt x="283" y="359"/>
                          </a:lnTo>
                          <a:lnTo>
                            <a:pt x="299" y="350"/>
                          </a:lnTo>
                          <a:lnTo>
                            <a:pt x="314" y="339"/>
                          </a:lnTo>
                          <a:lnTo>
                            <a:pt x="328" y="327"/>
                          </a:lnTo>
                          <a:lnTo>
                            <a:pt x="340" y="313"/>
                          </a:lnTo>
                          <a:lnTo>
                            <a:pt x="351" y="298"/>
                          </a:lnTo>
                          <a:lnTo>
                            <a:pt x="360" y="283"/>
                          </a:lnTo>
                          <a:lnTo>
                            <a:pt x="365" y="275"/>
                          </a:lnTo>
                          <a:lnTo>
                            <a:pt x="369" y="266"/>
                          </a:lnTo>
                          <a:lnTo>
                            <a:pt x="372" y="258"/>
                          </a:lnTo>
                          <a:lnTo>
                            <a:pt x="375" y="249"/>
                          </a:lnTo>
                          <a:lnTo>
                            <a:pt x="379" y="239"/>
                          </a:lnTo>
                          <a:lnTo>
                            <a:pt x="380" y="230"/>
                          </a:lnTo>
                          <a:lnTo>
                            <a:pt x="382" y="221"/>
                          </a:lnTo>
                          <a:lnTo>
                            <a:pt x="383" y="210"/>
                          </a:lnTo>
                          <a:lnTo>
                            <a:pt x="383" y="201"/>
                          </a:lnTo>
                          <a:lnTo>
                            <a:pt x="385" y="192"/>
                          </a:lnTo>
                          <a:lnTo>
                            <a:pt x="383" y="181"/>
                          </a:lnTo>
                          <a:lnTo>
                            <a:pt x="383" y="172"/>
                          </a:lnTo>
                          <a:lnTo>
                            <a:pt x="382" y="161"/>
                          </a:lnTo>
                          <a:lnTo>
                            <a:pt x="380" y="152"/>
                          </a:lnTo>
                          <a:lnTo>
                            <a:pt x="379" y="143"/>
                          </a:lnTo>
                          <a:lnTo>
                            <a:pt x="375" y="133"/>
                          </a:lnTo>
                          <a:lnTo>
                            <a:pt x="372" y="126"/>
                          </a:lnTo>
                          <a:lnTo>
                            <a:pt x="369" y="116"/>
                          </a:lnTo>
                          <a:lnTo>
                            <a:pt x="365" y="107"/>
                          </a:lnTo>
                          <a:lnTo>
                            <a:pt x="360" y="99"/>
                          </a:lnTo>
                          <a:lnTo>
                            <a:pt x="351" y="84"/>
                          </a:lnTo>
                          <a:lnTo>
                            <a:pt x="340" y="69"/>
                          </a:lnTo>
                          <a:lnTo>
                            <a:pt x="328" y="55"/>
                          </a:lnTo>
                          <a:lnTo>
                            <a:pt x="314" y="43"/>
                          </a:lnTo>
                          <a:lnTo>
                            <a:pt x="299" y="32"/>
                          </a:lnTo>
                          <a:lnTo>
                            <a:pt x="283" y="23"/>
                          </a:lnTo>
                          <a:lnTo>
                            <a:pt x="275" y="18"/>
                          </a:lnTo>
                          <a:lnTo>
                            <a:pt x="266" y="13"/>
                          </a:lnTo>
                          <a:lnTo>
                            <a:pt x="259" y="10"/>
                          </a:lnTo>
                          <a:lnTo>
                            <a:pt x="249" y="7"/>
                          </a:lnTo>
                          <a:lnTo>
                            <a:pt x="240" y="4"/>
                          </a:lnTo>
                          <a:lnTo>
                            <a:pt x="231" y="3"/>
                          </a:lnTo>
                          <a:lnTo>
                            <a:pt x="222" y="1"/>
                          </a:lnTo>
                          <a:lnTo>
                            <a:pt x="211" y="0"/>
                          </a:lnTo>
                          <a:lnTo>
                            <a:pt x="202" y="0"/>
                          </a:lnTo>
                          <a:lnTo>
                            <a:pt x="192" y="0"/>
                          </a:lnTo>
                        </a:path>
                      </a:pathLst>
                    </a:cu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0534" name="Rectangle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68" y="3648"/>
                      <a:ext cx="76" cy="18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en-GB" altLang="en-US" sz="190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3</a:t>
                      </a:r>
                      <a:endParaRPr lang="en-GB" altLang="en-US"/>
                    </a:p>
                  </p:txBody>
                </p:sp>
              </p:grpSp>
              <p:grpSp>
                <p:nvGrpSpPr>
                  <p:cNvPr id="20514" name="Group 188"/>
                  <p:cNvGrpSpPr>
                    <a:grpSpLocks/>
                  </p:cNvGrpSpPr>
                  <p:nvPr/>
                </p:nvGrpSpPr>
                <p:grpSpPr bwMode="auto">
                  <a:xfrm>
                    <a:off x="3465" y="2261"/>
                    <a:ext cx="797" cy="810"/>
                    <a:chOff x="3465" y="2261"/>
                    <a:chExt cx="797" cy="810"/>
                  </a:xfrm>
                </p:grpSpPr>
                <p:sp>
                  <p:nvSpPr>
                    <p:cNvPr id="20523" name="Freeform 145"/>
                    <p:cNvSpPr>
                      <a:spLocks/>
                    </p:cNvSpPr>
                    <p:nvPr/>
                  </p:nvSpPr>
                  <p:spPr bwMode="auto">
                    <a:xfrm>
                      <a:off x="4070" y="2878"/>
                      <a:ext cx="192" cy="193"/>
                    </a:xfrm>
                    <a:custGeom>
                      <a:avLst/>
                      <a:gdLst>
                        <a:gd name="T0" fmla="*/ 5 w 385"/>
                        <a:gd name="T1" fmla="*/ 0 h 384"/>
                        <a:gd name="T2" fmla="*/ 5 w 385"/>
                        <a:gd name="T3" fmla="*/ 1 h 384"/>
                        <a:gd name="T4" fmla="*/ 4 w 385"/>
                        <a:gd name="T5" fmla="*/ 1 h 384"/>
                        <a:gd name="T6" fmla="*/ 3 w 385"/>
                        <a:gd name="T7" fmla="*/ 1 h 384"/>
                        <a:gd name="T8" fmla="*/ 3 w 385"/>
                        <a:gd name="T9" fmla="*/ 1 h 384"/>
                        <a:gd name="T10" fmla="*/ 2 w 385"/>
                        <a:gd name="T11" fmla="*/ 1 h 384"/>
                        <a:gd name="T12" fmla="*/ 1 w 385"/>
                        <a:gd name="T13" fmla="*/ 2 h 384"/>
                        <a:gd name="T14" fmla="*/ 1 w 385"/>
                        <a:gd name="T15" fmla="*/ 3 h 384"/>
                        <a:gd name="T16" fmla="*/ 0 w 385"/>
                        <a:gd name="T17" fmla="*/ 4 h 384"/>
                        <a:gd name="T18" fmla="*/ 0 w 385"/>
                        <a:gd name="T19" fmla="*/ 4 h 384"/>
                        <a:gd name="T20" fmla="*/ 0 w 385"/>
                        <a:gd name="T21" fmla="*/ 5 h 384"/>
                        <a:gd name="T22" fmla="*/ 0 w 385"/>
                        <a:gd name="T23" fmla="*/ 6 h 384"/>
                        <a:gd name="T24" fmla="*/ 0 w 385"/>
                        <a:gd name="T25" fmla="*/ 6 h 384"/>
                        <a:gd name="T26" fmla="*/ 0 w 385"/>
                        <a:gd name="T27" fmla="*/ 7 h 384"/>
                        <a:gd name="T28" fmla="*/ 0 w 385"/>
                        <a:gd name="T29" fmla="*/ 7 h 384"/>
                        <a:gd name="T30" fmla="*/ 0 w 385"/>
                        <a:gd name="T31" fmla="*/ 8 h 384"/>
                        <a:gd name="T32" fmla="*/ 0 w 385"/>
                        <a:gd name="T33" fmla="*/ 9 h 384"/>
                        <a:gd name="T34" fmla="*/ 0 w 385"/>
                        <a:gd name="T35" fmla="*/ 9 h 384"/>
                        <a:gd name="T36" fmla="*/ 1 w 385"/>
                        <a:gd name="T37" fmla="*/ 10 h 384"/>
                        <a:gd name="T38" fmla="*/ 1 w 385"/>
                        <a:gd name="T39" fmla="*/ 11 h 384"/>
                        <a:gd name="T40" fmla="*/ 2 w 385"/>
                        <a:gd name="T41" fmla="*/ 11 h 384"/>
                        <a:gd name="T42" fmla="*/ 3 w 385"/>
                        <a:gd name="T43" fmla="*/ 12 h 384"/>
                        <a:gd name="T44" fmla="*/ 3 w 385"/>
                        <a:gd name="T45" fmla="*/ 12 h 384"/>
                        <a:gd name="T46" fmla="*/ 4 w 385"/>
                        <a:gd name="T47" fmla="*/ 12 h 384"/>
                        <a:gd name="T48" fmla="*/ 5 w 385"/>
                        <a:gd name="T49" fmla="*/ 12 h 384"/>
                        <a:gd name="T50" fmla="*/ 5 w 385"/>
                        <a:gd name="T51" fmla="*/ 13 h 384"/>
                        <a:gd name="T52" fmla="*/ 6 w 385"/>
                        <a:gd name="T53" fmla="*/ 13 h 384"/>
                        <a:gd name="T54" fmla="*/ 6 w 385"/>
                        <a:gd name="T55" fmla="*/ 12 h 384"/>
                        <a:gd name="T56" fmla="*/ 7 w 385"/>
                        <a:gd name="T57" fmla="*/ 12 h 384"/>
                        <a:gd name="T58" fmla="*/ 8 w 385"/>
                        <a:gd name="T59" fmla="*/ 12 h 384"/>
                        <a:gd name="T60" fmla="*/ 8 w 385"/>
                        <a:gd name="T61" fmla="*/ 12 h 384"/>
                        <a:gd name="T62" fmla="*/ 9 w 385"/>
                        <a:gd name="T63" fmla="*/ 11 h 384"/>
                        <a:gd name="T64" fmla="*/ 10 w 385"/>
                        <a:gd name="T65" fmla="*/ 11 h 384"/>
                        <a:gd name="T66" fmla="*/ 10 w 385"/>
                        <a:gd name="T67" fmla="*/ 10 h 384"/>
                        <a:gd name="T68" fmla="*/ 11 w 385"/>
                        <a:gd name="T69" fmla="*/ 9 h 384"/>
                        <a:gd name="T70" fmla="*/ 11 w 385"/>
                        <a:gd name="T71" fmla="*/ 9 h 384"/>
                        <a:gd name="T72" fmla="*/ 11 w 385"/>
                        <a:gd name="T73" fmla="*/ 8 h 384"/>
                        <a:gd name="T74" fmla="*/ 11 w 385"/>
                        <a:gd name="T75" fmla="*/ 7 h 384"/>
                        <a:gd name="T76" fmla="*/ 11 w 385"/>
                        <a:gd name="T77" fmla="*/ 7 h 384"/>
                        <a:gd name="T78" fmla="*/ 11 w 385"/>
                        <a:gd name="T79" fmla="*/ 6 h 384"/>
                        <a:gd name="T80" fmla="*/ 11 w 385"/>
                        <a:gd name="T81" fmla="*/ 6 h 384"/>
                        <a:gd name="T82" fmla="*/ 11 w 385"/>
                        <a:gd name="T83" fmla="*/ 5 h 384"/>
                        <a:gd name="T84" fmla="*/ 11 w 385"/>
                        <a:gd name="T85" fmla="*/ 4 h 384"/>
                        <a:gd name="T86" fmla="*/ 11 w 385"/>
                        <a:gd name="T87" fmla="*/ 4 h 384"/>
                        <a:gd name="T88" fmla="*/ 10 w 385"/>
                        <a:gd name="T89" fmla="*/ 3 h 384"/>
                        <a:gd name="T90" fmla="*/ 10 w 385"/>
                        <a:gd name="T91" fmla="*/ 2 h 384"/>
                        <a:gd name="T92" fmla="*/ 9 w 385"/>
                        <a:gd name="T93" fmla="*/ 1 h 384"/>
                        <a:gd name="T94" fmla="*/ 8 w 385"/>
                        <a:gd name="T95" fmla="*/ 1 h 384"/>
                        <a:gd name="T96" fmla="*/ 8 w 385"/>
                        <a:gd name="T97" fmla="*/ 1 h 384"/>
                        <a:gd name="T98" fmla="*/ 7 w 385"/>
                        <a:gd name="T99" fmla="*/ 1 h 384"/>
                        <a:gd name="T100" fmla="*/ 6 w 385"/>
                        <a:gd name="T101" fmla="*/ 1 h 384"/>
                        <a:gd name="T102" fmla="*/ 6 w 385"/>
                        <a:gd name="T103" fmla="*/ 0 h 384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w 385"/>
                        <a:gd name="T157" fmla="*/ 0 h 384"/>
                        <a:gd name="T158" fmla="*/ 385 w 385"/>
                        <a:gd name="T159" fmla="*/ 384 h 384"/>
                      </a:gdLst>
                      <a:ahLst/>
                      <a:cxnLst>
                        <a:cxn ang="T104">
                          <a:pos x="T0" y="T1"/>
                        </a:cxn>
                        <a:cxn ang="T105">
                          <a:pos x="T2" y="T3"/>
                        </a:cxn>
                        <a:cxn ang="T106">
                          <a:pos x="T4" y="T5"/>
                        </a:cxn>
                        <a:cxn ang="T107">
                          <a:pos x="T6" y="T7"/>
                        </a:cxn>
                        <a:cxn ang="T108">
                          <a:pos x="T8" y="T9"/>
                        </a:cxn>
                        <a:cxn ang="T109">
                          <a:pos x="T10" y="T11"/>
                        </a:cxn>
                        <a:cxn ang="T110">
                          <a:pos x="T12" y="T13"/>
                        </a:cxn>
                        <a:cxn ang="T111">
                          <a:pos x="T14" y="T15"/>
                        </a:cxn>
                        <a:cxn ang="T112">
                          <a:pos x="T16" y="T17"/>
                        </a:cxn>
                        <a:cxn ang="T113">
                          <a:pos x="T18" y="T19"/>
                        </a:cxn>
                        <a:cxn ang="T114">
                          <a:pos x="T20" y="T21"/>
                        </a:cxn>
                        <a:cxn ang="T115">
                          <a:pos x="T22" y="T23"/>
                        </a:cxn>
                        <a:cxn ang="T116">
                          <a:pos x="T24" y="T25"/>
                        </a:cxn>
                        <a:cxn ang="T117">
                          <a:pos x="T26" y="T27"/>
                        </a:cxn>
                        <a:cxn ang="T118">
                          <a:pos x="T28" y="T29"/>
                        </a:cxn>
                        <a:cxn ang="T119">
                          <a:pos x="T30" y="T31"/>
                        </a:cxn>
                        <a:cxn ang="T120">
                          <a:pos x="T32" y="T33"/>
                        </a:cxn>
                        <a:cxn ang="T121">
                          <a:pos x="T34" y="T35"/>
                        </a:cxn>
                        <a:cxn ang="T122">
                          <a:pos x="T36" y="T37"/>
                        </a:cxn>
                        <a:cxn ang="T123">
                          <a:pos x="T38" y="T39"/>
                        </a:cxn>
                        <a:cxn ang="T124">
                          <a:pos x="T40" y="T41"/>
                        </a:cxn>
                        <a:cxn ang="T125">
                          <a:pos x="T42" y="T43"/>
                        </a:cxn>
                        <a:cxn ang="T126">
                          <a:pos x="T44" y="T45"/>
                        </a:cxn>
                        <a:cxn ang="T127">
                          <a:pos x="T46" y="T47"/>
                        </a:cxn>
                        <a:cxn ang="T128">
                          <a:pos x="T48" y="T49"/>
                        </a:cxn>
                        <a:cxn ang="T129">
                          <a:pos x="T50" y="T51"/>
                        </a:cxn>
                        <a:cxn ang="T130">
                          <a:pos x="T52" y="T53"/>
                        </a:cxn>
                        <a:cxn ang="T131">
                          <a:pos x="T54" y="T55"/>
                        </a:cxn>
                        <a:cxn ang="T132">
                          <a:pos x="T56" y="T57"/>
                        </a:cxn>
                        <a:cxn ang="T133">
                          <a:pos x="T58" y="T59"/>
                        </a:cxn>
                        <a:cxn ang="T134">
                          <a:pos x="T60" y="T61"/>
                        </a:cxn>
                        <a:cxn ang="T135">
                          <a:pos x="T62" y="T63"/>
                        </a:cxn>
                        <a:cxn ang="T136">
                          <a:pos x="T64" y="T65"/>
                        </a:cxn>
                        <a:cxn ang="T137">
                          <a:pos x="T66" y="T67"/>
                        </a:cxn>
                        <a:cxn ang="T138">
                          <a:pos x="T68" y="T69"/>
                        </a:cxn>
                        <a:cxn ang="T139">
                          <a:pos x="T70" y="T71"/>
                        </a:cxn>
                        <a:cxn ang="T140">
                          <a:pos x="T72" y="T73"/>
                        </a:cxn>
                        <a:cxn ang="T141">
                          <a:pos x="T74" y="T75"/>
                        </a:cxn>
                        <a:cxn ang="T142">
                          <a:pos x="T76" y="T77"/>
                        </a:cxn>
                        <a:cxn ang="T143">
                          <a:pos x="T78" y="T79"/>
                        </a:cxn>
                        <a:cxn ang="T144">
                          <a:pos x="T80" y="T81"/>
                        </a:cxn>
                        <a:cxn ang="T145">
                          <a:pos x="T82" y="T83"/>
                        </a:cxn>
                        <a:cxn ang="T146">
                          <a:pos x="T84" y="T85"/>
                        </a:cxn>
                        <a:cxn ang="T147">
                          <a:pos x="T86" y="T87"/>
                        </a:cxn>
                        <a:cxn ang="T148">
                          <a:pos x="T88" y="T89"/>
                        </a:cxn>
                        <a:cxn ang="T149">
                          <a:pos x="T90" y="T91"/>
                        </a:cxn>
                        <a:cxn ang="T150">
                          <a:pos x="T92" y="T93"/>
                        </a:cxn>
                        <a:cxn ang="T151">
                          <a:pos x="T94" y="T95"/>
                        </a:cxn>
                        <a:cxn ang="T152">
                          <a:pos x="T96" y="T97"/>
                        </a:cxn>
                        <a:cxn ang="T153">
                          <a:pos x="T98" y="T99"/>
                        </a:cxn>
                        <a:cxn ang="T154">
                          <a:pos x="T100" y="T101"/>
                        </a:cxn>
                        <a:cxn ang="T155">
                          <a:pos x="T102" y="T103"/>
                        </a:cxn>
                      </a:cxnLst>
                      <a:rect l="T156" t="T157" r="T158" b="T159"/>
                      <a:pathLst>
                        <a:path w="385" h="384">
                          <a:moveTo>
                            <a:pt x="193" y="0"/>
                          </a:moveTo>
                          <a:lnTo>
                            <a:pt x="182" y="0"/>
                          </a:lnTo>
                          <a:lnTo>
                            <a:pt x="173" y="0"/>
                          </a:lnTo>
                          <a:lnTo>
                            <a:pt x="162" y="1"/>
                          </a:lnTo>
                          <a:lnTo>
                            <a:pt x="153" y="3"/>
                          </a:lnTo>
                          <a:lnTo>
                            <a:pt x="143" y="5"/>
                          </a:lnTo>
                          <a:lnTo>
                            <a:pt x="134" y="8"/>
                          </a:lnTo>
                          <a:lnTo>
                            <a:pt x="127" y="11"/>
                          </a:lnTo>
                          <a:lnTo>
                            <a:pt x="117" y="14"/>
                          </a:lnTo>
                          <a:lnTo>
                            <a:pt x="108" y="18"/>
                          </a:lnTo>
                          <a:lnTo>
                            <a:pt x="100" y="23"/>
                          </a:lnTo>
                          <a:lnTo>
                            <a:pt x="85" y="32"/>
                          </a:lnTo>
                          <a:lnTo>
                            <a:pt x="70" y="43"/>
                          </a:lnTo>
                          <a:lnTo>
                            <a:pt x="56" y="55"/>
                          </a:lnTo>
                          <a:lnTo>
                            <a:pt x="43" y="69"/>
                          </a:lnTo>
                          <a:lnTo>
                            <a:pt x="33" y="84"/>
                          </a:lnTo>
                          <a:lnTo>
                            <a:pt x="23" y="100"/>
                          </a:lnTo>
                          <a:lnTo>
                            <a:pt x="19" y="108"/>
                          </a:lnTo>
                          <a:lnTo>
                            <a:pt x="14" y="117"/>
                          </a:lnTo>
                          <a:lnTo>
                            <a:pt x="11" y="126"/>
                          </a:lnTo>
                          <a:lnTo>
                            <a:pt x="8" y="134"/>
                          </a:lnTo>
                          <a:lnTo>
                            <a:pt x="5" y="143"/>
                          </a:lnTo>
                          <a:lnTo>
                            <a:pt x="3" y="152"/>
                          </a:lnTo>
                          <a:lnTo>
                            <a:pt x="2" y="161"/>
                          </a:lnTo>
                          <a:lnTo>
                            <a:pt x="0" y="172"/>
                          </a:lnTo>
                          <a:lnTo>
                            <a:pt x="0" y="181"/>
                          </a:lnTo>
                          <a:lnTo>
                            <a:pt x="0" y="192"/>
                          </a:lnTo>
                          <a:lnTo>
                            <a:pt x="0" y="201"/>
                          </a:lnTo>
                          <a:lnTo>
                            <a:pt x="0" y="211"/>
                          </a:lnTo>
                          <a:lnTo>
                            <a:pt x="2" y="221"/>
                          </a:lnTo>
                          <a:lnTo>
                            <a:pt x="3" y="231"/>
                          </a:lnTo>
                          <a:lnTo>
                            <a:pt x="5" y="240"/>
                          </a:lnTo>
                          <a:lnTo>
                            <a:pt x="8" y="249"/>
                          </a:lnTo>
                          <a:lnTo>
                            <a:pt x="11" y="258"/>
                          </a:lnTo>
                          <a:lnTo>
                            <a:pt x="14" y="266"/>
                          </a:lnTo>
                          <a:lnTo>
                            <a:pt x="19" y="275"/>
                          </a:lnTo>
                          <a:lnTo>
                            <a:pt x="23" y="283"/>
                          </a:lnTo>
                          <a:lnTo>
                            <a:pt x="33" y="300"/>
                          </a:lnTo>
                          <a:lnTo>
                            <a:pt x="43" y="314"/>
                          </a:lnTo>
                          <a:lnTo>
                            <a:pt x="56" y="327"/>
                          </a:lnTo>
                          <a:lnTo>
                            <a:pt x="70" y="340"/>
                          </a:lnTo>
                          <a:lnTo>
                            <a:pt x="85" y="351"/>
                          </a:lnTo>
                          <a:lnTo>
                            <a:pt x="100" y="360"/>
                          </a:lnTo>
                          <a:lnTo>
                            <a:pt x="108" y="364"/>
                          </a:lnTo>
                          <a:lnTo>
                            <a:pt x="117" y="369"/>
                          </a:lnTo>
                          <a:lnTo>
                            <a:pt x="127" y="372"/>
                          </a:lnTo>
                          <a:lnTo>
                            <a:pt x="134" y="375"/>
                          </a:lnTo>
                          <a:lnTo>
                            <a:pt x="143" y="378"/>
                          </a:lnTo>
                          <a:lnTo>
                            <a:pt x="153" y="380"/>
                          </a:lnTo>
                          <a:lnTo>
                            <a:pt x="162" y="381"/>
                          </a:lnTo>
                          <a:lnTo>
                            <a:pt x="173" y="383"/>
                          </a:lnTo>
                          <a:lnTo>
                            <a:pt x="182" y="383"/>
                          </a:lnTo>
                          <a:lnTo>
                            <a:pt x="193" y="384"/>
                          </a:lnTo>
                          <a:lnTo>
                            <a:pt x="202" y="383"/>
                          </a:lnTo>
                          <a:lnTo>
                            <a:pt x="211" y="383"/>
                          </a:lnTo>
                          <a:lnTo>
                            <a:pt x="222" y="381"/>
                          </a:lnTo>
                          <a:lnTo>
                            <a:pt x="231" y="380"/>
                          </a:lnTo>
                          <a:lnTo>
                            <a:pt x="240" y="378"/>
                          </a:lnTo>
                          <a:lnTo>
                            <a:pt x="250" y="375"/>
                          </a:lnTo>
                          <a:lnTo>
                            <a:pt x="259" y="372"/>
                          </a:lnTo>
                          <a:lnTo>
                            <a:pt x="266" y="369"/>
                          </a:lnTo>
                          <a:lnTo>
                            <a:pt x="276" y="364"/>
                          </a:lnTo>
                          <a:lnTo>
                            <a:pt x="283" y="360"/>
                          </a:lnTo>
                          <a:lnTo>
                            <a:pt x="300" y="351"/>
                          </a:lnTo>
                          <a:lnTo>
                            <a:pt x="314" y="340"/>
                          </a:lnTo>
                          <a:lnTo>
                            <a:pt x="328" y="327"/>
                          </a:lnTo>
                          <a:lnTo>
                            <a:pt x="340" y="314"/>
                          </a:lnTo>
                          <a:lnTo>
                            <a:pt x="351" y="300"/>
                          </a:lnTo>
                          <a:lnTo>
                            <a:pt x="360" y="283"/>
                          </a:lnTo>
                          <a:lnTo>
                            <a:pt x="365" y="275"/>
                          </a:lnTo>
                          <a:lnTo>
                            <a:pt x="370" y="266"/>
                          </a:lnTo>
                          <a:lnTo>
                            <a:pt x="373" y="258"/>
                          </a:lnTo>
                          <a:lnTo>
                            <a:pt x="376" y="249"/>
                          </a:lnTo>
                          <a:lnTo>
                            <a:pt x="379" y="240"/>
                          </a:lnTo>
                          <a:lnTo>
                            <a:pt x="380" y="231"/>
                          </a:lnTo>
                          <a:lnTo>
                            <a:pt x="382" y="221"/>
                          </a:lnTo>
                          <a:lnTo>
                            <a:pt x="383" y="211"/>
                          </a:lnTo>
                          <a:lnTo>
                            <a:pt x="383" y="201"/>
                          </a:lnTo>
                          <a:lnTo>
                            <a:pt x="385" y="192"/>
                          </a:lnTo>
                          <a:lnTo>
                            <a:pt x="383" y="181"/>
                          </a:lnTo>
                          <a:lnTo>
                            <a:pt x="383" y="172"/>
                          </a:lnTo>
                          <a:lnTo>
                            <a:pt x="382" y="161"/>
                          </a:lnTo>
                          <a:lnTo>
                            <a:pt x="380" y="152"/>
                          </a:lnTo>
                          <a:lnTo>
                            <a:pt x="379" y="143"/>
                          </a:lnTo>
                          <a:lnTo>
                            <a:pt x="376" y="134"/>
                          </a:lnTo>
                          <a:lnTo>
                            <a:pt x="373" y="126"/>
                          </a:lnTo>
                          <a:lnTo>
                            <a:pt x="370" y="117"/>
                          </a:lnTo>
                          <a:lnTo>
                            <a:pt x="365" y="108"/>
                          </a:lnTo>
                          <a:lnTo>
                            <a:pt x="360" y="100"/>
                          </a:lnTo>
                          <a:lnTo>
                            <a:pt x="351" y="84"/>
                          </a:lnTo>
                          <a:lnTo>
                            <a:pt x="340" y="69"/>
                          </a:lnTo>
                          <a:lnTo>
                            <a:pt x="328" y="55"/>
                          </a:lnTo>
                          <a:lnTo>
                            <a:pt x="314" y="43"/>
                          </a:lnTo>
                          <a:lnTo>
                            <a:pt x="300" y="32"/>
                          </a:lnTo>
                          <a:lnTo>
                            <a:pt x="283" y="23"/>
                          </a:lnTo>
                          <a:lnTo>
                            <a:pt x="276" y="18"/>
                          </a:lnTo>
                          <a:lnTo>
                            <a:pt x="266" y="14"/>
                          </a:lnTo>
                          <a:lnTo>
                            <a:pt x="259" y="11"/>
                          </a:lnTo>
                          <a:lnTo>
                            <a:pt x="250" y="8"/>
                          </a:lnTo>
                          <a:lnTo>
                            <a:pt x="240" y="5"/>
                          </a:lnTo>
                          <a:lnTo>
                            <a:pt x="231" y="3"/>
                          </a:lnTo>
                          <a:lnTo>
                            <a:pt x="222" y="1"/>
                          </a:lnTo>
                          <a:lnTo>
                            <a:pt x="211" y="0"/>
                          </a:lnTo>
                          <a:lnTo>
                            <a:pt x="202" y="0"/>
                          </a:lnTo>
                          <a:lnTo>
                            <a:pt x="193" y="0"/>
                          </a:lnTo>
                        </a:path>
                      </a:pathLst>
                    </a:cu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grpSp>
                  <p:nvGrpSpPr>
                    <p:cNvPr id="20524" name="Group 18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65" y="2261"/>
                      <a:ext cx="769" cy="809"/>
                      <a:chOff x="3465" y="2261"/>
                      <a:chExt cx="769" cy="809"/>
                    </a:xfrm>
                  </p:grpSpPr>
                  <p:sp>
                    <p:nvSpPr>
                      <p:cNvPr id="20525" name="Freeform 15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767" y="2583"/>
                        <a:ext cx="192" cy="193"/>
                      </a:xfrm>
                      <a:custGeom>
                        <a:avLst/>
                        <a:gdLst>
                          <a:gd name="T0" fmla="*/ 5 w 385"/>
                          <a:gd name="T1" fmla="*/ 0 h 384"/>
                          <a:gd name="T2" fmla="*/ 5 w 385"/>
                          <a:gd name="T3" fmla="*/ 1 h 384"/>
                          <a:gd name="T4" fmla="*/ 4 w 385"/>
                          <a:gd name="T5" fmla="*/ 1 h 384"/>
                          <a:gd name="T6" fmla="*/ 3 w 385"/>
                          <a:gd name="T7" fmla="*/ 1 h 384"/>
                          <a:gd name="T8" fmla="*/ 3 w 385"/>
                          <a:gd name="T9" fmla="*/ 1 h 384"/>
                          <a:gd name="T10" fmla="*/ 2 w 385"/>
                          <a:gd name="T11" fmla="*/ 1 h 384"/>
                          <a:gd name="T12" fmla="*/ 1 w 385"/>
                          <a:gd name="T13" fmla="*/ 2 h 384"/>
                          <a:gd name="T14" fmla="*/ 1 w 385"/>
                          <a:gd name="T15" fmla="*/ 3 h 384"/>
                          <a:gd name="T16" fmla="*/ 0 w 385"/>
                          <a:gd name="T17" fmla="*/ 4 h 384"/>
                          <a:gd name="T18" fmla="*/ 0 w 385"/>
                          <a:gd name="T19" fmla="*/ 4 h 384"/>
                          <a:gd name="T20" fmla="*/ 0 w 385"/>
                          <a:gd name="T21" fmla="*/ 5 h 384"/>
                          <a:gd name="T22" fmla="*/ 0 w 385"/>
                          <a:gd name="T23" fmla="*/ 6 h 384"/>
                          <a:gd name="T24" fmla="*/ 0 w 385"/>
                          <a:gd name="T25" fmla="*/ 6 h 384"/>
                          <a:gd name="T26" fmla="*/ 0 w 385"/>
                          <a:gd name="T27" fmla="*/ 7 h 384"/>
                          <a:gd name="T28" fmla="*/ 0 w 385"/>
                          <a:gd name="T29" fmla="*/ 7 h 384"/>
                          <a:gd name="T30" fmla="*/ 0 w 385"/>
                          <a:gd name="T31" fmla="*/ 8 h 384"/>
                          <a:gd name="T32" fmla="*/ 0 w 385"/>
                          <a:gd name="T33" fmla="*/ 9 h 384"/>
                          <a:gd name="T34" fmla="*/ 0 w 385"/>
                          <a:gd name="T35" fmla="*/ 9 h 384"/>
                          <a:gd name="T36" fmla="*/ 1 w 385"/>
                          <a:gd name="T37" fmla="*/ 10 h 384"/>
                          <a:gd name="T38" fmla="*/ 1 w 385"/>
                          <a:gd name="T39" fmla="*/ 11 h 384"/>
                          <a:gd name="T40" fmla="*/ 2 w 385"/>
                          <a:gd name="T41" fmla="*/ 11 h 384"/>
                          <a:gd name="T42" fmla="*/ 3 w 385"/>
                          <a:gd name="T43" fmla="*/ 12 h 384"/>
                          <a:gd name="T44" fmla="*/ 3 w 385"/>
                          <a:gd name="T45" fmla="*/ 12 h 384"/>
                          <a:gd name="T46" fmla="*/ 4 w 385"/>
                          <a:gd name="T47" fmla="*/ 12 h 384"/>
                          <a:gd name="T48" fmla="*/ 5 w 385"/>
                          <a:gd name="T49" fmla="*/ 12 h 384"/>
                          <a:gd name="T50" fmla="*/ 5 w 385"/>
                          <a:gd name="T51" fmla="*/ 13 h 384"/>
                          <a:gd name="T52" fmla="*/ 6 w 385"/>
                          <a:gd name="T53" fmla="*/ 13 h 384"/>
                          <a:gd name="T54" fmla="*/ 6 w 385"/>
                          <a:gd name="T55" fmla="*/ 12 h 384"/>
                          <a:gd name="T56" fmla="*/ 7 w 385"/>
                          <a:gd name="T57" fmla="*/ 12 h 384"/>
                          <a:gd name="T58" fmla="*/ 8 w 385"/>
                          <a:gd name="T59" fmla="*/ 12 h 384"/>
                          <a:gd name="T60" fmla="*/ 8 w 385"/>
                          <a:gd name="T61" fmla="*/ 12 h 384"/>
                          <a:gd name="T62" fmla="*/ 9 w 385"/>
                          <a:gd name="T63" fmla="*/ 11 h 384"/>
                          <a:gd name="T64" fmla="*/ 10 w 385"/>
                          <a:gd name="T65" fmla="*/ 11 h 384"/>
                          <a:gd name="T66" fmla="*/ 10 w 385"/>
                          <a:gd name="T67" fmla="*/ 10 h 384"/>
                          <a:gd name="T68" fmla="*/ 11 w 385"/>
                          <a:gd name="T69" fmla="*/ 9 h 384"/>
                          <a:gd name="T70" fmla="*/ 11 w 385"/>
                          <a:gd name="T71" fmla="*/ 9 h 384"/>
                          <a:gd name="T72" fmla="*/ 11 w 385"/>
                          <a:gd name="T73" fmla="*/ 8 h 384"/>
                          <a:gd name="T74" fmla="*/ 11 w 385"/>
                          <a:gd name="T75" fmla="*/ 7 h 384"/>
                          <a:gd name="T76" fmla="*/ 11 w 385"/>
                          <a:gd name="T77" fmla="*/ 7 h 384"/>
                          <a:gd name="T78" fmla="*/ 11 w 385"/>
                          <a:gd name="T79" fmla="*/ 6 h 384"/>
                          <a:gd name="T80" fmla="*/ 11 w 385"/>
                          <a:gd name="T81" fmla="*/ 6 h 384"/>
                          <a:gd name="T82" fmla="*/ 11 w 385"/>
                          <a:gd name="T83" fmla="*/ 5 h 384"/>
                          <a:gd name="T84" fmla="*/ 11 w 385"/>
                          <a:gd name="T85" fmla="*/ 4 h 384"/>
                          <a:gd name="T86" fmla="*/ 11 w 385"/>
                          <a:gd name="T87" fmla="*/ 4 h 384"/>
                          <a:gd name="T88" fmla="*/ 10 w 385"/>
                          <a:gd name="T89" fmla="*/ 3 h 384"/>
                          <a:gd name="T90" fmla="*/ 10 w 385"/>
                          <a:gd name="T91" fmla="*/ 2 h 384"/>
                          <a:gd name="T92" fmla="*/ 9 w 385"/>
                          <a:gd name="T93" fmla="*/ 1 h 384"/>
                          <a:gd name="T94" fmla="*/ 8 w 385"/>
                          <a:gd name="T95" fmla="*/ 1 h 384"/>
                          <a:gd name="T96" fmla="*/ 8 w 385"/>
                          <a:gd name="T97" fmla="*/ 1 h 384"/>
                          <a:gd name="T98" fmla="*/ 7 w 385"/>
                          <a:gd name="T99" fmla="*/ 1 h 384"/>
                          <a:gd name="T100" fmla="*/ 6 w 385"/>
                          <a:gd name="T101" fmla="*/ 1 h 384"/>
                          <a:gd name="T102" fmla="*/ 6 w 385"/>
                          <a:gd name="T103" fmla="*/ 0 h 384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  <a:gd name="T150" fmla="*/ 0 60000 65536"/>
                          <a:gd name="T151" fmla="*/ 0 60000 65536"/>
                          <a:gd name="T152" fmla="*/ 0 60000 65536"/>
                          <a:gd name="T153" fmla="*/ 0 60000 65536"/>
                          <a:gd name="T154" fmla="*/ 0 60000 65536"/>
                          <a:gd name="T155" fmla="*/ 0 60000 65536"/>
                          <a:gd name="T156" fmla="*/ 0 w 385"/>
                          <a:gd name="T157" fmla="*/ 0 h 384"/>
                          <a:gd name="T158" fmla="*/ 385 w 385"/>
                          <a:gd name="T159" fmla="*/ 384 h 384"/>
                        </a:gdLst>
                        <a:ahLst/>
                        <a:cxnLst>
                          <a:cxn ang="T104">
                            <a:pos x="T0" y="T1"/>
                          </a:cxn>
                          <a:cxn ang="T105">
                            <a:pos x="T2" y="T3"/>
                          </a:cxn>
                          <a:cxn ang="T106">
                            <a:pos x="T4" y="T5"/>
                          </a:cxn>
                          <a:cxn ang="T107">
                            <a:pos x="T6" y="T7"/>
                          </a:cxn>
                          <a:cxn ang="T108">
                            <a:pos x="T8" y="T9"/>
                          </a:cxn>
                          <a:cxn ang="T109">
                            <a:pos x="T10" y="T11"/>
                          </a:cxn>
                          <a:cxn ang="T110">
                            <a:pos x="T12" y="T13"/>
                          </a:cxn>
                          <a:cxn ang="T111">
                            <a:pos x="T14" y="T15"/>
                          </a:cxn>
                          <a:cxn ang="T112">
                            <a:pos x="T16" y="T17"/>
                          </a:cxn>
                          <a:cxn ang="T113">
                            <a:pos x="T18" y="T19"/>
                          </a:cxn>
                          <a:cxn ang="T114">
                            <a:pos x="T20" y="T21"/>
                          </a:cxn>
                          <a:cxn ang="T115">
                            <a:pos x="T22" y="T23"/>
                          </a:cxn>
                          <a:cxn ang="T116">
                            <a:pos x="T24" y="T25"/>
                          </a:cxn>
                          <a:cxn ang="T117">
                            <a:pos x="T26" y="T27"/>
                          </a:cxn>
                          <a:cxn ang="T118">
                            <a:pos x="T28" y="T29"/>
                          </a:cxn>
                          <a:cxn ang="T119">
                            <a:pos x="T30" y="T31"/>
                          </a:cxn>
                          <a:cxn ang="T120">
                            <a:pos x="T32" y="T33"/>
                          </a:cxn>
                          <a:cxn ang="T121">
                            <a:pos x="T34" y="T35"/>
                          </a:cxn>
                          <a:cxn ang="T122">
                            <a:pos x="T36" y="T37"/>
                          </a:cxn>
                          <a:cxn ang="T123">
                            <a:pos x="T38" y="T39"/>
                          </a:cxn>
                          <a:cxn ang="T124">
                            <a:pos x="T40" y="T41"/>
                          </a:cxn>
                          <a:cxn ang="T125">
                            <a:pos x="T42" y="T43"/>
                          </a:cxn>
                          <a:cxn ang="T126">
                            <a:pos x="T44" y="T45"/>
                          </a:cxn>
                          <a:cxn ang="T127">
                            <a:pos x="T46" y="T47"/>
                          </a:cxn>
                          <a:cxn ang="T128">
                            <a:pos x="T48" y="T49"/>
                          </a:cxn>
                          <a:cxn ang="T129">
                            <a:pos x="T50" y="T51"/>
                          </a:cxn>
                          <a:cxn ang="T130">
                            <a:pos x="T52" y="T53"/>
                          </a:cxn>
                          <a:cxn ang="T131">
                            <a:pos x="T54" y="T55"/>
                          </a:cxn>
                          <a:cxn ang="T132">
                            <a:pos x="T56" y="T57"/>
                          </a:cxn>
                          <a:cxn ang="T133">
                            <a:pos x="T58" y="T59"/>
                          </a:cxn>
                          <a:cxn ang="T134">
                            <a:pos x="T60" y="T61"/>
                          </a:cxn>
                          <a:cxn ang="T135">
                            <a:pos x="T62" y="T63"/>
                          </a:cxn>
                          <a:cxn ang="T136">
                            <a:pos x="T64" y="T65"/>
                          </a:cxn>
                          <a:cxn ang="T137">
                            <a:pos x="T66" y="T67"/>
                          </a:cxn>
                          <a:cxn ang="T138">
                            <a:pos x="T68" y="T69"/>
                          </a:cxn>
                          <a:cxn ang="T139">
                            <a:pos x="T70" y="T71"/>
                          </a:cxn>
                          <a:cxn ang="T140">
                            <a:pos x="T72" y="T73"/>
                          </a:cxn>
                          <a:cxn ang="T141">
                            <a:pos x="T74" y="T75"/>
                          </a:cxn>
                          <a:cxn ang="T142">
                            <a:pos x="T76" y="T77"/>
                          </a:cxn>
                          <a:cxn ang="T143">
                            <a:pos x="T78" y="T79"/>
                          </a:cxn>
                          <a:cxn ang="T144">
                            <a:pos x="T80" y="T81"/>
                          </a:cxn>
                          <a:cxn ang="T145">
                            <a:pos x="T82" y="T83"/>
                          </a:cxn>
                          <a:cxn ang="T146">
                            <a:pos x="T84" y="T85"/>
                          </a:cxn>
                          <a:cxn ang="T147">
                            <a:pos x="T86" y="T87"/>
                          </a:cxn>
                          <a:cxn ang="T148">
                            <a:pos x="T88" y="T89"/>
                          </a:cxn>
                          <a:cxn ang="T149">
                            <a:pos x="T90" y="T91"/>
                          </a:cxn>
                          <a:cxn ang="T150">
                            <a:pos x="T92" y="T93"/>
                          </a:cxn>
                          <a:cxn ang="T151">
                            <a:pos x="T94" y="T95"/>
                          </a:cxn>
                          <a:cxn ang="T152">
                            <a:pos x="T96" y="T97"/>
                          </a:cxn>
                          <a:cxn ang="T153">
                            <a:pos x="T98" y="T99"/>
                          </a:cxn>
                          <a:cxn ang="T154">
                            <a:pos x="T100" y="T101"/>
                          </a:cxn>
                          <a:cxn ang="T155">
                            <a:pos x="T102" y="T103"/>
                          </a:cxn>
                        </a:cxnLst>
                        <a:rect l="T156" t="T157" r="T158" b="T159"/>
                        <a:pathLst>
                          <a:path w="385" h="384">
                            <a:moveTo>
                              <a:pt x="193" y="0"/>
                            </a:moveTo>
                            <a:lnTo>
                              <a:pt x="182" y="0"/>
                            </a:lnTo>
                            <a:lnTo>
                              <a:pt x="173" y="0"/>
                            </a:lnTo>
                            <a:lnTo>
                              <a:pt x="162" y="1"/>
                            </a:lnTo>
                            <a:lnTo>
                              <a:pt x="153" y="3"/>
                            </a:lnTo>
                            <a:lnTo>
                              <a:pt x="143" y="5"/>
                            </a:lnTo>
                            <a:lnTo>
                              <a:pt x="134" y="8"/>
                            </a:lnTo>
                            <a:lnTo>
                              <a:pt x="127" y="11"/>
                            </a:lnTo>
                            <a:lnTo>
                              <a:pt x="117" y="14"/>
                            </a:lnTo>
                            <a:lnTo>
                              <a:pt x="108" y="18"/>
                            </a:lnTo>
                            <a:lnTo>
                              <a:pt x="100" y="23"/>
                            </a:lnTo>
                            <a:lnTo>
                              <a:pt x="85" y="32"/>
                            </a:lnTo>
                            <a:lnTo>
                              <a:pt x="70" y="43"/>
                            </a:lnTo>
                            <a:lnTo>
                              <a:pt x="56" y="55"/>
                            </a:lnTo>
                            <a:lnTo>
                              <a:pt x="43" y="69"/>
                            </a:lnTo>
                            <a:lnTo>
                              <a:pt x="33" y="84"/>
                            </a:lnTo>
                            <a:lnTo>
                              <a:pt x="23" y="100"/>
                            </a:lnTo>
                            <a:lnTo>
                              <a:pt x="19" y="108"/>
                            </a:lnTo>
                            <a:lnTo>
                              <a:pt x="14" y="117"/>
                            </a:lnTo>
                            <a:lnTo>
                              <a:pt x="11" y="126"/>
                            </a:lnTo>
                            <a:lnTo>
                              <a:pt x="8" y="134"/>
                            </a:lnTo>
                            <a:lnTo>
                              <a:pt x="5" y="143"/>
                            </a:lnTo>
                            <a:lnTo>
                              <a:pt x="3" y="152"/>
                            </a:lnTo>
                            <a:lnTo>
                              <a:pt x="2" y="161"/>
                            </a:lnTo>
                            <a:lnTo>
                              <a:pt x="0" y="172"/>
                            </a:lnTo>
                            <a:lnTo>
                              <a:pt x="0" y="181"/>
                            </a:lnTo>
                            <a:lnTo>
                              <a:pt x="0" y="192"/>
                            </a:lnTo>
                            <a:lnTo>
                              <a:pt x="0" y="201"/>
                            </a:lnTo>
                            <a:lnTo>
                              <a:pt x="0" y="211"/>
                            </a:lnTo>
                            <a:lnTo>
                              <a:pt x="2" y="221"/>
                            </a:lnTo>
                            <a:lnTo>
                              <a:pt x="3" y="231"/>
                            </a:lnTo>
                            <a:lnTo>
                              <a:pt x="5" y="240"/>
                            </a:lnTo>
                            <a:lnTo>
                              <a:pt x="8" y="249"/>
                            </a:lnTo>
                            <a:lnTo>
                              <a:pt x="11" y="258"/>
                            </a:lnTo>
                            <a:lnTo>
                              <a:pt x="14" y="266"/>
                            </a:lnTo>
                            <a:lnTo>
                              <a:pt x="19" y="275"/>
                            </a:lnTo>
                            <a:lnTo>
                              <a:pt x="23" y="283"/>
                            </a:lnTo>
                            <a:lnTo>
                              <a:pt x="33" y="300"/>
                            </a:lnTo>
                            <a:lnTo>
                              <a:pt x="43" y="314"/>
                            </a:lnTo>
                            <a:lnTo>
                              <a:pt x="56" y="327"/>
                            </a:lnTo>
                            <a:lnTo>
                              <a:pt x="70" y="340"/>
                            </a:lnTo>
                            <a:lnTo>
                              <a:pt x="85" y="351"/>
                            </a:lnTo>
                            <a:lnTo>
                              <a:pt x="100" y="360"/>
                            </a:lnTo>
                            <a:lnTo>
                              <a:pt x="108" y="364"/>
                            </a:lnTo>
                            <a:lnTo>
                              <a:pt x="117" y="369"/>
                            </a:lnTo>
                            <a:lnTo>
                              <a:pt x="127" y="372"/>
                            </a:lnTo>
                            <a:lnTo>
                              <a:pt x="134" y="375"/>
                            </a:lnTo>
                            <a:lnTo>
                              <a:pt x="143" y="378"/>
                            </a:lnTo>
                            <a:lnTo>
                              <a:pt x="153" y="380"/>
                            </a:lnTo>
                            <a:lnTo>
                              <a:pt x="162" y="381"/>
                            </a:lnTo>
                            <a:lnTo>
                              <a:pt x="173" y="383"/>
                            </a:lnTo>
                            <a:lnTo>
                              <a:pt x="182" y="383"/>
                            </a:lnTo>
                            <a:lnTo>
                              <a:pt x="193" y="384"/>
                            </a:lnTo>
                            <a:lnTo>
                              <a:pt x="202" y="383"/>
                            </a:lnTo>
                            <a:lnTo>
                              <a:pt x="211" y="383"/>
                            </a:lnTo>
                            <a:lnTo>
                              <a:pt x="222" y="381"/>
                            </a:lnTo>
                            <a:lnTo>
                              <a:pt x="231" y="380"/>
                            </a:lnTo>
                            <a:lnTo>
                              <a:pt x="240" y="378"/>
                            </a:lnTo>
                            <a:lnTo>
                              <a:pt x="250" y="375"/>
                            </a:lnTo>
                            <a:lnTo>
                              <a:pt x="259" y="372"/>
                            </a:lnTo>
                            <a:lnTo>
                              <a:pt x="266" y="369"/>
                            </a:lnTo>
                            <a:lnTo>
                              <a:pt x="276" y="364"/>
                            </a:lnTo>
                            <a:lnTo>
                              <a:pt x="283" y="360"/>
                            </a:lnTo>
                            <a:lnTo>
                              <a:pt x="300" y="351"/>
                            </a:lnTo>
                            <a:lnTo>
                              <a:pt x="314" y="340"/>
                            </a:lnTo>
                            <a:lnTo>
                              <a:pt x="328" y="327"/>
                            </a:lnTo>
                            <a:lnTo>
                              <a:pt x="340" y="314"/>
                            </a:lnTo>
                            <a:lnTo>
                              <a:pt x="351" y="300"/>
                            </a:lnTo>
                            <a:lnTo>
                              <a:pt x="360" y="283"/>
                            </a:lnTo>
                            <a:lnTo>
                              <a:pt x="365" y="275"/>
                            </a:lnTo>
                            <a:lnTo>
                              <a:pt x="370" y="266"/>
                            </a:lnTo>
                            <a:lnTo>
                              <a:pt x="373" y="258"/>
                            </a:lnTo>
                            <a:lnTo>
                              <a:pt x="376" y="249"/>
                            </a:lnTo>
                            <a:lnTo>
                              <a:pt x="379" y="240"/>
                            </a:lnTo>
                            <a:lnTo>
                              <a:pt x="380" y="231"/>
                            </a:lnTo>
                            <a:lnTo>
                              <a:pt x="382" y="221"/>
                            </a:lnTo>
                            <a:lnTo>
                              <a:pt x="383" y="211"/>
                            </a:lnTo>
                            <a:lnTo>
                              <a:pt x="383" y="201"/>
                            </a:lnTo>
                            <a:lnTo>
                              <a:pt x="385" y="192"/>
                            </a:lnTo>
                            <a:lnTo>
                              <a:pt x="383" y="181"/>
                            </a:lnTo>
                            <a:lnTo>
                              <a:pt x="383" y="172"/>
                            </a:lnTo>
                            <a:lnTo>
                              <a:pt x="382" y="161"/>
                            </a:lnTo>
                            <a:lnTo>
                              <a:pt x="380" y="152"/>
                            </a:lnTo>
                            <a:lnTo>
                              <a:pt x="379" y="143"/>
                            </a:lnTo>
                            <a:lnTo>
                              <a:pt x="376" y="134"/>
                            </a:lnTo>
                            <a:lnTo>
                              <a:pt x="373" y="126"/>
                            </a:lnTo>
                            <a:lnTo>
                              <a:pt x="370" y="117"/>
                            </a:lnTo>
                            <a:lnTo>
                              <a:pt x="365" y="108"/>
                            </a:lnTo>
                            <a:lnTo>
                              <a:pt x="360" y="100"/>
                            </a:lnTo>
                            <a:lnTo>
                              <a:pt x="351" y="84"/>
                            </a:lnTo>
                            <a:lnTo>
                              <a:pt x="340" y="69"/>
                            </a:lnTo>
                            <a:lnTo>
                              <a:pt x="328" y="55"/>
                            </a:lnTo>
                            <a:lnTo>
                              <a:pt x="314" y="43"/>
                            </a:lnTo>
                            <a:lnTo>
                              <a:pt x="300" y="32"/>
                            </a:lnTo>
                            <a:lnTo>
                              <a:pt x="283" y="23"/>
                            </a:lnTo>
                            <a:lnTo>
                              <a:pt x="276" y="18"/>
                            </a:lnTo>
                            <a:lnTo>
                              <a:pt x="266" y="14"/>
                            </a:lnTo>
                            <a:lnTo>
                              <a:pt x="259" y="11"/>
                            </a:lnTo>
                            <a:lnTo>
                              <a:pt x="250" y="8"/>
                            </a:lnTo>
                            <a:lnTo>
                              <a:pt x="240" y="5"/>
                            </a:lnTo>
                            <a:lnTo>
                              <a:pt x="231" y="3"/>
                            </a:lnTo>
                            <a:lnTo>
                              <a:pt x="222" y="1"/>
                            </a:lnTo>
                            <a:lnTo>
                              <a:pt x="211" y="0"/>
                            </a:lnTo>
                            <a:lnTo>
                              <a:pt x="202" y="0"/>
                            </a:lnTo>
                            <a:lnTo>
                              <a:pt x="193" y="0"/>
                            </a:lnTo>
                          </a:path>
                        </a:pathLst>
                      </a:custGeom>
                      <a:noFill/>
                      <a:ln w="158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GB"/>
                      </a:p>
                    </p:txBody>
                  </p:sp>
                  <p:grpSp>
                    <p:nvGrpSpPr>
                      <p:cNvPr id="20526" name="Group 18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465" y="2261"/>
                        <a:ext cx="769" cy="809"/>
                        <a:chOff x="3518" y="2177"/>
                        <a:chExt cx="769" cy="809"/>
                      </a:xfrm>
                    </p:grpSpPr>
                    <p:sp>
                      <p:nvSpPr>
                        <p:cNvPr id="20527" name="Line 15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9" y="2338"/>
                          <a:ext cx="165" cy="162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20528" name="Line 15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02" y="2638"/>
                          <a:ext cx="166" cy="163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20529" name="Rectangle 15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832" y="2502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0" tIns="0" rIns="0" bIns="0"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742950" indent="-28575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11430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6002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20574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GB" altLang="en-US" sz="190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14</a:t>
                          </a:r>
                          <a:endParaRPr lang="en-GB" altLang="en-US"/>
                        </a:p>
                      </p:txBody>
                    </p:sp>
                    <p:sp>
                      <p:nvSpPr>
                        <p:cNvPr id="20530" name="Rectangle 15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135" y="2804"/>
                          <a:ext cx="152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0" tIns="0" rIns="0" bIns="0"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742950" indent="-28575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11430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6002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20574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GB" altLang="en-US" sz="190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15</a:t>
                          </a:r>
                          <a:endParaRPr lang="en-GB" altLang="en-US"/>
                        </a:p>
                      </p:txBody>
                    </p:sp>
                    <p:sp>
                      <p:nvSpPr>
                        <p:cNvPr id="20531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18" y="2177"/>
                          <a:ext cx="192" cy="192"/>
                        </a:xfrm>
                        <a:custGeom>
                          <a:avLst/>
                          <a:gdLst>
                            <a:gd name="T0" fmla="*/ 6 w 384"/>
                            <a:gd name="T1" fmla="*/ 1 h 384"/>
                            <a:gd name="T2" fmla="*/ 6 w 384"/>
                            <a:gd name="T3" fmla="*/ 1 h 384"/>
                            <a:gd name="T4" fmla="*/ 5 w 384"/>
                            <a:gd name="T5" fmla="*/ 1 h 384"/>
                            <a:gd name="T6" fmla="*/ 3 w 384"/>
                            <a:gd name="T7" fmla="*/ 1 h 384"/>
                            <a:gd name="T8" fmla="*/ 3 w 384"/>
                            <a:gd name="T9" fmla="*/ 1 h 384"/>
                            <a:gd name="T10" fmla="*/ 3 w 384"/>
                            <a:gd name="T11" fmla="*/ 2 h 384"/>
                            <a:gd name="T12" fmla="*/ 2 w 384"/>
                            <a:gd name="T13" fmla="*/ 2 h 384"/>
                            <a:gd name="T14" fmla="*/ 1 w 384"/>
                            <a:gd name="T15" fmla="*/ 3 h 384"/>
                            <a:gd name="T16" fmla="*/ 1 w 384"/>
                            <a:gd name="T17" fmla="*/ 3 h 384"/>
                            <a:gd name="T18" fmla="*/ 1 w 384"/>
                            <a:gd name="T19" fmla="*/ 3 h 384"/>
                            <a:gd name="T20" fmla="*/ 1 w 384"/>
                            <a:gd name="T21" fmla="*/ 5 h 384"/>
                            <a:gd name="T22" fmla="*/ 1 w 384"/>
                            <a:gd name="T23" fmla="*/ 6 h 384"/>
                            <a:gd name="T24" fmla="*/ 0 w 384"/>
                            <a:gd name="T25" fmla="*/ 6 h 384"/>
                            <a:gd name="T26" fmla="*/ 0 w 384"/>
                            <a:gd name="T27" fmla="*/ 6 h 384"/>
                            <a:gd name="T28" fmla="*/ 1 w 384"/>
                            <a:gd name="T29" fmla="*/ 6 h 384"/>
                            <a:gd name="T30" fmla="*/ 1 w 384"/>
                            <a:gd name="T31" fmla="*/ 7 h 384"/>
                            <a:gd name="T32" fmla="*/ 1 w 384"/>
                            <a:gd name="T33" fmla="*/ 9 h 384"/>
                            <a:gd name="T34" fmla="*/ 1 w 384"/>
                            <a:gd name="T35" fmla="*/ 9 h 384"/>
                            <a:gd name="T36" fmla="*/ 1 w 384"/>
                            <a:gd name="T37" fmla="*/ 10 h 384"/>
                            <a:gd name="T38" fmla="*/ 2 w 384"/>
                            <a:gd name="T39" fmla="*/ 11 h 384"/>
                            <a:gd name="T40" fmla="*/ 3 w 384"/>
                            <a:gd name="T41" fmla="*/ 11 h 384"/>
                            <a:gd name="T42" fmla="*/ 3 w 384"/>
                            <a:gd name="T43" fmla="*/ 12 h 384"/>
                            <a:gd name="T44" fmla="*/ 3 w 384"/>
                            <a:gd name="T45" fmla="*/ 12 h 384"/>
                            <a:gd name="T46" fmla="*/ 5 w 384"/>
                            <a:gd name="T47" fmla="*/ 12 h 384"/>
                            <a:gd name="T48" fmla="*/ 6 w 384"/>
                            <a:gd name="T49" fmla="*/ 12 h 384"/>
                            <a:gd name="T50" fmla="*/ 6 w 384"/>
                            <a:gd name="T51" fmla="*/ 12 h 384"/>
                            <a:gd name="T52" fmla="*/ 6 w 384"/>
                            <a:gd name="T53" fmla="*/ 12 h 384"/>
                            <a:gd name="T54" fmla="*/ 6 w 384"/>
                            <a:gd name="T55" fmla="*/ 12 h 384"/>
                            <a:gd name="T56" fmla="*/ 7 w 384"/>
                            <a:gd name="T57" fmla="*/ 12 h 384"/>
                            <a:gd name="T58" fmla="*/ 9 w 384"/>
                            <a:gd name="T59" fmla="*/ 12 h 384"/>
                            <a:gd name="T60" fmla="*/ 9 w 384"/>
                            <a:gd name="T61" fmla="*/ 12 h 384"/>
                            <a:gd name="T62" fmla="*/ 10 w 384"/>
                            <a:gd name="T63" fmla="*/ 11 h 384"/>
                            <a:gd name="T64" fmla="*/ 11 w 384"/>
                            <a:gd name="T65" fmla="*/ 11 h 384"/>
                            <a:gd name="T66" fmla="*/ 11 w 384"/>
                            <a:gd name="T67" fmla="*/ 10 h 384"/>
                            <a:gd name="T68" fmla="*/ 12 w 384"/>
                            <a:gd name="T69" fmla="*/ 9 h 384"/>
                            <a:gd name="T70" fmla="*/ 12 w 384"/>
                            <a:gd name="T71" fmla="*/ 9 h 384"/>
                            <a:gd name="T72" fmla="*/ 12 w 384"/>
                            <a:gd name="T73" fmla="*/ 7 h 384"/>
                            <a:gd name="T74" fmla="*/ 12 w 384"/>
                            <a:gd name="T75" fmla="*/ 6 h 384"/>
                            <a:gd name="T76" fmla="*/ 12 w 384"/>
                            <a:gd name="T77" fmla="*/ 6 h 384"/>
                            <a:gd name="T78" fmla="*/ 12 w 384"/>
                            <a:gd name="T79" fmla="*/ 6 h 384"/>
                            <a:gd name="T80" fmla="*/ 12 w 384"/>
                            <a:gd name="T81" fmla="*/ 6 h 384"/>
                            <a:gd name="T82" fmla="*/ 12 w 384"/>
                            <a:gd name="T83" fmla="*/ 5 h 384"/>
                            <a:gd name="T84" fmla="*/ 12 w 384"/>
                            <a:gd name="T85" fmla="*/ 3 h 384"/>
                            <a:gd name="T86" fmla="*/ 12 w 384"/>
                            <a:gd name="T87" fmla="*/ 3 h 384"/>
                            <a:gd name="T88" fmla="*/ 11 w 384"/>
                            <a:gd name="T89" fmla="*/ 3 h 384"/>
                            <a:gd name="T90" fmla="*/ 11 w 384"/>
                            <a:gd name="T91" fmla="*/ 2 h 384"/>
                            <a:gd name="T92" fmla="*/ 10 w 384"/>
                            <a:gd name="T93" fmla="*/ 2 h 384"/>
                            <a:gd name="T94" fmla="*/ 9 w 384"/>
                            <a:gd name="T95" fmla="*/ 1 h 384"/>
                            <a:gd name="T96" fmla="*/ 9 w 384"/>
                            <a:gd name="T97" fmla="*/ 1 h 384"/>
                            <a:gd name="T98" fmla="*/ 7 w 384"/>
                            <a:gd name="T99" fmla="*/ 1 h 384"/>
                            <a:gd name="T100" fmla="*/ 6 w 384"/>
                            <a:gd name="T101" fmla="*/ 1 h 384"/>
                            <a:gd name="T102" fmla="*/ 6 w 384"/>
                            <a:gd name="T103" fmla="*/ 1 h 384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384"/>
                            <a:gd name="T157" fmla="*/ 0 h 384"/>
                            <a:gd name="T158" fmla="*/ 384 w 384"/>
                            <a:gd name="T159" fmla="*/ 384 h 384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384" h="384">
                              <a:moveTo>
                                <a:pt x="192" y="0"/>
                              </a:moveTo>
                              <a:lnTo>
                                <a:pt x="181" y="1"/>
                              </a:lnTo>
                              <a:lnTo>
                                <a:pt x="172" y="1"/>
                              </a:lnTo>
                              <a:lnTo>
                                <a:pt x="161" y="3"/>
                              </a:lnTo>
                              <a:lnTo>
                                <a:pt x="152" y="4"/>
                              </a:lnTo>
                              <a:lnTo>
                                <a:pt x="143" y="6"/>
                              </a:lnTo>
                              <a:lnTo>
                                <a:pt x="134" y="9"/>
                              </a:lnTo>
                              <a:lnTo>
                                <a:pt x="126" y="12"/>
                              </a:lnTo>
                              <a:lnTo>
                                <a:pt x="117" y="15"/>
                              </a:lnTo>
                              <a:lnTo>
                                <a:pt x="108" y="20"/>
                              </a:lnTo>
                              <a:lnTo>
                                <a:pt x="100" y="23"/>
                              </a:lnTo>
                              <a:lnTo>
                                <a:pt x="85" y="34"/>
                              </a:lnTo>
                              <a:lnTo>
                                <a:pt x="69" y="44"/>
                              </a:lnTo>
                              <a:lnTo>
                                <a:pt x="55" y="57"/>
                              </a:lnTo>
                              <a:lnTo>
                                <a:pt x="43" y="71"/>
                              </a:lnTo>
                              <a:lnTo>
                                <a:pt x="32" y="86"/>
                              </a:lnTo>
                              <a:lnTo>
                                <a:pt x="23" y="101"/>
                              </a:lnTo>
                              <a:lnTo>
                                <a:pt x="18" y="109"/>
                              </a:lnTo>
                              <a:lnTo>
                                <a:pt x="14" y="118"/>
                              </a:lnTo>
                              <a:lnTo>
                                <a:pt x="11" y="126"/>
                              </a:lnTo>
                              <a:lnTo>
                                <a:pt x="8" y="135"/>
                              </a:lnTo>
                              <a:lnTo>
                                <a:pt x="5" y="144"/>
                              </a:lnTo>
                              <a:lnTo>
                                <a:pt x="3" y="154"/>
                              </a:lnTo>
                              <a:lnTo>
                                <a:pt x="1" y="163"/>
                              </a:lnTo>
                              <a:lnTo>
                                <a:pt x="0" y="174"/>
                              </a:lnTo>
                              <a:lnTo>
                                <a:pt x="0" y="183"/>
                              </a:lnTo>
                              <a:lnTo>
                                <a:pt x="0" y="192"/>
                              </a:lnTo>
                              <a:lnTo>
                                <a:pt x="0" y="203"/>
                              </a:lnTo>
                              <a:lnTo>
                                <a:pt x="0" y="212"/>
                              </a:lnTo>
                              <a:lnTo>
                                <a:pt x="1" y="221"/>
                              </a:lnTo>
                              <a:lnTo>
                                <a:pt x="3" y="232"/>
                              </a:lnTo>
                              <a:lnTo>
                                <a:pt x="5" y="241"/>
                              </a:lnTo>
                              <a:lnTo>
                                <a:pt x="8" y="251"/>
                              </a:lnTo>
                              <a:lnTo>
                                <a:pt x="11" y="258"/>
                              </a:lnTo>
                              <a:lnTo>
                                <a:pt x="14" y="267"/>
                              </a:lnTo>
                              <a:lnTo>
                                <a:pt x="18" y="277"/>
                              </a:lnTo>
                              <a:lnTo>
                                <a:pt x="23" y="284"/>
                              </a:lnTo>
                              <a:lnTo>
                                <a:pt x="32" y="300"/>
                              </a:lnTo>
                              <a:lnTo>
                                <a:pt x="43" y="315"/>
                              </a:lnTo>
                              <a:lnTo>
                                <a:pt x="55" y="329"/>
                              </a:lnTo>
                              <a:lnTo>
                                <a:pt x="69" y="341"/>
                              </a:lnTo>
                              <a:lnTo>
                                <a:pt x="85" y="352"/>
                              </a:lnTo>
                              <a:lnTo>
                                <a:pt x="100" y="361"/>
                              </a:lnTo>
                              <a:lnTo>
                                <a:pt x="108" y="366"/>
                              </a:lnTo>
                              <a:lnTo>
                                <a:pt x="117" y="370"/>
                              </a:lnTo>
                              <a:lnTo>
                                <a:pt x="126" y="374"/>
                              </a:lnTo>
                              <a:lnTo>
                                <a:pt x="134" y="377"/>
                              </a:lnTo>
                              <a:lnTo>
                                <a:pt x="143" y="378"/>
                              </a:lnTo>
                              <a:lnTo>
                                <a:pt x="152" y="381"/>
                              </a:lnTo>
                              <a:lnTo>
                                <a:pt x="161" y="383"/>
                              </a:lnTo>
                              <a:lnTo>
                                <a:pt x="172" y="384"/>
                              </a:lnTo>
                              <a:lnTo>
                                <a:pt x="181" y="384"/>
                              </a:lnTo>
                              <a:lnTo>
                                <a:pt x="192" y="384"/>
                              </a:lnTo>
                              <a:lnTo>
                                <a:pt x="201" y="384"/>
                              </a:lnTo>
                              <a:lnTo>
                                <a:pt x="211" y="384"/>
                              </a:lnTo>
                              <a:lnTo>
                                <a:pt x="221" y="383"/>
                              </a:lnTo>
                              <a:lnTo>
                                <a:pt x="231" y="381"/>
                              </a:lnTo>
                              <a:lnTo>
                                <a:pt x="240" y="378"/>
                              </a:lnTo>
                              <a:lnTo>
                                <a:pt x="249" y="377"/>
                              </a:lnTo>
                              <a:lnTo>
                                <a:pt x="257" y="374"/>
                              </a:lnTo>
                              <a:lnTo>
                                <a:pt x="266" y="370"/>
                              </a:lnTo>
                              <a:lnTo>
                                <a:pt x="275" y="366"/>
                              </a:lnTo>
                              <a:lnTo>
                                <a:pt x="283" y="361"/>
                              </a:lnTo>
                              <a:lnTo>
                                <a:pt x="298" y="352"/>
                              </a:lnTo>
                              <a:lnTo>
                                <a:pt x="314" y="341"/>
                              </a:lnTo>
                              <a:lnTo>
                                <a:pt x="328" y="329"/>
                              </a:lnTo>
                              <a:lnTo>
                                <a:pt x="340" y="315"/>
                              </a:lnTo>
                              <a:lnTo>
                                <a:pt x="351" y="300"/>
                              </a:lnTo>
                              <a:lnTo>
                                <a:pt x="360" y="284"/>
                              </a:lnTo>
                              <a:lnTo>
                                <a:pt x="364" y="277"/>
                              </a:lnTo>
                              <a:lnTo>
                                <a:pt x="369" y="267"/>
                              </a:lnTo>
                              <a:lnTo>
                                <a:pt x="372" y="258"/>
                              </a:lnTo>
                              <a:lnTo>
                                <a:pt x="375" y="251"/>
                              </a:lnTo>
                              <a:lnTo>
                                <a:pt x="378" y="241"/>
                              </a:lnTo>
                              <a:lnTo>
                                <a:pt x="380" y="232"/>
                              </a:lnTo>
                              <a:lnTo>
                                <a:pt x="381" y="221"/>
                              </a:lnTo>
                              <a:lnTo>
                                <a:pt x="383" y="212"/>
                              </a:lnTo>
                              <a:lnTo>
                                <a:pt x="383" y="203"/>
                              </a:lnTo>
                              <a:lnTo>
                                <a:pt x="384" y="192"/>
                              </a:lnTo>
                              <a:lnTo>
                                <a:pt x="383" y="183"/>
                              </a:lnTo>
                              <a:lnTo>
                                <a:pt x="383" y="174"/>
                              </a:lnTo>
                              <a:lnTo>
                                <a:pt x="381" y="163"/>
                              </a:lnTo>
                              <a:lnTo>
                                <a:pt x="380" y="154"/>
                              </a:lnTo>
                              <a:lnTo>
                                <a:pt x="378" y="144"/>
                              </a:lnTo>
                              <a:lnTo>
                                <a:pt x="375" y="135"/>
                              </a:lnTo>
                              <a:lnTo>
                                <a:pt x="372" y="126"/>
                              </a:lnTo>
                              <a:lnTo>
                                <a:pt x="369" y="118"/>
                              </a:lnTo>
                              <a:lnTo>
                                <a:pt x="364" y="109"/>
                              </a:lnTo>
                              <a:lnTo>
                                <a:pt x="360" y="101"/>
                              </a:lnTo>
                              <a:lnTo>
                                <a:pt x="351" y="86"/>
                              </a:lnTo>
                              <a:lnTo>
                                <a:pt x="340" y="71"/>
                              </a:lnTo>
                              <a:lnTo>
                                <a:pt x="328" y="57"/>
                              </a:lnTo>
                              <a:lnTo>
                                <a:pt x="314" y="44"/>
                              </a:lnTo>
                              <a:lnTo>
                                <a:pt x="298" y="34"/>
                              </a:lnTo>
                              <a:lnTo>
                                <a:pt x="283" y="23"/>
                              </a:lnTo>
                              <a:lnTo>
                                <a:pt x="275" y="20"/>
                              </a:lnTo>
                              <a:lnTo>
                                <a:pt x="266" y="15"/>
                              </a:lnTo>
                              <a:lnTo>
                                <a:pt x="257" y="12"/>
                              </a:lnTo>
                              <a:lnTo>
                                <a:pt x="249" y="9"/>
                              </a:lnTo>
                              <a:lnTo>
                                <a:pt x="240" y="6"/>
                              </a:lnTo>
                              <a:lnTo>
                                <a:pt x="231" y="4"/>
                              </a:lnTo>
                              <a:lnTo>
                                <a:pt x="221" y="3"/>
                              </a:lnTo>
                              <a:lnTo>
                                <a:pt x="211" y="1"/>
                              </a:lnTo>
                              <a:lnTo>
                                <a:pt x="201" y="1"/>
                              </a:lnTo>
                              <a:lnTo>
                                <a:pt x="192" y="0"/>
                              </a:lnTo>
                            </a:path>
                          </a:pathLst>
                        </a:custGeom>
                        <a:noFill/>
                        <a:ln w="158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GB"/>
                        </a:p>
                      </p:txBody>
                    </p:sp>
                    <p:sp>
                      <p:nvSpPr>
                        <p:cNvPr id="20532" name="Rectangle 16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81" y="2188"/>
                          <a:ext cx="7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wrap="none" lIns="0" tIns="0" rIns="0" bIns="0">
                          <a:spAutoFit/>
                        </a:bodyPr>
                        <a:lstStyle>
                          <a:lvl1pPr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742950" indent="-28575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11430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6002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2057400" indent="-228600" eaLnBrk="0" hangingPunct="0"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eaLnBrk="1" hangingPunct="1"/>
                          <a:r>
                            <a:rPr lang="en-GB" altLang="en-US" sz="1900">
                              <a:solidFill>
                                <a:srgbClr val="000000"/>
                              </a:solidFill>
                              <a:latin typeface="Times New Roman" pitchFamily="18" charset="0"/>
                            </a:rPr>
                            <a:t>7</a:t>
                          </a:r>
                          <a:endParaRPr lang="en-GB" altLang="en-US"/>
                        </a:p>
                      </p:txBody>
                    </p:sp>
                  </p:grpSp>
                </p:grpSp>
              </p:grpSp>
              <p:sp>
                <p:nvSpPr>
                  <p:cNvPr id="20515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2953" y="2865"/>
                    <a:ext cx="76" cy="1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sz="190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2</a:t>
                    </a:r>
                    <a:endParaRPr lang="en-GB" altLang="en-US"/>
                  </a:p>
                </p:txBody>
              </p:sp>
              <p:sp>
                <p:nvSpPr>
                  <p:cNvPr id="20516" name="Line 1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45" y="3043"/>
                    <a:ext cx="123" cy="117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517" name="Freeform 173"/>
                  <p:cNvSpPr>
                    <a:spLocks/>
                  </p:cNvSpPr>
                  <p:nvPr/>
                </p:nvSpPr>
                <p:spPr bwMode="auto">
                  <a:xfrm>
                    <a:off x="2592" y="3159"/>
                    <a:ext cx="192" cy="192"/>
                  </a:xfrm>
                  <a:custGeom>
                    <a:avLst/>
                    <a:gdLst>
                      <a:gd name="T0" fmla="*/ 5 w 385"/>
                      <a:gd name="T1" fmla="*/ 0 h 384"/>
                      <a:gd name="T2" fmla="*/ 5 w 385"/>
                      <a:gd name="T3" fmla="*/ 1 h 384"/>
                      <a:gd name="T4" fmla="*/ 4 w 385"/>
                      <a:gd name="T5" fmla="*/ 1 h 384"/>
                      <a:gd name="T6" fmla="*/ 3 w 385"/>
                      <a:gd name="T7" fmla="*/ 1 h 384"/>
                      <a:gd name="T8" fmla="*/ 3 w 385"/>
                      <a:gd name="T9" fmla="*/ 1 h 384"/>
                      <a:gd name="T10" fmla="*/ 2 w 385"/>
                      <a:gd name="T11" fmla="*/ 1 h 384"/>
                      <a:gd name="T12" fmla="*/ 1 w 385"/>
                      <a:gd name="T13" fmla="*/ 2 h 384"/>
                      <a:gd name="T14" fmla="*/ 1 w 385"/>
                      <a:gd name="T15" fmla="*/ 3 h 384"/>
                      <a:gd name="T16" fmla="*/ 0 w 385"/>
                      <a:gd name="T17" fmla="*/ 3 h 384"/>
                      <a:gd name="T18" fmla="*/ 0 w 385"/>
                      <a:gd name="T19" fmla="*/ 3 h 384"/>
                      <a:gd name="T20" fmla="*/ 0 w 385"/>
                      <a:gd name="T21" fmla="*/ 5 h 384"/>
                      <a:gd name="T22" fmla="*/ 0 w 385"/>
                      <a:gd name="T23" fmla="*/ 6 h 384"/>
                      <a:gd name="T24" fmla="*/ 0 w 385"/>
                      <a:gd name="T25" fmla="*/ 6 h 384"/>
                      <a:gd name="T26" fmla="*/ 0 w 385"/>
                      <a:gd name="T27" fmla="*/ 6 h 384"/>
                      <a:gd name="T28" fmla="*/ 0 w 385"/>
                      <a:gd name="T29" fmla="*/ 6 h 384"/>
                      <a:gd name="T30" fmla="*/ 0 w 385"/>
                      <a:gd name="T31" fmla="*/ 7 h 384"/>
                      <a:gd name="T32" fmla="*/ 0 w 385"/>
                      <a:gd name="T33" fmla="*/ 9 h 384"/>
                      <a:gd name="T34" fmla="*/ 0 w 385"/>
                      <a:gd name="T35" fmla="*/ 9 h 384"/>
                      <a:gd name="T36" fmla="*/ 1 w 385"/>
                      <a:gd name="T37" fmla="*/ 10 h 384"/>
                      <a:gd name="T38" fmla="*/ 1 w 385"/>
                      <a:gd name="T39" fmla="*/ 11 h 384"/>
                      <a:gd name="T40" fmla="*/ 2 w 385"/>
                      <a:gd name="T41" fmla="*/ 11 h 384"/>
                      <a:gd name="T42" fmla="*/ 3 w 385"/>
                      <a:gd name="T43" fmla="*/ 12 h 384"/>
                      <a:gd name="T44" fmla="*/ 3 w 385"/>
                      <a:gd name="T45" fmla="*/ 12 h 384"/>
                      <a:gd name="T46" fmla="*/ 4 w 385"/>
                      <a:gd name="T47" fmla="*/ 12 h 384"/>
                      <a:gd name="T48" fmla="*/ 5 w 385"/>
                      <a:gd name="T49" fmla="*/ 12 h 384"/>
                      <a:gd name="T50" fmla="*/ 5 w 385"/>
                      <a:gd name="T51" fmla="*/ 12 h 384"/>
                      <a:gd name="T52" fmla="*/ 6 w 385"/>
                      <a:gd name="T53" fmla="*/ 12 h 384"/>
                      <a:gd name="T54" fmla="*/ 6 w 385"/>
                      <a:gd name="T55" fmla="*/ 12 h 384"/>
                      <a:gd name="T56" fmla="*/ 7 w 385"/>
                      <a:gd name="T57" fmla="*/ 12 h 384"/>
                      <a:gd name="T58" fmla="*/ 8 w 385"/>
                      <a:gd name="T59" fmla="*/ 12 h 384"/>
                      <a:gd name="T60" fmla="*/ 8 w 385"/>
                      <a:gd name="T61" fmla="*/ 12 h 384"/>
                      <a:gd name="T62" fmla="*/ 9 w 385"/>
                      <a:gd name="T63" fmla="*/ 11 h 384"/>
                      <a:gd name="T64" fmla="*/ 10 w 385"/>
                      <a:gd name="T65" fmla="*/ 11 h 384"/>
                      <a:gd name="T66" fmla="*/ 10 w 385"/>
                      <a:gd name="T67" fmla="*/ 10 h 384"/>
                      <a:gd name="T68" fmla="*/ 11 w 385"/>
                      <a:gd name="T69" fmla="*/ 9 h 384"/>
                      <a:gd name="T70" fmla="*/ 11 w 385"/>
                      <a:gd name="T71" fmla="*/ 9 h 384"/>
                      <a:gd name="T72" fmla="*/ 11 w 385"/>
                      <a:gd name="T73" fmla="*/ 7 h 384"/>
                      <a:gd name="T74" fmla="*/ 11 w 385"/>
                      <a:gd name="T75" fmla="*/ 6 h 384"/>
                      <a:gd name="T76" fmla="*/ 11 w 385"/>
                      <a:gd name="T77" fmla="*/ 6 h 384"/>
                      <a:gd name="T78" fmla="*/ 11 w 385"/>
                      <a:gd name="T79" fmla="*/ 6 h 384"/>
                      <a:gd name="T80" fmla="*/ 11 w 385"/>
                      <a:gd name="T81" fmla="*/ 6 h 384"/>
                      <a:gd name="T82" fmla="*/ 11 w 385"/>
                      <a:gd name="T83" fmla="*/ 5 h 384"/>
                      <a:gd name="T84" fmla="*/ 11 w 385"/>
                      <a:gd name="T85" fmla="*/ 3 h 384"/>
                      <a:gd name="T86" fmla="*/ 11 w 385"/>
                      <a:gd name="T87" fmla="*/ 3 h 384"/>
                      <a:gd name="T88" fmla="*/ 10 w 385"/>
                      <a:gd name="T89" fmla="*/ 3 h 384"/>
                      <a:gd name="T90" fmla="*/ 10 w 385"/>
                      <a:gd name="T91" fmla="*/ 2 h 384"/>
                      <a:gd name="T92" fmla="*/ 9 w 385"/>
                      <a:gd name="T93" fmla="*/ 1 h 384"/>
                      <a:gd name="T94" fmla="*/ 8 w 385"/>
                      <a:gd name="T95" fmla="*/ 1 h 384"/>
                      <a:gd name="T96" fmla="*/ 8 w 385"/>
                      <a:gd name="T97" fmla="*/ 1 h 384"/>
                      <a:gd name="T98" fmla="*/ 7 w 385"/>
                      <a:gd name="T99" fmla="*/ 1 h 384"/>
                      <a:gd name="T100" fmla="*/ 6 w 385"/>
                      <a:gd name="T101" fmla="*/ 1 h 384"/>
                      <a:gd name="T102" fmla="*/ 6 w 385"/>
                      <a:gd name="T103" fmla="*/ 0 h 384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w 385"/>
                      <a:gd name="T157" fmla="*/ 0 h 384"/>
                      <a:gd name="T158" fmla="*/ 385 w 385"/>
                      <a:gd name="T159" fmla="*/ 384 h 384"/>
                    </a:gdLst>
                    <a:ahLst/>
                    <a:cxnLst>
                      <a:cxn ang="T104">
                        <a:pos x="T0" y="T1"/>
                      </a:cxn>
                      <a:cxn ang="T105">
                        <a:pos x="T2" y="T3"/>
                      </a:cxn>
                      <a:cxn ang="T106">
                        <a:pos x="T4" y="T5"/>
                      </a:cxn>
                      <a:cxn ang="T107">
                        <a:pos x="T6" y="T7"/>
                      </a:cxn>
                      <a:cxn ang="T108">
                        <a:pos x="T8" y="T9"/>
                      </a:cxn>
                      <a:cxn ang="T109">
                        <a:pos x="T10" y="T11"/>
                      </a:cxn>
                      <a:cxn ang="T110">
                        <a:pos x="T12" y="T13"/>
                      </a:cxn>
                      <a:cxn ang="T111">
                        <a:pos x="T14" y="T15"/>
                      </a:cxn>
                      <a:cxn ang="T112">
                        <a:pos x="T16" y="T17"/>
                      </a:cxn>
                      <a:cxn ang="T113">
                        <a:pos x="T18" y="T19"/>
                      </a:cxn>
                      <a:cxn ang="T114">
                        <a:pos x="T20" y="T21"/>
                      </a:cxn>
                      <a:cxn ang="T115">
                        <a:pos x="T22" y="T23"/>
                      </a:cxn>
                      <a:cxn ang="T116">
                        <a:pos x="T24" y="T25"/>
                      </a:cxn>
                      <a:cxn ang="T117">
                        <a:pos x="T26" y="T27"/>
                      </a:cxn>
                      <a:cxn ang="T118">
                        <a:pos x="T28" y="T29"/>
                      </a:cxn>
                      <a:cxn ang="T119">
                        <a:pos x="T30" y="T31"/>
                      </a:cxn>
                      <a:cxn ang="T120">
                        <a:pos x="T32" y="T33"/>
                      </a:cxn>
                      <a:cxn ang="T121">
                        <a:pos x="T34" y="T35"/>
                      </a:cxn>
                      <a:cxn ang="T122">
                        <a:pos x="T36" y="T37"/>
                      </a:cxn>
                      <a:cxn ang="T123">
                        <a:pos x="T38" y="T39"/>
                      </a:cxn>
                      <a:cxn ang="T124">
                        <a:pos x="T40" y="T41"/>
                      </a:cxn>
                      <a:cxn ang="T125">
                        <a:pos x="T42" y="T43"/>
                      </a:cxn>
                      <a:cxn ang="T126">
                        <a:pos x="T44" y="T45"/>
                      </a:cxn>
                      <a:cxn ang="T127">
                        <a:pos x="T46" y="T47"/>
                      </a:cxn>
                      <a:cxn ang="T128">
                        <a:pos x="T48" y="T49"/>
                      </a:cxn>
                      <a:cxn ang="T129">
                        <a:pos x="T50" y="T51"/>
                      </a:cxn>
                      <a:cxn ang="T130">
                        <a:pos x="T52" y="T53"/>
                      </a:cxn>
                      <a:cxn ang="T131">
                        <a:pos x="T54" y="T55"/>
                      </a:cxn>
                      <a:cxn ang="T132">
                        <a:pos x="T56" y="T57"/>
                      </a:cxn>
                      <a:cxn ang="T133">
                        <a:pos x="T58" y="T59"/>
                      </a:cxn>
                      <a:cxn ang="T134">
                        <a:pos x="T60" y="T61"/>
                      </a:cxn>
                      <a:cxn ang="T135">
                        <a:pos x="T62" y="T63"/>
                      </a:cxn>
                      <a:cxn ang="T136">
                        <a:pos x="T64" y="T65"/>
                      </a:cxn>
                      <a:cxn ang="T137">
                        <a:pos x="T66" y="T67"/>
                      </a:cxn>
                      <a:cxn ang="T138">
                        <a:pos x="T68" y="T69"/>
                      </a:cxn>
                      <a:cxn ang="T139">
                        <a:pos x="T70" y="T71"/>
                      </a:cxn>
                      <a:cxn ang="T140">
                        <a:pos x="T72" y="T73"/>
                      </a:cxn>
                      <a:cxn ang="T141">
                        <a:pos x="T74" y="T75"/>
                      </a:cxn>
                      <a:cxn ang="T142">
                        <a:pos x="T76" y="T77"/>
                      </a:cxn>
                      <a:cxn ang="T143">
                        <a:pos x="T78" y="T79"/>
                      </a:cxn>
                      <a:cxn ang="T144">
                        <a:pos x="T80" y="T81"/>
                      </a:cxn>
                      <a:cxn ang="T145">
                        <a:pos x="T82" y="T83"/>
                      </a:cxn>
                      <a:cxn ang="T146">
                        <a:pos x="T84" y="T85"/>
                      </a:cxn>
                      <a:cxn ang="T147">
                        <a:pos x="T86" y="T87"/>
                      </a:cxn>
                      <a:cxn ang="T148">
                        <a:pos x="T88" y="T89"/>
                      </a:cxn>
                      <a:cxn ang="T149">
                        <a:pos x="T90" y="T91"/>
                      </a:cxn>
                      <a:cxn ang="T150">
                        <a:pos x="T92" y="T93"/>
                      </a:cxn>
                      <a:cxn ang="T151">
                        <a:pos x="T94" y="T95"/>
                      </a:cxn>
                      <a:cxn ang="T152">
                        <a:pos x="T96" y="T97"/>
                      </a:cxn>
                      <a:cxn ang="T153">
                        <a:pos x="T98" y="T99"/>
                      </a:cxn>
                      <a:cxn ang="T154">
                        <a:pos x="T100" y="T101"/>
                      </a:cxn>
                      <a:cxn ang="T155">
                        <a:pos x="T102" y="T103"/>
                      </a:cxn>
                    </a:cxnLst>
                    <a:rect l="T156" t="T157" r="T158" b="T159"/>
                    <a:pathLst>
                      <a:path w="385" h="384">
                        <a:moveTo>
                          <a:pt x="193" y="0"/>
                        </a:moveTo>
                        <a:lnTo>
                          <a:pt x="182" y="0"/>
                        </a:lnTo>
                        <a:lnTo>
                          <a:pt x="173" y="0"/>
                        </a:lnTo>
                        <a:lnTo>
                          <a:pt x="162" y="1"/>
                        </a:lnTo>
                        <a:lnTo>
                          <a:pt x="153" y="3"/>
                        </a:lnTo>
                        <a:lnTo>
                          <a:pt x="143" y="4"/>
                        </a:lnTo>
                        <a:lnTo>
                          <a:pt x="134" y="7"/>
                        </a:lnTo>
                        <a:lnTo>
                          <a:pt x="126" y="10"/>
                        </a:lnTo>
                        <a:lnTo>
                          <a:pt x="117" y="13"/>
                        </a:lnTo>
                        <a:lnTo>
                          <a:pt x="108" y="18"/>
                        </a:lnTo>
                        <a:lnTo>
                          <a:pt x="100" y="23"/>
                        </a:lnTo>
                        <a:lnTo>
                          <a:pt x="85" y="32"/>
                        </a:lnTo>
                        <a:lnTo>
                          <a:pt x="69" y="43"/>
                        </a:lnTo>
                        <a:lnTo>
                          <a:pt x="56" y="55"/>
                        </a:lnTo>
                        <a:lnTo>
                          <a:pt x="43" y="69"/>
                        </a:lnTo>
                        <a:lnTo>
                          <a:pt x="33" y="84"/>
                        </a:lnTo>
                        <a:lnTo>
                          <a:pt x="23" y="100"/>
                        </a:lnTo>
                        <a:lnTo>
                          <a:pt x="19" y="107"/>
                        </a:lnTo>
                        <a:lnTo>
                          <a:pt x="14" y="116"/>
                        </a:lnTo>
                        <a:lnTo>
                          <a:pt x="11" y="126"/>
                        </a:lnTo>
                        <a:lnTo>
                          <a:pt x="8" y="133"/>
                        </a:lnTo>
                        <a:lnTo>
                          <a:pt x="5" y="143"/>
                        </a:lnTo>
                        <a:lnTo>
                          <a:pt x="3" y="152"/>
                        </a:lnTo>
                        <a:lnTo>
                          <a:pt x="2" y="161"/>
                        </a:lnTo>
                        <a:lnTo>
                          <a:pt x="0" y="172"/>
                        </a:lnTo>
                        <a:lnTo>
                          <a:pt x="0" y="181"/>
                        </a:lnTo>
                        <a:lnTo>
                          <a:pt x="0" y="192"/>
                        </a:lnTo>
                        <a:lnTo>
                          <a:pt x="0" y="201"/>
                        </a:lnTo>
                        <a:lnTo>
                          <a:pt x="0" y="210"/>
                        </a:lnTo>
                        <a:lnTo>
                          <a:pt x="2" y="221"/>
                        </a:lnTo>
                        <a:lnTo>
                          <a:pt x="3" y="230"/>
                        </a:lnTo>
                        <a:lnTo>
                          <a:pt x="5" y="240"/>
                        </a:lnTo>
                        <a:lnTo>
                          <a:pt x="8" y="249"/>
                        </a:lnTo>
                        <a:lnTo>
                          <a:pt x="11" y="258"/>
                        </a:lnTo>
                        <a:lnTo>
                          <a:pt x="14" y="266"/>
                        </a:lnTo>
                        <a:lnTo>
                          <a:pt x="19" y="275"/>
                        </a:lnTo>
                        <a:lnTo>
                          <a:pt x="23" y="283"/>
                        </a:lnTo>
                        <a:lnTo>
                          <a:pt x="33" y="298"/>
                        </a:lnTo>
                        <a:lnTo>
                          <a:pt x="43" y="313"/>
                        </a:lnTo>
                        <a:lnTo>
                          <a:pt x="56" y="327"/>
                        </a:lnTo>
                        <a:lnTo>
                          <a:pt x="69" y="340"/>
                        </a:lnTo>
                        <a:lnTo>
                          <a:pt x="85" y="350"/>
                        </a:lnTo>
                        <a:lnTo>
                          <a:pt x="100" y="360"/>
                        </a:lnTo>
                        <a:lnTo>
                          <a:pt x="108" y="364"/>
                        </a:lnTo>
                        <a:lnTo>
                          <a:pt x="117" y="369"/>
                        </a:lnTo>
                        <a:lnTo>
                          <a:pt x="126" y="372"/>
                        </a:lnTo>
                        <a:lnTo>
                          <a:pt x="134" y="375"/>
                        </a:lnTo>
                        <a:lnTo>
                          <a:pt x="143" y="378"/>
                        </a:lnTo>
                        <a:lnTo>
                          <a:pt x="153" y="379"/>
                        </a:lnTo>
                        <a:lnTo>
                          <a:pt x="162" y="381"/>
                        </a:lnTo>
                        <a:lnTo>
                          <a:pt x="173" y="383"/>
                        </a:lnTo>
                        <a:lnTo>
                          <a:pt x="182" y="383"/>
                        </a:lnTo>
                        <a:lnTo>
                          <a:pt x="193" y="384"/>
                        </a:lnTo>
                        <a:lnTo>
                          <a:pt x="202" y="383"/>
                        </a:lnTo>
                        <a:lnTo>
                          <a:pt x="211" y="383"/>
                        </a:lnTo>
                        <a:lnTo>
                          <a:pt x="222" y="381"/>
                        </a:lnTo>
                        <a:lnTo>
                          <a:pt x="231" y="379"/>
                        </a:lnTo>
                        <a:lnTo>
                          <a:pt x="240" y="378"/>
                        </a:lnTo>
                        <a:lnTo>
                          <a:pt x="249" y="375"/>
                        </a:lnTo>
                        <a:lnTo>
                          <a:pt x="259" y="372"/>
                        </a:lnTo>
                        <a:lnTo>
                          <a:pt x="266" y="369"/>
                        </a:lnTo>
                        <a:lnTo>
                          <a:pt x="276" y="364"/>
                        </a:lnTo>
                        <a:lnTo>
                          <a:pt x="283" y="360"/>
                        </a:lnTo>
                        <a:lnTo>
                          <a:pt x="299" y="350"/>
                        </a:lnTo>
                        <a:lnTo>
                          <a:pt x="314" y="340"/>
                        </a:lnTo>
                        <a:lnTo>
                          <a:pt x="328" y="327"/>
                        </a:lnTo>
                        <a:lnTo>
                          <a:pt x="340" y="313"/>
                        </a:lnTo>
                        <a:lnTo>
                          <a:pt x="351" y="298"/>
                        </a:lnTo>
                        <a:lnTo>
                          <a:pt x="360" y="283"/>
                        </a:lnTo>
                        <a:lnTo>
                          <a:pt x="365" y="275"/>
                        </a:lnTo>
                        <a:lnTo>
                          <a:pt x="369" y="266"/>
                        </a:lnTo>
                        <a:lnTo>
                          <a:pt x="372" y="258"/>
                        </a:lnTo>
                        <a:lnTo>
                          <a:pt x="376" y="249"/>
                        </a:lnTo>
                        <a:lnTo>
                          <a:pt x="379" y="240"/>
                        </a:lnTo>
                        <a:lnTo>
                          <a:pt x="380" y="230"/>
                        </a:lnTo>
                        <a:lnTo>
                          <a:pt x="382" y="221"/>
                        </a:lnTo>
                        <a:lnTo>
                          <a:pt x="383" y="210"/>
                        </a:lnTo>
                        <a:lnTo>
                          <a:pt x="383" y="201"/>
                        </a:lnTo>
                        <a:lnTo>
                          <a:pt x="385" y="192"/>
                        </a:lnTo>
                        <a:lnTo>
                          <a:pt x="383" y="181"/>
                        </a:lnTo>
                        <a:lnTo>
                          <a:pt x="383" y="172"/>
                        </a:lnTo>
                        <a:lnTo>
                          <a:pt x="382" y="161"/>
                        </a:lnTo>
                        <a:lnTo>
                          <a:pt x="380" y="152"/>
                        </a:lnTo>
                        <a:lnTo>
                          <a:pt x="379" y="143"/>
                        </a:lnTo>
                        <a:lnTo>
                          <a:pt x="376" y="133"/>
                        </a:lnTo>
                        <a:lnTo>
                          <a:pt x="372" y="126"/>
                        </a:lnTo>
                        <a:lnTo>
                          <a:pt x="369" y="116"/>
                        </a:lnTo>
                        <a:lnTo>
                          <a:pt x="365" y="107"/>
                        </a:lnTo>
                        <a:lnTo>
                          <a:pt x="360" y="100"/>
                        </a:lnTo>
                        <a:lnTo>
                          <a:pt x="351" y="84"/>
                        </a:lnTo>
                        <a:lnTo>
                          <a:pt x="340" y="69"/>
                        </a:lnTo>
                        <a:lnTo>
                          <a:pt x="328" y="55"/>
                        </a:lnTo>
                        <a:lnTo>
                          <a:pt x="314" y="43"/>
                        </a:lnTo>
                        <a:lnTo>
                          <a:pt x="299" y="32"/>
                        </a:lnTo>
                        <a:lnTo>
                          <a:pt x="283" y="23"/>
                        </a:lnTo>
                        <a:lnTo>
                          <a:pt x="276" y="18"/>
                        </a:lnTo>
                        <a:lnTo>
                          <a:pt x="266" y="13"/>
                        </a:lnTo>
                        <a:lnTo>
                          <a:pt x="259" y="10"/>
                        </a:lnTo>
                        <a:lnTo>
                          <a:pt x="249" y="7"/>
                        </a:lnTo>
                        <a:lnTo>
                          <a:pt x="240" y="4"/>
                        </a:lnTo>
                        <a:lnTo>
                          <a:pt x="231" y="3"/>
                        </a:lnTo>
                        <a:lnTo>
                          <a:pt x="222" y="1"/>
                        </a:lnTo>
                        <a:lnTo>
                          <a:pt x="211" y="0"/>
                        </a:lnTo>
                        <a:lnTo>
                          <a:pt x="202" y="0"/>
                        </a:lnTo>
                        <a:lnTo>
                          <a:pt x="193" y="0"/>
                        </a:lnTo>
                      </a:path>
                    </a:pathLst>
                  </a:cu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518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2684" y="3173"/>
                    <a:ext cx="76" cy="1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sz="190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1</a:t>
                    </a:r>
                    <a:endParaRPr lang="en-GB" altLang="en-US"/>
                  </a:p>
                </p:txBody>
              </p:sp>
              <p:sp>
                <p:nvSpPr>
                  <p:cNvPr id="20519" name="Freeform 175"/>
                  <p:cNvSpPr>
                    <a:spLocks/>
                  </p:cNvSpPr>
                  <p:nvPr/>
                </p:nvSpPr>
                <p:spPr bwMode="auto">
                  <a:xfrm>
                    <a:off x="3207" y="2544"/>
                    <a:ext cx="192" cy="192"/>
                  </a:xfrm>
                  <a:custGeom>
                    <a:avLst/>
                    <a:gdLst>
                      <a:gd name="T0" fmla="*/ 6 w 384"/>
                      <a:gd name="T1" fmla="*/ 0 h 385"/>
                      <a:gd name="T2" fmla="*/ 6 w 384"/>
                      <a:gd name="T3" fmla="*/ 0 h 385"/>
                      <a:gd name="T4" fmla="*/ 5 w 384"/>
                      <a:gd name="T5" fmla="*/ 0 h 385"/>
                      <a:gd name="T6" fmla="*/ 3 w 384"/>
                      <a:gd name="T7" fmla="*/ 0 h 385"/>
                      <a:gd name="T8" fmla="*/ 3 w 384"/>
                      <a:gd name="T9" fmla="*/ 0 h 385"/>
                      <a:gd name="T10" fmla="*/ 3 w 384"/>
                      <a:gd name="T11" fmla="*/ 1 h 385"/>
                      <a:gd name="T12" fmla="*/ 2 w 384"/>
                      <a:gd name="T13" fmla="*/ 1 h 385"/>
                      <a:gd name="T14" fmla="*/ 1 w 384"/>
                      <a:gd name="T15" fmla="*/ 2 h 385"/>
                      <a:gd name="T16" fmla="*/ 1 w 384"/>
                      <a:gd name="T17" fmla="*/ 3 h 385"/>
                      <a:gd name="T18" fmla="*/ 1 w 384"/>
                      <a:gd name="T19" fmla="*/ 3 h 385"/>
                      <a:gd name="T20" fmla="*/ 1 w 384"/>
                      <a:gd name="T21" fmla="*/ 4 h 385"/>
                      <a:gd name="T22" fmla="*/ 1 w 384"/>
                      <a:gd name="T23" fmla="*/ 5 h 385"/>
                      <a:gd name="T24" fmla="*/ 0 w 384"/>
                      <a:gd name="T25" fmla="*/ 5 h 385"/>
                      <a:gd name="T26" fmla="*/ 0 w 384"/>
                      <a:gd name="T27" fmla="*/ 6 h 385"/>
                      <a:gd name="T28" fmla="*/ 1 w 384"/>
                      <a:gd name="T29" fmla="*/ 6 h 385"/>
                      <a:gd name="T30" fmla="*/ 1 w 384"/>
                      <a:gd name="T31" fmla="*/ 7 h 385"/>
                      <a:gd name="T32" fmla="*/ 1 w 384"/>
                      <a:gd name="T33" fmla="*/ 8 h 385"/>
                      <a:gd name="T34" fmla="*/ 1 w 384"/>
                      <a:gd name="T35" fmla="*/ 8 h 385"/>
                      <a:gd name="T36" fmla="*/ 1 w 384"/>
                      <a:gd name="T37" fmla="*/ 9 h 385"/>
                      <a:gd name="T38" fmla="*/ 2 w 384"/>
                      <a:gd name="T39" fmla="*/ 10 h 385"/>
                      <a:gd name="T40" fmla="*/ 3 w 384"/>
                      <a:gd name="T41" fmla="*/ 10 h 385"/>
                      <a:gd name="T42" fmla="*/ 3 w 384"/>
                      <a:gd name="T43" fmla="*/ 11 h 385"/>
                      <a:gd name="T44" fmla="*/ 3 w 384"/>
                      <a:gd name="T45" fmla="*/ 11 h 385"/>
                      <a:gd name="T46" fmla="*/ 5 w 384"/>
                      <a:gd name="T47" fmla="*/ 11 h 385"/>
                      <a:gd name="T48" fmla="*/ 6 w 384"/>
                      <a:gd name="T49" fmla="*/ 11 h 385"/>
                      <a:gd name="T50" fmla="*/ 6 w 384"/>
                      <a:gd name="T51" fmla="*/ 11 h 385"/>
                      <a:gd name="T52" fmla="*/ 6 w 384"/>
                      <a:gd name="T53" fmla="*/ 11 h 385"/>
                      <a:gd name="T54" fmla="*/ 6 w 384"/>
                      <a:gd name="T55" fmla="*/ 11 h 385"/>
                      <a:gd name="T56" fmla="*/ 7 w 384"/>
                      <a:gd name="T57" fmla="*/ 11 h 385"/>
                      <a:gd name="T58" fmla="*/ 9 w 384"/>
                      <a:gd name="T59" fmla="*/ 11 h 385"/>
                      <a:gd name="T60" fmla="*/ 9 w 384"/>
                      <a:gd name="T61" fmla="*/ 11 h 385"/>
                      <a:gd name="T62" fmla="*/ 10 w 384"/>
                      <a:gd name="T63" fmla="*/ 10 h 385"/>
                      <a:gd name="T64" fmla="*/ 11 w 384"/>
                      <a:gd name="T65" fmla="*/ 10 h 385"/>
                      <a:gd name="T66" fmla="*/ 11 w 384"/>
                      <a:gd name="T67" fmla="*/ 9 h 385"/>
                      <a:gd name="T68" fmla="*/ 12 w 384"/>
                      <a:gd name="T69" fmla="*/ 8 h 385"/>
                      <a:gd name="T70" fmla="*/ 12 w 384"/>
                      <a:gd name="T71" fmla="*/ 8 h 385"/>
                      <a:gd name="T72" fmla="*/ 12 w 384"/>
                      <a:gd name="T73" fmla="*/ 7 h 385"/>
                      <a:gd name="T74" fmla="*/ 12 w 384"/>
                      <a:gd name="T75" fmla="*/ 6 h 385"/>
                      <a:gd name="T76" fmla="*/ 12 w 384"/>
                      <a:gd name="T77" fmla="*/ 6 h 385"/>
                      <a:gd name="T78" fmla="*/ 12 w 384"/>
                      <a:gd name="T79" fmla="*/ 5 h 385"/>
                      <a:gd name="T80" fmla="*/ 12 w 384"/>
                      <a:gd name="T81" fmla="*/ 5 h 385"/>
                      <a:gd name="T82" fmla="*/ 12 w 384"/>
                      <a:gd name="T83" fmla="*/ 4 h 385"/>
                      <a:gd name="T84" fmla="*/ 12 w 384"/>
                      <a:gd name="T85" fmla="*/ 3 h 385"/>
                      <a:gd name="T86" fmla="*/ 12 w 384"/>
                      <a:gd name="T87" fmla="*/ 3 h 385"/>
                      <a:gd name="T88" fmla="*/ 11 w 384"/>
                      <a:gd name="T89" fmla="*/ 2 h 385"/>
                      <a:gd name="T90" fmla="*/ 11 w 384"/>
                      <a:gd name="T91" fmla="*/ 1 h 385"/>
                      <a:gd name="T92" fmla="*/ 10 w 384"/>
                      <a:gd name="T93" fmla="*/ 1 h 385"/>
                      <a:gd name="T94" fmla="*/ 9 w 384"/>
                      <a:gd name="T95" fmla="*/ 0 h 385"/>
                      <a:gd name="T96" fmla="*/ 9 w 384"/>
                      <a:gd name="T97" fmla="*/ 0 h 385"/>
                      <a:gd name="T98" fmla="*/ 7 w 384"/>
                      <a:gd name="T99" fmla="*/ 0 h 385"/>
                      <a:gd name="T100" fmla="*/ 6 w 384"/>
                      <a:gd name="T101" fmla="*/ 0 h 385"/>
                      <a:gd name="T102" fmla="*/ 6 w 384"/>
                      <a:gd name="T103" fmla="*/ 0 h 385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w 384"/>
                      <a:gd name="T157" fmla="*/ 0 h 385"/>
                      <a:gd name="T158" fmla="*/ 384 w 384"/>
                      <a:gd name="T159" fmla="*/ 385 h 385"/>
                    </a:gdLst>
                    <a:ahLst/>
                    <a:cxnLst>
                      <a:cxn ang="T104">
                        <a:pos x="T0" y="T1"/>
                      </a:cxn>
                      <a:cxn ang="T105">
                        <a:pos x="T2" y="T3"/>
                      </a:cxn>
                      <a:cxn ang="T106">
                        <a:pos x="T4" y="T5"/>
                      </a:cxn>
                      <a:cxn ang="T107">
                        <a:pos x="T6" y="T7"/>
                      </a:cxn>
                      <a:cxn ang="T108">
                        <a:pos x="T8" y="T9"/>
                      </a:cxn>
                      <a:cxn ang="T109">
                        <a:pos x="T10" y="T11"/>
                      </a:cxn>
                      <a:cxn ang="T110">
                        <a:pos x="T12" y="T13"/>
                      </a:cxn>
                      <a:cxn ang="T111">
                        <a:pos x="T14" y="T15"/>
                      </a:cxn>
                      <a:cxn ang="T112">
                        <a:pos x="T16" y="T17"/>
                      </a:cxn>
                      <a:cxn ang="T113">
                        <a:pos x="T18" y="T19"/>
                      </a:cxn>
                      <a:cxn ang="T114">
                        <a:pos x="T20" y="T21"/>
                      </a:cxn>
                      <a:cxn ang="T115">
                        <a:pos x="T22" y="T23"/>
                      </a:cxn>
                      <a:cxn ang="T116">
                        <a:pos x="T24" y="T25"/>
                      </a:cxn>
                      <a:cxn ang="T117">
                        <a:pos x="T26" y="T27"/>
                      </a:cxn>
                      <a:cxn ang="T118">
                        <a:pos x="T28" y="T29"/>
                      </a:cxn>
                      <a:cxn ang="T119">
                        <a:pos x="T30" y="T31"/>
                      </a:cxn>
                      <a:cxn ang="T120">
                        <a:pos x="T32" y="T33"/>
                      </a:cxn>
                      <a:cxn ang="T121">
                        <a:pos x="T34" y="T35"/>
                      </a:cxn>
                      <a:cxn ang="T122">
                        <a:pos x="T36" y="T37"/>
                      </a:cxn>
                      <a:cxn ang="T123">
                        <a:pos x="T38" y="T39"/>
                      </a:cxn>
                      <a:cxn ang="T124">
                        <a:pos x="T40" y="T41"/>
                      </a:cxn>
                      <a:cxn ang="T125">
                        <a:pos x="T42" y="T43"/>
                      </a:cxn>
                      <a:cxn ang="T126">
                        <a:pos x="T44" y="T45"/>
                      </a:cxn>
                      <a:cxn ang="T127">
                        <a:pos x="T46" y="T47"/>
                      </a:cxn>
                      <a:cxn ang="T128">
                        <a:pos x="T48" y="T49"/>
                      </a:cxn>
                      <a:cxn ang="T129">
                        <a:pos x="T50" y="T51"/>
                      </a:cxn>
                      <a:cxn ang="T130">
                        <a:pos x="T52" y="T53"/>
                      </a:cxn>
                      <a:cxn ang="T131">
                        <a:pos x="T54" y="T55"/>
                      </a:cxn>
                      <a:cxn ang="T132">
                        <a:pos x="T56" y="T57"/>
                      </a:cxn>
                      <a:cxn ang="T133">
                        <a:pos x="T58" y="T59"/>
                      </a:cxn>
                      <a:cxn ang="T134">
                        <a:pos x="T60" y="T61"/>
                      </a:cxn>
                      <a:cxn ang="T135">
                        <a:pos x="T62" y="T63"/>
                      </a:cxn>
                      <a:cxn ang="T136">
                        <a:pos x="T64" y="T65"/>
                      </a:cxn>
                      <a:cxn ang="T137">
                        <a:pos x="T66" y="T67"/>
                      </a:cxn>
                      <a:cxn ang="T138">
                        <a:pos x="T68" y="T69"/>
                      </a:cxn>
                      <a:cxn ang="T139">
                        <a:pos x="T70" y="T71"/>
                      </a:cxn>
                      <a:cxn ang="T140">
                        <a:pos x="T72" y="T73"/>
                      </a:cxn>
                      <a:cxn ang="T141">
                        <a:pos x="T74" y="T75"/>
                      </a:cxn>
                      <a:cxn ang="T142">
                        <a:pos x="T76" y="T77"/>
                      </a:cxn>
                      <a:cxn ang="T143">
                        <a:pos x="T78" y="T79"/>
                      </a:cxn>
                      <a:cxn ang="T144">
                        <a:pos x="T80" y="T81"/>
                      </a:cxn>
                      <a:cxn ang="T145">
                        <a:pos x="T82" y="T83"/>
                      </a:cxn>
                      <a:cxn ang="T146">
                        <a:pos x="T84" y="T85"/>
                      </a:cxn>
                      <a:cxn ang="T147">
                        <a:pos x="T86" y="T87"/>
                      </a:cxn>
                      <a:cxn ang="T148">
                        <a:pos x="T88" y="T89"/>
                      </a:cxn>
                      <a:cxn ang="T149">
                        <a:pos x="T90" y="T91"/>
                      </a:cxn>
                      <a:cxn ang="T150">
                        <a:pos x="T92" y="T93"/>
                      </a:cxn>
                      <a:cxn ang="T151">
                        <a:pos x="T94" y="T95"/>
                      </a:cxn>
                      <a:cxn ang="T152">
                        <a:pos x="T96" y="T97"/>
                      </a:cxn>
                      <a:cxn ang="T153">
                        <a:pos x="T98" y="T99"/>
                      </a:cxn>
                      <a:cxn ang="T154">
                        <a:pos x="T100" y="T101"/>
                      </a:cxn>
                      <a:cxn ang="T155">
                        <a:pos x="T102" y="T103"/>
                      </a:cxn>
                    </a:cxnLst>
                    <a:rect l="T156" t="T157" r="T158" b="T159"/>
                    <a:pathLst>
                      <a:path w="384" h="385">
                        <a:moveTo>
                          <a:pt x="192" y="0"/>
                        </a:moveTo>
                        <a:lnTo>
                          <a:pt x="181" y="0"/>
                        </a:lnTo>
                        <a:lnTo>
                          <a:pt x="172" y="0"/>
                        </a:lnTo>
                        <a:lnTo>
                          <a:pt x="161" y="2"/>
                        </a:lnTo>
                        <a:lnTo>
                          <a:pt x="152" y="3"/>
                        </a:lnTo>
                        <a:lnTo>
                          <a:pt x="143" y="5"/>
                        </a:lnTo>
                        <a:lnTo>
                          <a:pt x="134" y="8"/>
                        </a:lnTo>
                        <a:lnTo>
                          <a:pt x="126" y="11"/>
                        </a:lnTo>
                        <a:lnTo>
                          <a:pt x="117" y="14"/>
                        </a:lnTo>
                        <a:lnTo>
                          <a:pt x="107" y="19"/>
                        </a:lnTo>
                        <a:lnTo>
                          <a:pt x="100" y="23"/>
                        </a:lnTo>
                        <a:lnTo>
                          <a:pt x="84" y="33"/>
                        </a:lnTo>
                        <a:lnTo>
                          <a:pt x="69" y="43"/>
                        </a:lnTo>
                        <a:lnTo>
                          <a:pt x="55" y="56"/>
                        </a:lnTo>
                        <a:lnTo>
                          <a:pt x="43" y="69"/>
                        </a:lnTo>
                        <a:lnTo>
                          <a:pt x="32" y="85"/>
                        </a:lnTo>
                        <a:lnTo>
                          <a:pt x="23" y="100"/>
                        </a:lnTo>
                        <a:lnTo>
                          <a:pt x="18" y="108"/>
                        </a:lnTo>
                        <a:lnTo>
                          <a:pt x="14" y="117"/>
                        </a:lnTo>
                        <a:lnTo>
                          <a:pt x="11" y="126"/>
                        </a:lnTo>
                        <a:lnTo>
                          <a:pt x="7" y="134"/>
                        </a:lnTo>
                        <a:lnTo>
                          <a:pt x="4" y="143"/>
                        </a:lnTo>
                        <a:lnTo>
                          <a:pt x="3" y="152"/>
                        </a:lnTo>
                        <a:lnTo>
                          <a:pt x="1" y="162"/>
                        </a:lnTo>
                        <a:lnTo>
                          <a:pt x="0" y="172"/>
                        </a:lnTo>
                        <a:lnTo>
                          <a:pt x="0" y="182"/>
                        </a:lnTo>
                        <a:lnTo>
                          <a:pt x="0" y="192"/>
                        </a:lnTo>
                        <a:lnTo>
                          <a:pt x="0" y="202"/>
                        </a:lnTo>
                        <a:lnTo>
                          <a:pt x="0" y="211"/>
                        </a:lnTo>
                        <a:lnTo>
                          <a:pt x="1" y="222"/>
                        </a:lnTo>
                        <a:lnTo>
                          <a:pt x="3" y="231"/>
                        </a:lnTo>
                        <a:lnTo>
                          <a:pt x="4" y="240"/>
                        </a:lnTo>
                        <a:lnTo>
                          <a:pt x="7" y="249"/>
                        </a:lnTo>
                        <a:lnTo>
                          <a:pt x="11" y="259"/>
                        </a:lnTo>
                        <a:lnTo>
                          <a:pt x="14" y="266"/>
                        </a:lnTo>
                        <a:lnTo>
                          <a:pt x="18" y="276"/>
                        </a:lnTo>
                        <a:lnTo>
                          <a:pt x="23" y="283"/>
                        </a:lnTo>
                        <a:lnTo>
                          <a:pt x="32" y="299"/>
                        </a:lnTo>
                        <a:lnTo>
                          <a:pt x="43" y="314"/>
                        </a:lnTo>
                        <a:lnTo>
                          <a:pt x="55" y="328"/>
                        </a:lnTo>
                        <a:lnTo>
                          <a:pt x="69" y="340"/>
                        </a:lnTo>
                        <a:lnTo>
                          <a:pt x="84" y="351"/>
                        </a:lnTo>
                        <a:lnTo>
                          <a:pt x="100" y="360"/>
                        </a:lnTo>
                        <a:lnTo>
                          <a:pt x="107" y="365"/>
                        </a:lnTo>
                        <a:lnTo>
                          <a:pt x="117" y="369"/>
                        </a:lnTo>
                        <a:lnTo>
                          <a:pt x="126" y="372"/>
                        </a:lnTo>
                        <a:lnTo>
                          <a:pt x="134" y="375"/>
                        </a:lnTo>
                        <a:lnTo>
                          <a:pt x="143" y="379"/>
                        </a:lnTo>
                        <a:lnTo>
                          <a:pt x="152" y="380"/>
                        </a:lnTo>
                        <a:lnTo>
                          <a:pt x="161" y="382"/>
                        </a:lnTo>
                        <a:lnTo>
                          <a:pt x="172" y="383"/>
                        </a:lnTo>
                        <a:lnTo>
                          <a:pt x="181" y="383"/>
                        </a:lnTo>
                        <a:lnTo>
                          <a:pt x="192" y="385"/>
                        </a:lnTo>
                        <a:lnTo>
                          <a:pt x="201" y="383"/>
                        </a:lnTo>
                        <a:lnTo>
                          <a:pt x="210" y="383"/>
                        </a:lnTo>
                        <a:lnTo>
                          <a:pt x="221" y="382"/>
                        </a:lnTo>
                        <a:lnTo>
                          <a:pt x="230" y="380"/>
                        </a:lnTo>
                        <a:lnTo>
                          <a:pt x="240" y="379"/>
                        </a:lnTo>
                        <a:lnTo>
                          <a:pt x="249" y="375"/>
                        </a:lnTo>
                        <a:lnTo>
                          <a:pt x="258" y="372"/>
                        </a:lnTo>
                        <a:lnTo>
                          <a:pt x="266" y="369"/>
                        </a:lnTo>
                        <a:lnTo>
                          <a:pt x="275" y="365"/>
                        </a:lnTo>
                        <a:lnTo>
                          <a:pt x="283" y="360"/>
                        </a:lnTo>
                        <a:lnTo>
                          <a:pt x="298" y="351"/>
                        </a:lnTo>
                        <a:lnTo>
                          <a:pt x="314" y="340"/>
                        </a:lnTo>
                        <a:lnTo>
                          <a:pt x="327" y="328"/>
                        </a:lnTo>
                        <a:lnTo>
                          <a:pt x="340" y="314"/>
                        </a:lnTo>
                        <a:lnTo>
                          <a:pt x="350" y="299"/>
                        </a:lnTo>
                        <a:lnTo>
                          <a:pt x="360" y="283"/>
                        </a:lnTo>
                        <a:lnTo>
                          <a:pt x="364" y="276"/>
                        </a:lnTo>
                        <a:lnTo>
                          <a:pt x="369" y="266"/>
                        </a:lnTo>
                        <a:lnTo>
                          <a:pt x="372" y="259"/>
                        </a:lnTo>
                        <a:lnTo>
                          <a:pt x="375" y="249"/>
                        </a:lnTo>
                        <a:lnTo>
                          <a:pt x="378" y="240"/>
                        </a:lnTo>
                        <a:lnTo>
                          <a:pt x="380" y="231"/>
                        </a:lnTo>
                        <a:lnTo>
                          <a:pt x="381" y="222"/>
                        </a:lnTo>
                        <a:lnTo>
                          <a:pt x="383" y="211"/>
                        </a:lnTo>
                        <a:lnTo>
                          <a:pt x="383" y="202"/>
                        </a:lnTo>
                        <a:lnTo>
                          <a:pt x="384" y="192"/>
                        </a:lnTo>
                        <a:lnTo>
                          <a:pt x="383" y="182"/>
                        </a:lnTo>
                        <a:lnTo>
                          <a:pt x="383" y="172"/>
                        </a:lnTo>
                        <a:lnTo>
                          <a:pt x="381" y="162"/>
                        </a:lnTo>
                        <a:lnTo>
                          <a:pt x="380" y="152"/>
                        </a:lnTo>
                        <a:lnTo>
                          <a:pt x="378" y="143"/>
                        </a:lnTo>
                        <a:lnTo>
                          <a:pt x="375" y="134"/>
                        </a:lnTo>
                        <a:lnTo>
                          <a:pt x="372" y="126"/>
                        </a:lnTo>
                        <a:lnTo>
                          <a:pt x="369" y="117"/>
                        </a:lnTo>
                        <a:lnTo>
                          <a:pt x="364" y="108"/>
                        </a:lnTo>
                        <a:lnTo>
                          <a:pt x="360" y="100"/>
                        </a:lnTo>
                        <a:lnTo>
                          <a:pt x="350" y="85"/>
                        </a:lnTo>
                        <a:lnTo>
                          <a:pt x="340" y="69"/>
                        </a:lnTo>
                        <a:lnTo>
                          <a:pt x="327" y="56"/>
                        </a:lnTo>
                        <a:lnTo>
                          <a:pt x="314" y="43"/>
                        </a:lnTo>
                        <a:lnTo>
                          <a:pt x="298" y="33"/>
                        </a:lnTo>
                        <a:lnTo>
                          <a:pt x="283" y="23"/>
                        </a:lnTo>
                        <a:lnTo>
                          <a:pt x="275" y="19"/>
                        </a:lnTo>
                        <a:lnTo>
                          <a:pt x="266" y="14"/>
                        </a:lnTo>
                        <a:lnTo>
                          <a:pt x="258" y="11"/>
                        </a:lnTo>
                        <a:lnTo>
                          <a:pt x="249" y="8"/>
                        </a:lnTo>
                        <a:lnTo>
                          <a:pt x="240" y="5"/>
                        </a:lnTo>
                        <a:lnTo>
                          <a:pt x="230" y="3"/>
                        </a:lnTo>
                        <a:lnTo>
                          <a:pt x="221" y="2"/>
                        </a:lnTo>
                        <a:lnTo>
                          <a:pt x="210" y="0"/>
                        </a:lnTo>
                        <a:lnTo>
                          <a:pt x="201" y="0"/>
                        </a:lnTo>
                        <a:lnTo>
                          <a:pt x="192" y="0"/>
                        </a:lnTo>
                      </a:path>
                    </a:pathLst>
                  </a:custGeom>
                  <a:noFill/>
                  <a:ln w="15875">
                    <a:solidFill>
                      <a:srgbClr val="FF33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52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3299" y="2558"/>
                    <a:ext cx="76" cy="1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en-GB" altLang="en-US" sz="1900">
                        <a:solidFill>
                          <a:srgbClr val="000000"/>
                        </a:solidFill>
                        <a:latin typeface="Times New Roman" pitchFamily="18" charset="0"/>
                      </a:rPr>
                      <a:t>4</a:t>
                    </a:r>
                    <a:endParaRPr lang="en-GB" altLang="en-US"/>
                  </a:p>
                </p:txBody>
              </p:sp>
              <p:sp>
                <p:nvSpPr>
                  <p:cNvPr id="20521" name="Line 17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26" y="2697"/>
                    <a:ext cx="181" cy="190"/>
                  </a:xfrm>
                  <a:prstGeom prst="line">
                    <a:avLst/>
                  </a:prstGeom>
                  <a:noFill/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0522" name="Freeform 178"/>
                  <p:cNvSpPr>
                    <a:spLocks/>
                  </p:cNvSpPr>
                  <p:nvPr/>
                </p:nvSpPr>
                <p:spPr bwMode="auto">
                  <a:xfrm>
                    <a:off x="2861" y="2851"/>
                    <a:ext cx="192" cy="192"/>
                  </a:xfrm>
                  <a:custGeom>
                    <a:avLst/>
                    <a:gdLst>
                      <a:gd name="T0" fmla="*/ 6 w 384"/>
                      <a:gd name="T1" fmla="*/ 0 h 385"/>
                      <a:gd name="T2" fmla="*/ 6 w 384"/>
                      <a:gd name="T3" fmla="*/ 0 h 385"/>
                      <a:gd name="T4" fmla="*/ 5 w 384"/>
                      <a:gd name="T5" fmla="*/ 0 h 385"/>
                      <a:gd name="T6" fmla="*/ 3 w 384"/>
                      <a:gd name="T7" fmla="*/ 0 h 385"/>
                      <a:gd name="T8" fmla="*/ 3 w 384"/>
                      <a:gd name="T9" fmla="*/ 0 h 385"/>
                      <a:gd name="T10" fmla="*/ 3 w 384"/>
                      <a:gd name="T11" fmla="*/ 1 h 385"/>
                      <a:gd name="T12" fmla="*/ 2 w 384"/>
                      <a:gd name="T13" fmla="*/ 1 h 385"/>
                      <a:gd name="T14" fmla="*/ 1 w 384"/>
                      <a:gd name="T15" fmla="*/ 2 h 385"/>
                      <a:gd name="T16" fmla="*/ 1 w 384"/>
                      <a:gd name="T17" fmla="*/ 3 h 385"/>
                      <a:gd name="T18" fmla="*/ 1 w 384"/>
                      <a:gd name="T19" fmla="*/ 3 h 385"/>
                      <a:gd name="T20" fmla="*/ 1 w 384"/>
                      <a:gd name="T21" fmla="*/ 4 h 385"/>
                      <a:gd name="T22" fmla="*/ 1 w 384"/>
                      <a:gd name="T23" fmla="*/ 5 h 385"/>
                      <a:gd name="T24" fmla="*/ 0 w 384"/>
                      <a:gd name="T25" fmla="*/ 5 h 385"/>
                      <a:gd name="T26" fmla="*/ 0 w 384"/>
                      <a:gd name="T27" fmla="*/ 6 h 385"/>
                      <a:gd name="T28" fmla="*/ 1 w 384"/>
                      <a:gd name="T29" fmla="*/ 6 h 385"/>
                      <a:gd name="T30" fmla="*/ 1 w 384"/>
                      <a:gd name="T31" fmla="*/ 7 h 385"/>
                      <a:gd name="T32" fmla="*/ 1 w 384"/>
                      <a:gd name="T33" fmla="*/ 8 h 385"/>
                      <a:gd name="T34" fmla="*/ 1 w 384"/>
                      <a:gd name="T35" fmla="*/ 8 h 385"/>
                      <a:gd name="T36" fmla="*/ 1 w 384"/>
                      <a:gd name="T37" fmla="*/ 9 h 385"/>
                      <a:gd name="T38" fmla="*/ 2 w 384"/>
                      <a:gd name="T39" fmla="*/ 10 h 385"/>
                      <a:gd name="T40" fmla="*/ 3 w 384"/>
                      <a:gd name="T41" fmla="*/ 10 h 385"/>
                      <a:gd name="T42" fmla="*/ 3 w 384"/>
                      <a:gd name="T43" fmla="*/ 11 h 385"/>
                      <a:gd name="T44" fmla="*/ 3 w 384"/>
                      <a:gd name="T45" fmla="*/ 11 h 385"/>
                      <a:gd name="T46" fmla="*/ 5 w 384"/>
                      <a:gd name="T47" fmla="*/ 11 h 385"/>
                      <a:gd name="T48" fmla="*/ 6 w 384"/>
                      <a:gd name="T49" fmla="*/ 11 h 385"/>
                      <a:gd name="T50" fmla="*/ 6 w 384"/>
                      <a:gd name="T51" fmla="*/ 11 h 385"/>
                      <a:gd name="T52" fmla="*/ 6 w 384"/>
                      <a:gd name="T53" fmla="*/ 11 h 385"/>
                      <a:gd name="T54" fmla="*/ 6 w 384"/>
                      <a:gd name="T55" fmla="*/ 11 h 385"/>
                      <a:gd name="T56" fmla="*/ 7 w 384"/>
                      <a:gd name="T57" fmla="*/ 11 h 385"/>
                      <a:gd name="T58" fmla="*/ 9 w 384"/>
                      <a:gd name="T59" fmla="*/ 11 h 385"/>
                      <a:gd name="T60" fmla="*/ 9 w 384"/>
                      <a:gd name="T61" fmla="*/ 11 h 385"/>
                      <a:gd name="T62" fmla="*/ 10 w 384"/>
                      <a:gd name="T63" fmla="*/ 10 h 385"/>
                      <a:gd name="T64" fmla="*/ 11 w 384"/>
                      <a:gd name="T65" fmla="*/ 10 h 385"/>
                      <a:gd name="T66" fmla="*/ 11 w 384"/>
                      <a:gd name="T67" fmla="*/ 9 h 385"/>
                      <a:gd name="T68" fmla="*/ 12 w 384"/>
                      <a:gd name="T69" fmla="*/ 8 h 385"/>
                      <a:gd name="T70" fmla="*/ 12 w 384"/>
                      <a:gd name="T71" fmla="*/ 8 h 385"/>
                      <a:gd name="T72" fmla="*/ 12 w 384"/>
                      <a:gd name="T73" fmla="*/ 7 h 385"/>
                      <a:gd name="T74" fmla="*/ 12 w 384"/>
                      <a:gd name="T75" fmla="*/ 6 h 385"/>
                      <a:gd name="T76" fmla="*/ 12 w 384"/>
                      <a:gd name="T77" fmla="*/ 6 h 385"/>
                      <a:gd name="T78" fmla="*/ 12 w 384"/>
                      <a:gd name="T79" fmla="*/ 5 h 385"/>
                      <a:gd name="T80" fmla="*/ 12 w 384"/>
                      <a:gd name="T81" fmla="*/ 5 h 385"/>
                      <a:gd name="T82" fmla="*/ 12 w 384"/>
                      <a:gd name="T83" fmla="*/ 4 h 385"/>
                      <a:gd name="T84" fmla="*/ 12 w 384"/>
                      <a:gd name="T85" fmla="*/ 3 h 385"/>
                      <a:gd name="T86" fmla="*/ 12 w 384"/>
                      <a:gd name="T87" fmla="*/ 3 h 385"/>
                      <a:gd name="T88" fmla="*/ 11 w 384"/>
                      <a:gd name="T89" fmla="*/ 2 h 385"/>
                      <a:gd name="T90" fmla="*/ 11 w 384"/>
                      <a:gd name="T91" fmla="*/ 1 h 385"/>
                      <a:gd name="T92" fmla="*/ 10 w 384"/>
                      <a:gd name="T93" fmla="*/ 1 h 385"/>
                      <a:gd name="T94" fmla="*/ 9 w 384"/>
                      <a:gd name="T95" fmla="*/ 0 h 385"/>
                      <a:gd name="T96" fmla="*/ 9 w 384"/>
                      <a:gd name="T97" fmla="*/ 0 h 385"/>
                      <a:gd name="T98" fmla="*/ 7 w 384"/>
                      <a:gd name="T99" fmla="*/ 0 h 385"/>
                      <a:gd name="T100" fmla="*/ 6 w 384"/>
                      <a:gd name="T101" fmla="*/ 0 h 385"/>
                      <a:gd name="T102" fmla="*/ 6 w 384"/>
                      <a:gd name="T103" fmla="*/ 0 h 385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w 384"/>
                      <a:gd name="T157" fmla="*/ 0 h 385"/>
                      <a:gd name="T158" fmla="*/ 384 w 384"/>
                      <a:gd name="T159" fmla="*/ 385 h 385"/>
                    </a:gdLst>
                    <a:ahLst/>
                    <a:cxnLst>
                      <a:cxn ang="T104">
                        <a:pos x="T0" y="T1"/>
                      </a:cxn>
                      <a:cxn ang="T105">
                        <a:pos x="T2" y="T3"/>
                      </a:cxn>
                      <a:cxn ang="T106">
                        <a:pos x="T4" y="T5"/>
                      </a:cxn>
                      <a:cxn ang="T107">
                        <a:pos x="T6" y="T7"/>
                      </a:cxn>
                      <a:cxn ang="T108">
                        <a:pos x="T8" y="T9"/>
                      </a:cxn>
                      <a:cxn ang="T109">
                        <a:pos x="T10" y="T11"/>
                      </a:cxn>
                      <a:cxn ang="T110">
                        <a:pos x="T12" y="T13"/>
                      </a:cxn>
                      <a:cxn ang="T111">
                        <a:pos x="T14" y="T15"/>
                      </a:cxn>
                      <a:cxn ang="T112">
                        <a:pos x="T16" y="T17"/>
                      </a:cxn>
                      <a:cxn ang="T113">
                        <a:pos x="T18" y="T19"/>
                      </a:cxn>
                      <a:cxn ang="T114">
                        <a:pos x="T20" y="T21"/>
                      </a:cxn>
                      <a:cxn ang="T115">
                        <a:pos x="T22" y="T23"/>
                      </a:cxn>
                      <a:cxn ang="T116">
                        <a:pos x="T24" y="T25"/>
                      </a:cxn>
                      <a:cxn ang="T117">
                        <a:pos x="T26" y="T27"/>
                      </a:cxn>
                      <a:cxn ang="T118">
                        <a:pos x="T28" y="T29"/>
                      </a:cxn>
                      <a:cxn ang="T119">
                        <a:pos x="T30" y="T31"/>
                      </a:cxn>
                      <a:cxn ang="T120">
                        <a:pos x="T32" y="T33"/>
                      </a:cxn>
                      <a:cxn ang="T121">
                        <a:pos x="T34" y="T35"/>
                      </a:cxn>
                      <a:cxn ang="T122">
                        <a:pos x="T36" y="T37"/>
                      </a:cxn>
                      <a:cxn ang="T123">
                        <a:pos x="T38" y="T39"/>
                      </a:cxn>
                      <a:cxn ang="T124">
                        <a:pos x="T40" y="T41"/>
                      </a:cxn>
                      <a:cxn ang="T125">
                        <a:pos x="T42" y="T43"/>
                      </a:cxn>
                      <a:cxn ang="T126">
                        <a:pos x="T44" y="T45"/>
                      </a:cxn>
                      <a:cxn ang="T127">
                        <a:pos x="T46" y="T47"/>
                      </a:cxn>
                      <a:cxn ang="T128">
                        <a:pos x="T48" y="T49"/>
                      </a:cxn>
                      <a:cxn ang="T129">
                        <a:pos x="T50" y="T51"/>
                      </a:cxn>
                      <a:cxn ang="T130">
                        <a:pos x="T52" y="T53"/>
                      </a:cxn>
                      <a:cxn ang="T131">
                        <a:pos x="T54" y="T55"/>
                      </a:cxn>
                      <a:cxn ang="T132">
                        <a:pos x="T56" y="T57"/>
                      </a:cxn>
                      <a:cxn ang="T133">
                        <a:pos x="T58" y="T59"/>
                      </a:cxn>
                      <a:cxn ang="T134">
                        <a:pos x="T60" y="T61"/>
                      </a:cxn>
                      <a:cxn ang="T135">
                        <a:pos x="T62" y="T63"/>
                      </a:cxn>
                      <a:cxn ang="T136">
                        <a:pos x="T64" y="T65"/>
                      </a:cxn>
                      <a:cxn ang="T137">
                        <a:pos x="T66" y="T67"/>
                      </a:cxn>
                      <a:cxn ang="T138">
                        <a:pos x="T68" y="T69"/>
                      </a:cxn>
                      <a:cxn ang="T139">
                        <a:pos x="T70" y="T71"/>
                      </a:cxn>
                      <a:cxn ang="T140">
                        <a:pos x="T72" y="T73"/>
                      </a:cxn>
                      <a:cxn ang="T141">
                        <a:pos x="T74" y="T75"/>
                      </a:cxn>
                      <a:cxn ang="T142">
                        <a:pos x="T76" y="T77"/>
                      </a:cxn>
                      <a:cxn ang="T143">
                        <a:pos x="T78" y="T79"/>
                      </a:cxn>
                      <a:cxn ang="T144">
                        <a:pos x="T80" y="T81"/>
                      </a:cxn>
                      <a:cxn ang="T145">
                        <a:pos x="T82" y="T83"/>
                      </a:cxn>
                      <a:cxn ang="T146">
                        <a:pos x="T84" y="T85"/>
                      </a:cxn>
                      <a:cxn ang="T147">
                        <a:pos x="T86" y="T87"/>
                      </a:cxn>
                      <a:cxn ang="T148">
                        <a:pos x="T88" y="T89"/>
                      </a:cxn>
                      <a:cxn ang="T149">
                        <a:pos x="T90" y="T91"/>
                      </a:cxn>
                      <a:cxn ang="T150">
                        <a:pos x="T92" y="T93"/>
                      </a:cxn>
                      <a:cxn ang="T151">
                        <a:pos x="T94" y="T95"/>
                      </a:cxn>
                      <a:cxn ang="T152">
                        <a:pos x="T96" y="T97"/>
                      </a:cxn>
                      <a:cxn ang="T153">
                        <a:pos x="T98" y="T99"/>
                      </a:cxn>
                      <a:cxn ang="T154">
                        <a:pos x="T100" y="T101"/>
                      </a:cxn>
                      <a:cxn ang="T155">
                        <a:pos x="T102" y="T103"/>
                      </a:cxn>
                    </a:cxnLst>
                    <a:rect l="T156" t="T157" r="T158" b="T159"/>
                    <a:pathLst>
                      <a:path w="384" h="385">
                        <a:moveTo>
                          <a:pt x="192" y="0"/>
                        </a:moveTo>
                        <a:lnTo>
                          <a:pt x="181" y="0"/>
                        </a:lnTo>
                        <a:lnTo>
                          <a:pt x="172" y="0"/>
                        </a:lnTo>
                        <a:lnTo>
                          <a:pt x="161" y="2"/>
                        </a:lnTo>
                        <a:lnTo>
                          <a:pt x="152" y="3"/>
                        </a:lnTo>
                        <a:lnTo>
                          <a:pt x="143" y="5"/>
                        </a:lnTo>
                        <a:lnTo>
                          <a:pt x="133" y="8"/>
                        </a:lnTo>
                        <a:lnTo>
                          <a:pt x="126" y="11"/>
                        </a:lnTo>
                        <a:lnTo>
                          <a:pt x="116" y="14"/>
                        </a:lnTo>
                        <a:lnTo>
                          <a:pt x="107" y="19"/>
                        </a:lnTo>
                        <a:lnTo>
                          <a:pt x="100" y="23"/>
                        </a:lnTo>
                        <a:lnTo>
                          <a:pt x="84" y="33"/>
                        </a:lnTo>
                        <a:lnTo>
                          <a:pt x="69" y="43"/>
                        </a:lnTo>
                        <a:lnTo>
                          <a:pt x="55" y="56"/>
                        </a:lnTo>
                        <a:lnTo>
                          <a:pt x="43" y="70"/>
                        </a:lnTo>
                        <a:lnTo>
                          <a:pt x="32" y="85"/>
                        </a:lnTo>
                        <a:lnTo>
                          <a:pt x="23" y="100"/>
                        </a:lnTo>
                        <a:lnTo>
                          <a:pt x="18" y="108"/>
                        </a:lnTo>
                        <a:lnTo>
                          <a:pt x="13" y="117"/>
                        </a:lnTo>
                        <a:lnTo>
                          <a:pt x="10" y="127"/>
                        </a:lnTo>
                        <a:lnTo>
                          <a:pt x="7" y="134"/>
                        </a:lnTo>
                        <a:lnTo>
                          <a:pt x="4" y="143"/>
                        </a:lnTo>
                        <a:lnTo>
                          <a:pt x="3" y="153"/>
                        </a:lnTo>
                        <a:lnTo>
                          <a:pt x="1" y="162"/>
                        </a:lnTo>
                        <a:lnTo>
                          <a:pt x="0" y="173"/>
                        </a:lnTo>
                        <a:lnTo>
                          <a:pt x="0" y="182"/>
                        </a:lnTo>
                        <a:lnTo>
                          <a:pt x="0" y="193"/>
                        </a:lnTo>
                        <a:lnTo>
                          <a:pt x="0" y="202"/>
                        </a:lnTo>
                        <a:lnTo>
                          <a:pt x="0" y="211"/>
                        </a:lnTo>
                        <a:lnTo>
                          <a:pt x="1" y="222"/>
                        </a:lnTo>
                        <a:lnTo>
                          <a:pt x="3" y="231"/>
                        </a:lnTo>
                        <a:lnTo>
                          <a:pt x="4" y="240"/>
                        </a:lnTo>
                        <a:lnTo>
                          <a:pt x="7" y="250"/>
                        </a:lnTo>
                        <a:lnTo>
                          <a:pt x="10" y="259"/>
                        </a:lnTo>
                        <a:lnTo>
                          <a:pt x="13" y="266"/>
                        </a:lnTo>
                        <a:lnTo>
                          <a:pt x="18" y="276"/>
                        </a:lnTo>
                        <a:lnTo>
                          <a:pt x="23" y="283"/>
                        </a:lnTo>
                        <a:lnTo>
                          <a:pt x="32" y="299"/>
                        </a:lnTo>
                        <a:lnTo>
                          <a:pt x="43" y="314"/>
                        </a:lnTo>
                        <a:lnTo>
                          <a:pt x="55" y="328"/>
                        </a:lnTo>
                        <a:lnTo>
                          <a:pt x="69" y="340"/>
                        </a:lnTo>
                        <a:lnTo>
                          <a:pt x="84" y="351"/>
                        </a:lnTo>
                        <a:lnTo>
                          <a:pt x="100" y="360"/>
                        </a:lnTo>
                        <a:lnTo>
                          <a:pt x="107" y="365"/>
                        </a:lnTo>
                        <a:lnTo>
                          <a:pt x="116" y="370"/>
                        </a:lnTo>
                        <a:lnTo>
                          <a:pt x="126" y="373"/>
                        </a:lnTo>
                        <a:lnTo>
                          <a:pt x="133" y="376"/>
                        </a:lnTo>
                        <a:lnTo>
                          <a:pt x="143" y="379"/>
                        </a:lnTo>
                        <a:lnTo>
                          <a:pt x="152" y="380"/>
                        </a:lnTo>
                        <a:lnTo>
                          <a:pt x="161" y="382"/>
                        </a:lnTo>
                        <a:lnTo>
                          <a:pt x="172" y="383"/>
                        </a:lnTo>
                        <a:lnTo>
                          <a:pt x="181" y="383"/>
                        </a:lnTo>
                        <a:lnTo>
                          <a:pt x="192" y="385"/>
                        </a:lnTo>
                        <a:lnTo>
                          <a:pt x="201" y="383"/>
                        </a:lnTo>
                        <a:lnTo>
                          <a:pt x="210" y="383"/>
                        </a:lnTo>
                        <a:lnTo>
                          <a:pt x="221" y="382"/>
                        </a:lnTo>
                        <a:lnTo>
                          <a:pt x="230" y="380"/>
                        </a:lnTo>
                        <a:lnTo>
                          <a:pt x="240" y="379"/>
                        </a:lnTo>
                        <a:lnTo>
                          <a:pt x="249" y="376"/>
                        </a:lnTo>
                        <a:lnTo>
                          <a:pt x="258" y="373"/>
                        </a:lnTo>
                        <a:lnTo>
                          <a:pt x="266" y="370"/>
                        </a:lnTo>
                        <a:lnTo>
                          <a:pt x="275" y="365"/>
                        </a:lnTo>
                        <a:lnTo>
                          <a:pt x="283" y="360"/>
                        </a:lnTo>
                        <a:lnTo>
                          <a:pt x="298" y="351"/>
                        </a:lnTo>
                        <a:lnTo>
                          <a:pt x="313" y="340"/>
                        </a:lnTo>
                        <a:lnTo>
                          <a:pt x="327" y="328"/>
                        </a:lnTo>
                        <a:lnTo>
                          <a:pt x="340" y="314"/>
                        </a:lnTo>
                        <a:lnTo>
                          <a:pt x="350" y="299"/>
                        </a:lnTo>
                        <a:lnTo>
                          <a:pt x="360" y="283"/>
                        </a:lnTo>
                        <a:lnTo>
                          <a:pt x="364" y="276"/>
                        </a:lnTo>
                        <a:lnTo>
                          <a:pt x="369" y="266"/>
                        </a:lnTo>
                        <a:lnTo>
                          <a:pt x="372" y="259"/>
                        </a:lnTo>
                        <a:lnTo>
                          <a:pt x="375" y="250"/>
                        </a:lnTo>
                        <a:lnTo>
                          <a:pt x="378" y="240"/>
                        </a:lnTo>
                        <a:lnTo>
                          <a:pt x="380" y="231"/>
                        </a:lnTo>
                        <a:lnTo>
                          <a:pt x="381" y="222"/>
                        </a:lnTo>
                        <a:lnTo>
                          <a:pt x="383" y="211"/>
                        </a:lnTo>
                        <a:lnTo>
                          <a:pt x="383" y="202"/>
                        </a:lnTo>
                        <a:lnTo>
                          <a:pt x="384" y="193"/>
                        </a:lnTo>
                        <a:lnTo>
                          <a:pt x="383" y="182"/>
                        </a:lnTo>
                        <a:lnTo>
                          <a:pt x="383" y="173"/>
                        </a:lnTo>
                        <a:lnTo>
                          <a:pt x="381" y="162"/>
                        </a:lnTo>
                        <a:lnTo>
                          <a:pt x="380" y="153"/>
                        </a:lnTo>
                        <a:lnTo>
                          <a:pt x="378" y="143"/>
                        </a:lnTo>
                        <a:lnTo>
                          <a:pt x="375" y="134"/>
                        </a:lnTo>
                        <a:lnTo>
                          <a:pt x="372" y="127"/>
                        </a:lnTo>
                        <a:lnTo>
                          <a:pt x="369" y="117"/>
                        </a:lnTo>
                        <a:lnTo>
                          <a:pt x="364" y="108"/>
                        </a:lnTo>
                        <a:lnTo>
                          <a:pt x="360" y="100"/>
                        </a:lnTo>
                        <a:lnTo>
                          <a:pt x="350" y="85"/>
                        </a:lnTo>
                        <a:lnTo>
                          <a:pt x="340" y="70"/>
                        </a:lnTo>
                        <a:lnTo>
                          <a:pt x="327" y="56"/>
                        </a:lnTo>
                        <a:lnTo>
                          <a:pt x="313" y="43"/>
                        </a:lnTo>
                        <a:lnTo>
                          <a:pt x="298" y="33"/>
                        </a:lnTo>
                        <a:lnTo>
                          <a:pt x="283" y="23"/>
                        </a:lnTo>
                        <a:lnTo>
                          <a:pt x="275" y="19"/>
                        </a:lnTo>
                        <a:lnTo>
                          <a:pt x="266" y="14"/>
                        </a:lnTo>
                        <a:lnTo>
                          <a:pt x="258" y="11"/>
                        </a:lnTo>
                        <a:lnTo>
                          <a:pt x="249" y="8"/>
                        </a:lnTo>
                        <a:lnTo>
                          <a:pt x="240" y="5"/>
                        </a:lnTo>
                        <a:lnTo>
                          <a:pt x="230" y="3"/>
                        </a:lnTo>
                        <a:lnTo>
                          <a:pt x="221" y="2"/>
                        </a:lnTo>
                        <a:lnTo>
                          <a:pt x="210" y="0"/>
                        </a:lnTo>
                        <a:lnTo>
                          <a:pt x="201" y="0"/>
                        </a:lnTo>
                        <a:lnTo>
                          <a:pt x="192" y="0"/>
                        </a:lnTo>
                      </a:path>
                    </a:pathLst>
                  </a:cu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20503" name="Group 193"/>
                <p:cNvGrpSpPr>
                  <a:grpSpLocks/>
                </p:cNvGrpSpPr>
                <p:nvPr/>
              </p:nvGrpSpPr>
              <p:grpSpPr bwMode="auto">
                <a:xfrm>
                  <a:off x="3227" y="2782"/>
                  <a:ext cx="368" cy="511"/>
                  <a:chOff x="2416" y="3600"/>
                  <a:chExt cx="368" cy="511"/>
                </a:xfrm>
              </p:grpSpPr>
              <p:grpSp>
                <p:nvGrpSpPr>
                  <p:cNvPr id="20504" name="Group 191"/>
                  <p:cNvGrpSpPr>
                    <a:grpSpLocks/>
                  </p:cNvGrpSpPr>
                  <p:nvPr/>
                </p:nvGrpSpPr>
                <p:grpSpPr bwMode="auto">
                  <a:xfrm>
                    <a:off x="2592" y="3600"/>
                    <a:ext cx="192" cy="192"/>
                    <a:chOff x="2592" y="3600"/>
                    <a:chExt cx="192" cy="192"/>
                  </a:xfrm>
                </p:grpSpPr>
                <p:sp>
                  <p:nvSpPr>
                    <p:cNvPr id="20509" name="Freeform 163"/>
                    <p:cNvSpPr>
                      <a:spLocks/>
                    </p:cNvSpPr>
                    <p:nvPr/>
                  </p:nvSpPr>
                  <p:spPr bwMode="auto">
                    <a:xfrm>
                      <a:off x="2592" y="3600"/>
                      <a:ext cx="192" cy="192"/>
                    </a:xfrm>
                    <a:custGeom>
                      <a:avLst/>
                      <a:gdLst>
                        <a:gd name="T0" fmla="*/ 5 w 385"/>
                        <a:gd name="T1" fmla="*/ 0 h 384"/>
                        <a:gd name="T2" fmla="*/ 5 w 385"/>
                        <a:gd name="T3" fmla="*/ 1 h 384"/>
                        <a:gd name="T4" fmla="*/ 4 w 385"/>
                        <a:gd name="T5" fmla="*/ 1 h 384"/>
                        <a:gd name="T6" fmla="*/ 3 w 385"/>
                        <a:gd name="T7" fmla="*/ 1 h 384"/>
                        <a:gd name="T8" fmla="*/ 3 w 385"/>
                        <a:gd name="T9" fmla="*/ 1 h 384"/>
                        <a:gd name="T10" fmla="*/ 2 w 385"/>
                        <a:gd name="T11" fmla="*/ 1 h 384"/>
                        <a:gd name="T12" fmla="*/ 1 w 385"/>
                        <a:gd name="T13" fmla="*/ 2 h 384"/>
                        <a:gd name="T14" fmla="*/ 1 w 385"/>
                        <a:gd name="T15" fmla="*/ 3 h 384"/>
                        <a:gd name="T16" fmla="*/ 0 w 385"/>
                        <a:gd name="T17" fmla="*/ 3 h 384"/>
                        <a:gd name="T18" fmla="*/ 0 w 385"/>
                        <a:gd name="T19" fmla="*/ 3 h 384"/>
                        <a:gd name="T20" fmla="*/ 0 w 385"/>
                        <a:gd name="T21" fmla="*/ 5 h 384"/>
                        <a:gd name="T22" fmla="*/ 0 w 385"/>
                        <a:gd name="T23" fmla="*/ 6 h 384"/>
                        <a:gd name="T24" fmla="*/ 0 w 385"/>
                        <a:gd name="T25" fmla="*/ 6 h 384"/>
                        <a:gd name="T26" fmla="*/ 0 w 385"/>
                        <a:gd name="T27" fmla="*/ 6 h 384"/>
                        <a:gd name="T28" fmla="*/ 0 w 385"/>
                        <a:gd name="T29" fmla="*/ 6 h 384"/>
                        <a:gd name="T30" fmla="*/ 0 w 385"/>
                        <a:gd name="T31" fmla="*/ 7 h 384"/>
                        <a:gd name="T32" fmla="*/ 0 w 385"/>
                        <a:gd name="T33" fmla="*/ 9 h 384"/>
                        <a:gd name="T34" fmla="*/ 0 w 385"/>
                        <a:gd name="T35" fmla="*/ 9 h 384"/>
                        <a:gd name="T36" fmla="*/ 1 w 385"/>
                        <a:gd name="T37" fmla="*/ 10 h 384"/>
                        <a:gd name="T38" fmla="*/ 1 w 385"/>
                        <a:gd name="T39" fmla="*/ 11 h 384"/>
                        <a:gd name="T40" fmla="*/ 2 w 385"/>
                        <a:gd name="T41" fmla="*/ 11 h 384"/>
                        <a:gd name="T42" fmla="*/ 3 w 385"/>
                        <a:gd name="T43" fmla="*/ 12 h 384"/>
                        <a:gd name="T44" fmla="*/ 3 w 385"/>
                        <a:gd name="T45" fmla="*/ 12 h 384"/>
                        <a:gd name="T46" fmla="*/ 4 w 385"/>
                        <a:gd name="T47" fmla="*/ 12 h 384"/>
                        <a:gd name="T48" fmla="*/ 5 w 385"/>
                        <a:gd name="T49" fmla="*/ 12 h 384"/>
                        <a:gd name="T50" fmla="*/ 5 w 385"/>
                        <a:gd name="T51" fmla="*/ 12 h 384"/>
                        <a:gd name="T52" fmla="*/ 6 w 385"/>
                        <a:gd name="T53" fmla="*/ 12 h 384"/>
                        <a:gd name="T54" fmla="*/ 6 w 385"/>
                        <a:gd name="T55" fmla="*/ 12 h 384"/>
                        <a:gd name="T56" fmla="*/ 7 w 385"/>
                        <a:gd name="T57" fmla="*/ 12 h 384"/>
                        <a:gd name="T58" fmla="*/ 8 w 385"/>
                        <a:gd name="T59" fmla="*/ 12 h 384"/>
                        <a:gd name="T60" fmla="*/ 8 w 385"/>
                        <a:gd name="T61" fmla="*/ 12 h 384"/>
                        <a:gd name="T62" fmla="*/ 9 w 385"/>
                        <a:gd name="T63" fmla="*/ 11 h 384"/>
                        <a:gd name="T64" fmla="*/ 10 w 385"/>
                        <a:gd name="T65" fmla="*/ 11 h 384"/>
                        <a:gd name="T66" fmla="*/ 10 w 385"/>
                        <a:gd name="T67" fmla="*/ 10 h 384"/>
                        <a:gd name="T68" fmla="*/ 11 w 385"/>
                        <a:gd name="T69" fmla="*/ 9 h 384"/>
                        <a:gd name="T70" fmla="*/ 11 w 385"/>
                        <a:gd name="T71" fmla="*/ 9 h 384"/>
                        <a:gd name="T72" fmla="*/ 11 w 385"/>
                        <a:gd name="T73" fmla="*/ 7 h 384"/>
                        <a:gd name="T74" fmla="*/ 11 w 385"/>
                        <a:gd name="T75" fmla="*/ 6 h 384"/>
                        <a:gd name="T76" fmla="*/ 11 w 385"/>
                        <a:gd name="T77" fmla="*/ 6 h 384"/>
                        <a:gd name="T78" fmla="*/ 11 w 385"/>
                        <a:gd name="T79" fmla="*/ 6 h 384"/>
                        <a:gd name="T80" fmla="*/ 11 w 385"/>
                        <a:gd name="T81" fmla="*/ 6 h 384"/>
                        <a:gd name="T82" fmla="*/ 11 w 385"/>
                        <a:gd name="T83" fmla="*/ 5 h 384"/>
                        <a:gd name="T84" fmla="*/ 11 w 385"/>
                        <a:gd name="T85" fmla="*/ 3 h 384"/>
                        <a:gd name="T86" fmla="*/ 11 w 385"/>
                        <a:gd name="T87" fmla="*/ 3 h 384"/>
                        <a:gd name="T88" fmla="*/ 10 w 385"/>
                        <a:gd name="T89" fmla="*/ 3 h 384"/>
                        <a:gd name="T90" fmla="*/ 10 w 385"/>
                        <a:gd name="T91" fmla="*/ 2 h 384"/>
                        <a:gd name="T92" fmla="*/ 9 w 385"/>
                        <a:gd name="T93" fmla="*/ 1 h 384"/>
                        <a:gd name="T94" fmla="*/ 8 w 385"/>
                        <a:gd name="T95" fmla="*/ 1 h 384"/>
                        <a:gd name="T96" fmla="*/ 8 w 385"/>
                        <a:gd name="T97" fmla="*/ 1 h 384"/>
                        <a:gd name="T98" fmla="*/ 7 w 385"/>
                        <a:gd name="T99" fmla="*/ 1 h 384"/>
                        <a:gd name="T100" fmla="*/ 6 w 385"/>
                        <a:gd name="T101" fmla="*/ 1 h 384"/>
                        <a:gd name="T102" fmla="*/ 6 w 385"/>
                        <a:gd name="T103" fmla="*/ 0 h 384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w 385"/>
                        <a:gd name="T157" fmla="*/ 0 h 384"/>
                        <a:gd name="T158" fmla="*/ 385 w 385"/>
                        <a:gd name="T159" fmla="*/ 384 h 384"/>
                      </a:gdLst>
                      <a:ahLst/>
                      <a:cxnLst>
                        <a:cxn ang="T104">
                          <a:pos x="T0" y="T1"/>
                        </a:cxn>
                        <a:cxn ang="T105">
                          <a:pos x="T2" y="T3"/>
                        </a:cxn>
                        <a:cxn ang="T106">
                          <a:pos x="T4" y="T5"/>
                        </a:cxn>
                        <a:cxn ang="T107">
                          <a:pos x="T6" y="T7"/>
                        </a:cxn>
                        <a:cxn ang="T108">
                          <a:pos x="T8" y="T9"/>
                        </a:cxn>
                        <a:cxn ang="T109">
                          <a:pos x="T10" y="T11"/>
                        </a:cxn>
                        <a:cxn ang="T110">
                          <a:pos x="T12" y="T13"/>
                        </a:cxn>
                        <a:cxn ang="T111">
                          <a:pos x="T14" y="T15"/>
                        </a:cxn>
                        <a:cxn ang="T112">
                          <a:pos x="T16" y="T17"/>
                        </a:cxn>
                        <a:cxn ang="T113">
                          <a:pos x="T18" y="T19"/>
                        </a:cxn>
                        <a:cxn ang="T114">
                          <a:pos x="T20" y="T21"/>
                        </a:cxn>
                        <a:cxn ang="T115">
                          <a:pos x="T22" y="T23"/>
                        </a:cxn>
                        <a:cxn ang="T116">
                          <a:pos x="T24" y="T25"/>
                        </a:cxn>
                        <a:cxn ang="T117">
                          <a:pos x="T26" y="T27"/>
                        </a:cxn>
                        <a:cxn ang="T118">
                          <a:pos x="T28" y="T29"/>
                        </a:cxn>
                        <a:cxn ang="T119">
                          <a:pos x="T30" y="T31"/>
                        </a:cxn>
                        <a:cxn ang="T120">
                          <a:pos x="T32" y="T33"/>
                        </a:cxn>
                        <a:cxn ang="T121">
                          <a:pos x="T34" y="T35"/>
                        </a:cxn>
                        <a:cxn ang="T122">
                          <a:pos x="T36" y="T37"/>
                        </a:cxn>
                        <a:cxn ang="T123">
                          <a:pos x="T38" y="T39"/>
                        </a:cxn>
                        <a:cxn ang="T124">
                          <a:pos x="T40" y="T41"/>
                        </a:cxn>
                        <a:cxn ang="T125">
                          <a:pos x="T42" y="T43"/>
                        </a:cxn>
                        <a:cxn ang="T126">
                          <a:pos x="T44" y="T45"/>
                        </a:cxn>
                        <a:cxn ang="T127">
                          <a:pos x="T46" y="T47"/>
                        </a:cxn>
                        <a:cxn ang="T128">
                          <a:pos x="T48" y="T49"/>
                        </a:cxn>
                        <a:cxn ang="T129">
                          <a:pos x="T50" y="T51"/>
                        </a:cxn>
                        <a:cxn ang="T130">
                          <a:pos x="T52" y="T53"/>
                        </a:cxn>
                        <a:cxn ang="T131">
                          <a:pos x="T54" y="T55"/>
                        </a:cxn>
                        <a:cxn ang="T132">
                          <a:pos x="T56" y="T57"/>
                        </a:cxn>
                        <a:cxn ang="T133">
                          <a:pos x="T58" y="T59"/>
                        </a:cxn>
                        <a:cxn ang="T134">
                          <a:pos x="T60" y="T61"/>
                        </a:cxn>
                        <a:cxn ang="T135">
                          <a:pos x="T62" y="T63"/>
                        </a:cxn>
                        <a:cxn ang="T136">
                          <a:pos x="T64" y="T65"/>
                        </a:cxn>
                        <a:cxn ang="T137">
                          <a:pos x="T66" y="T67"/>
                        </a:cxn>
                        <a:cxn ang="T138">
                          <a:pos x="T68" y="T69"/>
                        </a:cxn>
                        <a:cxn ang="T139">
                          <a:pos x="T70" y="T71"/>
                        </a:cxn>
                        <a:cxn ang="T140">
                          <a:pos x="T72" y="T73"/>
                        </a:cxn>
                        <a:cxn ang="T141">
                          <a:pos x="T74" y="T75"/>
                        </a:cxn>
                        <a:cxn ang="T142">
                          <a:pos x="T76" y="T77"/>
                        </a:cxn>
                        <a:cxn ang="T143">
                          <a:pos x="T78" y="T79"/>
                        </a:cxn>
                        <a:cxn ang="T144">
                          <a:pos x="T80" y="T81"/>
                        </a:cxn>
                        <a:cxn ang="T145">
                          <a:pos x="T82" y="T83"/>
                        </a:cxn>
                        <a:cxn ang="T146">
                          <a:pos x="T84" y="T85"/>
                        </a:cxn>
                        <a:cxn ang="T147">
                          <a:pos x="T86" y="T87"/>
                        </a:cxn>
                        <a:cxn ang="T148">
                          <a:pos x="T88" y="T89"/>
                        </a:cxn>
                        <a:cxn ang="T149">
                          <a:pos x="T90" y="T91"/>
                        </a:cxn>
                        <a:cxn ang="T150">
                          <a:pos x="T92" y="T93"/>
                        </a:cxn>
                        <a:cxn ang="T151">
                          <a:pos x="T94" y="T95"/>
                        </a:cxn>
                        <a:cxn ang="T152">
                          <a:pos x="T96" y="T97"/>
                        </a:cxn>
                        <a:cxn ang="T153">
                          <a:pos x="T98" y="T99"/>
                        </a:cxn>
                        <a:cxn ang="T154">
                          <a:pos x="T100" y="T101"/>
                        </a:cxn>
                        <a:cxn ang="T155">
                          <a:pos x="T102" y="T103"/>
                        </a:cxn>
                      </a:cxnLst>
                      <a:rect l="T156" t="T157" r="T158" b="T159"/>
                      <a:pathLst>
                        <a:path w="385" h="384">
                          <a:moveTo>
                            <a:pt x="193" y="0"/>
                          </a:moveTo>
                          <a:lnTo>
                            <a:pt x="182" y="0"/>
                          </a:lnTo>
                          <a:lnTo>
                            <a:pt x="173" y="0"/>
                          </a:lnTo>
                          <a:lnTo>
                            <a:pt x="162" y="1"/>
                          </a:lnTo>
                          <a:lnTo>
                            <a:pt x="153" y="3"/>
                          </a:lnTo>
                          <a:lnTo>
                            <a:pt x="143" y="4"/>
                          </a:lnTo>
                          <a:lnTo>
                            <a:pt x="134" y="7"/>
                          </a:lnTo>
                          <a:lnTo>
                            <a:pt x="127" y="10"/>
                          </a:lnTo>
                          <a:lnTo>
                            <a:pt x="117" y="13"/>
                          </a:lnTo>
                          <a:lnTo>
                            <a:pt x="108" y="18"/>
                          </a:lnTo>
                          <a:lnTo>
                            <a:pt x="100" y="23"/>
                          </a:lnTo>
                          <a:lnTo>
                            <a:pt x="85" y="32"/>
                          </a:lnTo>
                          <a:lnTo>
                            <a:pt x="70" y="43"/>
                          </a:lnTo>
                          <a:lnTo>
                            <a:pt x="56" y="55"/>
                          </a:lnTo>
                          <a:lnTo>
                            <a:pt x="43" y="69"/>
                          </a:lnTo>
                          <a:lnTo>
                            <a:pt x="33" y="84"/>
                          </a:lnTo>
                          <a:lnTo>
                            <a:pt x="23" y="100"/>
                          </a:lnTo>
                          <a:lnTo>
                            <a:pt x="19" y="107"/>
                          </a:lnTo>
                          <a:lnTo>
                            <a:pt x="14" y="116"/>
                          </a:lnTo>
                          <a:lnTo>
                            <a:pt x="11" y="126"/>
                          </a:lnTo>
                          <a:lnTo>
                            <a:pt x="8" y="133"/>
                          </a:lnTo>
                          <a:lnTo>
                            <a:pt x="5" y="143"/>
                          </a:lnTo>
                          <a:lnTo>
                            <a:pt x="3" y="152"/>
                          </a:lnTo>
                          <a:lnTo>
                            <a:pt x="2" y="161"/>
                          </a:lnTo>
                          <a:lnTo>
                            <a:pt x="0" y="172"/>
                          </a:lnTo>
                          <a:lnTo>
                            <a:pt x="0" y="181"/>
                          </a:lnTo>
                          <a:lnTo>
                            <a:pt x="0" y="192"/>
                          </a:lnTo>
                          <a:lnTo>
                            <a:pt x="0" y="201"/>
                          </a:lnTo>
                          <a:lnTo>
                            <a:pt x="0" y="210"/>
                          </a:lnTo>
                          <a:lnTo>
                            <a:pt x="2" y="221"/>
                          </a:lnTo>
                          <a:lnTo>
                            <a:pt x="3" y="230"/>
                          </a:lnTo>
                          <a:lnTo>
                            <a:pt x="5" y="240"/>
                          </a:lnTo>
                          <a:lnTo>
                            <a:pt x="8" y="249"/>
                          </a:lnTo>
                          <a:lnTo>
                            <a:pt x="11" y="258"/>
                          </a:lnTo>
                          <a:lnTo>
                            <a:pt x="14" y="266"/>
                          </a:lnTo>
                          <a:lnTo>
                            <a:pt x="19" y="275"/>
                          </a:lnTo>
                          <a:lnTo>
                            <a:pt x="23" y="283"/>
                          </a:lnTo>
                          <a:lnTo>
                            <a:pt x="33" y="298"/>
                          </a:lnTo>
                          <a:lnTo>
                            <a:pt x="43" y="313"/>
                          </a:lnTo>
                          <a:lnTo>
                            <a:pt x="56" y="327"/>
                          </a:lnTo>
                          <a:lnTo>
                            <a:pt x="70" y="340"/>
                          </a:lnTo>
                          <a:lnTo>
                            <a:pt x="85" y="350"/>
                          </a:lnTo>
                          <a:lnTo>
                            <a:pt x="100" y="360"/>
                          </a:lnTo>
                          <a:lnTo>
                            <a:pt x="108" y="364"/>
                          </a:lnTo>
                          <a:lnTo>
                            <a:pt x="117" y="369"/>
                          </a:lnTo>
                          <a:lnTo>
                            <a:pt x="127" y="372"/>
                          </a:lnTo>
                          <a:lnTo>
                            <a:pt x="134" y="375"/>
                          </a:lnTo>
                          <a:lnTo>
                            <a:pt x="143" y="378"/>
                          </a:lnTo>
                          <a:lnTo>
                            <a:pt x="153" y="379"/>
                          </a:lnTo>
                          <a:lnTo>
                            <a:pt x="162" y="381"/>
                          </a:lnTo>
                          <a:lnTo>
                            <a:pt x="173" y="383"/>
                          </a:lnTo>
                          <a:lnTo>
                            <a:pt x="182" y="383"/>
                          </a:lnTo>
                          <a:lnTo>
                            <a:pt x="193" y="384"/>
                          </a:lnTo>
                          <a:lnTo>
                            <a:pt x="202" y="383"/>
                          </a:lnTo>
                          <a:lnTo>
                            <a:pt x="211" y="383"/>
                          </a:lnTo>
                          <a:lnTo>
                            <a:pt x="222" y="381"/>
                          </a:lnTo>
                          <a:lnTo>
                            <a:pt x="231" y="379"/>
                          </a:lnTo>
                          <a:lnTo>
                            <a:pt x="240" y="378"/>
                          </a:lnTo>
                          <a:lnTo>
                            <a:pt x="250" y="375"/>
                          </a:lnTo>
                          <a:lnTo>
                            <a:pt x="259" y="372"/>
                          </a:lnTo>
                          <a:lnTo>
                            <a:pt x="267" y="369"/>
                          </a:lnTo>
                          <a:lnTo>
                            <a:pt x="276" y="364"/>
                          </a:lnTo>
                          <a:lnTo>
                            <a:pt x="283" y="360"/>
                          </a:lnTo>
                          <a:lnTo>
                            <a:pt x="299" y="350"/>
                          </a:lnTo>
                          <a:lnTo>
                            <a:pt x="314" y="340"/>
                          </a:lnTo>
                          <a:lnTo>
                            <a:pt x="328" y="327"/>
                          </a:lnTo>
                          <a:lnTo>
                            <a:pt x="340" y="313"/>
                          </a:lnTo>
                          <a:lnTo>
                            <a:pt x="351" y="298"/>
                          </a:lnTo>
                          <a:lnTo>
                            <a:pt x="360" y="283"/>
                          </a:lnTo>
                          <a:lnTo>
                            <a:pt x="365" y="275"/>
                          </a:lnTo>
                          <a:lnTo>
                            <a:pt x="370" y="266"/>
                          </a:lnTo>
                          <a:lnTo>
                            <a:pt x="373" y="258"/>
                          </a:lnTo>
                          <a:lnTo>
                            <a:pt x="376" y="249"/>
                          </a:lnTo>
                          <a:lnTo>
                            <a:pt x="379" y="240"/>
                          </a:lnTo>
                          <a:lnTo>
                            <a:pt x="380" y="230"/>
                          </a:lnTo>
                          <a:lnTo>
                            <a:pt x="382" y="221"/>
                          </a:lnTo>
                          <a:lnTo>
                            <a:pt x="383" y="210"/>
                          </a:lnTo>
                          <a:lnTo>
                            <a:pt x="383" y="201"/>
                          </a:lnTo>
                          <a:lnTo>
                            <a:pt x="385" y="192"/>
                          </a:lnTo>
                          <a:lnTo>
                            <a:pt x="383" y="181"/>
                          </a:lnTo>
                          <a:lnTo>
                            <a:pt x="383" y="172"/>
                          </a:lnTo>
                          <a:lnTo>
                            <a:pt x="382" y="161"/>
                          </a:lnTo>
                          <a:lnTo>
                            <a:pt x="380" y="152"/>
                          </a:lnTo>
                          <a:lnTo>
                            <a:pt x="379" y="143"/>
                          </a:lnTo>
                          <a:lnTo>
                            <a:pt x="376" y="133"/>
                          </a:lnTo>
                          <a:lnTo>
                            <a:pt x="373" y="126"/>
                          </a:lnTo>
                          <a:lnTo>
                            <a:pt x="370" y="116"/>
                          </a:lnTo>
                          <a:lnTo>
                            <a:pt x="365" y="107"/>
                          </a:lnTo>
                          <a:lnTo>
                            <a:pt x="360" y="100"/>
                          </a:lnTo>
                          <a:lnTo>
                            <a:pt x="351" y="84"/>
                          </a:lnTo>
                          <a:lnTo>
                            <a:pt x="340" y="69"/>
                          </a:lnTo>
                          <a:lnTo>
                            <a:pt x="328" y="55"/>
                          </a:lnTo>
                          <a:lnTo>
                            <a:pt x="314" y="43"/>
                          </a:lnTo>
                          <a:lnTo>
                            <a:pt x="299" y="32"/>
                          </a:lnTo>
                          <a:lnTo>
                            <a:pt x="283" y="23"/>
                          </a:lnTo>
                          <a:lnTo>
                            <a:pt x="276" y="18"/>
                          </a:lnTo>
                          <a:lnTo>
                            <a:pt x="267" y="13"/>
                          </a:lnTo>
                          <a:lnTo>
                            <a:pt x="259" y="10"/>
                          </a:lnTo>
                          <a:lnTo>
                            <a:pt x="250" y="7"/>
                          </a:lnTo>
                          <a:lnTo>
                            <a:pt x="240" y="4"/>
                          </a:lnTo>
                          <a:lnTo>
                            <a:pt x="231" y="3"/>
                          </a:lnTo>
                          <a:lnTo>
                            <a:pt x="222" y="1"/>
                          </a:lnTo>
                          <a:lnTo>
                            <a:pt x="211" y="0"/>
                          </a:lnTo>
                          <a:lnTo>
                            <a:pt x="202" y="0"/>
                          </a:lnTo>
                          <a:lnTo>
                            <a:pt x="193" y="0"/>
                          </a:lnTo>
                        </a:path>
                      </a:pathLst>
                    </a:custGeom>
                    <a:noFill/>
                    <a:ln w="158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0510" name="Rectangle 1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40" y="3600"/>
                      <a:ext cx="76" cy="18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en-GB" altLang="en-US" sz="190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6</a:t>
                      </a:r>
                      <a:endParaRPr lang="en-GB" altLang="en-US"/>
                    </a:p>
                  </p:txBody>
                </p:sp>
              </p:grpSp>
              <p:grpSp>
                <p:nvGrpSpPr>
                  <p:cNvPr id="20505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2416" y="3919"/>
                    <a:ext cx="193" cy="192"/>
                    <a:chOff x="5232" y="3168"/>
                    <a:chExt cx="193" cy="192"/>
                  </a:xfrm>
                </p:grpSpPr>
                <p:sp>
                  <p:nvSpPr>
                    <p:cNvPr id="20507" name="Freeform 181"/>
                    <p:cNvSpPr>
                      <a:spLocks/>
                    </p:cNvSpPr>
                    <p:nvPr/>
                  </p:nvSpPr>
                  <p:spPr bwMode="auto">
                    <a:xfrm>
                      <a:off x="5232" y="3168"/>
                      <a:ext cx="193" cy="192"/>
                    </a:xfrm>
                    <a:custGeom>
                      <a:avLst/>
                      <a:gdLst>
                        <a:gd name="T0" fmla="*/ 6 w 384"/>
                        <a:gd name="T1" fmla="*/ 0 h 384"/>
                        <a:gd name="T2" fmla="*/ 6 w 384"/>
                        <a:gd name="T3" fmla="*/ 1 h 384"/>
                        <a:gd name="T4" fmla="*/ 5 w 384"/>
                        <a:gd name="T5" fmla="*/ 1 h 384"/>
                        <a:gd name="T6" fmla="*/ 4 w 384"/>
                        <a:gd name="T7" fmla="*/ 1 h 384"/>
                        <a:gd name="T8" fmla="*/ 4 w 384"/>
                        <a:gd name="T9" fmla="*/ 1 h 384"/>
                        <a:gd name="T10" fmla="*/ 3 w 384"/>
                        <a:gd name="T11" fmla="*/ 1 h 384"/>
                        <a:gd name="T12" fmla="*/ 2 w 384"/>
                        <a:gd name="T13" fmla="*/ 2 h 384"/>
                        <a:gd name="T14" fmla="*/ 1 w 384"/>
                        <a:gd name="T15" fmla="*/ 3 h 384"/>
                        <a:gd name="T16" fmla="*/ 1 w 384"/>
                        <a:gd name="T17" fmla="*/ 3 h 384"/>
                        <a:gd name="T18" fmla="*/ 1 w 384"/>
                        <a:gd name="T19" fmla="*/ 3 h 384"/>
                        <a:gd name="T20" fmla="*/ 1 w 384"/>
                        <a:gd name="T21" fmla="*/ 5 h 384"/>
                        <a:gd name="T22" fmla="*/ 1 w 384"/>
                        <a:gd name="T23" fmla="*/ 6 h 384"/>
                        <a:gd name="T24" fmla="*/ 0 w 384"/>
                        <a:gd name="T25" fmla="*/ 6 h 384"/>
                        <a:gd name="T26" fmla="*/ 0 w 384"/>
                        <a:gd name="T27" fmla="*/ 6 h 384"/>
                        <a:gd name="T28" fmla="*/ 1 w 384"/>
                        <a:gd name="T29" fmla="*/ 6 h 384"/>
                        <a:gd name="T30" fmla="*/ 1 w 384"/>
                        <a:gd name="T31" fmla="*/ 7 h 384"/>
                        <a:gd name="T32" fmla="*/ 1 w 384"/>
                        <a:gd name="T33" fmla="*/ 9 h 384"/>
                        <a:gd name="T34" fmla="*/ 1 w 384"/>
                        <a:gd name="T35" fmla="*/ 9 h 384"/>
                        <a:gd name="T36" fmla="*/ 1 w 384"/>
                        <a:gd name="T37" fmla="*/ 10 h 384"/>
                        <a:gd name="T38" fmla="*/ 2 w 384"/>
                        <a:gd name="T39" fmla="*/ 11 h 384"/>
                        <a:gd name="T40" fmla="*/ 3 w 384"/>
                        <a:gd name="T41" fmla="*/ 11 h 384"/>
                        <a:gd name="T42" fmla="*/ 4 w 384"/>
                        <a:gd name="T43" fmla="*/ 12 h 384"/>
                        <a:gd name="T44" fmla="*/ 4 w 384"/>
                        <a:gd name="T45" fmla="*/ 12 h 384"/>
                        <a:gd name="T46" fmla="*/ 5 w 384"/>
                        <a:gd name="T47" fmla="*/ 12 h 384"/>
                        <a:gd name="T48" fmla="*/ 6 w 384"/>
                        <a:gd name="T49" fmla="*/ 12 h 384"/>
                        <a:gd name="T50" fmla="*/ 6 w 384"/>
                        <a:gd name="T51" fmla="*/ 12 h 384"/>
                        <a:gd name="T52" fmla="*/ 7 w 384"/>
                        <a:gd name="T53" fmla="*/ 12 h 384"/>
                        <a:gd name="T54" fmla="*/ 7 w 384"/>
                        <a:gd name="T55" fmla="*/ 12 h 384"/>
                        <a:gd name="T56" fmla="*/ 8 w 384"/>
                        <a:gd name="T57" fmla="*/ 12 h 384"/>
                        <a:gd name="T58" fmla="*/ 9 w 384"/>
                        <a:gd name="T59" fmla="*/ 12 h 384"/>
                        <a:gd name="T60" fmla="*/ 9 w 384"/>
                        <a:gd name="T61" fmla="*/ 12 h 384"/>
                        <a:gd name="T62" fmla="*/ 10 w 384"/>
                        <a:gd name="T63" fmla="*/ 11 h 384"/>
                        <a:gd name="T64" fmla="*/ 11 w 384"/>
                        <a:gd name="T65" fmla="*/ 11 h 384"/>
                        <a:gd name="T66" fmla="*/ 11 w 384"/>
                        <a:gd name="T67" fmla="*/ 10 h 384"/>
                        <a:gd name="T68" fmla="*/ 12 w 384"/>
                        <a:gd name="T69" fmla="*/ 9 h 384"/>
                        <a:gd name="T70" fmla="*/ 12 w 384"/>
                        <a:gd name="T71" fmla="*/ 9 h 384"/>
                        <a:gd name="T72" fmla="*/ 12 w 384"/>
                        <a:gd name="T73" fmla="*/ 7 h 384"/>
                        <a:gd name="T74" fmla="*/ 12 w 384"/>
                        <a:gd name="T75" fmla="*/ 6 h 384"/>
                        <a:gd name="T76" fmla="*/ 13 w 384"/>
                        <a:gd name="T77" fmla="*/ 6 h 384"/>
                        <a:gd name="T78" fmla="*/ 13 w 384"/>
                        <a:gd name="T79" fmla="*/ 6 h 384"/>
                        <a:gd name="T80" fmla="*/ 12 w 384"/>
                        <a:gd name="T81" fmla="*/ 6 h 384"/>
                        <a:gd name="T82" fmla="*/ 12 w 384"/>
                        <a:gd name="T83" fmla="*/ 5 h 384"/>
                        <a:gd name="T84" fmla="*/ 12 w 384"/>
                        <a:gd name="T85" fmla="*/ 3 h 384"/>
                        <a:gd name="T86" fmla="*/ 12 w 384"/>
                        <a:gd name="T87" fmla="*/ 3 h 384"/>
                        <a:gd name="T88" fmla="*/ 11 w 384"/>
                        <a:gd name="T89" fmla="*/ 3 h 384"/>
                        <a:gd name="T90" fmla="*/ 11 w 384"/>
                        <a:gd name="T91" fmla="*/ 2 h 384"/>
                        <a:gd name="T92" fmla="*/ 10 w 384"/>
                        <a:gd name="T93" fmla="*/ 1 h 384"/>
                        <a:gd name="T94" fmla="*/ 9 w 384"/>
                        <a:gd name="T95" fmla="*/ 1 h 384"/>
                        <a:gd name="T96" fmla="*/ 9 w 384"/>
                        <a:gd name="T97" fmla="*/ 1 h 384"/>
                        <a:gd name="T98" fmla="*/ 8 w 384"/>
                        <a:gd name="T99" fmla="*/ 1 h 384"/>
                        <a:gd name="T100" fmla="*/ 7 w 384"/>
                        <a:gd name="T101" fmla="*/ 1 h 384"/>
                        <a:gd name="T102" fmla="*/ 7 w 384"/>
                        <a:gd name="T103" fmla="*/ 0 h 384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w 384"/>
                        <a:gd name="T157" fmla="*/ 0 h 384"/>
                        <a:gd name="T158" fmla="*/ 384 w 384"/>
                        <a:gd name="T159" fmla="*/ 384 h 384"/>
                      </a:gdLst>
                      <a:ahLst/>
                      <a:cxnLst>
                        <a:cxn ang="T104">
                          <a:pos x="T0" y="T1"/>
                        </a:cxn>
                        <a:cxn ang="T105">
                          <a:pos x="T2" y="T3"/>
                        </a:cxn>
                        <a:cxn ang="T106">
                          <a:pos x="T4" y="T5"/>
                        </a:cxn>
                        <a:cxn ang="T107">
                          <a:pos x="T6" y="T7"/>
                        </a:cxn>
                        <a:cxn ang="T108">
                          <a:pos x="T8" y="T9"/>
                        </a:cxn>
                        <a:cxn ang="T109">
                          <a:pos x="T10" y="T11"/>
                        </a:cxn>
                        <a:cxn ang="T110">
                          <a:pos x="T12" y="T13"/>
                        </a:cxn>
                        <a:cxn ang="T111">
                          <a:pos x="T14" y="T15"/>
                        </a:cxn>
                        <a:cxn ang="T112">
                          <a:pos x="T16" y="T17"/>
                        </a:cxn>
                        <a:cxn ang="T113">
                          <a:pos x="T18" y="T19"/>
                        </a:cxn>
                        <a:cxn ang="T114">
                          <a:pos x="T20" y="T21"/>
                        </a:cxn>
                        <a:cxn ang="T115">
                          <a:pos x="T22" y="T23"/>
                        </a:cxn>
                        <a:cxn ang="T116">
                          <a:pos x="T24" y="T25"/>
                        </a:cxn>
                        <a:cxn ang="T117">
                          <a:pos x="T26" y="T27"/>
                        </a:cxn>
                        <a:cxn ang="T118">
                          <a:pos x="T28" y="T29"/>
                        </a:cxn>
                        <a:cxn ang="T119">
                          <a:pos x="T30" y="T31"/>
                        </a:cxn>
                        <a:cxn ang="T120">
                          <a:pos x="T32" y="T33"/>
                        </a:cxn>
                        <a:cxn ang="T121">
                          <a:pos x="T34" y="T35"/>
                        </a:cxn>
                        <a:cxn ang="T122">
                          <a:pos x="T36" y="T37"/>
                        </a:cxn>
                        <a:cxn ang="T123">
                          <a:pos x="T38" y="T39"/>
                        </a:cxn>
                        <a:cxn ang="T124">
                          <a:pos x="T40" y="T41"/>
                        </a:cxn>
                        <a:cxn ang="T125">
                          <a:pos x="T42" y="T43"/>
                        </a:cxn>
                        <a:cxn ang="T126">
                          <a:pos x="T44" y="T45"/>
                        </a:cxn>
                        <a:cxn ang="T127">
                          <a:pos x="T46" y="T47"/>
                        </a:cxn>
                        <a:cxn ang="T128">
                          <a:pos x="T48" y="T49"/>
                        </a:cxn>
                        <a:cxn ang="T129">
                          <a:pos x="T50" y="T51"/>
                        </a:cxn>
                        <a:cxn ang="T130">
                          <a:pos x="T52" y="T53"/>
                        </a:cxn>
                        <a:cxn ang="T131">
                          <a:pos x="T54" y="T55"/>
                        </a:cxn>
                        <a:cxn ang="T132">
                          <a:pos x="T56" y="T57"/>
                        </a:cxn>
                        <a:cxn ang="T133">
                          <a:pos x="T58" y="T59"/>
                        </a:cxn>
                        <a:cxn ang="T134">
                          <a:pos x="T60" y="T61"/>
                        </a:cxn>
                        <a:cxn ang="T135">
                          <a:pos x="T62" y="T63"/>
                        </a:cxn>
                        <a:cxn ang="T136">
                          <a:pos x="T64" y="T65"/>
                        </a:cxn>
                        <a:cxn ang="T137">
                          <a:pos x="T66" y="T67"/>
                        </a:cxn>
                        <a:cxn ang="T138">
                          <a:pos x="T68" y="T69"/>
                        </a:cxn>
                        <a:cxn ang="T139">
                          <a:pos x="T70" y="T71"/>
                        </a:cxn>
                        <a:cxn ang="T140">
                          <a:pos x="T72" y="T73"/>
                        </a:cxn>
                        <a:cxn ang="T141">
                          <a:pos x="T74" y="T75"/>
                        </a:cxn>
                        <a:cxn ang="T142">
                          <a:pos x="T76" y="T77"/>
                        </a:cxn>
                        <a:cxn ang="T143">
                          <a:pos x="T78" y="T79"/>
                        </a:cxn>
                        <a:cxn ang="T144">
                          <a:pos x="T80" y="T81"/>
                        </a:cxn>
                        <a:cxn ang="T145">
                          <a:pos x="T82" y="T83"/>
                        </a:cxn>
                        <a:cxn ang="T146">
                          <a:pos x="T84" y="T85"/>
                        </a:cxn>
                        <a:cxn ang="T147">
                          <a:pos x="T86" y="T87"/>
                        </a:cxn>
                        <a:cxn ang="T148">
                          <a:pos x="T88" y="T89"/>
                        </a:cxn>
                        <a:cxn ang="T149">
                          <a:pos x="T90" y="T91"/>
                        </a:cxn>
                        <a:cxn ang="T150">
                          <a:pos x="T92" y="T93"/>
                        </a:cxn>
                        <a:cxn ang="T151">
                          <a:pos x="T94" y="T95"/>
                        </a:cxn>
                        <a:cxn ang="T152">
                          <a:pos x="T96" y="T97"/>
                        </a:cxn>
                        <a:cxn ang="T153">
                          <a:pos x="T98" y="T99"/>
                        </a:cxn>
                        <a:cxn ang="T154">
                          <a:pos x="T100" y="T101"/>
                        </a:cxn>
                        <a:cxn ang="T155">
                          <a:pos x="T102" y="T103"/>
                        </a:cxn>
                      </a:cxnLst>
                      <a:rect l="T156" t="T157" r="T158" b="T159"/>
                      <a:pathLst>
                        <a:path w="384" h="384">
                          <a:moveTo>
                            <a:pt x="192" y="0"/>
                          </a:moveTo>
                          <a:lnTo>
                            <a:pt x="181" y="0"/>
                          </a:lnTo>
                          <a:lnTo>
                            <a:pt x="172" y="0"/>
                          </a:lnTo>
                          <a:lnTo>
                            <a:pt x="161" y="1"/>
                          </a:lnTo>
                          <a:lnTo>
                            <a:pt x="152" y="3"/>
                          </a:lnTo>
                          <a:lnTo>
                            <a:pt x="143" y="4"/>
                          </a:lnTo>
                          <a:lnTo>
                            <a:pt x="134" y="7"/>
                          </a:lnTo>
                          <a:lnTo>
                            <a:pt x="126" y="10"/>
                          </a:lnTo>
                          <a:lnTo>
                            <a:pt x="117" y="14"/>
                          </a:lnTo>
                          <a:lnTo>
                            <a:pt x="108" y="18"/>
                          </a:lnTo>
                          <a:lnTo>
                            <a:pt x="100" y="23"/>
                          </a:lnTo>
                          <a:lnTo>
                            <a:pt x="84" y="32"/>
                          </a:lnTo>
                          <a:lnTo>
                            <a:pt x="69" y="43"/>
                          </a:lnTo>
                          <a:lnTo>
                            <a:pt x="55" y="55"/>
                          </a:lnTo>
                          <a:lnTo>
                            <a:pt x="43" y="69"/>
                          </a:lnTo>
                          <a:lnTo>
                            <a:pt x="32" y="84"/>
                          </a:lnTo>
                          <a:lnTo>
                            <a:pt x="23" y="100"/>
                          </a:lnTo>
                          <a:lnTo>
                            <a:pt x="18" y="107"/>
                          </a:lnTo>
                          <a:lnTo>
                            <a:pt x="14" y="117"/>
                          </a:lnTo>
                          <a:lnTo>
                            <a:pt x="11" y="126"/>
                          </a:lnTo>
                          <a:lnTo>
                            <a:pt x="8" y="134"/>
                          </a:lnTo>
                          <a:lnTo>
                            <a:pt x="4" y="143"/>
                          </a:lnTo>
                          <a:lnTo>
                            <a:pt x="3" y="152"/>
                          </a:lnTo>
                          <a:lnTo>
                            <a:pt x="1" y="161"/>
                          </a:lnTo>
                          <a:lnTo>
                            <a:pt x="0" y="172"/>
                          </a:lnTo>
                          <a:lnTo>
                            <a:pt x="0" y="181"/>
                          </a:lnTo>
                          <a:lnTo>
                            <a:pt x="0" y="192"/>
                          </a:lnTo>
                          <a:lnTo>
                            <a:pt x="0" y="201"/>
                          </a:lnTo>
                          <a:lnTo>
                            <a:pt x="0" y="210"/>
                          </a:lnTo>
                          <a:lnTo>
                            <a:pt x="1" y="221"/>
                          </a:lnTo>
                          <a:lnTo>
                            <a:pt x="3" y="230"/>
                          </a:lnTo>
                          <a:lnTo>
                            <a:pt x="4" y="240"/>
                          </a:lnTo>
                          <a:lnTo>
                            <a:pt x="8" y="249"/>
                          </a:lnTo>
                          <a:lnTo>
                            <a:pt x="11" y="258"/>
                          </a:lnTo>
                          <a:lnTo>
                            <a:pt x="14" y="266"/>
                          </a:lnTo>
                          <a:lnTo>
                            <a:pt x="18" y="275"/>
                          </a:lnTo>
                          <a:lnTo>
                            <a:pt x="23" y="283"/>
                          </a:lnTo>
                          <a:lnTo>
                            <a:pt x="32" y="298"/>
                          </a:lnTo>
                          <a:lnTo>
                            <a:pt x="43" y="313"/>
                          </a:lnTo>
                          <a:lnTo>
                            <a:pt x="55" y="327"/>
                          </a:lnTo>
                          <a:lnTo>
                            <a:pt x="69" y="340"/>
                          </a:lnTo>
                          <a:lnTo>
                            <a:pt x="84" y="350"/>
                          </a:lnTo>
                          <a:lnTo>
                            <a:pt x="100" y="360"/>
                          </a:lnTo>
                          <a:lnTo>
                            <a:pt x="108" y="364"/>
                          </a:lnTo>
                          <a:lnTo>
                            <a:pt x="117" y="369"/>
                          </a:lnTo>
                          <a:lnTo>
                            <a:pt x="126" y="372"/>
                          </a:lnTo>
                          <a:lnTo>
                            <a:pt x="134" y="375"/>
                          </a:lnTo>
                          <a:lnTo>
                            <a:pt x="143" y="378"/>
                          </a:lnTo>
                          <a:lnTo>
                            <a:pt x="152" y="380"/>
                          </a:lnTo>
                          <a:lnTo>
                            <a:pt x="161" y="381"/>
                          </a:lnTo>
                          <a:lnTo>
                            <a:pt x="172" y="383"/>
                          </a:lnTo>
                          <a:lnTo>
                            <a:pt x="181" y="383"/>
                          </a:lnTo>
                          <a:lnTo>
                            <a:pt x="192" y="384"/>
                          </a:lnTo>
                          <a:lnTo>
                            <a:pt x="201" y="383"/>
                          </a:lnTo>
                          <a:lnTo>
                            <a:pt x="211" y="383"/>
                          </a:lnTo>
                          <a:lnTo>
                            <a:pt x="221" y="381"/>
                          </a:lnTo>
                          <a:lnTo>
                            <a:pt x="231" y="380"/>
                          </a:lnTo>
                          <a:lnTo>
                            <a:pt x="240" y="378"/>
                          </a:lnTo>
                          <a:lnTo>
                            <a:pt x="249" y="375"/>
                          </a:lnTo>
                          <a:lnTo>
                            <a:pt x="258" y="372"/>
                          </a:lnTo>
                          <a:lnTo>
                            <a:pt x="266" y="369"/>
                          </a:lnTo>
                          <a:lnTo>
                            <a:pt x="275" y="364"/>
                          </a:lnTo>
                          <a:lnTo>
                            <a:pt x="283" y="360"/>
                          </a:lnTo>
                          <a:lnTo>
                            <a:pt x="298" y="350"/>
                          </a:lnTo>
                          <a:lnTo>
                            <a:pt x="314" y="340"/>
                          </a:lnTo>
                          <a:lnTo>
                            <a:pt x="327" y="327"/>
                          </a:lnTo>
                          <a:lnTo>
                            <a:pt x="340" y="313"/>
                          </a:lnTo>
                          <a:lnTo>
                            <a:pt x="351" y="298"/>
                          </a:lnTo>
                          <a:lnTo>
                            <a:pt x="360" y="283"/>
                          </a:lnTo>
                          <a:lnTo>
                            <a:pt x="364" y="275"/>
                          </a:lnTo>
                          <a:lnTo>
                            <a:pt x="369" y="266"/>
                          </a:lnTo>
                          <a:lnTo>
                            <a:pt x="372" y="258"/>
                          </a:lnTo>
                          <a:lnTo>
                            <a:pt x="375" y="249"/>
                          </a:lnTo>
                          <a:lnTo>
                            <a:pt x="378" y="240"/>
                          </a:lnTo>
                          <a:lnTo>
                            <a:pt x="380" y="230"/>
                          </a:lnTo>
                          <a:lnTo>
                            <a:pt x="381" y="221"/>
                          </a:lnTo>
                          <a:lnTo>
                            <a:pt x="383" y="210"/>
                          </a:lnTo>
                          <a:lnTo>
                            <a:pt x="383" y="201"/>
                          </a:lnTo>
                          <a:lnTo>
                            <a:pt x="384" y="192"/>
                          </a:lnTo>
                          <a:lnTo>
                            <a:pt x="383" y="181"/>
                          </a:lnTo>
                          <a:lnTo>
                            <a:pt x="383" y="172"/>
                          </a:lnTo>
                          <a:lnTo>
                            <a:pt x="381" y="161"/>
                          </a:lnTo>
                          <a:lnTo>
                            <a:pt x="380" y="152"/>
                          </a:lnTo>
                          <a:lnTo>
                            <a:pt x="378" y="143"/>
                          </a:lnTo>
                          <a:lnTo>
                            <a:pt x="375" y="134"/>
                          </a:lnTo>
                          <a:lnTo>
                            <a:pt x="372" y="126"/>
                          </a:lnTo>
                          <a:lnTo>
                            <a:pt x="369" y="117"/>
                          </a:lnTo>
                          <a:lnTo>
                            <a:pt x="364" y="107"/>
                          </a:lnTo>
                          <a:lnTo>
                            <a:pt x="360" y="100"/>
                          </a:lnTo>
                          <a:lnTo>
                            <a:pt x="351" y="84"/>
                          </a:lnTo>
                          <a:lnTo>
                            <a:pt x="340" y="69"/>
                          </a:lnTo>
                          <a:lnTo>
                            <a:pt x="327" y="55"/>
                          </a:lnTo>
                          <a:lnTo>
                            <a:pt x="314" y="43"/>
                          </a:lnTo>
                          <a:lnTo>
                            <a:pt x="298" y="32"/>
                          </a:lnTo>
                          <a:lnTo>
                            <a:pt x="283" y="23"/>
                          </a:lnTo>
                          <a:lnTo>
                            <a:pt x="275" y="18"/>
                          </a:lnTo>
                          <a:lnTo>
                            <a:pt x="266" y="14"/>
                          </a:lnTo>
                          <a:lnTo>
                            <a:pt x="258" y="10"/>
                          </a:lnTo>
                          <a:lnTo>
                            <a:pt x="249" y="7"/>
                          </a:lnTo>
                          <a:lnTo>
                            <a:pt x="240" y="4"/>
                          </a:lnTo>
                          <a:lnTo>
                            <a:pt x="231" y="3"/>
                          </a:lnTo>
                          <a:lnTo>
                            <a:pt x="221" y="1"/>
                          </a:lnTo>
                          <a:lnTo>
                            <a:pt x="211" y="0"/>
                          </a:lnTo>
                          <a:lnTo>
                            <a:pt x="201" y="0"/>
                          </a:lnTo>
                          <a:lnTo>
                            <a:pt x="192" y="0"/>
                          </a:lnTo>
                        </a:path>
                      </a:pathLst>
                    </a:custGeom>
                    <a:noFill/>
                    <a:ln w="158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0508" name="Rectangle 1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270" y="3168"/>
                      <a:ext cx="76" cy="18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en-GB" altLang="en-US" sz="1900">
                          <a:solidFill>
                            <a:srgbClr val="000000"/>
                          </a:solidFill>
                          <a:latin typeface="Times New Roman" pitchFamily="18" charset="0"/>
                        </a:rPr>
                        <a:t>5</a:t>
                      </a:r>
                      <a:endParaRPr lang="en-GB" altLang="en-US"/>
                    </a:p>
                  </p:txBody>
                </p:sp>
              </p:grpSp>
              <p:sp>
                <p:nvSpPr>
                  <p:cNvPr id="20506" name="Line 18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58" y="3771"/>
                    <a:ext cx="64" cy="15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20498" name="Group 192"/>
              <p:cNvGrpSpPr>
                <a:grpSpLocks/>
              </p:cNvGrpSpPr>
              <p:nvPr/>
            </p:nvGrpSpPr>
            <p:grpSpPr bwMode="auto">
              <a:xfrm>
                <a:off x="3520" y="3265"/>
                <a:ext cx="192" cy="193"/>
                <a:chOff x="3725" y="3401"/>
                <a:chExt cx="192" cy="193"/>
              </a:xfrm>
            </p:grpSpPr>
            <p:sp>
              <p:nvSpPr>
                <p:cNvPr id="20500" name="Freeform 149"/>
                <p:cNvSpPr>
                  <a:spLocks/>
                </p:cNvSpPr>
                <p:nvPr/>
              </p:nvSpPr>
              <p:spPr bwMode="auto">
                <a:xfrm>
                  <a:off x="3725" y="3401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0501" name="Rectangle 185"/>
                <p:cNvSpPr>
                  <a:spLocks noChangeArrowheads="1"/>
                </p:cNvSpPr>
                <p:nvPr/>
              </p:nvSpPr>
              <p:spPr bwMode="auto">
                <a:xfrm>
                  <a:off x="3744" y="3408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12</a:t>
                  </a:r>
                  <a:endParaRPr lang="en-GB" altLang="en-US"/>
                </a:p>
              </p:txBody>
            </p:sp>
          </p:grpSp>
          <p:sp>
            <p:nvSpPr>
              <p:cNvPr id="20499" name="Line 190"/>
              <p:cNvSpPr>
                <a:spLocks noChangeShapeType="1"/>
              </p:cNvSpPr>
              <p:nvPr/>
            </p:nvSpPr>
            <p:spPr bwMode="auto">
              <a:xfrm flipH="1">
                <a:off x="3651" y="3128"/>
                <a:ext cx="64" cy="1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0491" name="Slide Number Placeholder 17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E847E-4CAD-4803-BB44-665F18B48750}" type="slidenum">
              <a:rPr lang="en-GB" altLang="en-US" smtClean="0"/>
              <a:pPr eaLnBrk="1" hangingPunct="1"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8602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altLang="en-US"/>
              <a:t>Example contd.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500" y="1119188"/>
            <a:ext cx="822960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/>
              <a:t>Inserting 11, 10, 9 single rotation needed, inserting 8 requires no rotation. The resulting tree is:</a:t>
            </a:r>
          </a:p>
        </p:txBody>
      </p:sp>
      <p:grpSp>
        <p:nvGrpSpPr>
          <p:cNvPr id="21508" name="Group 66"/>
          <p:cNvGrpSpPr>
            <a:grpSpLocks/>
          </p:cNvGrpSpPr>
          <p:nvPr/>
        </p:nvGrpSpPr>
        <p:grpSpPr bwMode="auto">
          <a:xfrm>
            <a:off x="2514600" y="2057400"/>
            <a:ext cx="3303588" cy="2424113"/>
            <a:chOff x="1488" y="1152"/>
            <a:chExt cx="2081" cy="1527"/>
          </a:xfrm>
        </p:grpSpPr>
        <p:sp>
          <p:nvSpPr>
            <p:cNvPr id="21513" name="Line 5"/>
            <p:cNvSpPr>
              <a:spLocks noChangeShapeType="1"/>
            </p:cNvSpPr>
            <p:nvPr/>
          </p:nvSpPr>
          <p:spPr bwMode="auto">
            <a:xfrm flipH="1">
              <a:off x="2701" y="1566"/>
              <a:ext cx="79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4" name="Line 6"/>
            <p:cNvSpPr>
              <a:spLocks noChangeShapeType="1"/>
            </p:cNvSpPr>
            <p:nvPr/>
          </p:nvSpPr>
          <p:spPr bwMode="auto">
            <a:xfrm flipH="1" flipV="1">
              <a:off x="2226" y="1615"/>
              <a:ext cx="109" cy="12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5" name="Freeform 9"/>
            <p:cNvSpPr>
              <a:spLocks/>
            </p:cNvSpPr>
            <p:nvPr/>
          </p:nvSpPr>
          <p:spPr bwMode="auto">
            <a:xfrm>
              <a:off x="2564" y="1728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6" name="Rectangle 10"/>
            <p:cNvSpPr>
              <a:spLocks noChangeArrowheads="1"/>
            </p:cNvSpPr>
            <p:nvPr/>
          </p:nvSpPr>
          <p:spPr bwMode="auto">
            <a:xfrm>
              <a:off x="2596" y="1738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10</a:t>
              </a:r>
              <a:endParaRPr lang="en-GB" altLang="en-US"/>
            </a:p>
          </p:txBody>
        </p:sp>
        <p:sp>
          <p:nvSpPr>
            <p:cNvPr id="21517" name="Line 13"/>
            <p:cNvSpPr>
              <a:spLocks noChangeShapeType="1"/>
            </p:cNvSpPr>
            <p:nvPr/>
          </p:nvSpPr>
          <p:spPr bwMode="auto">
            <a:xfrm flipV="1">
              <a:off x="2252" y="1321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1872" y="1934"/>
              <a:ext cx="47" cy="18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19" name="Group 15"/>
            <p:cNvGrpSpPr>
              <a:grpSpLocks/>
            </p:cNvGrpSpPr>
            <p:nvPr/>
          </p:nvGrpSpPr>
          <p:grpSpPr bwMode="auto">
            <a:xfrm>
              <a:off x="1843" y="2111"/>
              <a:ext cx="192" cy="193"/>
              <a:chOff x="3106" y="3644"/>
              <a:chExt cx="192" cy="193"/>
            </a:xfrm>
          </p:grpSpPr>
          <p:sp>
            <p:nvSpPr>
              <p:cNvPr id="21562" name="Freeform 16"/>
              <p:cNvSpPr>
                <a:spLocks/>
              </p:cNvSpPr>
              <p:nvPr/>
            </p:nvSpPr>
            <p:spPr bwMode="auto">
              <a:xfrm>
                <a:off x="3106" y="3644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2" y="0"/>
                    </a:moveTo>
                    <a:lnTo>
                      <a:pt x="182" y="0"/>
                    </a:lnTo>
                    <a:lnTo>
                      <a:pt x="172" y="0"/>
                    </a:lnTo>
                    <a:lnTo>
                      <a:pt x="162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99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39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39"/>
                    </a:lnTo>
                    <a:lnTo>
                      <a:pt x="85" y="350"/>
                    </a:lnTo>
                    <a:lnTo>
                      <a:pt x="100" y="359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79"/>
                    </a:lnTo>
                    <a:lnTo>
                      <a:pt x="162" y="381"/>
                    </a:lnTo>
                    <a:lnTo>
                      <a:pt x="172" y="382"/>
                    </a:lnTo>
                    <a:lnTo>
                      <a:pt x="182" y="382"/>
                    </a:lnTo>
                    <a:lnTo>
                      <a:pt x="192" y="384"/>
                    </a:lnTo>
                    <a:lnTo>
                      <a:pt x="202" y="382"/>
                    </a:lnTo>
                    <a:lnTo>
                      <a:pt x="211" y="382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59"/>
                    </a:lnTo>
                    <a:lnTo>
                      <a:pt x="299" y="350"/>
                    </a:lnTo>
                    <a:lnTo>
                      <a:pt x="314" y="339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9" y="239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5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99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63" name="Rectangle 17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GB" altLang="en-US"/>
              </a:p>
            </p:txBody>
          </p:sp>
        </p:grpSp>
        <p:sp>
          <p:nvSpPr>
            <p:cNvPr id="21520" name="Freeform 19"/>
            <p:cNvSpPr>
              <a:spLocks/>
            </p:cNvSpPr>
            <p:nvPr/>
          </p:nvSpPr>
          <p:spPr bwMode="auto">
            <a:xfrm>
              <a:off x="3087" y="1597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1" name="Freeform 21"/>
            <p:cNvSpPr>
              <a:spLocks/>
            </p:cNvSpPr>
            <p:nvPr/>
          </p:nvSpPr>
          <p:spPr bwMode="auto">
            <a:xfrm>
              <a:off x="2729" y="1399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2" name="Line 23"/>
            <p:cNvSpPr>
              <a:spLocks noChangeShapeType="1"/>
            </p:cNvSpPr>
            <p:nvPr/>
          </p:nvSpPr>
          <p:spPr bwMode="auto">
            <a:xfrm>
              <a:off x="2533" y="1313"/>
              <a:ext cx="210" cy="12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3" name="Line 24"/>
            <p:cNvSpPr>
              <a:spLocks noChangeShapeType="1"/>
            </p:cNvSpPr>
            <p:nvPr/>
          </p:nvSpPr>
          <p:spPr bwMode="auto">
            <a:xfrm>
              <a:off x="2912" y="1538"/>
              <a:ext cx="188" cy="11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4" name="Rectangle 25"/>
            <p:cNvSpPr>
              <a:spLocks noChangeArrowheads="1"/>
            </p:cNvSpPr>
            <p:nvPr/>
          </p:nvSpPr>
          <p:spPr bwMode="auto">
            <a:xfrm>
              <a:off x="2734" y="140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12</a:t>
              </a:r>
              <a:endParaRPr lang="en-GB" altLang="en-US"/>
            </a:p>
          </p:txBody>
        </p:sp>
        <p:sp>
          <p:nvSpPr>
            <p:cNvPr id="21525" name="Rectangle 26"/>
            <p:cNvSpPr>
              <a:spLocks noChangeArrowheads="1"/>
            </p:cNvSpPr>
            <p:nvPr/>
          </p:nvSpPr>
          <p:spPr bwMode="auto">
            <a:xfrm>
              <a:off x="3103" y="159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14</a:t>
              </a:r>
              <a:endParaRPr lang="en-GB" altLang="en-US"/>
            </a:p>
          </p:txBody>
        </p:sp>
        <p:sp>
          <p:nvSpPr>
            <p:cNvPr id="21526" name="Freeform 27"/>
            <p:cNvSpPr>
              <a:spLocks/>
            </p:cNvSpPr>
            <p:nvPr/>
          </p:nvSpPr>
          <p:spPr bwMode="auto">
            <a:xfrm>
              <a:off x="2352" y="1152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27" name="Rectangle 28"/>
            <p:cNvSpPr>
              <a:spLocks noChangeArrowheads="1"/>
            </p:cNvSpPr>
            <p:nvPr/>
          </p:nvSpPr>
          <p:spPr bwMode="auto">
            <a:xfrm>
              <a:off x="2415" y="11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GB" altLang="en-US"/>
            </a:p>
          </p:txBody>
        </p:sp>
        <p:sp>
          <p:nvSpPr>
            <p:cNvPr id="21528" name="Rectangle 29"/>
            <p:cNvSpPr>
              <a:spLocks noChangeArrowheads="1"/>
            </p:cNvSpPr>
            <p:nvPr/>
          </p:nvSpPr>
          <p:spPr bwMode="auto">
            <a:xfrm>
              <a:off x="1849" y="175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21529" name="Line 30"/>
            <p:cNvSpPr>
              <a:spLocks noChangeShapeType="1"/>
            </p:cNvSpPr>
            <p:nvPr/>
          </p:nvSpPr>
          <p:spPr bwMode="auto">
            <a:xfrm flipV="1">
              <a:off x="1641" y="1934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30" name="Freeform 31"/>
            <p:cNvSpPr>
              <a:spLocks/>
            </p:cNvSpPr>
            <p:nvPr/>
          </p:nvSpPr>
          <p:spPr bwMode="auto">
            <a:xfrm>
              <a:off x="1488" y="2050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31" name="Rectangle 32"/>
            <p:cNvSpPr>
              <a:spLocks noChangeArrowheads="1"/>
            </p:cNvSpPr>
            <p:nvPr/>
          </p:nvSpPr>
          <p:spPr bwMode="auto">
            <a:xfrm>
              <a:off x="1580" y="206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21532" name="Freeform 33"/>
            <p:cNvSpPr>
              <a:spLocks/>
            </p:cNvSpPr>
            <p:nvPr/>
          </p:nvSpPr>
          <p:spPr bwMode="auto">
            <a:xfrm>
              <a:off x="2103" y="1435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33" name="Rectangle 34"/>
            <p:cNvSpPr>
              <a:spLocks noChangeArrowheads="1"/>
            </p:cNvSpPr>
            <p:nvPr/>
          </p:nvSpPr>
          <p:spPr bwMode="auto">
            <a:xfrm>
              <a:off x="2195" y="144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21534" name="Line 35"/>
            <p:cNvSpPr>
              <a:spLocks noChangeShapeType="1"/>
            </p:cNvSpPr>
            <p:nvPr/>
          </p:nvSpPr>
          <p:spPr bwMode="auto">
            <a:xfrm flipH="1">
              <a:off x="1922" y="1588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35" name="Freeform 36"/>
            <p:cNvSpPr>
              <a:spLocks/>
            </p:cNvSpPr>
            <p:nvPr/>
          </p:nvSpPr>
          <p:spPr bwMode="auto">
            <a:xfrm>
              <a:off x="1757" y="1742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36" name="Group 38"/>
            <p:cNvGrpSpPr>
              <a:grpSpLocks/>
            </p:cNvGrpSpPr>
            <p:nvPr/>
          </p:nvGrpSpPr>
          <p:grpSpPr bwMode="auto">
            <a:xfrm>
              <a:off x="2269" y="1742"/>
              <a:ext cx="192" cy="192"/>
              <a:chOff x="2592" y="3600"/>
              <a:chExt cx="192" cy="192"/>
            </a:xfrm>
          </p:grpSpPr>
          <p:sp>
            <p:nvSpPr>
              <p:cNvPr id="21560" name="Freeform 39"/>
              <p:cNvSpPr>
                <a:spLocks/>
              </p:cNvSpPr>
              <p:nvPr/>
            </p:nvSpPr>
            <p:spPr bwMode="auto">
              <a:xfrm>
                <a:off x="2592" y="360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61" name="Rectangle 40"/>
              <p:cNvSpPr>
                <a:spLocks noChangeArrowheads="1"/>
              </p:cNvSpPr>
              <p:nvPr/>
            </p:nvSpPr>
            <p:spPr bwMode="auto">
              <a:xfrm>
                <a:off x="2640" y="3600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</p:grpSp>
        <p:grpSp>
          <p:nvGrpSpPr>
            <p:cNvPr id="21537" name="Group 41"/>
            <p:cNvGrpSpPr>
              <a:grpSpLocks/>
            </p:cNvGrpSpPr>
            <p:nvPr/>
          </p:nvGrpSpPr>
          <p:grpSpPr bwMode="auto">
            <a:xfrm>
              <a:off x="2115" y="2121"/>
              <a:ext cx="193" cy="192"/>
              <a:chOff x="5232" y="3168"/>
              <a:chExt cx="193" cy="192"/>
            </a:xfrm>
          </p:grpSpPr>
          <p:sp>
            <p:nvSpPr>
              <p:cNvPr id="21558" name="Freeform 42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9" name="Rectangle 43"/>
              <p:cNvSpPr>
                <a:spLocks noChangeArrowheads="1"/>
              </p:cNvSpPr>
              <p:nvPr/>
            </p:nvSpPr>
            <p:spPr bwMode="auto">
              <a:xfrm>
                <a:off x="5270" y="316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</p:grpSp>
        <p:sp>
          <p:nvSpPr>
            <p:cNvPr id="21538" name="Line 44"/>
            <p:cNvSpPr>
              <a:spLocks noChangeShapeType="1"/>
            </p:cNvSpPr>
            <p:nvPr/>
          </p:nvSpPr>
          <p:spPr bwMode="auto">
            <a:xfrm flipH="1">
              <a:off x="2259" y="1920"/>
              <a:ext cx="7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39" name="Freeform 46"/>
            <p:cNvSpPr>
              <a:spLocks/>
            </p:cNvSpPr>
            <p:nvPr/>
          </p:nvSpPr>
          <p:spPr bwMode="auto">
            <a:xfrm>
              <a:off x="2416" y="2156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540" name="Rectangle 47"/>
            <p:cNvSpPr>
              <a:spLocks noChangeArrowheads="1"/>
            </p:cNvSpPr>
            <p:nvPr/>
          </p:nvSpPr>
          <p:spPr bwMode="auto">
            <a:xfrm>
              <a:off x="2473" y="21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9</a:t>
              </a:r>
              <a:endParaRPr lang="en-GB" altLang="en-US"/>
            </a:p>
          </p:txBody>
        </p:sp>
        <p:sp>
          <p:nvSpPr>
            <p:cNvPr id="21541" name="Line 48"/>
            <p:cNvSpPr>
              <a:spLocks noChangeShapeType="1"/>
            </p:cNvSpPr>
            <p:nvPr/>
          </p:nvSpPr>
          <p:spPr bwMode="auto">
            <a:xfrm flipH="1">
              <a:off x="2539" y="1906"/>
              <a:ext cx="87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42" name="Group 56"/>
            <p:cNvGrpSpPr>
              <a:grpSpLocks/>
            </p:cNvGrpSpPr>
            <p:nvPr/>
          </p:nvGrpSpPr>
          <p:grpSpPr bwMode="auto">
            <a:xfrm>
              <a:off x="2277" y="2343"/>
              <a:ext cx="192" cy="336"/>
              <a:chOff x="2277" y="2343"/>
              <a:chExt cx="192" cy="336"/>
            </a:xfrm>
          </p:grpSpPr>
          <p:sp>
            <p:nvSpPr>
              <p:cNvPr id="21555" name="Freeform 49"/>
              <p:cNvSpPr>
                <a:spLocks/>
              </p:cNvSpPr>
              <p:nvPr/>
            </p:nvSpPr>
            <p:spPr bwMode="auto">
              <a:xfrm>
                <a:off x="2277" y="248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6" name="Line 50"/>
              <p:cNvSpPr>
                <a:spLocks noChangeShapeType="1"/>
              </p:cNvSpPr>
              <p:nvPr/>
            </p:nvSpPr>
            <p:spPr bwMode="auto">
              <a:xfrm flipH="1">
                <a:off x="2400" y="2343"/>
                <a:ext cx="64" cy="1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7" name="Rectangle 51"/>
              <p:cNvSpPr>
                <a:spLocks noChangeArrowheads="1"/>
              </p:cNvSpPr>
              <p:nvPr/>
            </p:nvSpPr>
            <p:spPr bwMode="auto">
              <a:xfrm>
                <a:off x="2327" y="2487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8</a:t>
                </a:r>
                <a:endParaRPr lang="en-GB" altLang="en-US"/>
              </a:p>
            </p:txBody>
          </p:sp>
        </p:grpSp>
        <p:sp>
          <p:nvSpPr>
            <p:cNvPr id="21543" name="Line 52"/>
            <p:cNvSpPr>
              <a:spLocks noChangeShapeType="1"/>
            </p:cNvSpPr>
            <p:nvPr/>
          </p:nvSpPr>
          <p:spPr bwMode="auto">
            <a:xfrm>
              <a:off x="2706" y="1909"/>
              <a:ext cx="83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44" name="Group 55"/>
            <p:cNvGrpSpPr>
              <a:grpSpLocks/>
            </p:cNvGrpSpPr>
            <p:nvPr/>
          </p:nvGrpSpPr>
          <p:grpSpPr bwMode="auto">
            <a:xfrm>
              <a:off x="2727" y="2138"/>
              <a:ext cx="192" cy="193"/>
              <a:chOff x="2773" y="2298"/>
              <a:chExt cx="192" cy="193"/>
            </a:xfrm>
          </p:grpSpPr>
          <p:sp>
            <p:nvSpPr>
              <p:cNvPr id="21553" name="Rectangle 53"/>
              <p:cNvSpPr>
                <a:spLocks noChangeArrowheads="1"/>
              </p:cNvSpPr>
              <p:nvPr/>
            </p:nvSpPr>
            <p:spPr bwMode="auto">
              <a:xfrm>
                <a:off x="2794" y="2304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11</a:t>
                </a:r>
                <a:endParaRPr lang="en-GB" altLang="en-US"/>
              </a:p>
            </p:txBody>
          </p:sp>
          <p:sp>
            <p:nvSpPr>
              <p:cNvPr id="21554" name="Freeform 54"/>
              <p:cNvSpPr>
                <a:spLocks/>
              </p:cNvSpPr>
              <p:nvPr/>
            </p:nvSpPr>
            <p:spPr bwMode="auto">
              <a:xfrm>
                <a:off x="2773" y="229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1545" name="Line 59"/>
            <p:cNvSpPr>
              <a:spLocks noChangeShapeType="1"/>
            </p:cNvSpPr>
            <p:nvPr/>
          </p:nvSpPr>
          <p:spPr bwMode="auto">
            <a:xfrm flipH="1">
              <a:off x="3097" y="1778"/>
              <a:ext cx="84" cy="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46" name="Group 65"/>
            <p:cNvGrpSpPr>
              <a:grpSpLocks/>
            </p:cNvGrpSpPr>
            <p:nvPr/>
          </p:nvGrpSpPr>
          <p:grpSpPr bwMode="auto">
            <a:xfrm>
              <a:off x="3000" y="2140"/>
              <a:ext cx="192" cy="193"/>
              <a:chOff x="3000" y="2118"/>
              <a:chExt cx="192" cy="193"/>
            </a:xfrm>
          </p:grpSpPr>
          <p:sp>
            <p:nvSpPr>
              <p:cNvPr id="21551" name="Freeform 58"/>
              <p:cNvSpPr>
                <a:spLocks/>
              </p:cNvSpPr>
              <p:nvPr/>
            </p:nvSpPr>
            <p:spPr bwMode="auto">
              <a:xfrm>
                <a:off x="3000" y="211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52" name="Rectangle 60"/>
              <p:cNvSpPr>
                <a:spLocks noChangeArrowheads="1"/>
              </p:cNvSpPr>
              <p:nvPr/>
            </p:nvSpPr>
            <p:spPr bwMode="auto">
              <a:xfrm>
                <a:off x="3031" y="2120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13</a:t>
                </a:r>
                <a:endParaRPr lang="en-GB" altLang="en-US"/>
              </a:p>
            </p:txBody>
          </p:sp>
        </p:grpSp>
        <p:sp>
          <p:nvSpPr>
            <p:cNvPr id="21547" name="Line 61"/>
            <p:cNvSpPr>
              <a:spLocks noChangeShapeType="1"/>
            </p:cNvSpPr>
            <p:nvPr/>
          </p:nvSpPr>
          <p:spPr bwMode="auto">
            <a:xfrm>
              <a:off x="3243" y="1755"/>
              <a:ext cx="211" cy="38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1548" name="Group 64"/>
            <p:cNvGrpSpPr>
              <a:grpSpLocks/>
            </p:cNvGrpSpPr>
            <p:nvPr/>
          </p:nvGrpSpPr>
          <p:grpSpPr bwMode="auto">
            <a:xfrm>
              <a:off x="3377" y="2139"/>
              <a:ext cx="192" cy="200"/>
              <a:chOff x="3377" y="2162"/>
              <a:chExt cx="192" cy="200"/>
            </a:xfrm>
          </p:grpSpPr>
          <p:sp>
            <p:nvSpPr>
              <p:cNvPr id="21549" name="Rectangle 62"/>
              <p:cNvSpPr>
                <a:spLocks noChangeArrowheads="1"/>
              </p:cNvSpPr>
              <p:nvPr/>
            </p:nvSpPr>
            <p:spPr bwMode="auto">
              <a:xfrm>
                <a:off x="3399" y="2162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15</a:t>
                </a:r>
                <a:endParaRPr lang="en-GB" altLang="en-US"/>
              </a:p>
            </p:txBody>
          </p:sp>
          <p:sp>
            <p:nvSpPr>
              <p:cNvPr id="21550" name="Freeform 63"/>
              <p:cNvSpPr>
                <a:spLocks/>
              </p:cNvSpPr>
              <p:nvPr/>
            </p:nvSpPr>
            <p:spPr bwMode="auto">
              <a:xfrm>
                <a:off x="3377" y="2169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1509" name="Text Box 67"/>
          <p:cNvSpPr txBox="1">
            <a:spLocks noChangeArrowheads="1"/>
          </p:cNvSpPr>
          <p:nvPr/>
        </p:nvSpPr>
        <p:spPr bwMode="auto">
          <a:xfrm>
            <a:off x="5943600" y="2133600"/>
            <a:ext cx="2286000" cy="78483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cs typeface="Calibri" panose="020F0502020204030204" pitchFamily="34" charset="0"/>
              </a:rPr>
              <a:t>Example for you: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  <a:cs typeface="Calibri" panose="020F0502020204030204" pitchFamily="34" charset="0"/>
              </a:rPr>
              <a:t>Show this is correct</a:t>
            </a:r>
          </a:p>
        </p:txBody>
      </p:sp>
      <p:sp>
        <p:nvSpPr>
          <p:cNvPr id="21510" name="Text Box 68"/>
          <p:cNvSpPr txBox="1">
            <a:spLocks noChangeArrowheads="1"/>
          </p:cNvSpPr>
          <p:nvPr/>
        </p:nvSpPr>
        <p:spPr bwMode="auto">
          <a:xfrm>
            <a:off x="990600" y="5257800"/>
            <a:ext cx="6705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But we haven’t seen an example of a left-right double rotation!</a:t>
            </a:r>
          </a:p>
        </p:txBody>
      </p:sp>
      <p:sp>
        <p:nvSpPr>
          <p:cNvPr id="21511" name="Slide Number Placeholder 5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4815B0-1BB7-43D4-BE30-1E35917AF8EC}" type="slidenum">
              <a:rPr lang="en-GB" altLang="en-US" smtClean="0"/>
              <a:pPr eaLnBrk="1" hangingPunct="1"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7389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GB" altLang="en-US"/>
              <a:t>A left-right rotation</a:t>
            </a:r>
          </a:p>
        </p:txBody>
      </p:sp>
      <p:grpSp>
        <p:nvGrpSpPr>
          <p:cNvPr id="22531" name="Group 4"/>
          <p:cNvGrpSpPr>
            <a:grpSpLocks/>
          </p:cNvGrpSpPr>
          <p:nvPr/>
        </p:nvGrpSpPr>
        <p:grpSpPr bwMode="auto">
          <a:xfrm>
            <a:off x="98425" y="1660525"/>
            <a:ext cx="3303588" cy="2424113"/>
            <a:chOff x="1488" y="1152"/>
            <a:chExt cx="2081" cy="1527"/>
          </a:xfrm>
        </p:grpSpPr>
        <p:sp>
          <p:nvSpPr>
            <p:cNvPr id="22596" name="Line 5"/>
            <p:cNvSpPr>
              <a:spLocks noChangeShapeType="1"/>
            </p:cNvSpPr>
            <p:nvPr/>
          </p:nvSpPr>
          <p:spPr bwMode="auto">
            <a:xfrm flipH="1">
              <a:off x="2701" y="1566"/>
              <a:ext cx="79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97" name="Line 6"/>
            <p:cNvSpPr>
              <a:spLocks noChangeShapeType="1"/>
            </p:cNvSpPr>
            <p:nvPr/>
          </p:nvSpPr>
          <p:spPr bwMode="auto">
            <a:xfrm flipH="1" flipV="1">
              <a:off x="2226" y="1615"/>
              <a:ext cx="109" cy="12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98" name="Freeform 7"/>
            <p:cNvSpPr>
              <a:spLocks/>
            </p:cNvSpPr>
            <p:nvPr/>
          </p:nvSpPr>
          <p:spPr bwMode="auto">
            <a:xfrm>
              <a:off x="2564" y="1728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99" name="Rectangle 8"/>
            <p:cNvSpPr>
              <a:spLocks noChangeArrowheads="1"/>
            </p:cNvSpPr>
            <p:nvPr/>
          </p:nvSpPr>
          <p:spPr bwMode="auto">
            <a:xfrm>
              <a:off x="2596" y="1738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10</a:t>
              </a:r>
              <a:endParaRPr lang="en-GB" altLang="en-US"/>
            </a:p>
          </p:txBody>
        </p:sp>
        <p:sp>
          <p:nvSpPr>
            <p:cNvPr id="22600" name="Line 9"/>
            <p:cNvSpPr>
              <a:spLocks noChangeShapeType="1"/>
            </p:cNvSpPr>
            <p:nvPr/>
          </p:nvSpPr>
          <p:spPr bwMode="auto">
            <a:xfrm flipV="1">
              <a:off x="2252" y="1321"/>
              <a:ext cx="124" cy="1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01" name="Line 10"/>
            <p:cNvSpPr>
              <a:spLocks noChangeShapeType="1"/>
            </p:cNvSpPr>
            <p:nvPr/>
          </p:nvSpPr>
          <p:spPr bwMode="auto">
            <a:xfrm>
              <a:off x="1872" y="1934"/>
              <a:ext cx="47" cy="18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02" name="Group 11"/>
            <p:cNvGrpSpPr>
              <a:grpSpLocks/>
            </p:cNvGrpSpPr>
            <p:nvPr/>
          </p:nvGrpSpPr>
          <p:grpSpPr bwMode="auto">
            <a:xfrm>
              <a:off x="1843" y="2111"/>
              <a:ext cx="192" cy="193"/>
              <a:chOff x="3106" y="3644"/>
              <a:chExt cx="192" cy="193"/>
            </a:xfrm>
          </p:grpSpPr>
          <p:sp>
            <p:nvSpPr>
              <p:cNvPr id="22645" name="Freeform 12"/>
              <p:cNvSpPr>
                <a:spLocks/>
              </p:cNvSpPr>
              <p:nvPr/>
            </p:nvSpPr>
            <p:spPr bwMode="auto">
              <a:xfrm>
                <a:off x="3106" y="3644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2" y="0"/>
                    </a:moveTo>
                    <a:lnTo>
                      <a:pt x="182" y="0"/>
                    </a:lnTo>
                    <a:lnTo>
                      <a:pt x="172" y="0"/>
                    </a:lnTo>
                    <a:lnTo>
                      <a:pt x="162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99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39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39"/>
                    </a:lnTo>
                    <a:lnTo>
                      <a:pt x="85" y="350"/>
                    </a:lnTo>
                    <a:lnTo>
                      <a:pt x="100" y="359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79"/>
                    </a:lnTo>
                    <a:lnTo>
                      <a:pt x="162" y="381"/>
                    </a:lnTo>
                    <a:lnTo>
                      <a:pt x="172" y="382"/>
                    </a:lnTo>
                    <a:lnTo>
                      <a:pt x="182" y="382"/>
                    </a:lnTo>
                    <a:lnTo>
                      <a:pt x="192" y="384"/>
                    </a:lnTo>
                    <a:lnTo>
                      <a:pt x="202" y="382"/>
                    </a:lnTo>
                    <a:lnTo>
                      <a:pt x="211" y="382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59"/>
                    </a:lnTo>
                    <a:lnTo>
                      <a:pt x="299" y="350"/>
                    </a:lnTo>
                    <a:lnTo>
                      <a:pt x="314" y="339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9" y="239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5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99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46" name="Rectangle 13"/>
              <p:cNvSpPr>
                <a:spLocks noChangeArrowheads="1"/>
              </p:cNvSpPr>
              <p:nvPr/>
            </p:nvSpPr>
            <p:spPr bwMode="auto">
              <a:xfrm>
                <a:off x="3168" y="364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GB" altLang="en-US"/>
              </a:p>
            </p:txBody>
          </p:sp>
        </p:grpSp>
        <p:sp>
          <p:nvSpPr>
            <p:cNvPr id="22603" name="Freeform 14"/>
            <p:cNvSpPr>
              <a:spLocks/>
            </p:cNvSpPr>
            <p:nvPr/>
          </p:nvSpPr>
          <p:spPr bwMode="auto">
            <a:xfrm>
              <a:off x="3087" y="1597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04" name="Freeform 15"/>
            <p:cNvSpPr>
              <a:spLocks/>
            </p:cNvSpPr>
            <p:nvPr/>
          </p:nvSpPr>
          <p:spPr bwMode="auto">
            <a:xfrm>
              <a:off x="2729" y="1399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05" name="Line 16"/>
            <p:cNvSpPr>
              <a:spLocks noChangeShapeType="1"/>
            </p:cNvSpPr>
            <p:nvPr/>
          </p:nvSpPr>
          <p:spPr bwMode="auto">
            <a:xfrm>
              <a:off x="2533" y="1313"/>
              <a:ext cx="210" cy="12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06" name="Line 17"/>
            <p:cNvSpPr>
              <a:spLocks noChangeShapeType="1"/>
            </p:cNvSpPr>
            <p:nvPr/>
          </p:nvSpPr>
          <p:spPr bwMode="auto">
            <a:xfrm>
              <a:off x="2912" y="1538"/>
              <a:ext cx="188" cy="11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07" name="Rectangle 18"/>
            <p:cNvSpPr>
              <a:spLocks noChangeArrowheads="1"/>
            </p:cNvSpPr>
            <p:nvPr/>
          </p:nvSpPr>
          <p:spPr bwMode="auto">
            <a:xfrm>
              <a:off x="2734" y="140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12</a:t>
              </a:r>
              <a:endParaRPr lang="en-GB" altLang="en-US"/>
            </a:p>
          </p:txBody>
        </p:sp>
        <p:sp>
          <p:nvSpPr>
            <p:cNvPr id="22608" name="Rectangle 19"/>
            <p:cNvSpPr>
              <a:spLocks noChangeArrowheads="1"/>
            </p:cNvSpPr>
            <p:nvPr/>
          </p:nvSpPr>
          <p:spPr bwMode="auto">
            <a:xfrm>
              <a:off x="3103" y="1599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14</a:t>
              </a:r>
              <a:endParaRPr lang="en-GB" altLang="en-US"/>
            </a:p>
          </p:txBody>
        </p:sp>
        <p:sp>
          <p:nvSpPr>
            <p:cNvPr id="22609" name="Freeform 20"/>
            <p:cNvSpPr>
              <a:spLocks/>
            </p:cNvSpPr>
            <p:nvPr/>
          </p:nvSpPr>
          <p:spPr bwMode="auto">
            <a:xfrm>
              <a:off x="2352" y="1152"/>
              <a:ext cx="192" cy="192"/>
            </a:xfrm>
            <a:custGeom>
              <a:avLst/>
              <a:gdLst>
                <a:gd name="T0" fmla="*/ 6 w 384"/>
                <a:gd name="T1" fmla="*/ 1 h 384"/>
                <a:gd name="T2" fmla="*/ 6 w 384"/>
                <a:gd name="T3" fmla="*/ 1 h 384"/>
                <a:gd name="T4" fmla="*/ 5 w 384"/>
                <a:gd name="T5" fmla="*/ 1 h 384"/>
                <a:gd name="T6" fmla="*/ 3 w 384"/>
                <a:gd name="T7" fmla="*/ 1 h 384"/>
                <a:gd name="T8" fmla="*/ 3 w 384"/>
                <a:gd name="T9" fmla="*/ 1 h 384"/>
                <a:gd name="T10" fmla="*/ 3 w 384"/>
                <a:gd name="T11" fmla="*/ 2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3 w 384"/>
                <a:gd name="T43" fmla="*/ 12 h 384"/>
                <a:gd name="T44" fmla="*/ 3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6 w 384"/>
                <a:gd name="T53" fmla="*/ 12 h 384"/>
                <a:gd name="T54" fmla="*/ 6 w 384"/>
                <a:gd name="T55" fmla="*/ 12 h 384"/>
                <a:gd name="T56" fmla="*/ 7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2 w 384"/>
                <a:gd name="T77" fmla="*/ 6 h 384"/>
                <a:gd name="T78" fmla="*/ 12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2 h 384"/>
                <a:gd name="T94" fmla="*/ 9 w 384"/>
                <a:gd name="T95" fmla="*/ 1 h 384"/>
                <a:gd name="T96" fmla="*/ 9 w 384"/>
                <a:gd name="T97" fmla="*/ 1 h 384"/>
                <a:gd name="T98" fmla="*/ 7 w 384"/>
                <a:gd name="T99" fmla="*/ 1 h 384"/>
                <a:gd name="T100" fmla="*/ 6 w 384"/>
                <a:gd name="T101" fmla="*/ 1 h 384"/>
                <a:gd name="T102" fmla="*/ 6 w 384"/>
                <a:gd name="T103" fmla="*/ 1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1"/>
                  </a:lnTo>
                  <a:lnTo>
                    <a:pt x="172" y="1"/>
                  </a:lnTo>
                  <a:lnTo>
                    <a:pt x="161" y="3"/>
                  </a:lnTo>
                  <a:lnTo>
                    <a:pt x="152" y="4"/>
                  </a:lnTo>
                  <a:lnTo>
                    <a:pt x="143" y="6"/>
                  </a:lnTo>
                  <a:lnTo>
                    <a:pt x="134" y="9"/>
                  </a:lnTo>
                  <a:lnTo>
                    <a:pt x="126" y="12"/>
                  </a:lnTo>
                  <a:lnTo>
                    <a:pt x="117" y="15"/>
                  </a:lnTo>
                  <a:lnTo>
                    <a:pt x="108" y="20"/>
                  </a:lnTo>
                  <a:lnTo>
                    <a:pt x="100" y="23"/>
                  </a:lnTo>
                  <a:lnTo>
                    <a:pt x="85" y="34"/>
                  </a:lnTo>
                  <a:lnTo>
                    <a:pt x="69" y="44"/>
                  </a:lnTo>
                  <a:lnTo>
                    <a:pt x="55" y="57"/>
                  </a:lnTo>
                  <a:lnTo>
                    <a:pt x="43" y="71"/>
                  </a:lnTo>
                  <a:lnTo>
                    <a:pt x="32" y="86"/>
                  </a:lnTo>
                  <a:lnTo>
                    <a:pt x="23" y="101"/>
                  </a:lnTo>
                  <a:lnTo>
                    <a:pt x="18" y="109"/>
                  </a:lnTo>
                  <a:lnTo>
                    <a:pt x="14" y="118"/>
                  </a:lnTo>
                  <a:lnTo>
                    <a:pt x="11" y="126"/>
                  </a:lnTo>
                  <a:lnTo>
                    <a:pt x="8" y="135"/>
                  </a:lnTo>
                  <a:lnTo>
                    <a:pt x="5" y="144"/>
                  </a:lnTo>
                  <a:lnTo>
                    <a:pt x="3" y="154"/>
                  </a:lnTo>
                  <a:lnTo>
                    <a:pt x="1" y="163"/>
                  </a:lnTo>
                  <a:lnTo>
                    <a:pt x="0" y="174"/>
                  </a:lnTo>
                  <a:lnTo>
                    <a:pt x="0" y="183"/>
                  </a:lnTo>
                  <a:lnTo>
                    <a:pt x="0" y="192"/>
                  </a:lnTo>
                  <a:lnTo>
                    <a:pt x="0" y="203"/>
                  </a:lnTo>
                  <a:lnTo>
                    <a:pt x="0" y="212"/>
                  </a:lnTo>
                  <a:lnTo>
                    <a:pt x="1" y="221"/>
                  </a:lnTo>
                  <a:lnTo>
                    <a:pt x="3" y="232"/>
                  </a:lnTo>
                  <a:lnTo>
                    <a:pt x="5" y="241"/>
                  </a:lnTo>
                  <a:lnTo>
                    <a:pt x="8" y="251"/>
                  </a:lnTo>
                  <a:lnTo>
                    <a:pt x="11" y="258"/>
                  </a:lnTo>
                  <a:lnTo>
                    <a:pt x="14" y="267"/>
                  </a:lnTo>
                  <a:lnTo>
                    <a:pt x="18" y="277"/>
                  </a:lnTo>
                  <a:lnTo>
                    <a:pt x="23" y="284"/>
                  </a:lnTo>
                  <a:lnTo>
                    <a:pt x="32" y="300"/>
                  </a:lnTo>
                  <a:lnTo>
                    <a:pt x="43" y="315"/>
                  </a:lnTo>
                  <a:lnTo>
                    <a:pt x="55" y="329"/>
                  </a:lnTo>
                  <a:lnTo>
                    <a:pt x="69" y="341"/>
                  </a:lnTo>
                  <a:lnTo>
                    <a:pt x="85" y="352"/>
                  </a:lnTo>
                  <a:lnTo>
                    <a:pt x="100" y="361"/>
                  </a:lnTo>
                  <a:lnTo>
                    <a:pt x="108" y="366"/>
                  </a:lnTo>
                  <a:lnTo>
                    <a:pt x="117" y="370"/>
                  </a:lnTo>
                  <a:lnTo>
                    <a:pt x="126" y="374"/>
                  </a:lnTo>
                  <a:lnTo>
                    <a:pt x="134" y="377"/>
                  </a:lnTo>
                  <a:lnTo>
                    <a:pt x="143" y="378"/>
                  </a:lnTo>
                  <a:lnTo>
                    <a:pt x="152" y="381"/>
                  </a:lnTo>
                  <a:lnTo>
                    <a:pt x="161" y="383"/>
                  </a:lnTo>
                  <a:lnTo>
                    <a:pt x="172" y="384"/>
                  </a:lnTo>
                  <a:lnTo>
                    <a:pt x="181" y="384"/>
                  </a:lnTo>
                  <a:lnTo>
                    <a:pt x="192" y="384"/>
                  </a:lnTo>
                  <a:lnTo>
                    <a:pt x="201" y="384"/>
                  </a:lnTo>
                  <a:lnTo>
                    <a:pt x="211" y="384"/>
                  </a:lnTo>
                  <a:lnTo>
                    <a:pt x="221" y="383"/>
                  </a:lnTo>
                  <a:lnTo>
                    <a:pt x="231" y="381"/>
                  </a:lnTo>
                  <a:lnTo>
                    <a:pt x="240" y="378"/>
                  </a:lnTo>
                  <a:lnTo>
                    <a:pt x="249" y="377"/>
                  </a:lnTo>
                  <a:lnTo>
                    <a:pt x="257" y="374"/>
                  </a:lnTo>
                  <a:lnTo>
                    <a:pt x="266" y="370"/>
                  </a:lnTo>
                  <a:lnTo>
                    <a:pt x="275" y="366"/>
                  </a:lnTo>
                  <a:lnTo>
                    <a:pt x="283" y="361"/>
                  </a:lnTo>
                  <a:lnTo>
                    <a:pt x="298" y="352"/>
                  </a:lnTo>
                  <a:lnTo>
                    <a:pt x="314" y="341"/>
                  </a:lnTo>
                  <a:lnTo>
                    <a:pt x="328" y="329"/>
                  </a:lnTo>
                  <a:lnTo>
                    <a:pt x="340" y="315"/>
                  </a:lnTo>
                  <a:lnTo>
                    <a:pt x="351" y="300"/>
                  </a:lnTo>
                  <a:lnTo>
                    <a:pt x="360" y="284"/>
                  </a:lnTo>
                  <a:lnTo>
                    <a:pt x="364" y="277"/>
                  </a:lnTo>
                  <a:lnTo>
                    <a:pt x="369" y="267"/>
                  </a:lnTo>
                  <a:lnTo>
                    <a:pt x="372" y="258"/>
                  </a:lnTo>
                  <a:lnTo>
                    <a:pt x="375" y="251"/>
                  </a:lnTo>
                  <a:lnTo>
                    <a:pt x="378" y="241"/>
                  </a:lnTo>
                  <a:lnTo>
                    <a:pt x="380" y="232"/>
                  </a:lnTo>
                  <a:lnTo>
                    <a:pt x="381" y="221"/>
                  </a:lnTo>
                  <a:lnTo>
                    <a:pt x="383" y="212"/>
                  </a:lnTo>
                  <a:lnTo>
                    <a:pt x="383" y="203"/>
                  </a:lnTo>
                  <a:lnTo>
                    <a:pt x="384" y="192"/>
                  </a:lnTo>
                  <a:lnTo>
                    <a:pt x="383" y="183"/>
                  </a:lnTo>
                  <a:lnTo>
                    <a:pt x="383" y="174"/>
                  </a:lnTo>
                  <a:lnTo>
                    <a:pt x="381" y="163"/>
                  </a:lnTo>
                  <a:lnTo>
                    <a:pt x="380" y="154"/>
                  </a:lnTo>
                  <a:lnTo>
                    <a:pt x="378" y="144"/>
                  </a:lnTo>
                  <a:lnTo>
                    <a:pt x="375" y="135"/>
                  </a:lnTo>
                  <a:lnTo>
                    <a:pt x="372" y="126"/>
                  </a:lnTo>
                  <a:lnTo>
                    <a:pt x="369" y="118"/>
                  </a:lnTo>
                  <a:lnTo>
                    <a:pt x="364" y="109"/>
                  </a:lnTo>
                  <a:lnTo>
                    <a:pt x="360" y="101"/>
                  </a:lnTo>
                  <a:lnTo>
                    <a:pt x="351" y="86"/>
                  </a:lnTo>
                  <a:lnTo>
                    <a:pt x="340" y="71"/>
                  </a:lnTo>
                  <a:lnTo>
                    <a:pt x="328" y="57"/>
                  </a:lnTo>
                  <a:lnTo>
                    <a:pt x="314" y="44"/>
                  </a:lnTo>
                  <a:lnTo>
                    <a:pt x="298" y="34"/>
                  </a:lnTo>
                  <a:lnTo>
                    <a:pt x="283" y="23"/>
                  </a:lnTo>
                  <a:lnTo>
                    <a:pt x="275" y="20"/>
                  </a:lnTo>
                  <a:lnTo>
                    <a:pt x="266" y="15"/>
                  </a:lnTo>
                  <a:lnTo>
                    <a:pt x="257" y="12"/>
                  </a:lnTo>
                  <a:lnTo>
                    <a:pt x="249" y="9"/>
                  </a:lnTo>
                  <a:lnTo>
                    <a:pt x="240" y="6"/>
                  </a:lnTo>
                  <a:lnTo>
                    <a:pt x="231" y="4"/>
                  </a:lnTo>
                  <a:lnTo>
                    <a:pt x="221" y="3"/>
                  </a:lnTo>
                  <a:lnTo>
                    <a:pt x="211" y="1"/>
                  </a:lnTo>
                  <a:lnTo>
                    <a:pt x="201" y="1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10" name="Rectangle 21"/>
            <p:cNvSpPr>
              <a:spLocks noChangeArrowheads="1"/>
            </p:cNvSpPr>
            <p:nvPr/>
          </p:nvSpPr>
          <p:spPr bwMode="auto">
            <a:xfrm>
              <a:off x="2415" y="11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GB" altLang="en-US"/>
            </a:p>
          </p:txBody>
        </p:sp>
        <p:sp>
          <p:nvSpPr>
            <p:cNvPr id="22611" name="Rectangle 22"/>
            <p:cNvSpPr>
              <a:spLocks noChangeArrowheads="1"/>
            </p:cNvSpPr>
            <p:nvPr/>
          </p:nvSpPr>
          <p:spPr bwMode="auto">
            <a:xfrm>
              <a:off x="1849" y="175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GB" altLang="en-US"/>
            </a:p>
          </p:txBody>
        </p:sp>
        <p:sp>
          <p:nvSpPr>
            <p:cNvPr id="22612" name="Line 23"/>
            <p:cNvSpPr>
              <a:spLocks noChangeShapeType="1"/>
            </p:cNvSpPr>
            <p:nvPr/>
          </p:nvSpPr>
          <p:spPr bwMode="auto">
            <a:xfrm flipV="1">
              <a:off x="1641" y="1934"/>
              <a:ext cx="123" cy="117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13" name="Freeform 24"/>
            <p:cNvSpPr>
              <a:spLocks/>
            </p:cNvSpPr>
            <p:nvPr/>
          </p:nvSpPr>
          <p:spPr bwMode="auto">
            <a:xfrm>
              <a:off x="1488" y="2050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14" name="Rectangle 25"/>
            <p:cNvSpPr>
              <a:spLocks noChangeArrowheads="1"/>
            </p:cNvSpPr>
            <p:nvPr/>
          </p:nvSpPr>
          <p:spPr bwMode="auto">
            <a:xfrm>
              <a:off x="1580" y="206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GB" altLang="en-US"/>
            </a:p>
          </p:txBody>
        </p:sp>
        <p:sp>
          <p:nvSpPr>
            <p:cNvPr id="22615" name="Freeform 26"/>
            <p:cNvSpPr>
              <a:spLocks/>
            </p:cNvSpPr>
            <p:nvPr/>
          </p:nvSpPr>
          <p:spPr bwMode="auto">
            <a:xfrm>
              <a:off x="2103" y="1435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6" y="11"/>
                  </a:lnTo>
                  <a:lnTo>
                    <a:pt x="117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69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2"/>
                  </a:lnTo>
                  <a:lnTo>
                    <a:pt x="0" y="172"/>
                  </a:lnTo>
                  <a:lnTo>
                    <a:pt x="0" y="182"/>
                  </a:lnTo>
                  <a:lnTo>
                    <a:pt x="0" y="192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49"/>
                  </a:lnTo>
                  <a:lnTo>
                    <a:pt x="11" y="259"/>
                  </a:lnTo>
                  <a:lnTo>
                    <a:pt x="14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4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2"/>
                  </a:lnTo>
                  <a:lnTo>
                    <a:pt x="383" y="182"/>
                  </a:lnTo>
                  <a:lnTo>
                    <a:pt x="383" y="172"/>
                  </a:lnTo>
                  <a:lnTo>
                    <a:pt x="381" y="162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69"/>
                  </a:lnTo>
                  <a:lnTo>
                    <a:pt x="327" y="56"/>
                  </a:lnTo>
                  <a:lnTo>
                    <a:pt x="314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16" name="Rectangle 27"/>
            <p:cNvSpPr>
              <a:spLocks noChangeArrowheads="1"/>
            </p:cNvSpPr>
            <p:nvPr/>
          </p:nvSpPr>
          <p:spPr bwMode="auto">
            <a:xfrm>
              <a:off x="2195" y="144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GB" altLang="en-US"/>
            </a:p>
          </p:txBody>
        </p:sp>
        <p:sp>
          <p:nvSpPr>
            <p:cNvPr id="22617" name="Line 28"/>
            <p:cNvSpPr>
              <a:spLocks noChangeShapeType="1"/>
            </p:cNvSpPr>
            <p:nvPr/>
          </p:nvSpPr>
          <p:spPr bwMode="auto">
            <a:xfrm flipH="1">
              <a:off x="1922" y="1588"/>
              <a:ext cx="181" cy="19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18" name="Freeform 29"/>
            <p:cNvSpPr>
              <a:spLocks/>
            </p:cNvSpPr>
            <p:nvPr/>
          </p:nvSpPr>
          <p:spPr bwMode="auto">
            <a:xfrm>
              <a:off x="1757" y="1742"/>
              <a:ext cx="192" cy="192"/>
            </a:xfrm>
            <a:custGeom>
              <a:avLst/>
              <a:gdLst>
                <a:gd name="T0" fmla="*/ 6 w 384"/>
                <a:gd name="T1" fmla="*/ 0 h 385"/>
                <a:gd name="T2" fmla="*/ 6 w 384"/>
                <a:gd name="T3" fmla="*/ 0 h 385"/>
                <a:gd name="T4" fmla="*/ 5 w 384"/>
                <a:gd name="T5" fmla="*/ 0 h 385"/>
                <a:gd name="T6" fmla="*/ 3 w 384"/>
                <a:gd name="T7" fmla="*/ 0 h 385"/>
                <a:gd name="T8" fmla="*/ 3 w 384"/>
                <a:gd name="T9" fmla="*/ 0 h 385"/>
                <a:gd name="T10" fmla="*/ 3 w 384"/>
                <a:gd name="T11" fmla="*/ 1 h 385"/>
                <a:gd name="T12" fmla="*/ 2 w 384"/>
                <a:gd name="T13" fmla="*/ 1 h 385"/>
                <a:gd name="T14" fmla="*/ 1 w 384"/>
                <a:gd name="T15" fmla="*/ 2 h 385"/>
                <a:gd name="T16" fmla="*/ 1 w 384"/>
                <a:gd name="T17" fmla="*/ 3 h 385"/>
                <a:gd name="T18" fmla="*/ 1 w 384"/>
                <a:gd name="T19" fmla="*/ 3 h 385"/>
                <a:gd name="T20" fmla="*/ 1 w 384"/>
                <a:gd name="T21" fmla="*/ 4 h 385"/>
                <a:gd name="T22" fmla="*/ 1 w 384"/>
                <a:gd name="T23" fmla="*/ 5 h 385"/>
                <a:gd name="T24" fmla="*/ 0 w 384"/>
                <a:gd name="T25" fmla="*/ 5 h 385"/>
                <a:gd name="T26" fmla="*/ 0 w 384"/>
                <a:gd name="T27" fmla="*/ 6 h 385"/>
                <a:gd name="T28" fmla="*/ 1 w 384"/>
                <a:gd name="T29" fmla="*/ 6 h 385"/>
                <a:gd name="T30" fmla="*/ 1 w 384"/>
                <a:gd name="T31" fmla="*/ 7 h 385"/>
                <a:gd name="T32" fmla="*/ 1 w 384"/>
                <a:gd name="T33" fmla="*/ 8 h 385"/>
                <a:gd name="T34" fmla="*/ 1 w 384"/>
                <a:gd name="T35" fmla="*/ 8 h 385"/>
                <a:gd name="T36" fmla="*/ 1 w 384"/>
                <a:gd name="T37" fmla="*/ 9 h 385"/>
                <a:gd name="T38" fmla="*/ 2 w 384"/>
                <a:gd name="T39" fmla="*/ 10 h 385"/>
                <a:gd name="T40" fmla="*/ 3 w 384"/>
                <a:gd name="T41" fmla="*/ 10 h 385"/>
                <a:gd name="T42" fmla="*/ 3 w 384"/>
                <a:gd name="T43" fmla="*/ 11 h 385"/>
                <a:gd name="T44" fmla="*/ 3 w 384"/>
                <a:gd name="T45" fmla="*/ 11 h 385"/>
                <a:gd name="T46" fmla="*/ 5 w 384"/>
                <a:gd name="T47" fmla="*/ 11 h 385"/>
                <a:gd name="T48" fmla="*/ 6 w 384"/>
                <a:gd name="T49" fmla="*/ 11 h 385"/>
                <a:gd name="T50" fmla="*/ 6 w 384"/>
                <a:gd name="T51" fmla="*/ 11 h 385"/>
                <a:gd name="T52" fmla="*/ 6 w 384"/>
                <a:gd name="T53" fmla="*/ 11 h 385"/>
                <a:gd name="T54" fmla="*/ 6 w 384"/>
                <a:gd name="T55" fmla="*/ 11 h 385"/>
                <a:gd name="T56" fmla="*/ 7 w 384"/>
                <a:gd name="T57" fmla="*/ 11 h 385"/>
                <a:gd name="T58" fmla="*/ 9 w 384"/>
                <a:gd name="T59" fmla="*/ 11 h 385"/>
                <a:gd name="T60" fmla="*/ 9 w 384"/>
                <a:gd name="T61" fmla="*/ 11 h 385"/>
                <a:gd name="T62" fmla="*/ 10 w 384"/>
                <a:gd name="T63" fmla="*/ 10 h 385"/>
                <a:gd name="T64" fmla="*/ 11 w 384"/>
                <a:gd name="T65" fmla="*/ 10 h 385"/>
                <a:gd name="T66" fmla="*/ 11 w 384"/>
                <a:gd name="T67" fmla="*/ 9 h 385"/>
                <a:gd name="T68" fmla="*/ 12 w 384"/>
                <a:gd name="T69" fmla="*/ 8 h 385"/>
                <a:gd name="T70" fmla="*/ 12 w 384"/>
                <a:gd name="T71" fmla="*/ 8 h 385"/>
                <a:gd name="T72" fmla="*/ 12 w 384"/>
                <a:gd name="T73" fmla="*/ 7 h 385"/>
                <a:gd name="T74" fmla="*/ 12 w 384"/>
                <a:gd name="T75" fmla="*/ 6 h 385"/>
                <a:gd name="T76" fmla="*/ 12 w 384"/>
                <a:gd name="T77" fmla="*/ 6 h 385"/>
                <a:gd name="T78" fmla="*/ 12 w 384"/>
                <a:gd name="T79" fmla="*/ 5 h 385"/>
                <a:gd name="T80" fmla="*/ 12 w 384"/>
                <a:gd name="T81" fmla="*/ 5 h 385"/>
                <a:gd name="T82" fmla="*/ 12 w 384"/>
                <a:gd name="T83" fmla="*/ 4 h 385"/>
                <a:gd name="T84" fmla="*/ 12 w 384"/>
                <a:gd name="T85" fmla="*/ 3 h 385"/>
                <a:gd name="T86" fmla="*/ 12 w 384"/>
                <a:gd name="T87" fmla="*/ 3 h 385"/>
                <a:gd name="T88" fmla="*/ 11 w 384"/>
                <a:gd name="T89" fmla="*/ 2 h 385"/>
                <a:gd name="T90" fmla="*/ 11 w 384"/>
                <a:gd name="T91" fmla="*/ 1 h 385"/>
                <a:gd name="T92" fmla="*/ 10 w 384"/>
                <a:gd name="T93" fmla="*/ 1 h 385"/>
                <a:gd name="T94" fmla="*/ 9 w 384"/>
                <a:gd name="T95" fmla="*/ 0 h 385"/>
                <a:gd name="T96" fmla="*/ 9 w 384"/>
                <a:gd name="T97" fmla="*/ 0 h 385"/>
                <a:gd name="T98" fmla="*/ 7 w 384"/>
                <a:gd name="T99" fmla="*/ 0 h 385"/>
                <a:gd name="T100" fmla="*/ 6 w 384"/>
                <a:gd name="T101" fmla="*/ 0 h 385"/>
                <a:gd name="T102" fmla="*/ 6 w 384"/>
                <a:gd name="T103" fmla="*/ 0 h 38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5"/>
                <a:gd name="T158" fmla="*/ 384 w 384"/>
                <a:gd name="T159" fmla="*/ 385 h 385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5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2"/>
                  </a:lnTo>
                  <a:lnTo>
                    <a:pt x="152" y="3"/>
                  </a:lnTo>
                  <a:lnTo>
                    <a:pt x="143" y="5"/>
                  </a:lnTo>
                  <a:lnTo>
                    <a:pt x="133" y="8"/>
                  </a:lnTo>
                  <a:lnTo>
                    <a:pt x="126" y="11"/>
                  </a:lnTo>
                  <a:lnTo>
                    <a:pt x="116" y="14"/>
                  </a:lnTo>
                  <a:lnTo>
                    <a:pt x="107" y="19"/>
                  </a:lnTo>
                  <a:lnTo>
                    <a:pt x="100" y="23"/>
                  </a:lnTo>
                  <a:lnTo>
                    <a:pt x="84" y="33"/>
                  </a:lnTo>
                  <a:lnTo>
                    <a:pt x="69" y="43"/>
                  </a:lnTo>
                  <a:lnTo>
                    <a:pt x="55" y="56"/>
                  </a:lnTo>
                  <a:lnTo>
                    <a:pt x="43" y="70"/>
                  </a:lnTo>
                  <a:lnTo>
                    <a:pt x="32" y="85"/>
                  </a:lnTo>
                  <a:lnTo>
                    <a:pt x="23" y="100"/>
                  </a:lnTo>
                  <a:lnTo>
                    <a:pt x="18" y="108"/>
                  </a:lnTo>
                  <a:lnTo>
                    <a:pt x="13" y="117"/>
                  </a:lnTo>
                  <a:lnTo>
                    <a:pt x="10" y="127"/>
                  </a:lnTo>
                  <a:lnTo>
                    <a:pt x="7" y="134"/>
                  </a:lnTo>
                  <a:lnTo>
                    <a:pt x="4" y="143"/>
                  </a:lnTo>
                  <a:lnTo>
                    <a:pt x="3" y="153"/>
                  </a:lnTo>
                  <a:lnTo>
                    <a:pt x="1" y="162"/>
                  </a:lnTo>
                  <a:lnTo>
                    <a:pt x="0" y="173"/>
                  </a:lnTo>
                  <a:lnTo>
                    <a:pt x="0" y="182"/>
                  </a:lnTo>
                  <a:lnTo>
                    <a:pt x="0" y="193"/>
                  </a:lnTo>
                  <a:lnTo>
                    <a:pt x="0" y="202"/>
                  </a:lnTo>
                  <a:lnTo>
                    <a:pt x="0" y="211"/>
                  </a:lnTo>
                  <a:lnTo>
                    <a:pt x="1" y="222"/>
                  </a:lnTo>
                  <a:lnTo>
                    <a:pt x="3" y="231"/>
                  </a:lnTo>
                  <a:lnTo>
                    <a:pt x="4" y="240"/>
                  </a:lnTo>
                  <a:lnTo>
                    <a:pt x="7" y="250"/>
                  </a:lnTo>
                  <a:lnTo>
                    <a:pt x="10" y="259"/>
                  </a:lnTo>
                  <a:lnTo>
                    <a:pt x="13" y="266"/>
                  </a:lnTo>
                  <a:lnTo>
                    <a:pt x="18" y="276"/>
                  </a:lnTo>
                  <a:lnTo>
                    <a:pt x="23" y="283"/>
                  </a:lnTo>
                  <a:lnTo>
                    <a:pt x="32" y="299"/>
                  </a:lnTo>
                  <a:lnTo>
                    <a:pt x="43" y="314"/>
                  </a:lnTo>
                  <a:lnTo>
                    <a:pt x="55" y="328"/>
                  </a:lnTo>
                  <a:lnTo>
                    <a:pt x="69" y="340"/>
                  </a:lnTo>
                  <a:lnTo>
                    <a:pt x="84" y="351"/>
                  </a:lnTo>
                  <a:lnTo>
                    <a:pt x="100" y="360"/>
                  </a:lnTo>
                  <a:lnTo>
                    <a:pt x="107" y="365"/>
                  </a:lnTo>
                  <a:lnTo>
                    <a:pt x="116" y="370"/>
                  </a:lnTo>
                  <a:lnTo>
                    <a:pt x="126" y="373"/>
                  </a:lnTo>
                  <a:lnTo>
                    <a:pt x="133" y="376"/>
                  </a:lnTo>
                  <a:lnTo>
                    <a:pt x="143" y="379"/>
                  </a:lnTo>
                  <a:lnTo>
                    <a:pt x="152" y="380"/>
                  </a:lnTo>
                  <a:lnTo>
                    <a:pt x="161" y="382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5"/>
                  </a:lnTo>
                  <a:lnTo>
                    <a:pt x="201" y="383"/>
                  </a:lnTo>
                  <a:lnTo>
                    <a:pt x="210" y="383"/>
                  </a:lnTo>
                  <a:lnTo>
                    <a:pt x="221" y="382"/>
                  </a:lnTo>
                  <a:lnTo>
                    <a:pt x="230" y="380"/>
                  </a:lnTo>
                  <a:lnTo>
                    <a:pt x="240" y="379"/>
                  </a:lnTo>
                  <a:lnTo>
                    <a:pt x="249" y="376"/>
                  </a:lnTo>
                  <a:lnTo>
                    <a:pt x="258" y="373"/>
                  </a:lnTo>
                  <a:lnTo>
                    <a:pt x="266" y="370"/>
                  </a:lnTo>
                  <a:lnTo>
                    <a:pt x="275" y="365"/>
                  </a:lnTo>
                  <a:lnTo>
                    <a:pt x="283" y="360"/>
                  </a:lnTo>
                  <a:lnTo>
                    <a:pt x="298" y="351"/>
                  </a:lnTo>
                  <a:lnTo>
                    <a:pt x="313" y="340"/>
                  </a:lnTo>
                  <a:lnTo>
                    <a:pt x="327" y="328"/>
                  </a:lnTo>
                  <a:lnTo>
                    <a:pt x="340" y="314"/>
                  </a:lnTo>
                  <a:lnTo>
                    <a:pt x="350" y="299"/>
                  </a:lnTo>
                  <a:lnTo>
                    <a:pt x="360" y="283"/>
                  </a:lnTo>
                  <a:lnTo>
                    <a:pt x="364" y="276"/>
                  </a:lnTo>
                  <a:lnTo>
                    <a:pt x="369" y="266"/>
                  </a:lnTo>
                  <a:lnTo>
                    <a:pt x="372" y="259"/>
                  </a:lnTo>
                  <a:lnTo>
                    <a:pt x="375" y="250"/>
                  </a:lnTo>
                  <a:lnTo>
                    <a:pt x="378" y="240"/>
                  </a:lnTo>
                  <a:lnTo>
                    <a:pt x="380" y="231"/>
                  </a:lnTo>
                  <a:lnTo>
                    <a:pt x="381" y="222"/>
                  </a:lnTo>
                  <a:lnTo>
                    <a:pt x="383" y="211"/>
                  </a:lnTo>
                  <a:lnTo>
                    <a:pt x="383" y="202"/>
                  </a:lnTo>
                  <a:lnTo>
                    <a:pt x="384" y="193"/>
                  </a:lnTo>
                  <a:lnTo>
                    <a:pt x="383" y="182"/>
                  </a:lnTo>
                  <a:lnTo>
                    <a:pt x="383" y="173"/>
                  </a:lnTo>
                  <a:lnTo>
                    <a:pt x="381" y="162"/>
                  </a:lnTo>
                  <a:lnTo>
                    <a:pt x="380" y="153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7"/>
                  </a:lnTo>
                  <a:lnTo>
                    <a:pt x="369" y="117"/>
                  </a:lnTo>
                  <a:lnTo>
                    <a:pt x="364" y="108"/>
                  </a:lnTo>
                  <a:lnTo>
                    <a:pt x="360" y="100"/>
                  </a:lnTo>
                  <a:lnTo>
                    <a:pt x="350" y="85"/>
                  </a:lnTo>
                  <a:lnTo>
                    <a:pt x="340" y="70"/>
                  </a:lnTo>
                  <a:lnTo>
                    <a:pt x="327" y="56"/>
                  </a:lnTo>
                  <a:lnTo>
                    <a:pt x="313" y="43"/>
                  </a:lnTo>
                  <a:lnTo>
                    <a:pt x="298" y="33"/>
                  </a:lnTo>
                  <a:lnTo>
                    <a:pt x="283" y="23"/>
                  </a:lnTo>
                  <a:lnTo>
                    <a:pt x="275" y="19"/>
                  </a:lnTo>
                  <a:lnTo>
                    <a:pt x="266" y="14"/>
                  </a:lnTo>
                  <a:lnTo>
                    <a:pt x="258" y="11"/>
                  </a:lnTo>
                  <a:lnTo>
                    <a:pt x="249" y="8"/>
                  </a:lnTo>
                  <a:lnTo>
                    <a:pt x="240" y="5"/>
                  </a:lnTo>
                  <a:lnTo>
                    <a:pt x="230" y="3"/>
                  </a:lnTo>
                  <a:lnTo>
                    <a:pt x="221" y="2"/>
                  </a:lnTo>
                  <a:lnTo>
                    <a:pt x="210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19" name="Group 30"/>
            <p:cNvGrpSpPr>
              <a:grpSpLocks/>
            </p:cNvGrpSpPr>
            <p:nvPr/>
          </p:nvGrpSpPr>
          <p:grpSpPr bwMode="auto">
            <a:xfrm>
              <a:off x="2269" y="1742"/>
              <a:ext cx="192" cy="192"/>
              <a:chOff x="2592" y="3600"/>
              <a:chExt cx="192" cy="192"/>
            </a:xfrm>
          </p:grpSpPr>
          <p:sp>
            <p:nvSpPr>
              <p:cNvPr id="22643" name="Freeform 31"/>
              <p:cNvSpPr>
                <a:spLocks/>
              </p:cNvSpPr>
              <p:nvPr/>
            </p:nvSpPr>
            <p:spPr bwMode="auto">
              <a:xfrm>
                <a:off x="2592" y="360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7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7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70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7" y="13"/>
                    </a:lnTo>
                    <a:lnTo>
                      <a:pt x="259" y="10"/>
                    </a:lnTo>
                    <a:lnTo>
                      <a:pt x="250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44" name="Rectangle 32"/>
              <p:cNvSpPr>
                <a:spLocks noChangeArrowheads="1"/>
              </p:cNvSpPr>
              <p:nvPr/>
            </p:nvSpPr>
            <p:spPr bwMode="auto">
              <a:xfrm>
                <a:off x="2640" y="3600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GB" altLang="en-US"/>
              </a:p>
            </p:txBody>
          </p:sp>
        </p:grpSp>
        <p:grpSp>
          <p:nvGrpSpPr>
            <p:cNvPr id="22620" name="Group 33"/>
            <p:cNvGrpSpPr>
              <a:grpSpLocks/>
            </p:cNvGrpSpPr>
            <p:nvPr/>
          </p:nvGrpSpPr>
          <p:grpSpPr bwMode="auto">
            <a:xfrm>
              <a:off x="2115" y="2121"/>
              <a:ext cx="193" cy="192"/>
              <a:chOff x="5232" y="3168"/>
              <a:chExt cx="193" cy="192"/>
            </a:xfrm>
          </p:grpSpPr>
          <p:sp>
            <p:nvSpPr>
              <p:cNvPr id="22641" name="Freeform 34"/>
              <p:cNvSpPr>
                <a:spLocks/>
              </p:cNvSpPr>
              <p:nvPr/>
            </p:nvSpPr>
            <p:spPr bwMode="auto">
              <a:xfrm>
                <a:off x="5232" y="3168"/>
                <a:ext cx="193" cy="192"/>
              </a:xfrm>
              <a:custGeom>
                <a:avLst/>
                <a:gdLst>
                  <a:gd name="T0" fmla="*/ 6 w 384"/>
                  <a:gd name="T1" fmla="*/ 0 h 384"/>
                  <a:gd name="T2" fmla="*/ 6 w 384"/>
                  <a:gd name="T3" fmla="*/ 1 h 384"/>
                  <a:gd name="T4" fmla="*/ 5 w 384"/>
                  <a:gd name="T5" fmla="*/ 1 h 384"/>
                  <a:gd name="T6" fmla="*/ 4 w 384"/>
                  <a:gd name="T7" fmla="*/ 1 h 384"/>
                  <a:gd name="T8" fmla="*/ 4 w 384"/>
                  <a:gd name="T9" fmla="*/ 1 h 384"/>
                  <a:gd name="T10" fmla="*/ 3 w 384"/>
                  <a:gd name="T11" fmla="*/ 1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4 w 384"/>
                  <a:gd name="T43" fmla="*/ 12 h 384"/>
                  <a:gd name="T44" fmla="*/ 4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7 w 384"/>
                  <a:gd name="T53" fmla="*/ 12 h 384"/>
                  <a:gd name="T54" fmla="*/ 7 w 384"/>
                  <a:gd name="T55" fmla="*/ 12 h 384"/>
                  <a:gd name="T56" fmla="*/ 8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3 w 384"/>
                  <a:gd name="T77" fmla="*/ 6 h 384"/>
                  <a:gd name="T78" fmla="*/ 13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1 h 384"/>
                  <a:gd name="T94" fmla="*/ 9 w 384"/>
                  <a:gd name="T95" fmla="*/ 1 h 384"/>
                  <a:gd name="T96" fmla="*/ 9 w 384"/>
                  <a:gd name="T97" fmla="*/ 1 h 384"/>
                  <a:gd name="T98" fmla="*/ 8 w 384"/>
                  <a:gd name="T99" fmla="*/ 1 h 384"/>
                  <a:gd name="T100" fmla="*/ 7 w 384"/>
                  <a:gd name="T101" fmla="*/ 1 h 384"/>
                  <a:gd name="T102" fmla="*/ 7 w 384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1"/>
                    </a:lnTo>
                    <a:lnTo>
                      <a:pt x="152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4" y="32"/>
                    </a:lnTo>
                    <a:lnTo>
                      <a:pt x="69" y="43"/>
                    </a:lnTo>
                    <a:lnTo>
                      <a:pt x="55" y="55"/>
                    </a:lnTo>
                    <a:lnTo>
                      <a:pt x="43" y="69"/>
                    </a:lnTo>
                    <a:lnTo>
                      <a:pt x="32" y="84"/>
                    </a:lnTo>
                    <a:lnTo>
                      <a:pt x="23" y="100"/>
                    </a:lnTo>
                    <a:lnTo>
                      <a:pt x="18" y="107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1" y="221"/>
                    </a:lnTo>
                    <a:lnTo>
                      <a:pt x="3" y="230"/>
                    </a:lnTo>
                    <a:lnTo>
                      <a:pt x="4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8" y="275"/>
                    </a:lnTo>
                    <a:lnTo>
                      <a:pt x="23" y="283"/>
                    </a:lnTo>
                    <a:lnTo>
                      <a:pt x="32" y="298"/>
                    </a:lnTo>
                    <a:lnTo>
                      <a:pt x="43" y="313"/>
                    </a:lnTo>
                    <a:lnTo>
                      <a:pt x="55" y="327"/>
                    </a:lnTo>
                    <a:lnTo>
                      <a:pt x="69" y="340"/>
                    </a:lnTo>
                    <a:lnTo>
                      <a:pt x="84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2" y="380"/>
                    </a:lnTo>
                    <a:lnTo>
                      <a:pt x="161" y="381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4"/>
                    </a:lnTo>
                    <a:lnTo>
                      <a:pt x="201" y="383"/>
                    </a:lnTo>
                    <a:lnTo>
                      <a:pt x="211" y="383"/>
                    </a:lnTo>
                    <a:lnTo>
                      <a:pt x="221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4"/>
                    </a:lnTo>
                    <a:lnTo>
                      <a:pt x="283" y="360"/>
                    </a:lnTo>
                    <a:lnTo>
                      <a:pt x="298" y="350"/>
                    </a:lnTo>
                    <a:lnTo>
                      <a:pt x="314" y="340"/>
                    </a:lnTo>
                    <a:lnTo>
                      <a:pt x="327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4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0"/>
                    </a:lnTo>
                    <a:lnTo>
                      <a:pt x="381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4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1" y="161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7" y="55"/>
                    </a:lnTo>
                    <a:lnTo>
                      <a:pt x="314" y="43"/>
                    </a:lnTo>
                    <a:lnTo>
                      <a:pt x="298" y="32"/>
                    </a:lnTo>
                    <a:lnTo>
                      <a:pt x="283" y="23"/>
                    </a:lnTo>
                    <a:lnTo>
                      <a:pt x="275" y="18"/>
                    </a:lnTo>
                    <a:lnTo>
                      <a:pt x="266" y="14"/>
                    </a:lnTo>
                    <a:lnTo>
                      <a:pt x="258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1" y="1"/>
                    </a:lnTo>
                    <a:lnTo>
                      <a:pt x="211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42" name="Rectangle 35"/>
              <p:cNvSpPr>
                <a:spLocks noChangeArrowheads="1"/>
              </p:cNvSpPr>
              <p:nvPr/>
            </p:nvSpPr>
            <p:spPr bwMode="auto">
              <a:xfrm>
                <a:off x="5270" y="316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GB" altLang="en-US"/>
              </a:p>
            </p:txBody>
          </p:sp>
        </p:grpSp>
        <p:sp>
          <p:nvSpPr>
            <p:cNvPr id="22621" name="Line 36"/>
            <p:cNvSpPr>
              <a:spLocks noChangeShapeType="1"/>
            </p:cNvSpPr>
            <p:nvPr/>
          </p:nvSpPr>
          <p:spPr bwMode="auto">
            <a:xfrm flipH="1">
              <a:off x="2259" y="1920"/>
              <a:ext cx="77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22" name="Freeform 37"/>
            <p:cNvSpPr>
              <a:spLocks/>
            </p:cNvSpPr>
            <p:nvPr/>
          </p:nvSpPr>
          <p:spPr bwMode="auto">
            <a:xfrm>
              <a:off x="2416" y="2156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23" name="Rectangle 38"/>
            <p:cNvSpPr>
              <a:spLocks noChangeArrowheads="1"/>
            </p:cNvSpPr>
            <p:nvPr/>
          </p:nvSpPr>
          <p:spPr bwMode="auto">
            <a:xfrm>
              <a:off x="2473" y="216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9</a:t>
              </a:r>
              <a:endParaRPr lang="en-GB" altLang="en-US"/>
            </a:p>
          </p:txBody>
        </p:sp>
        <p:sp>
          <p:nvSpPr>
            <p:cNvPr id="22624" name="Line 39"/>
            <p:cNvSpPr>
              <a:spLocks noChangeShapeType="1"/>
            </p:cNvSpPr>
            <p:nvPr/>
          </p:nvSpPr>
          <p:spPr bwMode="auto">
            <a:xfrm flipH="1">
              <a:off x="2539" y="1906"/>
              <a:ext cx="87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25" name="Group 40"/>
            <p:cNvGrpSpPr>
              <a:grpSpLocks/>
            </p:cNvGrpSpPr>
            <p:nvPr/>
          </p:nvGrpSpPr>
          <p:grpSpPr bwMode="auto">
            <a:xfrm>
              <a:off x="2277" y="2343"/>
              <a:ext cx="192" cy="336"/>
              <a:chOff x="2277" y="2343"/>
              <a:chExt cx="192" cy="336"/>
            </a:xfrm>
          </p:grpSpPr>
          <p:sp>
            <p:nvSpPr>
              <p:cNvPr id="22638" name="Freeform 41"/>
              <p:cNvSpPr>
                <a:spLocks/>
              </p:cNvSpPr>
              <p:nvPr/>
            </p:nvSpPr>
            <p:spPr bwMode="auto">
              <a:xfrm>
                <a:off x="2277" y="248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39" name="Line 42"/>
              <p:cNvSpPr>
                <a:spLocks noChangeShapeType="1"/>
              </p:cNvSpPr>
              <p:nvPr/>
            </p:nvSpPr>
            <p:spPr bwMode="auto">
              <a:xfrm flipH="1">
                <a:off x="2400" y="2343"/>
                <a:ext cx="64" cy="1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40" name="Rectangle 43"/>
              <p:cNvSpPr>
                <a:spLocks noChangeArrowheads="1"/>
              </p:cNvSpPr>
              <p:nvPr/>
            </p:nvSpPr>
            <p:spPr bwMode="auto">
              <a:xfrm>
                <a:off x="2327" y="2487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8</a:t>
                </a:r>
                <a:endParaRPr lang="en-GB" altLang="en-US"/>
              </a:p>
            </p:txBody>
          </p:sp>
        </p:grpSp>
        <p:sp>
          <p:nvSpPr>
            <p:cNvPr id="22626" name="Line 44"/>
            <p:cNvSpPr>
              <a:spLocks noChangeShapeType="1"/>
            </p:cNvSpPr>
            <p:nvPr/>
          </p:nvSpPr>
          <p:spPr bwMode="auto">
            <a:xfrm>
              <a:off x="2706" y="1909"/>
              <a:ext cx="83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27" name="Group 45"/>
            <p:cNvGrpSpPr>
              <a:grpSpLocks/>
            </p:cNvGrpSpPr>
            <p:nvPr/>
          </p:nvGrpSpPr>
          <p:grpSpPr bwMode="auto">
            <a:xfrm>
              <a:off x="2727" y="2138"/>
              <a:ext cx="192" cy="193"/>
              <a:chOff x="2773" y="2298"/>
              <a:chExt cx="192" cy="193"/>
            </a:xfrm>
          </p:grpSpPr>
          <p:sp>
            <p:nvSpPr>
              <p:cNvPr id="22636" name="Rectangle 46"/>
              <p:cNvSpPr>
                <a:spLocks noChangeArrowheads="1"/>
              </p:cNvSpPr>
              <p:nvPr/>
            </p:nvSpPr>
            <p:spPr bwMode="auto">
              <a:xfrm>
                <a:off x="2794" y="2304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11</a:t>
                </a:r>
                <a:endParaRPr lang="en-GB" altLang="en-US"/>
              </a:p>
            </p:txBody>
          </p:sp>
          <p:sp>
            <p:nvSpPr>
              <p:cNvPr id="22637" name="Freeform 47"/>
              <p:cNvSpPr>
                <a:spLocks/>
              </p:cNvSpPr>
              <p:nvPr/>
            </p:nvSpPr>
            <p:spPr bwMode="auto">
              <a:xfrm>
                <a:off x="2773" y="229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2628" name="Line 48"/>
            <p:cNvSpPr>
              <a:spLocks noChangeShapeType="1"/>
            </p:cNvSpPr>
            <p:nvPr/>
          </p:nvSpPr>
          <p:spPr bwMode="auto">
            <a:xfrm flipH="1">
              <a:off x="3097" y="1778"/>
              <a:ext cx="84" cy="3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29" name="Group 49"/>
            <p:cNvGrpSpPr>
              <a:grpSpLocks/>
            </p:cNvGrpSpPr>
            <p:nvPr/>
          </p:nvGrpSpPr>
          <p:grpSpPr bwMode="auto">
            <a:xfrm>
              <a:off x="3000" y="2140"/>
              <a:ext cx="192" cy="193"/>
              <a:chOff x="3000" y="2118"/>
              <a:chExt cx="192" cy="193"/>
            </a:xfrm>
          </p:grpSpPr>
          <p:sp>
            <p:nvSpPr>
              <p:cNvPr id="22634" name="Freeform 50"/>
              <p:cNvSpPr>
                <a:spLocks/>
              </p:cNvSpPr>
              <p:nvPr/>
            </p:nvSpPr>
            <p:spPr bwMode="auto">
              <a:xfrm>
                <a:off x="3000" y="211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635" name="Rectangle 51"/>
              <p:cNvSpPr>
                <a:spLocks noChangeArrowheads="1"/>
              </p:cNvSpPr>
              <p:nvPr/>
            </p:nvSpPr>
            <p:spPr bwMode="auto">
              <a:xfrm>
                <a:off x="3031" y="2120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13</a:t>
                </a:r>
                <a:endParaRPr lang="en-GB" altLang="en-US"/>
              </a:p>
            </p:txBody>
          </p:sp>
        </p:grpSp>
        <p:sp>
          <p:nvSpPr>
            <p:cNvPr id="22630" name="Line 52"/>
            <p:cNvSpPr>
              <a:spLocks noChangeShapeType="1"/>
            </p:cNvSpPr>
            <p:nvPr/>
          </p:nvSpPr>
          <p:spPr bwMode="auto">
            <a:xfrm>
              <a:off x="3243" y="1755"/>
              <a:ext cx="211" cy="38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631" name="Group 53"/>
            <p:cNvGrpSpPr>
              <a:grpSpLocks/>
            </p:cNvGrpSpPr>
            <p:nvPr/>
          </p:nvGrpSpPr>
          <p:grpSpPr bwMode="auto">
            <a:xfrm>
              <a:off x="3377" y="2139"/>
              <a:ext cx="192" cy="200"/>
              <a:chOff x="3377" y="2162"/>
              <a:chExt cx="192" cy="200"/>
            </a:xfrm>
          </p:grpSpPr>
          <p:sp>
            <p:nvSpPr>
              <p:cNvPr id="22632" name="Rectangle 54"/>
              <p:cNvSpPr>
                <a:spLocks noChangeArrowheads="1"/>
              </p:cNvSpPr>
              <p:nvPr/>
            </p:nvSpPr>
            <p:spPr bwMode="auto">
              <a:xfrm>
                <a:off x="3399" y="2162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15</a:t>
                </a:r>
                <a:endParaRPr lang="en-GB" altLang="en-US"/>
              </a:p>
            </p:txBody>
          </p:sp>
          <p:sp>
            <p:nvSpPr>
              <p:cNvPr id="22633" name="Freeform 55"/>
              <p:cNvSpPr>
                <a:spLocks/>
              </p:cNvSpPr>
              <p:nvPr/>
            </p:nvSpPr>
            <p:spPr bwMode="auto">
              <a:xfrm>
                <a:off x="3377" y="2169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2532" name="Text Box 56"/>
          <p:cNvSpPr txBox="1">
            <a:spLocks noChangeArrowheads="1"/>
          </p:cNvSpPr>
          <p:nvPr/>
        </p:nvSpPr>
        <p:spPr bwMode="auto">
          <a:xfrm>
            <a:off x="381000" y="1066800"/>
            <a:ext cx="701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Suppose we want to add a node containing the value 8.5</a:t>
            </a:r>
            <a:endParaRPr lang="en-GB" altLang="en-US" sz="2000" b="1" dirty="0">
              <a:latin typeface="Calibri" panose="020F0502020204030204" pitchFamily="34" charset="0"/>
            </a:endParaRPr>
          </a:p>
        </p:txBody>
      </p:sp>
      <p:grpSp>
        <p:nvGrpSpPr>
          <p:cNvPr id="22533" name="Group 57"/>
          <p:cNvGrpSpPr>
            <a:grpSpLocks/>
          </p:cNvGrpSpPr>
          <p:nvPr/>
        </p:nvGrpSpPr>
        <p:grpSpPr bwMode="auto">
          <a:xfrm>
            <a:off x="3505200" y="2438400"/>
            <a:ext cx="1219200" cy="649288"/>
            <a:chOff x="53" y="3047"/>
            <a:chExt cx="576" cy="409"/>
          </a:xfrm>
        </p:grpSpPr>
        <p:sp>
          <p:nvSpPr>
            <p:cNvPr id="22594" name="AutoShape 58"/>
            <p:cNvSpPr>
              <a:spLocks noChangeArrowheads="1"/>
            </p:cNvSpPr>
            <p:nvPr/>
          </p:nvSpPr>
          <p:spPr bwMode="auto">
            <a:xfrm>
              <a:off x="96" y="3360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66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595" name="Text Box 59"/>
            <p:cNvSpPr txBox="1">
              <a:spLocks noChangeArrowheads="1"/>
            </p:cNvSpPr>
            <p:nvPr/>
          </p:nvSpPr>
          <p:spPr bwMode="auto">
            <a:xfrm>
              <a:off x="53" y="3047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en-US">
                  <a:latin typeface="Comic Sans MS" pitchFamily="66" charset="0"/>
                </a:rPr>
                <a:t>add 8.5</a:t>
              </a:r>
            </a:p>
          </p:txBody>
        </p:sp>
      </p:grpSp>
      <p:grpSp>
        <p:nvGrpSpPr>
          <p:cNvPr id="22534" name="Group 117"/>
          <p:cNvGrpSpPr>
            <a:grpSpLocks/>
          </p:cNvGrpSpPr>
          <p:nvPr/>
        </p:nvGrpSpPr>
        <p:grpSpPr bwMode="auto">
          <a:xfrm>
            <a:off x="2819400" y="3429000"/>
            <a:ext cx="3303588" cy="2820988"/>
            <a:chOff x="2880" y="1008"/>
            <a:chExt cx="2081" cy="1777"/>
          </a:xfrm>
        </p:grpSpPr>
        <p:grpSp>
          <p:nvGrpSpPr>
            <p:cNvPr id="22538" name="Group 60"/>
            <p:cNvGrpSpPr>
              <a:grpSpLocks/>
            </p:cNvGrpSpPr>
            <p:nvPr/>
          </p:nvGrpSpPr>
          <p:grpSpPr bwMode="auto">
            <a:xfrm>
              <a:off x="2880" y="1008"/>
              <a:ext cx="2081" cy="1527"/>
              <a:chOff x="1488" y="1152"/>
              <a:chExt cx="2081" cy="1527"/>
            </a:xfrm>
          </p:grpSpPr>
          <p:sp>
            <p:nvSpPr>
              <p:cNvPr id="22543" name="Line 61"/>
              <p:cNvSpPr>
                <a:spLocks noChangeShapeType="1"/>
              </p:cNvSpPr>
              <p:nvPr/>
            </p:nvSpPr>
            <p:spPr bwMode="auto">
              <a:xfrm flipH="1">
                <a:off x="2701" y="1566"/>
                <a:ext cx="79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44" name="Line 62"/>
              <p:cNvSpPr>
                <a:spLocks noChangeShapeType="1"/>
              </p:cNvSpPr>
              <p:nvPr/>
            </p:nvSpPr>
            <p:spPr bwMode="auto">
              <a:xfrm flipH="1" flipV="1">
                <a:off x="2226" y="1615"/>
                <a:ext cx="109" cy="12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45" name="Freeform 63"/>
              <p:cNvSpPr>
                <a:spLocks/>
              </p:cNvSpPr>
              <p:nvPr/>
            </p:nvSpPr>
            <p:spPr bwMode="auto">
              <a:xfrm>
                <a:off x="2564" y="172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46" name="Rectangle 64"/>
              <p:cNvSpPr>
                <a:spLocks noChangeArrowheads="1"/>
              </p:cNvSpPr>
              <p:nvPr/>
            </p:nvSpPr>
            <p:spPr bwMode="auto">
              <a:xfrm>
                <a:off x="2596" y="173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10</a:t>
                </a:r>
                <a:endParaRPr lang="en-GB" altLang="en-US"/>
              </a:p>
            </p:txBody>
          </p:sp>
          <p:sp>
            <p:nvSpPr>
              <p:cNvPr id="22547" name="Line 65"/>
              <p:cNvSpPr>
                <a:spLocks noChangeShapeType="1"/>
              </p:cNvSpPr>
              <p:nvPr/>
            </p:nvSpPr>
            <p:spPr bwMode="auto">
              <a:xfrm flipV="1">
                <a:off x="2252" y="1321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48" name="Line 66"/>
              <p:cNvSpPr>
                <a:spLocks noChangeShapeType="1"/>
              </p:cNvSpPr>
              <p:nvPr/>
            </p:nvSpPr>
            <p:spPr bwMode="auto">
              <a:xfrm>
                <a:off x="1872" y="1934"/>
                <a:ext cx="47" cy="18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49" name="Group 67"/>
              <p:cNvGrpSpPr>
                <a:grpSpLocks/>
              </p:cNvGrpSpPr>
              <p:nvPr/>
            </p:nvGrpSpPr>
            <p:grpSpPr bwMode="auto">
              <a:xfrm>
                <a:off x="1843" y="2111"/>
                <a:ext cx="192" cy="193"/>
                <a:chOff x="3106" y="3644"/>
                <a:chExt cx="192" cy="193"/>
              </a:xfrm>
            </p:grpSpPr>
            <p:sp>
              <p:nvSpPr>
                <p:cNvPr id="22592" name="Freeform 68"/>
                <p:cNvSpPr>
                  <a:spLocks/>
                </p:cNvSpPr>
                <p:nvPr/>
              </p:nvSpPr>
              <p:spPr bwMode="auto">
                <a:xfrm>
                  <a:off x="3106" y="3644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2" y="0"/>
                      </a:moveTo>
                      <a:lnTo>
                        <a:pt x="182" y="0"/>
                      </a:lnTo>
                      <a:lnTo>
                        <a:pt x="172" y="0"/>
                      </a:lnTo>
                      <a:lnTo>
                        <a:pt x="162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69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99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39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69" y="339"/>
                      </a:lnTo>
                      <a:lnTo>
                        <a:pt x="85" y="350"/>
                      </a:lnTo>
                      <a:lnTo>
                        <a:pt x="100" y="359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79"/>
                      </a:lnTo>
                      <a:lnTo>
                        <a:pt x="162" y="381"/>
                      </a:lnTo>
                      <a:lnTo>
                        <a:pt x="172" y="382"/>
                      </a:lnTo>
                      <a:lnTo>
                        <a:pt x="182" y="382"/>
                      </a:lnTo>
                      <a:lnTo>
                        <a:pt x="192" y="384"/>
                      </a:lnTo>
                      <a:lnTo>
                        <a:pt x="202" y="382"/>
                      </a:lnTo>
                      <a:lnTo>
                        <a:pt x="211" y="382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59"/>
                      </a:lnTo>
                      <a:lnTo>
                        <a:pt x="299" y="350"/>
                      </a:lnTo>
                      <a:lnTo>
                        <a:pt x="314" y="339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9" y="239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5" y="133"/>
                      </a:lnTo>
                      <a:lnTo>
                        <a:pt x="372" y="126"/>
                      </a:lnTo>
                      <a:lnTo>
                        <a:pt x="369" y="116"/>
                      </a:lnTo>
                      <a:lnTo>
                        <a:pt x="365" y="107"/>
                      </a:lnTo>
                      <a:lnTo>
                        <a:pt x="360" y="99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3"/>
                      </a:lnTo>
                      <a:lnTo>
                        <a:pt x="259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93" name="Rectangle 69"/>
                <p:cNvSpPr>
                  <a:spLocks noChangeArrowheads="1"/>
                </p:cNvSpPr>
                <p:nvPr/>
              </p:nvSpPr>
              <p:spPr bwMode="auto">
                <a:xfrm>
                  <a:off x="3168" y="364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3</a:t>
                  </a:r>
                  <a:endParaRPr lang="en-GB" altLang="en-US"/>
                </a:p>
              </p:txBody>
            </p:sp>
          </p:grpSp>
          <p:sp>
            <p:nvSpPr>
              <p:cNvPr id="22550" name="Freeform 70"/>
              <p:cNvSpPr>
                <a:spLocks/>
              </p:cNvSpPr>
              <p:nvPr/>
            </p:nvSpPr>
            <p:spPr bwMode="auto">
              <a:xfrm>
                <a:off x="3087" y="1597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1" name="Freeform 71"/>
              <p:cNvSpPr>
                <a:spLocks/>
              </p:cNvSpPr>
              <p:nvPr/>
            </p:nvSpPr>
            <p:spPr bwMode="auto">
              <a:xfrm>
                <a:off x="2729" y="1399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2" name="Line 72"/>
              <p:cNvSpPr>
                <a:spLocks noChangeShapeType="1"/>
              </p:cNvSpPr>
              <p:nvPr/>
            </p:nvSpPr>
            <p:spPr bwMode="auto">
              <a:xfrm>
                <a:off x="2533" y="1313"/>
                <a:ext cx="210" cy="12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3" name="Line 73"/>
              <p:cNvSpPr>
                <a:spLocks noChangeShapeType="1"/>
              </p:cNvSpPr>
              <p:nvPr/>
            </p:nvSpPr>
            <p:spPr bwMode="auto">
              <a:xfrm>
                <a:off x="2912" y="1538"/>
                <a:ext cx="188" cy="11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4" name="Rectangle 74"/>
              <p:cNvSpPr>
                <a:spLocks noChangeArrowheads="1"/>
              </p:cNvSpPr>
              <p:nvPr/>
            </p:nvSpPr>
            <p:spPr bwMode="auto">
              <a:xfrm>
                <a:off x="2734" y="140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12</a:t>
                </a:r>
                <a:endParaRPr lang="en-GB" altLang="en-US"/>
              </a:p>
            </p:txBody>
          </p:sp>
          <p:sp>
            <p:nvSpPr>
              <p:cNvPr id="22555" name="Rectangle 75"/>
              <p:cNvSpPr>
                <a:spLocks noChangeArrowheads="1"/>
              </p:cNvSpPr>
              <p:nvPr/>
            </p:nvSpPr>
            <p:spPr bwMode="auto">
              <a:xfrm>
                <a:off x="3103" y="159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  <p:sp>
            <p:nvSpPr>
              <p:cNvPr id="22556" name="Freeform 76"/>
              <p:cNvSpPr>
                <a:spLocks/>
              </p:cNvSpPr>
              <p:nvPr/>
            </p:nvSpPr>
            <p:spPr bwMode="auto">
              <a:xfrm>
                <a:off x="2352" y="1152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7" name="Rectangle 77"/>
              <p:cNvSpPr>
                <a:spLocks noChangeArrowheads="1"/>
              </p:cNvSpPr>
              <p:nvPr/>
            </p:nvSpPr>
            <p:spPr bwMode="auto">
              <a:xfrm>
                <a:off x="2415" y="1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22558" name="Rectangle 78"/>
              <p:cNvSpPr>
                <a:spLocks noChangeArrowheads="1"/>
              </p:cNvSpPr>
              <p:nvPr/>
            </p:nvSpPr>
            <p:spPr bwMode="auto">
              <a:xfrm>
                <a:off x="1849" y="1756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22559" name="Line 79"/>
              <p:cNvSpPr>
                <a:spLocks noChangeShapeType="1"/>
              </p:cNvSpPr>
              <p:nvPr/>
            </p:nvSpPr>
            <p:spPr bwMode="auto">
              <a:xfrm flipV="1">
                <a:off x="1641" y="1934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60" name="Freeform 80"/>
              <p:cNvSpPr>
                <a:spLocks/>
              </p:cNvSpPr>
              <p:nvPr/>
            </p:nvSpPr>
            <p:spPr bwMode="auto">
              <a:xfrm>
                <a:off x="1488" y="205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61" name="Rectangle 81"/>
              <p:cNvSpPr>
                <a:spLocks noChangeArrowheads="1"/>
              </p:cNvSpPr>
              <p:nvPr/>
            </p:nvSpPr>
            <p:spPr bwMode="auto">
              <a:xfrm>
                <a:off x="1580" y="206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22562" name="Freeform 82"/>
              <p:cNvSpPr>
                <a:spLocks/>
              </p:cNvSpPr>
              <p:nvPr/>
            </p:nvSpPr>
            <p:spPr bwMode="auto">
              <a:xfrm>
                <a:off x="2103" y="1435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63" name="Rectangle 83"/>
              <p:cNvSpPr>
                <a:spLocks noChangeArrowheads="1"/>
              </p:cNvSpPr>
              <p:nvPr/>
            </p:nvSpPr>
            <p:spPr bwMode="auto">
              <a:xfrm>
                <a:off x="2195" y="144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22564" name="Line 84"/>
              <p:cNvSpPr>
                <a:spLocks noChangeShapeType="1"/>
              </p:cNvSpPr>
              <p:nvPr/>
            </p:nvSpPr>
            <p:spPr bwMode="auto">
              <a:xfrm flipH="1">
                <a:off x="1922" y="1588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65" name="Freeform 85"/>
              <p:cNvSpPr>
                <a:spLocks/>
              </p:cNvSpPr>
              <p:nvPr/>
            </p:nvSpPr>
            <p:spPr bwMode="auto">
              <a:xfrm>
                <a:off x="1757" y="1742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66" name="Group 86"/>
              <p:cNvGrpSpPr>
                <a:grpSpLocks/>
              </p:cNvGrpSpPr>
              <p:nvPr/>
            </p:nvGrpSpPr>
            <p:grpSpPr bwMode="auto">
              <a:xfrm>
                <a:off x="2269" y="1742"/>
                <a:ext cx="192" cy="192"/>
                <a:chOff x="2592" y="3600"/>
                <a:chExt cx="192" cy="192"/>
              </a:xfrm>
            </p:grpSpPr>
            <p:sp>
              <p:nvSpPr>
                <p:cNvPr id="22590" name="Freeform 87"/>
                <p:cNvSpPr>
                  <a:spLocks/>
                </p:cNvSpPr>
                <p:nvPr/>
              </p:nvSpPr>
              <p:spPr bwMode="auto">
                <a:xfrm>
                  <a:off x="2592" y="3600"/>
                  <a:ext cx="192" cy="192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3 h 384"/>
                    <a:gd name="T18" fmla="*/ 0 w 385"/>
                    <a:gd name="T19" fmla="*/ 3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6 h 384"/>
                    <a:gd name="T28" fmla="*/ 0 w 385"/>
                    <a:gd name="T29" fmla="*/ 6 h 384"/>
                    <a:gd name="T30" fmla="*/ 0 w 385"/>
                    <a:gd name="T31" fmla="*/ 7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2 h 384"/>
                    <a:gd name="T52" fmla="*/ 6 w 385"/>
                    <a:gd name="T53" fmla="*/ 12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7 h 384"/>
                    <a:gd name="T74" fmla="*/ 11 w 385"/>
                    <a:gd name="T75" fmla="*/ 6 h 384"/>
                    <a:gd name="T76" fmla="*/ 11 w 385"/>
                    <a:gd name="T77" fmla="*/ 6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3 h 384"/>
                    <a:gd name="T86" fmla="*/ 11 w 385"/>
                    <a:gd name="T87" fmla="*/ 3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7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79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7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299" y="350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3"/>
                      </a:lnTo>
                      <a:lnTo>
                        <a:pt x="373" y="126"/>
                      </a:lnTo>
                      <a:lnTo>
                        <a:pt x="370" y="116"/>
                      </a:lnTo>
                      <a:lnTo>
                        <a:pt x="365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7" y="13"/>
                      </a:lnTo>
                      <a:lnTo>
                        <a:pt x="259" y="10"/>
                      </a:lnTo>
                      <a:lnTo>
                        <a:pt x="250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91" name="Rectangle 88"/>
                <p:cNvSpPr>
                  <a:spLocks noChangeArrowheads="1"/>
                </p:cNvSpPr>
                <p:nvPr/>
              </p:nvSpPr>
              <p:spPr bwMode="auto">
                <a:xfrm>
                  <a:off x="2640" y="3600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  <a:endParaRPr lang="en-GB" altLang="en-US"/>
                </a:p>
              </p:txBody>
            </p:sp>
          </p:grpSp>
          <p:grpSp>
            <p:nvGrpSpPr>
              <p:cNvPr id="22567" name="Group 89"/>
              <p:cNvGrpSpPr>
                <a:grpSpLocks/>
              </p:cNvGrpSpPr>
              <p:nvPr/>
            </p:nvGrpSpPr>
            <p:grpSpPr bwMode="auto">
              <a:xfrm>
                <a:off x="2115" y="2121"/>
                <a:ext cx="193" cy="192"/>
                <a:chOff x="5232" y="3168"/>
                <a:chExt cx="193" cy="192"/>
              </a:xfrm>
            </p:grpSpPr>
            <p:sp>
              <p:nvSpPr>
                <p:cNvPr id="22588" name="Freeform 90"/>
                <p:cNvSpPr>
                  <a:spLocks/>
                </p:cNvSpPr>
                <p:nvPr/>
              </p:nvSpPr>
              <p:spPr bwMode="auto">
                <a:xfrm>
                  <a:off x="5232" y="3168"/>
                  <a:ext cx="193" cy="192"/>
                </a:xfrm>
                <a:custGeom>
                  <a:avLst/>
                  <a:gdLst>
                    <a:gd name="T0" fmla="*/ 6 w 384"/>
                    <a:gd name="T1" fmla="*/ 0 h 384"/>
                    <a:gd name="T2" fmla="*/ 6 w 384"/>
                    <a:gd name="T3" fmla="*/ 1 h 384"/>
                    <a:gd name="T4" fmla="*/ 5 w 384"/>
                    <a:gd name="T5" fmla="*/ 1 h 384"/>
                    <a:gd name="T6" fmla="*/ 4 w 384"/>
                    <a:gd name="T7" fmla="*/ 1 h 384"/>
                    <a:gd name="T8" fmla="*/ 4 w 384"/>
                    <a:gd name="T9" fmla="*/ 1 h 384"/>
                    <a:gd name="T10" fmla="*/ 3 w 384"/>
                    <a:gd name="T11" fmla="*/ 1 h 384"/>
                    <a:gd name="T12" fmla="*/ 2 w 384"/>
                    <a:gd name="T13" fmla="*/ 2 h 384"/>
                    <a:gd name="T14" fmla="*/ 1 w 384"/>
                    <a:gd name="T15" fmla="*/ 3 h 384"/>
                    <a:gd name="T16" fmla="*/ 1 w 384"/>
                    <a:gd name="T17" fmla="*/ 3 h 384"/>
                    <a:gd name="T18" fmla="*/ 1 w 384"/>
                    <a:gd name="T19" fmla="*/ 3 h 384"/>
                    <a:gd name="T20" fmla="*/ 1 w 384"/>
                    <a:gd name="T21" fmla="*/ 5 h 384"/>
                    <a:gd name="T22" fmla="*/ 1 w 384"/>
                    <a:gd name="T23" fmla="*/ 6 h 384"/>
                    <a:gd name="T24" fmla="*/ 0 w 384"/>
                    <a:gd name="T25" fmla="*/ 6 h 384"/>
                    <a:gd name="T26" fmla="*/ 0 w 384"/>
                    <a:gd name="T27" fmla="*/ 6 h 384"/>
                    <a:gd name="T28" fmla="*/ 1 w 384"/>
                    <a:gd name="T29" fmla="*/ 6 h 384"/>
                    <a:gd name="T30" fmla="*/ 1 w 384"/>
                    <a:gd name="T31" fmla="*/ 7 h 384"/>
                    <a:gd name="T32" fmla="*/ 1 w 384"/>
                    <a:gd name="T33" fmla="*/ 9 h 384"/>
                    <a:gd name="T34" fmla="*/ 1 w 384"/>
                    <a:gd name="T35" fmla="*/ 9 h 384"/>
                    <a:gd name="T36" fmla="*/ 1 w 384"/>
                    <a:gd name="T37" fmla="*/ 10 h 384"/>
                    <a:gd name="T38" fmla="*/ 2 w 384"/>
                    <a:gd name="T39" fmla="*/ 11 h 384"/>
                    <a:gd name="T40" fmla="*/ 3 w 384"/>
                    <a:gd name="T41" fmla="*/ 11 h 384"/>
                    <a:gd name="T42" fmla="*/ 4 w 384"/>
                    <a:gd name="T43" fmla="*/ 12 h 384"/>
                    <a:gd name="T44" fmla="*/ 4 w 384"/>
                    <a:gd name="T45" fmla="*/ 12 h 384"/>
                    <a:gd name="T46" fmla="*/ 5 w 384"/>
                    <a:gd name="T47" fmla="*/ 12 h 384"/>
                    <a:gd name="T48" fmla="*/ 6 w 384"/>
                    <a:gd name="T49" fmla="*/ 12 h 384"/>
                    <a:gd name="T50" fmla="*/ 6 w 384"/>
                    <a:gd name="T51" fmla="*/ 12 h 384"/>
                    <a:gd name="T52" fmla="*/ 7 w 384"/>
                    <a:gd name="T53" fmla="*/ 12 h 384"/>
                    <a:gd name="T54" fmla="*/ 7 w 384"/>
                    <a:gd name="T55" fmla="*/ 12 h 384"/>
                    <a:gd name="T56" fmla="*/ 8 w 384"/>
                    <a:gd name="T57" fmla="*/ 12 h 384"/>
                    <a:gd name="T58" fmla="*/ 9 w 384"/>
                    <a:gd name="T59" fmla="*/ 12 h 384"/>
                    <a:gd name="T60" fmla="*/ 9 w 384"/>
                    <a:gd name="T61" fmla="*/ 12 h 384"/>
                    <a:gd name="T62" fmla="*/ 10 w 384"/>
                    <a:gd name="T63" fmla="*/ 11 h 384"/>
                    <a:gd name="T64" fmla="*/ 11 w 384"/>
                    <a:gd name="T65" fmla="*/ 11 h 384"/>
                    <a:gd name="T66" fmla="*/ 11 w 384"/>
                    <a:gd name="T67" fmla="*/ 10 h 384"/>
                    <a:gd name="T68" fmla="*/ 12 w 384"/>
                    <a:gd name="T69" fmla="*/ 9 h 384"/>
                    <a:gd name="T70" fmla="*/ 12 w 384"/>
                    <a:gd name="T71" fmla="*/ 9 h 384"/>
                    <a:gd name="T72" fmla="*/ 12 w 384"/>
                    <a:gd name="T73" fmla="*/ 7 h 384"/>
                    <a:gd name="T74" fmla="*/ 12 w 384"/>
                    <a:gd name="T75" fmla="*/ 6 h 384"/>
                    <a:gd name="T76" fmla="*/ 13 w 384"/>
                    <a:gd name="T77" fmla="*/ 6 h 384"/>
                    <a:gd name="T78" fmla="*/ 13 w 384"/>
                    <a:gd name="T79" fmla="*/ 6 h 384"/>
                    <a:gd name="T80" fmla="*/ 12 w 384"/>
                    <a:gd name="T81" fmla="*/ 6 h 384"/>
                    <a:gd name="T82" fmla="*/ 12 w 384"/>
                    <a:gd name="T83" fmla="*/ 5 h 384"/>
                    <a:gd name="T84" fmla="*/ 12 w 384"/>
                    <a:gd name="T85" fmla="*/ 3 h 384"/>
                    <a:gd name="T86" fmla="*/ 12 w 384"/>
                    <a:gd name="T87" fmla="*/ 3 h 384"/>
                    <a:gd name="T88" fmla="*/ 11 w 384"/>
                    <a:gd name="T89" fmla="*/ 3 h 384"/>
                    <a:gd name="T90" fmla="*/ 11 w 384"/>
                    <a:gd name="T91" fmla="*/ 2 h 384"/>
                    <a:gd name="T92" fmla="*/ 10 w 384"/>
                    <a:gd name="T93" fmla="*/ 1 h 384"/>
                    <a:gd name="T94" fmla="*/ 9 w 384"/>
                    <a:gd name="T95" fmla="*/ 1 h 384"/>
                    <a:gd name="T96" fmla="*/ 9 w 384"/>
                    <a:gd name="T97" fmla="*/ 1 h 384"/>
                    <a:gd name="T98" fmla="*/ 8 w 384"/>
                    <a:gd name="T99" fmla="*/ 1 h 384"/>
                    <a:gd name="T100" fmla="*/ 7 w 384"/>
                    <a:gd name="T101" fmla="*/ 1 h 384"/>
                    <a:gd name="T102" fmla="*/ 7 w 384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4"/>
                    <a:gd name="T157" fmla="*/ 0 h 384"/>
                    <a:gd name="T158" fmla="*/ 384 w 384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4" h="384">
                      <a:moveTo>
                        <a:pt x="192" y="0"/>
                      </a:moveTo>
                      <a:lnTo>
                        <a:pt x="181" y="0"/>
                      </a:lnTo>
                      <a:lnTo>
                        <a:pt x="172" y="0"/>
                      </a:lnTo>
                      <a:lnTo>
                        <a:pt x="161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4" y="32"/>
                      </a:lnTo>
                      <a:lnTo>
                        <a:pt x="69" y="43"/>
                      </a:lnTo>
                      <a:lnTo>
                        <a:pt x="55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100"/>
                      </a:lnTo>
                      <a:lnTo>
                        <a:pt x="18" y="107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4" y="143"/>
                      </a:lnTo>
                      <a:lnTo>
                        <a:pt x="3" y="152"/>
                      </a:lnTo>
                      <a:lnTo>
                        <a:pt x="1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1" y="221"/>
                      </a:lnTo>
                      <a:lnTo>
                        <a:pt x="3" y="230"/>
                      </a:lnTo>
                      <a:lnTo>
                        <a:pt x="4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8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5" y="327"/>
                      </a:lnTo>
                      <a:lnTo>
                        <a:pt x="69" y="340"/>
                      </a:lnTo>
                      <a:lnTo>
                        <a:pt x="84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80"/>
                      </a:lnTo>
                      <a:lnTo>
                        <a:pt x="161" y="381"/>
                      </a:lnTo>
                      <a:lnTo>
                        <a:pt x="172" y="383"/>
                      </a:lnTo>
                      <a:lnTo>
                        <a:pt x="181" y="383"/>
                      </a:lnTo>
                      <a:lnTo>
                        <a:pt x="192" y="384"/>
                      </a:lnTo>
                      <a:lnTo>
                        <a:pt x="201" y="383"/>
                      </a:lnTo>
                      <a:lnTo>
                        <a:pt x="211" y="383"/>
                      </a:lnTo>
                      <a:lnTo>
                        <a:pt x="221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8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60"/>
                      </a:lnTo>
                      <a:lnTo>
                        <a:pt x="298" y="350"/>
                      </a:lnTo>
                      <a:lnTo>
                        <a:pt x="314" y="340"/>
                      </a:lnTo>
                      <a:lnTo>
                        <a:pt x="327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4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8" y="240"/>
                      </a:lnTo>
                      <a:lnTo>
                        <a:pt x="380" y="230"/>
                      </a:lnTo>
                      <a:lnTo>
                        <a:pt x="381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4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1" y="161"/>
                      </a:lnTo>
                      <a:lnTo>
                        <a:pt x="380" y="152"/>
                      </a:lnTo>
                      <a:lnTo>
                        <a:pt x="378" y="143"/>
                      </a:lnTo>
                      <a:lnTo>
                        <a:pt x="375" y="134"/>
                      </a:lnTo>
                      <a:lnTo>
                        <a:pt x="372" y="126"/>
                      </a:lnTo>
                      <a:lnTo>
                        <a:pt x="369" y="117"/>
                      </a:lnTo>
                      <a:lnTo>
                        <a:pt x="364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7" y="55"/>
                      </a:lnTo>
                      <a:lnTo>
                        <a:pt x="314" y="43"/>
                      </a:lnTo>
                      <a:lnTo>
                        <a:pt x="298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4"/>
                      </a:lnTo>
                      <a:lnTo>
                        <a:pt x="258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1" y="1"/>
                      </a:lnTo>
                      <a:lnTo>
                        <a:pt x="211" y="0"/>
                      </a:lnTo>
                      <a:lnTo>
                        <a:pt x="201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89" name="Rectangle 91"/>
                <p:cNvSpPr>
                  <a:spLocks noChangeArrowheads="1"/>
                </p:cNvSpPr>
                <p:nvPr/>
              </p:nvSpPr>
              <p:spPr bwMode="auto">
                <a:xfrm>
                  <a:off x="5270" y="316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5</a:t>
                  </a:r>
                  <a:endParaRPr lang="en-GB" altLang="en-US"/>
                </a:p>
              </p:txBody>
            </p:sp>
          </p:grpSp>
          <p:sp>
            <p:nvSpPr>
              <p:cNvPr id="22568" name="Line 92"/>
              <p:cNvSpPr>
                <a:spLocks noChangeShapeType="1"/>
              </p:cNvSpPr>
              <p:nvPr/>
            </p:nvSpPr>
            <p:spPr bwMode="auto">
              <a:xfrm flipH="1">
                <a:off x="2259" y="1920"/>
                <a:ext cx="77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69" name="Freeform 93"/>
              <p:cNvSpPr>
                <a:spLocks/>
              </p:cNvSpPr>
              <p:nvPr/>
            </p:nvSpPr>
            <p:spPr bwMode="auto">
              <a:xfrm>
                <a:off x="2416" y="215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70" name="Rectangle 94"/>
              <p:cNvSpPr>
                <a:spLocks noChangeArrowheads="1"/>
              </p:cNvSpPr>
              <p:nvPr/>
            </p:nvSpPr>
            <p:spPr bwMode="auto">
              <a:xfrm>
                <a:off x="2473" y="2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9</a:t>
                </a:r>
                <a:endParaRPr lang="en-GB" altLang="en-US"/>
              </a:p>
            </p:txBody>
          </p:sp>
          <p:sp>
            <p:nvSpPr>
              <p:cNvPr id="22571" name="Line 95"/>
              <p:cNvSpPr>
                <a:spLocks noChangeShapeType="1"/>
              </p:cNvSpPr>
              <p:nvPr/>
            </p:nvSpPr>
            <p:spPr bwMode="auto">
              <a:xfrm flipH="1">
                <a:off x="2539" y="1906"/>
                <a:ext cx="87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72" name="Group 96"/>
              <p:cNvGrpSpPr>
                <a:grpSpLocks/>
              </p:cNvGrpSpPr>
              <p:nvPr/>
            </p:nvGrpSpPr>
            <p:grpSpPr bwMode="auto">
              <a:xfrm>
                <a:off x="2277" y="2343"/>
                <a:ext cx="192" cy="336"/>
                <a:chOff x="2277" y="2343"/>
                <a:chExt cx="192" cy="336"/>
              </a:xfrm>
            </p:grpSpPr>
            <p:sp>
              <p:nvSpPr>
                <p:cNvPr id="22585" name="Freeform 97"/>
                <p:cNvSpPr>
                  <a:spLocks/>
                </p:cNvSpPr>
                <p:nvPr/>
              </p:nvSpPr>
              <p:spPr bwMode="auto">
                <a:xfrm>
                  <a:off x="2277" y="2486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86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2400" y="2343"/>
                  <a:ext cx="64" cy="1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87" name="Rectangle 99"/>
                <p:cNvSpPr>
                  <a:spLocks noChangeArrowheads="1"/>
                </p:cNvSpPr>
                <p:nvPr/>
              </p:nvSpPr>
              <p:spPr bwMode="auto">
                <a:xfrm>
                  <a:off x="2327" y="2487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8</a:t>
                  </a:r>
                  <a:endParaRPr lang="en-GB" altLang="en-US"/>
                </a:p>
              </p:txBody>
            </p:sp>
          </p:grpSp>
          <p:sp>
            <p:nvSpPr>
              <p:cNvPr id="22573" name="Line 100"/>
              <p:cNvSpPr>
                <a:spLocks noChangeShapeType="1"/>
              </p:cNvSpPr>
              <p:nvPr/>
            </p:nvSpPr>
            <p:spPr bwMode="auto">
              <a:xfrm>
                <a:off x="2706" y="1909"/>
                <a:ext cx="83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74" name="Group 101"/>
              <p:cNvGrpSpPr>
                <a:grpSpLocks/>
              </p:cNvGrpSpPr>
              <p:nvPr/>
            </p:nvGrpSpPr>
            <p:grpSpPr bwMode="auto">
              <a:xfrm>
                <a:off x="2727" y="2138"/>
                <a:ext cx="192" cy="193"/>
                <a:chOff x="2773" y="2298"/>
                <a:chExt cx="192" cy="193"/>
              </a:xfrm>
            </p:grpSpPr>
            <p:sp>
              <p:nvSpPr>
                <p:cNvPr id="22583" name="Rectangle 102"/>
                <p:cNvSpPr>
                  <a:spLocks noChangeArrowheads="1"/>
                </p:cNvSpPr>
                <p:nvPr/>
              </p:nvSpPr>
              <p:spPr bwMode="auto">
                <a:xfrm>
                  <a:off x="2794" y="2304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11</a:t>
                  </a:r>
                  <a:endParaRPr lang="en-GB" altLang="en-US"/>
                </a:p>
              </p:txBody>
            </p:sp>
            <p:sp>
              <p:nvSpPr>
                <p:cNvPr id="22584" name="Freeform 103"/>
                <p:cNvSpPr>
                  <a:spLocks/>
                </p:cNvSpPr>
                <p:nvPr/>
              </p:nvSpPr>
              <p:spPr bwMode="auto">
                <a:xfrm>
                  <a:off x="2773" y="229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2575" name="Line 104"/>
              <p:cNvSpPr>
                <a:spLocks noChangeShapeType="1"/>
              </p:cNvSpPr>
              <p:nvPr/>
            </p:nvSpPr>
            <p:spPr bwMode="auto">
              <a:xfrm flipH="1">
                <a:off x="3097" y="1778"/>
                <a:ext cx="84" cy="3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76" name="Group 105"/>
              <p:cNvGrpSpPr>
                <a:grpSpLocks/>
              </p:cNvGrpSpPr>
              <p:nvPr/>
            </p:nvGrpSpPr>
            <p:grpSpPr bwMode="auto">
              <a:xfrm>
                <a:off x="3000" y="2140"/>
                <a:ext cx="192" cy="193"/>
                <a:chOff x="3000" y="2118"/>
                <a:chExt cx="192" cy="193"/>
              </a:xfrm>
            </p:grpSpPr>
            <p:sp>
              <p:nvSpPr>
                <p:cNvPr id="22581" name="Freeform 106"/>
                <p:cNvSpPr>
                  <a:spLocks/>
                </p:cNvSpPr>
                <p:nvPr/>
              </p:nvSpPr>
              <p:spPr bwMode="auto">
                <a:xfrm>
                  <a:off x="3000" y="211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582" name="Rectangle 107"/>
                <p:cNvSpPr>
                  <a:spLocks noChangeArrowheads="1"/>
                </p:cNvSpPr>
                <p:nvPr/>
              </p:nvSpPr>
              <p:spPr bwMode="auto">
                <a:xfrm>
                  <a:off x="3031" y="2120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13</a:t>
                  </a:r>
                  <a:endParaRPr lang="en-GB" altLang="en-US"/>
                </a:p>
              </p:txBody>
            </p:sp>
          </p:grpSp>
          <p:sp>
            <p:nvSpPr>
              <p:cNvPr id="22577" name="Line 108"/>
              <p:cNvSpPr>
                <a:spLocks noChangeShapeType="1"/>
              </p:cNvSpPr>
              <p:nvPr/>
            </p:nvSpPr>
            <p:spPr bwMode="auto">
              <a:xfrm>
                <a:off x="3243" y="1755"/>
                <a:ext cx="211" cy="38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2578" name="Group 109"/>
              <p:cNvGrpSpPr>
                <a:grpSpLocks/>
              </p:cNvGrpSpPr>
              <p:nvPr/>
            </p:nvGrpSpPr>
            <p:grpSpPr bwMode="auto">
              <a:xfrm>
                <a:off x="3377" y="2139"/>
                <a:ext cx="192" cy="200"/>
                <a:chOff x="3377" y="2162"/>
                <a:chExt cx="192" cy="200"/>
              </a:xfrm>
            </p:grpSpPr>
            <p:sp>
              <p:nvSpPr>
                <p:cNvPr id="22579" name="Rectangle 110"/>
                <p:cNvSpPr>
                  <a:spLocks noChangeArrowheads="1"/>
                </p:cNvSpPr>
                <p:nvPr/>
              </p:nvSpPr>
              <p:spPr bwMode="auto">
                <a:xfrm>
                  <a:off x="3399" y="2162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15</a:t>
                  </a:r>
                  <a:endParaRPr lang="en-GB" altLang="en-US"/>
                </a:p>
              </p:txBody>
            </p:sp>
            <p:sp>
              <p:nvSpPr>
                <p:cNvPr id="22580" name="Freeform 111"/>
                <p:cNvSpPr>
                  <a:spLocks/>
                </p:cNvSpPr>
                <p:nvPr/>
              </p:nvSpPr>
              <p:spPr bwMode="auto">
                <a:xfrm>
                  <a:off x="3377" y="2169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22539" name="Group 116"/>
            <p:cNvGrpSpPr>
              <a:grpSpLocks/>
            </p:cNvGrpSpPr>
            <p:nvPr/>
          </p:nvGrpSpPr>
          <p:grpSpPr bwMode="auto">
            <a:xfrm>
              <a:off x="3888" y="2592"/>
              <a:ext cx="192" cy="193"/>
              <a:chOff x="3888" y="2928"/>
              <a:chExt cx="192" cy="193"/>
            </a:xfrm>
          </p:grpSpPr>
          <p:sp>
            <p:nvSpPr>
              <p:cNvPr id="22541" name="Freeform 112"/>
              <p:cNvSpPr>
                <a:spLocks/>
              </p:cNvSpPr>
              <p:nvPr/>
            </p:nvSpPr>
            <p:spPr bwMode="auto">
              <a:xfrm>
                <a:off x="3888" y="292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42" name="Rectangle 113"/>
              <p:cNvSpPr>
                <a:spLocks noChangeArrowheads="1"/>
              </p:cNvSpPr>
              <p:nvPr/>
            </p:nvSpPr>
            <p:spPr bwMode="auto">
              <a:xfrm>
                <a:off x="3888" y="2928"/>
                <a:ext cx="19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8.5</a:t>
                </a:r>
                <a:endParaRPr lang="en-GB" altLang="en-US"/>
              </a:p>
            </p:txBody>
          </p:sp>
        </p:grpSp>
        <p:sp>
          <p:nvSpPr>
            <p:cNvPr id="22540" name="Line 114"/>
            <p:cNvSpPr>
              <a:spLocks noChangeShapeType="1"/>
            </p:cNvSpPr>
            <p:nvPr/>
          </p:nvSpPr>
          <p:spPr bwMode="auto">
            <a:xfrm>
              <a:off x="3820" y="2509"/>
              <a:ext cx="91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535" name="Text Box 115"/>
          <p:cNvSpPr txBox="1">
            <a:spLocks noChangeArrowheads="1"/>
          </p:cNvSpPr>
          <p:nvPr/>
        </p:nvSpPr>
        <p:spPr bwMode="auto">
          <a:xfrm>
            <a:off x="6629400" y="2895600"/>
            <a:ext cx="18764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9 is unbalanced now (too heavy on the left). New node is in the right subtree of the left child so double rotation required.</a:t>
            </a:r>
          </a:p>
        </p:txBody>
      </p:sp>
      <p:sp>
        <p:nvSpPr>
          <p:cNvPr id="22536" name="Slide Number Placeholder 11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E0EBF9-5B42-41B8-902F-106B5DBB07A7}" type="slidenum">
              <a:rPr lang="en-GB" altLang="en-US" smtClean="0"/>
              <a:pPr eaLnBrk="1" hangingPunct="1"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500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GB" altLang="en-US"/>
              <a:t>Left-right rotation contd.</a:t>
            </a:r>
          </a:p>
        </p:txBody>
      </p:sp>
      <p:sp>
        <p:nvSpPr>
          <p:cNvPr id="23555" name="AutoShape 62"/>
          <p:cNvSpPr>
            <a:spLocks noChangeArrowheads="1"/>
          </p:cNvSpPr>
          <p:nvPr/>
        </p:nvSpPr>
        <p:spPr bwMode="auto">
          <a:xfrm>
            <a:off x="3886200" y="1981200"/>
            <a:ext cx="812800" cy="1524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6" name="Text Box 63"/>
          <p:cNvSpPr txBox="1">
            <a:spLocks noChangeArrowheads="1"/>
          </p:cNvSpPr>
          <p:nvPr/>
        </p:nvSpPr>
        <p:spPr bwMode="auto">
          <a:xfrm>
            <a:off x="3505200" y="15240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Rotate left</a:t>
            </a:r>
          </a:p>
        </p:txBody>
      </p:sp>
      <p:grpSp>
        <p:nvGrpSpPr>
          <p:cNvPr id="23557" name="Group 4"/>
          <p:cNvGrpSpPr>
            <a:grpSpLocks/>
          </p:cNvGrpSpPr>
          <p:nvPr/>
        </p:nvGrpSpPr>
        <p:grpSpPr bwMode="auto">
          <a:xfrm>
            <a:off x="381000" y="914400"/>
            <a:ext cx="3303588" cy="2820988"/>
            <a:chOff x="2880" y="1008"/>
            <a:chExt cx="2081" cy="1777"/>
          </a:xfrm>
        </p:grpSpPr>
        <p:grpSp>
          <p:nvGrpSpPr>
            <p:cNvPr id="23680" name="Group 5"/>
            <p:cNvGrpSpPr>
              <a:grpSpLocks/>
            </p:cNvGrpSpPr>
            <p:nvPr/>
          </p:nvGrpSpPr>
          <p:grpSpPr bwMode="auto">
            <a:xfrm>
              <a:off x="2880" y="1008"/>
              <a:ext cx="2081" cy="1527"/>
              <a:chOff x="1488" y="1152"/>
              <a:chExt cx="2081" cy="1527"/>
            </a:xfrm>
          </p:grpSpPr>
          <p:sp>
            <p:nvSpPr>
              <p:cNvPr id="23685" name="Line 6"/>
              <p:cNvSpPr>
                <a:spLocks noChangeShapeType="1"/>
              </p:cNvSpPr>
              <p:nvPr/>
            </p:nvSpPr>
            <p:spPr bwMode="auto">
              <a:xfrm flipH="1">
                <a:off x="2701" y="1566"/>
                <a:ext cx="79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86" name="Line 7"/>
              <p:cNvSpPr>
                <a:spLocks noChangeShapeType="1"/>
              </p:cNvSpPr>
              <p:nvPr/>
            </p:nvSpPr>
            <p:spPr bwMode="auto">
              <a:xfrm flipH="1" flipV="1">
                <a:off x="2226" y="1615"/>
                <a:ext cx="109" cy="12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87" name="Freeform 8"/>
              <p:cNvSpPr>
                <a:spLocks/>
              </p:cNvSpPr>
              <p:nvPr/>
            </p:nvSpPr>
            <p:spPr bwMode="auto">
              <a:xfrm>
                <a:off x="2564" y="172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88" name="Rectangle 9"/>
              <p:cNvSpPr>
                <a:spLocks noChangeArrowheads="1"/>
              </p:cNvSpPr>
              <p:nvPr/>
            </p:nvSpPr>
            <p:spPr bwMode="auto">
              <a:xfrm>
                <a:off x="2596" y="173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10</a:t>
                </a:r>
                <a:endParaRPr lang="en-GB" altLang="en-US"/>
              </a:p>
            </p:txBody>
          </p:sp>
          <p:sp>
            <p:nvSpPr>
              <p:cNvPr id="23689" name="Line 10"/>
              <p:cNvSpPr>
                <a:spLocks noChangeShapeType="1"/>
              </p:cNvSpPr>
              <p:nvPr/>
            </p:nvSpPr>
            <p:spPr bwMode="auto">
              <a:xfrm flipV="1">
                <a:off x="2252" y="1321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0" name="Line 11"/>
              <p:cNvSpPr>
                <a:spLocks noChangeShapeType="1"/>
              </p:cNvSpPr>
              <p:nvPr/>
            </p:nvSpPr>
            <p:spPr bwMode="auto">
              <a:xfrm>
                <a:off x="1872" y="1934"/>
                <a:ext cx="47" cy="18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91" name="Group 12"/>
              <p:cNvGrpSpPr>
                <a:grpSpLocks/>
              </p:cNvGrpSpPr>
              <p:nvPr/>
            </p:nvGrpSpPr>
            <p:grpSpPr bwMode="auto">
              <a:xfrm>
                <a:off x="1843" y="2111"/>
                <a:ext cx="192" cy="193"/>
                <a:chOff x="3106" y="3644"/>
                <a:chExt cx="192" cy="193"/>
              </a:xfrm>
            </p:grpSpPr>
            <p:sp>
              <p:nvSpPr>
                <p:cNvPr id="23734" name="Freeform 13"/>
                <p:cNvSpPr>
                  <a:spLocks/>
                </p:cNvSpPr>
                <p:nvPr/>
              </p:nvSpPr>
              <p:spPr bwMode="auto">
                <a:xfrm>
                  <a:off x="3106" y="3644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2" y="0"/>
                      </a:moveTo>
                      <a:lnTo>
                        <a:pt x="182" y="0"/>
                      </a:lnTo>
                      <a:lnTo>
                        <a:pt x="172" y="0"/>
                      </a:lnTo>
                      <a:lnTo>
                        <a:pt x="162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69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99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39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69" y="339"/>
                      </a:lnTo>
                      <a:lnTo>
                        <a:pt x="85" y="350"/>
                      </a:lnTo>
                      <a:lnTo>
                        <a:pt x="100" y="359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79"/>
                      </a:lnTo>
                      <a:lnTo>
                        <a:pt x="162" y="381"/>
                      </a:lnTo>
                      <a:lnTo>
                        <a:pt x="172" y="382"/>
                      </a:lnTo>
                      <a:lnTo>
                        <a:pt x="182" y="382"/>
                      </a:lnTo>
                      <a:lnTo>
                        <a:pt x="192" y="384"/>
                      </a:lnTo>
                      <a:lnTo>
                        <a:pt x="202" y="382"/>
                      </a:lnTo>
                      <a:lnTo>
                        <a:pt x="211" y="382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59"/>
                      </a:lnTo>
                      <a:lnTo>
                        <a:pt x="299" y="350"/>
                      </a:lnTo>
                      <a:lnTo>
                        <a:pt x="314" y="339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9" y="239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5" y="133"/>
                      </a:lnTo>
                      <a:lnTo>
                        <a:pt x="372" y="126"/>
                      </a:lnTo>
                      <a:lnTo>
                        <a:pt x="369" y="116"/>
                      </a:lnTo>
                      <a:lnTo>
                        <a:pt x="365" y="107"/>
                      </a:lnTo>
                      <a:lnTo>
                        <a:pt x="360" y="99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3"/>
                      </a:lnTo>
                      <a:lnTo>
                        <a:pt x="259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35" name="Rectangle 14"/>
                <p:cNvSpPr>
                  <a:spLocks noChangeArrowheads="1"/>
                </p:cNvSpPr>
                <p:nvPr/>
              </p:nvSpPr>
              <p:spPr bwMode="auto">
                <a:xfrm>
                  <a:off x="3168" y="364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3</a:t>
                  </a:r>
                  <a:endParaRPr lang="en-GB" altLang="en-US"/>
                </a:p>
              </p:txBody>
            </p:sp>
          </p:grpSp>
          <p:sp>
            <p:nvSpPr>
              <p:cNvPr id="23692" name="Freeform 15"/>
              <p:cNvSpPr>
                <a:spLocks/>
              </p:cNvSpPr>
              <p:nvPr/>
            </p:nvSpPr>
            <p:spPr bwMode="auto">
              <a:xfrm>
                <a:off x="3087" y="1597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3" name="Freeform 16"/>
              <p:cNvSpPr>
                <a:spLocks/>
              </p:cNvSpPr>
              <p:nvPr/>
            </p:nvSpPr>
            <p:spPr bwMode="auto">
              <a:xfrm>
                <a:off x="2729" y="1399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4" name="Line 17"/>
              <p:cNvSpPr>
                <a:spLocks noChangeShapeType="1"/>
              </p:cNvSpPr>
              <p:nvPr/>
            </p:nvSpPr>
            <p:spPr bwMode="auto">
              <a:xfrm>
                <a:off x="2533" y="1313"/>
                <a:ext cx="210" cy="12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5" name="Line 18"/>
              <p:cNvSpPr>
                <a:spLocks noChangeShapeType="1"/>
              </p:cNvSpPr>
              <p:nvPr/>
            </p:nvSpPr>
            <p:spPr bwMode="auto">
              <a:xfrm>
                <a:off x="2912" y="1538"/>
                <a:ext cx="188" cy="11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6" name="Rectangle 19"/>
              <p:cNvSpPr>
                <a:spLocks noChangeArrowheads="1"/>
              </p:cNvSpPr>
              <p:nvPr/>
            </p:nvSpPr>
            <p:spPr bwMode="auto">
              <a:xfrm>
                <a:off x="2734" y="140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12</a:t>
                </a:r>
                <a:endParaRPr lang="en-GB" altLang="en-US"/>
              </a:p>
            </p:txBody>
          </p:sp>
          <p:sp>
            <p:nvSpPr>
              <p:cNvPr id="23697" name="Rectangle 20"/>
              <p:cNvSpPr>
                <a:spLocks noChangeArrowheads="1"/>
              </p:cNvSpPr>
              <p:nvPr/>
            </p:nvSpPr>
            <p:spPr bwMode="auto">
              <a:xfrm>
                <a:off x="3103" y="159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  <p:sp>
            <p:nvSpPr>
              <p:cNvPr id="23698" name="Freeform 21"/>
              <p:cNvSpPr>
                <a:spLocks/>
              </p:cNvSpPr>
              <p:nvPr/>
            </p:nvSpPr>
            <p:spPr bwMode="auto">
              <a:xfrm>
                <a:off x="2352" y="1152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99" name="Rectangle 22"/>
              <p:cNvSpPr>
                <a:spLocks noChangeArrowheads="1"/>
              </p:cNvSpPr>
              <p:nvPr/>
            </p:nvSpPr>
            <p:spPr bwMode="auto">
              <a:xfrm>
                <a:off x="2415" y="1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23700" name="Rectangle 23"/>
              <p:cNvSpPr>
                <a:spLocks noChangeArrowheads="1"/>
              </p:cNvSpPr>
              <p:nvPr/>
            </p:nvSpPr>
            <p:spPr bwMode="auto">
              <a:xfrm>
                <a:off x="1849" y="1756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23701" name="Line 24"/>
              <p:cNvSpPr>
                <a:spLocks noChangeShapeType="1"/>
              </p:cNvSpPr>
              <p:nvPr/>
            </p:nvSpPr>
            <p:spPr bwMode="auto">
              <a:xfrm flipV="1">
                <a:off x="1641" y="1934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02" name="Freeform 25"/>
              <p:cNvSpPr>
                <a:spLocks/>
              </p:cNvSpPr>
              <p:nvPr/>
            </p:nvSpPr>
            <p:spPr bwMode="auto">
              <a:xfrm>
                <a:off x="1488" y="205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03" name="Rectangle 26"/>
              <p:cNvSpPr>
                <a:spLocks noChangeArrowheads="1"/>
              </p:cNvSpPr>
              <p:nvPr/>
            </p:nvSpPr>
            <p:spPr bwMode="auto">
              <a:xfrm>
                <a:off x="1580" y="206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23704" name="Freeform 27"/>
              <p:cNvSpPr>
                <a:spLocks/>
              </p:cNvSpPr>
              <p:nvPr/>
            </p:nvSpPr>
            <p:spPr bwMode="auto">
              <a:xfrm>
                <a:off x="2103" y="1435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05" name="Rectangle 28"/>
              <p:cNvSpPr>
                <a:spLocks noChangeArrowheads="1"/>
              </p:cNvSpPr>
              <p:nvPr/>
            </p:nvSpPr>
            <p:spPr bwMode="auto">
              <a:xfrm>
                <a:off x="2195" y="144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23706" name="Line 29"/>
              <p:cNvSpPr>
                <a:spLocks noChangeShapeType="1"/>
              </p:cNvSpPr>
              <p:nvPr/>
            </p:nvSpPr>
            <p:spPr bwMode="auto">
              <a:xfrm flipH="1">
                <a:off x="1922" y="1588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07" name="Freeform 30"/>
              <p:cNvSpPr>
                <a:spLocks/>
              </p:cNvSpPr>
              <p:nvPr/>
            </p:nvSpPr>
            <p:spPr bwMode="auto">
              <a:xfrm>
                <a:off x="1757" y="1742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708" name="Group 31"/>
              <p:cNvGrpSpPr>
                <a:grpSpLocks/>
              </p:cNvGrpSpPr>
              <p:nvPr/>
            </p:nvGrpSpPr>
            <p:grpSpPr bwMode="auto">
              <a:xfrm>
                <a:off x="2269" y="1742"/>
                <a:ext cx="192" cy="192"/>
                <a:chOff x="2592" y="3600"/>
                <a:chExt cx="192" cy="192"/>
              </a:xfrm>
            </p:grpSpPr>
            <p:sp>
              <p:nvSpPr>
                <p:cNvPr id="23732" name="Freeform 32"/>
                <p:cNvSpPr>
                  <a:spLocks/>
                </p:cNvSpPr>
                <p:nvPr/>
              </p:nvSpPr>
              <p:spPr bwMode="auto">
                <a:xfrm>
                  <a:off x="2592" y="3600"/>
                  <a:ext cx="192" cy="192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3 h 384"/>
                    <a:gd name="T18" fmla="*/ 0 w 385"/>
                    <a:gd name="T19" fmla="*/ 3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6 h 384"/>
                    <a:gd name="T28" fmla="*/ 0 w 385"/>
                    <a:gd name="T29" fmla="*/ 6 h 384"/>
                    <a:gd name="T30" fmla="*/ 0 w 385"/>
                    <a:gd name="T31" fmla="*/ 7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2 h 384"/>
                    <a:gd name="T52" fmla="*/ 6 w 385"/>
                    <a:gd name="T53" fmla="*/ 12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7 h 384"/>
                    <a:gd name="T74" fmla="*/ 11 w 385"/>
                    <a:gd name="T75" fmla="*/ 6 h 384"/>
                    <a:gd name="T76" fmla="*/ 11 w 385"/>
                    <a:gd name="T77" fmla="*/ 6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3 h 384"/>
                    <a:gd name="T86" fmla="*/ 11 w 385"/>
                    <a:gd name="T87" fmla="*/ 3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7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79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7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299" y="350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3"/>
                      </a:lnTo>
                      <a:lnTo>
                        <a:pt x="373" y="126"/>
                      </a:lnTo>
                      <a:lnTo>
                        <a:pt x="370" y="116"/>
                      </a:lnTo>
                      <a:lnTo>
                        <a:pt x="365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7" y="13"/>
                      </a:lnTo>
                      <a:lnTo>
                        <a:pt x="259" y="10"/>
                      </a:lnTo>
                      <a:lnTo>
                        <a:pt x="250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33" name="Rectangle 33"/>
                <p:cNvSpPr>
                  <a:spLocks noChangeArrowheads="1"/>
                </p:cNvSpPr>
                <p:nvPr/>
              </p:nvSpPr>
              <p:spPr bwMode="auto">
                <a:xfrm>
                  <a:off x="2640" y="3600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  <a:endParaRPr lang="en-GB" altLang="en-US"/>
                </a:p>
              </p:txBody>
            </p:sp>
          </p:grpSp>
          <p:grpSp>
            <p:nvGrpSpPr>
              <p:cNvPr id="23709" name="Group 34"/>
              <p:cNvGrpSpPr>
                <a:grpSpLocks/>
              </p:cNvGrpSpPr>
              <p:nvPr/>
            </p:nvGrpSpPr>
            <p:grpSpPr bwMode="auto">
              <a:xfrm>
                <a:off x="2115" y="2121"/>
                <a:ext cx="193" cy="192"/>
                <a:chOff x="5232" y="3168"/>
                <a:chExt cx="193" cy="192"/>
              </a:xfrm>
            </p:grpSpPr>
            <p:sp>
              <p:nvSpPr>
                <p:cNvPr id="23730" name="Freeform 35"/>
                <p:cNvSpPr>
                  <a:spLocks/>
                </p:cNvSpPr>
                <p:nvPr/>
              </p:nvSpPr>
              <p:spPr bwMode="auto">
                <a:xfrm>
                  <a:off x="5232" y="3168"/>
                  <a:ext cx="193" cy="192"/>
                </a:xfrm>
                <a:custGeom>
                  <a:avLst/>
                  <a:gdLst>
                    <a:gd name="T0" fmla="*/ 6 w 384"/>
                    <a:gd name="T1" fmla="*/ 0 h 384"/>
                    <a:gd name="T2" fmla="*/ 6 w 384"/>
                    <a:gd name="T3" fmla="*/ 1 h 384"/>
                    <a:gd name="T4" fmla="*/ 5 w 384"/>
                    <a:gd name="T5" fmla="*/ 1 h 384"/>
                    <a:gd name="T6" fmla="*/ 4 w 384"/>
                    <a:gd name="T7" fmla="*/ 1 h 384"/>
                    <a:gd name="T8" fmla="*/ 4 w 384"/>
                    <a:gd name="T9" fmla="*/ 1 h 384"/>
                    <a:gd name="T10" fmla="*/ 3 w 384"/>
                    <a:gd name="T11" fmla="*/ 1 h 384"/>
                    <a:gd name="T12" fmla="*/ 2 w 384"/>
                    <a:gd name="T13" fmla="*/ 2 h 384"/>
                    <a:gd name="T14" fmla="*/ 1 w 384"/>
                    <a:gd name="T15" fmla="*/ 3 h 384"/>
                    <a:gd name="T16" fmla="*/ 1 w 384"/>
                    <a:gd name="T17" fmla="*/ 3 h 384"/>
                    <a:gd name="T18" fmla="*/ 1 w 384"/>
                    <a:gd name="T19" fmla="*/ 3 h 384"/>
                    <a:gd name="T20" fmla="*/ 1 w 384"/>
                    <a:gd name="T21" fmla="*/ 5 h 384"/>
                    <a:gd name="T22" fmla="*/ 1 w 384"/>
                    <a:gd name="T23" fmla="*/ 6 h 384"/>
                    <a:gd name="T24" fmla="*/ 0 w 384"/>
                    <a:gd name="T25" fmla="*/ 6 h 384"/>
                    <a:gd name="T26" fmla="*/ 0 w 384"/>
                    <a:gd name="T27" fmla="*/ 6 h 384"/>
                    <a:gd name="T28" fmla="*/ 1 w 384"/>
                    <a:gd name="T29" fmla="*/ 6 h 384"/>
                    <a:gd name="T30" fmla="*/ 1 w 384"/>
                    <a:gd name="T31" fmla="*/ 7 h 384"/>
                    <a:gd name="T32" fmla="*/ 1 w 384"/>
                    <a:gd name="T33" fmla="*/ 9 h 384"/>
                    <a:gd name="T34" fmla="*/ 1 w 384"/>
                    <a:gd name="T35" fmla="*/ 9 h 384"/>
                    <a:gd name="T36" fmla="*/ 1 w 384"/>
                    <a:gd name="T37" fmla="*/ 10 h 384"/>
                    <a:gd name="T38" fmla="*/ 2 w 384"/>
                    <a:gd name="T39" fmla="*/ 11 h 384"/>
                    <a:gd name="T40" fmla="*/ 3 w 384"/>
                    <a:gd name="T41" fmla="*/ 11 h 384"/>
                    <a:gd name="T42" fmla="*/ 4 w 384"/>
                    <a:gd name="T43" fmla="*/ 12 h 384"/>
                    <a:gd name="T44" fmla="*/ 4 w 384"/>
                    <a:gd name="T45" fmla="*/ 12 h 384"/>
                    <a:gd name="T46" fmla="*/ 5 w 384"/>
                    <a:gd name="T47" fmla="*/ 12 h 384"/>
                    <a:gd name="T48" fmla="*/ 6 w 384"/>
                    <a:gd name="T49" fmla="*/ 12 h 384"/>
                    <a:gd name="T50" fmla="*/ 6 w 384"/>
                    <a:gd name="T51" fmla="*/ 12 h 384"/>
                    <a:gd name="T52" fmla="*/ 7 w 384"/>
                    <a:gd name="T53" fmla="*/ 12 h 384"/>
                    <a:gd name="T54" fmla="*/ 7 w 384"/>
                    <a:gd name="T55" fmla="*/ 12 h 384"/>
                    <a:gd name="T56" fmla="*/ 8 w 384"/>
                    <a:gd name="T57" fmla="*/ 12 h 384"/>
                    <a:gd name="T58" fmla="*/ 9 w 384"/>
                    <a:gd name="T59" fmla="*/ 12 h 384"/>
                    <a:gd name="T60" fmla="*/ 9 w 384"/>
                    <a:gd name="T61" fmla="*/ 12 h 384"/>
                    <a:gd name="T62" fmla="*/ 10 w 384"/>
                    <a:gd name="T63" fmla="*/ 11 h 384"/>
                    <a:gd name="T64" fmla="*/ 11 w 384"/>
                    <a:gd name="T65" fmla="*/ 11 h 384"/>
                    <a:gd name="T66" fmla="*/ 11 w 384"/>
                    <a:gd name="T67" fmla="*/ 10 h 384"/>
                    <a:gd name="T68" fmla="*/ 12 w 384"/>
                    <a:gd name="T69" fmla="*/ 9 h 384"/>
                    <a:gd name="T70" fmla="*/ 12 w 384"/>
                    <a:gd name="T71" fmla="*/ 9 h 384"/>
                    <a:gd name="T72" fmla="*/ 12 w 384"/>
                    <a:gd name="T73" fmla="*/ 7 h 384"/>
                    <a:gd name="T74" fmla="*/ 12 w 384"/>
                    <a:gd name="T75" fmla="*/ 6 h 384"/>
                    <a:gd name="T76" fmla="*/ 13 w 384"/>
                    <a:gd name="T77" fmla="*/ 6 h 384"/>
                    <a:gd name="T78" fmla="*/ 13 w 384"/>
                    <a:gd name="T79" fmla="*/ 6 h 384"/>
                    <a:gd name="T80" fmla="*/ 12 w 384"/>
                    <a:gd name="T81" fmla="*/ 6 h 384"/>
                    <a:gd name="T82" fmla="*/ 12 w 384"/>
                    <a:gd name="T83" fmla="*/ 5 h 384"/>
                    <a:gd name="T84" fmla="*/ 12 w 384"/>
                    <a:gd name="T85" fmla="*/ 3 h 384"/>
                    <a:gd name="T86" fmla="*/ 12 w 384"/>
                    <a:gd name="T87" fmla="*/ 3 h 384"/>
                    <a:gd name="T88" fmla="*/ 11 w 384"/>
                    <a:gd name="T89" fmla="*/ 3 h 384"/>
                    <a:gd name="T90" fmla="*/ 11 w 384"/>
                    <a:gd name="T91" fmla="*/ 2 h 384"/>
                    <a:gd name="T92" fmla="*/ 10 w 384"/>
                    <a:gd name="T93" fmla="*/ 1 h 384"/>
                    <a:gd name="T94" fmla="*/ 9 w 384"/>
                    <a:gd name="T95" fmla="*/ 1 h 384"/>
                    <a:gd name="T96" fmla="*/ 9 w 384"/>
                    <a:gd name="T97" fmla="*/ 1 h 384"/>
                    <a:gd name="T98" fmla="*/ 8 w 384"/>
                    <a:gd name="T99" fmla="*/ 1 h 384"/>
                    <a:gd name="T100" fmla="*/ 7 w 384"/>
                    <a:gd name="T101" fmla="*/ 1 h 384"/>
                    <a:gd name="T102" fmla="*/ 7 w 384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4"/>
                    <a:gd name="T157" fmla="*/ 0 h 384"/>
                    <a:gd name="T158" fmla="*/ 384 w 384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4" h="384">
                      <a:moveTo>
                        <a:pt x="192" y="0"/>
                      </a:moveTo>
                      <a:lnTo>
                        <a:pt x="181" y="0"/>
                      </a:lnTo>
                      <a:lnTo>
                        <a:pt x="172" y="0"/>
                      </a:lnTo>
                      <a:lnTo>
                        <a:pt x="161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4" y="32"/>
                      </a:lnTo>
                      <a:lnTo>
                        <a:pt x="69" y="43"/>
                      </a:lnTo>
                      <a:lnTo>
                        <a:pt x="55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100"/>
                      </a:lnTo>
                      <a:lnTo>
                        <a:pt x="18" y="107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4" y="143"/>
                      </a:lnTo>
                      <a:lnTo>
                        <a:pt x="3" y="152"/>
                      </a:lnTo>
                      <a:lnTo>
                        <a:pt x="1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1" y="221"/>
                      </a:lnTo>
                      <a:lnTo>
                        <a:pt x="3" y="230"/>
                      </a:lnTo>
                      <a:lnTo>
                        <a:pt x="4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8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5" y="327"/>
                      </a:lnTo>
                      <a:lnTo>
                        <a:pt x="69" y="340"/>
                      </a:lnTo>
                      <a:lnTo>
                        <a:pt x="84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80"/>
                      </a:lnTo>
                      <a:lnTo>
                        <a:pt x="161" y="381"/>
                      </a:lnTo>
                      <a:lnTo>
                        <a:pt x="172" y="383"/>
                      </a:lnTo>
                      <a:lnTo>
                        <a:pt x="181" y="383"/>
                      </a:lnTo>
                      <a:lnTo>
                        <a:pt x="192" y="384"/>
                      </a:lnTo>
                      <a:lnTo>
                        <a:pt x="201" y="383"/>
                      </a:lnTo>
                      <a:lnTo>
                        <a:pt x="211" y="383"/>
                      </a:lnTo>
                      <a:lnTo>
                        <a:pt x="221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8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60"/>
                      </a:lnTo>
                      <a:lnTo>
                        <a:pt x="298" y="350"/>
                      </a:lnTo>
                      <a:lnTo>
                        <a:pt x="314" y="340"/>
                      </a:lnTo>
                      <a:lnTo>
                        <a:pt x="327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4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8" y="240"/>
                      </a:lnTo>
                      <a:lnTo>
                        <a:pt x="380" y="230"/>
                      </a:lnTo>
                      <a:lnTo>
                        <a:pt x="381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4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1" y="161"/>
                      </a:lnTo>
                      <a:lnTo>
                        <a:pt x="380" y="152"/>
                      </a:lnTo>
                      <a:lnTo>
                        <a:pt x="378" y="143"/>
                      </a:lnTo>
                      <a:lnTo>
                        <a:pt x="375" y="134"/>
                      </a:lnTo>
                      <a:lnTo>
                        <a:pt x="372" y="126"/>
                      </a:lnTo>
                      <a:lnTo>
                        <a:pt x="369" y="117"/>
                      </a:lnTo>
                      <a:lnTo>
                        <a:pt x="364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7" y="55"/>
                      </a:lnTo>
                      <a:lnTo>
                        <a:pt x="314" y="43"/>
                      </a:lnTo>
                      <a:lnTo>
                        <a:pt x="298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4"/>
                      </a:lnTo>
                      <a:lnTo>
                        <a:pt x="258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1" y="1"/>
                      </a:lnTo>
                      <a:lnTo>
                        <a:pt x="211" y="0"/>
                      </a:lnTo>
                      <a:lnTo>
                        <a:pt x="201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31" name="Rectangle 36"/>
                <p:cNvSpPr>
                  <a:spLocks noChangeArrowheads="1"/>
                </p:cNvSpPr>
                <p:nvPr/>
              </p:nvSpPr>
              <p:spPr bwMode="auto">
                <a:xfrm>
                  <a:off x="5270" y="316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5</a:t>
                  </a:r>
                  <a:endParaRPr lang="en-GB" altLang="en-US"/>
                </a:p>
              </p:txBody>
            </p:sp>
          </p:grpSp>
          <p:sp>
            <p:nvSpPr>
              <p:cNvPr id="23710" name="Line 37"/>
              <p:cNvSpPr>
                <a:spLocks noChangeShapeType="1"/>
              </p:cNvSpPr>
              <p:nvPr/>
            </p:nvSpPr>
            <p:spPr bwMode="auto">
              <a:xfrm flipH="1">
                <a:off x="2259" y="1920"/>
                <a:ext cx="77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11" name="Freeform 38"/>
              <p:cNvSpPr>
                <a:spLocks/>
              </p:cNvSpPr>
              <p:nvPr/>
            </p:nvSpPr>
            <p:spPr bwMode="auto">
              <a:xfrm>
                <a:off x="2416" y="215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712" name="Rectangle 39"/>
              <p:cNvSpPr>
                <a:spLocks noChangeArrowheads="1"/>
              </p:cNvSpPr>
              <p:nvPr/>
            </p:nvSpPr>
            <p:spPr bwMode="auto">
              <a:xfrm>
                <a:off x="2473" y="2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9</a:t>
                </a:r>
                <a:endParaRPr lang="en-GB" altLang="en-US"/>
              </a:p>
            </p:txBody>
          </p:sp>
          <p:sp>
            <p:nvSpPr>
              <p:cNvPr id="23713" name="Line 40"/>
              <p:cNvSpPr>
                <a:spLocks noChangeShapeType="1"/>
              </p:cNvSpPr>
              <p:nvPr/>
            </p:nvSpPr>
            <p:spPr bwMode="auto">
              <a:xfrm flipH="1">
                <a:off x="2539" y="1906"/>
                <a:ext cx="87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714" name="Group 41"/>
              <p:cNvGrpSpPr>
                <a:grpSpLocks/>
              </p:cNvGrpSpPr>
              <p:nvPr/>
            </p:nvGrpSpPr>
            <p:grpSpPr bwMode="auto">
              <a:xfrm>
                <a:off x="2277" y="2343"/>
                <a:ext cx="192" cy="336"/>
                <a:chOff x="2277" y="2343"/>
                <a:chExt cx="192" cy="336"/>
              </a:xfrm>
            </p:grpSpPr>
            <p:sp>
              <p:nvSpPr>
                <p:cNvPr id="23727" name="Freeform 42"/>
                <p:cNvSpPr>
                  <a:spLocks/>
                </p:cNvSpPr>
                <p:nvPr/>
              </p:nvSpPr>
              <p:spPr bwMode="auto">
                <a:xfrm>
                  <a:off x="2277" y="2486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28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400" y="2343"/>
                  <a:ext cx="64" cy="1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29" name="Rectangle 44"/>
                <p:cNvSpPr>
                  <a:spLocks noChangeArrowheads="1"/>
                </p:cNvSpPr>
                <p:nvPr/>
              </p:nvSpPr>
              <p:spPr bwMode="auto">
                <a:xfrm>
                  <a:off x="2327" y="2487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8</a:t>
                  </a:r>
                  <a:endParaRPr lang="en-GB" altLang="en-US"/>
                </a:p>
              </p:txBody>
            </p:sp>
          </p:grpSp>
          <p:sp>
            <p:nvSpPr>
              <p:cNvPr id="23715" name="Line 45"/>
              <p:cNvSpPr>
                <a:spLocks noChangeShapeType="1"/>
              </p:cNvSpPr>
              <p:nvPr/>
            </p:nvSpPr>
            <p:spPr bwMode="auto">
              <a:xfrm>
                <a:off x="2706" y="1909"/>
                <a:ext cx="83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716" name="Group 46"/>
              <p:cNvGrpSpPr>
                <a:grpSpLocks/>
              </p:cNvGrpSpPr>
              <p:nvPr/>
            </p:nvGrpSpPr>
            <p:grpSpPr bwMode="auto">
              <a:xfrm>
                <a:off x="2727" y="2138"/>
                <a:ext cx="192" cy="193"/>
                <a:chOff x="2773" y="2298"/>
                <a:chExt cx="192" cy="193"/>
              </a:xfrm>
            </p:grpSpPr>
            <p:sp>
              <p:nvSpPr>
                <p:cNvPr id="23725" name="Rectangle 47"/>
                <p:cNvSpPr>
                  <a:spLocks noChangeArrowheads="1"/>
                </p:cNvSpPr>
                <p:nvPr/>
              </p:nvSpPr>
              <p:spPr bwMode="auto">
                <a:xfrm>
                  <a:off x="2794" y="2304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11</a:t>
                  </a:r>
                  <a:endParaRPr lang="en-GB" altLang="en-US"/>
                </a:p>
              </p:txBody>
            </p:sp>
            <p:sp>
              <p:nvSpPr>
                <p:cNvPr id="23726" name="Freeform 48"/>
                <p:cNvSpPr>
                  <a:spLocks/>
                </p:cNvSpPr>
                <p:nvPr/>
              </p:nvSpPr>
              <p:spPr bwMode="auto">
                <a:xfrm>
                  <a:off x="2773" y="229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3717" name="Line 49"/>
              <p:cNvSpPr>
                <a:spLocks noChangeShapeType="1"/>
              </p:cNvSpPr>
              <p:nvPr/>
            </p:nvSpPr>
            <p:spPr bwMode="auto">
              <a:xfrm flipH="1">
                <a:off x="3097" y="1778"/>
                <a:ext cx="84" cy="3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718" name="Group 50"/>
              <p:cNvGrpSpPr>
                <a:grpSpLocks/>
              </p:cNvGrpSpPr>
              <p:nvPr/>
            </p:nvGrpSpPr>
            <p:grpSpPr bwMode="auto">
              <a:xfrm>
                <a:off x="3000" y="2140"/>
                <a:ext cx="192" cy="193"/>
                <a:chOff x="3000" y="2118"/>
                <a:chExt cx="192" cy="193"/>
              </a:xfrm>
            </p:grpSpPr>
            <p:sp>
              <p:nvSpPr>
                <p:cNvPr id="23723" name="Freeform 51"/>
                <p:cNvSpPr>
                  <a:spLocks/>
                </p:cNvSpPr>
                <p:nvPr/>
              </p:nvSpPr>
              <p:spPr bwMode="auto">
                <a:xfrm>
                  <a:off x="3000" y="211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724" name="Rectangle 52"/>
                <p:cNvSpPr>
                  <a:spLocks noChangeArrowheads="1"/>
                </p:cNvSpPr>
                <p:nvPr/>
              </p:nvSpPr>
              <p:spPr bwMode="auto">
                <a:xfrm>
                  <a:off x="3031" y="2120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13</a:t>
                  </a:r>
                  <a:endParaRPr lang="en-GB" altLang="en-US"/>
                </a:p>
              </p:txBody>
            </p:sp>
          </p:grpSp>
          <p:sp>
            <p:nvSpPr>
              <p:cNvPr id="23719" name="Line 53"/>
              <p:cNvSpPr>
                <a:spLocks noChangeShapeType="1"/>
              </p:cNvSpPr>
              <p:nvPr/>
            </p:nvSpPr>
            <p:spPr bwMode="auto">
              <a:xfrm>
                <a:off x="3243" y="1755"/>
                <a:ext cx="211" cy="38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720" name="Group 54"/>
              <p:cNvGrpSpPr>
                <a:grpSpLocks/>
              </p:cNvGrpSpPr>
              <p:nvPr/>
            </p:nvGrpSpPr>
            <p:grpSpPr bwMode="auto">
              <a:xfrm>
                <a:off x="3377" y="2139"/>
                <a:ext cx="192" cy="200"/>
                <a:chOff x="3377" y="2162"/>
                <a:chExt cx="192" cy="200"/>
              </a:xfrm>
            </p:grpSpPr>
            <p:sp>
              <p:nvSpPr>
                <p:cNvPr id="23721" name="Rectangle 55"/>
                <p:cNvSpPr>
                  <a:spLocks noChangeArrowheads="1"/>
                </p:cNvSpPr>
                <p:nvPr/>
              </p:nvSpPr>
              <p:spPr bwMode="auto">
                <a:xfrm>
                  <a:off x="3399" y="2162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15</a:t>
                  </a:r>
                  <a:endParaRPr lang="en-GB" altLang="en-US"/>
                </a:p>
              </p:txBody>
            </p:sp>
            <p:sp>
              <p:nvSpPr>
                <p:cNvPr id="23722" name="Freeform 56"/>
                <p:cNvSpPr>
                  <a:spLocks/>
                </p:cNvSpPr>
                <p:nvPr/>
              </p:nvSpPr>
              <p:spPr bwMode="auto">
                <a:xfrm>
                  <a:off x="3377" y="2169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23681" name="Group 57"/>
            <p:cNvGrpSpPr>
              <a:grpSpLocks/>
            </p:cNvGrpSpPr>
            <p:nvPr/>
          </p:nvGrpSpPr>
          <p:grpSpPr bwMode="auto">
            <a:xfrm>
              <a:off x="3888" y="2592"/>
              <a:ext cx="192" cy="193"/>
              <a:chOff x="3888" y="2928"/>
              <a:chExt cx="192" cy="193"/>
            </a:xfrm>
          </p:grpSpPr>
          <p:sp>
            <p:nvSpPr>
              <p:cNvPr id="23683" name="Freeform 58"/>
              <p:cNvSpPr>
                <a:spLocks/>
              </p:cNvSpPr>
              <p:nvPr/>
            </p:nvSpPr>
            <p:spPr bwMode="auto">
              <a:xfrm>
                <a:off x="3888" y="292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84" name="Rectangle 59"/>
              <p:cNvSpPr>
                <a:spLocks noChangeArrowheads="1"/>
              </p:cNvSpPr>
              <p:nvPr/>
            </p:nvSpPr>
            <p:spPr bwMode="auto">
              <a:xfrm>
                <a:off x="3888" y="2928"/>
                <a:ext cx="19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8.5</a:t>
                </a:r>
                <a:endParaRPr lang="en-GB" altLang="en-US"/>
              </a:p>
            </p:txBody>
          </p:sp>
        </p:grpSp>
        <p:sp>
          <p:nvSpPr>
            <p:cNvPr id="23682" name="Line 60"/>
            <p:cNvSpPr>
              <a:spLocks noChangeShapeType="1"/>
            </p:cNvSpPr>
            <p:nvPr/>
          </p:nvSpPr>
          <p:spPr bwMode="auto">
            <a:xfrm>
              <a:off x="3820" y="2509"/>
              <a:ext cx="91" cy="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558" name="Text Box 64"/>
          <p:cNvSpPr txBox="1">
            <a:spLocks noChangeArrowheads="1"/>
          </p:cNvSpPr>
          <p:nvPr/>
        </p:nvSpPr>
        <p:spPr bwMode="auto">
          <a:xfrm>
            <a:off x="1611313" y="2225675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1</a:t>
            </a:r>
          </a:p>
        </p:txBody>
      </p:sp>
      <p:sp>
        <p:nvSpPr>
          <p:cNvPr id="23559" name="Text Box 65"/>
          <p:cNvSpPr txBox="1">
            <a:spLocks noChangeArrowheads="1"/>
          </p:cNvSpPr>
          <p:nvPr/>
        </p:nvSpPr>
        <p:spPr bwMode="auto">
          <a:xfrm>
            <a:off x="1608138" y="344963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3</a:t>
            </a:r>
          </a:p>
        </p:txBody>
      </p:sp>
      <p:sp>
        <p:nvSpPr>
          <p:cNvPr id="23560" name="Text Box 66"/>
          <p:cNvSpPr txBox="1">
            <a:spLocks noChangeArrowheads="1"/>
          </p:cNvSpPr>
          <p:nvPr/>
        </p:nvSpPr>
        <p:spPr bwMode="auto">
          <a:xfrm>
            <a:off x="1189038" y="290353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2</a:t>
            </a:r>
          </a:p>
        </p:txBody>
      </p:sp>
      <p:grpSp>
        <p:nvGrpSpPr>
          <p:cNvPr id="23561" name="Group 128"/>
          <p:cNvGrpSpPr>
            <a:grpSpLocks/>
          </p:cNvGrpSpPr>
          <p:nvPr/>
        </p:nvGrpSpPr>
        <p:grpSpPr bwMode="auto">
          <a:xfrm>
            <a:off x="4953000" y="914400"/>
            <a:ext cx="3303588" cy="2897188"/>
            <a:chOff x="3120" y="576"/>
            <a:chExt cx="2081" cy="1825"/>
          </a:xfrm>
        </p:grpSpPr>
        <p:grpSp>
          <p:nvGrpSpPr>
            <p:cNvPr id="23624" name="Group 68"/>
            <p:cNvGrpSpPr>
              <a:grpSpLocks/>
            </p:cNvGrpSpPr>
            <p:nvPr/>
          </p:nvGrpSpPr>
          <p:grpSpPr bwMode="auto">
            <a:xfrm>
              <a:off x="3120" y="576"/>
              <a:ext cx="2081" cy="1527"/>
              <a:chOff x="1488" y="1152"/>
              <a:chExt cx="2081" cy="1527"/>
            </a:xfrm>
          </p:grpSpPr>
          <p:sp>
            <p:nvSpPr>
              <p:cNvPr id="23629" name="Line 69"/>
              <p:cNvSpPr>
                <a:spLocks noChangeShapeType="1"/>
              </p:cNvSpPr>
              <p:nvPr/>
            </p:nvSpPr>
            <p:spPr bwMode="auto">
              <a:xfrm flipH="1">
                <a:off x="2701" y="1566"/>
                <a:ext cx="79" cy="1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0" name="Line 70"/>
              <p:cNvSpPr>
                <a:spLocks noChangeShapeType="1"/>
              </p:cNvSpPr>
              <p:nvPr/>
            </p:nvSpPr>
            <p:spPr bwMode="auto">
              <a:xfrm flipH="1" flipV="1">
                <a:off x="2226" y="1615"/>
                <a:ext cx="109" cy="124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1" name="Freeform 71"/>
              <p:cNvSpPr>
                <a:spLocks/>
              </p:cNvSpPr>
              <p:nvPr/>
            </p:nvSpPr>
            <p:spPr bwMode="auto">
              <a:xfrm>
                <a:off x="2564" y="1728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3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2" name="Rectangle 72"/>
              <p:cNvSpPr>
                <a:spLocks noChangeArrowheads="1"/>
              </p:cNvSpPr>
              <p:nvPr/>
            </p:nvSpPr>
            <p:spPr bwMode="auto">
              <a:xfrm>
                <a:off x="2596" y="1738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10</a:t>
                </a:r>
                <a:endParaRPr lang="en-GB" altLang="en-US"/>
              </a:p>
            </p:txBody>
          </p:sp>
          <p:sp>
            <p:nvSpPr>
              <p:cNvPr id="23633" name="Line 73"/>
              <p:cNvSpPr>
                <a:spLocks noChangeShapeType="1"/>
              </p:cNvSpPr>
              <p:nvPr/>
            </p:nvSpPr>
            <p:spPr bwMode="auto">
              <a:xfrm flipV="1">
                <a:off x="2252" y="1321"/>
                <a:ext cx="124" cy="116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4" name="Line 74"/>
              <p:cNvSpPr>
                <a:spLocks noChangeShapeType="1"/>
              </p:cNvSpPr>
              <p:nvPr/>
            </p:nvSpPr>
            <p:spPr bwMode="auto">
              <a:xfrm>
                <a:off x="1872" y="1934"/>
                <a:ext cx="47" cy="183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35" name="Group 75"/>
              <p:cNvGrpSpPr>
                <a:grpSpLocks/>
              </p:cNvGrpSpPr>
              <p:nvPr/>
            </p:nvGrpSpPr>
            <p:grpSpPr bwMode="auto">
              <a:xfrm>
                <a:off x="1843" y="2111"/>
                <a:ext cx="192" cy="193"/>
                <a:chOff x="3106" y="3644"/>
                <a:chExt cx="192" cy="193"/>
              </a:xfrm>
            </p:grpSpPr>
            <p:sp>
              <p:nvSpPr>
                <p:cNvPr id="23678" name="Freeform 76"/>
                <p:cNvSpPr>
                  <a:spLocks/>
                </p:cNvSpPr>
                <p:nvPr/>
              </p:nvSpPr>
              <p:spPr bwMode="auto">
                <a:xfrm>
                  <a:off x="3106" y="3644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2" y="0"/>
                      </a:moveTo>
                      <a:lnTo>
                        <a:pt x="182" y="0"/>
                      </a:lnTo>
                      <a:lnTo>
                        <a:pt x="172" y="0"/>
                      </a:lnTo>
                      <a:lnTo>
                        <a:pt x="162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69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99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39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69" y="339"/>
                      </a:lnTo>
                      <a:lnTo>
                        <a:pt x="85" y="350"/>
                      </a:lnTo>
                      <a:lnTo>
                        <a:pt x="100" y="359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79"/>
                      </a:lnTo>
                      <a:lnTo>
                        <a:pt x="162" y="381"/>
                      </a:lnTo>
                      <a:lnTo>
                        <a:pt x="172" y="382"/>
                      </a:lnTo>
                      <a:lnTo>
                        <a:pt x="182" y="382"/>
                      </a:lnTo>
                      <a:lnTo>
                        <a:pt x="192" y="384"/>
                      </a:lnTo>
                      <a:lnTo>
                        <a:pt x="202" y="382"/>
                      </a:lnTo>
                      <a:lnTo>
                        <a:pt x="211" y="382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59"/>
                      </a:lnTo>
                      <a:lnTo>
                        <a:pt x="299" y="350"/>
                      </a:lnTo>
                      <a:lnTo>
                        <a:pt x="314" y="339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9" y="239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5" y="133"/>
                      </a:lnTo>
                      <a:lnTo>
                        <a:pt x="372" y="126"/>
                      </a:lnTo>
                      <a:lnTo>
                        <a:pt x="369" y="116"/>
                      </a:lnTo>
                      <a:lnTo>
                        <a:pt x="365" y="107"/>
                      </a:lnTo>
                      <a:lnTo>
                        <a:pt x="360" y="99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3"/>
                      </a:lnTo>
                      <a:lnTo>
                        <a:pt x="259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79" name="Rectangle 77"/>
                <p:cNvSpPr>
                  <a:spLocks noChangeArrowheads="1"/>
                </p:cNvSpPr>
                <p:nvPr/>
              </p:nvSpPr>
              <p:spPr bwMode="auto">
                <a:xfrm>
                  <a:off x="3168" y="364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3</a:t>
                  </a:r>
                  <a:endParaRPr lang="en-GB" altLang="en-US"/>
                </a:p>
              </p:txBody>
            </p:sp>
          </p:grpSp>
          <p:sp>
            <p:nvSpPr>
              <p:cNvPr id="23636" name="Freeform 78"/>
              <p:cNvSpPr>
                <a:spLocks/>
              </p:cNvSpPr>
              <p:nvPr/>
            </p:nvSpPr>
            <p:spPr bwMode="auto">
              <a:xfrm>
                <a:off x="3087" y="1597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7" name="Freeform 79"/>
              <p:cNvSpPr>
                <a:spLocks/>
              </p:cNvSpPr>
              <p:nvPr/>
            </p:nvSpPr>
            <p:spPr bwMode="auto">
              <a:xfrm>
                <a:off x="2729" y="1399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8" name="Line 80"/>
              <p:cNvSpPr>
                <a:spLocks noChangeShapeType="1"/>
              </p:cNvSpPr>
              <p:nvPr/>
            </p:nvSpPr>
            <p:spPr bwMode="auto">
              <a:xfrm>
                <a:off x="2533" y="1313"/>
                <a:ext cx="210" cy="12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39" name="Line 81"/>
              <p:cNvSpPr>
                <a:spLocks noChangeShapeType="1"/>
              </p:cNvSpPr>
              <p:nvPr/>
            </p:nvSpPr>
            <p:spPr bwMode="auto">
              <a:xfrm>
                <a:off x="2912" y="1538"/>
                <a:ext cx="188" cy="112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40" name="Rectangle 82"/>
              <p:cNvSpPr>
                <a:spLocks noChangeArrowheads="1"/>
              </p:cNvSpPr>
              <p:nvPr/>
            </p:nvSpPr>
            <p:spPr bwMode="auto">
              <a:xfrm>
                <a:off x="2734" y="140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12</a:t>
                </a:r>
                <a:endParaRPr lang="en-GB" altLang="en-US"/>
              </a:p>
            </p:txBody>
          </p:sp>
          <p:sp>
            <p:nvSpPr>
              <p:cNvPr id="23641" name="Rectangle 83"/>
              <p:cNvSpPr>
                <a:spLocks noChangeArrowheads="1"/>
              </p:cNvSpPr>
              <p:nvPr/>
            </p:nvSpPr>
            <p:spPr bwMode="auto">
              <a:xfrm>
                <a:off x="3103" y="1599"/>
                <a:ext cx="152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14</a:t>
                </a:r>
                <a:endParaRPr lang="en-GB" altLang="en-US"/>
              </a:p>
            </p:txBody>
          </p:sp>
          <p:sp>
            <p:nvSpPr>
              <p:cNvPr id="23642" name="Freeform 84"/>
              <p:cNvSpPr>
                <a:spLocks/>
              </p:cNvSpPr>
              <p:nvPr/>
            </p:nvSpPr>
            <p:spPr bwMode="auto">
              <a:xfrm>
                <a:off x="2352" y="1152"/>
                <a:ext cx="192" cy="192"/>
              </a:xfrm>
              <a:custGeom>
                <a:avLst/>
                <a:gdLst>
                  <a:gd name="T0" fmla="*/ 6 w 384"/>
                  <a:gd name="T1" fmla="*/ 1 h 384"/>
                  <a:gd name="T2" fmla="*/ 6 w 384"/>
                  <a:gd name="T3" fmla="*/ 1 h 384"/>
                  <a:gd name="T4" fmla="*/ 5 w 384"/>
                  <a:gd name="T5" fmla="*/ 1 h 384"/>
                  <a:gd name="T6" fmla="*/ 3 w 384"/>
                  <a:gd name="T7" fmla="*/ 1 h 384"/>
                  <a:gd name="T8" fmla="*/ 3 w 384"/>
                  <a:gd name="T9" fmla="*/ 1 h 384"/>
                  <a:gd name="T10" fmla="*/ 3 w 384"/>
                  <a:gd name="T11" fmla="*/ 2 h 384"/>
                  <a:gd name="T12" fmla="*/ 2 w 384"/>
                  <a:gd name="T13" fmla="*/ 2 h 384"/>
                  <a:gd name="T14" fmla="*/ 1 w 384"/>
                  <a:gd name="T15" fmla="*/ 3 h 384"/>
                  <a:gd name="T16" fmla="*/ 1 w 384"/>
                  <a:gd name="T17" fmla="*/ 3 h 384"/>
                  <a:gd name="T18" fmla="*/ 1 w 384"/>
                  <a:gd name="T19" fmla="*/ 3 h 384"/>
                  <a:gd name="T20" fmla="*/ 1 w 384"/>
                  <a:gd name="T21" fmla="*/ 5 h 384"/>
                  <a:gd name="T22" fmla="*/ 1 w 384"/>
                  <a:gd name="T23" fmla="*/ 6 h 384"/>
                  <a:gd name="T24" fmla="*/ 0 w 384"/>
                  <a:gd name="T25" fmla="*/ 6 h 384"/>
                  <a:gd name="T26" fmla="*/ 0 w 384"/>
                  <a:gd name="T27" fmla="*/ 6 h 384"/>
                  <a:gd name="T28" fmla="*/ 1 w 384"/>
                  <a:gd name="T29" fmla="*/ 6 h 384"/>
                  <a:gd name="T30" fmla="*/ 1 w 384"/>
                  <a:gd name="T31" fmla="*/ 7 h 384"/>
                  <a:gd name="T32" fmla="*/ 1 w 384"/>
                  <a:gd name="T33" fmla="*/ 9 h 384"/>
                  <a:gd name="T34" fmla="*/ 1 w 384"/>
                  <a:gd name="T35" fmla="*/ 9 h 384"/>
                  <a:gd name="T36" fmla="*/ 1 w 384"/>
                  <a:gd name="T37" fmla="*/ 10 h 384"/>
                  <a:gd name="T38" fmla="*/ 2 w 384"/>
                  <a:gd name="T39" fmla="*/ 11 h 384"/>
                  <a:gd name="T40" fmla="*/ 3 w 384"/>
                  <a:gd name="T41" fmla="*/ 11 h 384"/>
                  <a:gd name="T42" fmla="*/ 3 w 384"/>
                  <a:gd name="T43" fmla="*/ 12 h 384"/>
                  <a:gd name="T44" fmla="*/ 3 w 384"/>
                  <a:gd name="T45" fmla="*/ 12 h 384"/>
                  <a:gd name="T46" fmla="*/ 5 w 384"/>
                  <a:gd name="T47" fmla="*/ 12 h 384"/>
                  <a:gd name="T48" fmla="*/ 6 w 384"/>
                  <a:gd name="T49" fmla="*/ 12 h 384"/>
                  <a:gd name="T50" fmla="*/ 6 w 384"/>
                  <a:gd name="T51" fmla="*/ 12 h 384"/>
                  <a:gd name="T52" fmla="*/ 6 w 384"/>
                  <a:gd name="T53" fmla="*/ 12 h 384"/>
                  <a:gd name="T54" fmla="*/ 6 w 384"/>
                  <a:gd name="T55" fmla="*/ 12 h 384"/>
                  <a:gd name="T56" fmla="*/ 7 w 384"/>
                  <a:gd name="T57" fmla="*/ 12 h 384"/>
                  <a:gd name="T58" fmla="*/ 9 w 384"/>
                  <a:gd name="T59" fmla="*/ 12 h 384"/>
                  <a:gd name="T60" fmla="*/ 9 w 384"/>
                  <a:gd name="T61" fmla="*/ 12 h 384"/>
                  <a:gd name="T62" fmla="*/ 10 w 384"/>
                  <a:gd name="T63" fmla="*/ 11 h 384"/>
                  <a:gd name="T64" fmla="*/ 11 w 384"/>
                  <a:gd name="T65" fmla="*/ 11 h 384"/>
                  <a:gd name="T66" fmla="*/ 11 w 384"/>
                  <a:gd name="T67" fmla="*/ 10 h 384"/>
                  <a:gd name="T68" fmla="*/ 12 w 384"/>
                  <a:gd name="T69" fmla="*/ 9 h 384"/>
                  <a:gd name="T70" fmla="*/ 12 w 384"/>
                  <a:gd name="T71" fmla="*/ 9 h 384"/>
                  <a:gd name="T72" fmla="*/ 12 w 384"/>
                  <a:gd name="T73" fmla="*/ 7 h 384"/>
                  <a:gd name="T74" fmla="*/ 12 w 384"/>
                  <a:gd name="T75" fmla="*/ 6 h 384"/>
                  <a:gd name="T76" fmla="*/ 12 w 384"/>
                  <a:gd name="T77" fmla="*/ 6 h 384"/>
                  <a:gd name="T78" fmla="*/ 12 w 384"/>
                  <a:gd name="T79" fmla="*/ 6 h 384"/>
                  <a:gd name="T80" fmla="*/ 12 w 384"/>
                  <a:gd name="T81" fmla="*/ 6 h 384"/>
                  <a:gd name="T82" fmla="*/ 12 w 384"/>
                  <a:gd name="T83" fmla="*/ 5 h 384"/>
                  <a:gd name="T84" fmla="*/ 12 w 384"/>
                  <a:gd name="T85" fmla="*/ 3 h 384"/>
                  <a:gd name="T86" fmla="*/ 12 w 384"/>
                  <a:gd name="T87" fmla="*/ 3 h 384"/>
                  <a:gd name="T88" fmla="*/ 11 w 384"/>
                  <a:gd name="T89" fmla="*/ 3 h 384"/>
                  <a:gd name="T90" fmla="*/ 11 w 384"/>
                  <a:gd name="T91" fmla="*/ 2 h 384"/>
                  <a:gd name="T92" fmla="*/ 10 w 384"/>
                  <a:gd name="T93" fmla="*/ 2 h 384"/>
                  <a:gd name="T94" fmla="*/ 9 w 384"/>
                  <a:gd name="T95" fmla="*/ 1 h 384"/>
                  <a:gd name="T96" fmla="*/ 9 w 384"/>
                  <a:gd name="T97" fmla="*/ 1 h 384"/>
                  <a:gd name="T98" fmla="*/ 7 w 384"/>
                  <a:gd name="T99" fmla="*/ 1 h 384"/>
                  <a:gd name="T100" fmla="*/ 6 w 384"/>
                  <a:gd name="T101" fmla="*/ 1 h 384"/>
                  <a:gd name="T102" fmla="*/ 6 w 384"/>
                  <a:gd name="T103" fmla="*/ 1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4"/>
                  <a:gd name="T158" fmla="*/ 384 w 384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4">
                    <a:moveTo>
                      <a:pt x="192" y="0"/>
                    </a:moveTo>
                    <a:lnTo>
                      <a:pt x="181" y="1"/>
                    </a:lnTo>
                    <a:lnTo>
                      <a:pt x="172" y="1"/>
                    </a:lnTo>
                    <a:lnTo>
                      <a:pt x="161" y="3"/>
                    </a:lnTo>
                    <a:lnTo>
                      <a:pt x="152" y="4"/>
                    </a:lnTo>
                    <a:lnTo>
                      <a:pt x="143" y="6"/>
                    </a:lnTo>
                    <a:lnTo>
                      <a:pt x="134" y="9"/>
                    </a:lnTo>
                    <a:lnTo>
                      <a:pt x="126" y="12"/>
                    </a:lnTo>
                    <a:lnTo>
                      <a:pt x="117" y="15"/>
                    </a:lnTo>
                    <a:lnTo>
                      <a:pt x="108" y="20"/>
                    </a:lnTo>
                    <a:lnTo>
                      <a:pt x="100" y="23"/>
                    </a:lnTo>
                    <a:lnTo>
                      <a:pt x="85" y="34"/>
                    </a:lnTo>
                    <a:lnTo>
                      <a:pt x="69" y="44"/>
                    </a:lnTo>
                    <a:lnTo>
                      <a:pt x="55" y="57"/>
                    </a:lnTo>
                    <a:lnTo>
                      <a:pt x="43" y="71"/>
                    </a:lnTo>
                    <a:lnTo>
                      <a:pt x="32" y="86"/>
                    </a:lnTo>
                    <a:lnTo>
                      <a:pt x="23" y="101"/>
                    </a:lnTo>
                    <a:lnTo>
                      <a:pt x="18" y="109"/>
                    </a:lnTo>
                    <a:lnTo>
                      <a:pt x="14" y="118"/>
                    </a:lnTo>
                    <a:lnTo>
                      <a:pt x="11" y="126"/>
                    </a:lnTo>
                    <a:lnTo>
                      <a:pt x="8" y="135"/>
                    </a:lnTo>
                    <a:lnTo>
                      <a:pt x="5" y="144"/>
                    </a:lnTo>
                    <a:lnTo>
                      <a:pt x="3" y="154"/>
                    </a:lnTo>
                    <a:lnTo>
                      <a:pt x="1" y="163"/>
                    </a:lnTo>
                    <a:lnTo>
                      <a:pt x="0" y="174"/>
                    </a:lnTo>
                    <a:lnTo>
                      <a:pt x="0" y="183"/>
                    </a:lnTo>
                    <a:lnTo>
                      <a:pt x="0" y="192"/>
                    </a:lnTo>
                    <a:lnTo>
                      <a:pt x="0" y="203"/>
                    </a:lnTo>
                    <a:lnTo>
                      <a:pt x="0" y="212"/>
                    </a:lnTo>
                    <a:lnTo>
                      <a:pt x="1" y="221"/>
                    </a:lnTo>
                    <a:lnTo>
                      <a:pt x="3" y="232"/>
                    </a:lnTo>
                    <a:lnTo>
                      <a:pt x="5" y="241"/>
                    </a:lnTo>
                    <a:lnTo>
                      <a:pt x="8" y="251"/>
                    </a:lnTo>
                    <a:lnTo>
                      <a:pt x="11" y="258"/>
                    </a:lnTo>
                    <a:lnTo>
                      <a:pt x="14" y="267"/>
                    </a:lnTo>
                    <a:lnTo>
                      <a:pt x="18" y="277"/>
                    </a:lnTo>
                    <a:lnTo>
                      <a:pt x="23" y="284"/>
                    </a:lnTo>
                    <a:lnTo>
                      <a:pt x="32" y="300"/>
                    </a:lnTo>
                    <a:lnTo>
                      <a:pt x="43" y="315"/>
                    </a:lnTo>
                    <a:lnTo>
                      <a:pt x="55" y="329"/>
                    </a:lnTo>
                    <a:lnTo>
                      <a:pt x="69" y="341"/>
                    </a:lnTo>
                    <a:lnTo>
                      <a:pt x="85" y="352"/>
                    </a:lnTo>
                    <a:lnTo>
                      <a:pt x="100" y="361"/>
                    </a:lnTo>
                    <a:lnTo>
                      <a:pt x="108" y="366"/>
                    </a:lnTo>
                    <a:lnTo>
                      <a:pt x="117" y="370"/>
                    </a:lnTo>
                    <a:lnTo>
                      <a:pt x="126" y="374"/>
                    </a:lnTo>
                    <a:lnTo>
                      <a:pt x="134" y="377"/>
                    </a:lnTo>
                    <a:lnTo>
                      <a:pt x="143" y="378"/>
                    </a:lnTo>
                    <a:lnTo>
                      <a:pt x="152" y="381"/>
                    </a:lnTo>
                    <a:lnTo>
                      <a:pt x="161" y="383"/>
                    </a:lnTo>
                    <a:lnTo>
                      <a:pt x="172" y="384"/>
                    </a:lnTo>
                    <a:lnTo>
                      <a:pt x="181" y="384"/>
                    </a:lnTo>
                    <a:lnTo>
                      <a:pt x="192" y="384"/>
                    </a:lnTo>
                    <a:lnTo>
                      <a:pt x="201" y="384"/>
                    </a:lnTo>
                    <a:lnTo>
                      <a:pt x="211" y="384"/>
                    </a:lnTo>
                    <a:lnTo>
                      <a:pt x="221" y="383"/>
                    </a:lnTo>
                    <a:lnTo>
                      <a:pt x="231" y="381"/>
                    </a:lnTo>
                    <a:lnTo>
                      <a:pt x="240" y="378"/>
                    </a:lnTo>
                    <a:lnTo>
                      <a:pt x="249" y="377"/>
                    </a:lnTo>
                    <a:lnTo>
                      <a:pt x="257" y="374"/>
                    </a:lnTo>
                    <a:lnTo>
                      <a:pt x="266" y="370"/>
                    </a:lnTo>
                    <a:lnTo>
                      <a:pt x="275" y="366"/>
                    </a:lnTo>
                    <a:lnTo>
                      <a:pt x="283" y="361"/>
                    </a:lnTo>
                    <a:lnTo>
                      <a:pt x="298" y="352"/>
                    </a:lnTo>
                    <a:lnTo>
                      <a:pt x="314" y="341"/>
                    </a:lnTo>
                    <a:lnTo>
                      <a:pt x="328" y="329"/>
                    </a:lnTo>
                    <a:lnTo>
                      <a:pt x="340" y="315"/>
                    </a:lnTo>
                    <a:lnTo>
                      <a:pt x="351" y="300"/>
                    </a:lnTo>
                    <a:lnTo>
                      <a:pt x="360" y="284"/>
                    </a:lnTo>
                    <a:lnTo>
                      <a:pt x="364" y="277"/>
                    </a:lnTo>
                    <a:lnTo>
                      <a:pt x="369" y="267"/>
                    </a:lnTo>
                    <a:lnTo>
                      <a:pt x="372" y="258"/>
                    </a:lnTo>
                    <a:lnTo>
                      <a:pt x="375" y="251"/>
                    </a:lnTo>
                    <a:lnTo>
                      <a:pt x="378" y="241"/>
                    </a:lnTo>
                    <a:lnTo>
                      <a:pt x="380" y="232"/>
                    </a:lnTo>
                    <a:lnTo>
                      <a:pt x="381" y="221"/>
                    </a:lnTo>
                    <a:lnTo>
                      <a:pt x="383" y="212"/>
                    </a:lnTo>
                    <a:lnTo>
                      <a:pt x="383" y="203"/>
                    </a:lnTo>
                    <a:lnTo>
                      <a:pt x="384" y="192"/>
                    </a:lnTo>
                    <a:lnTo>
                      <a:pt x="383" y="183"/>
                    </a:lnTo>
                    <a:lnTo>
                      <a:pt x="383" y="174"/>
                    </a:lnTo>
                    <a:lnTo>
                      <a:pt x="381" y="163"/>
                    </a:lnTo>
                    <a:lnTo>
                      <a:pt x="380" y="154"/>
                    </a:lnTo>
                    <a:lnTo>
                      <a:pt x="378" y="144"/>
                    </a:lnTo>
                    <a:lnTo>
                      <a:pt x="375" y="135"/>
                    </a:lnTo>
                    <a:lnTo>
                      <a:pt x="372" y="126"/>
                    </a:lnTo>
                    <a:lnTo>
                      <a:pt x="369" y="118"/>
                    </a:lnTo>
                    <a:lnTo>
                      <a:pt x="364" y="109"/>
                    </a:lnTo>
                    <a:lnTo>
                      <a:pt x="360" y="101"/>
                    </a:lnTo>
                    <a:lnTo>
                      <a:pt x="351" y="86"/>
                    </a:lnTo>
                    <a:lnTo>
                      <a:pt x="340" y="71"/>
                    </a:lnTo>
                    <a:lnTo>
                      <a:pt x="328" y="57"/>
                    </a:lnTo>
                    <a:lnTo>
                      <a:pt x="314" y="44"/>
                    </a:lnTo>
                    <a:lnTo>
                      <a:pt x="298" y="34"/>
                    </a:lnTo>
                    <a:lnTo>
                      <a:pt x="283" y="23"/>
                    </a:lnTo>
                    <a:lnTo>
                      <a:pt x="275" y="20"/>
                    </a:lnTo>
                    <a:lnTo>
                      <a:pt x="266" y="15"/>
                    </a:lnTo>
                    <a:lnTo>
                      <a:pt x="257" y="12"/>
                    </a:lnTo>
                    <a:lnTo>
                      <a:pt x="249" y="9"/>
                    </a:lnTo>
                    <a:lnTo>
                      <a:pt x="240" y="6"/>
                    </a:lnTo>
                    <a:lnTo>
                      <a:pt x="231" y="4"/>
                    </a:lnTo>
                    <a:lnTo>
                      <a:pt x="221" y="3"/>
                    </a:lnTo>
                    <a:lnTo>
                      <a:pt x="211" y="1"/>
                    </a:lnTo>
                    <a:lnTo>
                      <a:pt x="201" y="1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43" name="Rectangle 85"/>
              <p:cNvSpPr>
                <a:spLocks noChangeArrowheads="1"/>
              </p:cNvSpPr>
              <p:nvPr/>
            </p:nvSpPr>
            <p:spPr bwMode="auto">
              <a:xfrm>
                <a:off x="2415" y="1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7</a:t>
                </a:r>
                <a:endParaRPr lang="en-GB" altLang="en-US"/>
              </a:p>
            </p:txBody>
          </p:sp>
          <p:sp>
            <p:nvSpPr>
              <p:cNvPr id="23644" name="Rectangle 86"/>
              <p:cNvSpPr>
                <a:spLocks noChangeArrowheads="1"/>
              </p:cNvSpPr>
              <p:nvPr/>
            </p:nvSpPr>
            <p:spPr bwMode="auto">
              <a:xfrm>
                <a:off x="1849" y="1756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GB" altLang="en-US"/>
              </a:p>
            </p:txBody>
          </p:sp>
          <p:sp>
            <p:nvSpPr>
              <p:cNvPr id="23645" name="Line 87"/>
              <p:cNvSpPr>
                <a:spLocks noChangeShapeType="1"/>
              </p:cNvSpPr>
              <p:nvPr/>
            </p:nvSpPr>
            <p:spPr bwMode="auto">
              <a:xfrm flipV="1">
                <a:off x="1641" y="1934"/>
                <a:ext cx="123" cy="117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46" name="Freeform 88"/>
              <p:cNvSpPr>
                <a:spLocks/>
              </p:cNvSpPr>
              <p:nvPr/>
            </p:nvSpPr>
            <p:spPr bwMode="auto">
              <a:xfrm>
                <a:off x="1488" y="2050"/>
                <a:ext cx="192" cy="192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3 h 384"/>
                  <a:gd name="T18" fmla="*/ 0 w 385"/>
                  <a:gd name="T19" fmla="*/ 3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6 h 384"/>
                  <a:gd name="T28" fmla="*/ 0 w 385"/>
                  <a:gd name="T29" fmla="*/ 6 h 384"/>
                  <a:gd name="T30" fmla="*/ 0 w 385"/>
                  <a:gd name="T31" fmla="*/ 7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2 h 384"/>
                  <a:gd name="T52" fmla="*/ 6 w 385"/>
                  <a:gd name="T53" fmla="*/ 12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7 h 384"/>
                  <a:gd name="T74" fmla="*/ 11 w 385"/>
                  <a:gd name="T75" fmla="*/ 6 h 384"/>
                  <a:gd name="T76" fmla="*/ 11 w 385"/>
                  <a:gd name="T77" fmla="*/ 6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3 h 384"/>
                  <a:gd name="T86" fmla="*/ 11 w 385"/>
                  <a:gd name="T87" fmla="*/ 3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4"/>
                    </a:lnTo>
                    <a:lnTo>
                      <a:pt x="134" y="7"/>
                    </a:lnTo>
                    <a:lnTo>
                      <a:pt x="126" y="10"/>
                    </a:lnTo>
                    <a:lnTo>
                      <a:pt x="117" y="13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69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7"/>
                    </a:lnTo>
                    <a:lnTo>
                      <a:pt x="14" y="116"/>
                    </a:lnTo>
                    <a:lnTo>
                      <a:pt x="11" y="126"/>
                    </a:lnTo>
                    <a:lnTo>
                      <a:pt x="8" y="133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0"/>
                    </a:lnTo>
                    <a:lnTo>
                      <a:pt x="2" y="221"/>
                    </a:lnTo>
                    <a:lnTo>
                      <a:pt x="3" y="230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298"/>
                    </a:lnTo>
                    <a:lnTo>
                      <a:pt x="43" y="313"/>
                    </a:lnTo>
                    <a:lnTo>
                      <a:pt x="56" y="327"/>
                    </a:lnTo>
                    <a:lnTo>
                      <a:pt x="69" y="340"/>
                    </a:lnTo>
                    <a:lnTo>
                      <a:pt x="85" y="350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79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79"/>
                    </a:lnTo>
                    <a:lnTo>
                      <a:pt x="240" y="378"/>
                    </a:lnTo>
                    <a:lnTo>
                      <a:pt x="249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299" y="350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3"/>
                    </a:lnTo>
                    <a:lnTo>
                      <a:pt x="351" y="298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69" y="266"/>
                    </a:lnTo>
                    <a:lnTo>
                      <a:pt x="372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0"/>
                    </a:lnTo>
                    <a:lnTo>
                      <a:pt x="382" y="221"/>
                    </a:lnTo>
                    <a:lnTo>
                      <a:pt x="383" y="210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3"/>
                    </a:lnTo>
                    <a:lnTo>
                      <a:pt x="372" y="126"/>
                    </a:lnTo>
                    <a:lnTo>
                      <a:pt x="369" y="116"/>
                    </a:lnTo>
                    <a:lnTo>
                      <a:pt x="365" y="107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299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3"/>
                    </a:lnTo>
                    <a:lnTo>
                      <a:pt x="259" y="10"/>
                    </a:lnTo>
                    <a:lnTo>
                      <a:pt x="249" y="7"/>
                    </a:lnTo>
                    <a:lnTo>
                      <a:pt x="240" y="4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47" name="Rectangle 89"/>
              <p:cNvSpPr>
                <a:spLocks noChangeArrowheads="1"/>
              </p:cNvSpPr>
              <p:nvPr/>
            </p:nvSpPr>
            <p:spPr bwMode="auto">
              <a:xfrm>
                <a:off x="1580" y="2064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lang="en-GB" altLang="en-US"/>
              </a:p>
            </p:txBody>
          </p:sp>
          <p:sp>
            <p:nvSpPr>
              <p:cNvPr id="23648" name="Freeform 90"/>
              <p:cNvSpPr>
                <a:spLocks/>
              </p:cNvSpPr>
              <p:nvPr/>
            </p:nvSpPr>
            <p:spPr bwMode="auto">
              <a:xfrm>
                <a:off x="2103" y="1435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6" y="11"/>
                    </a:lnTo>
                    <a:lnTo>
                      <a:pt x="117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69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2"/>
                    </a:lnTo>
                    <a:lnTo>
                      <a:pt x="1" y="162"/>
                    </a:lnTo>
                    <a:lnTo>
                      <a:pt x="0" y="172"/>
                    </a:lnTo>
                    <a:lnTo>
                      <a:pt x="0" y="182"/>
                    </a:lnTo>
                    <a:lnTo>
                      <a:pt x="0" y="192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49"/>
                    </a:lnTo>
                    <a:lnTo>
                      <a:pt x="11" y="259"/>
                    </a:lnTo>
                    <a:lnTo>
                      <a:pt x="14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7" y="369"/>
                    </a:lnTo>
                    <a:lnTo>
                      <a:pt x="126" y="372"/>
                    </a:lnTo>
                    <a:lnTo>
                      <a:pt x="134" y="375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5"/>
                    </a:lnTo>
                    <a:lnTo>
                      <a:pt x="258" y="372"/>
                    </a:lnTo>
                    <a:lnTo>
                      <a:pt x="266" y="369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4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49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2"/>
                    </a:lnTo>
                    <a:lnTo>
                      <a:pt x="383" y="182"/>
                    </a:lnTo>
                    <a:lnTo>
                      <a:pt x="383" y="172"/>
                    </a:lnTo>
                    <a:lnTo>
                      <a:pt x="381" y="162"/>
                    </a:lnTo>
                    <a:lnTo>
                      <a:pt x="380" y="152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6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69"/>
                    </a:lnTo>
                    <a:lnTo>
                      <a:pt x="327" y="56"/>
                    </a:lnTo>
                    <a:lnTo>
                      <a:pt x="314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49" name="Rectangle 91"/>
              <p:cNvSpPr>
                <a:spLocks noChangeArrowheads="1"/>
              </p:cNvSpPr>
              <p:nvPr/>
            </p:nvSpPr>
            <p:spPr bwMode="auto">
              <a:xfrm>
                <a:off x="2195" y="1449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GB" altLang="en-US"/>
              </a:p>
            </p:txBody>
          </p:sp>
          <p:sp>
            <p:nvSpPr>
              <p:cNvPr id="23650" name="Line 92"/>
              <p:cNvSpPr>
                <a:spLocks noChangeShapeType="1"/>
              </p:cNvSpPr>
              <p:nvPr/>
            </p:nvSpPr>
            <p:spPr bwMode="auto">
              <a:xfrm flipH="1">
                <a:off x="1922" y="1588"/>
                <a:ext cx="181" cy="190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51" name="Freeform 93"/>
              <p:cNvSpPr>
                <a:spLocks/>
              </p:cNvSpPr>
              <p:nvPr/>
            </p:nvSpPr>
            <p:spPr bwMode="auto">
              <a:xfrm>
                <a:off x="1757" y="1742"/>
                <a:ext cx="192" cy="192"/>
              </a:xfrm>
              <a:custGeom>
                <a:avLst/>
                <a:gdLst>
                  <a:gd name="T0" fmla="*/ 6 w 384"/>
                  <a:gd name="T1" fmla="*/ 0 h 385"/>
                  <a:gd name="T2" fmla="*/ 6 w 384"/>
                  <a:gd name="T3" fmla="*/ 0 h 385"/>
                  <a:gd name="T4" fmla="*/ 5 w 384"/>
                  <a:gd name="T5" fmla="*/ 0 h 385"/>
                  <a:gd name="T6" fmla="*/ 3 w 384"/>
                  <a:gd name="T7" fmla="*/ 0 h 385"/>
                  <a:gd name="T8" fmla="*/ 3 w 384"/>
                  <a:gd name="T9" fmla="*/ 0 h 385"/>
                  <a:gd name="T10" fmla="*/ 3 w 384"/>
                  <a:gd name="T11" fmla="*/ 1 h 385"/>
                  <a:gd name="T12" fmla="*/ 2 w 384"/>
                  <a:gd name="T13" fmla="*/ 1 h 385"/>
                  <a:gd name="T14" fmla="*/ 1 w 384"/>
                  <a:gd name="T15" fmla="*/ 2 h 385"/>
                  <a:gd name="T16" fmla="*/ 1 w 384"/>
                  <a:gd name="T17" fmla="*/ 3 h 385"/>
                  <a:gd name="T18" fmla="*/ 1 w 384"/>
                  <a:gd name="T19" fmla="*/ 3 h 385"/>
                  <a:gd name="T20" fmla="*/ 1 w 384"/>
                  <a:gd name="T21" fmla="*/ 4 h 385"/>
                  <a:gd name="T22" fmla="*/ 1 w 384"/>
                  <a:gd name="T23" fmla="*/ 5 h 385"/>
                  <a:gd name="T24" fmla="*/ 0 w 384"/>
                  <a:gd name="T25" fmla="*/ 5 h 385"/>
                  <a:gd name="T26" fmla="*/ 0 w 384"/>
                  <a:gd name="T27" fmla="*/ 6 h 385"/>
                  <a:gd name="T28" fmla="*/ 1 w 384"/>
                  <a:gd name="T29" fmla="*/ 6 h 385"/>
                  <a:gd name="T30" fmla="*/ 1 w 384"/>
                  <a:gd name="T31" fmla="*/ 7 h 385"/>
                  <a:gd name="T32" fmla="*/ 1 w 384"/>
                  <a:gd name="T33" fmla="*/ 8 h 385"/>
                  <a:gd name="T34" fmla="*/ 1 w 384"/>
                  <a:gd name="T35" fmla="*/ 8 h 385"/>
                  <a:gd name="T36" fmla="*/ 1 w 384"/>
                  <a:gd name="T37" fmla="*/ 9 h 385"/>
                  <a:gd name="T38" fmla="*/ 2 w 384"/>
                  <a:gd name="T39" fmla="*/ 10 h 385"/>
                  <a:gd name="T40" fmla="*/ 3 w 384"/>
                  <a:gd name="T41" fmla="*/ 10 h 385"/>
                  <a:gd name="T42" fmla="*/ 3 w 384"/>
                  <a:gd name="T43" fmla="*/ 11 h 385"/>
                  <a:gd name="T44" fmla="*/ 3 w 384"/>
                  <a:gd name="T45" fmla="*/ 11 h 385"/>
                  <a:gd name="T46" fmla="*/ 5 w 384"/>
                  <a:gd name="T47" fmla="*/ 11 h 385"/>
                  <a:gd name="T48" fmla="*/ 6 w 384"/>
                  <a:gd name="T49" fmla="*/ 11 h 385"/>
                  <a:gd name="T50" fmla="*/ 6 w 384"/>
                  <a:gd name="T51" fmla="*/ 11 h 385"/>
                  <a:gd name="T52" fmla="*/ 6 w 384"/>
                  <a:gd name="T53" fmla="*/ 11 h 385"/>
                  <a:gd name="T54" fmla="*/ 6 w 384"/>
                  <a:gd name="T55" fmla="*/ 11 h 385"/>
                  <a:gd name="T56" fmla="*/ 7 w 384"/>
                  <a:gd name="T57" fmla="*/ 11 h 385"/>
                  <a:gd name="T58" fmla="*/ 9 w 384"/>
                  <a:gd name="T59" fmla="*/ 11 h 385"/>
                  <a:gd name="T60" fmla="*/ 9 w 384"/>
                  <a:gd name="T61" fmla="*/ 11 h 385"/>
                  <a:gd name="T62" fmla="*/ 10 w 384"/>
                  <a:gd name="T63" fmla="*/ 10 h 385"/>
                  <a:gd name="T64" fmla="*/ 11 w 384"/>
                  <a:gd name="T65" fmla="*/ 10 h 385"/>
                  <a:gd name="T66" fmla="*/ 11 w 384"/>
                  <a:gd name="T67" fmla="*/ 9 h 385"/>
                  <a:gd name="T68" fmla="*/ 12 w 384"/>
                  <a:gd name="T69" fmla="*/ 8 h 385"/>
                  <a:gd name="T70" fmla="*/ 12 w 384"/>
                  <a:gd name="T71" fmla="*/ 8 h 385"/>
                  <a:gd name="T72" fmla="*/ 12 w 384"/>
                  <a:gd name="T73" fmla="*/ 7 h 385"/>
                  <a:gd name="T74" fmla="*/ 12 w 384"/>
                  <a:gd name="T75" fmla="*/ 6 h 385"/>
                  <a:gd name="T76" fmla="*/ 12 w 384"/>
                  <a:gd name="T77" fmla="*/ 6 h 385"/>
                  <a:gd name="T78" fmla="*/ 12 w 384"/>
                  <a:gd name="T79" fmla="*/ 5 h 385"/>
                  <a:gd name="T80" fmla="*/ 12 w 384"/>
                  <a:gd name="T81" fmla="*/ 5 h 385"/>
                  <a:gd name="T82" fmla="*/ 12 w 384"/>
                  <a:gd name="T83" fmla="*/ 4 h 385"/>
                  <a:gd name="T84" fmla="*/ 12 w 384"/>
                  <a:gd name="T85" fmla="*/ 3 h 385"/>
                  <a:gd name="T86" fmla="*/ 12 w 384"/>
                  <a:gd name="T87" fmla="*/ 3 h 385"/>
                  <a:gd name="T88" fmla="*/ 11 w 384"/>
                  <a:gd name="T89" fmla="*/ 2 h 385"/>
                  <a:gd name="T90" fmla="*/ 11 w 384"/>
                  <a:gd name="T91" fmla="*/ 1 h 385"/>
                  <a:gd name="T92" fmla="*/ 10 w 384"/>
                  <a:gd name="T93" fmla="*/ 1 h 385"/>
                  <a:gd name="T94" fmla="*/ 9 w 384"/>
                  <a:gd name="T95" fmla="*/ 0 h 385"/>
                  <a:gd name="T96" fmla="*/ 9 w 384"/>
                  <a:gd name="T97" fmla="*/ 0 h 385"/>
                  <a:gd name="T98" fmla="*/ 7 w 384"/>
                  <a:gd name="T99" fmla="*/ 0 h 385"/>
                  <a:gd name="T100" fmla="*/ 6 w 384"/>
                  <a:gd name="T101" fmla="*/ 0 h 385"/>
                  <a:gd name="T102" fmla="*/ 6 w 384"/>
                  <a:gd name="T103" fmla="*/ 0 h 38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4"/>
                  <a:gd name="T157" fmla="*/ 0 h 385"/>
                  <a:gd name="T158" fmla="*/ 384 w 384"/>
                  <a:gd name="T159" fmla="*/ 385 h 385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4" h="385">
                    <a:moveTo>
                      <a:pt x="192" y="0"/>
                    </a:moveTo>
                    <a:lnTo>
                      <a:pt x="181" y="0"/>
                    </a:lnTo>
                    <a:lnTo>
                      <a:pt x="172" y="0"/>
                    </a:lnTo>
                    <a:lnTo>
                      <a:pt x="161" y="2"/>
                    </a:lnTo>
                    <a:lnTo>
                      <a:pt x="152" y="3"/>
                    </a:lnTo>
                    <a:lnTo>
                      <a:pt x="143" y="5"/>
                    </a:lnTo>
                    <a:lnTo>
                      <a:pt x="133" y="8"/>
                    </a:lnTo>
                    <a:lnTo>
                      <a:pt x="126" y="11"/>
                    </a:lnTo>
                    <a:lnTo>
                      <a:pt x="116" y="14"/>
                    </a:lnTo>
                    <a:lnTo>
                      <a:pt x="107" y="19"/>
                    </a:lnTo>
                    <a:lnTo>
                      <a:pt x="100" y="23"/>
                    </a:lnTo>
                    <a:lnTo>
                      <a:pt x="84" y="33"/>
                    </a:lnTo>
                    <a:lnTo>
                      <a:pt x="69" y="43"/>
                    </a:lnTo>
                    <a:lnTo>
                      <a:pt x="55" y="56"/>
                    </a:lnTo>
                    <a:lnTo>
                      <a:pt x="43" y="70"/>
                    </a:lnTo>
                    <a:lnTo>
                      <a:pt x="32" y="85"/>
                    </a:lnTo>
                    <a:lnTo>
                      <a:pt x="23" y="100"/>
                    </a:lnTo>
                    <a:lnTo>
                      <a:pt x="18" y="108"/>
                    </a:lnTo>
                    <a:lnTo>
                      <a:pt x="13" y="117"/>
                    </a:lnTo>
                    <a:lnTo>
                      <a:pt x="10" y="127"/>
                    </a:lnTo>
                    <a:lnTo>
                      <a:pt x="7" y="134"/>
                    </a:lnTo>
                    <a:lnTo>
                      <a:pt x="4" y="143"/>
                    </a:lnTo>
                    <a:lnTo>
                      <a:pt x="3" y="153"/>
                    </a:lnTo>
                    <a:lnTo>
                      <a:pt x="1" y="162"/>
                    </a:lnTo>
                    <a:lnTo>
                      <a:pt x="0" y="173"/>
                    </a:lnTo>
                    <a:lnTo>
                      <a:pt x="0" y="182"/>
                    </a:lnTo>
                    <a:lnTo>
                      <a:pt x="0" y="193"/>
                    </a:lnTo>
                    <a:lnTo>
                      <a:pt x="0" y="202"/>
                    </a:lnTo>
                    <a:lnTo>
                      <a:pt x="0" y="211"/>
                    </a:lnTo>
                    <a:lnTo>
                      <a:pt x="1" y="222"/>
                    </a:lnTo>
                    <a:lnTo>
                      <a:pt x="3" y="231"/>
                    </a:lnTo>
                    <a:lnTo>
                      <a:pt x="4" y="240"/>
                    </a:lnTo>
                    <a:lnTo>
                      <a:pt x="7" y="250"/>
                    </a:lnTo>
                    <a:lnTo>
                      <a:pt x="10" y="259"/>
                    </a:lnTo>
                    <a:lnTo>
                      <a:pt x="13" y="266"/>
                    </a:lnTo>
                    <a:lnTo>
                      <a:pt x="18" y="276"/>
                    </a:lnTo>
                    <a:lnTo>
                      <a:pt x="23" y="283"/>
                    </a:lnTo>
                    <a:lnTo>
                      <a:pt x="32" y="299"/>
                    </a:lnTo>
                    <a:lnTo>
                      <a:pt x="43" y="314"/>
                    </a:lnTo>
                    <a:lnTo>
                      <a:pt x="55" y="328"/>
                    </a:lnTo>
                    <a:lnTo>
                      <a:pt x="69" y="340"/>
                    </a:lnTo>
                    <a:lnTo>
                      <a:pt x="84" y="351"/>
                    </a:lnTo>
                    <a:lnTo>
                      <a:pt x="100" y="360"/>
                    </a:lnTo>
                    <a:lnTo>
                      <a:pt x="107" y="365"/>
                    </a:lnTo>
                    <a:lnTo>
                      <a:pt x="116" y="370"/>
                    </a:lnTo>
                    <a:lnTo>
                      <a:pt x="126" y="373"/>
                    </a:lnTo>
                    <a:lnTo>
                      <a:pt x="133" y="376"/>
                    </a:lnTo>
                    <a:lnTo>
                      <a:pt x="143" y="379"/>
                    </a:lnTo>
                    <a:lnTo>
                      <a:pt x="152" y="380"/>
                    </a:lnTo>
                    <a:lnTo>
                      <a:pt x="161" y="382"/>
                    </a:lnTo>
                    <a:lnTo>
                      <a:pt x="172" y="383"/>
                    </a:lnTo>
                    <a:lnTo>
                      <a:pt x="181" y="383"/>
                    </a:lnTo>
                    <a:lnTo>
                      <a:pt x="192" y="385"/>
                    </a:lnTo>
                    <a:lnTo>
                      <a:pt x="201" y="383"/>
                    </a:lnTo>
                    <a:lnTo>
                      <a:pt x="210" y="383"/>
                    </a:lnTo>
                    <a:lnTo>
                      <a:pt x="221" y="382"/>
                    </a:lnTo>
                    <a:lnTo>
                      <a:pt x="230" y="380"/>
                    </a:lnTo>
                    <a:lnTo>
                      <a:pt x="240" y="379"/>
                    </a:lnTo>
                    <a:lnTo>
                      <a:pt x="249" y="376"/>
                    </a:lnTo>
                    <a:lnTo>
                      <a:pt x="258" y="373"/>
                    </a:lnTo>
                    <a:lnTo>
                      <a:pt x="266" y="370"/>
                    </a:lnTo>
                    <a:lnTo>
                      <a:pt x="275" y="365"/>
                    </a:lnTo>
                    <a:lnTo>
                      <a:pt x="283" y="360"/>
                    </a:lnTo>
                    <a:lnTo>
                      <a:pt x="298" y="351"/>
                    </a:lnTo>
                    <a:lnTo>
                      <a:pt x="313" y="340"/>
                    </a:lnTo>
                    <a:lnTo>
                      <a:pt x="327" y="328"/>
                    </a:lnTo>
                    <a:lnTo>
                      <a:pt x="340" y="314"/>
                    </a:lnTo>
                    <a:lnTo>
                      <a:pt x="350" y="299"/>
                    </a:lnTo>
                    <a:lnTo>
                      <a:pt x="360" y="283"/>
                    </a:lnTo>
                    <a:lnTo>
                      <a:pt x="364" y="276"/>
                    </a:lnTo>
                    <a:lnTo>
                      <a:pt x="369" y="266"/>
                    </a:lnTo>
                    <a:lnTo>
                      <a:pt x="372" y="259"/>
                    </a:lnTo>
                    <a:lnTo>
                      <a:pt x="375" y="250"/>
                    </a:lnTo>
                    <a:lnTo>
                      <a:pt x="378" y="240"/>
                    </a:lnTo>
                    <a:lnTo>
                      <a:pt x="380" y="231"/>
                    </a:lnTo>
                    <a:lnTo>
                      <a:pt x="381" y="222"/>
                    </a:lnTo>
                    <a:lnTo>
                      <a:pt x="383" y="211"/>
                    </a:lnTo>
                    <a:lnTo>
                      <a:pt x="383" y="202"/>
                    </a:lnTo>
                    <a:lnTo>
                      <a:pt x="384" y="193"/>
                    </a:lnTo>
                    <a:lnTo>
                      <a:pt x="383" y="182"/>
                    </a:lnTo>
                    <a:lnTo>
                      <a:pt x="383" y="173"/>
                    </a:lnTo>
                    <a:lnTo>
                      <a:pt x="381" y="162"/>
                    </a:lnTo>
                    <a:lnTo>
                      <a:pt x="380" y="153"/>
                    </a:lnTo>
                    <a:lnTo>
                      <a:pt x="378" y="143"/>
                    </a:lnTo>
                    <a:lnTo>
                      <a:pt x="375" y="134"/>
                    </a:lnTo>
                    <a:lnTo>
                      <a:pt x="372" y="127"/>
                    </a:lnTo>
                    <a:lnTo>
                      <a:pt x="369" y="117"/>
                    </a:lnTo>
                    <a:lnTo>
                      <a:pt x="364" y="108"/>
                    </a:lnTo>
                    <a:lnTo>
                      <a:pt x="360" y="100"/>
                    </a:lnTo>
                    <a:lnTo>
                      <a:pt x="350" y="85"/>
                    </a:lnTo>
                    <a:lnTo>
                      <a:pt x="340" y="70"/>
                    </a:lnTo>
                    <a:lnTo>
                      <a:pt x="327" y="56"/>
                    </a:lnTo>
                    <a:lnTo>
                      <a:pt x="313" y="43"/>
                    </a:lnTo>
                    <a:lnTo>
                      <a:pt x="298" y="33"/>
                    </a:lnTo>
                    <a:lnTo>
                      <a:pt x="283" y="23"/>
                    </a:lnTo>
                    <a:lnTo>
                      <a:pt x="275" y="19"/>
                    </a:lnTo>
                    <a:lnTo>
                      <a:pt x="266" y="14"/>
                    </a:lnTo>
                    <a:lnTo>
                      <a:pt x="258" y="11"/>
                    </a:lnTo>
                    <a:lnTo>
                      <a:pt x="249" y="8"/>
                    </a:lnTo>
                    <a:lnTo>
                      <a:pt x="240" y="5"/>
                    </a:lnTo>
                    <a:lnTo>
                      <a:pt x="230" y="3"/>
                    </a:lnTo>
                    <a:lnTo>
                      <a:pt x="221" y="2"/>
                    </a:lnTo>
                    <a:lnTo>
                      <a:pt x="210" y="0"/>
                    </a:lnTo>
                    <a:lnTo>
                      <a:pt x="201" y="0"/>
                    </a:lnTo>
                    <a:lnTo>
                      <a:pt x="192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52" name="Group 94"/>
              <p:cNvGrpSpPr>
                <a:grpSpLocks/>
              </p:cNvGrpSpPr>
              <p:nvPr/>
            </p:nvGrpSpPr>
            <p:grpSpPr bwMode="auto">
              <a:xfrm>
                <a:off x="2269" y="1742"/>
                <a:ext cx="192" cy="192"/>
                <a:chOff x="2592" y="3600"/>
                <a:chExt cx="192" cy="192"/>
              </a:xfrm>
            </p:grpSpPr>
            <p:sp>
              <p:nvSpPr>
                <p:cNvPr id="23676" name="Freeform 95"/>
                <p:cNvSpPr>
                  <a:spLocks/>
                </p:cNvSpPr>
                <p:nvPr/>
              </p:nvSpPr>
              <p:spPr bwMode="auto">
                <a:xfrm>
                  <a:off x="2592" y="3600"/>
                  <a:ext cx="192" cy="192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3 h 384"/>
                    <a:gd name="T18" fmla="*/ 0 w 385"/>
                    <a:gd name="T19" fmla="*/ 3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6 h 384"/>
                    <a:gd name="T28" fmla="*/ 0 w 385"/>
                    <a:gd name="T29" fmla="*/ 6 h 384"/>
                    <a:gd name="T30" fmla="*/ 0 w 385"/>
                    <a:gd name="T31" fmla="*/ 7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2 h 384"/>
                    <a:gd name="T52" fmla="*/ 6 w 385"/>
                    <a:gd name="T53" fmla="*/ 12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7 h 384"/>
                    <a:gd name="T74" fmla="*/ 11 w 385"/>
                    <a:gd name="T75" fmla="*/ 6 h 384"/>
                    <a:gd name="T76" fmla="*/ 11 w 385"/>
                    <a:gd name="T77" fmla="*/ 6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3 h 384"/>
                    <a:gd name="T86" fmla="*/ 11 w 385"/>
                    <a:gd name="T87" fmla="*/ 3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7" y="10"/>
                      </a:lnTo>
                      <a:lnTo>
                        <a:pt x="117" y="13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7"/>
                      </a:lnTo>
                      <a:lnTo>
                        <a:pt x="14" y="116"/>
                      </a:lnTo>
                      <a:lnTo>
                        <a:pt x="11" y="126"/>
                      </a:lnTo>
                      <a:lnTo>
                        <a:pt x="8" y="133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2" y="221"/>
                      </a:lnTo>
                      <a:lnTo>
                        <a:pt x="3" y="230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298"/>
                      </a:lnTo>
                      <a:lnTo>
                        <a:pt x="43" y="313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79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79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7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299" y="350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0"/>
                      </a:lnTo>
                      <a:lnTo>
                        <a:pt x="382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3"/>
                      </a:lnTo>
                      <a:lnTo>
                        <a:pt x="373" y="126"/>
                      </a:lnTo>
                      <a:lnTo>
                        <a:pt x="370" y="116"/>
                      </a:lnTo>
                      <a:lnTo>
                        <a:pt x="365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299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7" y="13"/>
                      </a:lnTo>
                      <a:lnTo>
                        <a:pt x="259" y="10"/>
                      </a:lnTo>
                      <a:lnTo>
                        <a:pt x="250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77" name="Rectangle 96"/>
                <p:cNvSpPr>
                  <a:spLocks noChangeArrowheads="1"/>
                </p:cNvSpPr>
                <p:nvPr/>
              </p:nvSpPr>
              <p:spPr bwMode="auto">
                <a:xfrm>
                  <a:off x="2640" y="3600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6</a:t>
                  </a:r>
                  <a:endParaRPr lang="en-GB" altLang="en-US"/>
                </a:p>
              </p:txBody>
            </p:sp>
          </p:grpSp>
          <p:grpSp>
            <p:nvGrpSpPr>
              <p:cNvPr id="23653" name="Group 97"/>
              <p:cNvGrpSpPr>
                <a:grpSpLocks/>
              </p:cNvGrpSpPr>
              <p:nvPr/>
            </p:nvGrpSpPr>
            <p:grpSpPr bwMode="auto">
              <a:xfrm>
                <a:off x="2115" y="2121"/>
                <a:ext cx="193" cy="192"/>
                <a:chOff x="5232" y="3168"/>
                <a:chExt cx="193" cy="192"/>
              </a:xfrm>
            </p:grpSpPr>
            <p:sp>
              <p:nvSpPr>
                <p:cNvPr id="23674" name="Freeform 98"/>
                <p:cNvSpPr>
                  <a:spLocks/>
                </p:cNvSpPr>
                <p:nvPr/>
              </p:nvSpPr>
              <p:spPr bwMode="auto">
                <a:xfrm>
                  <a:off x="5232" y="3168"/>
                  <a:ext cx="193" cy="192"/>
                </a:xfrm>
                <a:custGeom>
                  <a:avLst/>
                  <a:gdLst>
                    <a:gd name="T0" fmla="*/ 6 w 384"/>
                    <a:gd name="T1" fmla="*/ 0 h 384"/>
                    <a:gd name="T2" fmla="*/ 6 w 384"/>
                    <a:gd name="T3" fmla="*/ 1 h 384"/>
                    <a:gd name="T4" fmla="*/ 5 w 384"/>
                    <a:gd name="T5" fmla="*/ 1 h 384"/>
                    <a:gd name="T6" fmla="*/ 4 w 384"/>
                    <a:gd name="T7" fmla="*/ 1 h 384"/>
                    <a:gd name="T8" fmla="*/ 4 w 384"/>
                    <a:gd name="T9" fmla="*/ 1 h 384"/>
                    <a:gd name="T10" fmla="*/ 3 w 384"/>
                    <a:gd name="T11" fmla="*/ 1 h 384"/>
                    <a:gd name="T12" fmla="*/ 2 w 384"/>
                    <a:gd name="T13" fmla="*/ 2 h 384"/>
                    <a:gd name="T14" fmla="*/ 1 w 384"/>
                    <a:gd name="T15" fmla="*/ 3 h 384"/>
                    <a:gd name="T16" fmla="*/ 1 w 384"/>
                    <a:gd name="T17" fmla="*/ 3 h 384"/>
                    <a:gd name="T18" fmla="*/ 1 w 384"/>
                    <a:gd name="T19" fmla="*/ 3 h 384"/>
                    <a:gd name="T20" fmla="*/ 1 w 384"/>
                    <a:gd name="T21" fmla="*/ 5 h 384"/>
                    <a:gd name="T22" fmla="*/ 1 w 384"/>
                    <a:gd name="T23" fmla="*/ 6 h 384"/>
                    <a:gd name="T24" fmla="*/ 0 w 384"/>
                    <a:gd name="T25" fmla="*/ 6 h 384"/>
                    <a:gd name="T26" fmla="*/ 0 w 384"/>
                    <a:gd name="T27" fmla="*/ 6 h 384"/>
                    <a:gd name="T28" fmla="*/ 1 w 384"/>
                    <a:gd name="T29" fmla="*/ 6 h 384"/>
                    <a:gd name="T30" fmla="*/ 1 w 384"/>
                    <a:gd name="T31" fmla="*/ 7 h 384"/>
                    <a:gd name="T32" fmla="*/ 1 w 384"/>
                    <a:gd name="T33" fmla="*/ 9 h 384"/>
                    <a:gd name="T34" fmla="*/ 1 w 384"/>
                    <a:gd name="T35" fmla="*/ 9 h 384"/>
                    <a:gd name="T36" fmla="*/ 1 w 384"/>
                    <a:gd name="T37" fmla="*/ 10 h 384"/>
                    <a:gd name="T38" fmla="*/ 2 w 384"/>
                    <a:gd name="T39" fmla="*/ 11 h 384"/>
                    <a:gd name="T40" fmla="*/ 3 w 384"/>
                    <a:gd name="T41" fmla="*/ 11 h 384"/>
                    <a:gd name="T42" fmla="*/ 4 w 384"/>
                    <a:gd name="T43" fmla="*/ 12 h 384"/>
                    <a:gd name="T44" fmla="*/ 4 w 384"/>
                    <a:gd name="T45" fmla="*/ 12 h 384"/>
                    <a:gd name="T46" fmla="*/ 5 w 384"/>
                    <a:gd name="T47" fmla="*/ 12 h 384"/>
                    <a:gd name="T48" fmla="*/ 6 w 384"/>
                    <a:gd name="T49" fmla="*/ 12 h 384"/>
                    <a:gd name="T50" fmla="*/ 6 w 384"/>
                    <a:gd name="T51" fmla="*/ 12 h 384"/>
                    <a:gd name="T52" fmla="*/ 7 w 384"/>
                    <a:gd name="T53" fmla="*/ 12 h 384"/>
                    <a:gd name="T54" fmla="*/ 7 w 384"/>
                    <a:gd name="T55" fmla="*/ 12 h 384"/>
                    <a:gd name="T56" fmla="*/ 8 w 384"/>
                    <a:gd name="T57" fmla="*/ 12 h 384"/>
                    <a:gd name="T58" fmla="*/ 9 w 384"/>
                    <a:gd name="T59" fmla="*/ 12 h 384"/>
                    <a:gd name="T60" fmla="*/ 9 w 384"/>
                    <a:gd name="T61" fmla="*/ 12 h 384"/>
                    <a:gd name="T62" fmla="*/ 10 w 384"/>
                    <a:gd name="T63" fmla="*/ 11 h 384"/>
                    <a:gd name="T64" fmla="*/ 11 w 384"/>
                    <a:gd name="T65" fmla="*/ 11 h 384"/>
                    <a:gd name="T66" fmla="*/ 11 w 384"/>
                    <a:gd name="T67" fmla="*/ 10 h 384"/>
                    <a:gd name="T68" fmla="*/ 12 w 384"/>
                    <a:gd name="T69" fmla="*/ 9 h 384"/>
                    <a:gd name="T70" fmla="*/ 12 w 384"/>
                    <a:gd name="T71" fmla="*/ 9 h 384"/>
                    <a:gd name="T72" fmla="*/ 12 w 384"/>
                    <a:gd name="T73" fmla="*/ 7 h 384"/>
                    <a:gd name="T74" fmla="*/ 12 w 384"/>
                    <a:gd name="T75" fmla="*/ 6 h 384"/>
                    <a:gd name="T76" fmla="*/ 13 w 384"/>
                    <a:gd name="T77" fmla="*/ 6 h 384"/>
                    <a:gd name="T78" fmla="*/ 13 w 384"/>
                    <a:gd name="T79" fmla="*/ 6 h 384"/>
                    <a:gd name="T80" fmla="*/ 12 w 384"/>
                    <a:gd name="T81" fmla="*/ 6 h 384"/>
                    <a:gd name="T82" fmla="*/ 12 w 384"/>
                    <a:gd name="T83" fmla="*/ 5 h 384"/>
                    <a:gd name="T84" fmla="*/ 12 w 384"/>
                    <a:gd name="T85" fmla="*/ 3 h 384"/>
                    <a:gd name="T86" fmla="*/ 12 w 384"/>
                    <a:gd name="T87" fmla="*/ 3 h 384"/>
                    <a:gd name="T88" fmla="*/ 11 w 384"/>
                    <a:gd name="T89" fmla="*/ 3 h 384"/>
                    <a:gd name="T90" fmla="*/ 11 w 384"/>
                    <a:gd name="T91" fmla="*/ 2 h 384"/>
                    <a:gd name="T92" fmla="*/ 10 w 384"/>
                    <a:gd name="T93" fmla="*/ 1 h 384"/>
                    <a:gd name="T94" fmla="*/ 9 w 384"/>
                    <a:gd name="T95" fmla="*/ 1 h 384"/>
                    <a:gd name="T96" fmla="*/ 9 w 384"/>
                    <a:gd name="T97" fmla="*/ 1 h 384"/>
                    <a:gd name="T98" fmla="*/ 8 w 384"/>
                    <a:gd name="T99" fmla="*/ 1 h 384"/>
                    <a:gd name="T100" fmla="*/ 7 w 384"/>
                    <a:gd name="T101" fmla="*/ 1 h 384"/>
                    <a:gd name="T102" fmla="*/ 7 w 384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4"/>
                    <a:gd name="T157" fmla="*/ 0 h 384"/>
                    <a:gd name="T158" fmla="*/ 384 w 384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4" h="384">
                      <a:moveTo>
                        <a:pt x="192" y="0"/>
                      </a:moveTo>
                      <a:lnTo>
                        <a:pt x="181" y="0"/>
                      </a:lnTo>
                      <a:lnTo>
                        <a:pt x="172" y="0"/>
                      </a:lnTo>
                      <a:lnTo>
                        <a:pt x="161" y="1"/>
                      </a:lnTo>
                      <a:lnTo>
                        <a:pt x="152" y="3"/>
                      </a:lnTo>
                      <a:lnTo>
                        <a:pt x="143" y="4"/>
                      </a:lnTo>
                      <a:lnTo>
                        <a:pt x="134" y="7"/>
                      </a:lnTo>
                      <a:lnTo>
                        <a:pt x="126" y="10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4" y="32"/>
                      </a:lnTo>
                      <a:lnTo>
                        <a:pt x="69" y="43"/>
                      </a:lnTo>
                      <a:lnTo>
                        <a:pt x="55" y="55"/>
                      </a:lnTo>
                      <a:lnTo>
                        <a:pt x="43" y="69"/>
                      </a:lnTo>
                      <a:lnTo>
                        <a:pt x="32" y="84"/>
                      </a:lnTo>
                      <a:lnTo>
                        <a:pt x="23" y="100"/>
                      </a:lnTo>
                      <a:lnTo>
                        <a:pt x="18" y="107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4" y="143"/>
                      </a:lnTo>
                      <a:lnTo>
                        <a:pt x="3" y="152"/>
                      </a:lnTo>
                      <a:lnTo>
                        <a:pt x="1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0"/>
                      </a:lnTo>
                      <a:lnTo>
                        <a:pt x="1" y="221"/>
                      </a:lnTo>
                      <a:lnTo>
                        <a:pt x="3" y="230"/>
                      </a:lnTo>
                      <a:lnTo>
                        <a:pt x="4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8" y="275"/>
                      </a:lnTo>
                      <a:lnTo>
                        <a:pt x="23" y="283"/>
                      </a:lnTo>
                      <a:lnTo>
                        <a:pt x="32" y="298"/>
                      </a:lnTo>
                      <a:lnTo>
                        <a:pt x="43" y="313"/>
                      </a:lnTo>
                      <a:lnTo>
                        <a:pt x="55" y="327"/>
                      </a:lnTo>
                      <a:lnTo>
                        <a:pt x="69" y="340"/>
                      </a:lnTo>
                      <a:lnTo>
                        <a:pt x="84" y="350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6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2" y="380"/>
                      </a:lnTo>
                      <a:lnTo>
                        <a:pt x="161" y="381"/>
                      </a:lnTo>
                      <a:lnTo>
                        <a:pt x="172" y="383"/>
                      </a:lnTo>
                      <a:lnTo>
                        <a:pt x="181" y="383"/>
                      </a:lnTo>
                      <a:lnTo>
                        <a:pt x="192" y="384"/>
                      </a:lnTo>
                      <a:lnTo>
                        <a:pt x="201" y="383"/>
                      </a:lnTo>
                      <a:lnTo>
                        <a:pt x="211" y="383"/>
                      </a:lnTo>
                      <a:lnTo>
                        <a:pt x="221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49" y="375"/>
                      </a:lnTo>
                      <a:lnTo>
                        <a:pt x="258" y="372"/>
                      </a:lnTo>
                      <a:lnTo>
                        <a:pt x="266" y="369"/>
                      </a:lnTo>
                      <a:lnTo>
                        <a:pt x="275" y="364"/>
                      </a:lnTo>
                      <a:lnTo>
                        <a:pt x="283" y="360"/>
                      </a:lnTo>
                      <a:lnTo>
                        <a:pt x="298" y="350"/>
                      </a:lnTo>
                      <a:lnTo>
                        <a:pt x="314" y="340"/>
                      </a:lnTo>
                      <a:lnTo>
                        <a:pt x="327" y="327"/>
                      </a:lnTo>
                      <a:lnTo>
                        <a:pt x="340" y="313"/>
                      </a:lnTo>
                      <a:lnTo>
                        <a:pt x="351" y="298"/>
                      </a:lnTo>
                      <a:lnTo>
                        <a:pt x="360" y="283"/>
                      </a:lnTo>
                      <a:lnTo>
                        <a:pt x="364" y="275"/>
                      </a:lnTo>
                      <a:lnTo>
                        <a:pt x="369" y="266"/>
                      </a:lnTo>
                      <a:lnTo>
                        <a:pt x="372" y="258"/>
                      </a:lnTo>
                      <a:lnTo>
                        <a:pt x="375" y="249"/>
                      </a:lnTo>
                      <a:lnTo>
                        <a:pt x="378" y="240"/>
                      </a:lnTo>
                      <a:lnTo>
                        <a:pt x="380" y="230"/>
                      </a:lnTo>
                      <a:lnTo>
                        <a:pt x="381" y="221"/>
                      </a:lnTo>
                      <a:lnTo>
                        <a:pt x="383" y="210"/>
                      </a:lnTo>
                      <a:lnTo>
                        <a:pt x="383" y="201"/>
                      </a:lnTo>
                      <a:lnTo>
                        <a:pt x="384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1" y="161"/>
                      </a:lnTo>
                      <a:lnTo>
                        <a:pt x="380" y="152"/>
                      </a:lnTo>
                      <a:lnTo>
                        <a:pt x="378" y="143"/>
                      </a:lnTo>
                      <a:lnTo>
                        <a:pt x="375" y="134"/>
                      </a:lnTo>
                      <a:lnTo>
                        <a:pt x="372" y="126"/>
                      </a:lnTo>
                      <a:lnTo>
                        <a:pt x="369" y="117"/>
                      </a:lnTo>
                      <a:lnTo>
                        <a:pt x="364" y="107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7" y="55"/>
                      </a:lnTo>
                      <a:lnTo>
                        <a:pt x="314" y="43"/>
                      </a:lnTo>
                      <a:lnTo>
                        <a:pt x="298" y="32"/>
                      </a:lnTo>
                      <a:lnTo>
                        <a:pt x="283" y="23"/>
                      </a:lnTo>
                      <a:lnTo>
                        <a:pt x="275" y="18"/>
                      </a:lnTo>
                      <a:lnTo>
                        <a:pt x="266" y="14"/>
                      </a:lnTo>
                      <a:lnTo>
                        <a:pt x="258" y="10"/>
                      </a:lnTo>
                      <a:lnTo>
                        <a:pt x="249" y="7"/>
                      </a:lnTo>
                      <a:lnTo>
                        <a:pt x="240" y="4"/>
                      </a:lnTo>
                      <a:lnTo>
                        <a:pt x="231" y="3"/>
                      </a:lnTo>
                      <a:lnTo>
                        <a:pt x="221" y="1"/>
                      </a:lnTo>
                      <a:lnTo>
                        <a:pt x="211" y="0"/>
                      </a:lnTo>
                      <a:lnTo>
                        <a:pt x="201" y="0"/>
                      </a:lnTo>
                      <a:lnTo>
                        <a:pt x="192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75" name="Rectangle 99"/>
                <p:cNvSpPr>
                  <a:spLocks noChangeArrowheads="1"/>
                </p:cNvSpPr>
                <p:nvPr/>
              </p:nvSpPr>
              <p:spPr bwMode="auto">
                <a:xfrm>
                  <a:off x="5270" y="3168"/>
                  <a:ext cx="76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5</a:t>
                  </a:r>
                  <a:endParaRPr lang="en-GB" altLang="en-US"/>
                </a:p>
              </p:txBody>
            </p:sp>
          </p:grpSp>
          <p:sp>
            <p:nvSpPr>
              <p:cNvPr id="23654" name="Line 100"/>
              <p:cNvSpPr>
                <a:spLocks noChangeShapeType="1"/>
              </p:cNvSpPr>
              <p:nvPr/>
            </p:nvSpPr>
            <p:spPr bwMode="auto">
              <a:xfrm flipH="1">
                <a:off x="2259" y="1920"/>
                <a:ext cx="77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55" name="Freeform 101"/>
              <p:cNvSpPr>
                <a:spLocks/>
              </p:cNvSpPr>
              <p:nvPr/>
            </p:nvSpPr>
            <p:spPr bwMode="auto">
              <a:xfrm>
                <a:off x="2416" y="2156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56" name="Rectangle 102"/>
              <p:cNvSpPr>
                <a:spLocks noChangeArrowheads="1"/>
              </p:cNvSpPr>
              <p:nvPr/>
            </p:nvSpPr>
            <p:spPr bwMode="auto">
              <a:xfrm>
                <a:off x="2473" y="2163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9</a:t>
                </a:r>
                <a:endParaRPr lang="en-GB" altLang="en-US"/>
              </a:p>
            </p:txBody>
          </p:sp>
          <p:sp>
            <p:nvSpPr>
              <p:cNvPr id="23657" name="Line 103"/>
              <p:cNvSpPr>
                <a:spLocks noChangeShapeType="1"/>
              </p:cNvSpPr>
              <p:nvPr/>
            </p:nvSpPr>
            <p:spPr bwMode="auto">
              <a:xfrm flipH="1">
                <a:off x="2539" y="1906"/>
                <a:ext cx="87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58" name="Group 104"/>
              <p:cNvGrpSpPr>
                <a:grpSpLocks/>
              </p:cNvGrpSpPr>
              <p:nvPr/>
            </p:nvGrpSpPr>
            <p:grpSpPr bwMode="auto">
              <a:xfrm>
                <a:off x="2270" y="2343"/>
                <a:ext cx="199" cy="336"/>
                <a:chOff x="2270" y="2343"/>
                <a:chExt cx="199" cy="336"/>
              </a:xfrm>
            </p:grpSpPr>
            <p:sp>
              <p:nvSpPr>
                <p:cNvPr id="23671" name="Freeform 105"/>
                <p:cNvSpPr>
                  <a:spLocks/>
                </p:cNvSpPr>
                <p:nvPr/>
              </p:nvSpPr>
              <p:spPr bwMode="auto">
                <a:xfrm>
                  <a:off x="2277" y="2486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72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2400" y="2343"/>
                  <a:ext cx="64" cy="15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73" name="Rectangle 107"/>
                <p:cNvSpPr>
                  <a:spLocks noChangeArrowheads="1"/>
                </p:cNvSpPr>
                <p:nvPr/>
              </p:nvSpPr>
              <p:spPr bwMode="auto">
                <a:xfrm>
                  <a:off x="2270" y="2487"/>
                  <a:ext cx="190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8.5</a:t>
                  </a:r>
                  <a:endParaRPr lang="en-GB" altLang="en-US"/>
                </a:p>
              </p:txBody>
            </p:sp>
          </p:grpSp>
          <p:sp>
            <p:nvSpPr>
              <p:cNvPr id="23659" name="Line 108"/>
              <p:cNvSpPr>
                <a:spLocks noChangeShapeType="1"/>
              </p:cNvSpPr>
              <p:nvPr/>
            </p:nvSpPr>
            <p:spPr bwMode="auto">
              <a:xfrm>
                <a:off x="2706" y="1909"/>
                <a:ext cx="83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60" name="Group 109"/>
              <p:cNvGrpSpPr>
                <a:grpSpLocks/>
              </p:cNvGrpSpPr>
              <p:nvPr/>
            </p:nvGrpSpPr>
            <p:grpSpPr bwMode="auto">
              <a:xfrm>
                <a:off x="2727" y="2138"/>
                <a:ext cx="192" cy="193"/>
                <a:chOff x="2773" y="2298"/>
                <a:chExt cx="192" cy="193"/>
              </a:xfrm>
            </p:grpSpPr>
            <p:sp>
              <p:nvSpPr>
                <p:cNvPr id="23669" name="Rectangle 110"/>
                <p:cNvSpPr>
                  <a:spLocks noChangeArrowheads="1"/>
                </p:cNvSpPr>
                <p:nvPr/>
              </p:nvSpPr>
              <p:spPr bwMode="auto">
                <a:xfrm>
                  <a:off x="2794" y="2304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11</a:t>
                  </a:r>
                  <a:endParaRPr lang="en-GB" altLang="en-US"/>
                </a:p>
              </p:txBody>
            </p:sp>
            <p:sp>
              <p:nvSpPr>
                <p:cNvPr id="23670" name="Freeform 111"/>
                <p:cNvSpPr>
                  <a:spLocks/>
                </p:cNvSpPr>
                <p:nvPr/>
              </p:nvSpPr>
              <p:spPr bwMode="auto">
                <a:xfrm>
                  <a:off x="2773" y="229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3661" name="Line 112"/>
              <p:cNvSpPr>
                <a:spLocks noChangeShapeType="1"/>
              </p:cNvSpPr>
              <p:nvPr/>
            </p:nvSpPr>
            <p:spPr bwMode="auto">
              <a:xfrm flipH="1">
                <a:off x="3097" y="1778"/>
                <a:ext cx="84" cy="3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62" name="Group 113"/>
              <p:cNvGrpSpPr>
                <a:grpSpLocks/>
              </p:cNvGrpSpPr>
              <p:nvPr/>
            </p:nvGrpSpPr>
            <p:grpSpPr bwMode="auto">
              <a:xfrm>
                <a:off x="3000" y="2140"/>
                <a:ext cx="192" cy="193"/>
                <a:chOff x="3000" y="2118"/>
                <a:chExt cx="192" cy="193"/>
              </a:xfrm>
            </p:grpSpPr>
            <p:sp>
              <p:nvSpPr>
                <p:cNvPr id="23667" name="Freeform 114"/>
                <p:cNvSpPr>
                  <a:spLocks/>
                </p:cNvSpPr>
                <p:nvPr/>
              </p:nvSpPr>
              <p:spPr bwMode="auto">
                <a:xfrm>
                  <a:off x="3000" y="2118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668" name="Rectangle 115"/>
                <p:cNvSpPr>
                  <a:spLocks noChangeArrowheads="1"/>
                </p:cNvSpPr>
                <p:nvPr/>
              </p:nvSpPr>
              <p:spPr bwMode="auto">
                <a:xfrm>
                  <a:off x="3031" y="2120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13</a:t>
                  </a:r>
                  <a:endParaRPr lang="en-GB" altLang="en-US"/>
                </a:p>
              </p:txBody>
            </p:sp>
          </p:grpSp>
          <p:sp>
            <p:nvSpPr>
              <p:cNvPr id="23663" name="Line 116"/>
              <p:cNvSpPr>
                <a:spLocks noChangeShapeType="1"/>
              </p:cNvSpPr>
              <p:nvPr/>
            </p:nvSpPr>
            <p:spPr bwMode="auto">
              <a:xfrm>
                <a:off x="3243" y="1755"/>
                <a:ext cx="211" cy="385"/>
              </a:xfrm>
              <a:prstGeom prst="line">
                <a:avLst/>
              </a:prstGeom>
              <a:noFill/>
              <a:ln w="79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3664" name="Group 117"/>
              <p:cNvGrpSpPr>
                <a:grpSpLocks/>
              </p:cNvGrpSpPr>
              <p:nvPr/>
            </p:nvGrpSpPr>
            <p:grpSpPr bwMode="auto">
              <a:xfrm>
                <a:off x="3377" y="2139"/>
                <a:ext cx="192" cy="200"/>
                <a:chOff x="3377" y="2162"/>
                <a:chExt cx="192" cy="200"/>
              </a:xfrm>
            </p:grpSpPr>
            <p:sp>
              <p:nvSpPr>
                <p:cNvPr id="23665" name="Rectangle 118"/>
                <p:cNvSpPr>
                  <a:spLocks noChangeArrowheads="1"/>
                </p:cNvSpPr>
                <p:nvPr/>
              </p:nvSpPr>
              <p:spPr bwMode="auto">
                <a:xfrm>
                  <a:off x="3399" y="2162"/>
                  <a:ext cx="152" cy="1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r>
                    <a:rPr lang="en-GB" altLang="en-US" sz="1900">
                      <a:solidFill>
                        <a:srgbClr val="000000"/>
                      </a:solidFill>
                      <a:latin typeface="Times New Roman" pitchFamily="18" charset="0"/>
                    </a:rPr>
                    <a:t>15</a:t>
                  </a:r>
                  <a:endParaRPr lang="en-GB" altLang="en-US"/>
                </a:p>
              </p:txBody>
            </p:sp>
            <p:sp>
              <p:nvSpPr>
                <p:cNvPr id="23666" name="Freeform 119"/>
                <p:cNvSpPr>
                  <a:spLocks/>
                </p:cNvSpPr>
                <p:nvPr/>
              </p:nvSpPr>
              <p:spPr bwMode="auto">
                <a:xfrm>
                  <a:off x="3377" y="2169"/>
                  <a:ext cx="192" cy="193"/>
                </a:xfrm>
                <a:custGeom>
                  <a:avLst/>
                  <a:gdLst>
                    <a:gd name="T0" fmla="*/ 5 w 385"/>
                    <a:gd name="T1" fmla="*/ 0 h 384"/>
                    <a:gd name="T2" fmla="*/ 5 w 385"/>
                    <a:gd name="T3" fmla="*/ 1 h 384"/>
                    <a:gd name="T4" fmla="*/ 4 w 385"/>
                    <a:gd name="T5" fmla="*/ 1 h 384"/>
                    <a:gd name="T6" fmla="*/ 3 w 385"/>
                    <a:gd name="T7" fmla="*/ 1 h 384"/>
                    <a:gd name="T8" fmla="*/ 3 w 385"/>
                    <a:gd name="T9" fmla="*/ 1 h 384"/>
                    <a:gd name="T10" fmla="*/ 2 w 385"/>
                    <a:gd name="T11" fmla="*/ 1 h 384"/>
                    <a:gd name="T12" fmla="*/ 1 w 385"/>
                    <a:gd name="T13" fmla="*/ 2 h 384"/>
                    <a:gd name="T14" fmla="*/ 1 w 385"/>
                    <a:gd name="T15" fmla="*/ 3 h 384"/>
                    <a:gd name="T16" fmla="*/ 0 w 385"/>
                    <a:gd name="T17" fmla="*/ 4 h 384"/>
                    <a:gd name="T18" fmla="*/ 0 w 385"/>
                    <a:gd name="T19" fmla="*/ 4 h 384"/>
                    <a:gd name="T20" fmla="*/ 0 w 385"/>
                    <a:gd name="T21" fmla="*/ 5 h 384"/>
                    <a:gd name="T22" fmla="*/ 0 w 385"/>
                    <a:gd name="T23" fmla="*/ 6 h 384"/>
                    <a:gd name="T24" fmla="*/ 0 w 385"/>
                    <a:gd name="T25" fmla="*/ 6 h 384"/>
                    <a:gd name="T26" fmla="*/ 0 w 385"/>
                    <a:gd name="T27" fmla="*/ 7 h 384"/>
                    <a:gd name="T28" fmla="*/ 0 w 385"/>
                    <a:gd name="T29" fmla="*/ 7 h 384"/>
                    <a:gd name="T30" fmla="*/ 0 w 385"/>
                    <a:gd name="T31" fmla="*/ 8 h 384"/>
                    <a:gd name="T32" fmla="*/ 0 w 385"/>
                    <a:gd name="T33" fmla="*/ 9 h 384"/>
                    <a:gd name="T34" fmla="*/ 0 w 385"/>
                    <a:gd name="T35" fmla="*/ 9 h 384"/>
                    <a:gd name="T36" fmla="*/ 1 w 385"/>
                    <a:gd name="T37" fmla="*/ 10 h 384"/>
                    <a:gd name="T38" fmla="*/ 1 w 385"/>
                    <a:gd name="T39" fmla="*/ 11 h 384"/>
                    <a:gd name="T40" fmla="*/ 2 w 385"/>
                    <a:gd name="T41" fmla="*/ 11 h 384"/>
                    <a:gd name="T42" fmla="*/ 3 w 385"/>
                    <a:gd name="T43" fmla="*/ 12 h 384"/>
                    <a:gd name="T44" fmla="*/ 3 w 385"/>
                    <a:gd name="T45" fmla="*/ 12 h 384"/>
                    <a:gd name="T46" fmla="*/ 4 w 385"/>
                    <a:gd name="T47" fmla="*/ 12 h 384"/>
                    <a:gd name="T48" fmla="*/ 5 w 385"/>
                    <a:gd name="T49" fmla="*/ 12 h 384"/>
                    <a:gd name="T50" fmla="*/ 5 w 385"/>
                    <a:gd name="T51" fmla="*/ 13 h 384"/>
                    <a:gd name="T52" fmla="*/ 6 w 385"/>
                    <a:gd name="T53" fmla="*/ 13 h 384"/>
                    <a:gd name="T54" fmla="*/ 6 w 385"/>
                    <a:gd name="T55" fmla="*/ 12 h 384"/>
                    <a:gd name="T56" fmla="*/ 7 w 385"/>
                    <a:gd name="T57" fmla="*/ 12 h 384"/>
                    <a:gd name="T58" fmla="*/ 8 w 385"/>
                    <a:gd name="T59" fmla="*/ 12 h 384"/>
                    <a:gd name="T60" fmla="*/ 8 w 385"/>
                    <a:gd name="T61" fmla="*/ 12 h 384"/>
                    <a:gd name="T62" fmla="*/ 9 w 385"/>
                    <a:gd name="T63" fmla="*/ 11 h 384"/>
                    <a:gd name="T64" fmla="*/ 10 w 385"/>
                    <a:gd name="T65" fmla="*/ 11 h 384"/>
                    <a:gd name="T66" fmla="*/ 10 w 385"/>
                    <a:gd name="T67" fmla="*/ 10 h 384"/>
                    <a:gd name="T68" fmla="*/ 11 w 385"/>
                    <a:gd name="T69" fmla="*/ 9 h 384"/>
                    <a:gd name="T70" fmla="*/ 11 w 385"/>
                    <a:gd name="T71" fmla="*/ 9 h 384"/>
                    <a:gd name="T72" fmla="*/ 11 w 385"/>
                    <a:gd name="T73" fmla="*/ 8 h 384"/>
                    <a:gd name="T74" fmla="*/ 11 w 385"/>
                    <a:gd name="T75" fmla="*/ 7 h 384"/>
                    <a:gd name="T76" fmla="*/ 11 w 385"/>
                    <a:gd name="T77" fmla="*/ 7 h 384"/>
                    <a:gd name="T78" fmla="*/ 11 w 385"/>
                    <a:gd name="T79" fmla="*/ 6 h 384"/>
                    <a:gd name="T80" fmla="*/ 11 w 385"/>
                    <a:gd name="T81" fmla="*/ 6 h 384"/>
                    <a:gd name="T82" fmla="*/ 11 w 385"/>
                    <a:gd name="T83" fmla="*/ 5 h 384"/>
                    <a:gd name="T84" fmla="*/ 11 w 385"/>
                    <a:gd name="T85" fmla="*/ 4 h 384"/>
                    <a:gd name="T86" fmla="*/ 11 w 385"/>
                    <a:gd name="T87" fmla="*/ 4 h 384"/>
                    <a:gd name="T88" fmla="*/ 10 w 385"/>
                    <a:gd name="T89" fmla="*/ 3 h 384"/>
                    <a:gd name="T90" fmla="*/ 10 w 385"/>
                    <a:gd name="T91" fmla="*/ 2 h 384"/>
                    <a:gd name="T92" fmla="*/ 9 w 385"/>
                    <a:gd name="T93" fmla="*/ 1 h 384"/>
                    <a:gd name="T94" fmla="*/ 8 w 385"/>
                    <a:gd name="T95" fmla="*/ 1 h 384"/>
                    <a:gd name="T96" fmla="*/ 8 w 385"/>
                    <a:gd name="T97" fmla="*/ 1 h 384"/>
                    <a:gd name="T98" fmla="*/ 7 w 385"/>
                    <a:gd name="T99" fmla="*/ 1 h 384"/>
                    <a:gd name="T100" fmla="*/ 6 w 385"/>
                    <a:gd name="T101" fmla="*/ 1 h 384"/>
                    <a:gd name="T102" fmla="*/ 6 w 385"/>
                    <a:gd name="T103" fmla="*/ 0 h 384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w 385"/>
                    <a:gd name="T157" fmla="*/ 0 h 384"/>
                    <a:gd name="T158" fmla="*/ 385 w 385"/>
                    <a:gd name="T159" fmla="*/ 384 h 384"/>
                  </a:gdLst>
                  <a:ahLst/>
                  <a:cxnLst>
                    <a:cxn ang="T104">
                      <a:pos x="T0" y="T1"/>
                    </a:cxn>
                    <a:cxn ang="T105">
                      <a:pos x="T2" y="T3"/>
                    </a:cxn>
                    <a:cxn ang="T106">
                      <a:pos x="T4" y="T5"/>
                    </a:cxn>
                    <a:cxn ang="T107">
                      <a:pos x="T6" y="T7"/>
                    </a:cxn>
                    <a:cxn ang="T108">
                      <a:pos x="T8" y="T9"/>
                    </a:cxn>
                    <a:cxn ang="T109">
                      <a:pos x="T10" y="T11"/>
                    </a:cxn>
                    <a:cxn ang="T110">
                      <a:pos x="T12" y="T13"/>
                    </a:cxn>
                    <a:cxn ang="T111">
                      <a:pos x="T14" y="T15"/>
                    </a:cxn>
                    <a:cxn ang="T112">
                      <a:pos x="T16" y="T17"/>
                    </a:cxn>
                    <a:cxn ang="T113">
                      <a:pos x="T18" y="T19"/>
                    </a:cxn>
                    <a:cxn ang="T114">
                      <a:pos x="T20" y="T21"/>
                    </a:cxn>
                    <a:cxn ang="T115">
                      <a:pos x="T22" y="T23"/>
                    </a:cxn>
                    <a:cxn ang="T116">
                      <a:pos x="T24" y="T25"/>
                    </a:cxn>
                    <a:cxn ang="T117">
                      <a:pos x="T26" y="T27"/>
                    </a:cxn>
                    <a:cxn ang="T118">
                      <a:pos x="T28" y="T29"/>
                    </a:cxn>
                    <a:cxn ang="T119">
                      <a:pos x="T30" y="T31"/>
                    </a:cxn>
                    <a:cxn ang="T120">
                      <a:pos x="T32" y="T33"/>
                    </a:cxn>
                    <a:cxn ang="T121">
                      <a:pos x="T34" y="T35"/>
                    </a:cxn>
                    <a:cxn ang="T122">
                      <a:pos x="T36" y="T37"/>
                    </a:cxn>
                    <a:cxn ang="T123">
                      <a:pos x="T38" y="T39"/>
                    </a:cxn>
                    <a:cxn ang="T124">
                      <a:pos x="T40" y="T41"/>
                    </a:cxn>
                    <a:cxn ang="T125">
                      <a:pos x="T42" y="T43"/>
                    </a:cxn>
                    <a:cxn ang="T126">
                      <a:pos x="T44" y="T45"/>
                    </a:cxn>
                    <a:cxn ang="T127">
                      <a:pos x="T46" y="T47"/>
                    </a:cxn>
                    <a:cxn ang="T128">
                      <a:pos x="T48" y="T49"/>
                    </a:cxn>
                    <a:cxn ang="T129">
                      <a:pos x="T50" y="T51"/>
                    </a:cxn>
                    <a:cxn ang="T130">
                      <a:pos x="T52" y="T53"/>
                    </a:cxn>
                    <a:cxn ang="T131">
                      <a:pos x="T54" y="T55"/>
                    </a:cxn>
                    <a:cxn ang="T132">
                      <a:pos x="T56" y="T57"/>
                    </a:cxn>
                    <a:cxn ang="T133">
                      <a:pos x="T58" y="T59"/>
                    </a:cxn>
                    <a:cxn ang="T134">
                      <a:pos x="T60" y="T61"/>
                    </a:cxn>
                    <a:cxn ang="T135">
                      <a:pos x="T62" y="T63"/>
                    </a:cxn>
                    <a:cxn ang="T136">
                      <a:pos x="T64" y="T65"/>
                    </a:cxn>
                    <a:cxn ang="T137">
                      <a:pos x="T66" y="T67"/>
                    </a:cxn>
                    <a:cxn ang="T138">
                      <a:pos x="T68" y="T69"/>
                    </a:cxn>
                    <a:cxn ang="T139">
                      <a:pos x="T70" y="T71"/>
                    </a:cxn>
                    <a:cxn ang="T140">
                      <a:pos x="T72" y="T73"/>
                    </a:cxn>
                    <a:cxn ang="T141">
                      <a:pos x="T74" y="T75"/>
                    </a:cxn>
                    <a:cxn ang="T142">
                      <a:pos x="T76" y="T77"/>
                    </a:cxn>
                    <a:cxn ang="T143">
                      <a:pos x="T78" y="T79"/>
                    </a:cxn>
                    <a:cxn ang="T144">
                      <a:pos x="T80" y="T81"/>
                    </a:cxn>
                    <a:cxn ang="T145">
                      <a:pos x="T82" y="T83"/>
                    </a:cxn>
                    <a:cxn ang="T146">
                      <a:pos x="T84" y="T85"/>
                    </a:cxn>
                    <a:cxn ang="T147">
                      <a:pos x="T86" y="T87"/>
                    </a:cxn>
                    <a:cxn ang="T148">
                      <a:pos x="T88" y="T89"/>
                    </a:cxn>
                    <a:cxn ang="T149">
                      <a:pos x="T90" y="T91"/>
                    </a:cxn>
                    <a:cxn ang="T150">
                      <a:pos x="T92" y="T93"/>
                    </a:cxn>
                    <a:cxn ang="T151">
                      <a:pos x="T94" y="T95"/>
                    </a:cxn>
                    <a:cxn ang="T152">
                      <a:pos x="T96" y="T97"/>
                    </a:cxn>
                    <a:cxn ang="T153">
                      <a:pos x="T98" y="T99"/>
                    </a:cxn>
                    <a:cxn ang="T154">
                      <a:pos x="T100" y="T101"/>
                    </a:cxn>
                    <a:cxn ang="T155">
                      <a:pos x="T102" y="T103"/>
                    </a:cxn>
                  </a:cxnLst>
                  <a:rect l="T156" t="T157" r="T158" b="T159"/>
                  <a:pathLst>
                    <a:path w="385" h="384">
                      <a:moveTo>
                        <a:pt x="193" y="0"/>
                      </a:moveTo>
                      <a:lnTo>
                        <a:pt x="182" y="0"/>
                      </a:lnTo>
                      <a:lnTo>
                        <a:pt x="173" y="0"/>
                      </a:lnTo>
                      <a:lnTo>
                        <a:pt x="162" y="1"/>
                      </a:lnTo>
                      <a:lnTo>
                        <a:pt x="153" y="3"/>
                      </a:lnTo>
                      <a:lnTo>
                        <a:pt x="143" y="5"/>
                      </a:lnTo>
                      <a:lnTo>
                        <a:pt x="134" y="8"/>
                      </a:lnTo>
                      <a:lnTo>
                        <a:pt x="127" y="11"/>
                      </a:lnTo>
                      <a:lnTo>
                        <a:pt x="117" y="14"/>
                      </a:lnTo>
                      <a:lnTo>
                        <a:pt x="108" y="18"/>
                      </a:lnTo>
                      <a:lnTo>
                        <a:pt x="100" y="23"/>
                      </a:lnTo>
                      <a:lnTo>
                        <a:pt x="85" y="32"/>
                      </a:lnTo>
                      <a:lnTo>
                        <a:pt x="70" y="43"/>
                      </a:lnTo>
                      <a:lnTo>
                        <a:pt x="56" y="55"/>
                      </a:lnTo>
                      <a:lnTo>
                        <a:pt x="43" y="69"/>
                      </a:lnTo>
                      <a:lnTo>
                        <a:pt x="33" y="84"/>
                      </a:lnTo>
                      <a:lnTo>
                        <a:pt x="23" y="100"/>
                      </a:lnTo>
                      <a:lnTo>
                        <a:pt x="19" y="108"/>
                      </a:lnTo>
                      <a:lnTo>
                        <a:pt x="14" y="117"/>
                      </a:lnTo>
                      <a:lnTo>
                        <a:pt x="11" y="126"/>
                      </a:lnTo>
                      <a:lnTo>
                        <a:pt x="8" y="134"/>
                      </a:lnTo>
                      <a:lnTo>
                        <a:pt x="5" y="143"/>
                      </a:lnTo>
                      <a:lnTo>
                        <a:pt x="3" y="152"/>
                      </a:lnTo>
                      <a:lnTo>
                        <a:pt x="2" y="161"/>
                      </a:lnTo>
                      <a:lnTo>
                        <a:pt x="0" y="172"/>
                      </a:lnTo>
                      <a:lnTo>
                        <a:pt x="0" y="181"/>
                      </a:lnTo>
                      <a:lnTo>
                        <a:pt x="0" y="192"/>
                      </a:lnTo>
                      <a:lnTo>
                        <a:pt x="0" y="201"/>
                      </a:lnTo>
                      <a:lnTo>
                        <a:pt x="0" y="211"/>
                      </a:lnTo>
                      <a:lnTo>
                        <a:pt x="2" y="221"/>
                      </a:lnTo>
                      <a:lnTo>
                        <a:pt x="3" y="231"/>
                      </a:lnTo>
                      <a:lnTo>
                        <a:pt x="5" y="240"/>
                      </a:lnTo>
                      <a:lnTo>
                        <a:pt x="8" y="249"/>
                      </a:lnTo>
                      <a:lnTo>
                        <a:pt x="11" y="258"/>
                      </a:lnTo>
                      <a:lnTo>
                        <a:pt x="14" y="266"/>
                      </a:lnTo>
                      <a:lnTo>
                        <a:pt x="19" y="275"/>
                      </a:lnTo>
                      <a:lnTo>
                        <a:pt x="23" y="283"/>
                      </a:lnTo>
                      <a:lnTo>
                        <a:pt x="33" y="300"/>
                      </a:lnTo>
                      <a:lnTo>
                        <a:pt x="43" y="314"/>
                      </a:lnTo>
                      <a:lnTo>
                        <a:pt x="56" y="327"/>
                      </a:lnTo>
                      <a:lnTo>
                        <a:pt x="70" y="340"/>
                      </a:lnTo>
                      <a:lnTo>
                        <a:pt x="85" y="351"/>
                      </a:lnTo>
                      <a:lnTo>
                        <a:pt x="100" y="360"/>
                      </a:lnTo>
                      <a:lnTo>
                        <a:pt x="108" y="364"/>
                      </a:lnTo>
                      <a:lnTo>
                        <a:pt x="117" y="369"/>
                      </a:lnTo>
                      <a:lnTo>
                        <a:pt x="127" y="372"/>
                      </a:lnTo>
                      <a:lnTo>
                        <a:pt x="134" y="375"/>
                      </a:lnTo>
                      <a:lnTo>
                        <a:pt x="143" y="378"/>
                      </a:lnTo>
                      <a:lnTo>
                        <a:pt x="153" y="380"/>
                      </a:lnTo>
                      <a:lnTo>
                        <a:pt x="162" y="381"/>
                      </a:lnTo>
                      <a:lnTo>
                        <a:pt x="173" y="383"/>
                      </a:lnTo>
                      <a:lnTo>
                        <a:pt x="182" y="383"/>
                      </a:lnTo>
                      <a:lnTo>
                        <a:pt x="193" y="384"/>
                      </a:lnTo>
                      <a:lnTo>
                        <a:pt x="202" y="383"/>
                      </a:lnTo>
                      <a:lnTo>
                        <a:pt x="211" y="383"/>
                      </a:lnTo>
                      <a:lnTo>
                        <a:pt x="222" y="381"/>
                      </a:lnTo>
                      <a:lnTo>
                        <a:pt x="231" y="380"/>
                      </a:lnTo>
                      <a:lnTo>
                        <a:pt x="240" y="378"/>
                      </a:lnTo>
                      <a:lnTo>
                        <a:pt x="250" y="375"/>
                      </a:lnTo>
                      <a:lnTo>
                        <a:pt x="259" y="372"/>
                      </a:lnTo>
                      <a:lnTo>
                        <a:pt x="266" y="369"/>
                      </a:lnTo>
                      <a:lnTo>
                        <a:pt x="276" y="364"/>
                      </a:lnTo>
                      <a:lnTo>
                        <a:pt x="283" y="360"/>
                      </a:lnTo>
                      <a:lnTo>
                        <a:pt x="300" y="351"/>
                      </a:lnTo>
                      <a:lnTo>
                        <a:pt x="314" y="340"/>
                      </a:lnTo>
                      <a:lnTo>
                        <a:pt x="328" y="327"/>
                      </a:lnTo>
                      <a:lnTo>
                        <a:pt x="340" y="314"/>
                      </a:lnTo>
                      <a:lnTo>
                        <a:pt x="351" y="300"/>
                      </a:lnTo>
                      <a:lnTo>
                        <a:pt x="360" y="283"/>
                      </a:lnTo>
                      <a:lnTo>
                        <a:pt x="365" y="275"/>
                      </a:lnTo>
                      <a:lnTo>
                        <a:pt x="370" y="266"/>
                      </a:lnTo>
                      <a:lnTo>
                        <a:pt x="373" y="258"/>
                      </a:lnTo>
                      <a:lnTo>
                        <a:pt x="376" y="249"/>
                      </a:lnTo>
                      <a:lnTo>
                        <a:pt x="379" y="240"/>
                      </a:lnTo>
                      <a:lnTo>
                        <a:pt x="380" y="231"/>
                      </a:lnTo>
                      <a:lnTo>
                        <a:pt x="382" y="221"/>
                      </a:lnTo>
                      <a:lnTo>
                        <a:pt x="383" y="211"/>
                      </a:lnTo>
                      <a:lnTo>
                        <a:pt x="383" y="201"/>
                      </a:lnTo>
                      <a:lnTo>
                        <a:pt x="385" y="192"/>
                      </a:lnTo>
                      <a:lnTo>
                        <a:pt x="383" y="181"/>
                      </a:lnTo>
                      <a:lnTo>
                        <a:pt x="383" y="172"/>
                      </a:lnTo>
                      <a:lnTo>
                        <a:pt x="382" y="161"/>
                      </a:lnTo>
                      <a:lnTo>
                        <a:pt x="380" y="152"/>
                      </a:lnTo>
                      <a:lnTo>
                        <a:pt x="379" y="143"/>
                      </a:lnTo>
                      <a:lnTo>
                        <a:pt x="376" y="134"/>
                      </a:lnTo>
                      <a:lnTo>
                        <a:pt x="373" y="126"/>
                      </a:lnTo>
                      <a:lnTo>
                        <a:pt x="370" y="117"/>
                      </a:lnTo>
                      <a:lnTo>
                        <a:pt x="365" y="108"/>
                      </a:lnTo>
                      <a:lnTo>
                        <a:pt x="360" y="100"/>
                      </a:lnTo>
                      <a:lnTo>
                        <a:pt x="351" y="84"/>
                      </a:lnTo>
                      <a:lnTo>
                        <a:pt x="340" y="69"/>
                      </a:lnTo>
                      <a:lnTo>
                        <a:pt x="328" y="55"/>
                      </a:lnTo>
                      <a:lnTo>
                        <a:pt x="314" y="43"/>
                      </a:lnTo>
                      <a:lnTo>
                        <a:pt x="300" y="32"/>
                      </a:lnTo>
                      <a:lnTo>
                        <a:pt x="283" y="23"/>
                      </a:lnTo>
                      <a:lnTo>
                        <a:pt x="276" y="18"/>
                      </a:lnTo>
                      <a:lnTo>
                        <a:pt x="266" y="14"/>
                      </a:lnTo>
                      <a:lnTo>
                        <a:pt x="259" y="11"/>
                      </a:lnTo>
                      <a:lnTo>
                        <a:pt x="250" y="8"/>
                      </a:lnTo>
                      <a:lnTo>
                        <a:pt x="240" y="5"/>
                      </a:lnTo>
                      <a:lnTo>
                        <a:pt x="231" y="3"/>
                      </a:lnTo>
                      <a:lnTo>
                        <a:pt x="222" y="1"/>
                      </a:lnTo>
                      <a:lnTo>
                        <a:pt x="211" y="0"/>
                      </a:lnTo>
                      <a:lnTo>
                        <a:pt x="202" y="0"/>
                      </a:lnTo>
                      <a:lnTo>
                        <a:pt x="193" y="0"/>
                      </a:lnTo>
                    </a:path>
                  </a:pathLst>
                </a:cu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grpSp>
          <p:nvGrpSpPr>
            <p:cNvPr id="23625" name="Group 120"/>
            <p:cNvGrpSpPr>
              <a:grpSpLocks/>
            </p:cNvGrpSpPr>
            <p:nvPr/>
          </p:nvGrpSpPr>
          <p:grpSpPr bwMode="auto">
            <a:xfrm>
              <a:off x="3744" y="2208"/>
              <a:ext cx="192" cy="193"/>
              <a:chOff x="3888" y="2928"/>
              <a:chExt cx="192" cy="193"/>
            </a:xfrm>
          </p:grpSpPr>
          <p:sp>
            <p:nvSpPr>
              <p:cNvPr id="23627" name="Freeform 121"/>
              <p:cNvSpPr>
                <a:spLocks/>
              </p:cNvSpPr>
              <p:nvPr/>
            </p:nvSpPr>
            <p:spPr bwMode="auto">
              <a:xfrm>
                <a:off x="3888" y="2928"/>
                <a:ext cx="192" cy="193"/>
              </a:xfrm>
              <a:custGeom>
                <a:avLst/>
                <a:gdLst>
                  <a:gd name="T0" fmla="*/ 5 w 385"/>
                  <a:gd name="T1" fmla="*/ 0 h 384"/>
                  <a:gd name="T2" fmla="*/ 5 w 385"/>
                  <a:gd name="T3" fmla="*/ 1 h 384"/>
                  <a:gd name="T4" fmla="*/ 4 w 385"/>
                  <a:gd name="T5" fmla="*/ 1 h 384"/>
                  <a:gd name="T6" fmla="*/ 3 w 385"/>
                  <a:gd name="T7" fmla="*/ 1 h 384"/>
                  <a:gd name="T8" fmla="*/ 3 w 385"/>
                  <a:gd name="T9" fmla="*/ 1 h 384"/>
                  <a:gd name="T10" fmla="*/ 2 w 385"/>
                  <a:gd name="T11" fmla="*/ 1 h 384"/>
                  <a:gd name="T12" fmla="*/ 1 w 385"/>
                  <a:gd name="T13" fmla="*/ 2 h 384"/>
                  <a:gd name="T14" fmla="*/ 1 w 385"/>
                  <a:gd name="T15" fmla="*/ 3 h 384"/>
                  <a:gd name="T16" fmla="*/ 0 w 385"/>
                  <a:gd name="T17" fmla="*/ 4 h 384"/>
                  <a:gd name="T18" fmla="*/ 0 w 385"/>
                  <a:gd name="T19" fmla="*/ 4 h 384"/>
                  <a:gd name="T20" fmla="*/ 0 w 385"/>
                  <a:gd name="T21" fmla="*/ 5 h 384"/>
                  <a:gd name="T22" fmla="*/ 0 w 385"/>
                  <a:gd name="T23" fmla="*/ 6 h 384"/>
                  <a:gd name="T24" fmla="*/ 0 w 385"/>
                  <a:gd name="T25" fmla="*/ 6 h 384"/>
                  <a:gd name="T26" fmla="*/ 0 w 385"/>
                  <a:gd name="T27" fmla="*/ 7 h 384"/>
                  <a:gd name="T28" fmla="*/ 0 w 385"/>
                  <a:gd name="T29" fmla="*/ 7 h 384"/>
                  <a:gd name="T30" fmla="*/ 0 w 385"/>
                  <a:gd name="T31" fmla="*/ 8 h 384"/>
                  <a:gd name="T32" fmla="*/ 0 w 385"/>
                  <a:gd name="T33" fmla="*/ 9 h 384"/>
                  <a:gd name="T34" fmla="*/ 0 w 385"/>
                  <a:gd name="T35" fmla="*/ 9 h 384"/>
                  <a:gd name="T36" fmla="*/ 1 w 385"/>
                  <a:gd name="T37" fmla="*/ 10 h 384"/>
                  <a:gd name="T38" fmla="*/ 1 w 385"/>
                  <a:gd name="T39" fmla="*/ 11 h 384"/>
                  <a:gd name="T40" fmla="*/ 2 w 385"/>
                  <a:gd name="T41" fmla="*/ 11 h 384"/>
                  <a:gd name="T42" fmla="*/ 3 w 385"/>
                  <a:gd name="T43" fmla="*/ 12 h 384"/>
                  <a:gd name="T44" fmla="*/ 3 w 385"/>
                  <a:gd name="T45" fmla="*/ 12 h 384"/>
                  <a:gd name="T46" fmla="*/ 4 w 385"/>
                  <a:gd name="T47" fmla="*/ 12 h 384"/>
                  <a:gd name="T48" fmla="*/ 5 w 385"/>
                  <a:gd name="T49" fmla="*/ 12 h 384"/>
                  <a:gd name="T50" fmla="*/ 5 w 385"/>
                  <a:gd name="T51" fmla="*/ 13 h 384"/>
                  <a:gd name="T52" fmla="*/ 6 w 385"/>
                  <a:gd name="T53" fmla="*/ 13 h 384"/>
                  <a:gd name="T54" fmla="*/ 6 w 385"/>
                  <a:gd name="T55" fmla="*/ 12 h 384"/>
                  <a:gd name="T56" fmla="*/ 7 w 385"/>
                  <a:gd name="T57" fmla="*/ 12 h 384"/>
                  <a:gd name="T58" fmla="*/ 8 w 385"/>
                  <a:gd name="T59" fmla="*/ 12 h 384"/>
                  <a:gd name="T60" fmla="*/ 8 w 385"/>
                  <a:gd name="T61" fmla="*/ 12 h 384"/>
                  <a:gd name="T62" fmla="*/ 9 w 385"/>
                  <a:gd name="T63" fmla="*/ 11 h 384"/>
                  <a:gd name="T64" fmla="*/ 10 w 385"/>
                  <a:gd name="T65" fmla="*/ 11 h 384"/>
                  <a:gd name="T66" fmla="*/ 10 w 385"/>
                  <a:gd name="T67" fmla="*/ 10 h 384"/>
                  <a:gd name="T68" fmla="*/ 11 w 385"/>
                  <a:gd name="T69" fmla="*/ 9 h 384"/>
                  <a:gd name="T70" fmla="*/ 11 w 385"/>
                  <a:gd name="T71" fmla="*/ 9 h 384"/>
                  <a:gd name="T72" fmla="*/ 11 w 385"/>
                  <a:gd name="T73" fmla="*/ 8 h 384"/>
                  <a:gd name="T74" fmla="*/ 11 w 385"/>
                  <a:gd name="T75" fmla="*/ 7 h 384"/>
                  <a:gd name="T76" fmla="*/ 11 w 385"/>
                  <a:gd name="T77" fmla="*/ 7 h 384"/>
                  <a:gd name="T78" fmla="*/ 11 w 385"/>
                  <a:gd name="T79" fmla="*/ 6 h 384"/>
                  <a:gd name="T80" fmla="*/ 11 w 385"/>
                  <a:gd name="T81" fmla="*/ 6 h 384"/>
                  <a:gd name="T82" fmla="*/ 11 w 385"/>
                  <a:gd name="T83" fmla="*/ 5 h 384"/>
                  <a:gd name="T84" fmla="*/ 11 w 385"/>
                  <a:gd name="T85" fmla="*/ 4 h 384"/>
                  <a:gd name="T86" fmla="*/ 11 w 385"/>
                  <a:gd name="T87" fmla="*/ 4 h 384"/>
                  <a:gd name="T88" fmla="*/ 10 w 385"/>
                  <a:gd name="T89" fmla="*/ 3 h 384"/>
                  <a:gd name="T90" fmla="*/ 10 w 385"/>
                  <a:gd name="T91" fmla="*/ 2 h 384"/>
                  <a:gd name="T92" fmla="*/ 9 w 385"/>
                  <a:gd name="T93" fmla="*/ 1 h 384"/>
                  <a:gd name="T94" fmla="*/ 8 w 385"/>
                  <a:gd name="T95" fmla="*/ 1 h 384"/>
                  <a:gd name="T96" fmla="*/ 8 w 385"/>
                  <a:gd name="T97" fmla="*/ 1 h 384"/>
                  <a:gd name="T98" fmla="*/ 7 w 385"/>
                  <a:gd name="T99" fmla="*/ 1 h 384"/>
                  <a:gd name="T100" fmla="*/ 6 w 385"/>
                  <a:gd name="T101" fmla="*/ 1 h 384"/>
                  <a:gd name="T102" fmla="*/ 6 w 385"/>
                  <a:gd name="T103" fmla="*/ 0 h 38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385"/>
                  <a:gd name="T157" fmla="*/ 0 h 384"/>
                  <a:gd name="T158" fmla="*/ 385 w 385"/>
                  <a:gd name="T159" fmla="*/ 384 h 38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385" h="384">
                    <a:moveTo>
                      <a:pt x="193" y="0"/>
                    </a:moveTo>
                    <a:lnTo>
                      <a:pt x="182" y="0"/>
                    </a:lnTo>
                    <a:lnTo>
                      <a:pt x="173" y="0"/>
                    </a:lnTo>
                    <a:lnTo>
                      <a:pt x="162" y="1"/>
                    </a:lnTo>
                    <a:lnTo>
                      <a:pt x="153" y="3"/>
                    </a:lnTo>
                    <a:lnTo>
                      <a:pt x="143" y="5"/>
                    </a:lnTo>
                    <a:lnTo>
                      <a:pt x="134" y="8"/>
                    </a:lnTo>
                    <a:lnTo>
                      <a:pt x="127" y="11"/>
                    </a:lnTo>
                    <a:lnTo>
                      <a:pt x="117" y="14"/>
                    </a:lnTo>
                    <a:lnTo>
                      <a:pt x="108" y="18"/>
                    </a:lnTo>
                    <a:lnTo>
                      <a:pt x="100" y="23"/>
                    </a:lnTo>
                    <a:lnTo>
                      <a:pt x="85" y="32"/>
                    </a:lnTo>
                    <a:lnTo>
                      <a:pt x="70" y="43"/>
                    </a:lnTo>
                    <a:lnTo>
                      <a:pt x="56" y="55"/>
                    </a:lnTo>
                    <a:lnTo>
                      <a:pt x="43" y="69"/>
                    </a:lnTo>
                    <a:lnTo>
                      <a:pt x="33" y="84"/>
                    </a:lnTo>
                    <a:lnTo>
                      <a:pt x="23" y="100"/>
                    </a:lnTo>
                    <a:lnTo>
                      <a:pt x="19" y="108"/>
                    </a:lnTo>
                    <a:lnTo>
                      <a:pt x="14" y="117"/>
                    </a:lnTo>
                    <a:lnTo>
                      <a:pt x="11" y="126"/>
                    </a:lnTo>
                    <a:lnTo>
                      <a:pt x="8" y="134"/>
                    </a:lnTo>
                    <a:lnTo>
                      <a:pt x="5" y="143"/>
                    </a:lnTo>
                    <a:lnTo>
                      <a:pt x="3" y="152"/>
                    </a:lnTo>
                    <a:lnTo>
                      <a:pt x="2" y="161"/>
                    </a:lnTo>
                    <a:lnTo>
                      <a:pt x="0" y="172"/>
                    </a:lnTo>
                    <a:lnTo>
                      <a:pt x="0" y="181"/>
                    </a:lnTo>
                    <a:lnTo>
                      <a:pt x="0" y="192"/>
                    </a:lnTo>
                    <a:lnTo>
                      <a:pt x="0" y="201"/>
                    </a:lnTo>
                    <a:lnTo>
                      <a:pt x="0" y="211"/>
                    </a:lnTo>
                    <a:lnTo>
                      <a:pt x="2" y="221"/>
                    </a:lnTo>
                    <a:lnTo>
                      <a:pt x="3" y="231"/>
                    </a:lnTo>
                    <a:lnTo>
                      <a:pt x="5" y="240"/>
                    </a:lnTo>
                    <a:lnTo>
                      <a:pt x="8" y="249"/>
                    </a:lnTo>
                    <a:lnTo>
                      <a:pt x="11" y="258"/>
                    </a:lnTo>
                    <a:lnTo>
                      <a:pt x="14" y="266"/>
                    </a:lnTo>
                    <a:lnTo>
                      <a:pt x="19" y="275"/>
                    </a:lnTo>
                    <a:lnTo>
                      <a:pt x="23" y="283"/>
                    </a:lnTo>
                    <a:lnTo>
                      <a:pt x="33" y="300"/>
                    </a:lnTo>
                    <a:lnTo>
                      <a:pt x="43" y="314"/>
                    </a:lnTo>
                    <a:lnTo>
                      <a:pt x="56" y="327"/>
                    </a:lnTo>
                    <a:lnTo>
                      <a:pt x="70" y="340"/>
                    </a:lnTo>
                    <a:lnTo>
                      <a:pt x="85" y="351"/>
                    </a:lnTo>
                    <a:lnTo>
                      <a:pt x="100" y="360"/>
                    </a:lnTo>
                    <a:lnTo>
                      <a:pt x="108" y="364"/>
                    </a:lnTo>
                    <a:lnTo>
                      <a:pt x="117" y="369"/>
                    </a:lnTo>
                    <a:lnTo>
                      <a:pt x="127" y="372"/>
                    </a:lnTo>
                    <a:lnTo>
                      <a:pt x="134" y="375"/>
                    </a:lnTo>
                    <a:lnTo>
                      <a:pt x="143" y="378"/>
                    </a:lnTo>
                    <a:lnTo>
                      <a:pt x="153" y="380"/>
                    </a:lnTo>
                    <a:lnTo>
                      <a:pt x="162" y="381"/>
                    </a:lnTo>
                    <a:lnTo>
                      <a:pt x="173" y="383"/>
                    </a:lnTo>
                    <a:lnTo>
                      <a:pt x="182" y="383"/>
                    </a:lnTo>
                    <a:lnTo>
                      <a:pt x="193" y="384"/>
                    </a:lnTo>
                    <a:lnTo>
                      <a:pt x="202" y="383"/>
                    </a:lnTo>
                    <a:lnTo>
                      <a:pt x="211" y="383"/>
                    </a:lnTo>
                    <a:lnTo>
                      <a:pt x="222" y="381"/>
                    </a:lnTo>
                    <a:lnTo>
                      <a:pt x="231" y="380"/>
                    </a:lnTo>
                    <a:lnTo>
                      <a:pt x="240" y="378"/>
                    </a:lnTo>
                    <a:lnTo>
                      <a:pt x="250" y="375"/>
                    </a:lnTo>
                    <a:lnTo>
                      <a:pt x="259" y="372"/>
                    </a:lnTo>
                    <a:lnTo>
                      <a:pt x="266" y="369"/>
                    </a:lnTo>
                    <a:lnTo>
                      <a:pt x="276" y="364"/>
                    </a:lnTo>
                    <a:lnTo>
                      <a:pt x="283" y="360"/>
                    </a:lnTo>
                    <a:lnTo>
                      <a:pt x="300" y="351"/>
                    </a:lnTo>
                    <a:lnTo>
                      <a:pt x="314" y="340"/>
                    </a:lnTo>
                    <a:lnTo>
                      <a:pt x="328" y="327"/>
                    </a:lnTo>
                    <a:lnTo>
                      <a:pt x="340" y="314"/>
                    </a:lnTo>
                    <a:lnTo>
                      <a:pt x="351" y="300"/>
                    </a:lnTo>
                    <a:lnTo>
                      <a:pt x="360" y="283"/>
                    </a:lnTo>
                    <a:lnTo>
                      <a:pt x="365" y="275"/>
                    </a:lnTo>
                    <a:lnTo>
                      <a:pt x="370" y="266"/>
                    </a:lnTo>
                    <a:lnTo>
                      <a:pt x="373" y="258"/>
                    </a:lnTo>
                    <a:lnTo>
                      <a:pt x="376" y="249"/>
                    </a:lnTo>
                    <a:lnTo>
                      <a:pt x="379" y="240"/>
                    </a:lnTo>
                    <a:lnTo>
                      <a:pt x="380" y="231"/>
                    </a:lnTo>
                    <a:lnTo>
                      <a:pt x="382" y="221"/>
                    </a:lnTo>
                    <a:lnTo>
                      <a:pt x="383" y="211"/>
                    </a:lnTo>
                    <a:lnTo>
                      <a:pt x="383" y="201"/>
                    </a:lnTo>
                    <a:lnTo>
                      <a:pt x="385" y="192"/>
                    </a:lnTo>
                    <a:lnTo>
                      <a:pt x="383" y="181"/>
                    </a:lnTo>
                    <a:lnTo>
                      <a:pt x="383" y="172"/>
                    </a:lnTo>
                    <a:lnTo>
                      <a:pt x="382" y="161"/>
                    </a:lnTo>
                    <a:lnTo>
                      <a:pt x="380" y="152"/>
                    </a:lnTo>
                    <a:lnTo>
                      <a:pt x="379" y="143"/>
                    </a:lnTo>
                    <a:lnTo>
                      <a:pt x="376" y="134"/>
                    </a:lnTo>
                    <a:lnTo>
                      <a:pt x="373" y="126"/>
                    </a:lnTo>
                    <a:lnTo>
                      <a:pt x="370" y="117"/>
                    </a:lnTo>
                    <a:lnTo>
                      <a:pt x="365" y="108"/>
                    </a:lnTo>
                    <a:lnTo>
                      <a:pt x="360" y="100"/>
                    </a:lnTo>
                    <a:lnTo>
                      <a:pt x="351" y="84"/>
                    </a:lnTo>
                    <a:lnTo>
                      <a:pt x="340" y="69"/>
                    </a:lnTo>
                    <a:lnTo>
                      <a:pt x="328" y="55"/>
                    </a:lnTo>
                    <a:lnTo>
                      <a:pt x="314" y="43"/>
                    </a:lnTo>
                    <a:lnTo>
                      <a:pt x="300" y="32"/>
                    </a:lnTo>
                    <a:lnTo>
                      <a:pt x="283" y="23"/>
                    </a:lnTo>
                    <a:lnTo>
                      <a:pt x="276" y="18"/>
                    </a:lnTo>
                    <a:lnTo>
                      <a:pt x="266" y="14"/>
                    </a:lnTo>
                    <a:lnTo>
                      <a:pt x="259" y="11"/>
                    </a:lnTo>
                    <a:lnTo>
                      <a:pt x="250" y="8"/>
                    </a:lnTo>
                    <a:lnTo>
                      <a:pt x="240" y="5"/>
                    </a:lnTo>
                    <a:lnTo>
                      <a:pt x="231" y="3"/>
                    </a:lnTo>
                    <a:lnTo>
                      <a:pt x="222" y="1"/>
                    </a:lnTo>
                    <a:lnTo>
                      <a:pt x="211" y="0"/>
                    </a:lnTo>
                    <a:lnTo>
                      <a:pt x="202" y="0"/>
                    </a:lnTo>
                    <a:lnTo>
                      <a:pt x="193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28" name="Rectangle 122"/>
              <p:cNvSpPr>
                <a:spLocks noChangeArrowheads="1"/>
              </p:cNvSpPr>
              <p:nvPr/>
            </p:nvSpPr>
            <p:spPr bwMode="auto">
              <a:xfrm>
                <a:off x="3945" y="2928"/>
                <a:ext cx="76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 sz="1900">
                    <a:solidFill>
                      <a:srgbClr val="000000"/>
                    </a:solidFill>
                    <a:latin typeface="Times New Roman" pitchFamily="18" charset="0"/>
                  </a:rPr>
                  <a:t>8</a:t>
                </a:r>
                <a:endParaRPr lang="en-GB" altLang="en-US"/>
              </a:p>
            </p:txBody>
          </p:sp>
        </p:grpSp>
        <p:sp>
          <p:nvSpPr>
            <p:cNvPr id="23626" name="Line 123"/>
            <p:cNvSpPr>
              <a:spLocks noChangeShapeType="1"/>
            </p:cNvSpPr>
            <p:nvPr/>
          </p:nvSpPr>
          <p:spPr bwMode="auto">
            <a:xfrm flipH="1">
              <a:off x="3886" y="2092"/>
              <a:ext cx="61" cy="1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562" name="Text Box 125"/>
          <p:cNvSpPr txBox="1">
            <a:spLocks noChangeArrowheads="1"/>
          </p:cNvSpPr>
          <p:nvPr/>
        </p:nvSpPr>
        <p:spPr bwMode="auto">
          <a:xfrm>
            <a:off x="5478463" y="3421063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2</a:t>
            </a:r>
          </a:p>
        </p:txBody>
      </p:sp>
      <p:sp>
        <p:nvSpPr>
          <p:cNvPr id="23563" name="Text Box 126"/>
          <p:cNvSpPr txBox="1">
            <a:spLocks noChangeArrowheads="1"/>
          </p:cNvSpPr>
          <p:nvPr/>
        </p:nvSpPr>
        <p:spPr bwMode="auto">
          <a:xfrm>
            <a:off x="5754688" y="294005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3</a:t>
            </a:r>
          </a:p>
        </p:txBody>
      </p:sp>
      <p:sp>
        <p:nvSpPr>
          <p:cNvPr id="23564" name="Text Box 127"/>
          <p:cNvSpPr txBox="1">
            <a:spLocks noChangeArrowheads="1"/>
          </p:cNvSpPr>
          <p:nvPr/>
        </p:nvSpPr>
        <p:spPr bwMode="auto">
          <a:xfrm>
            <a:off x="6046788" y="26304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omic Sans MS" pitchFamily="66" charset="0"/>
              </a:rPr>
              <a:t>k</a:t>
            </a:r>
            <a:r>
              <a:rPr lang="en-GB" altLang="en-US" baseline="-25000">
                <a:latin typeface="Comic Sans MS" pitchFamily="66" charset="0"/>
              </a:rPr>
              <a:t>1</a:t>
            </a:r>
          </a:p>
        </p:txBody>
      </p:sp>
      <p:sp>
        <p:nvSpPr>
          <p:cNvPr id="23565" name="Line 132"/>
          <p:cNvSpPr>
            <a:spLocks noChangeShapeType="1"/>
          </p:cNvSpPr>
          <p:nvPr/>
        </p:nvSpPr>
        <p:spPr bwMode="auto">
          <a:xfrm flipH="1">
            <a:off x="4287838" y="4162425"/>
            <a:ext cx="125412" cy="3000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6" name="Line 133"/>
          <p:cNvSpPr>
            <a:spLocks noChangeShapeType="1"/>
          </p:cNvSpPr>
          <p:nvPr/>
        </p:nvSpPr>
        <p:spPr bwMode="auto">
          <a:xfrm flipH="1" flipV="1">
            <a:off x="3533775" y="4240213"/>
            <a:ext cx="173038" cy="1968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Freeform 134"/>
          <p:cNvSpPr>
            <a:spLocks/>
          </p:cNvSpPr>
          <p:nvPr/>
        </p:nvSpPr>
        <p:spPr bwMode="auto">
          <a:xfrm>
            <a:off x="4070350" y="4419600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70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3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8" name="Rectangle 135"/>
          <p:cNvSpPr>
            <a:spLocks noChangeArrowheads="1"/>
          </p:cNvSpPr>
          <p:nvPr/>
        </p:nvSpPr>
        <p:spPr bwMode="auto">
          <a:xfrm>
            <a:off x="4121150" y="4435475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en-GB" altLang="en-US"/>
          </a:p>
        </p:txBody>
      </p:sp>
      <p:sp>
        <p:nvSpPr>
          <p:cNvPr id="23569" name="Line 136"/>
          <p:cNvSpPr>
            <a:spLocks noChangeShapeType="1"/>
          </p:cNvSpPr>
          <p:nvPr/>
        </p:nvSpPr>
        <p:spPr bwMode="auto">
          <a:xfrm flipV="1">
            <a:off x="3575050" y="3773488"/>
            <a:ext cx="196850" cy="18415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0" name="Line 137"/>
          <p:cNvSpPr>
            <a:spLocks noChangeShapeType="1"/>
          </p:cNvSpPr>
          <p:nvPr/>
        </p:nvSpPr>
        <p:spPr bwMode="auto">
          <a:xfrm>
            <a:off x="2971800" y="4746625"/>
            <a:ext cx="74613" cy="29051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71" name="Group 138"/>
          <p:cNvGrpSpPr>
            <a:grpSpLocks/>
          </p:cNvGrpSpPr>
          <p:nvPr/>
        </p:nvGrpSpPr>
        <p:grpSpPr bwMode="auto">
          <a:xfrm>
            <a:off x="2925763" y="5027613"/>
            <a:ext cx="304800" cy="306387"/>
            <a:chOff x="3106" y="3644"/>
            <a:chExt cx="192" cy="193"/>
          </a:xfrm>
        </p:grpSpPr>
        <p:sp>
          <p:nvSpPr>
            <p:cNvPr id="23622" name="Freeform 139"/>
            <p:cNvSpPr>
              <a:spLocks/>
            </p:cNvSpPr>
            <p:nvPr/>
          </p:nvSpPr>
          <p:spPr bwMode="auto">
            <a:xfrm>
              <a:off x="3106" y="3644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2" y="0"/>
                  </a:moveTo>
                  <a:lnTo>
                    <a:pt x="182" y="0"/>
                  </a:lnTo>
                  <a:lnTo>
                    <a:pt x="172" y="0"/>
                  </a:lnTo>
                  <a:lnTo>
                    <a:pt x="162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69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99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39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69" y="339"/>
                  </a:lnTo>
                  <a:lnTo>
                    <a:pt x="85" y="350"/>
                  </a:lnTo>
                  <a:lnTo>
                    <a:pt x="100" y="359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79"/>
                  </a:lnTo>
                  <a:lnTo>
                    <a:pt x="162" y="381"/>
                  </a:lnTo>
                  <a:lnTo>
                    <a:pt x="172" y="382"/>
                  </a:lnTo>
                  <a:lnTo>
                    <a:pt x="182" y="382"/>
                  </a:lnTo>
                  <a:lnTo>
                    <a:pt x="192" y="384"/>
                  </a:lnTo>
                  <a:lnTo>
                    <a:pt x="202" y="382"/>
                  </a:lnTo>
                  <a:lnTo>
                    <a:pt x="211" y="382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59"/>
                  </a:lnTo>
                  <a:lnTo>
                    <a:pt x="299" y="350"/>
                  </a:lnTo>
                  <a:lnTo>
                    <a:pt x="314" y="339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9" y="239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5" y="133"/>
                  </a:lnTo>
                  <a:lnTo>
                    <a:pt x="372" y="126"/>
                  </a:lnTo>
                  <a:lnTo>
                    <a:pt x="369" y="116"/>
                  </a:lnTo>
                  <a:lnTo>
                    <a:pt x="365" y="107"/>
                  </a:lnTo>
                  <a:lnTo>
                    <a:pt x="360" y="99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3"/>
                  </a:lnTo>
                  <a:lnTo>
                    <a:pt x="259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23" name="Rectangle 140"/>
            <p:cNvSpPr>
              <a:spLocks noChangeArrowheads="1"/>
            </p:cNvSpPr>
            <p:nvPr/>
          </p:nvSpPr>
          <p:spPr bwMode="auto">
            <a:xfrm>
              <a:off x="3168" y="364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GB" altLang="en-US"/>
            </a:p>
          </p:txBody>
        </p:sp>
      </p:grpSp>
      <p:sp>
        <p:nvSpPr>
          <p:cNvPr id="23572" name="Freeform 141"/>
          <p:cNvSpPr>
            <a:spLocks/>
          </p:cNvSpPr>
          <p:nvPr/>
        </p:nvSpPr>
        <p:spPr bwMode="auto">
          <a:xfrm>
            <a:off x="4900613" y="4211638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3" name="Freeform 142"/>
          <p:cNvSpPr>
            <a:spLocks/>
          </p:cNvSpPr>
          <p:nvPr/>
        </p:nvSpPr>
        <p:spPr bwMode="auto">
          <a:xfrm>
            <a:off x="4332288" y="3897313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4" name="Line 143"/>
          <p:cNvSpPr>
            <a:spLocks noChangeShapeType="1"/>
          </p:cNvSpPr>
          <p:nvPr/>
        </p:nvSpPr>
        <p:spPr bwMode="auto">
          <a:xfrm>
            <a:off x="4021138" y="3760788"/>
            <a:ext cx="333375" cy="19843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5" name="Line 144"/>
          <p:cNvSpPr>
            <a:spLocks noChangeShapeType="1"/>
          </p:cNvSpPr>
          <p:nvPr/>
        </p:nvSpPr>
        <p:spPr bwMode="auto">
          <a:xfrm>
            <a:off x="4622800" y="4117975"/>
            <a:ext cx="298450" cy="17780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Rectangle 145"/>
          <p:cNvSpPr>
            <a:spLocks noChangeArrowheads="1"/>
          </p:cNvSpPr>
          <p:nvPr/>
        </p:nvSpPr>
        <p:spPr bwMode="auto">
          <a:xfrm>
            <a:off x="4340225" y="3913188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12</a:t>
            </a:r>
            <a:endParaRPr lang="en-GB" altLang="en-US"/>
          </a:p>
        </p:txBody>
      </p:sp>
      <p:sp>
        <p:nvSpPr>
          <p:cNvPr id="23577" name="Rectangle 146"/>
          <p:cNvSpPr>
            <a:spLocks noChangeArrowheads="1"/>
          </p:cNvSpPr>
          <p:nvPr/>
        </p:nvSpPr>
        <p:spPr bwMode="auto">
          <a:xfrm>
            <a:off x="4926013" y="4214813"/>
            <a:ext cx="2413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en-GB" altLang="en-US"/>
          </a:p>
        </p:txBody>
      </p:sp>
      <p:sp>
        <p:nvSpPr>
          <p:cNvPr id="23578" name="Freeform 147"/>
          <p:cNvSpPr>
            <a:spLocks/>
          </p:cNvSpPr>
          <p:nvPr/>
        </p:nvSpPr>
        <p:spPr bwMode="auto">
          <a:xfrm>
            <a:off x="3733800" y="3505200"/>
            <a:ext cx="304800" cy="304800"/>
          </a:xfrm>
          <a:custGeom>
            <a:avLst/>
            <a:gdLst>
              <a:gd name="T0" fmla="*/ 2147483647 w 384"/>
              <a:gd name="T1" fmla="*/ 2147483647 h 384"/>
              <a:gd name="T2" fmla="*/ 2147483647 w 384"/>
              <a:gd name="T3" fmla="*/ 2147483647 h 384"/>
              <a:gd name="T4" fmla="*/ 2147483647 w 384"/>
              <a:gd name="T5" fmla="*/ 2147483647 h 384"/>
              <a:gd name="T6" fmla="*/ 2147483647 w 384"/>
              <a:gd name="T7" fmla="*/ 2147483647 h 384"/>
              <a:gd name="T8" fmla="*/ 2147483647 w 384"/>
              <a:gd name="T9" fmla="*/ 2147483647 h 384"/>
              <a:gd name="T10" fmla="*/ 2147483647 w 384"/>
              <a:gd name="T11" fmla="*/ 2147483647 h 384"/>
              <a:gd name="T12" fmla="*/ 2147483647 w 384"/>
              <a:gd name="T13" fmla="*/ 2147483647 h 384"/>
              <a:gd name="T14" fmla="*/ 2147483647 w 384"/>
              <a:gd name="T15" fmla="*/ 2147483647 h 384"/>
              <a:gd name="T16" fmla="*/ 2147483647 w 384"/>
              <a:gd name="T17" fmla="*/ 2147483647 h 384"/>
              <a:gd name="T18" fmla="*/ 2147483647 w 384"/>
              <a:gd name="T19" fmla="*/ 2147483647 h 384"/>
              <a:gd name="T20" fmla="*/ 2147483647 w 384"/>
              <a:gd name="T21" fmla="*/ 2147483647 h 384"/>
              <a:gd name="T22" fmla="*/ 2147483647 w 384"/>
              <a:gd name="T23" fmla="*/ 2147483647 h 384"/>
              <a:gd name="T24" fmla="*/ 0 w 384"/>
              <a:gd name="T25" fmla="*/ 2147483647 h 384"/>
              <a:gd name="T26" fmla="*/ 0 w 384"/>
              <a:gd name="T27" fmla="*/ 2147483647 h 384"/>
              <a:gd name="T28" fmla="*/ 2147483647 w 384"/>
              <a:gd name="T29" fmla="*/ 2147483647 h 384"/>
              <a:gd name="T30" fmla="*/ 2147483647 w 384"/>
              <a:gd name="T31" fmla="*/ 2147483647 h 384"/>
              <a:gd name="T32" fmla="*/ 2147483647 w 384"/>
              <a:gd name="T33" fmla="*/ 2147483647 h 384"/>
              <a:gd name="T34" fmla="*/ 2147483647 w 384"/>
              <a:gd name="T35" fmla="*/ 2147483647 h 384"/>
              <a:gd name="T36" fmla="*/ 2147483647 w 384"/>
              <a:gd name="T37" fmla="*/ 2147483647 h 384"/>
              <a:gd name="T38" fmla="*/ 2147483647 w 384"/>
              <a:gd name="T39" fmla="*/ 2147483647 h 384"/>
              <a:gd name="T40" fmla="*/ 2147483647 w 384"/>
              <a:gd name="T41" fmla="*/ 2147483647 h 384"/>
              <a:gd name="T42" fmla="*/ 2147483647 w 384"/>
              <a:gd name="T43" fmla="*/ 2147483647 h 384"/>
              <a:gd name="T44" fmla="*/ 2147483647 w 384"/>
              <a:gd name="T45" fmla="*/ 2147483647 h 384"/>
              <a:gd name="T46" fmla="*/ 2147483647 w 384"/>
              <a:gd name="T47" fmla="*/ 2147483647 h 384"/>
              <a:gd name="T48" fmla="*/ 2147483647 w 384"/>
              <a:gd name="T49" fmla="*/ 2147483647 h 384"/>
              <a:gd name="T50" fmla="*/ 2147483647 w 384"/>
              <a:gd name="T51" fmla="*/ 2147483647 h 384"/>
              <a:gd name="T52" fmla="*/ 2147483647 w 384"/>
              <a:gd name="T53" fmla="*/ 2147483647 h 384"/>
              <a:gd name="T54" fmla="*/ 2147483647 w 384"/>
              <a:gd name="T55" fmla="*/ 2147483647 h 384"/>
              <a:gd name="T56" fmla="*/ 2147483647 w 384"/>
              <a:gd name="T57" fmla="*/ 2147483647 h 384"/>
              <a:gd name="T58" fmla="*/ 2147483647 w 384"/>
              <a:gd name="T59" fmla="*/ 2147483647 h 384"/>
              <a:gd name="T60" fmla="*/ 2147483647 w 384"/>
              <a:gd name="T61" fmla="*/ 2147483647 h 384"/>
              <a:gd name="T62" fmla="*/ 2147483647 w 384"/>
              <a:gd name="T63" fmla="*/ 2147483647 h 384"/>
              <a:gd name="T64" fmla="*/ 2147483647 w 384"/>
              <a:gd name="T65" fmla="*/ 2147483647 h 384"/>
              <a:gd name="T66" fmla="*/ 2147483647 w 384"/>
              <a:gd name="T67" fmla="*/ 2147483647 h 384"/>
              <a:gd name="T68" fmla="*/ 2147483647 w 384"/>
              <a:gd name="T69" fmla="*/ 2147483647 h 384"/>
              <a:gd name="T70" fmla="*/ 2147483647 w 384"/>
              <a:gd name="T71" fmla="*/ 2147483647 h 384"/>
              <a:gd name="T72" fmla="*/ 2147483647 w 384"/>
              <a:gd name="T73" fmla="*/ 2147483647 h 384"/>
              <a:gd name="T74" fmla="*/ 2147483647 w 384"/>
              <a:gd name="T75" fmla="*/ 2147483647 h 384"/>
              <a:gd name="T76" fmla="*/ 2147483647 w 384"/>
              <a:gd name="T77" fmla="*/ 2147483647 h 384"/>
              <a:gd name="T78" fmla="*/ 2147483647 w 384"/>
              <a:gd name="T79" fmla="*/ 2147483647 h 384"/>
              <a:gd name="T80" fmla="*/ 2147483647 w 384"/>
              <a:gd name="T81" fmla="*/ 2147483647 h 384"/>
              <a:gd name="T82" fmla="*/ 2147483647 w 384"/>
              <a:gd name="T83" fmla="*/ 2147483647 h 384"/>
              <a:gd name="T84" fmla="*/ 2147483647 w 384"/>
              <a:gd name="T85" fmla="*/ 2147483647 h 384"/>
              <a:gd name="T86" fmla="*/ 2147483647 w 384"/>
              <a:gd name="T87" fmla="*/ 2147483647 h 384"/>
              <a:gd name="T88" fmla="*/ 2147483647 w 384"/>
              <a:gd name="T89" fmla="*/ 2147483647 h 384"/>
              <a:gd name="T90" fmla="*/ 2147483647 w 384"/>
              <a:gd name="T91" fmla="*/ 2147483647 h 384"/>
              <a:gd name="T92" fmla="*/ 2147483647 w 384"/>
              <a:gd name="T93" fmla="*/ 2147483647 h 384"/>
              <a:gd name="T94" fmla="*/ 2147483647 w 384"/>
              <a:gd name="T95" fmla="*/ 2147483647 h 384"/>
              <a:gd name="T96" fmla="*/ 2147483647 w 384"/>
              <a:gd name="T97" fmla="*/ 2147483647 h 384"/>
              <a:gd name="T98" fmla="*/ 2147483647 w 384"/>
              <a:gd name="T99" fmla="*/ 2147483647 h 384"/>
              <a:gd name="T100" fmla="*/ 2147483647 w 384"/>
              <a:gd name="T101" fmla="*/ 2147483647 h 384"/>
              <a:gd name="T102" fmla="*/ 2147483647 w 384"/>
              <a:gd name="T103" fmla="*/ 2147483647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4"/>
              <a:gd name="T158" fmla="*/ 384 w 384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4">
                <a:moveTo>
                  <a:pt x="192" y="0"/>
                </a:moveTo>
                <a:lnTo>
                  <a:pt x="181" y="1"/>
                </a:lnTo>
                <a:lnTo>
                  <a:pt x="172" y="1"/>
                </a:lnTo>
                <a:lnTo>
                  <a:pt x="161" y="3"/>
                </a:lnTo>
                <a:lnTo>
                  <a:pt x="152" y="4"/>
                </a:lnTo>
                <a:lnTo>
                  <a:pt x="143" y="6"/>
                </a:lnTo>
                <a:lnTo>
                  <a:pt x="134" y="9"/>
                </a:lnTo>
                <a:lnTo>
                  <a:pt x="126" y="12"/>
                </a:lnTo>
                <a:lnTo>
                  <a:pt x="117" y="15"/>
                </a:lnTo>
                <a:lnTo>
                  <a:pt x="108" y="20"/>
                </a:lnTo>
                <a:lnTo>
                  <a:pt x="100" y="23"/>
                </a:lnTo>
                <a:lnTo>
                  <a:pt x="85" y="34"/>
                </a:lnTo>
                <a:lnTo>
                  <a:pt x="69" y="44"/>
                </a:lnTo>
                <a:lnTo>
                  <a:pt x="55" y="57"/>
                </a:lnTo>
                <a:lnTo>
                  <a:pt x="43" y="71"/>
                </a:lnTo>
                <a:lnTo>
                  <a:pt x="32" y="86"/>
                </a:lnTo>
                <a:lnTo>
                  <a:pt x="23" y="101"/>
                </a:lnTo>
                <a:lnTo>
                  <a:pt x="18" y="109"/>
                </a:lnTo>
                <a:lnTo>
                  <a:pt x="14" y="118"/>
                </a:lnTo>
                <a:lnTo>
                  <a:pt x="11" y="126"/>
                </a:lnTo>
                <a:lnTo>
                  <a:pt x="8" y="135"/>
                </a:lnTo>
                <a:lnTo>
                  <a:pt x="5" y="144"/>
                </a:lnTo>
                <a:lnTo>
                  <a:pt x="3" y="154"/>
                </a:lnTo>
                <a:lnTo>
                  <a:pt x="1" y="163"/>
                </a:lnTo>
                <a:lnTo>
                  <a:pt x="0" y="174"/>
                </a:lnTo>
                <a:lnTo>
                  <a:pt x="0" y="183"/>
                </a:lnTo>
                <a:lnTo>
                  <a:pt x="0" y="192"/>
                </a:lnTo>
                <a:lnTo>
                  <a:pt x="0" y="203"/>
                </a:lnTo>
                <a:lnTo>
                  <a:pt x="0" y="212"/>
                </a:lnTo>
                <a:lnTo>
                  <a:pt x="1" y="221"/>
                </a:lnTo>
                <a:lnTo>
                  <a:pt x="3" y="232"/>
                </a:lnTo>
                <a:lnTo>
                  <a:pt x="5" y="241"/>
                </a:lnTo>
                <a:lnTo>
                  <a:pt x="8" y="251"/>
                </a:lnTo>
                <a:lnTo>
                  <a:pt x="11" y="258"/>
                </a:lnTo>
                <a:lnTo>
                  <a:pt x="14" y="267"/>
                </a:lnTo>
                <a:lnTo>
                  <a:pt x="18" y="277"/>
                </a:lnTo>
                <a:lnTo>
                  <a:pt x="23" y="284"/>
                </a:lnTo>
                <a:lnTo>
                  <a:pt x="32" y="300"/>
                </a:lnTo>
                <a:lnTo>
                  <a:pt x="43" y="315"/>
                </a:lnTo>
                <a:lnTo>
                  <a:pt x="55" y="329"/>
                </a:lnTo>
                <a:lnTo>
                  <a:pt x="69" y="341"/>
                </a:lnTo>
                <a:lnTo>
                  <a:pt x="85" y="352"/>
                </a:lnTo>
                <a:lnTo>
                  <a:pt x="100" y="361"/>
                </a:lnTo>
                <a:lnTo>
                  <a:pt x="108" y="366"/>
                </a:lnTo>
                <a:lnTo>
                  <a:pt x="117" y="370"/>
                </a:lnTo>
                <a:lnTo>
                  <a:pt x="126" y="374"/>
                </a:lnTo>
                <a:lnTo>
                  <a:pt x="134" y="377"/>
                </a:lnTo>
                <a:lnTo>
                  <a:pt x="143" y="378"/>
                </a:lnTo>
                <a:lnTo>
                  <a:pt x="152" y="381"/>
                </a:lnTo>
                <a:lnTo>
                  <a:pt x="161" y="383"/>
                </a:lnTo>
                <a:lnTo>
                  <a:pt x="172" y="384"/>
                </a:lnTo>
                <a:lnTo>
                  <a:pt x="181" y="384"/>
                </a:lnTo>
                <a:lnTo>
                  <a:pt x="192" y="384"/>
                </a:lnTo>
                <a:lnTo>
                  <a:pt x="201" y="384"/>
                </a:lnTo>
                <a:lnTo>
                  <a:pt x="211" y="384"/>
                </a:lnTo>
                <a:lnTo>
                  <a:pt x="221" y="383"/>
                </a:lnTo>
                <a:lnTo>
                  <a:pt x="231" y="381"/>
                </a:lnTo>
                <a:lnTo>
                  <a:pt x="240" y="378"/>
                </a:lnTo>
                <a:lnTo>
                  <a:pt x="249" y="377"/>
                </a:lnTo>
                <a:lnTo>
                  <a:pt x="257" y="374"/>
                </a:lnTo>
                <a:lnTo>
                  <a:pt x="266" y="370"/>
                </a:lnTo>
                <a:lnTo>
                  <a:pt x="275" y="366"/>
                </a:lnTo>
                <a:lnTo>
                  <a:pt x="283" y="361"/>
                </a:lnTo>
                <a:lnTo>
                  <a:pt x="298" y="352"/>
                </a:lnTo>
                <a:lnTo>
                  <a:pt x="314" y="341"/>
                </a:lnTo>
                <a:lnTo>
                  <a:pt x="328" y="329"/>
                </a:lnTo>
                <a:lnTo>
                  <a:pt x="340" y="315"/>
                </a:lnTo>
                <a:lnTo>
                  <a:pt x="351" y="300"/>
                </a:lnTo>
                <a:lnTo>
                  <a:pt x="360" y="284"/>
                </a:lnTo>
                <a:lnTo>
                  <a:pt x="364" y="277"/>
                </a:lnTo>
                <a:lnTo>
                  <a:pt x="369" y="267"/>
                </a:lnTo>
                <a:lnTo>
                  <a:pt x="372" y="258"/>
                </a:lnTo>
                <a:lnTo>
                  <a:pt x="375" y="251"/>
                </a:lnTo>
                <a:lnTo>
                  <a:pt x="378" y="241"/>
                </a:lnTo>
                <a:lnTo>
                  <a:pt x="380" y="232"/>
                </a:lnTo>
                <a:lnTo>
                  <a:pt x="381" y="221"/>
                </a:lnTo>
                <a:lnTo>
                  <a:pt x="383" y="212"/>
                </a:lnTo>
                <a:lnTo>
                  <a:pt x="383" y="203"/>
                </a:lnTo>
                <a:lnTo>
                  <a:pt x="384" y="192"/>
                </a:lnTo>
                <a:lnTo>
                  <a:pt x="383" y="183"/>
                </a:lnTo>
                <a:lnTo>
                  <a:pt x="383" y="174"/>
                </a:lnTo>
                <a:lnTo>
                  <a:pt x="381" y="163"/>
                </a:lnTo>
                <a:lnTo>
                  <a:pt x="380" y="154"/>
                </a:lnTo>
                <a:lnTo>
                  <a:pt x="378" y="144"/>
                </a:lnTo>
                <a:lnTo>
                  <a:pt x="375" y="135"/>
                </a:lnTo>
                <a:lnTo>
                  <a:pt x="372" y="126"/>
                </a:lnTo>
                <a:lnTo>
                  <a:pt x="369" y="118"/>
                </a:lnTo>
                <a:lnTo>
                  <a:pt x="364" y="109"/>
                </a:lnTo>
                <a:lnTo>
                  <a:pt x="360" y="101"/>
                </a:lnTo>
                <a:lnTo>
                  <a:pt x="351" y="86"/>
                </a:lnTo>
                <a:lnTo>
                  <a:pt x="340" y="71"/>
                </a:lnTo>
                <a:lnTo>
                  <a:pt x="328" y="57"/>
                </a:lnTo>
                <a:lnTo>
                  <a:pt x="314" y="44"/>
                </a:lnTo>
                <a:lnTo>
                  <a:pt x="298" y="34"/>
                </a:lnTo>
                <a:lnTo>
                  <a:pt x="283" y="23"/>
                </a:lnTo>
                <a:lnTo>
                  <a:pt x="275" y="20"/>
                </a:lnTo>
                <a:lnTo>
                  <a:pt x="266" y="15"/>
                </a:lnTo>
                <a:lnTo>
                  <a:pt x="257" y="12"/>
                </a:lnTo>
                <a:lnTo>
                  <a:pt x="249" y="9"/>
                </a:lnTo>
                <a:lnTo>
                  <a:pt x="240" y="6"/>
                </a:lnTo>
                <a:lnTo>
                  <a:pt x="231" y="4"/>
                </a:lnTo>
                <a:lnTo>
                  <a:pt x="221" y="3"/>
                </a:lnTo>
                <a:lnTo>
                  <a:pt x="211" y="1"/>
                </a:lnTo>
                <a:lnTo>
                  <a:pt x="201" y="1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Rectangle 148"/>
          <p:cNvSpPr>
            <a:spLocks noChangeArrowheads="1"/>
          </p:cNvSpPr>
          <p:nvPr/>
        </p:nvSpPr>
        <p:spPr bwMode="auto">
          <a:xfrm>
            <a:off x="3833813" y="352266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7</a:t>
            </a:r>
            <a:endParaRPr lang="en-GB" altLang="en-US"/>
          </a:p>
        </p:txBody>
      </p:sp>
      <p:sp>
        <p:nvSpPr>
          <p:cNvPr id="23580" name="Rectangle 149"/>
          <p:cNvSpPr>
            <a:spLocks noChangeArrowheads="1"/>
          </p:cNvSpPr>
          <p:nvPr/>
        </p:nvSpPr>
        <p:spPr bwMode="auto">
          <a:xfrm>
            <a:off x="2935288" y="446405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en-GB" altLang="en-US"/>
          </a:p>
        </p:txBody>
      </p:sp>
      <p:sp>
        <p:nvSpPr>
          <p:cNvPr id="23581" name="Line 150"/>
          <p:cNvSpPr>
            <a:spLocks noChangeShapeType="1"/>
          </p:cNvSpPr>
          <p:nvPr/>
        </p:nvSpPr>
        <p:spPr bwMode="auto">
          <a:xfrm flipV="1">
            <a:off x="2605088" y="4746625"/>
            <a:ext cx="195262" cy="185738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Freeform 151"/>
          <p:cNvSpPr>
            <a:spLocks/>
          </p:cNvSpPr>
          <p:nvPr/>
        </p:nvSpPr>
        <p:spPr bwMode="auto">
          <a:xfrm>
            <a:off x="2362200" y="4930775"/>
            <a:ext cx="304800" cy="304800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4"/>
                </a:lnTo>
                <a:lnTo>
                  <a:pt x="134" y="7"/>
                </a:lnTo>
                <a:lnTo>
                  <a:pt x="126" y="10"/>
                </a:lnTo>
                <a:lnTo>
                  <a:pt x="117" y="13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69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7"/>
                </a:lnTo>
                <a:lnTo>
                  <a:pt x="14" y="116"/>
                </a:lnTo>
                <a:lnTo>
                  <a:pt x="11" y="126"/>
                </a:lnTo>
                <a:lnTo>
                  <a:pt x="8" y="133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0"/>
                </a:lnTo>
                <a:lnTo>
                  <a:pt x="2" y="221"/>
                </a:lnTo>
                <a:lnTo>
                  <a:pt x="3" y="230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298"/>
                </a:lnTo>
                <a:lnTo>
                  <a:pt x="43" y="313"/>
                </a:lnTo>
                <a:lnTo>
                  <a:pt x="56" y="327"/>
                </a:lnTo>
                <a:lnTo>
                  <a:pt x="69" y="340"/>
                </a:lnTo>
                <a:lnTo>
                  <a:pt x="85" y="350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79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79"/>
                </a:lnTo>
                <a:lnTo>
                  <a:pt x="240" y="378"/>
                </a:lnTo>
                <a:lnTo>
                  <a:pt x="249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299" y="350"/>
                </a:lnTo>
                <a:lnTo>
                  <a:pt x="314" y="340"/>
                </a:lnTo>
                <a:lnTo>
                  <a:pt x="328" y="327"/>
                </a:lnTo>
                <a:lnTo>
                  <a:pt x="340" y="313"/>
                </a:lnTo>
                <a:lnTo>
                  <a:pt x="351" y="298"/>
                </a:lnTo>
                <a:lnTo>
                  <a:pt x="360" y="283"/>
                </a:lnTo>
                <a:lnTo>
                  <a:pt x="365" y="275"/>
                </a:lnTo>
                <a:lnTo>
                  <a:pt x="369" y="266"/>
                </a:lnTo>
                <a:lnTo>
                  <a:pt x="372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0"/>
                </a:lnTo>
                <a:lnTo>
                  <a:pt x="382" y="221"/>
                </a:lnTo>
                <a:lnTo>
                  <a:pt x="383" y="210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3"/>
                </a:lnTo>
                <a:lnTo>
                  <a:pt x="372" y="126"/>
                </a:lnTo>
                <a:lnTo>
                  <a:pt x="369" y="116"/>
                </a:lnTo>
                <a:lnTo>
                  <a:pt x="365" y="107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299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3"/>
                </a:lnTo>
                <a:lnTo>
                  <a:pt x="259" y="10"/>
                </a:lnTo>
                <a:lnTo>
                  <a:pt x="249" y="7"/>
                </a:lnTo>
                <a:lnTo>
                  <a:pt x="240" y="4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Rectangle 152"/>
          <p:cNvSpPr>
            <a:spLocks noChangeArrowheads="1"/>
          </p:cNvSpPr>
          <p:nvPr/>
        </p:nvSpPr>
        <p:spPr bwMode="auto">
          <a:xfrm>
            <a:off x="2508250" y="4953000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GB" altLang="en-US"/>
          </a:p>
        </p:txBody>
      </p:sp>
      <p:sp>
        <p:nvSpPr>
          <p:cNvPr id="23584" name="Freeform 153"/>
          <p:cNvSpPr>
            <a:spLocks/>
          </p:cNvSpPr>
          <p:nvPr/>
        </p:nvSpPr>
        <p:spPr bwMode="auto">
          <a:xfrm>
            <a:off x="3338513" y="3954463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4" y="8"/>
                </a:lnTo>
                <a:lnTo>
                  <a:pt x="126" y="11"/>
                </a:lnTo>
                <a:lnTo>
                  <a:pt x="117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69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4" y="117"/>
                </a:lnTo>
                <a:lnTo>
                  <a:pt x="11" y="126"/>
                </a:lnTo>
                <a:lnTo>
                  <a:pt x="7" y="134"/>
                </a:lnTo>
                <a:lnTo>
                  <a:pt x="4" y="143"/>
                </a:lnTo>
                <a:lnTo>
                  <a:pt x="3" y="152"/>
                </a:lnTo>
                <a:lnTo>
                  <a:pt x="1" y="162"/>
                </a:lnTo>
                <a:lnTo>
                  <a:pt x="0" y="172"/>
                </a:lnTo>
                <a:lnTo>
                  <a:pt x="0" y="182"/>
                </a:lnTo>
                <a:lnTo>
                  <a:pt x="0" y="192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49"/>
                </a:lnTo>
                <a:lnTo>
                  <a:pt x="11" y="259"/>
                </a:lnTo>
                <a:lnTo>
                  <a:pt x="14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7" y="369"/>
                </a:lnTo>
                <a:lnTo>
                  <a:pt x="126" y="372"/>
                </a:lnTo>
                <a:lnTo>
                  <a:pt x="134" y="375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5"/>
                </a:lnTo>
                <a:lnTo>
                  <a:pt x="258" y="372"/>
                </a:lnTo>
                <a:lnTo>
                  <a:pt x="266" y="369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4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49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2"/>
                </a:lnTo>
                <a:lnTo>
                  <a:pt x="383" y="182"/>
                </a:lnTo>
                <a:lnTo>
                  <a:pt x="383" y="172"/>
                </a:lnTo>
                <a:lnTo>
                  <a:pt x="381" y="162"/>
                </a:lnTo>
                <a:lnTo>
                  <a:pt x="380" y="152"/>
                </a:lnTo>
                <a:lnTo>
                  <a:pt x="378" y="143"/>
                </a:lnTo>
                <a:lnTo>
                  <a:pt x="375" y="134"/>
                </a:lnTo>
                <a:lnTo>
                  <a:pt x="372" y="126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69"/>
                </a:lnTo>
                <a:lnTo>
                  <a:pt x="327" y="56"/>
                </a:lnTo>
                <a:lnTo>
                  <a:pt x="314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Rectangle 154"/>
          <p:cNvSpPr>
            <a:spLocks noChangeArrowheads="1"/>
          </p:cNvSpPr>
          <p:nvPr/>
        </p:nvSpPr>
        <p:spPr bwMode="auto">
          <a:xfrm>
            <a:off x="3484563" y="3976688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en-GB" altLang="en-US"/>
          </a:p>
        </p:txBody>
      </p:sp>
      <p:sp>
        <p:nvSpPr>
          <p:cNvPr id="23586" name="Line 155"/>
          <p:cNvSpPr>
            <a:spLocks noChangeShapeType="1"/>
          </p:cNvSpPr>
          <p:nvPr/>
        </p:nvSpPr>
        <p:spPr bwMode="auto">
          <a:xfrm flipH="1">
            <a:off x="3051175" y="4197350"/>
            <a:ext cx="287338" cy="301625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Freeform 156"/>
          <p:cNvSpPr>
            <a:spLocks/>
          </p:cNvSpPr>
          <p:nvPr/>
        </p:nvSpPr>
        <p:spPr bwMode="auto">
          <a:xfrm>
            <a:off x="2789238" y="4441825"/>
            <a:ext cx="304800" cy="304800"/>
          </a:xfrm>
          <a:custGeom>
            <a:avLst/>
            <a:gdLst>
              <a:gd name="T0" fmla="*/ 2147483647 w 384"/>
              <a:gd name="T1" fmla="*/ 0 h 385"/>
              <a:gd name="T2" fmla="*/ 2147483647 w 384"/>
              <a:gd name="T3" fmla="*/ 2147483647 h 385"/>
              <a:gd name="T4" fmla="*/ 2147483647 w 384"/>
              <a:gd name="T5" fmla="*/ 2147483647 h 385"/>
              <a:gd name="T6" fmla="*/ 2147483647 w 384"/>
              <a:gd name="T7" fmla="*/ 2147483647 h 385"/>
              <a:gd name="T8" fmla="*/ 2147483647 w 384"/>
              <a:gd name="T9" fmla="*/ 2147483647 h 385"/>
              <a:gd name="T10" fmla="*/ 2147483647 w 384"/>
              <a:gd name="T11" fmla="*/ 2147483647 h 385"/>
              <a:gd name="T12" fmla="*/ 2147483647 w 384"/>
              <a:gd name="T13" fmla="*/ 2147483647 h 385"/>
              <a:gd name="T14" fmla="*/ 2147483647 w 384"/>
              <a:gd name="T15" fmla="*/ 2147483647 h 385"/>
              <a:gd name="T16" fmla="*/ 2147483647 w 384"/>
              <a:gd name="T17" fmla="*/ 2147483647 h 385"/>
              <a:gd name="T18" fmla="*/ 2147483647 w 384"/>
              <a:gd name="T19" fmla="*/ 2147483647 h 385"/>
              <a:gd name="T20" fmla="*/ 2147483647 w 384"/>
              <a:gd name="T21" fmla="*/ 2147483647 h 385"/>
              <a:gd name="T22" fmla="*/ 2147483647 w 384"/>
              <a:gd name="T23" fmla="*/ 2147483647 h 385"/>
              <a:gd name="T24" fmla="*/ 0 w 384"/>
              <a:gd name="T25" fmla="*/ 2147483647 h 385"/>
              <a:gd name="T26" fmla="*/ 0 w 384"/>
              <a:gd name="T27" fmla="*/ 2147483647 h 385"/>
              <a:gd name="T28" fmla="*/ 2147483647 w 384"/>
              <a:gd name="T29" fmla="*/ 2147483647 h 385"/>
              <a:gd name="T30" fmla="*/ 2147483647 w 384"/>
              <a:gd name="T31" fmla="*/ 2147483647 h 385"/>
              <a:gd name="T32" fmla="*/ 2147483647 w 384"/>
              <a:gd name="T33" fmla="*/ 2147483647 h 385"/>
              <a:gd name="T34" fmla="*/ 2147483647 w 384"/>
              <a:gd name="T35" fmla="*/ 2147483647 h 385"/>
              <a:gd name="T36" fmla="*/ 2147483647 w 384"/>
              <a:gd name="T37" fmla="*/ 2147483647 h 385"/>
              <a:gd name="T38" fmla="*/ 2147483647 w 384"/>
              <a:gd name="T39" fmla="*/ 2147483647 h 385"/>
              <a:gd name="T40" fmla="*/ 2147483647 w 384"/>
              <a:gd name="T41" fmla="*/ 2147483647 h 385"/>
              <a:gd name="T42" fmla="*/ 2147483647 w 384"/>
              <a:gd name="T43" fmla="*/ 2147483647 h 385"/>
              <a:gd name="T44" fmla="*/ 2147483647 w 384"/>
              <a:gd name="T45" fmla="*/ 2147483647 h 385"/>
              <a:gd name="T46" fmla="*/ 2147483647 w 384"/>
              <a:gd name="T47" fmla="*/ 2147483647 h 385"/>
              <a:gd name="T48" fmla="*/ 2147483647 w 384"/>
              <a:gd name="T49" fmla="*/ 2147483647 h 385"/>
              <a:gd name="T50" fmla="*/ 2147483647 w 384"/>
              <a:gd name="T51" fmla="*/ 2147483647 h 385"/>
              <a:gd name="T52" fmla="*/ 2147483647 w 384"/>
              <a:gd name="T53" fmla="*/ 2147483647 h 385"/>
              <a:gd name="T54" fmla="*/ 2147483647 w 384"/>
              <a:gd name="T55" fmla="*/ 2147483647 h 385"/>
              <a:gd name="T56" fmla="*/ 2147483647 w 384"/>
              <a:gd name="T57" fmla="*/ 2147483647 h 385"/>
              <a:gd name="T58" fmla="*/ 2147483647 w 384"/>
              <a:gd name="T59" fmla="*/ 2147483647 h 385"/>
              <a:gd name="T60" fmla="*/ 2147483647 w 384"/>
              <a:gd name="T61" fmla="*/ 2147483647 h 385"/>
              <a:gd name="T62" fmla="*/ 2147483647 w 384"/>
              <a:gd name="T63" fmla="*/ 2147483647 h 385"/>
              <a:gd name="T64" fmla="*/ 2147483647 w 384"/>
              <a:gd name="T65" fmla="*/ 2147483647 h 385"/>
              <a:gd name="T66" fmla="*/ 2147483647 w 384"/>
              <a:gd name="T67" fmla="*/ 2147483647 h 385"/>
              <a:gd name="T68" fmla="*/ 2147483647 w 384"/>
              <a:gd name="T69" fmla="*/ 2147483647 h 385"/>
              <a:gd name="T70" fmla="*/ 2147483647 w 384"/>
              <a:gd name="T71" fmla="*/ 2147483647 h 385"/>
              <a:gd name="T72" fmla="*/ 2147483647 w 384"/>
              <a:gd name="T73" fmla="*/ 2147483647 h 385"/>
              <a:gd name="T74" fmla="*/ 2147483647 w 384"/>
              <a:gd name="T75" fmla="*/ 2147483647 h 385"/>
              <a:gd name="T76" fmla="*/ 2147483647 w 384"/>
              <a:gd name="T77" fmla="*/ 2147483647 h 385"/>
              <a:gd name="T78" fmla="*/ 2147483647 w 384"/>
              <a:gd name="T79" fmla="*/ 2147483647 h 385"/>
              <a:gd name="T80" fmla="*/ 2147483647 w 384"/>
              <a:gd name="T81" fmla="*/ 2147483647 h 385"/>
              <a:gd name="T82" fmla="*/ 2147483647 w 384"/>
              <a:gd name="T83" fmla="*/ 2147483647 h 385"/>
              <a:gd name="T84" fmla="*/ 2147483647 w 384"/>
              <a:gd name="T85" fmla="*/ 2147483647 h 385"/>
              <a:gd name="T86" fmla="*/ 2147483647 w 384"/>
              <a:gd name="T87" fmla="*/ 2147483647 h 385"/>
              <a:gd name="T88" fmla="*/ 2147483647 w 384"/>
              <a:gd name="T89" fmla="*/ 2147483647 h 385"/>
              <a:gd name="T90" fmla="*/ 2147483647 w 384"/>
              <a:gd name="T91" fmla="*/ 2147483647 h 385"/>
              <a:gd name="T92" fmla="*/ 2147483647 w 384"/>
              <a:gd name="T93" fmla="*/ 2147483647 h 385"/>
              <a:gd name="T94" fmla="*/ 2147483647 w 384"/>
              <a:gd name="T95" fmla="*/ 2147483647 h 385"/>
              <a:gd name="T96" fmla="*/ 2147483647 w 384"/>
              <a:gd name="T97" fmla="*/ 2147483647 h 385"/>
              <a:gd name="T98" fmla="*/ 2147483647 w 384"/>
              <a:gd name="T99" fmla="*/ 2147483647 h 385"/>
              <a:gd name="T100" fmla="*/ 2147483647 w 384"/>
              <a:gd name="T101" fmla="*/ 2147483647 h 385"/>
              <a:gd name="T102" fmla="*/ 2147483647 w 384"/>
              <a:gd name="T103" fmla="*/ 0 h 385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4"/>
              <a:gd name="T157" fmla="*/ 0 h 385"/>
              <a:gd name="T158" fmla="*/ 384 w 384"/>
              <a:gd name="T159" fmla="*/ 385 h 385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4" h="385">
                <a:moveTo>
                  <a:pt x="192" y="0"/>
                </a:moveTo>
                <a:lnTo>
                  <a:pt x="181" y="0"/>
                </a:lnTo>
                <a:lnTo>
                  <a:pt x="172" y="0"/>
                </a:lnTo>
                <a:lnTo>
                  <a:pt x="161" y="2"/>
                </a:lnTo>
                <a:lnTo>
                  <a:pt x="152" y="3"/>
                </a:lnTo>
                <a:lnTo>
                  <a:pt x="143" y="5"/>
                </a:lnTo>
                <a:lnTo>
                  <a:pt x="133" y="8"/>
                </a:lnTo>
                <a:lnTo>
                  <a:pt x="126" y="11"/>
                </a:lnTo>
                <a:lnTo>
                  <a:pt x="116" y="14"/>
                </a:lnTo>
                <a:lnTo>
                  <a:pt x="107" y="19"/>
                </a:lnTo>
                <a:lnTo>
                  <a:pt x="100" y="23"/>
                </a:lnTo>
                <a:lnTo>
                  <a:pt x="84" y="33"/>
                </a:lnTo>
                <a:lnTo>
                  <a:pt x="69" y="43"/>
                </a:lnTo>
                <a:lnTo>
                  <a:pt x="55" y="56"/>
                </a:lnTo>
                <a:lnTo>
                  <a:pt x="43" y="70"/>
                </a:lnTo>
                <a:lnTo>
                  <a:pt x="32" y="85"/>
                </a:lnTo>
                <a:lnTo>
                  <a:pt x="23" y="100"/>
                </a:lnTo>
                <a:lnTo>
                  <a:pt x="18" y="108"/>
                </a:lnTo>
                <a:lnTo>
                  <a:pt x="13" y="117"/>
                </a:lnTo>
                <a:lnTo>
                  <a:pt x="10" y="127"/>
                </a:lnTo>
                <a:lnTo>
                  <a:pt x="7" y="134"/>
                </a:lnTo>
                <a:lnTo>
                  <a:pt x="4" y="143"/>
                </a:lnTo>
                <a:lnTo>
                  <a:pt x="3" y="153"/>
                </a:lnTo>
                <a:lnTo>
                  <a:pt x="1" y="162"/>
                </a:lnTo>
                <a:lnTo>
                  <a:pt x="0" y="173"/>
                </a:lnTo>
                <a:lnTo>
                  <a:pt x="0" y="182"/>
                </a:lnTo>
                <a:lnTo>
                  <a:pt x="0" y="193"/>
                </a:lnTo>
                <a:lnTo>
                  <a:pt x="0" y="202"/>
                </a:lnTo>
                <a:lnTo>
                  <a:pt x="0" y="211"/>
                </a:lnTo>
                <a:lnTo>
                  <a:pt x="1" y="222"/>
                </a:lnTo>
                <a:lnTo>
                  <a:pt x="3" y="231"/>
                </a:lnTo>
                <a:lnTo>
                  <a:pt x="4" y="240"/>
                </a:lnTo>
                <a:lnTo>
                  <a:pt x="7" y="250"/>
                </a:lnTo>
                <a:lnTo>
                  <a:pt x="10" y="259"/>
                </a:lnTo>
                <a:lnTo>
                  <a:pt x="13" y="266"/>
                </a:lnTo>
                <a:lnTo>
                  <a:pt x="18" y="276"/>
                </a:lnTo>
                <a:lnTo>
                  <a:pt x="23" y="283"/>
                </a:lnTo>
                <a:lnTo>
                  <a:pt x="32" y="299"/>
                </a:lnTo>
                <a:lnTo>
                  <a:pt x="43" y="314"/>
                </a:lnTo>
                <a:lnTo>
                  <a:pt x="55" y="328"/>
                </a:lnTo>
                <a:lnTo>
                  <a:pt x="69" y="340"/>
                </a:lnTo>
                <a:lnTo>
                  <a:pt x="84" y="351"/>
                </a:lnTo>
                <a:lnTo>
                  <a:pt x="100" y="360"/>
                </a:lnTo>
                <a:lnTo>
                  <a:pt x="107" y="365"/>
                </a:lnTo>
                <a:lnTo>
                  <a:pt x="116" y="370"/>
                </a:lnTo>
                <a:lnTo>
                  <a:pt x="126" y="373"/>
                </a:lnTo>
                <a:lnTo>
                  <a:pt x="133" y="376"/>
                </a:lnTo>
                <a:lnTo>
                  <a:pt x="143" y="379"/>
                </a:lnTo>
                <a:lnTo>
                  <a:pt x="152" y="380"/>
                </a:lnTo>
                <a:lnTo>
                  <a:pt x="161" y="382"/>
                </a:lnTo>
                <a:lnTo>
                  <a:pt x="172" y="383"/>
                </a:lnTo>
                <a:lnTo>
                  <a:pt x="181" y="383"/>
                </a:lnTo>
                <a:lnTo>
                  <a:pt x="192" y="385"/>
                </a:lnTo>
                <a:lnTo>
                  <a:pt x="201" y="383"/>
                </a:lnTo>
                <a:lnTo>
                  <a:pt x="210" y="383"/>
                </a:lnTo>
                <a:lnTo>
                  <a:pt x="221" y="382"/>
                </a:lnTo>
                <a:lnTo>
                  <a:pt x="230" y="380"/>
                </a:lnTo>
                <a:lnTo>
                  <a:pt x="240" y="379"/>
                </a:lnTo>
                <a:lnTo>
                  <a:pt x="249" y="376"/>
                </a:lnTo>
                <a:lnTo>
                  <a:pt x="258" y="373"/>
                </a:lnTo>
                <a:lnTo>
                  <a:pt x="266" y="370"/>
                </a:lnTo>
                <a:lnTo>
                  <a:pt x="275" y="365"/>
                </a:lnTo>
                <a:lnTo>
                  <a:pt x="283" y="360"/>
                </a:lnTo>
                <a:lnTo>
                  <a:pt x="298" y="351"/>
                </a:lnTo>
                <a:lnTo>
                  <a:pt x="313" y="340"/>
                </a:lnTo>
                <a:lnTo>
                  <a:pt x="327" y="328"/>
                </a:lnTo>
                <a:lnTo>
                  <a:pt x="340" y="314"/>
                </a:lnTo>
                <a:lnTo>
                  <a:pt x="350" y="299"/>
                </a:lnTo>
                <a:lnTo>
                  <a:pt x="360" y="283"/>
                </a:lnTo>
                <a:lnTo>
                  <a:pt x="364" y="276"/>
                </a:lnTo>
                <a:lnTo>
                  <a:pt x="369" y="266"/>
                </a:lnTo>
                <a:lnTo>
                  <a:pt x="372" y="259"/>
                </a:lnTo>
                <a:lnTo>
                  <a:pt x="375" y="250"/>
                </a:lnTo>
                <a:lnTo>
                  <a:pt x="378" y="240"/>
                </a:lnTo>
                <a:lnTo>
                  <a:pt x="380" y="231"/>
                </a:lnTo>
                <a:lnTo>
                  <a:pt x="381" y="222"/>
                </a:lnTo>
                <a:lnTo>
                  <a:pt x="383" y="211"/>
                </a:lnTo>
                <a:lnTo>
                  <a:pt x="383" y="202"/>
                </a:lnTo>
                <a:lnTo>
                  <a:pt x="384" y="193"/>
                </a:lnTo>
                <a:lnTo>
                  <a:pt x="383" y="182"/>
                </a:lnTo>
                <a:lnTo>
                  <a:pt x="383" y="173"/>
                </a:lnTo>
                <a:lnTo>
                  <a:pt x="381" y="162"/>
                </a:lnTo>
                <a:lnTo>
                  <a:pt x="380" y="153"/>
                </a:lnTo>
                <a:lnTo>
                  <a:pt x="378" y="143"/>
                </a:lnTo>
                <a:lnTo>
                  <a:pt x="375" y="134"/>
                </a:lnTo>
                <a:lnTo>
                  <a:pt x="372" y="127"/>
                </a:lnTo>
                <a:lnTo>
                  <a:pt x="369" y="117"/>
                </a:lnTo>
                <a:lnTo>
                  <a:pt x="364" y="108"/>
                </a:lnTo>
                <a:lnTo>
                  <a:pt x="360" y="100"/>
                </a:lnTo>
                <a:lnTo>
                  <a:pt x="350" y="85"/>
                </a:lnTo>
                <a:lnTo>
                  <a:pt x="340" y="70"/>
                </a:lnTo>
                <a:lnTo>
                  <a:pt x="327" y="56"/>
                </a:lnTo>
                <a:lnTo>
                  <a:pt x="313" y="43"/>
                </a:lnTo>
                <a:lnTo>
                  <a:pt x="298" y="33"/>
                </a:lnTo>
                <a:lnTo>
                  <a:pt x="283" y="23"/>
                </a:lnTo>
                <a:lnTo>
                  <a:pt x="275" y="19"/>
                </a:lnTo>
                <a:lnTo>
                  <a:pt x="266" y="14"/>
                </a:lnTo>
                <a:lnTo>
                  <a:pt x="258" y="11"/>
                </a:lnTo>
                <a:lnTo>
                  <a:pt x="249" y="8"/>
                </a:lnTo>
                <a:lnTo>
                  <a:pt x="240" y="5"/>
                </a:lnTo>
                <a:lnTo>
                  <a:pt x="230" y="3"/>
                </a:lnTo>
                <a:lnTo>
                  <a:pt x="221" y="2"/>
                </a:lnTo>
                <a:lnTo>
                  <a:pt x="210" y="0"/>
                </a:lnTo>
                <a:lnTo>
                  <a:pt x="201" y="0"/>
                </a:lnTo>
                <a:lnTo>
                  <a:pt x="192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88" name="Group 157"/>
          <p:cNvGrpSpPr>
            <a:grpSpLocks/>
          </p:cNvGrpSpPr>
          <p:nvPr/>
        </p:nvGrpSpPr>
        <p:grpSpPr bwMode="auto">
          <a:xfrm>
            <a:off x="3602038" y="4441825"/>
            <a:ext cx="304800" cy="304800"/>
            <a:chOff x="2592" y="3600"/>
            <a:chExt cx="192" cy="192"/>
          </a:xfrm>
        </p:grpSpPr>
        <p:sp>
          <p:nvSpPr>
            <p:cNvPr id="23620" name="Freeform 158"/>
            <p:cNvSpPr>
              <a:spLocks/>
            </p:cNvSpPr>
            <p:nvPr/>
          </p:nvSpPr>
          <p:spPr bwMode="auto">
            <a:xfrm>
              <a:off x="2592" y="3600"/>
              <a:ext cx="192" cy="192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3 h 384"/>
                <a:gd name="T18" fmla="*/ 0 w 385"/>
                <a:gd name="T19" fmla="*/ 3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6 h 384"/>
                <a:gd name="T28" fmla="*/ 0 w 385"/>
                <a:gd name="T29" fmla="*/ 6 h 384"/>
                <a:gd name="T30" fmla="*/ 0 w 385"/>
                <a:gd name="T31" fmla="*/ 7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2 h 384"/>
                <a:gd name="T52" fmla="*/ 6 w 385"/>
                <a:gd name="T53" fmla="*/ 12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7 h 384"/>
                <a:gd name="T74" fmla="*/ 11 w 385"/>
                <a:gd name="T75" fmla="*/ 6 h 384"/>
                <a:gd name="T76" fmla="*/ 11 w 385"/>
                <a:gd name="T77" fmla="*/ 6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3 h 384"/>
                <a:gd name="T86" fmla="*/ 11 w 385"/>
                <a:gd name="T87" fmla="*/ 3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7" y="10"/>
                  </a:lnTo>
                  <a:lnTo>
                    <a:pt x="117" y="13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7"/>
                  </a:lnTo>
                  <a:lnTo>
                    <a:pt x="14" y="116"/>
                  </a:lnTo>
                  <a:lnTo>
                    <a:pt x="11" y="126"/>
                  </a:lnTo>
                  <a:lnTo>
                    <a:pt x="8" y="133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2" y="221"/>
                  </a:lnTo>
                  <a:lnTo>
                    <a:pt x="3" y="230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298"/>
                  </a:lnTo>
                  <a:lnTo>
                    <a:pt x="43" y="313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79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79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7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299" y="350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0"/>
                  </a:lnTo>
                  <a:lnTo>
                    <a:pt x="382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3"/>
                  </a:lnTo>
                  <a:lnTo>
                    <a:pt x="373" y="126"/>
                  </a:lnTo>
                  <a:lnTo>
                    <a:pt x="370" y="116"/>
                  </a:lnTo>
                  <a:lnTo>
                    <a:pt x="365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299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7" y="13"/>
                  </a:lnTo>
                  <a:lnTo>
                    <a:pt x="259" y="10"/>
                  </a:lnTo>
                  <a:lnTo>
                    <a:pt x="250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21" name="Rectangle 159"/>
            <p:cNvSpPr>
              <a:spLocks noChangeArrowheads="1"/>
            </p:cNvSpPr>
            <p:nvPr/>
          </p:nvSpPr>
          <p:spPr bwMode="auto">
            <a:xfrm>
              <a:off x="2640" y="3600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GB" altLang="en-US"/>
            </a:p>
          </p:txBody>
        </p:sp>
      </p:grpSp>
      <p:grpSp>
        <p:nvGrpSpPr>
          <p:cNvPr id="23589" name="Group 160"/>
          <p:cNvGrpSpPr>
            <a:grpSpLocks/>
          </p:cNvGrpSpPr>
          <p:nvPr/>
        </p:nvGrpSpPr>
        <p:grpSpPr bwMode="auto">
          <a:xfrm>
            <a:off x="3357563" y="5043488"/>
            <a:ext cx="306387" cy="304800"/>
            <a:chOff x="5232" y="3168"/>
            <a:chExt cx="193" cy="192"/>
          </a:xfrm>
        </p:grpSpPr>
        <p:sp>
          <p:nvSpPr>
            <p:cNvPr id="23618" name="Freeform 161"/>
            <p:cNvSpPr>
              <a:spLocks/>
            </p:cNvSpPr>
            <p:nvPr/>
          </p:nvSpPr>
          <p:spPr bwMode="auto">
            <a:xfrm>
              <a:off x="5232" y="3168"/>
              <a:ext cx="193" cy="192"/>
            </a:xfrm>
            <a:custGeom>
              <a:avLst/>
              <a:gdLst>
                <a:gd name="T0" fmla="*/ 6 w 384"/>
                <a:gd name="T1" fmla="*/ 0 h 384"/>
                <a:gd name="T2" fmla="*/ 6 w 384"/>
                <a:gd name="T3" fmla="*/ 1 h 384"/>
                <a:gd name="T4" fmla="*/ 5 w 384"/>
                <a:gd name="T5" fmla="*/ 1 h 384"/>
                <a:gd name="T6" fmla="*/ 4 w 384"/>
                <a:gd name="T7" fmla="*/ 1 h 384"/>
                <a:gd name="T8" fmla="*/ 4 w 384"/>
                <a:gd name="T9" fmla="*/ 1 h 384"/>
                <a:gd name="T10" fmla="*/ 3 w 384"/>
                <a:gd name="T11" fmla="*/ 1 h 384"/>
                <a:gd name="T12" fmla="*/ 2 w 384"/>
                <a:gd name="T13" fmla="*/ 2 h 384"/>
                <a:gd name="T14" fmla="*/ 1 w 384"/>
                <a:gd name="T15" fmla="*/ 3 h 384"/>
                <a:gd name="T16" fmla="*/ 1 w 384"/>
                <a:gd name="T17" fmla="*/ 3 h 384"/>
                <a:gd name="T18" fmla="*/ 1 w 384"/>
                <a:gd name="T19" fmla="*/ 3 h 384"/>
                <a:gd name="T20" fmla="*/ 1 w 384"/>
                <a:gd name="T21" fmla="*/ 5 h 384"/>
                <a:gd name="T22" fmla="*/ 1 w 384"/>
                <a:gd name="T23" fmla="*/ 6 h 384"/>
                <a:gd name="T24" fmla="*/ 0 w 384"/>
                <a:gd name="T25" fmla="*/ 6 h 384"/>
                <a:gd name="T26" fmla="*/ 0 w 384"/>
                <a:gd name="T27" fmla="*/ 6 h 384"/>
                <a:gd name="T28" fmla="*/ 1 w 384"/>
                <a:gd name="T29" fmla="*/ 6 h 384"/>
                <a:gd name="T30" fmla="*/ 1 w 384"/>
                <a:gd name="T31" fmla="*/ 7 h 384"/>
                <a:gd name="T32" fmla="*/ 1 w 384"/>
                <a:gd name="T33" fmla="*/ 9 h 384"/>
                <a:gd name="T34" fmla="*/ 1 w 384"/>
                <a:gd name="T35" fmla="*/ 9 h 384"/>
                <a:gd name="T36" fmla="*/ 1 w 384"/>
                <a:gd name="T37" fmla="*/ 10 h 384"/>
                <a:gd name="T38" fmla="*/ 2 w 384"/>
                <a:gd name="T39" fmla="*/ 11 h 384"/>
                <a:gd name="T40" fmla="*/ 3 w 384"/>
                <a:gd name="T41" fmla="*/ 11 h 384"/>
                <a:gd name="T42" fmla="*/ 4 w 384"/>
                <a:gd name="T43" fmla="*/ 12 h 384"/>
                <a:gd name="T44" fmla="*/ 4 w 384"/>
                <a:gd name="T45" fmla="*/ 12 h 384"/>
                <a:gd name="T46" fmla="*/ 5 w 384"/>
                <a:gd name="T47" fmla="*/ 12 h 384"/>
                <a:gd name="T48" fmla="*/ 6 w 384"/>
                <a:gd name="T49" fmla="*/ 12 h 384"/>
                <a:gd name="T50" fmla="*/ 6 w 384"/>
                <a:gd name="T51" fmla="*/ 12 h 384"/>
                <a:gd name="T52" fmla="*/ 7 w 384"/>
                <a:gd name="T53" fmla="*/ 12 h 384"/>
                <a:gd name="T54" fmla="*/ 7 w 384"/>
                <a:gd name="T55" fmla="*/ 12 h 384"/>
                <a:gd name="T56" fmla="*/ 8 w 384"/>
                <a:gd name="T57" fmla="*/ 12 h 384"/>
                <a:gd name="T58" fmla="*/ 9 w 384"/>
                <a:gd name="T59" fmla="*/ 12 h 384"/>
                <a:gd name="T60" fmla="*/ 9 w 384"/>
                <a:gd name="T61" fmla="*/ 12 h 384"/>
                <a:gd name="T62" fmla="*/ 10 w 384"/>
                <a:gd name="T63" fmla="*/ 11 h 384"/>
                <a:gd name="T64" fmla="*/ 11 w 384"/>
                <a:gd name="T65" fmla="*/ 11 h 384"/>
                <a:gd name="T66" fmla="*/ 11 w 384"/>
                <a:gd name="T67" fmla="*/ 10 h 384"/>
                <a:gd name="T68" fmla="*/ 12 w 384"/>
                <a:gd name="T69" fmla="*/ 9 h 384"/>
                <a:gd name="T70" fmla="*/ 12 w 384"/>
                <a:gd name="T71" fmla="*/ 9 h 384"/>
                <a:gd name="T72" fmla="*/ 12 w 384"/>
                <a:gd name="T73" fmla="*/ 7 h 384"/>
                <a:gd name="T74" fmla="*/ 12 w 384"/>
                <a:gd name="T75" fmla="*/ 6 h 384"/>
                <a:gd name="T76" fmla="*/ 13 w 384"/>
                <a:gd name="T77" fmla="*/ 6 h 384"/>
                <a:gd name="T78" fmla="*/ 13 w 384"/>
                <a:gd name="T79" fmla="*/ 6 h 384"/>
                <a:gd name="T80" fmla="*/ 12 w 384"/>
                <a:gd name="T81" fmla="*/ 6 h 384"/>
                <a:gd name="T82" fmla="*/ 12 w 384"/>
                <a:gd name="T83" fmla="*/ 5 h 384"/>
                <a:gd name="T84" fmla="*/ 12 w 384"/>
                <a:gd name="T85" fmla="*/ 3 h 384"/>
                <a:gd name="T86" fmla="*/ 12 w 384"/>
                <a:gd name="T87" fmla="*/ 3 h 384"/>
                <a:gd name="T88" fmla="*/ 11 w 384"/>
                <a:gd name="T89" fmla="*/ 3 h 384"/>
                <a:gd name="T90" fmla="*/ 11 w 384"/>
                <a:gd name="T91" fmla="*/ 2 h 384"/>
                <a:gd name="T92" fmla="*/ 10 w 384"/>
                <a:gd name="T93" fmla="*/ 1 h 384"/>
                <a:gd name="T94" fmla="*/ 9 w 384"/>
                <a:gd name="T95" fmla="*/ 1 h 384"/>
                <a:gd name="T96" fmla="*/ 9 w 384"/>
                <a:gd name="T97" fmla="*/ 1 h 384"/>
                <a:gd name="T98" fmla="*/ 8 w 384"/>
                <a:gd name="T99" fmla="*/ 1 h 384"/>
                <a:gd name="T100" fmla="*/ 7 w 384"/>
                <a:gd name="T101" fmla="*/ 1 h 384"/>
                <a:gd name="T102" fmla="*/ 7 w 384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4"/>
                <a:gd name="T157" fmla="*/ 0 h 384"/>
                <a:gd name="T158" fmla="*/ 384 w 384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4" h="384">
                  <a:moveTo>
                    <a:pt x="192" y="0"/>
                  </a:moveTo>
                  <a:lnTo>
                    <a:pt x="181" y="0"/>
                  </a:lnTo>
                  <a:lnTo>
                    <a:pt x="172" y="0"/>
                  </a:lnTo>
                  <a:lnTo>
                    <a:pt x="161" y="1"/>
                  </a:lnTo>
                  <a:lnTo>
                    <a:pt x="152" y="3"/>
                  </a:lnTo>
                  <a:lnTo>
                    <a:pt x="143" y="4"/>
                  </a:lnTo>
                  <a:lnTo>
                    <a:pt x="134" y="7"/>
                  </a:lnTo>
                  <a:lnTo>
                    <a:pt x="126" y="10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4" y="32"/>
                  </a:lnTo>
                  <a:lnTo>
                    <a:pt x="69" y="43"/>
                  </a:lnTo>
                  <a:lnTo>
                    <a:pt x="55" y="55"/>
                  </a:lnTo>
                  <a:lnTo>
                    <a:pt x="43" y="69"/>
                  </a:lnTo>
                  <a:lnTo>
                    <a:pt x="32" y="84"/>
                  </a:lnTo>
                  <a:lnTo>
                    <a:pt x="23" y="100"/>
                  </a:lnTo>
                  <a:lnTo>
                    <a:pt x="18" y="107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4" y="143"/>
                  </a:lnTo>
                  <a:lnTo>
                    <a:pt x="3" y="152"/>
                  </a:lnTo>
                  <a:lnTo>
                    <a:pt x="1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0"/>
                  </a:lnTo>
                  <a:lnTo>
                    <a:pt x="1" y="221"/>
                  </a:lnTo>
                  <a:lnTo>
                    <a:pt x="3" y="230"/>
                  </a:lnTo>
                  <a:lnTo>
                    <a:pt x="4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8" y="275"/>
                  </a:lnTo>
                  <a:lnTo>
                    <a:pt x="23" y="283"/>
                  </a:lnTo>
                  <a:lnTo>
                    <a:pt x="32" y="298"/>
                  </a:lnTo>
                  <a:lnTo>
                    <a:pt x="43" y="313"/>
                  </a:lnTo>
                  <a:lnTo>
                    <a:pt x="55" y="327"/>
                  </a:lnTo>
                  <a:lnTo>
                    <a:pt x="69" y="340"/>
                  </a:lnTo>
                  <a:lnTo>
                    <a:pt x="84" y="350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6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2" y="380"/>
                  </a:lnTo>
                  <a:lnTo>
                    <a:pt x="161" y="381"/>
                  </a:lnTo>
                  <a:lnTo>
                    <a:pt x="172" y="383"/>
                  </a:lnTo>
                  <a:lnTo>
                    <a:pt x="181" y="383"/>
                  </a:lnTo>
                  <a:lnTo>
                    <a:pt x="192" y="384"/>
                  </a:lnTo>
                  <a:lnTo>
                    <a:pt x="201" y="383"/>
                  </a:lnTo>
                  <a:lnTo>
                    <a:pt x="211" y="383"/>
                  </a:lnTo>
                  <a:lnTo>
                    <a:pt x="221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49" y="375"/>
                  </a:lnTo>
                  <a:lnTo>
                    <a:pt x="258" y="372"/>
                  </a:lnTo>
                  <a:lnTo>
                    <a:pt x="266" y="369"/>
                  </a:lnTo>
                  <a:lnTo>
                    <a:pt x="275" y="364"/>
                  </a:lnTo>
                  <a:lnTo>
                    <a:pt x="283" y="360"/>
                  </a:lnTo>
                  <a:lnTo>
                    <a:pt x="298" y="350"/>
                  </a:lnTo>
                  <a:lnTo>
                    <a:pt x="314" y="340"/>
                  </a:lnTo>
                  <a:lnTo>
                    <a:pt x="327" y="327"/>
                  </a:lnTo>
                  <a:lnTo>
                    <a:pt x="340" y="313"/>
                  </a:lnTo>
                  <a:lnTo>
                    <a:pt x="351" y="298"/>
                  </a:lnTo>
                  <a:lnTo>
                    <a:pt x="360" y="283"/>
                  </a:lnTo>
                  <a:lnTo>
                    <a:pt x="364" y="275"/>
                  </a:lnTo>
                  <a:lnTo>
                    <a:pt x="369" y="266"/>
                  </a:lnTo>
                  <a:lnTo>
                    <a:pt x="372" y="258"/>
                  </a:lnTo>
                  <a:lnTo>
                    <a:pt x="375" y="249"/>
                  </a:lnTo>
                  <a:lnTo>
                    <a:pt x="378" y="240"/>
                  </a:lnTo>
                  <a:lnTo>
                    <a:pt x="380" y="230"/>
                  </a:lnTo>
                  <a:lnTo>
                    <a:pt x="381" y="221"/>
                  </a:lnTo>
                  <a:lnTo>
                    <a:pt x="383" y="210"/>
                  </a:lnTo>
                  <a:lnTo>
                    <a:pt x="383" y="201"/>
                  </a:lnTo>
                  <a:lnTo>
                    <a:pt x="384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1" y="161"/>
                  </a:lnTo>
                  <a:lnTo>
                    <a:pt x="380" y="152"/>
                  </a:lnTo>
                  <a:lnTo>
                    <a:pt x="378" y="143"/>
                  </a:lnTo>
                  <a:lnTo>
                    <a:pt x="375" y="134"/>
                  </a:lnTo>
                  <a:lnTo>
                    <a:pt x="372" y="126"/>
                  </a:lnTo>
                  <a:lnTo>
                    <a:pt x="369" y="117"/>
                  </a:lnTo>
                  <a:lnTo>
                    <a:pt x="364" y="107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7" y="55"/>
                  </a:lnTo>
                  <a:lnTo>
                    <a:pt x="314" y="43"/>
                  </a:lnTo>
                  <a:lnTo>
                    <a:pt x="298" y="32"/>
                  </a:lnTo>
                  <a:lnTo>
                    <a:pt x="283" y="23"/>
                  </a:lnTo>
                  <a:lnTo>
                    <a:pt x="275" y="18"/>
                  </a:lnTo>
                  <a:lnTo>
                    <a:pt x="266" y="14"/>
                  </a:lnTo>
                  <a:lnTo>
                    <a:pt x="258" y="10"/>
                  </a:lnTo>
                  <a:lnTo>
                    <a:pt x="249" y="7"/>
                  </a:lnTo>
                  <a:lnTo>
                    <a:pt x="240" y="4"/>
                  </a:lnTo>
                  <a:lnTo>
                    <a:pt x="231" y="3"/>
                  </a:lnTo>
                  <a:lnTo>
                    <a:pt x="221" y="1"/>
                  </a:lnTo>
                  <a:lnTo>
                    <a:pt x="211" y="0"/>
                  </a:lnTo>
                  <a:lnTo>
                    <a:pt x="201" y="0"/>
                  </a:lnTo>
                  <a:lnTo>
                    <a:pt x="1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19" name="Rectangle 162"/>
            <p:cNvSpPr>
              <a:spLocks noChangeArrowheads="1"/>
            </p:cNvSpPr>
            <p:nvPr/>
          </p:nvSpPr>
          <p:spPr bwMode="auto">
            <a:xfrm>
              <a:off x="5270" y="316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GB" altLang="en-US"/>
            </a:p>
          </p:txBody>
        </p:sp>
      </p:grpSp>
      <p:sp>
        <p:nvSpPr>
          <p:cNvPr id="23590" name="Line 163"/>
          <p:cNvSpPr>
            <a:spLocks noChangeShapeType="1"/>
          </p:cNvSpPr>
          <p:nvPr/>
        </p:nvSpPr>
        <p:spPr bwMode="auto">
          <a:xfrm flipH="1">
            <a:off x="3586163" y="4724400"/>
            <a:ext cx="122237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Freeform 164"/>
          <p:cNvSpPr>
            <a:spLocks/>
          </p:cNvSpPr>
          <p:nvPr/>
        </p:nvSpPr>
        <p:spPr bwMode="auto">
          <a:xfrm>
            <a:off x="3835400" y="5099050"/>
            <a:ext cx="304800" cy="306388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Rectangle 165"/>
          <p:cNvSpPr>
            <a:spLocks noChangeArrowheads="1"/>
          </p:cNvSpPr>
          <p:nvPr/>
        </p:nvSpPr>
        <p:spPr bwMode="auto">
          <a:xfrm>
            <a:off x="3844925" y="5129213"/>
            <a:ext cx="3016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8.5</a:t>
            </a:r>
            <a:endParaRPr lang="en-GB" altLang="en-US"/>
          </a:p>
        </p:txBody>
      </p:sp>
      <p:sp>
        <p:nvSpPr>
          <p:cNvPr id="23593" name="Line 166"/>
          <p:cNvSpPr>
            <a:spLocks noChangeShapeType="1"/>
          </p:cNvSpPr>
          <p:nvPr/>
        </p:nvSpPr>
        <p:spPr bwMode="auto">
          <a:xfrm flipH="1">
            <a:off x="4030663" y="4702175"/>
            <a:ext cx="138112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171"/>
          <p:cNvSpPr>
            <a:spLocks noChangeShapeType="1"/>
          </p:cNvSpPr>
          <p:nvPr/>
        </p:nvSpPr>
        <p:spPr bwMode="auto">
          <a:xfrm>
            <a:off x="4295775" y="4706938"/>
            <a:ext cx="131763" cy="349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95" name="Group 172"/>
          <p:cNvGrpSpPr>
            <a:grpSpLocks/>
          </p:cNvGrpSpPr>
          <p:nvPr/>
        </p:nvGrpSpPr>
        <p:grpSpPr bwMode="auto">
          <a:xfrm>
            <a:off x="4329113" y="5070475"/>
            <a:ext cx="304800" cy="306388"/>
            <a:chOff x="2773" y="2298"/>
            <a:chExt cx="192" cy="193"/>
          </a:xfrm>
        </p:grpSpPr>
        <p:sp>
          <p:nvSpPr>
            <p:cNvPr id="23616" name="Rectangle 173"/>
            <p:cNvSpPr>
              <a:spLocks noChangeArrowheads="1"/>
            </p:cNvSpPr>
            <p:nvPr/>
          </p:nvSpPr>
          <p:spPr bwMode="auto">
            <a:xfrm>
              <a:off x="2794" y="2304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11</a:t>
              </a:r>
              <a:endParaRPr lang="en-GB" altLang="en-US"/>
            </a:p>
          </p:txBody>
        </p:sp>
        <p:sp>
          <p:nvSpPr>
            <p:cNvPr id="23617" name="Freeform 174"/>
            <p:cNvSpPr>
              <a:spLocks/>
            </p:cNvSpPr>
            <p:nvPr/>
          </p:nvSpPr>
          <p:spPr bwMode="auto">
            <a:xfrm>
              <a:off x="2773" y="229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3596" name="Line 175"/>
          <p:cNvSpPr>
            <a:spLocks noChangeShapeType="1"/>
          </p:cNvSpPr>
          <p:nvPr/>
        </p:nvSpPr>
        <p:spPr bwMode="auto">
          <a:xfrm flipH="1">
            <a:off x="4916488" y="4498975"/>
            <a:ext cx="133350" cy="5699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97" name="Group 176"/>
          <p:cNvGrpSpPr>
            <a:grpSpLocks/>
          </p:cNvGrpSpPr>
          <p:nvPr/>
        </p:nvGrpSpPr>
        <p:grpSpPr bwMode="auto">
          <a:xfrm>
            <a:off x="4762500" y="5073650"/>
            <a:ext cx="304800" cy="306388"/>
            <a:chOff x="3000" y="2118"/>
            <a:chExt cx="192" cy="193"/>
          </a:xfrm>
        </p:grpSpPr>
        <p:sp>
          <p:nvSpPr>
            <p:cNvPr id="23614" name="Freeform 177"/>
            <p:cNvSpPr>
              <a:spLocks/>
            </p:cNvSpPr>
            <p:nvPr/>
          </p:nvSpPr>
          <p:spPr bwMode="auto">
            <a:xfrm>
              <a:off x="3000" y="211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15" name="Rectangle 178"/>
            <p:cNvSpPr>
              <a:spLocks noChangeArrowheads="1"/>
            </p:cNvSpPr>
            <p:nvPr/>
          </p:nvSpPr>
          <p:spPr bwMode="auto">
            <a:xfrm>
              <a:off x="3031" y="2120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13</a:t>
              </a:r>
              <a:endParaRPr lang="en-GB" altLang="en-US"/>
            </a:p>
          </p:txBody>
        </p:sp>
      </p:grpSp>
      <p:sp>
        <p:nvSpPr>
          <p:cNvPr id="23598" name="Line 179"/>
          <p:cNvSpPr>
            <a:spLocks noChangeShapeType="1"/>
          </p:cNvSpPr>
          <p:nvPr/>
        </p:nvSpPr>
        <p:spPr bwMode="auto">
          <a:xfrm>
            <a:off x="5148263" y="4462463"/>
            <a:ext cx="334962" cy="611187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23599" name="Group 180"/>
          <p:cNvGrpSpPr>
            <a:grpSpLocks/>
          </p:cNvGrpSpPr>
          <p:nvPr/>
        </p:nvGrpSpPr>
        <p:grpSpPr bwMode="auto">
          <a:xfrm>
            <a:off x="5360988" y="5072063"/>
            <a:ext cx="304800" cy="317500"/>
            <a:chOff x="3377" y="2162"/>
            <a:chExt cx="192" cy="200"/>
          </a:xfrm>
        </p:grpSpPr>
        <p:sp>
          <p:nvSpPr>
            <p:cNvPr id="23612" name="Rectangle 181"/>
            <p:cNvSpPr>
              <a:spLocks noChangeArrowheads="1"/>
            </p:cNvSpPr>
            <p:nvPr/>
          </p:nvSpPr>
          <p:spPr bwMode="auto">
            <a:xfrm>
              <a:off x="3399" y="2162"/>
              <a:ext cx="152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15</a:t>
              </a:r>
              <a:endParaRPr lang="en-GB" altLang="en-US"/>
            </a:p>
          </p:txBody>
        </p:sp>
        <p:sp>
          <p:nvSpPr>
            <p:cNvPr id="23613" name="Freeform 182"/>
            <p:cNvSpPr>
              <a:spLocks/>
            </p:cNvSpPr>
            <p:nvPr/>
          </p:nvSpPr>
          <p:spPr bwMode="auto">
            <a:xfrm>
              <a:off x="3377" y="2169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600" name="Group 183"/>
          <p:cNvGrpSpPr>
            <a:grpSpLocks/>
          </p:cNvGrpSpPr>
          <p:nvPr/>
        </p:nvGrpSpPr>
        <p:grpSpPr bwMode="auto">
          <a:xfrm>
            <a:off x="3546475" y="5580063"/>
            <a:ext cx="304800" cy="306387"/>
            <a:chOff x="3888" y="2928"/>
            <a:chExt cx="192" cy="193"/>
          </a:xfrm>
        </p:grpSpPr>
        <p:sp>
          <p:nvSpPr>
            <p:cNvPr id="23610" name="Freeform 184"/>
            <p:cNvSpPr>
              <a:spLocks/>
            </p:cNvSpPr>
            <p:nvPr/>
          </p:nvSpPr>
          <p:spPr bwMode="auto">
            <a:xfrm>
              <a:off x="3888" y="2928"/>
              <a:ext cx="192" cy="193"/>
            </a:xfrm>
            <a:custGeom>
              <a:avLst/>
              <a:gdLst>
                <a:gd name="T0" fmla="*/ 5 w 385"/>
                <a:gd name="T1" fmla="*/ 0 h 384"/>
                <a:gd name="T2" fmla="*/ 5 w 385"/>
                <a:gd name="T3" fmla="*/ 1 h 384"/>
                <a:gd name="T4" fmla="*/ 4 w 385"/>
                <a:gd name="T5" fmla="*/ 1 h 384"/>
                <a:gd name="T6" fmla="*/ 3 w 385"/>
                <a:gd name="T7" fmla="*/ 1 h 384"/>
                <a:gd name="T8" fmla="*/ 3 w 385"/>
                <a:gd name="T9" fmla="*/ 1 h 384"/>
                <a:gd name="T10" fmla="*/ 2 w 385"/>
                <a:gd name="T11" fmla="*/ 1 h 384"/>
                <a:gd name="T12" fmla="*/ 1 w 385"/>
                <a:gd name="T13" fmla="*/ 2 h 384"/>
                <a:gd name="T14" fmla="*/ 1 w 385"/>
                <a:gd name="T15" fmla="*/ 3 h 384"/>
                <a:gd name="T16" fmla="*/ 0 w 385"/>
                <a:gd name="T17" fmla="*/ 4 h 384"/>
                <a:gd name="T18" fmla="*/ 0 w 385"/>
                <a:gd name="T19" fmla="*/ 4 h 384"/>
                <a:gd name="T20" fmla="*/ 0 w 385"/>
                <a:gd name="T21" fmla="*/ 5 h 384"/>
                <a:gd name="T22" fmla="*/ 0 w 385"/>
                <a:gd name="T23" fmla="*/ 6 h 384"/>
                <a:gd name="T24" fmla="*/ 0 w 385"/>
                <a:gd name="T25" fmla="*/ 6 h 384"/>
                <a:gd name="T26" fmla="*/ 0 w 385"/>
                <a:gd name="T27" fmla="*/ 7 h 384"/>
                <a:gd name="T28" fmla="*/ 0 w 385"/>
                <a:gd name="T29" fmla="*/ 7 h 384"/>
                <a:gd name="T30" fmla="*/ 0 w 385"/>
                <a:gd name="T31" fmla="*/ 8 h 384"/>
                <a:gd name="T32" fmla="*/ 0 w 385"/>
                <a:gd name="T33" fmla="*/ 9 h 384"/>
                <a:gd name="T34" fmla="*/ 0 w 385"/>
                <a:gd name="T35" fmla="*/ 9 h 384"/>
                <a:gd name="T36" fmla="*/ 1 w 385"/>
                <a:gd name="T37" fmla="*/ 10 h 384"/>
                <a:gd name="T38" fmla="*/ 1 w 385"/>
                <a:gd name="T39" fmla="*/ 11 h 384"/>
                <a:gd name="T40" fmla="*/ 2 w 385"/>
                <a:gd name="T41" fmla="*/ 11 h 384"/>
                <a:gd name="T42" fmla="*/ 3 w 385"/>
                <a:gd name="T43" fmla="*/ 12 h 384"/>
                <a:gd name="T44" fmla="*/ 3 w 385"/>
                <a:gd name="T45" fmla="*/ 12 h 384"/>
                <a:gd name="T46" fmla="*/ 4 w 385"/>
                <a:gd name="T47" fmla="*/ 12 h 384"/>
                <a:gd name="T48" fmla="*/ 5 w 385"/>
                <a:gd name="T49" fmla="*/ 12 h 384"/>
                <a:gd name="T50" fmla="*/ 5 w 385"/>
                <a:gd name="T51" fmla="*/ 13 h 384"/>
                <a:gd name="T52" fmla="*/ 6 w 385"/>
                <a:gd name="T53" fmla="*/ 13 h 384"/>
                <a:gd name="T54" fmla="*/ 6 w 385"/>
                <a:gd name="T55" fmla="*/ 12 h 384"/>
                <a:gd name="T56" fmla="*/ 7 w 385"/>
                <a:gd name="T57" fmla="*/ 12 h 384"/>
                <a:gd name="T58" fmla="*/ 8 w 385"/>
                <a:gd name="T59" fmla="*/ 12 h 384"/>
                <a:gd name="T60" fmla="*/ 8 w 385"/>
                <a:gd name="T61" fmla="*/ 12 h 384"/>
                <a:gd name="T62" fmla="*/ 9 w 385"/>
                <a:gd name="T63" fmla="*/ 11 h 384"/>
                <a:gd name="T64" fmla="*/ 10 w 385"/>
                <a:gd name="T65" fmla="*/ 11 h 384"/>
                <a:gd name="T66" fmla="*/ 10 w 385"/>
                <a:gd name="T67" fmla="*/ 10 h 384"/>
                <a:gd name="T68" fmla="*/ 11 w 385"/>
                <a:gd name="T69" fmla="*/ 9 h 384"/>
                <a:gd name="T70" fmla="*/ 11 w 385"/>
                <a:gd name="T71" fmla="*/ 9 h 384"/>
                <a:gd name="T72" fmla="*/ 11 w 385"/>
                <a:gd name="T73" fmla="*/ 8 h 384"/>
                <a:gd name="T74" fmla="*/ 11 w 385"/>
                <a:gd name="T75" fmla="*/ 7 h 384"/>
                <a:gd name="T76" fmla="*/ 11 w 385"/>
                <a:gd name="T77" fmla="*/ 7 h 384"/>
                <a:gd name="T78" fmla="*/ 11 w 385"/>
                <a:gd name="T79" fmla="*/ 6 h 384"/>
                <a:gd name="T80" fmla="*/ 11 w 385"/>
                <a:gd name="T81" fmla="*/ 6 h 384"/>
                <a:gd name="T82" fmla="*/ 11 w 385"/>
                <a:gd name="T83" fmla="*/ 5 h 384"/>
                <a:gd name="T84" fmla="*/ 11 w 385"/>
                <a:gd name="T85" fmla="*/ 4 h 384"/>
                <a:gd name="T86" fmla="*/ 11 w 385"/>
                <a:gd name="T87" fmla="*/ 4 h 384"/>
                <a:gd name="T88" fmla="*/ 10 w 385"/>
                <a:gd name="T89" fmla="*/ 3 h 384"/>
                <a:gd name="T90" fmla="*/ 10 w 385"/>
                <a:gd name="T91" fmla="*/ 2 h 384"/>
                <a:gd name="T92" fmla="*/ 9 w 385"/>
                <a:gd name="T93" fmla="*/ 1 h 384"/>
                <a:gd name="T94" fmla="*/ 8 w 385"/>
                <a:gd name="T95" fmla="*/ 1 h 384"/>
                <a:gd name="T96" fmla="*/ 8 w 385"/>
                <a:gd name="T97" fmla="*/ 1 h 384"/>
                <a:gd name="T98" fmla="*/ 7 w 385"/>
                <a:gd name="T99" fmla="*/ 1 h 384"/>
                <a:gd name="T100" fmla="*/ 6 w 385"/>
                <a:gd name="T101" fmla="*/ 1 h 384"/>
                <a:gd name="T102" fmla="*/ 6 w 385"/>
                <a:gd name="T103" fmla="*/ 0 h 38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85"/>
                <a:gd name="T157" fmla="*/ 0 h 384"/>
                <a:gd name="T158" fmla="*/ 385 w 385"/>
                <a:gd name="T159" fmla="*/ 384 h 38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85" h="384">
                  <a:moveTo>
                    <a:pt x="193" y="0"/>
                  </a:moveTo>
                  <a:lnTo>
                    <a:pt x="182" y="0"/>
                  </a:lnTo>
                  <a:lnTo>
                    <a:pt x="173" y="0"/>
                  </a:lnTo>
                  <a:lnTo>
                    <a:pt x="162" y="1"/>
                  </a:lnTo>
                  <a:lnTo>
                    <a:pt x="153" y="3"/>
                  </a:lnTo>
                  <a:lnTo>
                    <a:pt x="143" y="5"/>
                  </a:lnTo>
                  <a:lnTo>
                    <a:pt x="134" y="8"/>
                  </a:lnTo>
                  <a:lnTo>
                    <a:pt x="127" y="11"/>
                  </a:lnTo>
                  <a:lnTo>
                    <a:pt x="117" y="14"/>
                  </a:lnTo>
                  <a:lnTo>
                    <a:pt x="108" y="18"/>
                  </a:lnTo>
                  <a:lnTo>
                    <a:pt x="100" y="23"/>
                  </a:lnTo>
                  <a:lnTo>
                    <a:pt x="85" y="32"/>
                  </a:lnTo>
                  <a:lnTo>
                    <a:pt x="70" y="43"/>
                  </a:lnTo>
                  <a:lnTo>
                    <a:pt x="56" y="55"/>
                  </a:lnTo>
                  <a:lnTo>
                    <a:pt x="43" y="69"/>
                  </a:lnTo>
                  <a:lnTo>
                    <a:pt x="33" y="84"/>
                  </a:lnTo>
                  <a:lnTo>
                    <a:pt x="23" y="100"/>
                  </a:lnTo>
                  <a:lnTo>
                    <a:pt x="19" y="108"/>
                  </a:lnTo>
                  <a:lnTo>
                    <a:pt x="14" y="117"/>
                  </a:lnTo>
                  <a:lnTo>
                    <a:pt x="11" y="126"/>
                  </a:lnTo>
                  <a:lnTo>
                    <a:pt x="8" y="134"/>
                  </a:lnTo>
                  <a:lnTo>
                    <a:pt x="5" y="143"/>
                  </a:lnTo>
                  <a:lnTo>
                    <a:pt x="3" y="152"/>
                  </a:lnTo>
                  <a:lnTo>
                    <a:pt x="2" y="161"/>
                  </a:lnTo>
                  <a:lnTo>
                    <a:pt x="0" y="172"/>
                  </a:lnTo>
                  <a:lnTo>
                    <a:pt x="0" y="181"/>
                  </a:lnTo>
                  <a:lnTo>
                    <a:pt x="0" y="192"/>
                  </a:lnTo>
                  <a:lnTo>
                    <a:pt x="0" y="201"/>
                  </a:lnTo>
                  <a:lnTo>
                    <a:pt x="0" y="211"/>
                  </a:lnTo>
                  <a:lnTo>
                    <a:pt x="2" y="221"/>
                  </a:lnTo>
                  <a:lnTo>
                    <a:pt x="3" y="231"/>
                  </a:lnTo>
                  <a:lnTo>
                    <a:pt x="5" y="240"/>
                  </a:lnTo>
                  <a:lnTo>
                    <a:pt x="8" y="249"/>
                  </a:lnTo>
                  <a:lnTo>
                    <a:pt x="11" y="258"/>
                  </a:lnTo>
                  <a:lnTo>
                    <a:pt x="14" y="266"/>
                  </a:lnTo>
                  <a:lnTo>
                    <a:pt x="19" y="275"/>
                  </a:lnTo>
                  <a:lnTo>
                    <a:pt x="23" y="283"/>
                  </a:lnTo>
                  <a:lnTo>
                    <a:pt x="33" y="300"/>
                  </a:lnTo>
                  <a:lnTo>
                    <a:pt x="43" y="314"/>
                  </a:lnTo>
                  <a:lnTo>
                    <a:pt x="56" y="327"/>
                  </a:lnTo>
                  <a:lnTo>
                    <a:pt x="70" y="340"/>
                  </a:lnTo>
                  <a:lnTo>
                    <a:pt x="85" y="351"/>
                  </a:lnTo>
                  <a:lnTo>
                    <a:pt x="100" y="360"/>
                  </a:lnTo>
                  <a:lnTo>
                    <a:pt x="108" y="364"/>
                  </a:lnTo>
                  <a:lnTo>
                    <a:pt x="117" y="369"/>
                  </a:lnTo>
                  <a:lnTo>
                    <a:pt x="127" y="372"/>
                  </a:lnTo>
                  <a:lnTo>
                    <a:pt x="134" y="375"/>
                  </a:lnTo>
                  <a:lnTo>
                    <a:pt x="143" y="378"/>
                  </a:lnTo>
                  <a:lnTo>
                    <a:pt x="153" y="380"/>
                  </a:lnTo>
                  <a:lnTo>
                    <a:pt x="162" y="381"/>
                  </a:lnTo>
                  <a:lnTo>
                    <a:pt x="173" y="383"/>
                  </a:lnTo>
                  <a:lnTo>
                    <a:pt x="182" y="383"/>
                  </a:lnTo>
                  <a:lnTo>
                    <a:pt x="193" y="384"/>
                  </a:lnTo>
                  <a:lnTo>
                    <a:pt x="202" y="383"/>
                  </a:lnTo>
                  <a:lnTo>
                    <a:pt x="211" y="383"/>
                  </a:lnTo>
                  <a:lnTo>
                    <a:pt x="222" y="381"/>
                  </a:lnTo>
                  <a:lnTo>
                    <a:pt x="231" y="380"/>
                  </a:lnTo>
                  <a:lnTo>
                    <a:pt x="240" y="378"/>
                  </a:lnTo>
                  <a:lnTo>
                    <a:pt x="250" y="375"/>
                  </a:lnTo>
                  <a:lnTo>
                    <a:pt x="259" y="372"/>
                  </a:lnTo>
                  <a:lnTo>
                    <a:pt x="266" y="369"/>
                  </a:lnTo>
                  <a:lnTo>
                    <a:pt x="276" y="364"/>
                  </a:lnTo>
                  <a:lnTo>
                    <a:pt x="283" y="360"/>
                  </a:lnTo>
                  <a:lnTo>
                    <a:pt x="300" y="351"/>
                  </a:lnTo>
                  <a:lnTo>
                    <a:pt x="314" y="340"/>
                  </a:lnTo>
                  <a:lnTo>
                    <a:pt x="328" y="327"/>
                  </a:lnTo>
                  <a:lnTo>
                    <a:pt x="340" y="314"/>
                  </a:lnTo>
                  <a:lnTo>
                    <a:pt x="351" y="300"/>
                  </a:lnTo>
                  <a:lnTo>
                    <a:pt x="360" y="283"/>
                  </a:lnTo>
                  <a:lnTo>
                    <a:pt x="365" y="275"/>
                  </a:lnTo>
                  <a:lnTo>
                    <a:pt x="370" y="266"/>
                  </a:lnTo>
                  <a:lnTo>
                    <a:pt x="373" y="258"/>
                  </a:lnTo>
                  <a:lnTo>
                    <a:pt x="376" y="249"/>
                  </a:lnTo>
                  <a:lnTo>
                    <a:pt x="379" y="240"/>
                  </a:lnTo>
                  <a:lnTo>
                    <a:pt x="380" y="231"/>
                  </a:lnTo>
                  <a:lnTo>
                    <a:pt x="382" y="221"/>
                  </a:lnTo>
                  <a:lnTo>
                    <a:pt x="383" y="211"/>
                  </a:lnTo>
                  <a:lnTo>
                    <a:pt x="383" y="201"/>
                  </a:lnTo>
                  <a:lnTo>
                    <a:pt x="385" y="192"/>
                  </a:lnTo>
                  <a:lnTo>
                    <a:pt x="383" y="181"/>
                  </a:lnTo>
                  <a:lnTo>
                    <a:pt x="383" y="172"/>
                  </a:lnTo>
                  <a:lnTo>
                    <a:pt x="382" y="161"/>
                  </a:lnTo>
                  <a:lnTo>
                    <a:pt x="380" y="152"/>
                  </a:lnTo>
                  <a:lnTo>
                    <a:pt x="379" y="143"/>
                  </a:lnTo>
                  <a:lnTo>
                    <a:pt x="376" y="134"/>
                  </a:lnTo>
                  <a:lnTo>
                    <a:pt x="373" y="126"/>
                  </a:lnTo>
                  <a:lnTo>
                    <a:pt x="370" y="117"/>
                  </a:lnTo>
                  <a:lnTo>
                    <a:pt x="365" y="108"/>
                  </a:lnTo>
                  <a:lnTo>
                    <a:pt x="360" y="100"/>
                  </a:lnTo>
                  <a:lnTo>
                    <a:pt x="351" y="84"/>
                  </a:lnTo>
                  <a:lnTo>
                    <a:pt x="340" y="69"/>
                  </a:lnTo>
                  <a:lnTo>
                    <a:pt x="328" y="55"/>
                  </a:lnTo>
                  <a:lnTo>
                    <a:pt x="314" y="43"/>
                  </a:lnTo>
                  <a:lnTo>
                    <a:pt x="300" y="32"/>
                  </a:lnTo>
                  <a:lnTo>
                    <a:pt x="283" y="23"/>
                  </a:lnTo>
                  <a:lnTo>
                    <a:pt x="276" y="18"/>
                  </a:lnTo>
                  <a:lnTo>
                    <a:pt x="266" y="14"/>
                  </a:lnTo>
                  <a:lnTo>
                    <a:pt x="259" y="11"/>
                  </a:lnTo>
                  <a:lnTo>
                    <a:pt x="250" y="8"/>
                  </a:lnTo>
                  <a:lnTo>
                    <a:pt x="240" y="5"/>
                  </a:lnTo>
                  <a:lnTo>
                    <a:pt x="231" y="3"/>
                  </a:lnTo>
                  <a:lnTo>
                    <a:pt x="222" y="1"/>
                  </a:lnTo>
                  <a:lnTo>
                    <a:pt x="211" y="0"/>
                  </a:lnTo>
                  <a:lnTo>
                    <a:pt x="202" y="0"/>
                  </a:lnTo>
                  <a:lnTo>
                    <a:pt x="193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11" name="Rectangle 185"/>
            <p:cNvSpPr>
              <a:spLocks noChangeArrowheads="1"/>
            </p:cNvSpPr>
            <p:nvPr/>
          </p:nvSpPr>
          <p:spPr bwMode="auto">
            <a:xfrm>
              <a:off x="3945" y="292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 sz="1900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  <a:endParaRPr lang="en-GB" altLang="en-US"/>
            </a:p>
          </p:txBody>
        </p:sp>
      </p:grpSp>
      <p:sp>
        <p:nvSpPr>
          <p:cNvPr id="23601" name="Line 186"/>
          <p:cNvSpPr>
            <a:spLocks noChangeShapeType="1"/>
          </p:cNvSpPr>
          <p:nvPr/>
        </p:nvSpPr>
        <p:spPr bwMode="auto">
          <a:xfrm flipH="1">
            <a:off x="3806825" y="5418138"/>
            <a:ext cx="96838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AutoShape 187"/>
          <p:cNvSpPr>
            <a:spLocks noChangeArrowheads="1"/>
          </p:cNvSpPr>
          <p:nvPr/>
        </p:nvSpPr>
        <p:spPr bwMode="auto">
          <a:xfrm>
            <a:off x="1066800" y="4800600"/>
            <a:ext cx="812800" cy="152400"/>
          </a:xfrm>
          <a:prstGeom prst="rightArrow">
            <a:avLst>
              <a:gd name="adj1" fmla="val 50000"/>
              <a:gd name="adj2" fmla="val 133333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03" name="Text Box 188"/>
          <p:cNvSpPr txBox="1">
            <a:spLocks noChangeArrowheads="1"/>
          </p:cNvSpPr>
          <p:nvPr/>
        </p:nvSpPr>
        <p:spPr bwMode="auto">
          <a:xfrm>
            <a:off x="838200" y="4343400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>
                <a:latin typeface="Calibri" panose="020F0502020204030204" pitchFamily="34" charset="0"/>
              </a:rPr>
              <a:t>Rotate right</a:t>
            </a:r>
          </a:p>
        </p:txBody>
      </p:sp>
      <p:sp>
        <p:nvSpPr>
          <p:cNvPr id="23604" name="Freeform 190"/>
          <p:cNvSpPr>
            <a:spLocks/>
          </p:cNvSpPr>
          <p:nvPr/>
        </p:nvSpPr>
        <p:spPr bwMode="auto">
          <a:xfrm>
            <a:off x="4119563" y="5611813"/>
            <a:ext cx="304800" cy="306387"/>
          </a:xfrm>
          <a:custGeom>
            <a:avLst/>
            <a:gdLst>
              <a:gd name="T0" fmla="*/ 2147483647 w 385"/>
              <a:gd name="T1" fmla="*/ 0 h 384"/>
              <a:gd name="T2" fmla="*/ 2147483647 w 385"/>
              <a:gd name="T3" fmla="*/ 2147483647 h 384"/>
              <a:gd name="T4" fmla="*/ 2147483647 w 385"/>
              <a:gd name="T5" fmla="*/ 2147483647 h 384"/>
              <a:gd name="T6" fmla="*/ 2147483647 w 385"/>
              <a:gd name="T7" fmla="*/ 2147483647 h 384"/>
              <a:gd name="T8" fmla="*/ 2147483647 w 385"/>
              <a:gd name="T9" fmla="*/ 2147483647 h 384"/>
              <a:gd name="T10" fmla="*/ 2147483647 w 385"/>
              <a:gd name="T11" fmla="*/ 2147483647 h 384"/>
              <a:gd name="T12" fmla="*/ 2147483647 w 385"/>
              <a:gd name="T13" fmla="*/ 2147483647 h 384"/>
              <a:gd name="T14" fmla="*/ 2147483647 w 385"/>
              <a:gd name="T15" fmla="*/ 2147483647 h 384"/>
              <a:gd name="T16" fmla="*/ 2147483647 w 385"/>
              <a:gd name="T17" fmla="*/ 2147483647 h 384"/>
              <a:gd name="T18" fmla="*/ 2147483647 w 385"/>
              <a:gd name="T19" fmla="*/ 2147483647 h 384"/>
              <a:gd name="T20" fmla="*/ 2147483647 w 385"/>
              <a:gd name="T21" fmla="*/ 2147483647 h 384"/>
              <a:gd name="T22" fmla="*/ 2147483647 w 385"/>
              <a:gd name="T23" fmla="*/ 2147483647 h 384"/>
              <a:gd name="T24" fmla="*/ 0 w 385"/>
              <a:gd name="T25" fmla="*/ 2147483647 h 384"/>
              <a:gd name="T26" fmla="*/ 0 w 385"/>
              <a:gd name="T27" fmla="*/ 2147483647 h 384"/>
              <a:gd name="T28" fmla="*/ 2147483647 w 385"/>
              <a:gd name="T29" fmla="*/ 2147483647 h 384"/>
              <a:gd name="T30" fmla="*/ 2147483647 w 385"/>
              <a:gd name="T31" fmla="*/ 2147483647 h 384"/>
              <a:gd name="T32" fmla="*/ 2147483647 w 385"/>
              <a:gd name="T33" fmla="*/ 2147483647 h 384"/>
              <a:gd name="T34" fmla="*/ 2147483647 w 385"/>
              <a:gd name="T35" fmla="*/ 2147483647 h 384"/>
              <a:gd name="T36" fmla="*/ 2147483647 w 385"/>
              <a:gd name="T37" fmla="*/ 2147483647 h 384"/>
              <a:gd name="T38" fmla="*/ 2147483647 w 385"/>
              <a:gd name="T39" fmla="*/ 2147483647 h 384"/>
              <a:gd name="T40" fmla="*/ 2147483647 w 385"/>
              <a:gd name="T41" fmla="*/ 2147483647 h 384"/>
              <a:gd name="T42" fmla="*/ 2147483647 w 385"/>
              <a:gd name="T43" fmla="*/ 2147483647 h 384"/>
              <a:gd name="T44" fmla="*/ 2147483647 w 385"/>
              <a:gd name="T45" fmla="*/ 2147483647 h 384"/>
              <a:gd name="T46" fmla="*/ 2147483647 w 385"/>
              <a:gd name="T47" fmla="*/ 2147483647 h 384"/>
              <a:gd name="T48" fmla="*/ 2147483647 w 385"/>
              <a:gd name="T49" fmla="*/ 2147483647 h 384"/>
              <a:gd name="T50" fmla="*/ 2147483647 w 385"/>
              <a:gd name="T51" fmla="*/ 2147483647 h 384"/>
              <a:gd name="T52" fmla="*/ 2147483647 w 385"/>
              <a:gd name="T53" fmla="*/ 2147483647 h 384"/>
              <a:gd name="T54" fmla="*/ 2147483647 w 385"/>
              <a:gd name="T55" fmla="*/ 2147483647 h 384"/>
              <a:gd name="T56" fmla="*/ 2147483647 w 385"/>
              <a:gd name="T57" fmla="*/ 2147483647 h 384"/>
              <a:gd name="T58" fmla="*/ 2147483647 w 385"/>
              <a:gd name="T59" fmla="*/ 2147483647 h 384"/>
              <a:gd name="T60" fmla="*/ 2147483647 w 385"/>
              <a:gd name="T61" fmla="*/ 2147483647 h 384"/>
              <a:gd name="T62" fmla="*/ 2147483647 w 385"/>
              <a:gd name="T63" fmla="*/ 2147483647 h 384"/>
              <a:gd name="T64" fmla="*/ 2147483647 w 385"/>
              <a:gd name="T65" fmla="*/ 2147483647 h 384"/>
              <a:gd name="T66" fmla="*/ 2147483647 w 385"/>
              <a:gd name="T67" fmla="*/ 2147483647 h 384"/>
              <a:gd name="T68" fmla="*/ 2147483647 w 385"/>
              <a:gd name="T69" fmla="*/ 2147483647 h 384"/>
              <a:gd name="T70" fmla="*/ 2147483647 w 385"/>
              <a:gd name="T71" fmla="*/ 2147483647 h 384"/>
              <a:gd name="T72" fmla="*/ 2147483647 w 385"/>
              <a:gd name="T73" fmla="*/ 2147483647 h 384"/>
              <a:gd name="T74" fmla="*/ 2147483647 w 385"/>
              <a:gd name="T75" fmla="*/ 2147483647 h 384"/>
              <a:gd name="T76" fmla="*/ 2147483647 w 385"/>
              <a:gd name="T77" fmla="*/ 2147483647 h 384"/>
              <a:gd name="T78" fmla="*/ 2147483647 w 385"/>
              <a:gd name="T79" fmla="*/ 2147483647 h 384"/>
              <a:gd name="T80" fmla="*/ 2147483647 w 385"/>
              <a:gd name="T81" fmla="*/ 2147483647 h 384"/>
              <a:gd name="T82" fmla="*/ 2147483647 w 385"/>
              <a:gd name="T83" fmla="*/ 2147483647 h 384"/>
              <a:gd name="T84" fmla="*/ 2147483647 w 385"/>
              <a:gd name="T85" fmla="*/ 2147483647 h 384"/>
              <a:gd name="T86" fmla="*/ 2147483647 w 385"/>
              <a:gd name="T87" fmla="*/ 2147483647 h 384"/>
              <a:gd name="T88" fmla="*/ 2147483647 w 385"/>
              <a:gd name="T89" fmla="*/ 2147483647 h 384"/>
              <a:gd name="T90" fmla="*/ 2147483647 w 385"/>
              <a:gd name="T91" fmla="*/ 2147483647 h 384"/>
              <a:gd name="T92" fmla="*/ 2147483647 w 385"/>
              <a:gd name="T93" fmla="*/ 2147483647 h 384"/>
              <a:gd name="T94" fmla="*/ 2147483647 w 385"/>
              <a:gd name="T95" fmla="*/ 2147483647 h 384"/>
              <a:gd name="T96" fmla="*/ 2147483647 w 385"/>
              <a:gd name="T97" fmla="*/ 2147483647 h 384"/>
              <a:gd name="T98" fmla="*/ 2147483647 w 385"/>
              <a:gd name="T99" fmla="*/ 2147483647 h 384"/>
              <a:gd name="T100" fmla="*/ 2147483647 w 385"/>
              <a:gd name="T101" fmla="*/ 2147483647 h 384"/>
              <a:gd name="T102" fmla="*/ 2147483647 w 385"/>
              <a:gd name="T103" fmla="*/ 0 h 38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w 385"/>
              <a:gd name="T157" fmla="*/ 0 h 384"/>
              <a:gd name="T158" fmla="*/ 385 w 385"/>
              <a:gd name="T159" fmla="*/ 384 h 384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T156" t="T157" r="T158" b="T159"/>
            <a:pathLst>
              <a:path w="385" h="384">
                <a:moveTo>
                  <a:pt x="193" y="0"/>
                </a:moveTo>
                <a:lnTo>
                  <a:pt x="182" y="0"/>
                </a:lnTo>
                <a:lnTo>
                  <a:pt x="173" y="0"/>
                </a:lnTo>
                <a:lnTo>
                  <a:pt x="162" y="1"/>
                </a:lnTo>
                <a:lnTo>
                  <a:pt x="153" y="3"/>
                </a:lnTo>
                <a:lnTo>
                  <a:pt x="143" y="5"/>
                </a:lnTo>
                <a:lnTo>
                  <a:pt x="134" y="8"/>
                </a:lnTo>
                <a:lnTo>
                  <a:pt x="127" y="11"/>
                </a:lnTo>
                <a:lnTo>
                  <a:pt x="117" y="14"/>
                </a:lnTo>
                <a:lnTo>
                  <a:pt x="108" y="18"/>
                </a:lnTo>
                <a:lnTo>
                  <a:pt x="100" y="23"/>
                </a:lnTo>
                <a:lnTo>
                  <a:pt x="85" y="32"/>
                </a:lnTo>
                <a:lnTo>
                  <a:pt x="70" y="43"/>
                </a:lnTo>
                <a:lnTo>
                  <a:pt x="56" y="55"/>
                </a:lnTo>
                <a:lnTo>
                  <a:pt x="43" y="69"/>
                </a:lnTo>
                <a:lnTo>
                  <a:pt x="33" y="84"/>
                </a:lnTo>
                <a:lnTo>
                  <a:pt x="23" y="100"/>
                </a:lnTo>
                <a:lnTo>
                  <a:pt x="19" y="108"/>
                </a:lnTo>
                <a:lnTo>
                  <a:pt x="14" y="117"/>
                </a:lnTo>
                <a:lnTo>
                  <a:pt x="11" y="126"/>
                </a:lnTo>
                <a:lnTo>
                  <a:pt x="8" y="134"/>
                </a:lnTo>
                <a:lnTo>
                  <a:pt x="5" y="143"/>
                </a:lnTo>
                <a:lnTo>
                  <a:pt x="3" y="152"/>
                </a:lnTo>
                <a:lnTo>
                  <a:pt x="2" y="161"/>
                </a:lnTo>
                <a:lnTo>
                  <a:pt x="0" y="172"/>
                </a:lnTo>
                <a:lnTo>
                  <a:pt x="0" y="181"/>
                </a:lnTo>
                <a:lnTo>
                  <a:pt x="0" y="192"/>
                </a:lnTo>
                <a:lnTo>
                  <a:pt x="0" y="201"/>
                </a:lnTo>
                <a:lnTo>
                  <a:pt x="0" y="211"/>
                </a:lnTo>
                <a:lnTo>
                  <a:pt x="2" y="221"/>
                </a:lnTo>
                <a:lnTo>
                  <a:pt x="3" y="231"/>
                </a:lnTo>
                <a:lnTo>
                  <a:pt x="5" y="240"/>
                </a:lnTo>
                <a:lnTo>
                  <a:pt x="8" y="249"/>
                </a:lnTo>
                <a:lnTo>
                  <a:pt x="11" y="258"/>
                </a:lnTo>
                <a:lnTo>
                  <a:pt x="14" y="266"/>
                </a:lnTo>
                <a:lnTo>
                  <a:pt x="19" y="275"/>
                </a:lnTo>
                <a:lnTo>
                  <a:pt x="23" y="283"/>
                </a:lnTo>
                <a:lnTo>
                  <a:pt x="33" y="300"/>
                </a:lnTo>
                <a:lnTo>
                  <a:pt x="43" y="314"/>
                </a:lnTo>
                <a:lnTo>
                  <a:pt x="56" y="327"/>
                </a:lnTo>
                <a:lnTo>
                  <a:pt x="70" y="340"/>
                </a:lnTo>
                <a:lnTo>
                  <a:pt x="85" y="351"/>
                </a:lnTo>
                <a:lnTo>
                  <a:pt x="100" y="360"/>
                </a:lnTo>
                <a:lnTo>
                  <a:pt x="108" y="364"/>
                </a:lnTo>
                <a:lnTo>
                  <a:pt x="117" y="369"/>
                </a:lnTo>
                <a:lnTo>
                  <a:pt x="127" y="372"/>
                </a:lnTo>
                <a:lnTo>
                  <a:pt x="134" y="375"/>
                </a:lnTo>
                <a:lnTo>
                  <a:pt x="143" y="378"/>
                </a:lnTo>
                <a:lnTo>
                  <a:pt x="153" y="380"/>
                </a:lnTo>
                <a:lnTo>
                  <a:pt x="162" y="381"/>
                </a:lnTo>
                <a:lnTo>
                  <a:pt x="173" y="383"/>
                </a:lnTo>
                <a:lnTo>
                  <a:pt x="182" y="383"/>
                </a:lnTo>
                <a:lnTo>
                  <a:pt x="193" y="384"/>
                </a:lnTo>
                <a:lnTo>
                  <a:pt x="202" y="383"/>
                </a:lnTo>
                <a:lnTo>
                  <a:pt x="211" y="383"/>
                </a:lnTo>
                <a:lnTo>
                  <a:pt x="222" y="381"/>
                </a:lnTo>
                <a:lnTo>
                  <a:pt x="231" y="380"/>
                </a:lnTo>
                <a:lnTo>
                  <a:pt x="240" y="378"/>
                </a:lnTo>
                <a:lnTo>
                  <a:pt x="250" y="375"/>
                </a:lnTo>
                <a:lnTo>
                  <a:pt x="259" y="372"/>
                </a:lnTo>
                <a:lnTo>
                  <a:pt x="266" y="369"/>
                </a:lnTo>
                <a:lnTo>
                  <a:pt x="276" y="364"/>
                </a:lnTo>
                <a:lnTo>
                  <a:pt x="283" y="360"/>
                </a:lnTo>
                <a:lnTo>
                  <a:pt x="300" y="351"/>
                </a:lnTo>
                <a:lnTo>
                  <a:pt x="314" y="340"/>
                </a:lnTo>
                <a:lnTo>
                  <a:pt x="328" y="327"/>
                </a:lnTo>
                <a:lnTo>
                  <a:pt x="340" y="314"/>
                </a:lnTo>
                <a:lnTo>
                  <a:pt x="351" y="300"/>
                </a:lnTo>
                <a:lnTo>
                  <a:pt x="360" y="283"/>
                </a:lnTo>
                <a:lnTo>
                  <a:pt x="365" y="275"/>
                </a:lnTo>
                <a:lnTo>
                  <a:pt x="370" y="266"/>
                </a:lnTo>
                <a:lnTo>
                  <a:pt x="373" y="258"/>
                </a:lnTo>
                <a:lnTo>
                  <a:pt x="376" y="249"/>
                </a:lnTo>
                <a:lnTo>
                  <a:pt x="379" y="240"/>
                </a:lnTo>
                <a:lnTo>
                  <a:pt x="380" y="231"/>
                </a:lnTo>
                <a:lnTo>
                  <a:pt x="382" y="221"/>
                </a:lnTo>
                <a:lnTo>
                  <a:pt x="383" y="211"/>
                </a:lnTo>
                <a:lnTo>
                  <a:pt x="383" y="201"/>
                </a:lnTo>
                <a:lnTo>
                  <a:pt x="385" y="192"/>
                </a:lnTo>
                <a:lnTo>
                  <a:pt x="383" y="181"/>
                </a:lnTo>
                <a:lnTo>
                  <a:pt x="383" y="172"/>
                </a:lnTo>
                <a:lnTo>
                  <a:pt x="382" y="161"/>
                </a:lnTo>
                <a:lnTo>
                  <a:pt x="380" y="152"/>
                </a:lnTo>
                <a:lnTo>
                  <a:pt x="379" y="143"/>
                </a:lnTo>
                <a:lnTo>
                  <a:pt x="376" y="134"/>
                </a:lnTo>
                <a:lnTo>
                  <a:pt x="373" y="126"/>
                </a:lnTo>
                <a:lnTo>
                  <a:pt x="370" y="117"/>
                </a:lnTo>
                <a:lnTo>
                  <a:pt x="365" y="108"/>
                </a:lnTo>
                <a:lnTo>
                  <a:pt x="360" y="100"/>
                </a:lnTo>
                <a:lnTo>
                  <a:pt x="351" y="84"/>
                </a:lnTo>
                <a:lnTo>
                  <a:pt x="340" y="69"/>
                </a:lnTo>
                <a:lnTo>
                  <a:pt x="328" y="55"/>
                </a:lnTo>
                <a:lnTo>
                  <a:pt x="314" y="43"/>
                </a:lnTo>
                <a:lnTo>
                  <a:pt x="300" y="32"/>
                </a:lnTo>
                <a:lnTo>
                  <a:pt x="283" y="23"/>
                </a:lnTo>
                <a:lnTo>
                  <a:pt x="276" y="18"/>
                </a:lnTo>
                <a:lnTo>
                  <a:pt x="266" y="14"/>
                </a:lnTo>
                <a:lnTo>
                  <a:pt x="259" y="11"/>
                </a:lnTo>
                <a:lnTo>
                  <a:pt x="250" y="8"/>
                </a:lnTo>
                <a:lnTo>
                  <a:pt x="240" y="5"/>
                </a:lnTo>
                <a:lnTo>
                  <a:pt x="231" y="3"/>
                </a:lnTo>
                <a:lnTo>
                  <a:pt x="222" y="1"/>
                </a:lnTo>
                <a:lnTo>
                  <a:pt x="211" y="0"/>
                </a:lnTo>
                <a:lnTo>
                  <a:pt x="202" y="0"/>
                </a:lnTo>
                <a:lnTo>
                  <a:pt x="193" y="0"/>
                </a:lnTo>
              </a:path>
            </a:pathLst>
          </a:custGeom>
          <a:noFill/>
          <a:ln w="158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Rectangle 191"/>
          <p:cNvSpPr>
            <a:spLocks noChangeArrowheads="1"/>
          </p:cNvSpPr>
          <p:nvPr/>
        </p:nvSpPr>
        <p:spPr bwMode="auto">
          <a:xfrm>
            <a:off x="4210050" y="5611813"/>
            <a:ext cx="1206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900">
                <a:solidFill>
                  <a:srgbClr val="000000"/>
                </a:solidFill>
                <a:latin typeface="Times New Roman" pitchFamily="18" charset="0"/>
              </a:rPr>
              <a:t>9</a:t>
            </a:r>
            <a:endParaRPr lang="en-GB" altLang="en-US"/>
          </a:p>
        </p:txBody>
      </p:sp>
      <p:sp>
        <p:nvSpPr>
          <p:cNvPr id="23606" name="Line 192"/>
          <p:cNvSpPr>
            <a:spLocks noChangeShapeType="1"/>
          </p:cNvSpPr>
          <p:nvPr/>
        </p:nvSpPr>
        <p:spPr bwMode="auto">
          <a:xfrm>
            <a:off x="4087813" y="5368925"/>
            <a:ext cx="74612" cy="290513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Text Box 193"/>
          <p:cNvSpPr txBox="1">
            <a:spLocks noChangeArrowheads="1"/>
          </p:cNvSpPr>
          <p:nvPr/>
        </p:nvSpPr>
        <p:spPr bwMode="auto">
          <a:xfrm>
            <a:off x="6092826" y="4565387"/>
            <a:ext cx="2590800" cy="1200329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See Moodle for long worked example of AVL tree for you with solution.</a:t>
            </a:r>
          </a:p>
        </p:txBody>
      </p:sp>
      <p:sp>
        <p:nvSpPr>
          <p:cNvPr id="23608" name="Slide Number Placeholder 18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6AC3477-54B5-4BBC-89B4-EDB8F9398505}" type="slidenum">
              <a:rPr lang="en-GB" altLang="en-US" smtClean="0"/>
              <a:pPr eaLnBrk="1" hangingPunct="1"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4450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"/>
          <p:cNvSpPr>
            <a:spLocks noChangeArrowheads="1"/>
          </p:cNvSpPr>
          <p:nvPr/>
        </p:nvSpPr>
        <p:spPr bwMode="auto">
          <a:xfrm>
            <a:off x="609600" y="2057400"/>
            <a:ext cx="5791200" cy="28623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&lt;E&gt;{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//Instance variables: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private E element;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left;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right;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int height;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parent;</a:t>
            </a:r>
          </a:p>
          <a:p>
            <a:pPr eaLnBrk="1" hangingPunct="1"/>
            <a:endParaRPr lang="en-GB" altLang="en-US" b="1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//methods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715963"/>
          </a:xfrm>
        </p:spPr>
        <p:txBody>
          <a:bodyPr/>
          <a:lstStyle/>
          <a:p>
            <a:r>
              <a:rPr lang="en-GB" altLang="en-US"/>
              <a:t>AVL implementation in Java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458200" cy="1447800"/>
          </a:xfrm>
        </p:spPr>
        <p:txBody>
          <a:bodyPr/>
          <a:lstStyle/>
          <a:p>
            <a:r>
              <a:rPr lang="en-GB" altLang="en-US" sz="1800" dirty="0"/>
              <a:t>Need to keep a record of the height of a node</a:t>
            </a:r>
          </a:p>
          <a:p>
            <a:pPr lvl="1"/>
            <a:r>
              <a:rPr lang="en-GB" altLang="en-US" sz="1800" dirty="0"/>
              <a:t>So </a:t>
            </a:r>
            <a:r>
              <a:rPr lang="en-GB" altLang="en-US" sz="1800" dirty="0" err="1"/>
              <a:t>AVLnode</a:t>
            </a:r>
            <a:r>
              <a:rPr lang="en-GB" altLang="en-US" sz="1800" dirty="0"/>
              <a:t> defined thus:</a:t>
            </a:r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6781800" y="3200400"/>
            <a:ext cx="1752600" cy="36933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what’s this?</a:t>
            </a:r>
          </a:p>
        </p:txBody>
      </p:sp>
      <p:sp>
        <p:nvSpPr>
          <p:cNvPr id="24582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E9F978-6282-452F-8956-0012CC2AC1CA}" type="slidenum">
              <a:rPr lang="en-GB" altLang="en-US" smtClean="0"/>
              <a:pPr eaLnBrk="1" hangingPunct="1"/>
              <a:t>23</a:t>
            </a:fld>
            <a:endParaRPr lang="en-GB" altLang="en-US"/>
          </a:p>
        </p:txBody>
      </p:sp>
      <p:cxnSp>
        <p:nvCxnSpPr>
          <p:cNvPr id="14" name="Straight Arrow Connector 13"/>
          <p:cNvCxnSpPr>
            <a:stCxn id="24581" idx="1"/>
          </p:cNvCxnSpPr>
          <p:nvPr/>
        </p:nvCxnSpPr>
        <p:spPr>
          <a:xfrm flipH="1">
            <a:off x="2667000" y="3385066"/>
            <a:ext cx="4114800" cy="272534"/>
          </a:xfrm>
          <a:prstGeom prst="straightConnector1">
            <a:avLst/>
          </a:prstGeom>
          <a:ln w="12700">
            <a:solidFill>
              <a:srgbClr val="00206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5" name="TextBox 14"/>
          <p:cNvSpPr txBox="1">
            <a:spLocks noChangeArrowheads="1"/>
          </p:cNvSpPr>
          <p:nvPr/>
        </p:nvSpPr>
        <p:spPr bwMode="auto">
          <a:xfrm>
            <a:off x="457200" y="4876800"/>
            <a:ext cx="7696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Height of node p =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-1 if p is null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0 if p is leaf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Max(height(</a:t>
            </a:r>
            <a:r>
              <a:rPr lang="en-GB" altLang="en-US" dirty="0" err="1">
                <a:latin typeface="Calibri" panose="020F0502020204030204" pitchFamily="34" charset="0"/>
              </a:rPr>
              <a:t>p.left</a:t>
            </a:r>
            <a:r>
              <a:rPr lang="en-GB" altLang="en-US" dirty="0">
                <a:latin typeface="Calibri" panose="020F0502020204030204" pitchFamily="34" charset="0"/>
              </a:rPr>
              <a:t>),height(</a:t>
            </a:r>
            <a:r>
              <a:rPr lang="en-GB" altLang="en-US" dirty="0" err="1">
                <a:latin typeface="Calibri" panose="020F0502020204030204" pitchFamily="34" charset="0"/>
              </a:rPr>
              <a:t>p.right</a:t>
            </a:r>
            <a:r>
              <a:rPr lang="en-GB" altLang="en-US" dirty="0">
                <a:latin typeface="Calibri" panose="020F0502020204030204" pitchFamily="34" charset="0"/>
              </a:rPr>
              <a:t>)) + 1 otherwise.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Height of </a:t>
            </a:r>
            <a:r>
              <a:rPr lang="en-GB" altLang="en-US" dirty="0" err="1">
                <a:latin typeface="Calibri" panose="020F0502020204030204" pitchFamily="34" charset="0"/>
              </a:rPr>
              <a:t>AVLTree</a:t>
            </a:r>
            <a:r>
              <a:rPr lang="en-GB" altLang="en-US" dirty="0">
                <a:latin typeface="Calibri" panose="020F0502020204030204" pitchFamily="34" charset="0"/>
              </a:rPr>
              <a:t> = height of root.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303520" y="4876800"/>
            <a:ext cx="2971800" cy="147732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It is necessary to also keep track of the parent of a node (to find the deepest unbalanced node), but we won’t look at this in detail.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DFE540B-1529-872A-6C16-7A2CB3AF8CFF}"/>
              </a:ext>
            </a:extLst>
          </p:cNvPr>
          <p:cNvCxnSpPr>
            <a:cxnSpLocks/>
          </p:cNvCxnSpPr>
          <p:nvPr/>
        </p:nvCxnSpPr>
        <p:spPr>
          <a:xfrm flipH="1" flipV="1">
            <a:off x="3962400" y="4038600"/>
            <a:ext cx="1524000" cy="838200"/>
          </a:xfrm>
          <a:prstGeom prst="straightConnector1">
            <a:avLst/>
          </a:prstGeom>
          <a:ln w="12700">
            <a:solidFill>
              <a:srgbClr val="00206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587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altLang="en-US"/>
              <a:t>AVL implementation contd.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DEEFD98-5A9A-4E05-9660-B6D6E0BFBF58}" type="slidenum">
              <a:rPr lang="en-GB" altLang="en-US" smtClean="0"/>
              <a:pPr eaLnBrk="1" hangingPunct="1"/>
              <a:t>24</a:t>
            </a:fld>
            <a:endParaRPr lang="en-GB" altLang="en-US"/>
          </a:p>
        </p:txBody>
      </p:sp>
      <p:sp>
        <p:nvSpPr>
          <p:cNvPr id="25605" name="Text Box 6"/>
          <p:cNvSpPr txBox="1">
            <a:spLocks noChangeArrowheads="1"/>
          </p:cNvSpPr>
          <p:nvPr/>
        </p:nvSpPr>
        <p:spPr bwMode="auto">
          <a:xfrm>
            <a:off x="533400" y="2438400"/>
            <a:ext cx="8001000" cy="14462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solidFill>
                  <a:srgbClr val="008000"/>
                </a:solidFill>
                <a:latin typeface="Courier" pitchFamily="49" charset="0"/>
              </a:rPr>
              <a:t>/**return height of tree rooted at p*/</a:t>
            </a:r>
            <a:br>
              <a:rPr lang="en-GB" altLang="en-US" sz="1600" dirty="0">
                <a:solidFill>
                  <a:srgbClr val="008000"/>
                </a:solidFill>
                <a:latin typeface="Courier" pitchFamily="49" charset="0"/>
              </a:rPr>
            </a:br>
            <a:r>
              <a:rPr lang="en-GB" altLang="en-US" sz="1600" dirty="0">
                <a:latin typeface="Courier" pitchFamily="49" charset="0"/>
              </a:rPr>
              <a:t>public </a:t>
            </a:r>
            <a:r>
              <a:rPr lang="en-GB" altLang="en-US" sz="1600" dirty="0" err="1">
                <a:latin typeface="Courier" pitchFamily="49" charset="0"/>
              </a:rPr>
              <a:t>int</a:t>
            </a:r>
            <a:r>
              <a:rPr lang="en-GB" altLang="en-US" sz="1600" dirty="0">
                <a:latin typeface="Courier" pitchFamily="49" charset="0"/>
              </a:rPr>
              <a:t> height(</a:t>
            </a:r>
            <a:r>
              <a:rPr lang="en-GB" altLang="en-US" sz="1600" dirty="0" err="1">
                <a:latin typeface="Courier" pitchFamily="49" charset="0"/>
              </a:rPr>
              <a:t>AVLNode</a:t>
            </a:r>
            <a:r>
              <a:rPr lang="en-GB" altLang="en-US" sz="1600" dirty="0">
                <a:latin typeface="Courier" pitchFamily="49" charset="0"/>
              </a:rPr>
              <a:t>&lt;E&gt; p){ }</a:t>
            </a:r>
          </a:p>
          <a:p>
            <a:pPr eaLnBrk="1" hangingPunct="1">
              <a:spcBef>
                <a:spcPct val="50000"/>
              </a:spcBef>
            </a:pPr>
            <a:endParaRPr lang="en-GB" altLang="en-US" sz="1600" dirty="0">
              <a:latin typeface="Courier" pitchFamily="49" charset="0"/>
            </a:endParaRPr>
          </a:p>
          <a:p>
            <a:pPr eaLnBrk="1" hangingPunct="1"/>
            <a:r>
              <a:rPr lang="en-GB" altLang="en-US" sz="1600" dirty="0">
                <a:solidFill>
                  <a:srgbClr val="008000"/>
                </a:solidFill>
                <a:latin typeface="Courier" pitchFamily="49" charset="0"/>
              </a:rPr>
              <a:t>/**reset heights of all  nodes starting at  p */</a:t>
            </a:r>
          </a:p>
          <a:p>
            <a:pPr eaLnBrk="1" hangingPunct="1"/>
            <a:r>
              <a:rPr lang="en-GB" altLang="en-US" sz="1600" dirty="0">
                <a:latin typeface="Courier" pitchFamily="49" charset="0"/>
              </a:rPr>
              <a:t>public void </a:t>
            </a:r>
            <a:r>
              <a:rPr lang="en-GB" altLang="en-US" sz="1600" dirty="0" err="1">
                <a:latin typeface="Courier" pitchFamily="49" charset="0"/>
              </a:rPr>
              <a:t>resetHeights</a:t>
            </a:r>
            <a:r>
              <a:rPr lang="en-GB" altLang="en-US" sz="1600" dirty="0">
                <a:latin typeface="Courier" pitchFamily="49" charset="0"/>
              </a:rPr>
              <a:t>(</a:t>
            </a:r>
            <a:r>
              <a:rPr lang="en-GB" altLang="en-US" sz="1600" dirty="0" err="1">
                <a:latin typeface="Courier" pitchFamily="49" charset="0"/>
              </a:rPr>
              <a:t>AVLNode</a:t>
            </a:r>
            <a:r>
              <a:rPr lang="en-GB" altLang="en-US" sz="1600" dirty="0">
                <a:latin typeface="Courier" pitchFamily="49" charset="0"/>
              </a:rPr>
              <a:t>&lt;E&gt; p){}</a:t>
            </a:r>
          </a:p>
        </p:txBody>
      </p:sp>
      <p:sp>
        <p:nvSpPr>
          <p:cNvPr id="25607" name="Text Box 5"/>
          <p:cNvSpPr txBox="1">
            <a:spLocks noChangeArrowheads="1"/>
          </p:cNvSpPr>
          <p:nvPr/>
        </p:nvSpPr>
        <p:spPr bwMode="auto">
          <a:xfrm>
            <a:off x="228600" y="1376558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Need to include methods: </a:t>
            </a:r>
          </a:p>
        </p:txBody>
      </p:sp>
    </p:spTree>
    <p:extLst>
      <p:ext uri="{BB962C8B-B14F-4D97-AF65-F5344CB8AC3E}">
        <p14:creationId xmlns:p14="http://schemas.microsoft.com/office/powerpoint/2010/main" val="191681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Java implementation of </a:t>
            </a:r>
            <a:r>
              <a:rPr lang="en-GB" altLang="en-US" sz="2800" dirty="0" err="1"/>
              <a:t>AVLTree</a:t>
            </a:r>
            <a:r>
              <a:rPr lang="en-GB" altLang="en-US" sz="2800" dirty="0"/>
              <a:t> cont.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2362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000" dirty="0"/>
              <a:t>Insert method needs to call other methods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 err="1"/>
              <a:t>sRotateLeft</a:t>
            </a:r>
            <a:endParaRPr lang="en-GB" altLang="en-US" sz="2000" dirty="0"/>
          </a:p>
          <a:p>
            <a:pPr lvl="1">
              <a:lnSpc>
                <a:spcPct val="90000"/>
              </a:lnSpc>
            </a:pPr>
            <a:r>
              <a:rPr lang="en-GB" altLang="en-US"/>
              <a:t>s</a:t>
            </a:r>
            <a:r>
              <a:rPr lang="en-GB" altLang="en-US" sz="2000"/>
              <a:t>Rotate</a:t>
            </a:r>
            <a:r>
              <a:rPr lang="en-GB" altLang="en-US"/>
              <a:t>R</a:t>
            </a:r>
            <a:r>
              <a:rPr lang="en-GB" altLang="en-US" sz="2000"/>
              <a:t>ight</a:t>
            </a:r>
            <a:endParaRPr lang="en-GB" altLang="en-US" sz="2000" dirty="0"/>
          </a:p>
          <a:p>
            <a:pPr lvl="1">
              <a:lnSpc>
                <a:spcPct val="90000"/>
              </a:lnSpc>
            </a:pPr>
            <a:r>
              <a:rPr lang="en-GB" altLang="en-US" sz="2000" dirty="0" err="1"/>
              <a:t>dRotateLeftRight</a:t>
            </a:r>
            <a:endParaRPr lang="en-GB" altLang="en-US" sz="2000" dirty="0"/>
          </a:p>
          <a:p>
            <a:pPr lvl="1">
              <a:lnSpc>
                <a:spcPct val="90000"/>
              </a:lnSpc>
            </a:pPr>
            <a:r>
              <a:rPr lang="en-GB" altLang="en-US" sz="2000" dirty="0" err="1"/>
              <a:t>dRotateRightLeft</a:t>
            </a:r>
            <a:endParaRPr lang="en-GB" altLang="en-US" sz="2000" dirty="0"/>
          </a:p>
          <a:p>
            <a:pPr lvl="1">
              <a:lnSpc>
                <a:spcPct val="90000"/>
              </a:lnSpc>
            </a:pPr>
            <a:endParaRPr lang="en-GB" altLang="en-US" sz="2000" dirty="0"/>
          </a:p>
          <a:p>
            <a:pPr lvl="1">
              <a:lnSpc>
                <a:spcPct val="90000"/>
              </a:lnSpc>
              <a:buFontTx/>
              <a:buNone/>
            </a:pPr>
            <a:endParaRPr lang="en-GB" altLang="en-US" sz="2000" dirty="0"/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513567" y="3352800"/>
            <a:ext cx="75438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We don’t look at all of these here, but will look at </a:t>
            </a:r>
            <a:r>
              <a:rPr lang="en-GB" altLang="en-US" sz="2000" dirty="0" err="1">
                <a:latin typeface="Calibri" panose="020F0502020204030204" pitchFamily="34" charset="0"/>
              </a:rPr>
              <a:t>sRotateLeft</a:t>
            </a:r>
            <a:r>
              <a:rPr lang="en-GB" altLang="en-US" sz="2000" dirty="0">
                <a:latin typeface="Calibri" panose="020F0502020204030204" pitchFamily="34" charset="0"/>
              </a:rPr>
              <a:t>   and </a:t>
            </a:r>
            <a:r>
              <a:rPr lang="en-GB" altLang="en-US" sz="2000" dirty="0" err="1">
                <a:latin typeface="Calibri" panose="020F0502020204030204" pitchFamily="34" charset="0"/>
              </a:rPr>
              <a:t>dRotateLeftRight</a:t>
            </a:r>
            <a:endParaRPr lang="en-GB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GB" altLang="en-US" sz="2000" dirty="0">
              <a:latin typeface="Calibri" panose="020F050202020403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GB" altLang="en-US" sz="2000" dirty="0">
                <a:latin typeface="Calibri" panose="020F0502020204030204" pitchFamily="34" charset="0"/>
              </a:rPr>
              <a:t>Delete method left as an exercise</a:t>
            </a: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7B3AD8-E9DA-4405-9681-E218E64F90B5}" type="slidenum">
              <a:rPr lang="en-GB" altLang="en-US" smtClean="0"/>
              <a:pPr eaLnBrk="1" hangingPunct="1"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5690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34"/>
          <p:cNvGrpSpPr>
            <a:grpSpLocks/>
          </p:cNvGrpSpPr>
          <p:nvPr/>
        </p:nvGrpSpPr>
        <p:grpSpPr bwMode="auto">
          <a:xfrm>
            <a:off x="4343400" y="433709"/>
            <a:ext cx="3200400" cy="2155825"/>
            <a:chOff x="381000" y="358104"/>
            <a:chExt cx="3200400" cy="2156496"/>
          </a:xfrm>
        </p:grpSpPr>
        <p:sp>
          <p:nvSpPr>
            <p:cNvPr id="27665" name="Oval 5"/>
            <p:cNvSpPr>
              <a:spLocks noChangeAspect="1" noChangeArrowheads="1"/>
            </p:cNvSpPr>
            <p:nvPr/>
          </p:nvSpPr>
          <p:spPr bwMode="auto">
            <a:xfrm>
              <a:off x="1143000" y="1143000"/>
              <a:ext cx="414337" cy="40215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400">
                  <a:latin typeface="Comic Sans MS" pitchFamily="66" charset="0"/>
                </a:rPr>
                <a:t>k</a:t>
              </a:r>
              <a:r>
                <a:rPr lang="en-US" altLang="en-US" sz="1400" baseline="-25000">
                  <a:latin typeface="Comic Sans MS" pitchFamily="66" charset="0"/>
                </a:rPr>
                <a:t>1</a:t>
              </a:r>
            </a:p>
          </p:txBody>
        </p:sp>
        <p:sp>
          <p:nvSpPr>
            <p:cNvPr id="27666" name="Oval 7"/>
            <p:cNvSpPr>
              <a:spLocks noChangeAspect="1" noChangeArrowheads="1"/>
            </p:cNvSpPr>
            <p:nvPr/>
          </p:nvSpPr>
          <p:spPr bwMode="auto">
            <a:xfrm>
              <a:off x="2166938" y="358104"/>
              <a:ext cx="423862" cy="41342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400">
                  <a:latin typeface="Comic Sans MS" pitchFamily="66" charset="0"/>
                </a:rPr>
                <a:t>k</a:t>
              </a:r>
              <a:r>
                <a:rPr lang="en-US" altLang="en-US" sz="1400" baseline="-25000">
                  <a:latin typeface="Comic Sans MS" pitchFamily="66" charset="0"/>
                </a:rPr>
                <a:t>2</a:t>
              </a:r>
            </a:p>
          </p:txBody>
        </p:sp>
        <p:cxnSp>
          <p:nvCxnSpPr>
            <p:cNvPr id="27667" name="AutoShape 8"/>
            <p:cNvCxnSpPr>
              <a:cxnSpLocks noChangeShapeType="1"/>
              <a:stCxn id="27666" idx="3"/>
            </p:cNvCxnSpPr>
            <p:nvPr/>
          </p:nvCxnSpPr>
          <p:spPr bwMode="auto">
            <a:xfrm rot="5400000">
              <a:off x="1591440" y="543530"/>
              <a:ext cx="470120" cy="8050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8" name="AutoShape 9"/>
            <p:cNvCxnSpPr>
              <a:cxnSpLocks noChangeShapeType="1"/>
              <a:stCxn id="27666" idx="5"/>
            </p:cNvCxnSpPr>
            <p:nvPr/>
          </p:nvCxnSpPr>
          <p:spPr bwMode="auto">
            <a:xfrm rot="16200000" flipH="1">
              <a:off x="2650936" y="588772"/>
              <a:ext cx="460595" cy="7050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69" name="AutoShape 10"/>
            <p:cNvCxnSpPr>
              <a:cxnSpLocks noChangeShapeType="1"/>
            </p:cNvCxnSpPr>
            <p:nvPr/>
          </p:nvCxnSpPr>
          <p:spPr bwMode="auto">
            <a:xfrm>
              <a:off x="1554163" y="1462088"/>
              <a:ext cx="338138" cy="4333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70" name="AutoShape 11"/>
            <p:cNvCxnSpPr>
              <a:cxnSpLocks noChangeShapeType="1"/>
              <a:stCxn id="27665" idx="3"/>
            </p:cNvCxnSpPr>
            <p:nvPr/>
          </p:nvCxnSpPr>
          <p:spPr bwMode="auto">
            <a:xfrm rot="5400000">
              <a:off x="744638" y="1465523"/>
              <a:ext cx="438306" cy="4797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71" name="AutoShape 12"/>
            <p:cNvSpPr>
              <a:spLocks noChangeArrowheads="1"/>
            </p:cNvSpPr>
            <p:nvPr/>
          </p:nvSpPr>
          <p:spPr bwMode="auto">
            <a:xfrm>
              <a:off x="381000" y="19050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X</a:t>
              </a:r>
            </a:p>
          </p:txBody>
        </p:sp>
        <p:sp>
          <p:nvSpPr>
            <p:cNvPr id="27672" name="AutoShape 13"/>
            <p:cNvSpPr>
              <a:spLocks noChangeArrowheads="1"/>
            </p:cNvSpPr>
            <p:nvPr/>
          </p:nvSpPr>
          <p:spPr bwMode="auto">
            <a:xfrm>
              <a:off x="1524000" y="19050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Y</a:t>
              </a:r>
            </a:p>
          </p:txBody>
        </p:sp>
        <p:sp>
          <p:nvSpPr>
            <p:cNvPr id="27673" name="AutoShape 14"/>
            <p:cNvSpPr>
              <a:spLocks noChangeArrowheads="1"/>
            </p:cNvSpPr>
            <p:nvPr/>
          </p:nvSpPr>
          <p:spPr bwMode="auto">
            <a:xfrm>
              <a:off x="2819400" y="11430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Z</a:t>
              </a:r>
            </a:p>
          </p:txBody>
        </p:sp>
      </p:grpSp>
      <p:grpSp>
        <p:nvGrpSpPr>
          <p:cNvPr id="27651" name="Group 35"/>
          <p:cNvGrpSpPr>
            <a:grpSpLocks/>
          </p:cNvGrpSpPr>
          <p:nvPr/>
        </p:nvGrpSpPr>
        <p:grpSpPr bwMode="auto">
          <a:xfrm>
            <a:off x="457200" y="451585"/>
            <a:ext cx="3200400" cy="2112963"/>
            <a:chOff x="5029200" y="325588"/>
            <a:chExt cx="3200400" cy="2112812"/>
          </a:xfrm>
        </p:grpSpPr>
        <p:sp>
          <p:nvSpPr>
            <p:cNvPr id="27656" name="Oval 15"/>
            <p:cNvSpPr>
              <a:spLocks noChangeAspect="1" noChangeArrowheads="1"/>
            </p:cNvSpPr>
            <p:nvPr/>
          </p:nvSpPr>
          <p:spPr bwMode="auto">
            <a:xfrm>
              <a:off x="6172200" y="325588"/>
              <a:ext cx="457200" cy="4459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400">
                  <a:latin typeface="Comic Sans MS" pitchFamily="66" charset="0"/>
                </a:rPr>
                <a:t>k</a:t>
              </a:r>
              <a:r>
                <a:rPr lang="en-US" altLang="en-US" sz="1400" baseline="-25000">
                  <a:latin typeface="Comic Sans MS" pitchFamily="66" charset="0"/>
                </a:rPr>
                <a:t>1</a:t>
              </a:r>
            </a:p>
          </p:txBody>
        </p:sp>
        <p:cxnSp>
          <p:nvCxnSpPr>
            <p:cNvPr id="27657" name="AutoShape 16"/>
            <p:cNvCxnSpPr>
              <a:cxnSpLocks noChangeShapeType="1"/>
              <a:stCxn id="27656" idx="3"/>
            </p:cNvCxnSpPr>
            <p:nvPr/>
          </p:nvCxnSpPr>
          <p:spPr bwMode="auto">
            <a:xfrm rot="5400000">
              <a:off x="5596765" y="538710"/>
              <a:ext cx="474880" cy="80990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58" name="AutoShape 17"/>
            <p:cNvCxnSpPr>
              <a:cxnSpLocks noChangeShapeType="1"/>
              <a:stCxn id="27656" idx="5"/>
            </p:cNvCxnSpPr>
            <p:nvPr/>
          </p:nvCxnSpPr>
          <p:spPr bwMode="auto">
            <a:xfrm rot="16200000" flipH="1">
              <a:off x="6668045" y="600619"/>
              <a:ext cx="465354" cy="67655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59" name="Oval 18"/>
            <p:cNvSpPr>
              <a:spLocks noChangeAspect="1" noChangeArrowheads="1"/>
            </p:cNvSpPr>
            <p:nvPr/>
          </p:nvSpPr>
          <p:spPr bwMode="auto">
            <a:xfrm>
              <a:off x="7170738" y="1039768"/>
              <a:ext cx="449262" cy="4381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400">
                  <a:latin typeface="Comic Sans MS" pitchFamily="66" charset="0"/>
                </a:rPr>
                <a:t>k</a:t>
              </a:r>
              <a:r>
                <a:rPr lang="en-US" altLang="en-US" sz="1400" baseline="-25000">
                  <a:latin typeface="Comic Sans MS" pitchFamily="66" charset="0"/>
                </a:rPr>
                <a:t>2</a:t>
              </a:r>
            </a:p>
          </p:txBody>
        </p:sp>
        <p:sp>
          <p:nvSpPr>
            <p:cNvPr id="27660" name="AutoShape 19"/>
            <p:cNvSpPr>
              <a:spLocks noChangeArrowheads="1"/>
            </p:cNvSpPr>
            <p:nvPr/>
          </p:nvSpPr>
          <p:spPr bwMode="auto">
            <a:xfrm>
              <a:off x="5029200" y="11430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X</a:t>
              </a:r>
            </a:p>
          </p:txBody>
        </p:sp>
        <p:cxnSp>
          <p:nvCxnSpPr>
            <p:cNvPr id="27661" name="AutoShape 20"/>
            <p:cNvCxnSpPr>
              <a:cxnSpLocks noChangeShapeType="1"/>
            </p:cNvCxnSpPr>
            <p:nvPr/>
          </p:nvCxnSpPr>
          <p:spPr bwMode="auto">
            <a:xfrm flipH="1">
              <a:off x="6777038" y="1447800"/>
              <a:ext cx="466725" cy="4159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2" name="AutoShape 21"/>
            <p:cNvSpPr>
              <a:spLocks noChangeArrowheads="1"/>
            </p:cNvSpPr>
            <p:nvPr/>
          </p:nvSpPr>
          <p:spPr bwMode="auto">
            <a:xfrm>
              <a:off x="6400800" y="18288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Y</a:t>
              </a:r>
            </a:p>
          </p:txBody>
        </p:sp>
        <p:cxnSp>
          <p:nvCxnSpPr>
            <p:cNvPr id="27663" name="AutoShape 22"/>
            <p:cNvCxnSpPr>
              <a:cxnSpLocks noChangeShapeType="1"/>
            </p:cNvCxnSpPr>
            <p:nvPr/>
          </p:nvCxnSpPr>
          <p:spPr bwMode="auto">
            <a:xfrm>
              <a:off x="7462838" y="1447800"/>
              <a:ext cx="338138" cy="4333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64" name="AutoShape 23"/>
            <p:cNvSpPr>
              <a:spLocks noChangeArrowheads="1"/>
            </p:cNvSpPr>
            <p:nvPr/>
          </p:nvSpPr>
          <p:spPr bwMode="auto">
            <a:xfrm>
              <a:off x="7467600" y="1828800"/>
              <a:ext cx="762000" cy="60960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Z</a:t>
              </a:r>
            </a:p>
          </p:txBody>
        </p:sp>
      </p:grpSp>
      <p:sp>
        <p:nvSpPr>
          <p:cNvPr id="27652" name="AutoShape 25"/>
          <p:cNvSpPr>
            <a:spLocks noChangeArrowheads="1"/>
          </p:cNvSpPr>
          <p:nvPr/>
        </p:nvSpPr>
        <p:spPr bwMode="auto">
          <a:xfrm flipH="1">
            <a:off x="3775900" y="1013416"/>
            <a:ext cx="685800" cy="152400"/>
          </a:xfrm>
          <a:prstGeom prst="leftArrow">
            <a:avLst>
              <a:gd name="adj1" fmla="val 50000"/>
              <a:gd name="adj2" fmla="val 112500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3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E95B99E-A371-4F7A-A090-4A4DB91154A7}" type="slidenum">
              <a:rPr lang="en-GB" altLang="en-US" smtClean="0"/>
              <a:pPr eaLnBrk="1" hangingPunct="1"/>
              <a:t>26</a:t>
            </a:fld>
            <a:endParaRPr lang="en-GB" altLang="en-US"/>
          </a:p>
        </p:txBody>
      </p:sp>
      <p:sp>
        <p:nvSpPr>
          <p:cNvPr id="27655" name="Rectangle 26"/>
          <p:cNvSpPr>
            <a:spLocks noChangeArrowheads="1"/>
          </p:cNvSpPr>
          <p:nvPr/>
        </p:nvSpPr>
        <p:spPr bwMode="auto">
          <a:xfrm>
            <a:off x="304800" y="2819400"/>
            <a:ext cx="8610600" cy="3140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b="1" dirty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sRotateLeft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k1){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k2=k1.getRight();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k1.setRight(k2.getLeft());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k2.setLeft(k1);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     k1.setHeight(max(height(k1.getLeft()),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                      height(k1.getRight()))+1);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k2.setHeight(max(height(k2.getRight()),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                       height(k1))+1);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k2;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0407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73"/>
          <p:cNvGrpSpPr>
            <a:grpSpLocks/>
          </p:cNvGrpSpPr>
          <p:nvPr/>
        </p:nvGrpSpPr>
        <p:grpSpPr bwMode="auto">
          <a:xfrm>
            <a:off x="152400" y="685800"/>
            <a:ext cx="2514600" cy="2057400"/>
            <a:chOff x="152400" y="685800"/>
            <a:chExt cx="2514600" cy="2057400"/>
          </a:xfrm>
        </p:grpSpPr>
        <p:sp>
          <p:nvSpPr>
            <p:cNvPr id="28711" name="Oval 5"/>
            <p:cNvSpPr>
              <a:spLocks noChangeAspect="1" noChangeArrowheads="1"/>
            </p:cNvSpPr>
            <p:nvPr/>
          </p:nvSpPr>
          <p:spPr bwMode="auto">
            <a:xfrm>
              <a:off x="794668" y="1295400"/>
              <a:ext cx="389050" cy="37655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2</a:t>
              </a:r>
            </a:p>
          </p:txBody>
        </p:sp>
        <p:grpSp>
          <p:nvGrpSpPr>
            <p:cNvPr id="28712" name="Group 72"/>
            <p:cNvGrpSpPr>
              <a:grpSpLocks/>
            </p:cNvGrpSpPr>
            <p:nvPr/>
          </p:nvGrpSpPr>
          <p:grpSpPr bwMode="auto">
            <a:xfrm>
              <a:off x="989194" y="685800"/>
              <a:ext cx="1373774" cy="742343"/>
              <a:chOff x="989194" y="685800"/>
              <a:chExt cx="1373774" cy="742343"/>
            </a:xfrm>
          </p:grpSpPr>
          <p:sp>
            <p:nvSpPr>
              <p:cNvPr id="28722" name="Oval 7"/>
              <p:cNvSpPr>
                <a:spLocks noChangeAspect="1" noChangeArrowheads="1"/>
              </p:cNvSpPr>
              <p:nvPr/>
            </p:nvSpPr>
            <p:spPr bwMode="auto">
              <a:xfrm>
                <a:off x="1516745" y="685800"/>
                <a:ext cx="413847" cy="40252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latin typeface="Comic Sans MS" pitchFamily="66" charset="0"/>
                  </a:rPr>
                  <a:t>k</a:t>
                </a:r>
                <a:r>
                  <a:rPr lang="en-US" altLang="en-US" sz="1600" baseline="-25000">
                    <a:latin typeface="Comic Sans MS" pitchFamily="66" charset="0"/>
                  </a:rPr>
                  <a:t>1</a:t>
                </a:r>
              </a:p>
            </p:txBody>
          </p:sp>
          <p:cxnSp>
            <p:nvCxnSpPr>
              <p:cNvPr id="28723" name="AutoShape 8"/>
              <p:cNvCxnSpPr>
                <a:cxnSpLocks noChangeShapeType="1"/>
                <a:stCxn id="28722" idx="3"/>
                <a:endCxn id="28711" idx="0"/>
              </p:cNvCxnSpPr>
              <p:nvPr/>
            </p:nvCxnSpPr>
            <p:spPr bwMode="auto">
              <a:xfrm rot="5400000">
                <a:off x="1150262" y="868309"/>
                <a:ext cx="266023" cy="58815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724" name="AutoShape 9"/>
              <p:cNvCxnSpPr>
                <a:cxnSpLocks noChangeShapeType="1"/>
                <a:stCxn id="28722" idx="5"/>
                <a:endCxn id="28717" idx="0"/>
              </p:cNvCxnSpPr>
              <p:nvPr/>
            </p:nvCxnSpPr>
            <p:spPr bwMode="auto">
              <a:xfrm rot="16200000" flipH="1">
                <a:off x="1917093" y="982268"/>
                <a:ext cx="398767" cy="49298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8713" name="AutoShape 10"/>
            <p:cNvCxnSpPr>
              <a:cxnSpLocks noChangeShapeType="1"/>
              <a:stCxn id="28711" idx="5"/>
            </p:cNvCxnSpPr>
            <p:nvPr/>
          </p:nvCxnSpPr>
          <p:spPr bwMode="auto">
            <a:xfrm rot="16200000" flipH="1">
              <a:off x="1146870" y="1596681"/>
              <a:ext cx="256004" cy="2962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14" name="AutoShape 11"/>
            <p:cNvCxnSpPr>
              <a:cxnSpLocks noChangeShapeType="1"/>
              <a:stCxn id="28711" idx="3"/>
            </p:cNvCxnSpPr>
            <p:nvPr/>
          </p:nvCxnSpPr>
          <p:spPr bwMode="auto">
            <a:xfrm rot="5400000">
              <a:off x="477408" y="1599637"/>
              <a:ext cx="357065" cy="3914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15" name="AutoShape 12"/>
            <p:cNvSpPr>
              <a:spLocks noChangeArrowheads="1"/>
            </p:cNvSpPr>
            <p:nvPr/>
          </p:nvSpPr>
          <p:spPr bwMode="auto">
            <a:xfrm>
              <a:off x="152400" y="1980189"/>
              <a:ext cx="608064" cy="485093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A</a:t>
              </a:r>
            </a:p>
          </p:txBody>
        </p:sp>
        <p:sp>
          <p:nvSpPr>
            <p:cNvPr id="28716" name="AutoShape 13"/>
            <p:cNvSpPr>
              <a:spLocks noChangeArrowheads="1"/>
            </p:cNvSpPr>
            <p:nvPr/>
          </p:nvSpPr>
          <p:spPr bwMode="auto">
            <a:xfrm>
              <a:off x="840273" y="2249264"/>
              <a:ext cx="608064" cy="485093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B</a:t>
              </a:r>
            </a:p>
          </p:txBody>
        </p:sp>
        <p:sp>
          <p:nvSpPr>
            <p:cNvPr id="28717" name="AutoShape 14"/>
            <p:cNvSpPr>
              <a:spLocks noChangeArrowheads="1"/>
            </p:cNvSpPr>
            <p:nvPr/>
          </p:nvSpPr>
          <p:spPr bwMode="auto">
            <a:xfrm>
              <a:off x="2058936" y="1428144"/>
              <a:ext cx="608064" cy="485093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D</a:t>
              </a:r>
            </a:p>
          </p:txBody>
        </p:sp>
        <p:sp>
          <p:nvSpPr>
            <p:cNvPr id="28718" name="AutoShape 24"/>
            <p:cNvSpPr>
              <a:spLocks noChangeArrowheads="1"/>
            </p:cNvSpPr>
            <p:nvPr/>
          </p:nvSpPr>
          <p:spPr bwMode="auto">
            <a:xfrm>
              <a:off x="1530679" y="2258107"/>
              <a:ext cx="608064" cy="485093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GB" altLang="en-US"/>
                <a:t>C</a:t>
              </a:r>
            </a:p>
          </p:txBody>
        </p:sp>
        <p:sp>
          <p:nvSpPr>
            <p:cNvPr id="28719" name="Oval 25"/>
            <p:cNvSpPr>
              <a:spLocks noChangeAspect="1" noChangeArrowheads="1"/>
            </p:cNvSpPr>
            <p:nvPr/>
          </p:nvSpPr>
          <p:spPr bwMode="auto">
            <a:xfrm>
              <a:off x="1368529" y="1752600"/>
              <a:ext cx="378713" cy="3665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3</a:t>
              </a:r>
            </a:p>
          </p:txBody>
        </p:sp>
        <p:sp>
          <p:nvSpPr>
            <p:cNvPr id="28720" name="Line 26"/>
            <p:cNvSpPr>
              <a:spLocks noChangeShapeType="1"/>
            </p:cNvSpPr>
            <p:nvPr/>
          </p:nvSpPr>
          <p:spPr bwMode="auto">
            <a:xfrm flipH="1">
              <a:off x="1135438" y="2101463"/>
              <a:ext cx="287564" cy="1629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721" name="Line 27"/>
            <p:cNvSpPr>
              <a:spLocks noChangeShapeType="1"/>
            </p:cNvSpPr>
            <p:nvPr/>
          </p:nvSpPr>
          <p:spPr bwMode="auto">
            <a:xfrm>
              <a:off x="1576284" y="2111569"/>
              <a:ext cx="259694" cy="1440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675" name="Group 78"/>
          <p:cNvGrpSpPr>
            <a:grpSpLocks/>
          </p:cNvGrpSpPr>
          <p:nvPr/>
        </p:nvGrpSpPr>
        <p:grpSpPr bwMode="auto">
          <a:xfrm>
            <a:off x="5222017" y="1123156"/>
            <a:ext cx="3036888" cy="1665288"/>
            <a:chOff x="5791200" y="990600"/>
            <a:chExt cx="3036887" cy="1665288"/>
          </a:xfrm>
        </p:grpSpPr>
        <p:sp>
          <p:nvSpPr>
            <p:cNvPr id="28697" name="Oval 28"/>
            <p:cNvSpPr>
              <a:spLocks noChangeAspect="1" noChangeArrowheads="1"/>
            </p:cNvSpPr>
            <p:nvPr/>
          </p:nvSpPr>
          <p:spPr bwMode="auto">
            <a:xfrm>
              <a:off x="6477000" y="1524000"/>
              <a:ext cx="391054" cy="36092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2</a:t>
              </a:r>
            </a:p>
          </p:txBody>
        </p:sp>
        <p:grpSp>
          <p:nvGrpSpPr>
            <p:cNvPr id="28698" name="Group 76"/>
            <p:cNvGrpSpPr>
              <a:grpSpLocks/>
            </p:cNvGrpSpPr>
            <p:nvPr/>
          </p:nvGrpSpPr>
          <p:grpSpPr bwMode="auto">
            <a:xfrm>
              <a:off x="5791200" y="990600"/>
              <a:ext cx="3036887" cy="1665288"/>
              <a:chOff x="5818188" y="1295400"/>
              <a:chExt cx="3036887" cy="1665288"/>
            </a:xfrm>
          </p:grpSpPr>
          <p:sp>
            <p:nvSpPr>
              <p:cNvPr id="28699" name="Oval 15"/>
              <p:cNvSpPr>
                <a:spLocks noChangeAspect="1" noChangeArrowheads="1"/>
              </p:cNvSpPr>
              <p:nvPr/>
            </p:nvSpPr>
            <p:spPr bwMode="auto">
              <a:xfrm>
                <a:off x="7298922" y="1295400"/>
                <a:ext cx="407502" cy="37795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latin typeface="Comic Sans MS" pitchFamily="66" charset="0"/>
                  </a:rPr>
                  <a:t>k</a:t>
                </a:r>
                <a:r>
                  <a:rPr lang="en-US" altLang="en-US" sz="1600" baseline="-25000">
                    <a:latin typeface="Comic Sans MS" pitchFamily="66" charset="0"/>
                  </a:rPr>
                  <a:t>3</a:t>
                </a:r>
              </a:p>
            </p:txBody>
          </p:sp>
          <p:cxnSp>
            <p:nvCxnSpPr>
              <p:cNvPr id="28700" name="AutoShape 16"/>
              <p:cNvCxnSpPr>
                <a:cxnSpLocks noChangeShapeType="1"/>
                <a:stCxn id="28699" idx="3"/>
                <a:endCxn id="28697" idx="7"/>
              </p:cNvCxnSpPr>
              <p:nvPr/>
            </p:nvCxnSpPr>
            <p:spPr bwMode="auto">
              <a:xfrm rot="5400000">
                <a:off x="6966361" y="1489418"/>
                <a:ext cx="263650" cy="5208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701" name="AutoShape 17"/>
              <p:cNvCxnSpPr>
                <a:cxnSpLocks noChangeShapeType="1"/>
                <a:stCxn id="28699" idx="5"/>
                <a:endCxn id="28702" idx="0"/>
              </p:cNvCxnSpPr>
              <p:nvPr/>
            </p:nvCxnSpPr>
            <p:spPr bwMode="auto">
              <a:xfrm rot="16200000" flipH="1">
                <a:off x="7846506" y="1418246"/>
                <a:ext cx="206879" cy="60639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8702" name="Oval 18"/>
              <p:cNvSpPr>
                <a:spLocks noChangeAspect="1" noChangeArrowheads="1"/>
              </p:cNvSpPr>
              <p:nvPr/>
            </p:nvSpPr>
            <p:spPr bwMode="auto">
              <a:xfrm>
                <a:off x="8048088" y="1824885"/>
                <a:ext cx="410112" cy="380377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latin typeface="Comic Sans MS" pitchFamily="66" charset="0"/>
                  </a:rPr>
                  <a:t>k</a:t>
                </a:r>
                <a:r>
                  <a:rPr lang="en-US" altLang="en-US" sz="1600" baseline="-25000">
                    <a:latin typeface="Comic Sans MS" pitchFamily="66" charset="0"/>
                  </a:rPr>
                  <a:t>1</a:t>
                </a:r>
              </a:p>
            </p:txBody>
          </p:sp>
          <p:sp>
            <p:nvSpPr>
              <p:cNvPr id="28703" name="AutoShape 19"/>
              <p:cNvSpPr>
                <a:spLocks noChangeArrowheads="1"/>
              </p:cNvSpPr>
              <p:nvPr/>
            </p:nvSpPr>
            <p:spPr bwMode="auto">
              <a:xfrm>
                <a:off x="6654086" y="2501695"/>
                <a:ext cx="603355" cy="458993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B</a:t>
                </a:r>
              </a:p>
            </p:txBody>
          </p:sp>
          <p:cxnSp>
            <p:nvCxnSpPr>
              <p:cNvPr id="28704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7736354" y="2182552"/>
                <a:ext cx="369555" cy="31316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8705" name="AutoShape 21"/>
              <p:cNvSpPr>
                <a:spLocks noChangeArrowheads="1"/>
              </p:cNvSpPr>
              <p:nvPr/>
            </p:nvSpPr>
            <p:spPr bwMode="auto">
              <a:xfrm>
                <a:off x="7444733" y="2473008"/>
                <a:ext cx="603355" cy="458993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C</a:t>
                </a:r>
              </a:p>
            </p:txBody>
          </p:sp>
          <p:cxnSp>
            <p:nvCxnSpPr>
              <p:cNvPr id="28706" name="AutoShape 22"/>
              <p:cNvCxnSpPr>
                <a:cxnSpLocks noChangeShapeType="1"/>
              </p:cNvCxnSpPr>
              <p:nvPr/>
            </p:nvCxnSpPr>
            <p:spPr bwMode="auto">
              <a:xfrm>
                <a:off x="8279374" y="2182552"/>
                <a:ext cx="267739" cy="32631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8707" name="AutoShape 23"/>
              <p:cNvSpPr>
                <a:spLocks noChangeArrowheads="1"/>
              </p:cNvSpPr>
              <p:nvPr/>
            </p:nvSpPr>
            <p:spPr bwMode="auto">
              <a:xfrm>
                <a:off x="8251720" y="2490937"/>
                <a:ext cx="603355" cy="458993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D</a:t>
                </a:r>
              </a:p>
            </p:txBody>
          </p:sp>
          <p:sp>
            <p:nvSpPr>
              <p:cNvPr id="28708" name="AutoShape 29"/>
              <p:cNvSpPr>
                <a:spLocks noChangeArrowheads="1"/>
              </p:cNvSpPr>
              <p:nvPr/>
            </p:nvSpPr>
            <p:spPr bwMode="auto">
              <a:xfrm>
                <a:off x="5818188" y="2483766"/>
                <a:ext cx="603355" cy="458993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A</a:t>
                </a:r>
              </a:p>
            </p:txBody>
          </p:sp>
          <p:cxnSp>
            <p:nvCxnSpPr>
              <p:cNvPr id="28709" name="AutoShape 30"/>
              <p:cNvCxnSpPr>
                <a:cxnSpLocks noChangeShapeType="1"/>
              </p:cNvCxnSpPr>
              <p:nvPr/>
            </p:nvCxnSpPr>
            <p:spPr bwMode="auto">
              <a:xfrm flipH="1">
                <a:off x="6123636" y="2180161"/>
                <a:ext cx="369555" cy="31316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710" name="AutoShape 31"/>
              <p:cNvCxnSpPr>
                <a:cxnSpLocks noChangeShapeType="1"/>
              </p:cNvCxnSpPr>
              <p:nvPr/>
            </p:nvCxnSpPr>
            <p:spPr bwMode="auto">
              <a:xfrm>
                <a:off x="6675455" y="2188528"/>
                <a:ext cx="267739" cy="32631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28676" name="Group 75"/>
          <p:cNvGrpSpPr>
            <a:grpSpLocks/>
          </p:cNvGrpSpPr>
          <p:nvPr/>
        </p:nvGrpSpPr>
        <p:grpSpPr bwMode="auto">
          <a:xfrm>
            <a:off x="2621141" y="463036"/>
            <a:ext cx="2924175" cy="2482850"/>
            <a:chOff x="2838450" y="482294"/>
            <a:chExt cx="2924175" cy="2483156"/>
          </a:xfrm>
        </p:grpSpPr>
        <p:sp>
          <p:nvSpPr>
            <p:cNvPr id="28683" name="Oval 48"/>
            <p:cNvSpPr>
              <a:spLocks noChangeAspect="1" noChangeArrowheads="1"/>
            </p:cNvSpPr>
            <p:nvPr/>
          </p:nvSpPr>
          <p:spPr bwMode="auto">
            <a:xfrm>
              <a:off x="3482975" y="1711826"/>
              <a:ext cx="403225" cy="38526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latin typeface="Comic Sans MS" pitchFamily="66" charset="0"/>
                </a:rPr>
                <a:t>k</a:t>
              </a:r>
              <a:r>
                <a:rPr lang="en-US" altLang="en-US" sz="1600" baseline="-25000">
                  <a:latin typeface="Comic Sans MS" pitchFamily="66" charset="0"/>
                </a:rPr>
                <a:t>2</a:t>
              </a:r>
            </a:p>
          </p:txBody>
        </p:sp>
        <p:grpSp>
          <p:nvGrpSpPr>
            <p:cNvPr id="28684" name="Group 74"/>
            <p:cNvGrpSpPr>
              <a:grpSpLocks/>
            </p:cNvGrpSpPr>
            <p:nvPr/>
          </p:nvGrpSpPr>
          <p:grpSpPr bwMode="auto">
            <a:xfrm>
              <a:off x="2838450" y="482294"/>
              <a:ext cx="2924175" cy="2483156"/>
              <a:chOff x="2838450" y="482294"/>
              <a:chExt cx="2924175" cy="2483156"/>
            </a:xfrm>
          </p:grpSpPr>
          <p:sp>
            <p:nvSpPr>
              <p:cNvPr id="28685" name="Oval 35"/>
              <p:cNvSpPr>
                <a:spLocks noChangeAspect="1" noChangeArrowheads="1"/>
              </p:cNvSpPr>
              <p:nvPr/>
            </p:nvSpPr>
            <p:spPr bwMode="auto">
              <a:xfrm>
                <a:off x="4691063" y="482294"/>
                <a:ext cx="414337" cy="39877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latin typeface="Comic Sans MS" pitchFamily="66" charset="0"/>
                  </a:rPr>
                  <a:t>k</a:t>
                </a:r>
                <a:r>
                  <a:rPr lang="en-US" altLang="en-US" sz="1600" baseline="-25000">
                    <a:latin typeface="Comic Sans MS" pitchFamily="66" charset="0"/>
                  </a:rPr>
                  <a:t>1</a:t>
                </a:r>
              </a:p>
            </p:txBody>
          </p:sp>
          <p:cxnSp>
            <p:nvCxnSpPr>
              <p:cNvPr id="28686" name="AutoShape 36"/>
              <p:cNvCxnSpPr>
                <a:cxnSpLocks noChangeShapeType="1"/>
                <a:stCxn id="28685" idx="3"/>
                <a:endCxn id="28691" idx="7"/>
              </p:cNvCxnSpPr>
              <p:nvPr/>
            </p:nvCxnSpPr>
            <p:spPr bwMode="auto">
              <a:xfrm rot="5400000">
                <a:off x="4353566" y="754147"/>
                <a:ext cx="329657" cy="46669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87" name="AutoShape 37"/>
              <p:cNvCxnSpPr>
                <a:cxnSpLocks noChangeShapeType="1"/>
                <a:stCxn id="28685" idx="5"/>
                <a:endCxn id="28690" idx="0"/>
              </p:cNvCxnSpPr>
              <p:nvPr/>
            </p:nvCxnSpPr>
            <p:spPr bwMode="auto">
              <a:xfrm rot="16200000" flipH="1">
                <a:off x="5069278" y="798109"/>
                <a:ext cx="396534" cy="44564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8688" name="AutoShape 39"/>
              <p:cNvSpPr>
                <a:spLocks noChangeArrowheads="1"/>
              </p:cNvSpPr>
              <p:nvPr/>
            </p:nvSpPr>
            <p:spPr bwMode="auto">
              <a:xfrm>
                <a:off x="3733800" y="2438400"/>
                <a:ext cx="544513" cy="527050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B</a:t>
                </a:r>
              </a:p>
            </p:txBody>
          </p:sp>
          <p:sp>
            <p:nvSpPr>
              <p:cNvPr id="28689" name="AutoShape 41"/>
              <p:cNvSpPr>
                <a:spLocks noChangeArrowheads="1"/>
              </p:cNvSpPr>
              <p:nvPr/>
            </p:nvSpPr>
            <p:spPr bwMode="auto">
              <a:xfrm>
                <a:off x="4117975" y="1808163"/>
                <a:ext cx="544513" cy="527050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C</a:t>
                </a:r>
              </a:p>
            </p:txBody>
          </p:sp>
          <p:sp>
            <p:nvSpPr>
              <p:cNvPr id="28690" name="AutoShape 43"/>
              <p:cNvSpPr>
                <a:spLocks noChangeArrowheads="1"/>
              </p:cNvSpPr>
              <p:nvPr/>
            </p:nvSpPr>
            <p:spPr bwMode="auto">
              <a:xfrm>
                <a:off x="5218113" y="1219200"/>
                <a:ext cx="544512" cy="527050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D</a:t>
                </a:r>
              </a:p>
            </p:txBody>
          </p:sp>
          <p:sp>
            <p:nvSpPr>
              <p:cNvPr id="28691" name="Oval 44"/>
              <p:cNvSpPr>
                <a:spLocks noChangeAspect="1" noChangeArrowheads="1"/>
              </p:cNvSpPr>
              <p:nvPr/>
            </p:nvSpPr>
            <p:spPr bwMode="auto">
              <a:xfrm>
                <a:off x="3944938" y="1096724"/>
                <a:ext cx="398462" cy="37965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r>
                  <a:rPr lang="en-US" altLang="en-US" sz="1600">
                    <a:latin typeface="Comic Sans MS" pitchFamily="66" charset="0"/>
                  </a:rPr>
                  <a:t>k</a:t>
                </a:r>
                <a:r>
                  <a:rPr lang="en-US" altLang="en-US" sz="1600" baseline="-25000">
                    <a:latin typeface="Comic Sans MS" pitchFamily="66" charset="0"/>
                  </a:rPr>
                  <a:t>3</a:t>
                </a:r>
              </a:p>
            </p:txBody>
          </p:sp>
          <p:sp>
            <p:nvSpPr>
              <p:cNvPr id="28692" name="AutoShape 45"/>
              <p:cNvSpPr>
                <a:spLocks noChangeArrowheads="1"/>
              </p:cNvSpPr>
              <p:nvPr/>
            </p:nvSpPr>
            <p:spPr bwMode="auto">
              <a:xfrm>
                <a:off x="2838450" y="2433638"/>
                <a:ext cx="544513" cy="527050"/>
              </a:xfrm>
              <a:prstGeom prst="triangle">
                <a:avLst>
                  <a:gd name="adj" fmla="val 50000"/>
                </a:avLst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GB" altLang="en-US"/>
                  <a:t>A</a:t>
                </a:r>
              </a:p>
            </p:txBody>
          </p:sp>
          <p:cxnSp>
            <p:nvCxnSpPr>
              <p:cNvPr id="28693" name="AutoShape 46"/>
              <p:cNvCxnSpPr>
                <a:cxnSpLocks noChangeShapeType="1"/>
                <a:endCxn id="28683" idx="0"/>
              </p:cNvCxnSpPr>
              <p:nvPr/>
            </p:nvCxnSpPr>
            <p:spPr bwMode="auto">
              <a:xfrm rot="10800000" flipV="1">
                <a:off x="3684588" y="1447800"/>
                <a:ext cx="306388" cy="2640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94" name="AutoShape 47"/>
              <p:cNvCxnSpPr>
                <a:cxnSpLocks noChangeShapeType="1"/>
                <a:endCxn id="28688" idx="0"/>
              </p:cNvCxnSpPr>
              <p:nvPr/>
            </p:nvCxnSpPr>
            <p:spPr bwMode="auto">
              <a:xfrm rot="16200000" flipH="1">
                <a:off x="3717528" y="2149871"/>
                <a:ext cx="381000" cy="19605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95" name="AutoShape 49"/>
              <p:cNvCxnSpPr>
                <a:cxnSpLocks noChangeShapeType="1"/>
                <a:stCxn id="28683" idx="3"/>
              </p:cNvCxnSpPr>
              <p:nvPr/>
            </p:nvCxnSpPr>
            <p:spPr bwMode="auto">
              <a:xfrm rot="5400000">
                <a:off x="3139804" y="2044116"/>
                <a:ext cx="405670" cy="398775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696" name="AutoShape 50"/>
              <p:cNvCxnSpPr>
                <a:cxnSpLocks noChangeShapeType="1"/>
              </p:cNvCxnSpPr>
              <p:nvPr/>
            </p:nvCxnSpPr>
            <p:spPr bwMode="auto">
              <a:xfrm>
                <a:off x="4149725" y="1452563"/>
                <a:ext cx="241300" cy="3746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8677" name="AutoShape 51"/>
          <p:cNvSpPr>
            <a:spLocks noChangeArrowheads="1"/>
          </p:cNvSpPr>
          <p:nvPr/>
        </p:nvSpPr>
        <p:spPr bwMode="auto">
          <a:xfrm>
            <a:off x="2543943" y="1127125"/>
            <a:ext cx="746125" cy="168275"/>
          </a:xfrm>
          <a:prstGeom prst="rightArrow">
            <a:avLst>
              <a:gd name="adj1" fmla="val 50000"/>
              <a:gd name="adj2" fmla="val 110849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AutoShape 52"/>
          <p:cNvSpPr>
            <a:spLocks noChangeArrowheads="1"/>
          </p:cNvSpPr>
          <p:nvPr/>
        </p:nvSpPr>
        <p:spPr bwMode="auto">
          <a:xfrm>
            <a:off x="5514085" y="1070405"/>
            <a:ext cx="746125" cy="168275"/>
          </a:xfrm>
          <a:prstGeom prst="rightArrow">
            <a:avLst>
              <a:gd name="adj1" fmla="val 50000"/>
              <a:gd name="adj2" fmla="val 110849"/>
            </a:avLst>
          </a:prstGeom>
          <a:solidFill>
            <a:srgbClr val="66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Text Box 54"/>
          <p:cNvSpPr txBox="1">
            <a:spLocks noChangeArrowheads="1"/>
          </p:cNvSpPr>
          <p:nvPr/>
        </p:nvSpPr>
        <p:spPr bwMode="auto">
          <a:xfrm>
            <a:off x="304800" y="5730874"/>
            <a:ext cx="2860854" cy="369332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dirty="0">
                <a:latin typeface="Calibri" panose="020F0502020204030204" pitchFamily="34" charset="0"/>
              </a:rPr>
              <a:t>Examples, Tutorial  10A</a:t>
            </a:r>
          </a:p>
        </p:txBody>
      </p:sp>
      <p:sp>
        <p:nvSpPr>
          <p:cNvPr id="28680" name="Slide Number Placeholder 4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A89FAFA-54DB-4238-83EC-1917445F81AF}" type="slidenum">
              <a:rPr lang="en-GB" altLang="en-US" smtClean="0"/>
              <a:pPr eaLnBrk="1" hangingPunct="1"/>
              <a:t>27</a:t>
            </a:fld>
            <a:endParaRPr lang="en-GB" altLang="en-US"/>
          </a:p>
        </p:txBody>
      </p:sp>
      <p:sp>
        <p:nvSpPr>
          <p:cNvPr id="28682" name="Rectangle 50"/>
          <p:cNvSpPr>
            <a:spLocks noChangeArrowheads="1"/>
          </p:cNvSpPr>
          <p:nvPr/>
        </p:nvSpPr>
        <p:spPr bwMode="auto">
          <a:xfrm>
            <a:off x="228600" y="3276600"/>
            <a:ext cx="8229600" cy="2308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b="1" dirty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dRotateLeftRight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k1){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k2=k1.getLeft();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AVLNode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&lt;E&gt; k3=k2.getRight();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k1.setLeft(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sRotateLeft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(k2));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 err="1">
                <a:latin typeface="Courier New" pitchFamily="49" charset="0"/>
                <a:cs typeface="Courier New" pitchFamily="49" charset="0"/>
              </a:rPr>
              <a:t>sRotateRight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(k1);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altLang="en-US" b="1" dirty="0">
                <a:solidFill>
                  <a:srgbClr val="CC33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 k3;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GB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3650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2400" dirty="0"/>
              <a:t>When do I need to do a rotation?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140E5D-35BB-4D42-A211-C69D004A1539}" type="slidenum">
              <a:rPr lang="en-GB" altLang="en-US" smtClean="0"/>
              <a:pPr eaLnBrk="1" hangingPunct="1"/>
              <a:t>28</a:t>
            </a:fld>
            <a:endParaRPr lang="en-GB" altLang="en-US"/>
          </a:p>
        </p:txBody>
      </p:sp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381000" y="1371600"/>
            <a:ext cx="82296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During recursive implementation of insert for AVL tree (value e):</a:t>
            </a:r>
          </a:p>
          <a:p>
            <a:pPr eaLnBrk="1" hangingPunct="1"/>
            <a:endParaRPr lang="en-GB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When insertion has been performed to a left subtree of   node p: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  if height of subtrees of p differ by 2, need rotation: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      if the new root of left subtree &lt; e need  a single right rotation</a:t>
            </a: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      else need a double left right rotation</a:t>
            </a:r>
          </a:p>
          <a:p>
            <a:pPr eaLnBrk="1" hangingPunct="1"/>
            <a:endParaRPr lang="en-GB" altLang="en-US" dirty="0">
              <a:latin typeface="Calibri" panose="020F0502020204030204" pitchFamily="34" charset="0"/>
            </a:endParaRPr>
          </a:p>
          <a:p>
            <a:pPr eaLnBrk="1" hangingPunct="1"/>
            <a:endParaRPr lang="en-GB" altLang="en-US" dirty="0">
              <a:latin typeface="Calibri" panose="020F0502020204030204" pitchFamily="34" charset="0"/>
            </a:endParaRPr>
          </a:p>
          <a:p>
            <a:pPr eaLnBrk="1" hangingPunct="1"/>
            <a:endParaRPr lang="en-GB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Similar argument for when insertion has been performed to a right subtree of node p.</a:t>
            </a:r>
          </a:p>
          <a:p>
            <a:pPr eaLnBrk="1" hangingPunct="1"/>
            <a:endParaRPr lang="en-GB" altLang="en-US" dirty="0">
              <a:latin typeface="Calibri" panose="020F0502020204030204" pitchFamily="34" charset="0"/>
            </a:endParaRPr>
          </a:p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Only need to reset the heights of the tree when new node added, but no rotation required.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5562600"/>
            <a:ext cx="4724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Partial Implementation available on Moodle</a:t>
            </a:r>
          </a:p>
        </p:txBody>
      </p:sp>
    </p:spTree>
    <p:extLst>
      <p:ext uri="{BB962C8B-B14F-4D97-AF65-F5344CB8AC3E}">
        <p14:creationId xmlns:p14="http://schemas.microsoft.com/office/powerpoint/2010/main" val="2001407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4017</TotalTime>
  <Words>2401</Words>
  <Application>Microsoft Office PowerPoint</Application>
  <PresentationFormat>On-screen Show (4:3)</PresentationFormat>
  <Paragraphs>923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Comic Sans MS</vt:lpstr>
      <vt:lpstr>Courier</vt:lpstr>
      <vt:lpstr>Courier New</vt:lpstr>
      <vt:lpstr>Times New Roman</vt:lpstr>
      <vt:lpstr>Wingdings</vt:lpstr>
      <vt:lpstr>Clarity</vt:lpstr>
      <vt:lpstr>10A. AVL Trees</vt:lpstr>
      <vt:lpstr>AVL trees (1)</vt:lpstr>
      <vt:lpstr>AVL Trees</vt:lpstr>
      <vt:lpstr>PowerPoint Presentation</vt:lpstr>
      <vt:lpstr>Operations on AVL trees</vt:lpstr>
      <vt:lpstr>The basic idea of single rotation</vt:lpstr>
      <vt:lpstr>PowerPoint Presentation</vt:lpstr>
      <vt:lpstr>PowerPoint Presentation</vt:lpstr>
      <vt:lpstr>Example: right rotation</vt:lpstr>
      <vt:lpstr>Rotation continued</vt:lpstr>
      <vt:lpstr>Applying single rotation – a worked example</vt:lpstr>
      <vt:lpstr>Worked example (adding nodes containing 1..7 in order)</vt:lpstr>
      <vt:lpstr>Worked example contd.</vt:lpstr>
      <vt:lpstr>Worked example contd.</vt:lpstr>
      <vt:lpstr>Worked example contd.</vt:lpstr>
      <vt:lpstr>AVL tree insert</vt:lpstr>
      <vt:lpstr>Double rotation</vt:lpstr>
      <vt:lpstr>Continuing the example</vt:lpstr>
      <vt:lpstr>Example continued</vt:lpstr>
      <vt:lpstr>Example contd. </vt:lpstr>
      <vt:lpstr>A left-right rotation</vt:lpstr>
      <vt:lpstr>Left-right rotation contd.</vt:lpstr>
      <vt:lpstr>AVL implementation in Java</vt:lpstr>
      <vt:lpstr>AVL implementation contd.</vt:lpstr>
      <vt:lpstr>Java implementation of AVLTree cont.</vt:lpstr>
      <vt:lpstr>PowerPoint Presentation</vt:lpstr>
      <vt:lpstr>PowerPoint Presentation</vt:lpstr>
      <vt:lpstr>When do I need to do a rotation?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Alice</dc:creator>
  <cp:lastModifiedBy>Ivaylo Valkov</cp:lastModifiedBy>
  <cp:revision>56</cp:revision>
  <dcterms:created xsi:type="dcterms:W3CDTF">2006-08-16T00:00:00Z</dcterms:created>
  <dcterms:modified xsi:type="dcterms:W3CDTF">2025-03-13T22:05:39Z</dcterms:modified>
</cp:coreProperties>
</file>