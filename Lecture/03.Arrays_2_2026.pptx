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notesMasterIdLst>
    <p:notesMasterId r:id="rId41"/>
  </p:notesMasterIdLst>
  <p:sldIdLst>
    <p:sldId id="256" r:id="rId2"/>
    <p:sldId id="280" r:id="rId3"/>
    <p:sldId id="281" r:id="rId4"/>
    <p:sldId id="282" r:id="rId5"/>
    <p:sldId id="283" r:id="rId6"/>
    <p:sldId id="284" r:id="rId7"/>
    <p:sldId id="285" r:id="rId8"/>
    <p:sldId id="286" r:id="rId9"/>
    <p:sldId id="287" r:id="rId10"/>
    <p:sldId id="289" r:id="rId11"/>
    <p:sldId id="290" r:id="rId12"/>
    <p:sldId id="291" r:id="rId13"/>
    <p:sldId id="292" r:id="rId14"/>
    <p:sldId id="293" r:id="rId15"/>
    <p:sldId id="294" r:id="rId16"/>
    <p:sldId id="295" r:id="rId17"/>
    <p:sldId id="296" r:id="rId18"/>
    <p:sldId id="297" r:id="rId19"/>
    <p:sldId id="298" r:id="rId20"/>
    <p:sldId id="299" r:id="rId21"/>
    <p:sldId id="300" r:id="rId22"/>
    <p:sldId id="314" r:id="rId23"/>
    <p:sldId id="315" r:id="rId24"/>
    <p:sldId id="301" r:id="rId25"/>
    <p:sldId id="302" r:id="rId26"/>
    <p:sldId id="303" r:id="rId27"/>
    <p:sldId id="304" r:id="rId28"/>
    <p:sldId id="319" r:id="rId29"/>
    <p:sldId id="305" r:id="rId30"/>
    <p:sldId id="306" r:id="rId31"/>
    <p:sldId id="307" r:id="rId32"/>
    <p:sldId id="316" r:id="rId33"/>
    <p:sldId id="317" r:id="rId34"/>
    <p:sldId id="308" r:id="rId35"/>
    <p:sldId id="318" r:id="rId36"/>
    <p:sldId id="310" r:id="rId37"/>
    <p:sldId id="320" r:id="rId38"/>
    <p:sldId id="309" r:id="rId39"/>
    <p:sldId id="311"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FF"/>
    <a:srgbClr val="808000"/>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03" autoAdjust="0"/>
    <p:restoredTop sz="92670" autoAdjust="0"/>
  </p:normalViewPr>
  <p:slideViewPr>
    <p:cSldViewPr>
      <p:cViewPr varScale="1">
        <p:scale>
          <a:sx n="76" d="100"/>
          <a:sy n="76" d="100"/>
        </p:scale>
        <p:origin x="1488" y="62"/>
      </p:cViewPr>
      <p:guideLst>
        <p:guide orient="horz" pos="2160"/>
        <p:guide pos="2880"/>
      </p:guideLst>
    </p:cSldViewPr>
  </p:slideViewPr>
  <p:outlineViewPr>
    <p:cViewPr>
      <p:scale>
        <a:sx n="33" d="100"/>
        <a:sy n="33" d="100"/>
      </p:scale>
      <p:origin x="48" y="74886"/>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1F2587D-3D73-42C0-A887-52FE71FEC1E6}" type="datetimeFigureOut">
              <a:rPr lang="en-GB" smtClean="0"/>
              <a:t>16/01/2025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E616B0D-BED5-4DBD-B1C9-D5ED699C433F}" type="slidenum">
              <a:rPr lang="en-GB" smtClean="0"/>
              <a:t>‹#›</a:t>
            </a:fld>
            <a:endParaRPr lang="en-GB"/>
          </a:p>
        </p:txBody>
      </p:sp>
    </p:spTree>
    <p:extLst>
      <p:ext uri="{BB962C8B-B14F-4D97-AF65-F5344CB8AC3E}">
        <p14:creationId xmlns:p14="http://schemas.microsoft.com/office/powerpoint/2010/main" val="2582241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E616B0D-BED5-4DBD-B1C9-D5ED699C433F}" type="slidenum">
              <a:rPr lang="en-GB" smtClean="0"/>
              <a:t>5</a:t>
            </a:fld>
            <a:endParaRPr lang="en-GB"/>
          </a:p>
        </p:txBody>
      </p:sp>
    </p:spTree>
    <p:extLst>
      <p:ext uri="{BB962C8B-B14F-4D97-AF65-F5344CB8AC3E}">
        <p14:creationId xmlns:p14="http://schemas.microsoft.com/office/powerpoint/2010/main" val="19640983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2606675" y="188913"/>
            <a:ext cx="6142038" cy="719137"/>
          </a:xfrm>
        </p:spPr>
        <p:txBody>
          <a:bodyPr/>
          <a:lstStyle/>
          <a:p>
            <a:r>
              <a:rPr lang="en-US"/>
              <a:t>Click to edit Master title style</a:t>
            </a:r>
            <a:endParaRPr lang="en-GB"/>
          </a:p>
        </p:txBody>
      </p:sp>
      <p:sp>
        <p:nvSpPr>
          <p:cNvPr id="3" name="Table Placeholder 2"/>
          <p:cNvSpPr>
            <a:spLocks noGrp="1"/>
          </p:cNvSpPr>
          <p:nvPr>
            <p:ph type="tbl" idx="1"/>
          </p:nvPr>
        </p:nvSpPr>
        <p:spPr>
          <a:xfrm>
            <a:off x="1547813" y="1700213"/>
            <a:ext cx="7197725" cy="4621212"/>
          </a:xfrm>
        </p:spPr>
        <p:txBody>
          <a:bodyPr/>
          <a:lstStyle/>
          <a:p>
            <a:pPr lvl="0"/>
            <a:endParaRPr lang="en-GB" noProof="0"/>
          </a:p>
        </p:txBody>
      </p:sp>
    </p:spTree>
    <p:extLst>
      <p:ext uri="{BB962C8B-B14F-4D97-AF65-F5344CB8AC3E}">
        <p14:creationId xmlns:p14="http://schemas.microsoft.com/office/powerpoint/2010/main" val="1570834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9" r:id="rId12"/>
  </p:sldLayoutIdLst>
  <p:hf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52400" y="1295400"/>
            <a:ext cx="8280400" cy="736600"/>
          </a:xfrm>
        </p:spPr>
        <p:txBody>
          <a:bodyPr/>
          <a:lstStyle/>
          <a:p>
            <a:pPr algn="ctr" eaLnBrk="1" hangingPunct="1"/>
            <a:br>
              <a:rPr lang="en-GB" altLang="en-US" sz="3600">
                <a:solidFill>
                  <a:schemeClr val="folHlink"/>
                </a:solidFill>
              </a:rPr>
            </a:br>
            <a:r>
              <a:rPr lang="en-GB" altLang="en-US" sz="3600">
                <a:solidFill>
                  <a:schemeClr val="folHlink"/>
                </a:solidFill>
              </a:rPr>
              <a:t>3.2. </a:t>
            </a:r>
            <a:r>
              <a:rPr lang="en-GB" altLang="en-US" sz="3600" dirty="0">
                <a:solidFill>
                  <a:schemeClr val="folHlink"/>
                </a:solidFill>
              </a:rPr>
              <a:t>Array Data Structure</a:t>
            </a:r>
          </a:p>
        </p:txBody>
      </p:sp>
      <p:sp>
        <p:nvSpPr>
          <p:cNvPr id="3075" name="Rectangle 3"/>
          <p:cNvSpPr>
            <a:spLocks noGrp="1" noChangeArrowheads="1"/>
          </p:cNvSpPr>
          <p:nvPr>
            <p:ph type="subTitle" idx="1"/>
          </p:nvPr>
        </p:nvSpPr>
        <p:spPr>
          <a:xfrm>
            <a:off x="661987" y="3657600"/>
            <a:ext cx="7454900" cy="3635375"/>
          </a:xfrm>
        </p:spPr>
        <p:txBody>
          <a:bodyPr/>
          <a:lstStyle/>
          <a:p>
            <a:pPr marL="360363" indent="-360363" eaLnBrk="1" hangingPunct="1">
              <a:buClr>
                <a:schemeClr val="bg1"/>
              </a:buClr>
              <a:buFont typeface="Wingdings" pitchFamily="2" charset="2"/>
              <a:buChar char="§"/>
            </a:pPr>
            <a:r>
              <a:rPr lang="en-US" altLang="en-US" sz="2400" dirty="0"/>
              <a:t>Properties</a:t>
            </a:r>
          </a:p>
          <a:p>
            <a:pPr marL="360363" indent="-360363" eaLnBrk="1" hangingPunct="1">
              <a:buClr>
                <a:schemeClr val="bg1"/>
              </a:buClr>
              <a:buFont typeface="Wingdings" pitchFamily="2" charset="2"/>
              <a:buChar char="§"/>
            </a:pPr>
            <a:r>
              <a:rPr lang="en-US" altLang="en-US" sz="2400" dirty="0"/>
              <a:t>Insertion</a:t>
            </a:r>
          </a:p>
          <a:p>
            <a:pPr marL="360363" indent="-360363" eaLnBrk="1" hangingPunct="1">
              <a:buClr>
                <a:schemeClr val="bg1"/>
              </a:buClr>
              <a:buFont typeface="Wingdings" pitchFamily="2" charset="2"/>
              <a:buChar char="§"/>
            </a:pPr>
            <a:r>
              <a:rPr lang="en-US" altLang="en-US" sz="2400" dirty="0"/>
              <a:t>Deletion</a:t>
            </a:r>
          </a:p>
          <a:p>
            <a:pPr marL="360363" indent="-360363" eaLnBrk="1" hangingPunct="1">
              <a:buClr>
                <a:schemeClr val="bg1"/>
              </a:buClr>
              <a:buFont typeface="Wingdings" pitchFamily="2" charset="2"/>
              <a:buChar char="§"/>
            </a:pPr>
            <a:r>
              <a:rPr lang="en-US" altLang="en-US" sz="2400" dirty="0"/>
              <a:t>Searching: linear search, binary search</a:t>
            </a:r>
          </a:p>
          <a:p>
            <a:pPr marL="360363" indent="-360363" eaLnBrk="1" hangingPunct="1">
              <a:buClr>
                <a:schemeClr val="bg1"/>
              </a:buClr>
              <a:buFont typeface="Wingdings" pitchFamily="2" charset="2"/>
              <a:buChar char="§"/>
            </a:pPr>
            <a:r>
              <a:rPr lang="en-US" altLang="en-US" sz="2400" dirty="0">
                <a:solidFill>
                  <a:srgbClr val="C00000"/>
                </a:solidFill>
              </a:rPr>
              <a:t>Merging</a:t>
            </a:r>
          </a:p>
          <a:p>
            <a:pPr marL="360363" indent="-360363" eaLnBrk="1" hangingPunct="1">
              <a:buClr>
                <a:schemeClr val="bg1"/>
              </a:buClr>
              <a:buFont typeface="Wingdings" pitchFamily="2" charset="2"/>
              <a:buChar char="§"/>
            </a:pPr>
            <a:r>
              <a:rPr lang="en-US" altLang="en-US" sz="2400" dirty="0">
                <a:solidFill>
                  <a:srgbClr val="C00000"/>
                </a:solidFill>
              </a:rPr>
              <a:t>Sorting: selection sort, merge-sort, quick-sort</a:t>
            </a:r>
            <a:endParaRPr lang="en-GB" altLang="en-US" sz="2400" dirty="0">
              <a:solidFill>
                <a:srgbClr val="C00000"/>
              </a:solidFill>
            </a:endParaRPr>
          </a:p>
        </p:txBody>
      </p:sp>
      <p:sp>
        <p:nvSpPr>
          <p:cNvPr id="3076" name="Rectangle 5"/>
          <p:cNvSpPr>
            <a:spLocks noChangeArrowheads="1"/>
          </p:cNvSpPr>
          <p:nvPr/>
        </p:nvSpPr>
        <p:spPr bwMode="auto">
          <a:xfrm>
            <a:off x="1908175" y="6380163"/>
            <a:ext cx="5256213"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eaLnBrk="1" hangingPunct="1">
              <a:buFont typeface="Wingdings" pitchFamily="2" charset="2"/>
              <a:buNone/>
            </a:pPr>
            <a:r>
              <a:rPr lang="en-GB" altLang="en-US" sz="2000">
                <a:solidFill>
                  <a:schemeClr val="bg1"/>
                </a:solidFill>
                <a:cs typeface="Arial" charset="0"/>
              </a:rPr>
              <a:t>© 2008 David A Watt, University of Glasgow</a:t>
            </a:r>
          </a:p>
        </p:txBody>
      </p:sp>
      <p:sp>
        <p:nvSpPr>
          <p:cNvPr id="3077" name="Rectangle 6"/>
          <p:cNvSpPr>
            <a:spLocks noChangeArrowheads="1"/>
          </p:cNvSpPr>
          <p:nvPr/>
        </p:nvSpPr>
        <p:spPr bwMode="auto">
          <a:xfrm>
            <a:off x="4191000" y="465612"/>
            <a:ext cx="3925887" cy="431800"/>
          </a:xfrm>
          <a:prstGeom prst="rect">
            <a:avLst/>
          </a:prstGeom>
          <a:noFill/>
          <a:ln>
            <a:noFill/>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eaLnBrk="1" hangingPunct="1">
              <a:buFont typeface="Wingdings" pitchFamily="2" charset="2"/>
              <a:buNone/>
            </a:pPr>
            <a:r>
              <a:rPr lang="en-GB" altLang="en-US" sz="2000" dirty="0">
                <a:solidFill>
                  <a:schemeClr val="tx2"/>
                </a:solidFill>
                <a:cs typeface="Arial" charset="0"/>
              </a:rPr>
              <a:t>Algorithms &amp; Data Structures (M)</a:t>
            </a:r>
          </a:p>
        </p:txBody>
      </p:sp>
      <p:sp>
        <p:nvSpPr>
          <p:cNvPr id="2" name="Slide Number Placeholder 1"/>
          <p:cNvSpPr>
            <a:spLocks noGrp="1"/>
          </p:cNvSpPr>
          <p:nvPr>
            <p:ph type="sldNum" sz="quarter" idx="12"/>
          </p:nvPr>
        </p:nvSpPr>
        <p:spPr/>
        <p:txBody>
          <a:bodyPr/>
          <a:lstStyle/>
          <a:p>
            <a:fld id="{B6F15528-21DE-4FAA-801E-634DDDAF4B2B}" type="slidenum">
              <a:rPr lang="en-US" smtClean="0"/>
              <a:pPr/>
              <a:t>1</a:t>
            </a:fld>
            <a:endParaRPr lang="en-US"/>
          </a:p>
        </p:txBody>
      </p:sp>
    </p:spTree>
    <p:extLst>
      <p:ext uri="{BB962C8B-B14F-4D97-AF65-F5344CB8AC3E}">
        <p14:creationId xmlns:p14="http://schemas.microsoft.com/office/powerpoint/2010/main" val="33977942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ltLang="en-US" sz="3200" dirty="0"/>
              <a:t>Merging </a:t>
            </a:r>
            <a:r>
              <a:rPr lang="en-US" altLang="en-US" sz="3200" i="1" dirty="0"/>
              <a:t>(1)</a:t>
            </a:r>
            <a:endParaRPr lang="en-GB" altLang="en-US" sz="3200" dirty="0"/>
          </a:p>
        </p:txBody>
      </p:sp>
      <p:sp>
        <p:nvSpPr>
          <p:cNvPr id="27651" name="Rectangle 3"/>
          <p:cNvSpPr>
            <a:spLocks noGrp="1" noChangeArrowheads="1"/>
          </p:cNvSpPr>
          <p:nvPr>
            <p:ph idx="1"/>
          </p:nvPr>
        </p:nvSpPr>
        <p:spPr>
          <a:xfrm>
            <a:off x="304800" y="1600200"/>
            <a:ext cx="7620000" cy="2971800"/>
          </a:xfrm>
          <a:noFill/>
        </p:spPr>
        <p:txBody>
          <a:bodyPr/>
          <a:lstStyle/>
          <a:p>
            <a:pPr eaLnBrk="1" hangingPunct="1"/>
            <a:r>
              <a:rPr lang="en-US" altLang="en-US" b="1" dirty="0"/>
              <a:t>Problem</a:t>
            </a:r>
            <a:r>
              <a:rPr lang="en-US" altLang="en-US" dirty="0"/>
              <a:t>: Given two sorted arrays, make a third sorted array containing a copy of all elements of the two original </a:t>
            </a:r>
            <a:r>
              <a:rPr lang="en-US" altLang="en-US"/>
              <a:t>arrays.</a:t>
            </a:r>
          </a:p>
          <a:p>
            <a:pPr marL="0" indent="0" eaLnBrk="1" hangingPunct="1">
              <a:buNone/>
            </a:pPr>
            <a:endParaRPr lang="en-US" altLang="en-US" dirty="0"/>
          </a:p>
          <a:p>
            <a:pPr eaLnBrk="1" hangingPunct="1"/>
            <a:r>
              <a:rPr lang="en-GB" altLang="en-US" dirty="0"/>
              <a:t>Idea: Compare the leftmost elements of the two arrays. Whichever element is less, copy it into the third array, and thereafter ignore that element.</a:t>
            </a:r>
            <a:endParaRPr lang="en-US" altLang="en-US" dirty="0"/>
          </a:p>
        </p:txBody>
      </p:sp>
      <p:sp>
        <p:nvSpPr>
          <p:cNvPr id="2" name="Slide Number Placeholder 1"/>
          <p:cNvSpPr>
            <a:spLocks noGrp="1"/>
          </p:cNvSpPr>
          <p:nvPr>
            <p:ph type="sldNum" sz="quarter" idx="12"/>
          </p:nvPr>
        </p:nvSpPr>
        <p:spPr/>
        <p:txBody>
          <a:bodyPr/>
          <a:lstStyle/>
          <a:p>
            <a:fld id="{B6F15528-21DE-4FAA-801E-634DDDAF4B2B}" type="slidenum">
              <a:rPr lang="en-US" smtClean="0"/>
              <a:pPr/>
              <a:t>2</a:t>
            </a:fld>
            <a:endParaRPr lang="en-US"/>
          </a:p>
        </p:txBody>
      </p:sp>
      <p:sp>
        <p:nvSpPr>
          <p:cNvPr id="3" name="TextBox 2"/>
          <p:cNvSpPr txBox="1"/>
          <p:nvPr/>
        </p:nvSpPr>
        <p:spPr>
          <a:xfrm>
            <a:off x="1752600" y="5352365"/>
            <a:ext cx="6248400" cy="646331"/>
          </a:xfrm>
          <a:prstGeom prst="rect">
            <a:avLst/>
          </a:prstGeom>
          <a:noFill/>
          <a:ln>
            <a:solidFill>
              <a:schemeClr val="tx2"/>
            </a:solidFill>
          </a:ln>
        </p:spPr>
        <p:txBody>
          <a:bodyPr wrap="square" rtlCol="0">
            <a:spAutoFit/>
          </a:bodyPr>
          <a:lstStyle/>
          <a:p>
            <a:r>
              <a:rPr lang="en-GB"/>
              <a:t>Merging is one  step in another sorting algorithm (mergesort) which we’ll look at afterwards</a:t>
            </a:r>
          </a:p>
        </p:txBody>
      </p:sp>
    </p:spTree>
    <p:extLst>
      <p:ext uri="{BB962C8B-B14F-4D97-AF65-F5344CB8AC3E}">
        <p14:creationId xmlns:p14="http://schemas.microsoft.com/office/powerpoint/2010/main" val="3095213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en-US" sz="3200" dirty="0"/>
              <a:t>Merging </a:t>
            </a:r>
            <a:r>
              <a:rPr lang="en-US" altLang="en-US" sz="3200" i="1" dirty="0"/>
              <a:t>(2)</a:t>
            </a:r>
            <a:endParaRPr lang="en-GB" altLang="en-US" sz="3200" dirty="0"/>
          </a:p>
        </p:txBody>
      </p:sp>
      <p:sp>
        <p:nvSpPr>
          <p:cNvPr id="28675" name="Rectangle 3"/>
          <p:cNvSpPr>
            <a:spLocks noGrp="1" noChangeArrowheads="1"/>
          </p:cNvSpPr>
          <p:nvPr>
            <p:ph idx="1"/>
          </p:nvPr>
        </p:nvSpPr>
        <p:spPr>
          <a:xfrm>
            <a:off x="381000" y="1524000"/>
            <a:ext cx="7620000" cy="4800600"/>
          </a:xfrm>
          <a:noFill/>
        </p:spPr>
        <p:txBody>
          <a:bodyPr/>
          <a:lstStyle/>
          <a:p>
            <a:pPr eaLnBrk="1" hangingPunct="1">
              <a:tabLst>
                <a:tab pos="723900" algn="l"/>
                <a:tab pos="1257300" algn="l"/>
                <a:tab pos="1968500" algn="l"/>
              </a:tabLst>
            </a:pPr>
            <a:r>
              <a:rPr lang="en-US" altLang="en-US" b="1" dirty="0"/>
              <a:t>Array merging algorithm</a:t>
            </a:r>
            <a:r>
              <a:rPr lang="en-US" altLang="en-US" dirty="0"/>
              <a:t>:</a:t>
            </a:r>
          </a:p>
          <a:p>
            <a:pPr eaLnBrk="1" hangingPunct="1">
              <a:buFont typeface="Wingdings" pitchFamily="2" charset="2"/>
              <a:buNone/>
              <a:tabLst>
                <a:tab pos="723900" algn="l"/>
                <a:tab pos="1257300" algn="l"/>
                <a:tab pos="1968500" algn="l"/>
              </a:tabLst>
            </a:pPr>
            <a:r>
              <a:rPr lang="en-US" altLang="en-US" sz="2000" dirty="0">
                <a:latin typeface="Times New Roman" pitchFamily="18" charset="0"/>
              </a:rPr>
              <a:t>	To merge </a:t>
            </a:r>
            <a:r>
              <a:rPr lang="en-US" altLang="en-US" sz="2000" i="1" dirty="0">
                <a:latin typeface="Times New Roman" pitchFamily="18" charset="0"/>
              </a:rPr>
              <a:t>a1</a:t>
            </a:r>
            <a:r>
              <a:rPr lang="en-US" altLang="en-US" sz="2000" dirty="0">
                <a:latin typeface="Times New Roman" pitchFamily="18" charset="0"/>
              </a:rPr>
              <a:t>[</a:t>
            </a:r>
            <a:r>
              <a:rPr lang="en-US" altLang="en-US" sz="2000" i="1" dirty="0">
                <a:latin typeface="Times New Roman" pitchFamily="18" charset="0"/>
              </a:rPr>
              <a:t>l1</a:t>
            </a:r>
            <a:r>
              <a:rPr lang="en-US" altLang="en-US" sz="2000" dirty="0">
                <a:latin typeface="Times New Roman" pitchFamily="18" charset="0"/>
              </a:rPr>
              <a:t>…</a:t>
            </a:r>
            <a:r>
              <a:rPr lang="en-US" altLang="en-US" sz="2000" i="1" dirty="0">
                <a:latin typeface="Times New Roman" pitchFamily="18" charset="0"/>
              </a:rPr>
              <a:t>r1</a:t>
            </a:r>
            <a:r>
              <a:rPr lang="en-US" altLang="en-US" sz="2000" dirty="0">
                <a:latin typeface="Times New Roman" pitchFamily="18" charset="0"/>
              </a:rPr>
              <a:t>] and </a:t>
            </a:r>
            <a:r>
              <a:rPr lang="en-US" altLang="en-US" sz="2000" i="1" dirty="0">
                <a:latin typeface="Times New Roman" pitchFamily="18" charset="0"/>
              </a:rPr>
              <a:t>a2</a:t>
            </a:r>
            <a:r>
              <a:rPr lang="en-US" altLang="en-US" sz="2000" dirty="0">
                <a:latin typeface="Times New Roman" pitchFamily="18" charset="0"/>
              </a:rPr>
              <a:t>[</a:t>
            </a:r>
            <a:r>
              <a:rPr lang="en-US" altLang="en-US" sz="2000" i="1" dirty="0">
                <a:latin typeface="Times New Roman" pitchFamily="18" charset="0"/>
              </a:rPr>
              <a:t>l2</a:t>
            </a:r>
            <a:r>
              <a:rPr lang="en-US" altLang="en-US" sz="2000" dirty="0">
                <a:latin typeface="Times New Roman" pitchFamily="18" charset="0"/>
              </a:rPr>
              <a:t>…</a:t>
            </a:r>
            <a:r>
              <a:rPr lang="en-US" altLang="en-US" sz="2000" i="1" dirty="0">
                <a:latin typeface="Times New Roman" pitchFamily="18" charset="0"/>
              </a:rPr>
              <a:t>r2</a:t>
            </a:r>
            <a:r>
              <a:rPr lang="en-US" altLang="en-US" sz="2000" dirty="0">
                <a:latin typeface="Times New Roman" pitchFamily="18" charset="0"/>
              </a:rPr>
              <a:t>] into </a:t>
            </a:r>
            <a:r>
              <a:rPr lang="en-US" altLang="en-US" sz="2000" i="1" dirty="0">
                <a:latin typeface="Times New Roman" pitchFamily="18" charset="0"/>
              </a:rPr>
              <a:t>a3</a:t>
            </a:r>
            <a:r>
              <a:rPr lang="en-US" altLang="en-US" sz="2000" dirty="0">
                <a:latin typeface="Times New Roman" pitchFamily="18" charset="0"/>
              </a:rPr>
              <a:t>[</a:t>
            </a:r>
            <a:r>
              <a:rPr lang="en-US" altLang="en-US" sz="2000" i="1" dirty="0">
                <a:latin typeface="Times New Roman" pitchFamily="18" charset="0"/>
              </a:rPr>
              <a:t>l3</a:t>
            </a:r>
            <a:r>
              <a:rPr lang="en-US" altLang="en-US" sz="2000" dirty="0">
                <a:latin typeface="Times New Roman" pitchFamily="18" charset="0"/>
              </a:rPr>
              <a:t>…</a:t>
            </a:r>
            <a:r>
              <a:rPr lang="en-US" altLang="en-US" sz="2000" i="1" dirty="0">
                <a:latin typeface="Times New Roman" pitchFamily="18" charset="0"/>
              </a:rPr>
              <a:t>r3</a:t>
            </a:r>
            <a:r>
              <a:rPr lang="en-US" altLang="en-US" sz="2000" dirty="0">
                <a:latin typeface="Times New Roman" pitchFamily="18" charset="0"/>
              </a:rPr>
              <a:t>] </a:t>
            </a:r>
            <a:br>
              <a:rPr lang="en-US" altLang="en-US" sz="2000" dirty="0">
                <a:latin typeface="Times New Roman" pitchFamily="18" charset="0"/>
              </a:rPr>
            </a:br>
            <a:r>
              <a:rPr lang="en-US" altLang="en-US" sz="2000" dirty="0">
                <a:latin typeface="Times New Roman" pitchFamily="18" charset="0"/>
              </a:rPr>
              <a:t>(where both </a:t>
            </a:r>
            <a:r>
              <a:rPr lang="en-US" altLang="en-US" sz="2000" i="1" dirty="0">
                <a:latin typeface="Times New Roman" pitchFamily="18" charset="0"/>
              </a:rPr>
              <a:t>a1</a:t>
            </a:r>
            <a:r>
              <a:rPr lang="en-US" altLang="en-US" sz="2000" dirty="0">
                <a:latin typeface="Times New Roman" pitchFamily="18" charset="0"/>
              </a:rPr>
              <a:t> and </a:t>
            </a:r>
            <a:r>
              <a:rPr lang="en-US" altLang="en-US" sz="2000" i="1" dirty="0">
                <a:latin typeface="Times New Roman" pitchFamily="18" charset="0"/>
              </a:rPr>
              <a:t>a2</a:t>
            </a:r>
            <a:r>
              <a:rPr lang="en-US" altLang="en-US" sz="2000" dirty="0">
                <a:latin typeface="Times New Roman" pitchFamily="18" charset="0"/>
              </a:rPr>
              <a:t> are sorted):</a:t>
            </a:r>
          </a:p>
          <a:p>
            <a:pPr eaLnBrk="1" hangingPunct="1">
              <a:spcBef>
                <a:spcPts val="900"/>
              </a:spcBef>
              <a:buFont typeface="Wingdings" pitchFamily="2" charset="2"/>
              <a:buNone/>
              <a:tabLst>
                <a:tab pos="723900" algn="l"/>
                <a:tab pos="1257300" algn="l"/>
                <a:tab pos="1968500" algn="l"/>
              </a:tabLst>
            </a:pPr>
            <a:r>
              <a:rPr lang="en-US" altLang="en-US" sz="2000" dirty="0">
                <a:latin typeface="Times New Roman" pitchFamily="18" charset="0"/>
              </a:rPr>
              <a:t>	1.	Set </a:t>
            </a:r>
            <a:r>
              <a:rPr lang="en-US" altLang="en-US" sz="2000" i="1" dirty="0" err="1">
                <a:latin typeface="Times New Roman" pitchFamily="18" charset="0"/>
              </a:rPr>
              <a:t>i</a:t>
            </a:r>
            <a:r>
              <a:rPr lang="en-US" altLang="en-US" sz="2000" dirty="0">
                <a:latin typeface="Times New Roman" pitchFamily="18" charset="0"/>
              </a:rPr>
              <a:t> = </a:t>
            </a:r>
            <a:r>
              <a:rPr lang="en-US" altLang="en-US" sz="2000" i="1" dirty="0">
                <a:latin typeface="Times New Roman" pitchFamily="18" charset="0"/>
              </a:rPr>
              <a:t>l1</a:t>
            </a:r>
            <a:r>
              <a:rPr lang="en-US" altLang="en-US" sz="2000" dirty="0">
                <a:latin typeface="Times New Roman" pitchFamily="18" charset="0"/>
              </a:rPr>
              <a:t>, set </a:t>
            </a:r>
            <a:r>
              <a:rPr lang="en-US" altLang="en-US" sz="2000" i="1" dirty="0">
                <a:latin typeface="Times New Roman" pitchFamily="18" charset="0"/>
              </a:rPr>
              <a:t>j</a:t>
            </a:r>
            <a:r>
              <a:rPr lang="en-US" altLang="en-US" sz="2000" dirty="0">
                <a:latin typeface="Times New Roman" pitchFamily="18" charset="0"/>
              </a:rPr>
              <a:t> = </a:t>
            </a:r>
            <a:r>
              <a:rPr lang="en-US" altLang="en-US" sz="2000" i="1" dirty="0">
                <a:latin typeface="Times New Roman" pitchFamily="18" charset="0"/>
              </a:rPr>
              <a:t>l2</a:t>
            </a:r>
            <a:r>
              <a:rPr lang="en-US" altLang="en-US" sz="2000" dirty="0">
                <a:latin typeface="Times New Roman" pitchFamily="18" charset="0"/>
              </a:rPr>
              <a:t>, and set </a:t>
            </a:r>
            <a:r>
              <a:rPr lang="en-US" altLang="en-US" sz="2000" i="1" dirty="0">
                <a:latin typeface="Times New Roman" pitchFamily="18" charset="0"/>
              </a:rPr>
              <a:t>k</a:t>
            </a:r>
            <a:r>
              <a:rPr lang="en-US" altLang="en-US" sz="2000" dirty="0">
                <a:latin typeface="Times New Roman" pitchFamily="18" charset="0"/>
              </a:rPr>
              <a:t> = </a:t>
            </a:r>
            <a:r>
              <a:rPr lang="en-US" altLang="en-US" sz="2000" i="1" dirty="0">
                <a:latin typeface="Times New Roman" pitchFamily="18" charset="0"/>
              </a:rPr>
              <a:t>l3</a:t>
            </a:r>
            <a:r>
              <a:rPr lang="en-US" altLang="en-US" sz="2000" dirty="0">
                <a:latin typeface="Times New Roman" pitchFamily="18" charset="0"/>
              </a:rPr>
              <a:t>.</a:t>
            </a:r>
            <a:br>
              <a:rPr lang="en-US" altLang="en-US" sz="2000" dirty="0">
                <a:latin typeface="Times New Roman" pitchFamily="18" charset="0"/>
              </a:rPr>
            </a:br>
            <a:r>
              <a:rPr lang="en-US" altLang="en-US" sz="2000" dirty="0">
                <a:latin typeface="Times New Roman" pitchFamily="18" charset="0"/>
              </a:rPr>
              <a:t>2.	While </a:t>
            </a:r>
            <a:r>
              <a:rPr lang="en-US" altLang="en-US" sz="2000" i="1" dirty="0" err="1">
                <a:latin typeface="Times New Roman" pitchFamily="18" charset="0"/>
              </a:rPr>
              <a:t>i</a:t>
            </a:r>
            <a:r>
              <a:rPr lang="en-US" altLang="en-US" sz="2000" dirty="0">
                <a:latin typeface="Times New Roman" pitchFamily="18" charset="0"/>
              </a:rPr>
              <a:t> </a:t>
            </a:r>
            <a:r>
              <a:rPr lang="en-US" altLang="en-US" sz="2000" dirty="0">
                <a:latin typeface="Times New Roman" pitchFamily="18" charset="0"/>
                <a:sym typeface="Symbol" pitchFamily="18" charset="2"/>
              </a:rPr>
              <a:t></a:t>
            </a:r>
            <a:r>
              <a:rPr lang="en-US" altLang="en-US" sz="2000" dirty="0">
                <a:latin typeface="Times New Roman" pitchFamily="18" charset="0"/>
              </a:rPr>
              <a:t> </a:t>
            </a:r>
            <a:r>
              <a:rPr lang="en-US" altLang="en-US" sz="2000" i="1" dirty="0">
                <a:latin typeface="Times New Roman" pitchFamily="18" charset="0"/>
              </a:rPr>
              <a:t>r1</a:t>
            </a:r>
            <a:r>
              <a:rPr lang="en-US" altLang="en-US" sz="2000" dirty="0">
                <a:latin typeface="Times New Roman" pitchFamily="18" charset="0"/>
              </a:rPr>
              <a:t> and </a:t>
            </a:r>
            <a:r>
              <a:rPr lang="en-US" altLang="en-US" sz="2000" i="1" dirty="0">
                <a:latin typeface="Times New Roman" pitchFamily="18" charset="0"/>
              </a:rPr>
              <a:t>j</a:t>
            </a:r>
            <a:r>
              <a:rPr lang="en-US" altLang="en-US" sz="2000" dirty="0">
                <a:latin typeface="Times New Roman" pitchFamily="18" charset="0"/>
              </a:rPr>
              <a:t> </a:t>
            </a:r>
            <a:r>
              <a:rPr lang="en-US" altLang="en-US" sz="2000" dirty="0">
                <a:latin typeface="Times New Roman" pitchFamily="18" charset="0"/>
                <a:sym typeface="Symbol" pitchFamily="18" charset="2"/>
              </a:rPr>
              <a:t></a:t>
            </a:r>
            <a:r>
              <a:rPr lang="en-US" altLang="en-US" sz="2000" dirty="0">
                <a:latin typeface="Times New Roman" pitchFamily="18" charset="0"/>
              </a:rPr>
              <a:t> </a:t>
            </a:r>
            <a:r>
              <a:rPr lang="en-US" altLang="en-US" sz="2000" i="1" dirty="0">
                <a:latin typeface="Times New Roman" pitchFamily="18" charset="0"/>
              </a:rPr>
              <a:t>r2</a:t>
            </a:r>
            <a:r>
              <a:rPr lang="en-US" altLang="en-US" sz="2000" dirty="0">
                <a:latin typeface="Times New Roman" pitchFamily="18" charset="0"/>
              </a:rPr>
              <a:t>, repeat:</a:t>
            </a:r>
            <a:br>
              <a:rPr lang="en-US" altLang="en-US" sz="2000" dirty="0">
                <a:latin typeface="Times New Roman" pitchFamily="18" charset="0"/>
              </a:rPr>
            </a:br>
            <a:r>
              <a:rPr lang="en-US" altLang="en-US" sz="2000" dirty="0">
                <a:latin typeface="Times New Roman" pitchFamily="18" charset="0"/>
              </a:rPr>
              <a:t>	2.1.	If </a:t>
            </a:r>
            <a:r>
              <a:rPr lang="en-US" altLang="en-US" sz="2000" i="1" dirty="0">
                <a:latin typeface="Times New Roman" pitchFamily="18" charset="0"/>
              </a:rPr>
              <a:t>a1</a:t>
            </a:r>
            <a:r>
              <a:rPr lang="en-US" altLang="en-US" sz="2000" dirty="0">
                <a:latin typeface="Times New Roman" pitchFamily="18" charset="0"/>
              </a:rPr>
              <a:t>[</a:t>
            </a:r>
            <a:r>
              <a:rPr lang="en-US" altLang="en-US" sz="2000" i="1" dirty="0" err="1">
                <a:latin typeface="Times New Roman" pitchFamily="18" charset="0"/>
              </a:rPr>
              <a:t>i</a:t>
            </a:r>
            <a:r>
              <a:rPr lang="en-US" altLang="en-US" sz="2000" dirty="0">
                <a:latin typeface="Times New Roman" pitchFamily="18" charset="0"/>
              </a:rPr>
              <a:t>] is less than or equal to </a:t>
            </a:r>
            <a:r>
              <a:rPr lang="en-US" altLang="en-US" sz="2000" i="1" dirty="0">
                <a:latin typeface="Times New Roman" pitchFamily="18" charset="0"/>
              </a:rPr>
              <a:t>a2</a:t>
            </a:r>
            <a:r>
              <a:rPr lang="en-US" altLang="en-US" sz="2000" dirty="0">
                <a:latin typeface="Times New Roman" pitchFamily="18" charset="0"/>
              </a:rPr>
              <a:t>[</a:t>
            </a:r>
            <a:r>
              <a:rPr lang="en-US" altLang="en-US" sz="2000" i="1" dirty="0">
                <a:latin typeface="Times New Roman" pitchFamily="18" charset="0"/>
              </a:rPr>
              <a:t>j</a:t>
            </a:r>
            <a:r>
              <a:rPr lang="en-US" altLang="en-US" sz="2000" dirty="0">
                <a:latin typeface="Times New Roman" pitchFamily="18" charset="0"/>
              </a:rPr>
              <a:t>]:</a:t>
            </a:r>
            <a:br>
              <a:rPr lang="en-US" altLang="en-US" sz="2000" dirty="0">
                <a:latin typeface="Times New Roman" pitchFamily="18" charset="0"/>
              </a:rPr>
            </a:br>
            <a:r>
              <a:rPr lang="en-US" altLang="en-US" sz="2000" dirty="0">
                <a:latin typeface="Times New Roman" pitchFamily="18" charset="0"/>
              </a:rPr>
              <a:t>		2.1.1.	Copy </a:t>
            </a:r>
            <a:r>
              <a:rPr lang="en-US" altLang="en-US" sz="2000" i="1" dirty="0">
                <a:latin typeface="Times New Roman" pitchFamily="18" charset="0"/>
              </a:rPr>
              <a:t>a1</a:t>
            </a:r>
            <a:r>
              <a:rPr lang="en-US" altLang="en-US" sz="2000" dirty="0">
                <a:latin typeface="Times New Roman" pitchFamily="18" charset="0"/>
              </a:rPr>
              <a:t>[</a:t>
            </a:r>
            <a:r>
              <a:rPr lang="en-US" altLang="en-US" sz="2000" i="1" dirty="0" err="1">
                <a:latin typeface="Times New Roman" pitchFamily="18" charset="0"/>
              </a:rPr>
              <a:t>i</a:t>
            </a:r>
            <a:r>
              <a:rPr lang="en-US" altLang="en-US" sz="2000" dirty="0">
                <a:latin typeface="Times New Roman" pitchFamily="18" charset="0"/>
              </a:rPr>
              <a:t>] into </a:t>
            </a:r>
            <a:r>
              <a:rPr lang="en-US" altLang="en-US" sz="2000" i="1" dirty="0">
                <a:latin typeface="Times New Roman" pitchFamily="18" charset="0"/>
              </a:rPr>
              <a:t>a3</a:t>
            </a:r>
            <a:r>
              <a:rPr lang="en-US" altLang="en-US" sz="2000" dirty="0">
                <a:latin typeface="Times New Roman" pitchFamily="18" charset="0"/>
              </a:rPr>
              <a:t>[</a:t>
            </a:r>
            <a:r>
              <a:rPr lang="en-US" altLang="en-US" sz="2000" i="1" dirty="0">
                <a:latin typeface="Times New Roman" pitchFamily="18" charset="0"/>
              </a:rPr>
              <a:t>k</a:t>
            </a:r>
            <a:r>
              <a:rPr lang="en-US" altLang="en-US" sz="2000" dirty="0">
                <a:latin typeface="Times New Roman" pitchFamily="18" charset="0"/>
              </a:rPr>
              <a:t>], then increment </a:t>
            </a:r>
            <a:r>
              <a:rPr lang="en-US" altLang="en-US" sz="2000" i="1" dirty="0" err="1">
                <a:latin typeface="Times New Roman" pitchFamily="18" charset="0"/>
              </a:rPr>
              <a:t>i</a:t>
            </a:r>
            <a:r>
              <a:rPr lang="en-US" altLang="en-US" sz="2000" dirty="0">
                <a:latin typeface="Times New Roman" pitchFamily="18" charset="0"/>
              </a:rPr>
              <a:t> and </a:t>
            </a:r>
            <a:r>
              <a:rPr lang="en-US" altLang="en-US" sz="2000" i="1" dirty="0">
                <a:latin typeface="Times New Roman" pitchFamily="18" charset="0"/>
              </a:rPr>
              <a:t>k</a:t>
            </a:r>
            <a:r>
              <a:rPr lang="en-US" altLang="en-US" sz="2000" dirty="0">
                <a:latin typeface="Times New Roman" pitchFamily="18" charset="0"/>
              </a:rPr>
              <a:t>.</a:t>
            </a:r>
            <a:br>
              <a:rPr lang="en-US" altLang="en-US" sz="2000" dirty="0">
                <a:latin typeface="Times New Roman" pitchFamily="18" charset="0"/>
              </a:rPr>
            </a:br>
            <a:r>
              <a:rPr lang="en-US" altLang="en-US" sz="2000" dirty="0">
                <a:latin typeface="Times New Roman" pitchFamily="18" charset="0"/>
              </a:rPr>
              <a:t>	2.2.	Else:</a:t>
            </a:r>
            <a:br>
              <a:rPr lang="en-US" altLang="en-US" sz="2000" dirty="0">
                <a:latin typeface="Times New Roman" pitchFamily="18" charset="0"/>
              </a:rPr>
            </a:br>
            <a:r>
              <a:rPr lang="en-US" altLang="en-US" sz="2000" dirty="0">
                <a:latin typeface="Times New Roman" pitchFamily="18" charset="0"/>
              </a:rPr>
              <a:t>		2.2.1.	Copy </a:t>
            </a:r>
            <a:r>
              <a:rPr lang="en-US" altLang="en-US" sz="2000" i="1" dirty="0">
                <a:latin typeface="Times New Roman" pitchFamily="18" charset="0"/>
              </a:rPr>
              <a:t>a2</a:t>
            </a:r>
            <a:r>
              <a:rPr lang="en-US" altLang="en-US" sz="2000" dirty="0">
                <a:latin typeface="Times New Roman" pitchFamily="18" charset="0"/>
              </a:rPr>
              <a:t>[</a:t>
            </a:r>
            <a:r>
              <a:rPr lang="en-US" altLang="en-US" sz="2000" i="1" dirty="0">
                <a:latin typeface="Times New Roman" pitchFamily="18" charset="0"/>
              </a:rPr>
              <a:t>j</a:t>
            </a:r>
            <a:r>
              <a:rPr lang="en-US" altLang="en-US" sz="2000" dirty="0">
                <a:latin typeface="Times New Roman" pitchFamily="18" charset="0"/>
              </a:rPr>
              <a:t>] into </a:t>
            </a:r>
            <a:r>
              <a:rPr lang="en-US" altLang="en-US" sz="2000" i="1" dirty="0">
                <a:latin typeface="Times New Roman" pitchFamily="18" charset="0"/>
              </a:rPr>
              <a:t>a3</a:t>
            </a:r>
            <a:r>
              <a:rPr lang="en-US" altLang="en-US" sz="2000" dirty="0">
                <a:latin typeface="Times New Roman" pitchFamily="18" charset="0"/>
              </a:rPr>
              <a:t>[</a:t>
            </a:r>
            <a:r>
              <a:rPr lang="en-US" altLang="en-US" sz="2000" i="1" dirty="0">
                <a:latin typeface="Times New Roman" pitchFamily="18" charset="0"/>
              </a:rPr>
              <a:t>k</a:t>
            </a:r>
            <a:r>
              <a:rPr lang="en-US" altLang="en-US" sz="2000" dirty="0">
                <a:latin typeface="Times New Roman" pitchFamily="18" charset="0"/>
              </a:rPr>
              <a:t>], then increment </a:t>
            </a:r>
            <a:r>
              <a:rPr lang="en-US" altLang="en-US" sz="2000" i="1" dirty="0">
                <a:latin typeface="Times New Roman" pitchFamily="18" charset="0"/>
              </a:rPr>
              <a:t>j</a:t>
            </a:r>
            <a:r>
              <a:rPr lang="en-US" altLang="en-US" sz="2000" dirty="0">
                <a:latin typeface="Times New Roman" pitchFamily="18" charset="0"/>
              </a:rPr>
              <a:t> and </a:t>
            </a:r>
            <a:r>
              <a:rPr lang="en-US" altLang="en-US" sz="2000" i="1" dirty="0">
                <a:latin typeface="Times New Roman" pitchFamily="18" charset="0"/>
              </a:rPr>
              <a:t>k</a:t>
            </a:r>
            <a:r>
              <a:rPr lang="en-US" altLang="en-US" sz="2000" dirty="0">
                <a:latin typeface="Times New Roman" pitchFamily="18" charset="0"/>
              </a:rPr>
              <a:t>.</a:t>
            </a:r>
            <a:br>
              <a:rPr lang="en-US" altLang="en-US" sz="2000" dirty="0">
                <a:latin typeface="Times New Roman" pitchFamily="18" charset="0"/>
              </a:rPr>
            </a:br>
            <a:r>
              <a:rPr lang="en-US" altLang="en-US" sz="2000" dirty="0">
                <a:latin typeface="Times New Roman" pitchFamily="18" charset="0"/>
              </a:rPr>
              <a:t>3.	If </a:t>
            </a:r>
            <a:r>
              <a:rPr lang="en-US" altLang="en-US" sz="2000" i="1" dirty="0" err="1">
                <a:latin typeface="Times New Roman" pitchFamily="18" charset="0"/>
              </a:rPr>
              <a:t>i</a:t>
            </a:r>
            <a:r>
              <a:rPr lang="en-US" altLang="en-US" sz="2000" dirty="0">
                <a:latin typeface="Times New Roman" pitchFamily="18" charset="0"/>
              </a:rPr>
              <a:t> </a:t>
            </a:r>
            <a:r>
              <a:rPr lang="en-US" altLang="en-US" sz="2000" dirty="0">
                <a:latin typeface="Times New Roman" pitchFamily="18" charset="0"/>
                <a:sym typeface="Symbol" pitchFamily="18" charset="2"/>
              </a:rPr>
              <a:t></a:t>
            </a:r>
            <a:r>
              <a:rPr lang="en-US" altLang="en-US" sz="2000" dirty="0">
                <a:latin typeface="Times New Roman" pitchFamily="18" charset="0"/>
              </a:rPr>
              <a:t> </a:t>
            </a:r>
            <a:r>
              <a:rPr lang="en-US" altLang="en-US" sz="2000" i="1" dirty="0">
                <a:latin typeface="Times New Roman" pitchFamily="18" charset="0"/>
              </a:rPr>
              <a:t>r1</a:t>
            </a:r>
            <a:r>
              <a:rPr lang="en-US" altLang="en-US" sz="2000" dirty="0">
                <a:latin typeface="Times New Roman" pitchFamily="18" charset="0"/>
              </a:rPr>
              <a:t>, copy </a:t>
            </a:r>
            <a:r>
              <a:rPr lang="en-US" altLang="en-US" sz="2000" i="1" dirty="0">
                <a:latin typeface="Times New Roman" pitchFamily="18" charset="0"/>
              </a:rPr>
              <a:t>a1</a:t>
            </a:r>
            <a:r>
              <a:rPr lang="en-US" altLang="en-US" sz="2000" dirty="0">
                <a:latin typeface="Times New Roman" pitchFamily="18" charset="0"/>
              </a:rPr>
              <a:t>[</a:t>
            </a:r>
            <a:r>
              <a:rPr lang="en-US" altLang="en-US" sz="2000" i="1" dirty="0" err="1">
                <a:latin typeface="Times New Roman" pitchFamily="18" charset="0"/>
              </a:rPr>
              <a:t>i</a:t>
            </a:r>
            <a:r>
              <a:rPr lang="en-US" altLang="en-US" sz="2000" dirty="0">
                <a:latin typeface="Times New Roman" pitchFamily="18" charset="0"/>
              </a:rPr>
              <a:t>…</a:t>
            </a:r>
            <a:r>
              <a:rPr lang="en-US" altLang="en-US" sz="2000" i="1" dirty="0">
                <a:latin typeface="Times New Roman" pitchFamily="18" charset="0"/>
              </a:rPr>
              <a:t>r1</a:t>
            </a:r>
            <a:r>
              <a:rPr lang="en-US" altLang="en-US" sz="2000" dirty="0">
                <a:latin typeface="Times New Roman" pitchFamily="18" charset="0"/>
              </a:rPr>
              <a:t>] into </a:t>
            </a:r>
            <a:r>
              <a:rPr lang="en-US" altLang="en-US" sz="2000" i="1" dirty="0">
                <a:latin typeface="Times New Roman" pitchFamily="18" charset="0"/>
              </a:rPr>
              <a:t>a3</a:t>
            </a:r>
            <a:r>
              <a:rPr lang="en-US" altLang="en-US" sz="2000" dirty="0">
                <a:latin typeface="Times New Roman" pitchFamily="18" charset="0"/>
              </a:rPr>
              <a:t>[</a:t>
            </a:r>
            <a:r>
              <a:rPr lang="en-US" altLang="en-US" sz="2000" i="1" dirty="0">
                <a:latin typeface="Times New Roman" pitchFamily="18" charset="0"/>
              </a:rPr>
              <a:t>k</a:t>
            </a:r>
            <a:r>
              <a:rPr lang="en-US" altLang="en-US" sz="2000" dirty="0">
                <a:latin typeface="Times New Roman" pitchFamily="18" charset="0"/>
              </a:rPr>
              <a:t>…</a:t>
            </a:r>
            <a:r>
              <a:rPr lang="en-US" altLang="en-US" sz="2000" i="1" dirty="0">
                <a:latin typeface="Times New Roman" pitchFamily="18" charset="0"/>
              </a:rPr>
              <a:t>r3</a:t>
            </a:r>
            <a:r>
              <a:rPr lang="en-US" altLang="en-US" sz="2000" dirty="0">
                <a:latin typeface="Times New Roman" pitchFamily="18" charset="0"/>
              </a:rPr>
              <a:t>].</a:t>
            </a:r>
            <a:br>
              <a:rPr lang="en-US" altLang="en-US" sz="2000" dirty="0">
                <a:latin typeface="Times New Roman" pitchFamily="18" charset="0"/>
              </a:rPr>
            </a:br>
            <a:r>
              <a:rPr lang="en-US" altLang="en-US" sz="2000" dirty="0">
                <a:latin typeface="Times New Roman" pitchFamily="18" charset="0"/>
              </a:rPr>
              <a:t>4.	If </a:t>
            </a:r>
            <a:r>
              <a:rPr lang="en-US" altLang="en-US" sz="2000" i="1" dirty="0">
                <a:latin typeface="Times New Roman" pitchFamily="18" charset="0"/>
              </a:rPr>
              <a:t>j</a:t>
            </a:r>
            <a:r>
              <a:rPr lang="en-US" altLang="en-US" sz="2000" dirty="0">
                <a:latin typeface="Times New Roman" pitchFamily="18" charset="0"/>
              </a:rPr>
              <a:t> </a:t>
            </a:r>
            <a:r>
              <a:rPr lang="en-US" altLang="en-US" sz="2000" dirty="0">
                <a:latin typeface="Times New Roman" pitchFamily="18" charset="0"/>
                <a:sym typeface="Symbol" pitchFamily="18" charset="2"/>
              </a:rPr>
              <a:t></a:t>
            </a:r>
            <a:r>
              <a:rPr lang="en-US" altLang="en-US" sz="2000" dirty="0">
                <a:latin typeface="Times New Roman" pitchFamily="18" charset="0"/>
              </a:rPr>
              <a:t> </a:t>
            </a:r>
            <a:r>
              <a:rPr lang="en-US" altLang="en-US" sz="2000" i="1" dirty="0">
                <a:latin typeface="Times New Roman" pitchFamily="18" charset="0"/>
              </a:rPr>
              <a:t>r2</a:t>
            </a:r>
            <a:r>
              <a:rPr lang="en-US" altLang="en-US" sz="2000" dirty="0">
                <a:latin typeface="Times New Roman" pitchFamily="18" charset="0"/>
              </a:rPr>
              <a:t>, copy </a:t>
            </a:r>
            <a:r>
              <a:rPr lang="en-US" altLang="en-US" sz="2000" i="1" dirty="0">
                <a:latin typeface="Times New Roman" pitchFamily="18" charset="0"/>
              </a:rPr>
              <a:t>a2</a:t>
            </a:r>
            <a:r>
              <a:rPr lang="en-US" altLang="en-US" sz="2000" dirty="0">
                <a:latin typeface="Times New Roman" pitchFamily="18" charset="0"/>
              </a:rPr>
              <a:t>[</a:t>
            </a:r>
            <a:r>
              <a:rPr lang="en-US" altLang="en-US" sz="2000" i="1" dirty="0">
                <a:latin typeface="Times New Roman" pitchFamily="18" charset="0"/>
              </a:rPr>
              <a:t>j</a:t>
            </a:r>
            <a:r>
              <a:rPr lang="en-US" altLang="en-US" sz="2000" dirty="0">
                <a:latin typeface="Times New Roman" pitchFamily="18" charset="0"/>
              </a:rPr>
              <a:t>…</a:t>
            </a:r>
            <a:r>
              <a:rPr lang="en-US" altLang="en-US" sz="2000" i="1" dirty="0">
                <a:latin typeface="Times New Roman" pitchFamily="18" charset="0"/>
              </a:rPr>
              <a:t>r2</a:t>
            </a:r>
            <a:r>
              <a:rPr lang="en-US" altLang="en-US" sz="2000" dirty="0">
                <a:latin typeface="Times New Roman" pitchFamily="18" charset="0"/>
              </a:rPr>
              <a:t>] into </a:t>
            </a:r>
            <a:r>
              <a:rPr lang="en-US" altLang="en-US" sz="2000" i="1" dirty="0">
                <a:latin typeface="Times New Roman" pitchFamily="18" charset="0"/>
              </a:rPr>
              <a:t>a3</a:t>
            </a:r>
            <a:r>
              <a:rPr lang="en-US" altLang="en-US" sz="2000" dirty="0">
                <a:latin typeface="Times New Roman" pitchFamily="18" charset="0"/>
              </a:rPr>
              <a:t>[</a:t>
            </a:r>
            <a:r>
              <a:rPr lang="en-US" altLang="en-US" sz="2000" i="1" dirty="0">
                <a:latin typeface="Times New Roman" pitchFamily="18" charset="0"/>
              </a:rPr>
              <a:t>k</a:t>
            </a:r>
            <a:r>
              <a:rPr lang="en-US" altLang="en-US" sz="2000" dirty="0">
                <a:latin typeface="Times New Roman" pitchFamily="18" charset="0"/>
              </a:rPr>
              <a:t>…</a:t>
            </a:r>
            <a:r>
              <a:rPr lang="en-US" altLang="en-US" sz="2000" i="1" dirty="0">
                <a:latin typeface="Times New Roman" pitchFamily="18" charset="0"/>
              </a:rPr>
              <a:t>r3</a:t>
            </a:r>
            <a:r>
              <a:rPr lang="en-US" altLang="en-US" sz="2000" dirty="0">
                <a:latin typeface="Times New Roman" pitchFamily="18" charset="0"/>
              </a:rPr>
              <a:t>].</a:t>
            </a:r>
            <a:br>
              <a:rPr lang="en-US" altLang="en-US" sz="2000" dirty="0">
                <a:latin typeface="Times New Roman" pitchFamily="18" charset="0"/>
              </a:rPr>
            </a:br>
            <a:r>
              <a:rPr lang="en-US" altLang="en-US" sz="2000" dirty="0">
                <a:latin typeface="Times New Roman" pitchFamily="18" charset="0"/>
              </a:rPr>
              <a:t>5.	Terminate.</a:t>
            </a:r>
          </a:p>
        </p:txBody>
      </p:sp>
      <p:sp>
        <p:nvSpPr>
          <p:cNvPr id="2" name="Slide Number Placeholder 1"/>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33944681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en-US" sz="3200" dirty="0"/>
              <a:t>Merging </a:t>
            </a:r>
            <a:r>
              <a:rPr lang="en-US" altLang="en-US" sz="3200" i="1" dirty="0"/>
              <a:t>(3)</a:t>
            </a:r>
            <a:endParaRPr lang="en-GB" altLang="en-US" sz="3200" dirty="0"/>
          </a:p>
        </p:txBody>
      </p:sp>
      <p:sp>
        <p:nvSpPr>
          <p:cNvPr id="29699" name="Rectangle 3"/>
          <p:cNvSpPr>
            <a:spLocks noGrp="1" noChangeArrowheads="1"/>
          </p:cNvSpPr>
          <p:nvPr>
            <p:ph idx="1"/>
          </p:nvPr>
        </p:nvSpPr>
        <p:spPr>
          <a:noFill/>
        </p:spPr>
        <p:txBody>
          <a:bodyPr/>
          <a:lstStyle/>
          <a:p>
            <a:pPr eaLnBrk="1" hangingPunct="1"/>
            <a:r>
              <a:rPr lang="en-US" altLang="en-US"/>
              <a:t>Loop invariant:</a:t>
            </a:r>
          </a:p>
        </p:txBody>
      </p:sp>
      <p:grpSp>
        <p:nvGrpSpPr>
          <p:cNvPr id="2" name="Group 73"/>
          <p:cNvGrpSpPr>
            <a:grpSpLocks/>
          </p:cNvGrpSpPr>
          <p:nvPr/>
        </p:nvGrpSpPr>
        <p:grpSpPr bwMode="auto">
          <a:xfrm>
            <a:off x="815976" y="3532983"/>
            <a:ext cx="4487862" cy="1111250"/>
            <a:chOff x="1247" y="2173"/>
            <a:chExt cx="2827" cy="700"/>
          </a:xfrm>
        </p:grpSpPr>
        <p:sp>
          <p:nvSpPr>
            <p:cNvPr id="29741" name="Freeform 6"/>
            <p:cNvSpPr>
              <a:spLocks/>
            </p:cNvSpPr>
            <p:nvPr/>
          </p:nvSpPr>
          <p:spPr bwMode="auto">
            <a:xfrm>
              <a:off x="1502" y="2659"/>
              <a:ext cx="1214" cy="52"/>
            </a:xfrm>
            <a:custGeom>
              <a:avLst/>
              <a:gdLst>
                <a:gd name="T0" fmla="*/ 0 w 2099"/>
                <a:gd name="T1" fmla="*/ 0 h 137"/>
                <a:gd name="T2" fmla="*/ 1 w 2099"/>
                <a:gd name="T3" fmla="*/ 0 h 137"/>
                <a:gd name="T4" fmla="*/ 2 w 2099"/>
                <a:gd name="T5" fmla="*/ 1 h 137"/>
                <a:gd name="T6" fmla="*/ 3 w 2099"/>
                <a:gd name="T7" fmla="*/ 1 h 137"/>
                <a:gd name="T8" fmla="*/ 6 w 2099"/>
                <a:gd name="T9" fmla="*/ 1 h 137"/>
                <a:gd name="T10" fmla="*/ 9 w 2099"/>
                <a:gd name="T11" fmla="*/ 1 h 137"/>
                <a:gd name="T12" fmla="*/ 12 w 2099"/>
                <a:gd name="T13" fmla="*/ 1 h 137"/>
                <a:gd name="T14" fmla="*/ 16 w 2099"/>
                <a:gd name="T15" fmla="*/ 2 h 137"/>
                <a:gd name="T16" fmla="*/ 20 w 2099"/>
                <a:gd name="T17" fmla="*/ 2 h 137"/>
                <a:gd name="T18" fmla="*/ 98 w 2099"/>
                <a:gd name="T19" fmla="*/ 2 h 137"/>
                <a:gd name="T20" fmla="*/ 102 w 2099"/>
                <a:gd name="T21" fmla="*/ 2 h 137"/>
                <a:gd name="T22" fmla="*/ 105 w 2099"/>
                <a:gd name="T23" fmla="*/ 2 h 137"/>
                <a:gd name="T24" fmla="*/ 109 w 2099"/>
                <a:gd name="T25" fmla="*/ 2 h 137"/>
                <a:gd name="T26" fmla="*/ 112 w 2099"/>
                <a:gd name="T27" fmla="*/ 2 h 137"/>
                <a:gd name="T28" fmla="*/ 114 w 2099"/>
                <a:gd name="T29" fmla="*/ 2 h 137"/>
                <a:gd name="T30" fmla="*/ 116 w 2099"/>
                <a:gd name="T31" fmla="*/ 2 h 137"/>
                <a:gd name="T32" fmla="*/ 117 w 2099"/>
                <a:gd name="T33" fmla="*/ 3 h 137"/>
                <a:gd name="T34" fmla="*/ 117 w 2099"/>
                <a:gd name="T35" fmla="*/ 3 h 137"/>
                <a:gd name="T36" fmla="*/ 118 w 2099"/>
                <a:gd name="T37" fmla="*/ 3 h 137"/>
                <a:gd name="T38" fmla="*/ 119 w 2099"/>
                <a:gd name="T39" fmla="*/ 2 h 137"/>
                <a:gd name="T40" fmla="*/ 121 w 2099"/>
                <a:gd name="T41" fmla="*/ 2 h 137"/>
                <a:gd name="T42" fmla="*/ 123 w 2099"/>
                <a:gd name="T43" fmla="*/ 2 h 137"/>
                <a:gd name="T44" fmla="*/ 126 w 2099"/>
                <a:gd name="T45" fmla="*/ 2 h 137"/>
                <a:gd name="T46" fmla="*/ 130 w 2099"/>
                <a:gd name="T47" fmla="*/ 2 h 137"/>
                <a:gd name="T48" fmla="*/ 133 w 2099"/>
                <a:gd name="T49" fmla="*/ 2 h 137"/>
                <a:gd name="T50" fmla="*/ 137 w 2099"/>
                <a:gd name="T51" fmla="*/ 2 h 137"/>
                <a:gd name="T52" fmla="*/ 215 w 2099"/>
                <a:gd name="T53" fmla="*/ 2 h 137"/>
                <a:gd name="T54" fmla="*/ 219 w 2099"/>
                <a:gd name="T55" fmla="*/ 2 h 137"/>
                <a:gd name="T56" fmla="*/ 223 w 2099"/>
                <a:gd name="T57" fmla="*/ 1 h 137"/>
                <a:gd name="T58" fmla="*/ 227 w 2099"/>
                <a:gd name="T59" fmla="*/ 1 h 137"/>
                <a:gd name="T60" fmla="*/ 229 w 2099"/>
                <a:gd name="T61" fmla="*/ 1 h 137"/>
                <a:gd name="T62" fmla="*/ 231 w 2099"/>
                <a:gd name="T63" fmla="*/ 1 h 137"/>
                <a:gd name="T64" fmla="*/ 234 w 2099"/>
                <a:gd name="T65" fmla="*/ 1 h 137"/>
                <a:gd name="T66" fmla="*/ 234 w 2099"/>
                <a:gd name="T67" fmla="*/ 0 h 137"/>
                <a:gd name="T68" fmla="*/ 235 w 2099"/>
                <a:gd name="T69" fmla="*/ 0 h 1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099"/>
                <a:gd name="T106" fmla="*/ 0 h 137"/>
                <a:gd name="T107" fmla="*/ 2099 w 2099"/>
                <a:gd name="T108" fmla="*/ 137 h 1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099" h="137">
                  <a:moveTo>
                    <a:pt x="0" y="0"/>
                  </a:moveTo>
                  <a:lnTo>
                    <a:pt x="4" y="14"/>
                  </a:lnTo>
                  <a:lnTo>
                    <a:pt x="13" y="27"/>
                  </a:lnTo>
                  <a:lnTo>
                    <a:pt x="31" y="39"/>
                  </a:lnTo>
                  <a:lnTo>
                    <a:pt x="52" y="50"/>
                  </a:lnTo>
                  <a:lnTo>
                    <a:pt x="77" y="58"/>
                  </a:lnTo>
                  <a:lnTo>
                    <a:pt x="107" y="64"/>
                  </a:lnTo>
                  <a:lnTo>
                    <a:pt x="140" y="68"/>
                  </a:lnTo>
                  <a:lnTo>
                    <a:pt x="175" y="69"/>
                  </a:lnTo>
                  <a:lnTo>
                    <a:pt x="875" y="69"/>
                  </a:lnTo>
                  <a:lnTo>
                    <a:pt x="909" y="71"/>
                  </a:lnTo>
                  <a:lnTo>
                    <a:pt x="942" y="75"/>
                  </a:lnTo>
                  <a:lnTo>
                    <a:pt x="973" y="81"/>
                  </a:lnTo>
                  <a:lnTo>
                    <a:pt x="998" y="89"/>
                  </a:lnTo>
                  <a:lnTo>
                    <a:pt x="1019" y="100"/>
                  </a:lnTo>
                  <a:lnTo>
                    <a:pt x="1036" y="112"/>
                  </a:lnTo>
                  <a:lnTo>
                    <a:pt x="1046" y="123"/>
                  </a:lnTo>
                  <a:lnTo>
                    <a:pt x="1050" y="137"/>
                  </a:lnTo>
                  <a:lnTo>
                    <a:pt x="1053" y="123"/>
                  </a:lnTo>
                  <a:lnTo>
                    <a:pt x="1063" y="112"/>
                  </a:lnTo>
                  <a:lnTo>
                    <a:pt x="1080" y="100"/>
                  </a:lnTo>
                  <a:lnTo>
                    <a:pt x="1102" y="89"/>
                  </a:lnTo>
                  <a:lnTo>
                    <a:pt x="1127" y="81"/>
                  </a:lnTo>
                  <a:lnTo>
                    <a:pt x="1157" y="75"/>
                  </a:lnTo>
                  <a:lnTo>
                    <a:pt x="1190" y="71"/>
                  </a:lnTo>
                  <a:lnTo>
                    <a:pt x="1225" y="69"/>
                  </a:lnTo>
                  <a:lnTo>
                    <a:pt x="1925" y="69"/>
                  </a:lnTo>
                  <a:lnTo>
                    <a:pt x="1959" y="68"/>
                  </a:lnTo>
                  <a:lnTo>
                    <a:pt x="1992" y="64"/>
                  </a:lnTo>
                  <a:lnTo>
                    <a:pt x="2023" y="58"/>
                  </a:lnTo>
                  <a:lnTo>
                    <a:pt x="2048" y="50"/>
                  </a:lnTo>
                  <a:lnTo>
                    <a:pt x="2069" y="39"/>
                  </a:lnTo>
                  <a:lnTo>
                    <a:pt x="2086" y="27"/>
                  </a:lnTo>
                  <a:lnTo>
                    <a:pt x="2096" y="14"/>
                  </a:lnTo>
                  <a:lnTo>
                    <a:pt x="2099" y="0"/>
                  </a:lnTo>
                </a:path>
              </a:pathLst>
            </a:custGeom>
            <a:noFill/>
            <a:ln w="19050" cap="flat">
              <a:solidFill>
                <a:schemeClr val="accent1">
                  <a:lumMod val="75000"/>
                </a:schemeClr>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GB">
                <a:solidFill>
                  <a:schemeClr val="accent1">
                    <a:lumMod val="50000"/>
                  </a:schemeClr>
                </a:solidFill>
              </a:endParaRPr>
            </a:p>
          </p:txBody>
        </p:sp>
        <p:sp>
          <p:nvSpPr>
            <p:cNvPr id="29742" name="Freeform 7"/>
            <p:cNvSpPr>
              <a:spLocks/>
            </p:cNvSpPr>
            <p:nvPr/>
          </p:nvSpPr>
          <p:spPr bwMode="auto">
            <a:xfrm>
              <a:off x="2799" y="2659"/>
              <a:ext cx="1260" cy="52"/>
            </a:xfrm>
            <a:custGeom>
              <a:avLst/>
              <a:gdLst>
                <a:gd name="T0" fmla="*/ 0 w 1644"/>
                <a:gd name="T1" fmla="*/ 0 h 137"/>
                <a:gd name="T2" fmla="*/ 2 w 1644"/>
                <a:gd name="T3" fmla="*/ 0 h 137"/>
                <a:gd name="T4" fmla="*/ 4 w 1644"/>
                <a:gd name="T5" fmla="*/ 1 h 137"/>
                <a:gd name="T6" fmla="*/ 8 w 1644"/>
                <a:gd name="T7" fmla="*/ 1 h 137"/>
                <a:gd name="T8" fmla="*/ 14 w 1644"/>
                <a:gd name="T9" fmla="*/ 1 h 137"/>
                <a:gd name="T10" fmla="*/ 21 w 1644"/>
                <a:gd name="T11" fmla="*/ 1 h 137"/>
                <a:gd name="T12" fmla="*/ 29 w 1644"/>
                <a:gd name="T13" fmla="*/ 1 h 137"/>
                <a:gd name="T14" fmla="*/ 38 w 1644"/>
                <a:gd name="T15" fmla="*/ 2 h 137"/>
                <a:gd name="T16" fmla="*/ 47 w 1644"/>
                <a:gd name="T17" fmla="*/ 2 h 137"/>
                <a:gd name="T18" fmla="*/ 236 w 1644"/>
                <a:gd name="T19" fmla="*/ 2 h 137"/>
                <a:gd name="T20" fmla="*/ 246 w 1644"/>
                <a:gd name="T21" fmla="*/ 2 h 137"/>
                <a:gd name="T22" fmla="*/ 255 w 1644"/>
                <a:gd name="T23" fmla="*/ 2 h 137"/>
                <a:gd name="T24" fmla="*/ 263 w 1644"/>
                <a:gd name="T25" fmla="*/ 2 h 137"/>
                <a:gd name="T26" fmla="*/ 271 w 1644"/>
                <a:gd name="T27" fmla="*/ 2 h 137"/>
                <a:gd name="T28" fmla="*/ 276 w 1644"/>
                <a:gd name="T29" fmla="*/ 2 h 137"/>
                <a:gd name="T30" fmla="*/ 281 w 1644"/>
                <a:gd name="T31" fmla="*/ 2 h 137"/>
                <a:gd name="T32" fmla="*/ 284 w 1644"/>
                <a:gd name="T33" fmla="*/ 3 h 137"/>
                <a:gd name="T34" fmla="*/ 284 w 1644"/>
                <a:gd name="T35" fmla="*/ 3 h 137"/>
                <a:gd name="T36" fmla="*/ 284 w 1644"/>
                <a:gd name="T37" fmla="*/ 3 h 137"/>
                <a:gd name="T38" fmla="*/ 288 w 1644"/>
                <a:gd name="T39" fmla="*/ 2 h 137"/>
                <a:gd name="T40" fmla="*/ 292 w 1644"/>
                <a:gd name="T41" fmla="*/ 2 h 137"/>
                <a:gd name="T42" fmla="*/ 298 w 1644"/>
                <a:gd name="T43" fmla="*/ 2 h 137"/>
                <a:gd name="T44" fmla="*/ 305 w 1644"/>
                <a:gd name="T45" fmla="*/ 2 h 137"/>
                <a:gd name="T46" fmla="*/ 313 w 1644"/>
                <a:gd name="T47" fmla="*/ 2 h 137"/>
                <a:gd name="T48" fmla="*/ 322 w 1644"/>
                <a:gd name="T49" fmla="*/ 2 h 137"/>
                <a:gd name="T50" fmla="*/ 331 w 1644"/>
                <a:gd name="T51" fmla="*/ 2 h 137"/>
                <a:gd name="T52" fmla="*/ 520 w 1644"/>
                <a:gd name="T53" fmla="*/ 2 h 137"/>
                <a:gd name="T54" fmla="*/ 530 w 1644"/>
                <a:gd name="T55" fmla="*/ 2 h 137"/>
                <a:gd name="T56" fmla="*/ 539 w 1644"/>
                <a:gd name="T57" fmla="*/ 1 h 137"/>
                <a:gd name="T58" fmla="*/ 547 w 1644"/>
                <a:gd name="T59" fmla="*/ 1 h 137"/>
                <a:gd name="T60" fmla="*/ 553 w 1644"/>
                <a:gd name="T61" fmla="*/ 1 h 137"/>
                <a:gd name="T62" fmla="*/ 559 w 1644"/>
                <a:gd name="T63" fmla="*/ 1 h 137"/>
                <a:gd name="T64" fmla="*/ 564 w 1644"/>
                <a:gd name="T65" fmla="*/ 1 h 137"/>
                <a:gd name="T66" fmla="*/ 567 w 1644"/>
                <a:gd name="T67" fmla="*/ 0 h 137"/>
                <a:gd name="T68" fmla="*/ 567 w 1644"/>
                <a:gd name="T69" fmla="*/ 0 h 1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644"/>
                <a:gd name="T106" fmla="*/ 0 h 137"/>
                <a:gd name="T107" fmla="*/ 1644 w 1644"/>
                <a:gd name="T108" fmla="*/ 137 h 1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644" h="137">
                  <a:moveTo>
                    <a:pt x="0" y="0"/>
                  </a:moveTo>
                  <a:lnTo>
                    <a:pt x="2" y="14"/>
                  </a:lnTo>
                  <a:lnTo>
                    <a:pt x="12" y="27"/>
                  </a:lnTo>
                  <a:lnTo>
                    <a:pt x="24" y="39"/>
                  </a:lnTo>
                  <a:lnTo>
                    <a:pt x="41" y="50"/>
                  </a:lnTo>
                  <a:lnTo>
                    <a:pt x="60" y="58"/>
                  </a:lnTo>
                  <a:lnTo>
                    <a:pt x="83" y="64"/>
                  </a:lnTo>
                  <a:lnTo>
                    <a:pt x="110" y="68"/>
                  </a:lnTo>
                  <a:lnTo>
                    <a:pt x="137" y="69"/>
                  </a:lnTo>
                  <a:lnTo>
                    <a:pt x="685" y="69"/>
                  </a:lnTo>
                  <a:lnTo>
                    <a:pt x="714" y="71"/>
                  </a:lnTo>
                  <a:lnTo>
                    <a:pt x="739" y="75"/>
                  </a:lnTo>
                  <a:lnTo>
                    <a:pt x="762" y="81"/>
                  </a:lnTo>
                  <a:lnTo>
                    <a:pt x="783" y="89"/>
                  </a:lnTo>
                  <a:lnTo>
                    <a:pt x="800" y="100"/>
                  </a:lnTo>
                  <a:lnTo>
                    <a:pt x="812" y="112"/>
                  </a:lnTo>
                  <a:lnTo>
                    <a:pt x="822" y="123"/>
                  </a:lnTo>
                  <a:lnTo>
                    <a:pt x="823" y="137"/>
                  </a:lnTo>
                  <a:lnTo>
                    <a:pt x="825" y="123"/>
                  </a:lnTo>
                  <a:lnTo>
                    <a:pt x="835" y="112"/>
                  </a:lnTo>
                  <a:lnTo>
                    <a:pt x="847" y="100"/>
                  </a:lnTo>
                  <a:lnTo>
                    <a:pt x="864" y="89"/>
                  </a:lnTo>
                  <a:lnTo>
                    <a:pt x="883" y="81"/>
                  </a:lnTo>
                  <a:lnTo>
                    <a:pt x="906" y="75"/>
                  </a:lnTo>
                  <a:lnTo>
                    <a:pt x="933" y="71"/>
                  </a:lnTo>
                  <a:lnTo>
                    <a:pt x="960" y="69"/>
                  </a:lnTo>
                  <a:lnTo>
                    <a:pt x="1508" y="69"/>
                  </a:lnTo>
                  <a:lnTo>
                    <a:pt x="1535" y="68"/>
                  </a:lnTo>
                  <a:lnTo>
                    <a:pt x="1562" y="64"/>
                  </a:lnTo>
                  <a:lnTo>
                    <a:pt x="1585" y="58"/>
                  </a:lnTo>
                  <a:lnTo>
                    <a:pt x="1604" y="50"/>
                  </a:lnTo>
                  <a:lnTo>
                    <a:pt x="1621" y="39"/>
                  </a:lnTo>
                  <a:lnTo>
                    <a:pt x="1633" y="27"/>
                  </a:lnTo>
                  <a:lnTo>
                    <a:pt x="1643" y="14"/>
                  </a:lnTo>
                  <a:lnTo>
                    <a:pt x="1644" y="0"/>
                  </a:lnTo>
                </a:path>
              </a:pathLst>
            </a:custGeom>
            <a:noFill/>
            <a:ln w="19050" cap="flat">
              <a:solidFill>
                <a:schemeClr val="accent1">
                  <a:lumMod val="75000"/>
                </a:schemeClr>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GB">
                <a:solidFill>
                  <a:schemeClr val="accent1">
                    <a:lumMod val="50000"/>
                  </a:schemeClr>
                </a:solidFill>
              </a:endParaRPr>
            </a:p>
          </p:txBody>
        </p:sp>
        <p:sp>
          <p:nvSpPr>
            <p:cNvPr id="29743" name="Rectangle 8"/>
            <p:cNvSpPr>
              <a:spLocks noChangeArrowheads="1"/>
            </p:cNvSpPr>
            <p:nvPr/>
          </p:nvSpPr>
          <p:spPr bwMode="auto">
            <a:xfrm>
              <a:off x="1631" y="2729"/>
              <a:ext cx="93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lnSpc>
                  <a:spcPts val="1800"/>
                </a:lnSpc>
                <a:spcBef>
                  <a:spcPct val="0"/>
                </a:spcBef>
                <a:buClrTx/>
                <a:buFontTx/>
                <a:buNone/>
              </a:pPr>
              <a:r>
                <a:rPr lang="en-US" altLang="en-US" sz="1800">
                  <a:solidFill>
                    <a:schemeClr val="accent1">
                      <a:lumMod val="50000"/>
                    </a:schemeClr>
                  </a:solidFill>
                </a:rPr>
                <a:t>already copied</a:t>
              </a:r>
            </a:p>
          </p:txBody>
        </p:sp>
        <p:sp>
          <p:nvSpPr>
            <p:cNvPr id="29744" name="Rectangle 9"/>
            <p:cNvSpPr>
              <a:spLocks noChangeArrowheads="1"/>
            </p:cNvSpPr>
            <p:nvPr/>
          </p:nvSpPr>
          <p:spPr bwMode="auto">
            <a:xfrm>
              <a:off x="2900" y="2729"/>
              <a:ext cx="103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nSpc>
                  <a:spcPts val="1800"/>
                </a:lnSpc>
                <a:spcBef>
                  <a:spcPct val="0"/>
                </a:spcBef>
                <a:buClrTx/>
                <a:buFontTx/>
                <a:buNone/>
              </a:pPr>
              <a:r>
                <a:rPr lang="en-US" altLang="en-US" sz="1800">
                  <a:solidFill>
                    <a:schemeClr val="accent1">
                      <a:lumMod val="50000"/>
                    </a:schemeClr>
                  </a:solidFill>
                </a:rPr>
                <a:t>still to be copied</a:t>
              </a:r>
            </a:p>
          </p:txBody>
        </p:sp>
        <p:sp>
          <p:nvSpPr>
            <p:cNvPr id="29745" name="Rectangle 37"/>
            <p:cNvSpPr>
              <a:spLocks noChangeArrowheads="1"/>
            </p:cNvSpPr>
            <p:nvPr/>
          </p:nvSpPr>
          <p:spPr bwMode="auto">
            <a:xfrm>
              <a:off x="2976" y="2173"/>
              <a:ext cx="3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chemeClr val="accent1">
                      <a:lumMod val="50000"/>
                    </a:schemeClr>
                  </a:solidFill>
                </a:rPr>
                <a:t>j</a:t>
              </a:r>
              <a:endParaRPr lang="en-US" altLang="en-US" sz="1800">
                <a:solidFill>
                  <a:schemeClr val="accent1">
                    <a:lumMod val="50000"/>
                  </a:schemeClr>
                </a:solidFill>
              </a:endParaRPr>
            </a:p>
          </p:txBody>
        </p:sp>
        <p:sp>
          <p:nvSpPr>
            <p:cNvPr id="29746" name="Rectangle 38"/>
            <p:cNvSpPr>
              <a:spLocks noChangeArrowheads="1"/>
            </p:cNvSpPr>
            <p:nvPr/>
          </p:nvSpPr>
          <p:spPr bwMode="auto">
            <a:xfrm>
              <a:off x="1653" y="2173"/>
              <a:ext cx="11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chemeClr val="accent1">
                      <a:lumMod val="50000"/>
                    </a:schemeClr>
                  </a:solidFill>
                </a:rPr>
                <a:t>l2</a:t>
              </a:r>
              <a:endParaRPr lang="en-US" altLang="en-US" sz="1800">
                <a:solidFill>
                  <a:schemeClr val="accent1">
                    <a:lumMod val="50000"/>
                  </a:schemeClr>
                </a:solidFill>
              </a:endParaRPr>
            </a:p>
          </p:txBody>
        </p:sp>
        <p:sp>
          <p:nvSpPr>
            <p:cNvPr id="29747" name="Rectangle 39"/>
            <p:cNvSpPr>
              <a:spLocks noChangeArrowheads="1"/>
            </p:cNvSpPr>
            <p:nvPr/>
          </p:nvSpPr>
          <p:spPr bwMode="auto">
            <a:xfrm>
              <a:off x="3888" y="2173"/>
              <a:ext cx="12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chemeClr val="accent1">
                      <a:lumMod val="50000"/>
                    </a:schemeClr>
                  </a:solidFill>
                </a:rPr>
                <a:t>r2</a:t>
              </a:r>
              <a:endParaRPr lang="en-US" altLang="en-US" sz="1800">
                <a:solidFill>
                  <a:schemeClr val="accent1">
                    <a:lumMod val="50000"/>
                  </a:schemeClr>
                </a:solidFill>
              </a:endParaRPr>
            </a:p>
          </p:txBody>
        </p:sp>
        <p:sp>
          <p:nvSpPr>
            <p:cNvPr id="29748" name="Rectangle 40"/>
            <p:cNvSpPr>
              <a:spLocks noChangeArrowheads="1"/>
            </p:cNvSpPr>
            <p:nvPr/>
          </p:nvSpPr>
          <p:spPr bwMode="auto">
            <a:xfrm>
              <a:off x="2448" y="2173"/>
              <a:ext cx="19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chemeClr val="accent1">
                      <a:lumMod val="50000"/>
                    </a:schemeClr>
                  </a:solidFill>
                </a:rPr>
                <a:t>j</a:t>
              </a:r>
              <a:r>
                <a:rPr lang="en-US" altLang="en-US" sz="1800">
                  <a:solidFill>
                    <a:schemeClr val="accent1">
                      <a:lumMod val="50000"/>
                    </a:schemeClr>
                  </a:solidFill>
                </a:rPr>
                <a:t>–1</a:t>
              </a:r>
            </a:p>
          </p:txBody>
        </p:sp>
        <p:sp>
          <p:nvSpPr>
            <p:cNvPr id="29749" name="Rectangle 42"/>
            <p:cNvSpPr>
              <a:spLocks noChangeArrowheads="1"/>
            </p:cNvSpPr>
            <p:nvPr/>
          </p:nvSpPr>
          <p:spPr bwMode="auto">
            <a:xfrm>
              <a:off x="1247" y="2389"/>
              <a:ext cx="1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chemeClr val="accent1">
                      <a:lumMod val="50000"/>
                    </a:schemeClr>
                  </a:solidFill>
                </a:rPr>
                <a:t>a2</a:t>
              </a:r>
              <a:endParaRPr lang="en-US" altLang="en-US" sz="1800">
                <a:solidFill>
                  <a:schemeClr val="accent1">
                    <a:lumMod val="50000"/>
                  </a:schemeClr>
                </a:solidFill>
              </a:endParaRPr>
            </a:p>
          </p:txBody>
        </p:sp>
        <p:sp>
          <p:nvSpPr>
            <p:cNvPr id="29750" name="Rectangle 43"/>
            <p:cNvSpPr>
              <a:spLocks noChangeArrowheads="1"/>
            </p:cNvSpPr>
            <p:nvPr/>
          </p:nvSpPr>
          <p:spPr bwMode="auto">
            <a:xfrm>
              <a:off x="1461" y="2365"/>
              <a:ext cx="453"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solidFill>
                  <a:schemeClr val="accent1">
                    <a:lumMod val="50000"/>
                  </a:schemeClr>
                </a:solidFill>
              </a:endParaRPr>
            </a:p>
          </p:txBody>
        </p:sp>
        <p:sp>
          <p:nvSpPr>
            <p:cNvPr id="29751" name="Rectangle 44"/>
            <p:cNvSpPr>
              <a:spLocks noChangeArrowheads="1"/>
            </p:cNvSpPr>
            <p:nvPr/>
          </p:nvSpPr>
          <p:spPr bwMode="auto">
            <a:xfrm>
              <a:off x="1893" y="2365"/>
              <a:ext cx="453"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solidFill>
                  <a:schemeClr val="accent1">
                    <a:lumMod val="50000"/>
                  </a:schemeClr>
                </a:solidFill>
              </a:endParaRPr>
            </a:p>
          </p:txBody>
        </p:sp>
        <p:sp>
          <p:nvSpPr>
            <p:cNvPr id="29752" name="Freeform 45"/>
            <p:cNvSpPr>
              <a:spLocks/>
            </p:cNvSpPr>
            <p:nvPr/>
          </p:nvSpPr>
          <p:spPr bwMode="auto">
            <a:xfrm>
              <a:off x="2037" y="2304"/>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solidFill>
                  <a:schemeClr val="accent1">
                    <a:lumMod val="50000"/>
                  </a:schemeClr>
                </a:solidFill>
              </a:endParaRPr>
            </a:p>
          </p:txBody>
        </p:sp>
        <p:sp>
          <p:nvSpPr>
            <p:cNvPr id="29753" name="Rectangle 46"/>
            <p:cNvSpPr>
              <a:spLocks noChangeArrowheads="1"/>
            </p:cNvSpPr>
            <p:nvPr/>
          </p:nvSpPr>
          <p:spPr bwMode="auto">
            <a:xfrm>
              <a:off x="2325" y="2365"/>
              <a:ext cx="453"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solidFill>
                  <a:schemeClr val="accent1">
                    <a:lumMod val="50000"/>
                  </a:schemeClr>
                </a:solidFill>
              </a:endParaRPr>
            </a:p>
          </p:txBody>
        </p:sp>
        <p:sp>
          <p:nvSpPr>
            <p:cNvPr id="29754" name="Rectangle 47"/>
            <p:cNvSpPr>
              <a:spLocks noChangeArrowheads="1"/>
            </p:cNvSpPr>
            <p:nvPr/>
          </p:nvSpPr>
          <p:spPr bwMode="auto">
            <a:xfrm>
              <a:off x="2757" y="2365"/>
              <a:ext cx="453"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solidFill>
                  <a:schemeClr val="accent1">
                    <a:lumMod val="50000"/>
                  </a:schemeClr>
                </a:solidFill>
              </a:endParaRPr>
            </a:p>
          </p:txBody>
        </p:sp>
        <p:sp>
          <p:nvSpPr>
            <p:cNvPr id="29755" name="Rectangle 48"/>
            <p:cNvSpPr>
              <a:spLocks noChangeArrowheads="1"/>
            </p:cNvSpPr>
            <p:nvPr/>
          </p:nvSpPr>
          <p:spPr bwMode="auto">
            <a:xfrm>
              <a:off x="3189" y="2365"/>
              <a:ext cx="453"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solidFill>
                  <a:schemeClr val="accent1">
                    <a:lumMod val="50000"/>
                  </a:schemeClr>
                </a:solidFill>
              </a:endParaRPr>
            </a:p>
          </p:txBody>
        </p:sp>
        <p:sp>
          <p:nvSpPr>
            <p:cNvPr id="29756" name="Freeform 49"/>
            <p:cNvSpPr>
              <a:spLocks/>
            </p:cNvSpPr>
            <p:nvPr/>
          </p:nvSpPr>
          <p:spPr bwMode="auto">
            <a:xfrm>
              <a:off x="3311" y="2304"/>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solidFill>
                  <a:schemeClr val="accent1">
                    <a:lumMod val="50000"/>
                  </a:schemeClr>
                </a:solidFill>
              </a:endParaRPr>
            </a:p>
          </p:txBody>
        </p:sp>
        <p:sp>
          <p:nvSpPr>
            <p:cNvPr id="29757" name="Rectangle 50"/>
            <p:cNvSpPr>
              <a:spLocks noChangeArrowheads="1"/>
            </p:cNvSpPr>
            <p:nvPr/>
          </p:nvSpPr>
          <p:spPr bwMode="auto">
            <a:xfrm>
              <a:off x="3621" y="2365"/>
              <a:ext cx="453"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solidFill>
                  <a:schemeClr val="accent1">
                    <a:lumMod val="50000"/>
                  </a:schemeClr>
                </a:solidFill>
              </a:endParaRPr>
            </a:p>
          </p:txBody>
        </p:sp>
      </p:grpSp>
      <p:grpSp>
        <p:nvGrpSpPr>
          <p:cNvPr id="3" name="Group 74"/>
          <p:cNvGrpSpPr>
            <a:grpSpLocks/>
          </p:cNvGrpSpPr>
          <p:nvPr/>
        </p:nvGrpSpPr>
        <p:grpSpPr bwMode="auto">
          <a:xfrm>
            <a:off x="815976" y="4965700"/>
            <a:ext cx="6545262" cy="1141413"/>
            <a:chOff x="1247" y="3037"/>
            <a:chExt cx="4123" cy="719"/>
          </a:xfrm>
        </p:grpSpPr>
        <p:sp>
          <p:nvSpPr>
            <p:cNvPr id="29722" name="Freeform 16"/>
            <p:cNvSpPr>
              <a:spLocks/>
            </p:cNvSpPr>
            <p:nvPr/>
          </p:nvSpPr>
          <p:spPr bwMode="auto">
            <a:xfrm>
              <a:off x="1497" y="3521"/>
              <a:ext cx="2088" cy="56"/>
            </a:xfrm>
            <a:custGeom>
              <a:avLst/>
              <a:gdLst>
                <a:gd name="T0" fmla="*/ 0 w 2099"/>
                <a:gd name="T1" fmla="*/ 0 h 137"/>
                <a:gd name="T2" fmla="*/ 4 w 2099"/>
                <a:gd name="T3" fmla="*/ 0 h 137"/>
                <a:gd name="T4" fmla="*/ 13 w 2099"/>
                <a:gd name="T5" fmla="*/ 1 h 137"/>
                <a:gd name="T6" fmla="*/ 31 w 2099"/>
                <a:gd name="T7" fmla="*/ 1 h 137"/>
                <a:gd name="T8" fmla="*/ 52 w 2099"/>
                <a:gd name="T9" fmla="*/ 1 h 137"/>
                <a:gd name="T10" fmla="*/ 77 w 2099"/>
                <a:gd name="T11" fmla="*/ 2 h 137"/>
                <a:gd name="T12" fmla="*/ 103 w 2099"/>
                <a:gd name="T13" fmla="*/ 2 h 137"/>
                <a:gd name="T14" fmla="*/ 136 w 2099"/>
                <a:gd name="T15" fmla="*/ 2 h 137"/>
                <a:gd name="T16" fmla="*/ 171 w 2099"/>
                <a:gd name="T17" fmla="*/ 2 h 137"/>
                <a:gd name="T18" fmla="*/ 855 w 2099"/>
                <a:gd name="T19" fmla="*/ 2 h 137"/>
                <a:gd name="T20" fmla="*/ 889 w 2099"/>
                <a:gd name="T21" fmla="*/ 2 h 137"/>
                <a:gd name="T22" fmla="*/ 922 w 2099"/>
                <a:gd name="T23" fmla="*/ 2 h 137"/>
                <a:gd name="T24" fmla="*/ 953 w 2099"/>
                <a:gd name="T25" fmla="*/ 2 h 137"/>
                <a:gd name="T26" fmla="*/ 978 w 2099"/>
                <a:gd name="T27" fmla="*/ 2 h 137"/>
                <a:gd name="T28" fmla="*/ 999 w 2099"/>
                <a:gd name="T29" fmla="*/ 3 h 137"/>
                <a:gd name="T30" fmla="*/ 1016 w 2099"/>
                <a:gd name="T31" fmla="*/ 3 h 137"/>
                <a:gd name="T32" fmla="*/ 1026 w 2099"/>
                <a:gd name="T33" fmla="*/ 3 h 137"/>
                <a:gd name="T34" fmla="*/ 1029 w 2099"/>
                <a:gd name="T35" fmla="*/ 4 h 137"/>
                <a:gd name="T36" fmla="*/ 1032 w 2099"/>
                <a:gd name="T37" fmla="*/ 3 h 137"/>
                <a:gd name="T38" fmla="*/ 1040 w 2099"/>
                <a:gd name="T39" fmla="*/ 3 h 137"/>
                <a:gd name="T40" fmla="*/ 1056 w 2099"/>
                <a:gd name="T41" fmla="*/ 3 h 137"/>
                <a:gd name="T42" fmla="*/ 1078 w 2099"/>
                <a:gd name="T43" fmla="*/ 2 h 137"/>
                <a:gd name="T44" fmla="*/ 1103 w 2099"/>
                <a:gd name="T45" fmla="*/ 2 h 137"/>
                <a:gd name="T46" fmla="*/ 1133 w 2099"/>
                <a:gd name="T47" fmla="*/ 2 h 137"/>
                <a:gd name="T48" fmla="*/ 1166 w 2099"/>
                <a:gd name="T49" fmla="*/ 2 h 137"/>
                <a:gd name="T50" fmla="*/ 1201 w 2099"/>
                <a:gd name="T51" fmla="*/ 2 h 137"/>
                <a:gd name="T52" fmla="*/ 1885 w 2099"/>
                <a:gd name="T53" fmla="*/ 2 h 137"/>
                <a:gd name="T54" fmla="*/ 1919 w 2099"/>
                <a:gd name="T55" fmla="*/ 2 h 137"/>
                <a:gd name="T56" fmla="*/ 1952 w 2099"/>
                <a:gd name="T57" fmla="*/ 2 h 137"/>
                <a:gd name="T58" fmla="*/ 1981 w 2099"/>
                <a:gd name="T59" fmla="*/ 2 h 137"/>
                <a:gd name="T60" fmla="*/ 2004 w 2099"/>
                <a:gd name="T61" fmla="*/ 1 h 137"/>
                <a:gd name="T62" fmla="*/ 2025 w 2099"/>
                <a:gd name="T63" fmla="*/ 1 h 137"/>
                <a:gd name="T64" fmla="*/ 2042 w 2099"/>
                <a:gd name="T65" fmla="*/ 1 h 137"/>
                <a:gd name="T66" fmla="*/ 2052 w 2099"/>
                <a:gd name="T67" fmla="*/ 0 h 137"/>
                <a:gd name="T68" fmla="*/ 2055 w 2099"/>
                <a:gd name="T69" fmla="*/ 0 h 1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099"/>
                <a:gd name="T106" fmla="*/ 0 h 137"/>
                <a:gd name="T107" fmla="*/ 2099 w 2099"/>
                <a:gd name="T108" fmla="*/ 137 h 1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099" h="137">
                  <a:moveTo>
                    <a:pt x="0" y="0"/>
                  </a:moveTo>
                  <a:lnTo>
                    <a:pt x="4" y="14"/>
                  </a:lnTo>
                  <a:lnTo>
                    <a:pt x="13" y="27"/>
                  </a:lnTo>
                  <a:lnTo>
                    <a:pt x="31" y="39"/>
                  </a:lnTo>
                  <a:lnTo>
                    <a:pt x="52" y="50"/>
                  </a:lnTo>
                  <a:lnTo>
                    <a:pt x="77" y="58"/>
                  </a:lnTo>
                  <a:lnTo>
                    <a:pt x="107" y="64"/>
                  </a:lnTo>
                  <a:lnTo>
                    <a:pt x="140" y="68"/>
                  </a:lnTo>
                  <a:lnTo>
                    <a:pt x="175" y="69"/>
                  </a:lnTo>
                  <a:lnTo>
                    <a:pt x="875" y="69"/>
                  </a:lnTo>
                  <a:lnTo>
                    <a:pt x="909" y="71"/>
                  </a:lnTo>
                  <a:lnTo>
                    <a:pt x="942" y="75"/>
                  </a:lnTo>
                  <a:lnTo>
                    <a:pt x="973" y="81"/>
                  </a:lnTo>
                  <a:lnTo>
                    <a:pt x="998" y="89"/>
                  </a:lnTo>
                  <a:lnTo>
                    <a:pt x="1019" y="100"/>
                  </a:lnTo>
                  <a:lnTo>
                    <a:pt x="1036" y="112"/>
                  </a:lnTo>
                  <a:lnTo>
                    <a:pt x="1046" y="123"/>
                  </a:lnTo>
                  <a:lnTo>
                    <a:pt x="1050" y="137"/>
                  </a:lnTo>
                  <a:lnTo>
                    <a:pt x="1053" y="123"/>
                  </a:lnTo>
                  <a:lnTo>
                    <a:pt x="1063" y="112"/>
                  </a:lnTo>
                  <a:lnTo>
                    <a:pt x="1080" y="100"/>
                  </a:lnTo>
                  <a:lnTo>
                    <a:pt x="1102" y="89"/>
                  </a:lnTo>
                  <a:lnTo>
                    <a:pt x="1127" y="81"/>
                  </a:lnTo>
                  <a:lnTo>
                    <a:pt x="1157" y="75"/>
                  </a:lnTo>
                  <a:lnTo>
                    <a:pt x="1190" y="71"/>
                  </a:lnTo>
                  <a:lnTo>
                    <a:pt x="1225" y="69"/>
                  </a:lnTo>
                  <a:lnTo>
                    <a:pt x="1925" y="69"/>
                  </a:lnTo>
                  <a:lnTo>
                    <a:pt x="1959" y="68"/>
                  </a:lnTo>
                  <a:lnTo>
                    <a:pt x="1992" y="64"/>
                  </a:lnTo>
                  <a:lnTo>
                    <a:pt x="2023" y="58"/>
                  </a:lnTo>
                  <a:lnTo>
                    <a:pt x="2048" y="50"/>
                  </a:lnTo>
                  <a:lnTo>
                    <a:pt x="2069" y="39"/>
                  </a:lnTo>
                  <a:lnTo>
                    <a:pt x="2086" y="27"/>
                  </a:lnTo>
                  <a:lnTo>
                    <a:pt x="2096" y="14"/>
                  </a:lnTo>
                  <a:lnTo>
                    <a:pt x="2099" y="0"/>
                  </a:lnTo>
                </a:path>
              </a:pathLst>
            </a:custGeom>
            <a:noFill/>
            <a:ln w="19050" cap="flat">
              <a:solidFill>
                <a:schemeClr val="accent1">
                  <a:lumMod val="75000"/>
                </a:schemeClr>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GB">
                <a:solidFill>
                  <a:schemeClr val="accent1">
                    <a:lumMod val="50000"/>
                  </a:schemeClr>
                </a:solidFill>
              </a:endParaRPr>
            </a:p>
          </p:txBody>
        </p:sp>
        <p:sp>
          <p:nvSpPr>
            <p:cNvPr id="29723" name="Freeform 17"/>
            <p:cNvSpPr>
              <a:spLocks/>
            </p:cNvSpPr>
            <p:nvPr/>
          </p:nvSpPr>
          <p:spPr bwMode="auto">
            <a:xfrm>
              <a:off x="3651" y="3521"/>
              <a:ext cx="1716" cy="56"/>
            </a:xfrm>
            <a:custGeom>
              <a:avLst/>
              <a:gdLst>
                <a:gd name="T0" fmla="*/ 0 w 1644"/>
                <a:gd name="T1" fmla="*/ 0 h 137"/>
                <a:gd name="T2" fmla="*/ 2 w 1644"/>
                <a:gd name="T3" fmla="*/ 0 h 137"/>
                <a:gd name="T4" fmla="*/ 16 w 1644"/>
                <a:gd name="T5" fmla="*/ 1 h 137"/>
                <a:gd name="T6" fmla="*/ 28 w 1644"/>
                <a:gd name="T7" fmla="*/ 1 h 137"/>
                <a:gd name="T8" fmla="*/ 49 w 1644"/>
                <a:gd name="T9" fmla="*/ 1 h 137"/>
                <a:gd name="T10" fmla="*/ 72 w 1644"/>
                <a:gd name="T11" fmla="*/ 2 h 137"/>
                <a:gd name="T12" fmla="*/ 99 w 1644"/>
                <a:gd name="T13" fmla="*/ 2 h 137"/>
                <a:gd name="T14" fmla="*/ 130 w 1644"/>
                <a:gd name="T15" fmla="*/ 2 h 137"/>
                <a:gd name="T16" fmla="*/ 163 w 1644"/>
                <a:gd name="T17" fmla="*/ 2 h 137"/>
                <a:gd name="T18" fmla="*/ 813 w 1644"/>
                <a:gd name="T19" fmla="*/ 2 h 137"/>
                <a:gd name="T20" fmla="*/ 848 w 1644"/>
                <a:gd name="T21" fmla="*/ 2 h 137"/>
                <a:gd name="T22" fmla="*/ 877 w 1644"/>
                <a:gd name="T23" fmla="*/ 2 h 137"/>
                <a:gd name="T24" fmla="*/ 904 w 1644"/>
                <a:gd name="T25" fmla="*/ 2 h 137"/>
                <a:gd name="T26" fmla="*/ 929 w 1644"/>
                <a:gd name="T27" fmla="*/ 2 h 137"/>
                <a:gd name="T28" fmla="*/ 950 w 1644"/>
                <a:gd name="T29" fmla="*/ 3 h 137"/>
                <a:gd name="T30" fmla="*/ 964 w 1644"/>
                <a:gd name="T31" fmla="*/ 3 h 137"/>
                <a:gd name="T32" fmla="*/ 976 w 1644"/>
                <a:gd name="T33" fmla="*/ 3 h 137"/>
                <a:gd name="T34" fmla="*/ 977 w 1644"/>
                <a:gd name="T35" fmla="*/ 4 h 137"/>
                <a:gd name="T36" fmla="*/ 979 w 1644"/>
                <a:gd name="T37" fmla="*/ 3 h 137"/>
                <a:gd name="T38" fmla="*/ 992 w 1644"/>
                <a:gd name="T39" fmla="*/ 3 h 137"/>
                <a:gd name="T40" fmla="*/ 1005 w 1644"/>
                <a:gd name="T41" fmla="*/ 3 h 137"/>
                <a:gd name="T42" fmla="*/ 1026 w 1644"/>
                <a:gd name="T43" fmla="*/ 2 h 137"/>
                <a:gd name="T44" fmla="*/ 1048 w 1644"/>
                <a:gd name="T45" fmla="*/ 2 h 137"/>
                <a:gd name="T46" fmla="*/ 1075 w 1644"/>
                <a:gd name="T47" fmla="*/ 2 h 137"/>
                <a:gd name="T48" fmla="*/ 1109 w 1644"/>
                <a:gd name="T49" fmla="*/ 2 h 137"/>
                <a:gd name="T50" fmla="*/ 1140 w 1644"/>
                <a:gd name="T51" fmla="*/ 2 h 137"/>
                <a:gd name="T52" fmla="*/ 1790 w 1644"/>
                <a:gd name="T53" fmla="*/ 2 h 137"/>
                <a:gd name="T54" fmla="*/ 1821 w 1644"/>
                <a:gd name="T55" fmla="*/ 2 h 137"/>
                <a:gd name="T56" fmla="*/ 1853 w 1644"/>
                <a:gd name="T57" fmla="*/ 2 h 137"/>
                <a:gd name="T58" fmla="*/ 1881 w 1644"/>
                <a:gd name="T59" fmla="*/ 2 h 137"/>
                <a:gd name="T60" fmla="*/ 1904 w 1644"/>
                <a:gd name="T61" fmla="*/ 1 h 137"/>
                <a:gd name="T62" fmla="*/ 1924 w 1644"/>
                <a:gd name="T63" fmla="*/ 1 h 137"/>
                <a:gd name="T64" fmla="*/ 1939 w 1644"/>
                <a:gd name="T65" fmla="*/ 1 h 137"/>
                <a:gd name="T66" fmla="*/ 1950 w 1644"/>
                <a:gd name="T67" fmla="*/ 0 h 137"/>
                <a:gd name="T68" fmla="*/ 1951 w 1644"/>
                <a:gd name="T69" fmla="*/ 0 h 1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644"/>
                <a:gd name="T106" fmla="*/ 0 h 137"/>
                <a:gd name="T107" fmla="*/ 1644 w 1644"/>
                <a:gd name="T108" fmla="*/ 137 h 1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644" h="137">
                  <a:moveTo>
                    <a:pt x="0" y="0"/>
                  </a:moveTo>
                  <a:lnTo>
                    <a:pt x="2" y="14"/>
                  </a:lnTo>
                  <a:lnTo>
                    <a:pt x="12" y="27"/>
                  </a:lnTo>
                  <a:lnTo>
                    <a:pt x="24" y="39"/>
                  </a:lnTo>
                  <a:lnTo>
                    <a:pt x="41" y="50"/>
                  </a:lnTo>
                  <a:lnTo>
                    <a:pt x="60" y="58"/>
                  </a:lnTo>
                  <a:lnTo>
                    <a:pt x="83" y="64"/>
                  </a:lnTo>
                  <a:lnTo>
                    <a:pt x="110" y="68"/>
                  </a:lnTo>
                  <a:lnTo>
                    <a:pt x="137" y="69"/>
                  </a:lnTo>
                  <a:lnTo>
                    <a:pt x="685" y="69"/>
                  </a:lnTo>
                  <a:lnTo>
                    <a:pt x="714" y="71"/>
                  </a:lnTo>
                  <a:lnTo>
                    <a:pt x="739" y="75"/>
                  </a:lnTo>
                  <a:lnTo>
                    <a:pt x="762" y="81"/>
                  </a:lnTo>
                  <a:lnTo>
                    <a:pt x="783" y="89"/>
                  </a:lnTo>
                  <a:lnTo>
                    <a:pt x="800" y="100"/>
                  </a:lnTo>
                  <a:lnTo>
                    <a:pt x="812" y="112"/>
                  </a:lnTo>
                  <a:lnTo>
                    <a:pt x="822" y="123"/>
                  </a:lnTo>
                  <a:lnTo>
                    <a:pt x="823" y="137"/>
                  </a:lnTo>
                  <a:lnTo>
                    <a:pt x="825" y="123"/>
                  </a:lnTo>
                  <a:lnTo>
                    <a:pt x="835" y="112"/>
                  </a:lnTo>
                  <a:lnTo>
                    <a:pt x="847" y="100"/>
                  </a:lnTo>
                  <a:lnTo>
                    <a:pt x="864" y="89"/>
                  </a:lnTo>
                  <a:lnTo>
                    <a:pt x="883" y="81"/>
                  </a:lnTo>
                  <a:lnTo>
                    <a:pt x="906" y="75"/>
                  </a:lnTo>
                  <a:lnTo>
                    <a:pt x="933" y="71"/>
                  </a:lnTo>
                  <a:lnTo>
                    <a:pt x="960" y="69"/>
                  </a:lnTo>
                  <a:lnTo>
                    <a:pt x="1508" y="69"/>
                  </a:lnTo>
                  <a:lnTo>
                    <a:pt x="1535" y="68"/>
                  </a:lnTo>
                  <a:lnTo>
                    <a:pt x="1562" y="64"/>
                  </a:lnTo>
                  <a:lnTo>
                    <a:pt x="1585" y="58"/>
                  </a:lnTo>
                  <a:lnTo>
                    <a:pt x="1604" y="50"/>
                  </a:lnTo>
                  <a:lnTo>
                    <a:pt x="1621" y="39"/>
                  </a:lnTo>
                  <a:lnTo>
                    <a:pt x="1633" y="27"/>
                  </a:lnTo>
                  <a:lnTo>
                    <a:pt x="1643" y="14"/>
                  </a:lnTo>
                  <a:lnTo>
                    <a:pt x="1644" y="0"/>
                  </a:lnTo>
                </a:path>
              </a:pathLst>
            </a:custGeom>
            <a:noFill/>
            <a:ln w="19050" cap="flat">
              <a:solidFill>
                <a:schemeClr val="accent1">
                  <a:lumMod val="75000"/>
                </a:schemeClr>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GB">
                <a:solidFill>
                  <a:schemeClr val="accent1">
                    <a:lumMod val="50000"/>
                  </a:schemeClr>
                </a:solidFill>
              </a:endParaRPr>
            </a:p>
          </p:txBody>
        </p:sp>
        <p:sp>
          <p:nvSpPr>
            <p:cNvPr id="29724" name="Rectangle 18"/>
            <p:cNvSpPr>
              <a:spLocks noChangeArrowheads="1"/>
            </p:cNvSpPr>
            <p:nvPr/>
          </p:nvSpPr>
          <p:spPr bwMode="auto">
            <a:xfrm>
              <a:off x="1761" y="3612"/>
              <a:ext cx="160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lnSpc>
                  <a:spcPts val="1800"/>
                </a:lnSpc>
                <a:spcBef>
                  <a:spcPct val="0"/>
                </a:spcBef>
                <a:buClrTx/>
                <a:buFontTx/>
                <a:buNone/>
              </a:pPr>
              <a:r>
                <a:rPr lang="en-US" altLang="en-US" sz="1800">
                  <a:solidFill>
                    <a:schemeClr val="accent1">
                      <a:lumMod val="50000"/>
                    </a:schemeClr>
                  </a:solidFill>
                </a:rPr>
                <a:t>copied from </a:t>
              </a:r>
              <a:r>
                <a:rPr lang="en-US" altLang="en-US" sz="1800" i="1">
                  <a:solidFill>
                    <a:schemeClr val="accent1">
                      <a:lumMod val="50000"/>
                    </a:schemeClr>
                  </a:solidFill>
                </a:rPr>
                <a:t>a1</a:t>
              </a:r>
              <a:r>
                <a:rPr lang="en-US" altLang="en-US" sz="1800">
                  <a:solidFill>
                    <a:schemeClr val="accent1">
                      <a:lumMod val="50000"/>
                    </a:schemeClr>
                  </a:solidFill>
                </a:rPr>
                <a:t> and/or </a:t>
              </a:r>
              <a:r>
                <a:rPr lang="en-US" altLang="en-US" sz="1800" i="1">
                  <a:solidFill>
                    <a:schemeClr val="accent1">
                      <a:lumMod val="50000"/>
                    </a:schemeClr>
                  </a:solidFill>
                </a:rPr>
                <a:t>a2</a:t>
              </a:r>
            </a:p>
          </p:txBody>
        </p:sp>
        <p:sp>
          <p:nvSpPr>
            <p:cNvPr id="29725" name="Rectangle 19"/>
            <p:cNvSpPr>
              <a:spLocks noChangeArrowheads="1"/>
            </p:cNvSpPr>
            <p:nvPr/>
          </p:nvSpPr>
          <p:spPr bwMode="auto">
            <a:xfrm>
              <a:off x="4149" y="3612"/>
              <a:ext cx="73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nSpc>
                  <a:spcPts val="1800"/>
                </a:lnSpc>
                <a:spcBef>
                  <a:spcPct val="0"/>
                </a:spcBef>
                <a:buClrTx/>
                <a:buFontTx/>
                <a:buNone/>
              </a:pPr>
              <a:r>
                <a:rPr lang="en-US" altLang="en-US" sz="1800">
                  <a:solidFill>
                    <a:schemeClr val="accent1">
                      <a:lumMod val="50000"/>
                    </a:schemeClr>
                  </a:solidFill>
                </a:rPr>
                <a:t>unoccupied</a:t>
              </a:r>
            </a:p>
          </p:txBody>
        </p:sp>
        <p:sp>
          <p:nvSpPr>
            <p:cNvPr id="29726" name="Rectangle 52"/>
            <p:cNvSpPr>
              <a:spLocks noChangeArrowheads="1"/>
            </p:cNvSpPr>
            <p:nvPr/>
          </p:nvSpPr>
          <p:spPr bwMode="auto">
            <a:xfrm>
              <a:off x="3861" y="3037"/>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chemeClr val="accent1">
                      <a:lumMod val="50000"/>
                    </a:schemeClr>
                  </a:solidFill>
                </a:rPr>
                <a:t>k</a:t>
              </a:r>
              <a:endParaRPr lang="en-US" altLang="en-US" sz="1800">
                <a:solidFill>
                  <a:schemeClr val="accent1">
                    <a:lumMod val="50000"/>
                  </a:schemeClr>
                </a:solidFill>
              </a:endParaRPr>
            </a:p>
          </p:txBody>
        </p:sp>
        <p:sp>
          <p:nvSpPr>
            <p:cNvPr id="29727" name="Rectangle 53"/>
            <p:cNvSpPr>
              <a:spLocks noChangeArrowheads="1"/>
            </p:cNvSpPr>
            <p:nvPr/>
          </p:nvSpPr>
          <p:spPr bwMode="auto">
            <a:xfrm>
              <a:off x="1653" y="3037"/>
              <a:ext cx="11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chemeClr val="accent1">
                      <a:lumMod val="50000"/>
                    </a:schemeClr>
                  </a:solidFill>
                </a:rPr>
                <a:t>l3</a:t>
              </a:r>
              <a:endParaRPr lang="en-US" altLang="en-US" sz="1800">
                <a:solidFill>
                  <a:schemeClr val="accent1">
                    <a:lumMod val="50000"/>
                  </a:schemeClr>
                </a:solidFill>
              </a:endParaRPr>
            </a:p>
          </p:txBody>
        </p:sp>
        <p:sp>
          <p:nvSpPr>
            <p:cNvPr id="29728" name="Rectangle 54"/>
            <p:cNvSpPr>
              <a:spLocks noChangeArrowheads="1"/>
            </p:cNvSpPr>
            <p:nvPr/>
          </p:nvSpPr>
          <p:spPr bwMode="auto">
            <a:xfrm>
              <a:off x="3333" y="3037"/>
              <a:ext cx="23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chemeClr val="accent1">
                      <a:lumMod val="50000"/>
                    </a:schemeClr>
                  </a:solidFill>
                </a:rPr>
                <a:t>k</a:t>
              </a:r>
              <a:r>
                <a:rPr lang="en-US" altLang="en-US" sz="1800">
                  <a:solidFill>
                    <a:schemeClr val="accent1">
                      <a:lumMod val="50000"/>
                    </a:schemeClr>
                  </a:solidFill>
                </a:rPr>
                <a:t>–1</a:t>
              </a:r>
            </a:p>
          </p:txBody>
        </p:sp>
        <p:sp>
          <p:nvSpPr>
            <p:cNvPr id="29729" name="Rectangle 55"/>
            <p:cNvSpPr>
              <a:spLocks noChangeArrowheads="1"/>
            </p:cNvSpPr>
            <p:nvPr/>
          </p:nvSpPr>
          <p:spPr bwMode="auto">
            <a:xfrm>
              <a:off x="1247" y="3257"/>
              <a:ext cx="1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chemeClr val="accent1">
                      <a:lumMod val="50000"/>
                    </a:schemeClr>
                  </a:solidFill>
                </a:rPr>
                <a:t>a3</a:t>
              </a:r>
              <a:endParaRPr lang="en-US" altLang="en-US" sz="1800">
                <a:solidFill>
                  <a:schemeClr val="accent1">
                    <a:lumMod val="50000"/>
                  </a:schemeClr>
                </a:solidFill>
              </a:endParaRPr>
            </a:p>
          </p:txBody>
        </p:sp>
        <p:sp>
          <p:nvSpPr>
            <p:cNvPr id="29730" name="Rectangle 56"/>
            <p:cNvSpPr>
              <a:spLocks noChangeArrowheads="1"/>
            </p:cNvSpPr>
            <p:nvPr/>
          </p:nvSpPr>
          <p:spPr bwMode="auto">
            <a:xfrm>
              <a:off x="1461" y="3229"/>
              <a:ext cx="453"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solidFill>
                  <a:schemeClr val="accent1">
                    <a:lumMod val="50000"/>
                  </a:schemeClr>
                </a:solidFill>
              </a:endParaRPr>
            </a:p>
          </p:txBody>
        </p:sp>
        <p:sp>
          <p:nvSpPr>
            <p:cNvPr id="29731" name="Rectangle 57"/>
            <p:cNvSpPr>
              <a:spLocks noChangeArrowheads="1"/>
            </p:cNvSpPr>
            <p:nvPr/>
          </p:nvSpPr>
          <p:spPr bwMode="auto">
            <a:xfrm>
              <a:off x="1893" y="3229"/>
              <a:ext cx="453"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solidFill>
                  <a:schemeClr val="accent1">
                    <a:lumMod val="50000"/>
                  </a:schemeClr>
                </a:solidFill>
              </a:endParaRPr>
            </a:p>
          </p:txBody>
        </p:sp>
        <p:sp>
          <p:nvSpPr>
            <p:cNvPr id="29732" name="Rectangle 59"/>
            <p:cNvSpPr>
              <a:spLocks noChangeArrowheads="1"/>
            </p:cNvSpPr>
            <p:nvPr/>
          </p:nvSpPr>
          <p:spPr bwMode="auto">
            <a:xfrm>
              <a:off x="2325" y="3229"/>
              <a:ext cx="453"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solidFill>
                  <a:schemeClr val="accent1">
                    <a:lumMod val="50000"/>
                  </a:schemeClr>
                </a:solidFill>
              </a:endParaRPr>
            </a:p>
          </p:txBody>
        </p:sp>
        <p:sp>
          <p:nvSpPr>
            <p:cNvPr id="29733" name="Freeform 60"/>
            <p:cNvSpPr>
              <a:spLocks/>
            </p:cNvSpPr>
            <p:nvPr/>
          </p:nvSpPr>
          <p:spPr bwMode="auto">
            <a:xfrm>
              <a:off x="2469" y="3168"/>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solidFill>
                  <a:schemeClr val="accent1">
                    <a:lumMod val="50000"/>
                  </a:schemeClr>
                </a:solidFill>
              </a:endParaRPr>
            </a:p>
          </p:txBody>
        </p:sp>
        <p:sp>
          <p:nvSpPr>
            <p:cNvPr id="29734" name="Rectangle 61"/>
            <p:cNvSpPr>
              <a:spLocks noChangeArrowheads="1"/>
            </p:cNvSpPr>
            <p:nvPr/>
          </p:nvSpPr>
          <p:spPr bwMode="auto">
            <a:xfrm>
              <a:off x="2757" y="3229"/>
              <a:ext cx="453"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solidFill>
                  <a:schemeClr val="accent1">
                    <a:lumMod val="50000"/>
                  </a:schemeClr>
                </a:solidFill>
              </a:endParaRPr>
            </a:p>
          </p:txBody>
        </p:sp>
        <p:sp>
          <p:nvSpPr>
            <p:cNvPr id="29735" name="Rectangle 62"/>
            <p:cNvSpPr>
              <a:spLocks noChangeArrowheads="1"/>
            </p:cNvSpPr>
            <p:nvPr/>
          </p:nvSpPr>
          <p:spPr bwMode="auto">
            <a:xfrm>
              <a:off x="3189" y="3229"/>
              <a:ext cx="453"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solidFill>
                  <a:schemeClr val="accent1">
                    <a:lumMod val="50000"/>
                  </a:schemeClr>
                </a:solidFill>
              </a:endParaRPr>
            </a:p>
          </p:txBody>
        </p:sp>
        <p:sp>
          <p:nvSpPr>
            <p:cNvPr id="29736" name="Rectangle 63"/>
            <p:cNvSpPr>
              <a:spLocks noChangeArrowheads="1"/>
            </p:cNvSpPr>
            <p:nvPr/>
          </p:nvSpPr>
          <p:spPr bwMode="auto">
            <a:xfrm>
              <a:off x="3621" y="3229"/>
              <a:ext cx="453"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solidFill>
                  <a:schemeClr val="accent1">
                    <a:lumMod val="50000"/>
                  </a:schemeClr>
                </a:solidFill>
              </a:endParaRPr>
            </a:p>
          </p:txBody>
        </p:sp>
        <p:sp>
          <p:nvSpPr>
            <p:cNvPr id="29737" name="Rectangle 64"/>
            <p:cNvSpPr>
              <a:spLocks noChangeArrowheads="1"/>
            </p:cNvSpPr>
            <p:nvPr/>
          </p:nvSpPr>
          <p:spPr bwMode="auto">
            <a:xfrm>
              <a:off x="4053" y="3229"/>
              <a:ext cx="453"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solidFill>
                  <a:schemeClr val="accent1">
                    <a:lumMod val="50000"/>
                  </a:schemeClr>
                </a:solidFill>
              </a:endParaRPr>
            </a:p>
          </p:txBody>
        </p:sp>
        <p:sp>
          <p:nvSpPr>
            <p:cNvPr id="29738" name="Freeform 65"/>
            <p:cNvSpPr>
              <a:spLocks/>
            </p:cNvSpPr>
            <p:nvPr/>
          </p:nvSpPr>
          <p:spPr bwMode="auto">
            <a:xfrm>
              <a:off x="4195" y="3168"/>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solidFill>
                  <a:schemeClr val="accent1">
                    <a:lumMod val="50000"/>
                  </a:schemeClr>
                </a:solidFill>
              </a:endParaRPr>
            </a:p>
          </p:txBody>
        </p:sp>
        <p:sp>
          <p:nvSpPr>
            <p:cNvPr id="29739" name="Rectangle 66"/>
            <p:cNvSpPr>
              <a:spLocks noChangeArrowheads="1"/>
            </p:cNvSpPr>
            <p:nvPr/>
          </p:nvSpPr>
          <p:spPr bwMode="auto">
            <a:xfrm>
              <a:off x="4485" y="3229"/>
              <a:ext cx="453"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solidFill>
                  <a:schemeClr val="accent1">
                    <a:lumMod val="50000"/>
                  </a:schemeClr>
                </a:solidFill>
              </a:endParaRPr>
            </a:p>
          </p:txBody>
        </p:sp>
        <p:sp>
          <p:nvSpPr>
            <p:cNvPr id="29740" name="Rectangle 67"/>
            <p:cNvSpPr>
              <a:spLocks noChangeArrowheads="1"/>
            </p:cNvSpPr>
            <p:nvPr/>
          </p:nvSpPr>
          <p:spPr bwMode="auto">
            <a:xfrm>
              <a:off x="4917" y="3229"/>
              <a:ext cx="453"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solidFill>
                  <a:schemeClr val="accent1">
                    <a:lumMod val="50000"/>
                  </a:schemeClr>
                </a:solidFill>
              </a:endParaRPr>
            </a:p>
          </p:txBody>
        </p:sp>
      </p:grpSp>
      <p:grpSp>
        <p:nvGrpSpPr>
          <p:cNvPr id="4" name="Group 72"/>
          <p:cNvGrpSpPr>
            <a:grpSpLocks/>
          </p:cNvGrpSpPr>
          <p:nvPr/>
        </p:nvGrpSpPr>
        <p:grpSpPr bwMode="auto">
          <a:xfrm>
            <a:off x="849313" y="2254251"/>
            <a:ext cx="5173662" cy="1111250"/>
            <a:chOff x="1247" y="1309"/>
            <a:chExt cx="3259" cy="700"/>
          </a:xfrm>
        </p:grpSpPr>
        <p:sp>
          <p:nvSpPr>
            <p:cNvPr id="29703" name="Rectangle 21"/>
            <p:cNvSpPr>
              <a:spLocks noChangeArrowheads="1"/>
            </p:cNvSpPr>
            <p:nvPr/>
          </p:nvSpPr>
          <p:spPr bwMode="auto">
            <a:xfrm>
              <a:off x="3408" y="1309"/>
              <a:ext cx="3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chemeClr val="accent1">
                      <a:lumMod val="50000"/>
                    </a:schemeClr>
                  </a:solidFill>
                </a:rPr>
                <a:t>i</a:t>
              </a:r>
              <a:endParaRPr lang="en-US" altLang="en-US" sz="1800">
                <a:solidFill>
                  <a:schemeClr val="accent1">
                    <a:lumMod val="50000"/>
                  </a:schemeClr>
                </a:solidFill>
              </a:endParaRPr>
            </a:p>
          </p:txBody>
        </p:sp>
        <p:sp>
          <p:nvSpPr>
            <p:cNvPr id="29704" name="Rectangle 22"/>
            <p:cNvSpPr>
              <a:spLocks noChangeArrowheads="1"/>
            </p:cNvSpPr>
            <p:nvPr/>
          </p:nvSpPr>
          <p:spPr bwMode="auto">
            <a:xfrm>
              <a:off x="1653" y="1309"/>
              <a:ext cx="11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chemeClr val="accent1">
                      <a:lumMod val="50000"/>
                    </a:schemeClr>
                  </a:solidFill>
                </a:rPr>
                <a:t>l1</a:t>
              </a:r>
              <a:endParaRPr lang="en-US" altLang="en-US" sz="1800">
                <a:solidFill>
                  <a:schemeClr val="accent1">
                    <a:lumMod val="50000"/>
                  </a:schemeClr>
                </a:solidFill>
              </a:endParaRPr>
            </a:p>
          </p:txBody>
        </p:sp>
        <p:sp>
          <p:nvSpPr>
            <p:cNvPr id="29705" name="Rectangle 23"/>
            <p:cNvSpPr>
              <a:spLocks noChangeArrowheads="1"/>
            </p:cNvSpPr>
            <p:nvPr/>
          </p:nvSpPr>
          <p:spPr bwMode="auto">
            <a:xfrm>
              <a:off x="4320" y="1309"/>
              <a:ext cx="12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chemeClr val="accent1">
                      <a:lumMod val="50000"/>
                    </a:schemeClr>
                  </a:solidFill>
                </a:rPr>
                <a:t>r1</a:t>
              </a:r>
              <a:endParaRPr lang="en-US" altLang="en-US" sz="1800">
                <a:solidFill>
                  <a:schemeClr val="accent1">
                    <a:lumMod val="50000"/>
                  </a:schemeClr>
                </a:solidFill>
              </a:endParaRPr>
            </a:p>
          </p:txBody>
        </p:sp>
        <p:sp>
          <p:nvSpPr>
            <p:cNvPr id="29706" name="Rectangle 24"/>
            <p:cNvSpPr>
              <a:spLocks noChangeArrowheads="1"/>
            </p:cNvSpPr>
            <p:nvPr/>
          </p:nvSpPr>
          <p:spPr bwMode="auto">
            <a:xfrm>
              <a:off x="2874" y="1309"/>
              <a:ext cx="19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chemeClr val="accent1">
                      <a:lumMod val="50000"/>
                    </a:schemeClr>
                  </a:solidFill>
                </a:rPr>
                <a:t>i</a:t>
              </a:r>
              <a:r>
                <a:rPr lang="en-US" altLang="en-US" sz="1800">
                  <a:solidFill>
                    <a:schemeClr val="accent1">
                      <a:lumMod val="50000"/>
                    </a:schemeClr>
                  </a:solidFill>
                </a:rPr>
                <a:t>–1</a:t>
              </a:r>
            </a:p>
          </p:txBody>
        </p:sp>
        <p:sp>
          <p:nvSpPr>
            <p:cNvPr id="29707" name="Freeform 11"/>
            <p:cNvSpPr>
              <a:spLocks/>
            </p:cNvSpPr>
            <p:nvPr/>
          </p:nvSpPr>
          <p:spPr bwMode="auto">
            <a:xfrm>
              <a:off x="1497" y="1800"/>
              <a:ext cx="1656" cy="42"/>
            </a:xfrm>
            <a:custGeom>
              <a:avLst/>
              <a:gdLst>
                <a:gd name="T0" fmla="*/ 0 w 2099"/>
                <a:gd name="T1" fmla="*/ 0 h 137"/>
                <a:gd name="T2" fmla="*/ 2 w 2099"/>
                <a:gd name="T3" fmla="*/ 0 h 137"/>
                <a:gd name="T4" fmla="*/ 5 w 2099"/>
                <a:gd name="T5" fmla="*/ 0 h 137"/>
                <a:gd name="T6" fmla="*/ 12 w 2099"/>
                <a:gd name="T7" fmla="*/ 0 h 137"/>
                <a:gd name="T8" fmla="*/ 20 w 2099"/>
                <a:gd name="T9" fmla="*/ 1 h 137"/>
                <a:gd name="T10" fmla="*/ 30 w 2099"/>
                <a:gd name="T11" fmla="*/ 1 h 137"/>
                <a:gd name="T12" fmla="*/ 41 w 2099"/>
                <a:gd name="T13" fmla="*/ 1 h 137"/>
                <a:gd name="T14" fmla="*/ 54 w 2099"/>
                <a:gd name="T15" fmla="*/ 1 h 137"/>
                <a:gd name="T16" fmla="*/ 68 w 2099"/>
                <a:gd name="T17" fmla="*/ 1 h 137"/>
                <a:gd name="T18" fmla="*/ 338 w 2099"/>
                <a:gd name="T19" fmla="*/ 1 h 137"/>
                <a:gd name="T20" fmla="*/ 353 w 2099"/>
                <a:gd name="T21" fmla="*/ 1 h 137"/>
                <a:gd name="T22" fmla="*/ 364 w 2099"/>
                <a:gd name="T23" fmla="*/ 1 h 137"/>
                <a:gd name="T24" fmla="*/ 377 w 2099"/>
                <a:gd name="T25" fmla="*/ 1 h 137"/>
                <a:gd name="T26" fmla="*/ 387 w 2099"/>
                <a:gd name="T27" fmla="*/ 1 h 137"/>
                <a:gd name="T28" fmla="*/ 394 w 2099"/>
                <a:gd name="T29" fmla="*/ 1 h 137"/>
                <a:gd name="T30" fmla="*/ 402 w 2099"/>
                <a:gd name="T31" fmla="*/ 1 h 137"/>
                <a:gd name="T32" fmla="*/ 406 w 2099"/>
                <a:gd name="T33" fmla="*/ 1 h 137"/>
                <a:gd name="T34" fmla="*/ 406 w 2099"/>
                <a:gd name="T35" fmla="*/ 1 h 137"/>
                <a:gd name="T36" fmla="*/ 409 w 2099"/>
                <a:gd name="T37" fmla="*/ 1 h 137"/>
                <a:gd name="T38" fmla="*/ 412 w 2099"/>
                <a:gd name="T39" fmla="*/ 1 h 137"/>
                <a:gd name="T40" fmla="*/ 418 w 2099"/>
                <a:gd name="T41" fmla="*/ 1 h 137"/>
                <a:gd name="T42" fmla="*/ 427 w 2099"/>
                <a:gd name="T43" fmla="*/ 1 h 137"/>
                <a:gd name="T44" fmla="*/ 436 w 2099"/>
                <a:gd name="T45" fmla="*/ 1 h 137"/>
                <a:gd name="T46" fmla="*/ 448 w 2099"/>
                <a:gd name="T47" fmla="*/ 1 h 137"/>
                <a:gd name="T48" fmla="*/ 462 w 2099"/>
                <a:gd name="T49" fmla="*/ 1 h 137"/>
                <a:gd name="T50" fmla="*/ 474 w 2099"/>
                <a:gd name="T51" fmla="*/ 1 h 137"/>
                <a:gd name="T52" fmla="*/ 746 w 2099"/>
                <a:gd name="T53" fmla="*/ 1 h 137"/>
                <a:gd name="T54" fmla="*/ 760 w 2099"/>
                <a:gd name="T55" fmla="*/ 1 h 137"/>
                <a:gd name="T56" fmla="*/ 772 w 2099"/>
                <a:gd name="T57" fmla="*/ 1 h 137"/>
                <a:gd name="T58" fmla="*/ 783 w 2099"/>
                <a:gd name="T59" fmla="*/ 1 h 137"/>
                <a:gd name="T60" fmla="*/ 794 w 2099"/>
                <a:gd name="T61" fmla="*/ 1 h 137"/>
                <a:gd name="T62" fmla="*/ 802 w 2099"/>
                <a:gd name="T63" fmla="*/ 0 h 137"/>
                <a:gd name="T64" fmla="*/ 809 w 2099"/>
                <a:gd name="T65" fmla="*/ 0 h 137"/>
                <a:gd name="T66" fmla="*/ 813 w 2099"/>
                <a:gd name="T67" fmla="*/ 0 h 137"/>
                <a:gd name="T68" fmla="*/ 813 w 2099"/>
                <a:gd name="T69" fmla="*/ 0 h 1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099"/>
                <a:gd name="T106" fmla="*/ 0 h 137"/>
                <a:gd name="T107" fmla="*/ 2099 w 2099"/>
                <a:gd name="T108" fmla="*/ 137 h 1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099" h="137">
                  <a:moveTo>
                    <a:pt x="0" y="0"/>
                  </a:moveTo>
                  <a:lnTo>
                    <a:pt x="4" y="14"/>
                  </a:lnTo>
                  <a:lnTo>
                    <a:pt x="13" y="27"/>
                  </a:lnTo>
                  <a:lnTo>
                    <a:pt x="31" y="39"/>
                  </a:lnTo>
                  <a:lnTo>
                    <a:pt x="52" y="50"/>
                  </a:lnTo>
                  <a:lnTo>
                    <a:pt x="77" y="58"/>
                  </a:lnTo>
                  <a:lnTo>
                    <a:pt x="107" y="64"/>
                  </a:lnTo>
                  <a:lnTo>
                    <a:pt x="140" y="68"/>
                  </a:lnTo>
                  <a:lnTo>
                    <a:pt x="175" y="69"/>
                  </a:lnTo>
                  <a:lnTo>
                    <a:pt x="875" y="69"/>
                  </a:lnTo>
                  <a:lnTo>
                    <a:pt x="909" y="71"/>
                  </a:lnTo>
                  <a:lnTo>
                    <a:pt x="942" y="75"/>
                  </a:lnTo>
                  <a:lnTo>
                    <a:pt x="973" y="81"/>
                  </a:lnTo>
                  <a:lnTo>
                    <a:pt x="998" y="89"/>
                  </a:lnTo>
                  <a:lnTo>
                    <a:pt x="1019" y="100"/>
                  </a:lnTo>
                  <a:lnTo>
                    <a:pt x="1036" y="112"/>
                  </a:lnTo>
                  <a:lnTo>
                    <a:pt x="1046" y="123"/>
                  </a:lnTo>
                  <a:lnTo>
                    <a:pt x="1050" y="137"/>
                  </a:lnTo>
                  <a:lnTo>
                    <a:pt x="1053" y="123"/>
                  </a:lnTo>
                  <a:lnTo>
                    <a:pt x="1063" y="112"/>
                  </a:lnTo>
                  <a:lnTo>
                    <a:pt x="1080" y="100"/>
                  </a:lnTo>
                  <a:lnTo>
                    <a:pt x="1102" y="89"/>
                  </a:lnTo>
                  <a:lnTo>
                    <a:pt x="1127" y="81"/>
                  </a:lnTo>
                  <a:lnTo>
                    <a:pt x="1157" y="75"/>
                  </a:lnTo>
                  <a:lnTo>
                    <a:pt x="1190" y="71"/>
                  </a:lnTo>
                  <a:lnTo>
                    <a:pt x="1225" y="69"/>
                  </a:lnTo>
                  <a:lnTo>
                    <a:pt x="1925" y="69"/>
                  </a:lnTo>
                  <a:lnTo>
                    <a:pt x="1959" y="68"/>
                  </a:lnTo>
                  <a:lnTo>
                    <a:pt x="1992" y="64"/>
                  </a:lnTo>
                  <a:lnTo>
                    <a:pt x="2023" y="58"/>
                  </a:lnTo>
                  <a:lnTo>
                    <a:pt x="2048" y="50"/>
                  </a:lnTo>
                  <a:lnTo>
                    <a:pt x="2069" y="39"/>
                  </a:lnTo>
                  <a:lnTo>
                    <a:pt x="2086" y="27"/>
                  </a:lnTo>
                  <a:lnTo>
                    <a:pt x="2096" y="14"/>
                  </a:lnTo>
                  <a:lnTo>
                    <a:pt x="2099" y="0"/>
                  </a:lnTo>
                </a:path>
              </a:pathLst>
            </a:custGeom>
            <a:noFill/>
            <a:ln w="19050" cap="flat">
              <a:solidFill>
                <a:schemeClr val="accent1">
                  <a:lumMod val="75000"/>
                </a:schemeClr>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GB">
                <a:solidFill>
                  <a:schemeClr val="accent1">
                    <a:lumMod val="50000"/>
                  </a:schemeClr>
                </a:solidFill>
              </a:endParaRPr>
            </a:p>
          </p:txBody>
        </p:sp>
        <p:sp>
          <p:nvSpPr>
            <p:cNvPr id="29708" name="Freeform 12"/>
            <p:cNvSpPr>
              <a:spLocks/>
            </p:cNvSpPr>
            <p:nvPr/>
          </p:nvSpPr>
          <p:spPr bwMode="auto">
            <a:xfrm>
              <a:off x="3212" y="1800"/>
              <a:ext cx="1292" cy="42"/>
            </a:xfrm>
            <a:custGeom>
              <a:avLst/>
              <a:gdLst>
                <a:gd name="T0" fmla="*/ 0 w 1644"/>
                <a:gd name="T1" fmla="*/ 0 h 137"/>
                <a:gd name="T2" fmla="*/ 2 w 1644"/>
                <a:gd name="T3" fmla="*/ 0 h 137"/>
                <a:gd name="T4" fmla="*/ 5 w 1644"/>
                <a:gd name="T5" fmla="*/ 0 h 137"/>
                <a:gd name="T6" fmla="*/ 9 w 1644"/>
                <a:gd name="T7" fmla="*/ 0 h 137"/>
                <a:gd name="T8" fmla="*/ 16 w 1644"/>
                <a:gd name="T9" fmla="*/ 1 h 137"/>
                <a:gd name="T10" fmla="*/ 23 w 1644"/>
                <a:gd name="T11" fmla="*/ 1 h 137"/>
                <a:gd name="T12" fmla="*/ 31 w 1644"/>
                <a:gd name="T13" fmla="*/ 1 h 137"/>
                <a:gd name="T14" fmla="*/ 42 w 1644"/>
                <a:gd name="T15" fmla="*/ 1 h 137"/>
                <a:gd name="T16" fmla="*/ 53 w 1644"/>
                <a:gd name="T17" fmla="*/ 1 h 137"/>
                <a:gd name="T18" fmla="*/ 261 w 1644"/>
                <a:gd name="T19" fmla="*/ 1 h 137"/>
                <a:gd name="T20" fmla="*/ 273 w 1644"/>
                <a:gd name="T21" fmla="*/ 1 h 137"/>
                <a:gd name="T22" fmla="*/ 282 w 1644"/>
                <a:gd name="T23" fmla="*/ 1 h 137"/>
                <a:gd name="T24" fmla="*/ 291 w 1644"/>
                <a:gd name="T25" fmla="*/ 1 h 137"/>
                <a:gd name="T26" fmla="*/ 299 w 1644"/>
                <a:gd name="T27" fmla="*/ 1 h 137"/>
                <a:gd name="T28" fmla="*/ 305 w 1644"/>
                <a:gd name="T29" fmla="*/ 1 h 137"/>
                <a:gd name="T30" fmla="*/ 310 w 1644"/>
                <a:gd name="T31" fmla="*/ 1 h 137"/>
                <a:gd name="T32" fmla="*/ 314 w 1644"/>
                <a:gd name="T33" fmla="*/ 1 h 137"/>
                <a:gd name="T34" fmla="*/ 314 w 1644"/>
                <a:gd name="T35" fmla="*/ 1 h 137"/>
                <a:gd name="T36" fmla="*/ 314 w 1644"/>
                <a:gd name="T37" fmla="*/ 1 h 137"/>
                <a:gd name="T38" fmla="*/ 319 w 1644"/>
                <a:gd name="T39" fmla="*/ 1 h 137"/>
                <a:gd name="T40" fmla="*/ 323 w 1644"/>
                <a:gd name="T41" fmla="*/ 1 h 137"/>
                <a:gd name="T42" fmla="*/ 330 w 1644"/>
                <a:gd name="T43" fmla="*/ 1 h 137"/>
                <a:gd name="T44" fmla="*/ 336 w 1644"/>
                <a:gd name="T45" fmla="*/ 1 h 137"/>
                <a:gd name="T46" fmla="*/ 346 w 1644"/>
                <a:gd name="T47" fmla="*/ 1 h 137"/>
                <a:gd name="T48" fmla="*/ 356 w 1644"/>
                <a:gd name="T49" fmla="*/ 1 h 137"/>
                <a:gd name="T50" fmla="*/ 366 w 1644"/>
                <a:gd name="T51" fmla="*/ 1 h 137"/>
                <a:gd name="T52" fmla="*/ 575 w 1644"/>
                <a:gd name="T53" fmla="*/ 1 h 137"/>
                <a:gd name="T54" fmla="*/ 585 w 1644"/>
                <a:gd name="T55" fmla="*/ 1 h 137"/>
                <a:gd name="T56" fmla="*/ 596 w 1644"/>
                <a:gd name="T57" fmla="*/ 1 h 137"/>
                <a:gd name="T58" fmla="*/ 604 w 1644"/>
                <a:gd name="T59" fmla="*/ 1 h 137"/>
                <a:gd name="T60" fmla="*/ 612 w 1644"/>
                <a:gd name="T61" fmla="*/ 1 h 137"/>
                <a:gd name="T62" fmla="*/ 618 w 1644"/>
                <a:gd name="T63" fmla="*/ 0 h 137"/>
                <a:gd name="T64" fmla="*/ 622 w 1644"/>
                <a:gd name="T65" fmla="*/ 0 h 137"/>
                <a:gd name="T66" fmla="*/ 627 w 1644"/>
                <a:gd name="T67" fmla="*/ 0 h 137"/>
                <a:gd name="T68" fmla="*/ 627 w 1644"/>
                <a:gd name="T69" fmla="*/ 0 h 1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644"/>
                <a:gd name="T106" fmla="*/ 0 h 137"/>
                <a:gd name="T107" fmla="*/ 1644 w 1644"/>
                <a:gd name="T108" fmla="*/ 137 h 1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644" h="137">
                  <a:moveTo>
                    <a:pt x="0" y="0"/>
                  </a:moveTo>
                  <a:lnTo>
                    <a:pt x="2" y="14"/>
                  </a:lnTo>
                  <a:lnTo>
                    <a:pt x="12" y="27"/>
                  </a:lnTo>
                  <a:lnTo>
                    <a:pt x="24" y="39"/>
                  </a:lnTo>
                  <a:lnTo>
                    <a:pt x="41" y="50"/>
                  </a:lnTo>
                  <a:lnTo>
                    <a:pt x="60" y="58"/>
                  </a:lnTo>
                  <a:lnTo>
                    <a:pt x="83" y="64"/>
                  </a:lnTo>
                  <a:lnTo>
                    <a:pt x="110" y="68"/>
                  </a:lnTo>
                  <a:lnTo>
                    <a:pt x="137" y="69"/>
                  </a:lnTo>
                  <a:lnTo>
                    <a:pt x="685" y="69"/>
                  </a:lnTo>
                  <a:lnTo>
                    <a:pt x="714" y="71"/>
                  </a:lnTo>
                  <a:lnTo>
                    <a:pt x="739" y="75"/>
                  </a:lnTo>
                  <a:lnTo>
                    <a:pt x="762" y="81"/>
                  </a:lnTo>
                  <a:lnTo>
                    <a:pt x="783" y="89"/>
                  </a:lnTo>
                  <a:lnTo>
                    <a:pt x="800" y="100"/>
                  </a:lnTo>
                  <a:lnTo>
                    <a:pt x="812" y="112"/>
                  </a:lnTo>
                  <a:lnTo>
                    <a:pt x="822" y="123"/>
                  </a:lnTo>
                  <a:lnTo>
                    <a:pt x="823" y="137"/>
                  </a:lnTo>
                  <a:lnTo>
                    <a:pt x="825" y="123"/>
                  </a:lnTo>
                  <a:lnTo>
                    <a:pt x="835" y="112"/>
                  </a:lnTo>
                  <a:lnTo>
                    <a:pt x="847" y="100"/>
                  </a:lnTo>
                  <a:lnTo>
                    <a:pt x="864" y="89"/>
                  </a:lnTo>
                  <a:lnTo>
                    <a:pt x="883" y="81"/>
                  </a:lnTo>
                  <a:lnTo>
                    <a:pt x="906" y="75"/>
                  </a:lnTo>
                  <a:lnTo>
                    <a:pt x="933" y="71"/>
                  </a:lnTo>
                  <a:lnTo>
                    <a:pt x="960" y="69"/>
                  </a:lnTo>
                  <a:lnTo>
                    <a:pt x="1508" y="69"/>
                  </a:lnTo>
                  <a:lnTo>
                    <a:pt x="1535" y="68"/>
                  </a:lnTo>
                  <a:lnTo>
                    <a:pt x="1562" y="64"/>
                  </a:lnTo>
                  <a:lnTo>
                    <a:pt x="1585" y="58"/>
                  </a:lnTo>
                  <a:lnTo>
                    <a:pt x="1604" y="50"/>
                  </a:lnTo>
                  <a:lnTo>
                    <a:pt x="1621" y="39"/>
                  </a:lnTo>
                  <a:lnTo>
                    <a:pt x="1633" y="27"/>
                  </a:lnTo>
                  <a:lnTo>
                    <a:pt x="1643" y="14"/>
                  </a:lnTo>
                  <a:lnTo>
                    <a:pt x="1644" y="0"/>
                  </a:lnTo>
                </a:path>
              </a:pathLst>
            </a:custGeom>
            <a:noFill/>
            <a:ln w="19050" cap="flat">
              <a:solidFill>
                <a:schemeClr val="accent1">
                  <a:lumMod val="75000"/>
                </a:schemeClr>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GB">
                <a:solidFill>
                  <a:schemeClr val="accent1">
                    <a:lumMod val="50000"/>
                  </a:schemeClr>
                </a:solidFill>
              </a:endParaRPr>
            </a:p>
          </p:txBody>
        </p:sp>
        <p:sp>
          <p:nvSpPr>
            <p:cNvPr id="29709" name="Rectangle 13"/>
            <p:cNvSpPr>
              <a:spLocks noChangeArrowheads="1"/>
            </p:cNvSpPr>
            <p:nvPr/>
          </p:nvSpPr>
          <p:spPr bwMode="auto">
            <a:xfrm>
              <a:off x="1844" y="1865"/>
              <a:ext cx="93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lnSpc>
                  <a:spcPts val="1800"/>
                </a:lnSpc>
                <a:spcBef>
                  <a:spcPct val="0"/>
                </a:spcBef>
                <a:buClrTx/>
                <a:buFontTx/>
                <a:buNone/>
              </a:pPr>
              <a:r>
                <a:rPr lang="en-US" altLang="en-US" sz="1800" dirty="0">
                  <a:solidFill>
                    <a:schemeClr val="accent1">
                      <a:lumMod val="50000"/>
                    </a:schemeClr>
                  </a:solidFill>
                </a:rPr>
                <a:t>already copied</a:t>
              </a:r>
            </a:p>
          </p:txBody>
        </p:sp>
        <p:sp>
          <p:nvSpPr>
            <p:cNvPr id="29710" name="Rectangle 14"/>
            <p:cNvSpPr>
              <a:spLocks noChangeArrowheads="1"/>
            </p:cNvSpPr>
            <p:nvPr/>
          </p:nvSpPr>
          <p:spPr bwMode="auto">
            <a:xfrm>
              <a:off x="3322" y="1865"/>
              <a:ext cx="103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nSpc>
                  <a:spcPts val="1800"/>
                </a:lnSpc>
                <a:spcBef>
                  <a:spcPct val="0"/>
                </a:spcBef>
                <a:buClrTx/>
                <a:buFontTx/>
                <a:buNone/>
              </a:pPr>
              <a:r>
                <a:rPr lang="en-US" altLang="en-US" sz="1800">
                  <a:solidFill>
                    <a:schemeClr val="accent1">
                      <a:lumMod val="50000"/>
                    </a:schemeClr>
                  </a:solidFill>
                </a:rPr>
                <a:t>still to be copied</a:t>
              </a:r>
            </a:p>
          </p:txBody>
        </p:sp>
        <p:sp>
          <p:nvSpPr>
            <p:cNvPr id="29711" name="Rectangle 26"/>
            <p:cNvSpPr>
              <a:spLocks noChangeArrowheads="1"/>
            </p:cNvSpPr>
            <p:nvPr/>
          </p:nvSpPr>
          <p:spPr bwMode="auto">
            <a:xfrm>
              <a:off x="1247" y="1525"/>
              <a:ext cx="16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chemeClr val="accent1">
                      <a:lumMod val="50000"/>
                    </a:schemeClr>
                  </a:solidFill>
                </a:rPr>
                <a:t>a1</a:t>
              </a:r>
              <a:endParaRPr lang="en-US" altLang="en-US" sz="1800">
                <a:solidFill>
                  <a:schemeClr val="accent1">
                    <a:lumMod val="50000"/>
                  </a:schemeClr>
                </a:solidFill>
              </a:endParaRPr>
            </a:p>
          </p:txBody>
        </p:sp>
        <p:sp>
          <p:nvSpPr>
            <p:cNvPr id="29712" name="Rectangle 27"/>
            <p:cNvSpPr>
              <a:spLocks noChangeArrowheads="1"/>
            </p:cNvSpPr>
            <p:nvPr/>
          </p:nvSpPr>
          <p:spPr bwMode="auto">
            <a:xfrm>
              <a:off x="1461" y="1501"/>
              <a:ext cx="453"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solidFill>
                  <a:schemeClr val="accent1">
                    <a:lumMod val="50000"/>
                  </a:schemeClr>
                </a:solidFill>
              </a:endParaRPr>
            </a:p>
          </p:txBody>
        </p:sp>
        <p:sp>
          <p:nvSpPr>
            <p:cNvPr id="29713" name="Rectangle 28"/>
            <p:cNvSpPr>
              <a:spLocks noChangeArrowheads="1"/>
            </p:cNvSpPr>
            <p:nvPr/>
          </p:nvSpPr>
          <p:spPr bwMode="auto">
            <a:xfrm>
              <a:off x="1893" y="1501"/>
              <a:ext cx="453"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solidFill>
                  <a:schemeClr val="accent1">
                    <a:lumMod val="50000"/>
                  </a:schemeClr>
                </a:solidFill>
              </a:endParaRPr>
            </a:p>
          </p:txBody>
        </p:sp>
        <p:sp>
          <p:nvSpPr>
            <p:cNvPr id="29714" name="Freeform 29"/>
            <p:cNvSpPr>
              <a:spLocks/>
            </p:cNvSpPr>
            <p:nvPr/>
          </p:nvSpPr>
          <p:spPr bwMode="auto">
            <a:xfrm>
              <a:off x="2037" y="1440"/>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solidFill>
                  <a:schemeClr val="accent1">
                    <a:lumMod val="50000"/>
                  </a:schemeClr>
                </a:solidFill>
              </a:endParaRPr>
            </a:p>
          </p:txBody>
        </p:sp>
        <p:sp>
          <p:nvSpPr>
            <p:cNvPr id="29715" name="Rectangle 30"/>
            <p:cNvSpPr>
              <a:spLocks noChangeArrowheads="1"/>
            </p:cNvSpPr>
            <p:nvPr/>
          </p:nvSpPr>
          <p:spPr bwMode="auto">
            <a:xfrm>
              <a:off x="2325" y="1501"/>
              <a:ext cx="453"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solidFill>
                  <a:schemeClr val="accent1">
                    <a:lumMod val="50000"/>
                  </a:schemeClr>
                </a:solidFill>
              </a:endParaRPr>
            </a:p>
          </p:txBody>
        </p:sp>
        <p:sp>
          <p:nvSpPr>
            <p:cNvPr id="29716" name="Rectangle 31"/>
            <p:cNvSpPr>
              <a:spLocks noChangeArrowheads="1"/>
            </p:cNvSpPr>
            <p:nvPr/>
          </p:nvSpPr>
          <p:spPr bwMode="auto">
            <a:xfrm>
              <a:off x="2757" y="1501"/>
              <a:ext cx="453"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solidFill>
                  <a:schemeClr val="accent1">
                    <a:lumMod val="50000"/>
                  </a:schemeClr>
                </a:solidFill>
              </a:endParaRPr>
            </a:p>
          </p:txBody>
        </p:sp>
        <p:sp>
          <p:nvSpPr>
            <p:cNvPr id="29717" name="Freeform 32"/>
            <p:cNvSpPr>
              <a:spLocks/>
            </p:cNvSpPr>
            <p:nvPr/>
          </p:nvSpPr>
          <p:spPr bwMode="auto">
            <a:xfrm>
              <a:off x="3813" y="1440"/>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solidFill>
                  <a:schemeClr val="accent1">
                    <a:lumMod val="50000"/>
                  </a:schemeClr>
                </a:solidFill>
              </a:endParaRPr>
            </a:p>
          </p:txBody>
        </p:sp>
        <p:sp>
          <p:nvSpPr>
            <p:cNvPr id="29718" name="Rectangle 33"/>
            <p:cNvSpPr>
              <a:spLocks noChangeArrowheads="1"/>
            </p:cNvSpPr>
            <p:nvPr/>
          </p:nvSpPr>
          <p:spPr bwMode="auto">
            <a:xfrm>
              <a:off x="3189" y="1501"/>
              <a:ext cx="453"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solidFill>
                  <a:schemeClr val="accent1">
                    <a:lumMod val="50000"/>
                  </a:schemeClr>
                </a:solidFill>
              </a:endParaRPr>
            </a:p>
          </p:txBody>
        </p:sp>
        <p:sp>
          <p:nvSpPr>
            <p:cNvPr id="29719" name="Rectangle 34"/>
            <p:cNvSpPr>
              <a:spLocks noChangeArrowheads="1"/>
            </p:cNvSpPr>
            <p:nvPr/>
          </p:nvSpPr>
          <p:spPr bwMode="auto">
            <a:xfrm>
              <a:off x="3621" y="1501"/>
              <a:ext cx="453"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solidFill>
                  <a:schemeClr val="accent1">
                    <a:lumMod val="50000"/>
                  </a:schemeClr>
                </a:solidFill>
              </a:endParaRPr>
            </a:p>
          </p:txBody>
        </p:sp>
        <p:sp>
          <p:nvSpPr>
            <p:cNvPr id="29720" name="Rectangle 35"/>
            <p:cNvSpPr>
              <a:spLocks noChangeArrowheads="1"/>
            </p:cNvSpPr>
            <p:nvPr/>
          </p:nvSpPr>
          <p:spPr bwMode="auto">
            <a:xfrm>
              <a:off x="4053" y="1501"/>
              <a:ext cx="453"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solidFill>
                  <a:schemeClr val="accent1">
                    <a:lumMod val="50000"/>
                  </a:schemeClr>
                </a:solidFill>
              </a:endParaRPr>
            </a:p>
          </p:txBody>
        </p:sp>
        <p:sp>
          <p:nvSpPr>
            <p:cNvPr id="29721" name="Freeform 68"/>
            <p:cNvSpPr>
              <a:spLocks/>
            </p:cNvSpPr>
            <p:nvPr/>
          </p:nvSpPr>
          <p:spPr bwMode="auto">
            <a:xfrm>
              <a:off x="3754" y="1434"/>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solidFill>
                  <a:schemeClr val="accent1">
                    <a:lumMod val="50000"/>
                  </a:schemeClr>
                </a:solidFill>
              </a:endParaRPr>
            </a:p>
          </p:txBody>
        </p:sp>
      </p:grpSp>
      <p:sp>
        <p:nvSpPr>
          <p:cNvPr id="5" name="Slide Number Placeholder 4"/>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3570576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tLang="en-US" sz="3200" dirty="0"/>
              <a:t>Merging </a:t>
            </a:r>
            <a:r>
              <a:rPr lang="en-US" altLang="en-US" sz="3200" i="1" dirty="0"/>
              <a:t>(4)</a:t>
            </a:r>
            <a:endParaRPr lang="en-GB" altLang="en-US" sz="3200" dirty="0"/>
          </a:p>
        </p:txBody>
      </p:sp>
      <p:sp>
        <p:nvSpPr>
          <p:cNvPr id="30723" name="Rectangle 3"/>
          <p:cNvSpPr>
            <a:spLocks noGrp="1" noChangeArrowheads="1"/>
          </p:cNvSpPr>
          <p:nvPr>
            <p:ph idx="1"/>
          </p:nvPr>
        </p:nvSpPr>
        <p:spPr>
          <a:xfrm>
            <a:off x="364333" y="1277938"/>
            <a:ext cx="7620000" cy="4800600"/>
          </a:xfrm>
          <a:noFill/>
        </p:spPr>
        <p:txBody>
          <a:bodyPr/>
          <a:lstStyle/>
          <a:p>
            <a:pPr eaLnBrk="1" hangingPunct="1"/>
            <a:r>
              <a:rPr lang="en-US" altLang="en-US" dirty="0"/>
              <a:t>Animation:</a:t>
            </a:r>
          </a:p>
        </p:txBody>
      </p:sp>
      <p:grpSp>
        <p:nvGrpSpPr>
          <p:cNvPr id="2" name="Group 613"/>
          <p:cNvGrpSpPr>
            <a:grpSpLocks/>
          </p:cNvGrpSpPr>
          <p:nvPr/>
        </p:nvGrpSpPr>
        <p:grpSpPr bwMode="auto">
          <a:xfrm>
            <a:off x="571501" y="2022475"/>
            <a:ext cx="6705600" cy="4724400"/>
            <a:chOff x="1224" y="255"/>
            <a:chExt cx="4224" cy="2976"/>
          </a:xfrm>
        </p:grpSpPr>
        <p:sp>
          <p:nvSpPr>
            <p:cNvPr id="31285" name="Rectangle 6"/>
            <p:cNvSpPr>
              <a:spLocks noChangeArrowheads="1"/>
            </p:cNvSpPr>
            <p:nvPr/>
          </p:nvSpPr>
          <p:spPr bwMode="auto">
            <a:xfrm>
              <a:off x="1224" y="255"/>
              <a:ext cx="4224" cy="2976"/>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31286" name="Text Box 7"/>
            <p:cNvSpPr txBox="1">
              <a:spLocks noChangeArrowheads="1"/>
            </p:cNvSpPr>
            <p:nvPr/>
          </p:nvSpPr>
          <p:spPr bwMode="auto">
            <a:xfrm>
              <a:off x="1272" y="293"/>
              <a:ext cx="4128" cy="1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merge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l1</a:t>
              </a:r>
              <a:r>
                <a:rPr lang="en-US" altLang="en-US" sz="2000">
                  <a:latin typeface="Times New Roman" pitchFamily="18" charset="0"/>
                </a:rPr>
                <a:t>…</a:t>
              </a:r>
              <a:r>
                <a:rPr lang="en-US" altLang="en-US" sz="2000" i="1">
                  <a:latin typeface="Times New Roman" pitchFamily="18" charset="0"/>
                </a:rPr>
                <a:t>r1</a:t>
              </a:r>
              <a:r>
                <a:rPr lang="en-US" altLang="en-US" sz="2000">
                  <a:latin typeface="Times New Roman" pitchFamily="18" charset="0"/>
                </a:rPr>
                <a:t>] and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l2</a:t>
              </a:r>
              <a:r>
                <a:rPr lang="en-US" altLang="en-US" sz="2000">
                  <a:latin typeface="Times New Roman" pitchFamily="18" charset="0"/>
                </a:rPr>
                <a:t>…</a:t>
              </a:r>
              <a:r>
                <a:rPr lang="en-US" altLang="en-US" sz="2000" i="1">
                  <a:latin typeface="Times New Roman" pitchFamily="18" charset="0"/>
                </a:rPr>
                <a:t>r2</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1.	Set </a:t>
              </a:r>
              <a:r>
                <a:rPr lang="en-US" altLang="en-US" sz="2000" i="1">
                  <a:latin typeface="Times New Roman" pitchFamily="18" charset="0"/>
                </a:rPr>
                <a:t>i</a:t>
              </a:r>
              <a:r>
                <a:rPr lang="en-US" altLang="en-US" sz="2000">
                  <a:latin typeface="Times New Roman" pitchFamily="18" charset="0"/>
                </a:rPr>
                <a:t> = </a:t>
              </a:r>
              <a:r>
                <a:rPr lang="en-US" altLang="en-US" sz="2000" i="1">
                  <a:latin typeface="Times New Roman" pitchFamily="18" charset="0"/>
                </a:rPr>
                <a:t>l1</a:t>
              </a:r>
              <a:r>
                <a:rPr lang="en-US" altLang="en-US" sz="2000">
                  <a:latin typeface="Times New Roman" pitchFamily="18" charset="0"/>
                </a:rPr>
                <a:t>, set </a:t>
              </a:r>
              <a:r>
                <a:rPr lang="en-US" altLang="en-US" sz="2000" i="1">
                  <a:latin typeface="Times New Roman" pitchFamily="18" charset="0"/>
                </a:rPr>
                <a:t>j</a:t>
              </a:r>
              <a:r>
                <a:rPr lang="en-US" altLang="en-US" sz="2000">
                  <a:latin typeface="Times New Roman" pitchFamily="18" charset="0"/>
                </a:rPr>
                <a:t> = </a:t>
              </a:r>
              <a:r>
                <a:rPr lang="en-US" altLang="en-US" sz="2000" i="1">
                  <a:latin typeface="Times New Roman" pitchFamily="18" charset="0"/>
                </a:rPr>
                <a:t>l2</a:t>
              </a:r>
              <a:r>
                <a:rPr lang="en-US" altLang="en-US" sz="2000">
                  <a:latin typeface="Times New Roman" pitchFamily="18" charset="0"/>
                </a:rPr>
                <a:t>, and set </a:t>
              </a:r>
              <a:r>
                <a:rPr lang="en-US" altLang="en-US" sz="2000" i="1">
                  <a:latin typeface="Times New Roman" pitchFamily="18" charset="0"/>
                </a:rPr>
                <a:t>k</a:t>
              </a:r>
              <a:r>
                <a:rPr lang="en-US" altLang="en-US" sz="2000">
                  <a:latin typeface="Times New Roman" pitchFamily="18" charset="0"/>
                </a:rPr>
                <a:t> = </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While </a:t>
              </a:r>
              <a:r>
                <a:rPr lang="en-US" altLang="en-US" sz="2000" i="1">
                  <a:latin typeface="Times New Roman" pitchFamily="18" charset="0"/>
                </a:rPr>
                <a:t>i</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r1</a:t>
              </a:r>
              <a:r>
                <a:rPr lang="en-US" altLang="en-US" sz="2000">
                  <a:latin typeface="Times New Roman" pitchFamily="18" charset="0"/>
                </a:rPr>
                <a:t> and </a:t>
              </a:r>
              <a:r>
                <a:rPr lang="en-US" altLang="en-US" sz="2000" i="1">
                  <a:latin typeface="Times New Roman" pitchFamily="18" charset="0"/>
                </a:rPr>
                <a:t>j</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r2</a:t>
              </a:r>
              <a:r>
                <a:rPr lang="en-US" altLang="en-US" sz="2000">
                  <a:latin typeface="Times New Roman" pitchFamily="18" charset="0"/>
                </a:rPr>
                <a:t>, repeat:</a:t>
              </a:r>
              <a:br>
                <a:rPr lang="en-US" altLang="en-US" sz="2000">
                  <a:latin typeface="Times New Roman" pitchFamily="18" charset="0"/>
                </a:rPr>
              </a:br>
              <a:r>
                <a:rPr lang="en-US" altLang="en-US" sz="2000">
                  <a:latin typeface="Times New Roman" pitchFamily="18" charset="0"/>
                </a:rPr>
                <a:t>	2.1.	If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i</a:t>
              </a:r>
              <a:r>
                <a:rPr lang="en-US" altLang="en-US" sz="2000">
                  <a:latin typeface="Times New Roman" pitchFamily="18" charset="0"/>
                </a:rPr>
                <a:t>] is less than or equal to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j</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2.1.1.	Copy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i</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k</a:t>
              </a:r>
              <a:r>
                <a:rPr lang="en-US" altLang="en-US" sz="2000">
                  <a:latin typeface="Times New Roman" pitchFamily="18" charset="0"/>
                </a:rPr>
                <a:t>], then increment </a:t>
              </a:r>
              <a:r>
                <a:rPr lang="en-US" altLang="en-US" sz="2000" i="1">
                  <a:latin typeface="Times New Roman" pitchFamily="18" charset="0"/>
                </a:rPr>
                <a:t>i</a:t>
              </a:r>
              <a:r>
                <a:rPr lang="en-US" altLang="en-US" sz="2000">
                  <a:latin typeface="Times New Roman" pitchFamily="18" charset="0"/>
                </a:rPr>
                <a:t> and </a:t>
              </a:r>
              <a:r>
                <a:rPr lang="en-US" altLang="en-US" sz="2000" i="1">
                  <a:latin typeface="Times New Roman" pitchFamily="18" charset="0"/>
                </a:rPr>
                <a:t>k</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2.2.	Else:</a:t>
              </a:r>
              <a:br>
                <a:rPr lang="en-US" altLang="en-US" sz="2000">
                  <a:latin typeface="Times New Roman" pitchFamily="18" charset="0"/>
                </a:rPr>
              </a:br>
              <a:r>
                <a:rPr lang="en-US" altLang="en-US" sz="2000">
                  <a:latin typeface="Times New Roman" pitchFamily="18" charset="0"/>
                </a:rPr>
                <a:t>		2.2.1.	Copy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j</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k</a:t>
              </a:r>
              <a:r>
                <a:rPr lang="en-US" altLang="en-US" sz="2000">
                  <a:latin typeface="Times New Roman" pitchFamily="18" charset="0"/>
                </a:rPr>
                <a:t>], then increment </a:t>
              </a:r>
              <a:r>
                <a:rPr lang="en-US" altLang="en-US" sz="2000" i="1">
                  <a:latin typeface="Times New Roman" pitchFamily="18" charset="0"/>
                </a:rPr>
                <a:t>j</a:t>
              </a:r>
              <a:r>
                <a:rPr lang="en-US" altLang="en-US" sz="2000">
                  <a:latin typeface="Times New Roman" pitchFamily="18" charset="0"/>
                </a:rPr>
                <a:t> and </a:t>
              </a:r>
              <a:r>
                <a:rPr lang="en-US" altLang="en-US" sz="2000" i="1">
                  <a:latin typeface="Times New Roman" pitchFamily="18" charset="0"/>
                </a:rPr>
                <a:t>k</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a:t>
              </a:r>
            </a:p>
          </p:txBody>
        </p:sp>
        <p:sp>
          <p:nvSpPr>
            <p:cNvPr id="31287" name="Text Box 8"/>
            <p:cNvSpPr txBox="1">
              <a:spLocks noChangeArrowheads="1"/>
            </p:cNvSpPr>
            <p:nvPr/>
          </p:nvSpPr>
          <p:spPr bwMode="auto">
            <a:xfrm>
              <a:off x="1512" y="207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31288" name="Text Box 9"/>
            <p:cNvSpPr txBox="1">
              <a:spLocks noChangeArrowheads="1"/>
            </p:cNvSpPr>
            <p:nvPr/>
          </p:nvSpPr>
          <p:spPr bwMode="auto">
            <a:xfrm>
              <a:off x="1416" y="1887"/>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l1 </a:t>
              </a:r>
              <a:r>
                <a:rPr lang="en-US" altLang="en-US" sz="1800">
                  <a:latin typeface="Times New Roman" pitchFamily="18" charset="0"/>
                </a:rPr>
                <a:t>= 0</a:t>
              </a:r>
            </a:p>
          </p:txBody>
        </p:sp>
        <p:sp>
          <p:nvSpPr>
            <p:cNvPr id="31289" name="Text Box 10"/>
            <p:cNvSpPr txBox="1">
              <a:spLocks noChangeArrowheads="1"/>
            </p:cNvSpPr>
            <p:nvPr/>
          </p:nvSpPr>
          <p:spPr bwMode="auto">
            <a:xfrm>
              <a:off x="1992" y="1887"/>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 = </a:t>
              </a:r>
              <a:r>
                <a:rPr lang="en-US" altLang="en-US" sz="1800" i="1">
                  <a:latin typeface="Times New Roman" pitchFamily="18" charset="0"/>
                </a:rPr>
                <a:t>r1</a:t>
              </a:r>
              <a:endParaRPr lang="en-US" altLang="en-US" sz="1800">
                <a:latin typeface="Times New Roman" pitchFamily="18" charset="0"/>
              </a:endParaRPr>
            </a:p>
          </p:txBody>
        </p:sp>
        <p:sp>
          <p:nvSpPr>
            <p:cNvPr id="31290" name="Text Box 11"/>
            <p:cNvSpPr txBox="1">
              <a:spLocks noChangeArrowheads="1"/>
            </p:cNvSpPr>
            <p:nvPr/>
          </p:nvSpPr>
          <p:spPr bwMode="auto">
            <a:xfrm>
              <a:off x="1971" y="207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31291" name="Text Box 12"/>
            <p:cNvSpPr txBox="1">
              <a:spLocks noChangeArrowheads="1"/>
            </p:cNvSpPr>
            <p:nvPr/>
          </p:nvSpPr>
          <p:spPr bwMode="auto">
            <a:xfrm>
              <a:off x="1320" y="2079"/>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a1</a:t>
              </a:r>
            </a:p>
          </p:txBody>
        </p:sp>
        <p:sp>
          <p:nvSpPr>
            <p:cNvPr id="31292" name="Text Box 13"/>
            <p:cNvSpPr txBox="1">
              <a:spLocks noChangeArrowheads="1"/>
            </p:cNvSpPr>
            <p:nvPr/>
          </p:nvSpPr>
          <p:spPr bwMode="auto">
            <a:xfrm>
              <a:off x="1512" y="251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31293" name="Text Box 14"/>
            <p:cNvSpPr txBox="1">
              <a:spLocks noChangeArrowheads="1"/>
            </p:cNvSpPr>
            <p:nvPr/>
          </p:nvSpPr>
          <p:spPr bwMode="auto">
            <a:xfrm>
              <a:off x="1416" y="2319"/>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l2 </a:t>
              </a:r>
              <a:r>
                <a:rPr lang="en-US" altLang="en-US" sz="1800">
                  <a:latin typeface="Times New Roman" pitchFamily="18" charset="0"/>
                </a:rPr>
                <a:t>= 0</a:t>
              </a:r>
            </a:p>
          </p:txBody>
        </p:sp>
        <p:sp>
          <p:nvSpPr>
            <p:cNvPr id="31294" name="Text Box 15"/>
            <p:cNvSpPr txBox="1">
              <a:spLocks noChangeArrowheads="1"/>
            </p:cNvSpPr>
            <p:nvPr/>
          </p:nvSpPr>
          <p:spPr bwMode="auto">
            <a:xfrm>
              <a:off x="2092" y="231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1295" name="Text Box 16"/>
            <p:cNvSpPr txBox="1">
              <a:spLocks noChangeArrowheads="1"/>
            </p:cNvSpPr>
            <p:nvPr/>
          </p:nvSpPr>
          <p:spPr bwMode="auto">
            <a:xfrm>
              <a:off x="2520" y="231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1296" name="Text Box 17"/>
            <p:cNvSpPr txBox="1">
              <a:spLocks noChangeArrowheads="1"/>
            </p:cNvSpPr>
            <p:nvPr/>
          </p:nvSpPr>
          <p:spPr bwMode="auto">
            <a:xfrm>
              <a:off x="2952" y="231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1297" name="Text Box 18"/>
            <p:cNvSpPr txBox="1">
              <a:spLocks noChangeArrowheads="1"/>
            </p:cNvSpPr>
            <p:nvPr/>
          </p:nvSpPr>
          <p:spPr bwMode="auto">
            <a:xfrm>
              <a:off x="3288" y="2319"/>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 = </a:t>
              </a:r>
              <a:r>
                <a:rPr lang="en-US" altLang="en-US" sz="1800" i="1">
                  <a:latin typeface="Times New Roman" pitchFamily="18" charset="0"/>
                </a:rPr>
                <a:t>r2</a:t>
              </a:r>
              <a:endParaRPr lang="en-US" altLang="en-US" sz="1800">
                <a:latin typeface="Times New Roman" pitchFamily="18" charset="0"/>
              </a:endParaRPr>
            </a:p>
          </p:txBody>
        </p:sp>
        <p:sp>
          <p:nvSpPr>
            <p:cNvPr id="31298" name="Text Box 19"/>
            <p:cNvSpPr txBox="1">
              <a:spLocks noChangeArrowheads="1"/>
            </p:cNvSpPr>
            <p:nvPr/>
          </p:nvSpPr>
          <p:spPr bwMode="auto">
            <a:xfrm>
              <a:off x="1971" y="251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31299" name="Text Box 20"/>
            <p:cNvSpPr txBox="1">
              <a:spLocks noChangeArrowheads="1"/>
            </p:cNvSpPr>
            <p:nvPr/>
          </p:nvSpPr>
          <p:spPr bwMode="auto">
            <a:xfrm>
              <a:off x="2403" y="251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31300" name="Text Box 21"/>
            <p:cNvSpPr txBox="1">
              <a:spLocks noChangeArrowheads="1"/>
            </p:cNvSpPr>
            <p:nvPr/>
          </p:nvSpPr>
          <p:spPr bwMode="auto">
            <a:xfrm>
              <a:off x="2835" y="251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31301" name="Text Box 22"/>
            <p:cNvSpPr txBox="1">
              <a:spLocks noChangeArrowheads="1"/>
            </p:cNvSpPr>
            <p:nvPr/>
          </p:nvSpPr>
          <p:spPr bwMode="auto">
            <a:xfrm>
              <a:off x="3267" y="251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31302" name="Text Box 23"/>
            <p:cNvSpPr txBox="1">
              <a:spLocks noChangeArrowheads="1"/>
            </p:cNvSpPr>
            <p:nvPr/>
          </p:nvSpPr>
          <p:spPr bwMode="auto">
            <a:xfrm>
              <a:off x="1320" y="2511"/>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a2</a:t>
              </a:r>
            </a:p>
          </p:txBody>
        </p:sp>
        <p:sp>
          <p:nvSpPr>
            <p:cNvPr id="31303" name="Text Box 24"/>
            <p:cNvSpPr txBox="1">
              <a:spLocks noChangeArrowheads="1"/>
            </p:cNvSpPr>
            <p:nvPr/>
          </p:nvSpPr>
          <p:spPr bwMode="auto">
            <a:xfrm>
              <a:off x="1512" y="294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304" name="Text Box 25"/>
            <p:cNvSpPr txBox="1">
              <a:spLocks noChangeArrowheads="1"/>
            </p:cNvSpPr>
            <p:nvPr/>
          </p:nvSpPr>
          <p:spPr bwMode="auto">
            <a:xfrm>
              <a:off x="1416" y="2751"/>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l3 </a:t>
              </a:r>
              <a:r>
                <a:rPr lang="en-US" altLang="en-US" sz="1800">
                  <a:latin typeface="Times New Roman" pitchFamily="18" charset="0"/>
                </a:rPr>
                <a:t>= 0</a:t>
              </a:r>
            </a:p>
          </p:txBody>
        </p:sp>
        <p:sp>
          <p:nvSpPr>
            <p:cNvPr id="31305" name="Text Box 26"/>
            <p:cNvSpPr txBox="1">
              <a:spLocks noChangeArrowheads="1"/>
            </p:cNvSpPr>
            <p:nvPr/>
          </p:nvSpPr>
          <p:spPr bwMode="auto">
            <a:xfrm>
              <a:off x="2092" y="275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1306" name="Text Box 27"/>
            <p:cNvSpPr txBox="1">
              <a:spLocks noChangeArrowheads="1"/>
            </p:cNvSpPr>
            <p:nvPr/>
          </p:nvSpPr>
          <p:spPr bwMode="auto">
            <a:xfrm>
              <a:off x="2520" y="275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1307" name="Text Box 28"/>
            <p:cNvSpPr txBox="1">
              <a:spLocks noChangeArrowheads="1"/>
            </p:cNvSpPr>
            <p:nvPr/>
          </p:nvSpPr>
          <p:spPr bwMode="auto">
            <a:xfrm>
              <a:off x="2952" y="275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1308" name="Text Box 29"/>
            <p:cNvSpPr txBox="1">
              <a:spLocks noChangeArrowheads="1"/>
            </p:cNvSpPr>
            <p:nvPr/>
          </p:nvSpPr>
          <p:spPr bwMode="auto">
            <a:xfrm>
              <a:off x="3384" y="275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31309" name="Text Box 30"/>
            <p:cNvSpPr txBox="1">
              <a:spLocks noChangeArrowheads="1"/>
            </p:cNvSpPr>
            <p:nvPr/>
          </p:nvSpPr>
          <p:spPr bwMode="auto">
            <a:xfrm>
              <a:off x="3816" y="275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31310" name="Text Box 31"/>
            <p:cNvSpPr txBox="1">
              <a:spLocks noChangeArrowheads="1"/>
            </p:cNvSpPr>
            <p:nvPr/>
          </p:nvSpPr>
          <p:spPr bwMode="auto">
            <a:xfrm>
              <a:off x="1971" y="294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311" name="Text Box 32"/>
            <p:cNvSpPr txBox="1">
              <a:spLocks noChangeArrowheads="1"/>
            </p:cNvSpPr>
            <p:nvPr/>
          </p:nvSpPr>
          <p:spPr bwMode="auto">
            <a:xfrm>
              <a:off x="2403" y="294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312" name="Text Box 33"/>
            <p:cNvSpPr txBox="1">
              <a:spLocks noChangeArrowheads="1"/>
            </p:cNvSpPr>
            <p:nvPr/>
          </p:nvSpPr>
          <p:spPr bwMode="auto">
            <a:xfrm>
              <a:off x="2835" y="294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313" name="Text Box 34"/>
            <p:cNvSpPr txBox="1">
              <a:spLocks noChangeArrowheads="1"/>
            </p:cNvSpPr>
            <p:nvPr/>
          </p:nvSpPr>
          <p:spPr bwMode="auto">
            <a:xfrm>
              <a:off x="3267" y="294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314" name="Text Box 35"/>
            <p:cNvSpPr txBox="1">
              <a:spLocks noChangeArrowheads="1"/>
            </p:cNvSpPr>
            <p:nvPr/>
          </p:nvSpPr>
          <p:spPr bwMode="auto">
            <a:xfrm>
              <a:off x="3699" y="294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315" name="Text Box 36"/>
            <p:cNvSpPr txBox="1">
              <a:spLocks noChangeArrowheads="1"/>
            </p:cNvSpPr>
            <p:nvPr/>
          </p:nvSpPr>
          <p:spPr bwMode="auto">
            <a:xfrm>
              <a:off x="4131" y="294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316" name="Text Box 37"/>
            <p:cNvSpPr txBox="1">
              <a:spLocks noChangeArrowheads="1"/>
            </p:cNvSpPr>
            <p:nvPr/>
          </p:nvSpPr>
          <p:spPr bwMode="auto">
            <a:xfrm>
              <a:off x="1320" y="2943"/>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a3</a:t>
              </a:r>
            </a:p>
          </p:txBody>
        </p:sp>
        <p:sp>
          <p:nvSpPr>
            <p:cNvPr id="31317" name="Text Box 38"/>
            <p:cNvSpPr txBox="1">
              <a:spLocks noChangeArrowheads="1"/>
            </p:cNvSpPr>
            <p:nvPr/>
          </p:nvSpPr>
          <p:spPr bwMode="auto">
            <a:xfrm>
              <a:off x="4251" y="275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grpSp>
      <p:grpSp>
        <p:nvGrpSpPr>
          <p:cNvPr id="3" name="Group 612"/>
          <p:cNvGrpSpPr>
            <a:grpSpLocks/>
          </p:cNvGrpSpPr>
          <p:nvPr/>
        </p:nvGrpSpPr>
        <p:grpSpPr bwMode="auto">
          <a:xfrm>
            <a:off x="571501" y="2022475"/>
            <a:ext cx="6705600" cy="4724400"/>
            <a:chOff x="1224" y="346"/>
            <a:chExt cx="4224" cy="2976"/>
          </a:xfrm>
        </p:grpSpPr>
        <p:sp>
          <p:nvSpPr>
            <p:cNvPr id="31246" name="Rectangle 40"/>
            <p:cNvSpPr>
              <a:spLocks noChangeArrowheads="1"/>
            </p:cNvSpPr>
            <p:nvPr/>
          </p:nvSpPr>
          <p:spPr bwMode="auto">
            <a:xfrm>
              <a:off x="1224" y="346"/>
              <a:ext cx="4224" cy="2976"/>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31247" name="Text Box 41"/>
            <p:cNvSpPr txBox="1">
              <a:spLocks noChangeArrowheads="1"/>
            </p:cNvSpPr>
            <p:nvPr/>
          </p:nvSpPr>
          <p:spPr bwMode="auto">
            <a:xfrm>
              <a:off x="1272" y="384"/>
              <a:ext cx="4128" cy="1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merge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l1</a:t>
              </a:r>
              <a:r>
                <a:rPr lang="en-US" altLang="en-US" sz="2000">
                  <a:latin typeface="Times New Roman" pitchFamily="18" charset="0"/>
                </a:rPr>
                <a:t>…</a:t>
              </a:r>
              <a:r>
                <a:rPr lang="en-US" altLang="en-US" sz="2000" i="1">
                  <a:latin typeface="Times New Roman" pitchFamily="18" charset="0"/>
                </a:rPr>
                <a:t>r1</a:t>
              </a:r>
              <a:r>
                <a:rPr lang="en-US" altLang="en-US" sz="2000">
                  <a:latin typeface="Times New Roman" pitchFamily="18" charset="0"/>
                </a:rPr>
                <a:t>] and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l2</a:t>
              </a:r>
              <a:r>
                <a:rPr lang="en-US" altLang="en-US" sz="2000">
                  <a:latin typeface="Times New Roman" pitchFamily="18" charset="0"/>
                </a:rPr>
                <a:t>…</a:t>
              </a:r>
              <a:r>
                <a:rPr lang="en-US" altLang="en-US" sz="2000" i="1">
                  <a:latin typeface="Times New Roman" pitchFamily="18" charset="0"/>
                </a:rPr>
                <a:t>r2</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1.	</a:t>
              </a:r>
              <a:r>
                <a:rPr lang="en-US" altLang="en-US" sz="2000">
                  <a:solidFill>
                    <a:srgbClr val="FF0000"/>
                  </a:solidFill>
                  <a:latin typeface="Times New Roman" pitchFamily="18" charset="0"/>
                </a:rPr>
                <a:t>Set </a:t>
              </a:r>
              <a:r>
                <a:rPr lang="en-US" altLang="en-US" sz="2000" i="1">
                  <a:solidFill>
                    <a:srgbClr val="FF0000"/>
                  </a:solidFill>
                  <a:latin typeface="Times New Roman" pitchFamily="18" charset="0"/>
                </a:rPr>
                <a:t>i</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l1</a:t>
              </a:r>
              <a:r>
                <a:rPr lang="en-US" altLang="en-US" sz="2000">
                  <a:solidFill>
                    <a:srgbClr val="FF0000"/>
                  </a:solidFill>
                  <a:latin typeface="Times New Roman" pitchFamily="18" charset="0"/>
                </a:rPr>
                <a:t>, set </a:t>
              </a:r>
              <a:r>
                <a:rPr lang="en-US" altLang="en-US" sz="2000" i="1">
                  <a:solidFill>
                    <a:srgbClr val="FF0000"/>
                  </a:solidFill>
                  <a:latin typeface="Times New Roman" pitchFamily="18" charset="0"/>
                </a:rPr>
                <a:t>j</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l2</a:t>
              </a:r>
              <a:r>
                <a:rPr lang="en-US" altLang="en-US" sz="2000">
                  <a:solidFill>
                    <a:srgbClr val="FF0000"/>
                  </a:solidFill>
                  <a:latin typeface="Times New Roman" pitchFamily="18" charset="0"/>
                </a:rPr>
                <a:t>, and set </a:t>
              </a:r>
              <a:r>
                <a:rPr lang="en-US" altLang="en-US" sz="2000" i="1">
                  <a:solidFill>
                    <a:srgbClr val="FF0000"/>
                  </a:solidFill>
                  <a:latin typeface="Times New Roman" pitchFamily="18" charset="0"/>
                </a:rPr>
                <a:t>k</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l3</a:t>
              </a:r>
              <a:r>
                <a:rPr lang="en-US" altLang="en-US" sz="2000">
                  <a:solidFill>
                    <a:srgbClr val="FF0000"/>
                  </a:solidFill>
                  <a:latin typeface="Times New Roman" pitchFamily="18" charset="0"/>
                </a:rPr>
                <a:t>.</a:t>
              </a:r>
              <a:br>
                <a:rPr lang="en-US" altLang="en-US" sz="2000">
                  <a:latin typeface="Times New Roman" pitchFamily="18" charset="0"/>
                </a:rPr>
              </a:br>
              <a:r>
                <a:rPr lang="en-US" altLang="en-US" sz="2000">
                  <a:latin typeface="Times New Roman" pitchFamily="18" charset="0"/>
                </a:rPr>
                <a:t>2.	While </a:t>
              </a:r>
              <a:r>
                <a:rPr lang="en-US" altLang="en-US" sz="2000" i="1">
                  <a:latin typeface="Times New Roman" pitchFamily="18" charset="0"/>
                </a:rPr>
                <a:t>i</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r1</a:t>
              </a:r>
              <a:r>
                <a:rPr lang="en-US" altLang="en-US" sz="2000">
                  <a:latin typeface="Times New Roman" pitchFamily="18" charset="0"/>
                </a:rPr>
                <a:t> and </a:t>
              </a:r>
              <a:r>
                <a:rPr lang="en-US" altLang="en-US" sz="2000" i="1">
                  <a:latin typeface="Times New Roman" pitchFamily="18" charset="0"/>
                </a:rPr>
                <a:t>j</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r2</a:t>
              </a:r>
              <a:r>
                <a:rPr lang="en-US" altLang="en-US" sz="2000">
                  <a:latin typeface="Times New Roman" pitchFamily="18" charset="0"/>
                </a:rPr>
                <a:t>, repeat:</a:t>
              </a:r>
              <a:br>
                <a:rPr lang="en-US" altLang="en-US" sz="2000">
                  <a:latin typeface="Times New Roman" pitchFamily="18" charset="0"/>
                </a:rPr>
              </a:br>
              <a:r>
                <a:rPr lang="en-US" altLang="en-US" sz="2000">
                  <a:latin typeface="Times New Roman" pitchFamily="18" charset="0"/>
                </a:rPr>
                <a:t>	2.1.	If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i</a:t>
              </a:r>
              <a:r>
                <a:rPr lang="en-US" altLang="en-US" sz="2000">
                  <a:latin typeface="Times New Roman" pitchFamily="18" charset="0"/>
                </a:rPr>
                <a:t>] is less than or equal to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j</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2.1.1.	Copy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i</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k</a:t>
              </a:r>
              <a:r>
                <a:rPr lang="en-US" altLang="en-US" sz="2000">
                  <a:latin typeface="Times New Roman" pitchFamily="18" charset="0"/>
                </a:rPr>
                <a:t>], then increment </a:t>
              </a:r>
              <a:r>
                <a:rPr lang="en-US" altLang="en-US" sz="2000" i="1">
                  <a:latin typeface="Times New Roman" pitchFamily="18" charset="0"/>
                </a:rPr>
                <a:t>i</a:t>
              </a:r>
              <a:r>
                <a:rPr lang="en-US" altLang="en-US" sz="2000">
                  <a:latin typeface="Times New Roman" pitchFamily="18" charset="0"/>
                </a:rPr>
                <a:t> and </a:t>
              </a:r>
              <a:r>
                <a:rPr lang="en-US" altLang="en-US" sz="2000" i="1">
                  <a:latin typeface="Times New Roman" pitchFamily="18" charset="0"/>
                </a:rPr>
                <a:t>k</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2.2.	Else:</a:t>
              </a:r>
              <a:br>
                <a:rPr lang="en-US" altLang="en-US" sz="2000">
                  <a:latin typeface="Times New Roman" pitchFamily="18" charset="0"/>
                </a:rPr>
              </a:br>
              <a:r>
                <a:rPr lang="en-US" altLang="en-US" sz="2000">
                  <a:latin typeface="Times New Roman" pitchFamily="18" charset="0"/>
                </a:rPr>
                <a:t>		2.2.1.	Copy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j</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k</a:t>
              </a:r>
              <a:r>
                <a:rPr lang="en-US" altLang="en-US" sz="2000">
                  <a:latin typeface="Times New Roman" pitchFamily="18" charset="0"/>
                </a:rPr>
                <a:t>], then increment </a:t>
              </a:r>
              <a:r>
                <a:rPr lang="en-US" altLang="en-US" sz="2000" i="1">
                  <a:latin typeface="Times New Roman" pitchFamily="18" charset="0"/>
                </a:rPr>
                <a:t>j</a:t>
              </a:r>
              <a:r>
                <a:rPr lang="en-US" altLang="en-US" sz="2000">
                  <a:latin typeface="Times New Roman" pitchFamily="18" charset="0"/>
                </a:rPr>
                <a:t> and </a:t>
              </a:r>
              <a:r>
                <a:rPr lang="en-US" altLang="en-US" sz="2000" i="1">
                  <a:latin typeface="Times New Roman" pitchFamily="18" charset="0"/>
                </a:rPr>
                <a:t>k</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a:t>
              </a:r>
            </a:p>
          </p:txBody>
        </p:sp>
        <p:sp>
          <p:nvSpPr>
            <p:cNvPr id="31248" name="Text Box 42"/>
            <p:cNvSpPr txBox="1">
              <a:spLocks noChangeArrowheads="1"/>
            </p:cNvSpPr>
            <p:nvPr/>
          </p:nvSpPr>
          <p:spPr bwMode="auto">
            <a:xfrm>
              <a:off x="1512" y="217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31249" name="Text Box 43"/>
            <p:cNvSpPr txBox="1">
              <a:spLocks noChangeArrowheads="1"/>
            </p:cNvSpPr>
            <p:nvPr/>
          </p:nvSpPr>
          <p:spPr bwMode="auto">
            <a:xfrm>
              <a:off x="1416" y="1978"/>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l1 </a:t>
              </a:r>
              <a:r>
                <a:rPr lang="en-US" altLang="en-US" sz="1800">
                  <a:latin typeface="Times New Roman" pitchFamily="18" charset="0"/>
                </a:rPr>
                <a:t>= 0</a:t>
              </a:r>
            </a:p>
          </p:txBody>
        </p:sp>
        <p:sp>
          <p:nvSpPr>
            <p:cNvPr id="31250" name="Text Box 44"/>
            <p:cNvSpPr txBox="1">
              <a:spLocks noChangeArrowheads="1"/>
            </p:cNvSpPr>
            <p:nvPr/>
          </p:nvSpPr>
          <p:spPr bwMode="auto">
            <a:xfrm>
              <a:off x="1992" y="1978"/>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 = </a:t>
              </a:r>
              <a:r>
                <a:rPr lang="en-US" altLang="en-US" sz="1800" i="1">
                  <a:latin typeface="Times New Roman" pitchFamily="18" charset="0"/>
                </a:rPr>
                <a:t>r1</a:t>
              </a:r>
              <a:endParaRPr lang="en-US" altLang="en-US" sz="1800">
                <a:latin typeface="Times New Roman" pitchFamily="18" charset="0"/>
              </a:endParaRPr>
            </a:p>
          </p:txBody>
        </p:sp>
        <p:sp>
          <p:nvSpPr>
            <p:cNvPr id="31251" name="Text Box 45"/>
            <p:cNvSpPr txBox="1">
              <a:spLocks noChangeArrowheads="1"/>
            </p:cNvSpPr>
            <p:nvPr/>
          </p:nvSpPr>
          <p:spPr bwMode="auto">
            <a:xfrm>
              <a:off x="1971" y="217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31252" name="Text Box 46"/>
            <p:cNvSpPr txBox="1">
              <a:spLocks noChangeArrowheads="1"/>
            </p:cNvSpPr>
            <p:nvPr/>
          </p:nvSpPr>
          <p:spPr bwMode="auto">
            <a:xfrm>
              <a:off x="1320" y="217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a1</a:t>
              </a:r>
            </a:p>
          </p:txBody>
        </p:sp>
        <p:sp>
          <p:nvSpPr>
            <p:cNvPr id="31253" name="Text Box 47"/>
            <p:cNvSpPr txBox="1">
              <a:spLocks noChangeArrowheads="1"/>
            </p:cNvSpPr>
            <p:nvPr/>
          </p:nvSpPr>
          <p:spPr bwMode="auto">
            <a:xfrm>
              <a:off x="1512"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31254" name="Text Box 48"/>
            <p:cNvSpPr txBox="1">
              <a:spLocks noChangeArrowheads="1"/>
            </p:cNvSpPr>
            <p:nvPr/>
          </p:nvSpPr>
          <p:spPr bwMode="auto">
            <a:xfrm>
              <a:off x="1416" y="2410"/>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l2 </a:t>
              </a:r>
              <a:r>
                <a:rPr lang="en-US" altLang="en-US" sz="1800">
                  <a:latin typeface="Times New Roman" pitchFamily="18" charset="0"/>
                </a:rPr>
                <a:t>= 0</a:t>
              </a:r>
            </a:p>
          </p:txBody>
        </p:sp>
        <p:sp>
          <p:nvSpPr>
            <p:cNvPr id="31255" name="Text Box 49"/>
            <p:cNvSpPr txBox="1">
              <a:spLocks noChangeArrowheads="1"/>
            </p:cNvSpPr>
            <p:nvPr/>
          </p:nvSpPr>
          <p:spPr bwMode="auto">
            <a:xfrm>
              <a:off x="2092" y="241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1256" name="Text Box 50"/>
            <p:cNvSpPr txBox="1">
              <a:spLocks noChangeArrowheads="1"/>
            </p:cNvSpPr>
            <p:nvPr/>
          </p:nvSpPr>
          <p:spPr bwMode="auto">
            <a:xfrm>
              <a:off x="2520" y="241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1257" name="Text Box 51"/>
            <p:cNvSpPr txBox="1">
              <a:spLocks noChangeArrowheads="1"/>
            </p:cNvSpPr>
            <p:nvPr/>
          </p:nvSpPr>
          <p:spPr bwMode="auto">
            <a:xfrm>
              <a:off x="2952" y="241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1258" name="Text Box 52"/>
            <p:cNvSpPr txBox="1">
              <a:spLocks noChangeArrowheads="1"/>
            </p:cNvSpPr>
            <p:nvPr/>
          </p:nvSpPr>
          <p:spPr bwMode="auto">
            <a:xfrm>
              <a:off x="3288" y="2410"/>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 = </a:t>
              </a:r>
              <a:r>
                <a:rPr lang="en-US" altLang="en-US" sz="1800" i="1">
                  <a:latin typeface="Times New Roman" pitchFamily="18" charset="0"/>
                </a:rPr>
                <a:t>r2</a:t>
              </a:r>
              <a:endParaRPr lang="en-US" altLang="en-US" sz="1800">
                <a:latin typeface="Times New Roman" pitchFamily="18" charset="0"/>
              </a:endParaRPr>
            </a:p>
          </p:txBody>
        </p:sp>
        <p:sp>
          <p:nvSpPr>
            <p:cNvPr id="31259" name="Text Box 53"/>
            <p:cNvSpPr txBox="1">
              <a:spLocks noChangeArrowheads="1"/>
            </p:cNvSpPr>
            <p:nvPr/>
          </p:nvSpPr>
          <p:spPr bwMode="auto">
            <a:xfrm>
              <a:off x="1971"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31260" name="Text Box 54"/>
            <p:cNvSpPr txBox="1">
              <a:spLocks noChangeArrowheads="1"/>
            </p:cNvSpPr>
            <p:nvPr/>
          </p:nvSpPr>
          <p:spPr bwMode="auto">
            <a:xfrm>
              <a:off x="2403"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31261" name="Text Box 55"/>
            <p:cNvSpPr txBox="1">
              <a:spLocks noChangeArrowheads="1"/>
            </p:cNvSpPr>
            <p:nvPr/>
          </p:nvSpPr>
          <p:spPr bwMode="auto">
            <a:xfrm>
              <a:off x="2835"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31262" name="Text Box 56"/>
            <p:cNvSpPr txBox="1">
              <a:spLocks noChangeArrowheads="1"/>
            </p:cNvSpPr>
            <p:nvPr/>
          </p:nvSpPr>
          <p:spPr bwMode="auto">
            <a:xfrm>
              <a:off x="3267"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31263" name="Text Box 57"/>
            <p:cNvSpPr txBox="1">
              <a:spLocks noChangeArrowheads="1"/>
            </p:cNvSpPr>
            <p:nvPr/>
          </p:nvSpPr>
          <p:spPr bwMode="auto">
            <a:xfrm>
              <a:off x="1320" y="2602"/>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a2</a:t>
              </a:r>
            </a:p>
          </p:txBody>
        </p:sp>
        <p:sp>
          <p:nvSpPr>
            <p:cNvPr id="31264" name="Text Box 58"/>
            <p:cNvSpPr txBox="1">
              <a:spLocks noChangeArrowheads="1"/>
            </p:cNvSpPr>
            <p:nvPr/>
          </p:nvSpPr>
          <p:spPr bwMode="auto">
            <a:xfrm>
              <a:off x="1512"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265" name="Text Box 59"/>
            <p:cNvSpPr txBox="1">
              <a:spLocks noChangeArrowheads="1"/>
            </p:cNvSpPr>
            <p:nvPr/>
          </p:nvSpPr>
          <p:spPr bwMode="auto">
            <a:xfrm>
              <a:off x="1416" y="2842"/>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l3 </a:t>
              </a:r>
              <a:r>
                <a:rPr lang="en-US" altLang="en-US" sz="1800">
                  <a:latin typeface="Times New Roman" pitchFamily="18" charset="0"/>
                </a:rPr>
                <a:t>= 0</a:t>
              </a:r>
            </a:p>
          </p:txBody>
        </p:sp>
        <p:sp>
          <p:nvSpPr>
            <p:cNvPr id="31266" name="Text Box 60"/>
            <p:cNvSpPr txBox="1">
              <a:spLocks noChangeArrowheads="1"/>
            </p:cNvSpPr>
            <p:nvPr/>
          </p:nvSpPr>
          <p:spPr bwMode="auto">
            <a:xfrm>
              <a:off x="2092"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1267" name="Text Box 61"/>
            <p:cNvSpPr txBox="1">
              <a:spLocks noChangeArrowheads="1"/>
            </p:cNvSpPr>
            <p:nvPr/>
          </p:nvSpPr>
          <p:spPr bwMode="auto">
            <a:xfrm>
              <a:off x="2520"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1268" name="Text Box 62"/>
            <p:cNvSpPr txBox="1">
              <a:spLocks noChangeArrowheads="1"/>
            </p:cNvSpPr>
            <p:nvPr/>
          </p:nvSpPr>
          <p:spPr bwMode="auto">
            <a:xfrm>
              <a:off x="2952"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1269" name="Text Box 63"/>
            <p:cNvSpPr txBox="1">
              <a:spLocks noChangeArrowheads="1"/>
            </p:cNvSpPr>
            <p:nvPr/>
          </p:nvSpPr>
          <p:spPr bwMode="auto">
            <a:xfrm>
              <a:off x="3384"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31270" name="Text Box 64"/>
            <p:cNvSpPr txBox="1">
              <a:spLocks noChangeArrowheads="1"/>
            </p:cNvSpPr>
            <p:nvPr/>
          </p:nvSpPr>
          <p:spPr bwMode="auto">
            <a:xfrm>
              <a:off x="3816"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31271" name="Text Box 65"/>
            <p:cNvSpPr txBox="1">
              <a:spLocks noChangeArrowheads="1"/>
            </p:cNvSpPr>
            <p:nvPr/>
          </p:nvSpPr>
          <p:spPr bwMode="auto">
            <a:xfrm>
              <a:off x="1971"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272" name="Text Box 66"/>
            <p:cNvSpPr txBox="1">
              <a:spLocks noChangeArrowheads="1"/>
            </p:cNvSpPr>
            <p:nvPr/>
          </p:nvSpPr>
          <p:spPr bwMode="auto">
            <a:xfrm>
              <a:off x="2403"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273" name="Text Box 67"/>
            <p:cNvSpPr txBox="1">
              <a:spLocks noChangeArrowheads="1"/>
            </p:cNvSpPr>
            <p:nvPr/>
          </p:nvSpPr>
          <p:spPr bwMode="auto">
            <a:xfrm>
              <a:off x="2835"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274" name="Text Box 68"/>
            <p:cNvSpPr txBox="1">
              <a:spLocks noChangeArrowheads="1"/>
            </p:cNvSpPr>
            <p:nvPr/>
          </p:nvSpPr>
          <p:spPr bwMode="auto">
            <a:xfrm>
              <a:off x="3267"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275" name="Text Box 69"/>
            <p:cNvSpPr txBox="1">
              <a:spLocks noChangeArrowheads="1"/>
            </p:cNvSpPr>
            <p:nvPr/>
          </p:nvSpPr>
          <p:spPr bwMode="auto">
            <a:xfrm>
              <a:off x="3699"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276" name="Text Box 70"/>
            <p:cNvSpPr txBox="1">
              <a:spLocks noChangeArrowheads="1"/>
            </p:cNvSpPr>
            <p:nvPr/>
          </p:nvSpPr>
          <p:spPr bwMode="auto">
            <a:xfrm>
              <a:off x="4131"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277" name="Text Box 71"/>
            <p:cNvSpPr txBox="1">
              <a:spLocks noChangeArrowheads="1"/>
            </p:cNvSpPr>
            <p:nvPr/>
          </p:nvSpPr>
          <p:spPr bwMode="auto">
            <a:xfrm>
              <a:off x="1320" y="303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a3</a:t>
              </a:r>
            </a:p>
          </p:txBody>
        </p:sp>
        <p:sp>
          <p:nvSpPr>
            <p:cNvPr id="31278" name="Text Box 72"/>
            <p:cNvSpPr txBox="1">
              <a:spLocks noChangeArrowheads="1"/>
            </p:cNvSpPr>
            <p:nvPr/>
          </p:nvSpPr>
          <p:spPr bwMode="auto">
            <a:xfrm>
              <a:off x="4251"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31279" name="Text Box 73"/>
            <p:cNvSpPr txBox="1">
              <a:spLocks noChangeArrowheads="1"/>
            </p:cNvSpPr>
            <p:nvPr/>
          </p:nvSpPr>
          <p:spPr bwMode="auto">
            <a:xfrm>
              <a:off x="4899"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0</a:t>
              </a:r>
            </a:p>
          </p:txBody>
        </p:sp>
        <p:sp>
          <p:nvSpPr>
            <p:cNvPr id="31280" name="Text Box 74"/>
            <p:cNvSpPr txBox="1">
              <a:spLocks noChangeArrowheads="1"/>
            </p:cNvSpPr>
            <p:nvPr/>
          </p:nvSpPr>
          <p:spPr bwMode="auto">
            <a:xfrm>
              <a:off x="4707" y="303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k</a:t>
              </a:r>
            </a:p>
          </p:txBody>
        </p:sp>
        <p:sp>
          <p:nvSpPr>
            <p:cNvPr id="31281" name="Text Box 75"/>
            <p:cNvSpPr txBox="1">
              <a:spLocks noChangeArrowheads="1"/>
            </p:cNvSpPr>
            <p:nvPr/>
          </p:nvSpPr>
          <p:spPr bwMode="auto">
            <a:xfrm>
              <a:off x="4899"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0</a:t>
              </a:r>
            </a:p>
          </p:txBody>
        </p:sp>
        <p:sp>
          <p:nvSpPr>
            <p:cNvPr id="31282" name="Text Box 76"/>
            <p:cNvSpPr txBox="1">
              <a:spLocks noChangeArrowheads="1"/>
            </p:cNvSpPr>
            <p:nvPr/>
          </p:nvSpPr>
          <p:spPr bwMode="auto">
            <a:xfrm>
              <a:off x="4728" y="2602"/>
              <a:ext cx="1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j</a:t>
              </a:r>
            </a:p>
          </p:txBody>
        </p:sp>
        <p:sp>
          <p:nvSpPr>
            <p:cNvPr id="31283" name="Text Box 77"/>
            <p:cNvSpPr txBox="1">
              <a:spLocks noChangeArrowheads="1"/>
            </p:cNvSpPr>
            <p:nvPr/>
          </p:nvSpPr>
          <p:spPr bwMode="auto">
            <a:xfrm>
              <a:off x="4899" y="217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0</a:t>
              </a:r>
            </a:p>
          </p:txBody>
        </p:sp>
        <p:sp>
          <p:nvSpPr>
            <p:cNvPr id="31284" name="Text Box 78"/>
            <p:cNvSpPr txBox="1">
              <a:spLocks noChangeArrowheads="1"/>
            </p:cNvSpPr>
            <p:nvPr/>
          </p:nvSpPr>
          <p:spPr bwMode="auto">
            <a:xfrm>
              <a:off x="4707" y="217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i</a:t>
              </a:r>
            </a:p>
          </p:txBody>
        </p:sp>
      </p:grpSp>
      <p:grpSp>
        <p:nvGrpSpPr>
          <p:cNvPr id="4" name="Group 611"/>
          <p:cNvGrpSpPr>
            <a:grpSpLocks/>
          </p:cNvGrpSpPr>
          <p:nvPr/>
        </p:nvGrpSpPr>
        <p:grpSpPr bwMode="auto">
          <a:xfrm>
            <a:off x="571501" y="2030413"/>
            <a:ext cx="6705600" cy="4724400"/>
            <a:chOff x="1224" y="345"/>
            <a:chExt cx="4224" cy="2976"/>
          </a:xfrm>
        </p:grpSpPr>
        <p:sp>
          <p:nvSpPr>
            <p:cNvPr id="31207" name="Rectangle 80"/>
            <p:cNvSpPr>
              <a:spLocks noChangeArrowheads="1"/>
            </p:cNvSpPr>
            <p:nvPr/>
          </p:nvSpPr>
          <p:spPr bwMode="auto">
            <a:xfrm>
              <a:off x="1224" y="345"/>
              <a:ext cx="4224" cy="2976"/>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31208" name="Text Box 81"/>
            <p:cNvSpPr txBox="1">
              <a:spLocks noChangeArrowheads="1"/>
            </p:cNvSpPr>
            <p:nvPr/>
          </p:nvSpPr>
          <p:spPr bwMode="auto">
            <a:xfrm>
              <a:off x="1272" y="383"/>
              <a:ext cx="4128" cy="1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merge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l1</a:t>
              </a:r>
              <a:r>
                <a:rPr lang="en-US" altLang="en-US" sz="2000">
                  <a:latin typeface="Times New Roman" pitchFamily="18" charset="0"/>
                </a:rPr>
                <a:t>…</a:t>
              </a:r>
              <a:r>
                <a:rPr lang="en-US" altLang="en-US" sz="2000" i="1">
                  <a:latin typeface="Times New Roman" pitchFamily="18" charset="0"/>
                </a:rPr>
                <a:t>r1</a:t>
              </a:r>
              <a:r>
                <a:rPr lang="en-US" altLang="en-US" sz="2000">
                  <a:latin typeface="Times New Roman" pitchFamily="18" charset="0"/>
                </a:rPr>
                <a:t>] and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l2</a:t>
              </a:r>
              <a:r>
                <a:rPr lang="en-US" altLang="en-US" sz="2000">
                  <a:latin typeface="Times New Roman" pitchFamily="18" charset="0"/>
                </a:rPr>
                <a:t>…</a:t>
              </a:r>
              <a:r>
                <a:rPr lang="en-US" altLang="en-US" sz="2000" i="1">
                  <a:latin typeface="Times New Roman" pitchFamily="18" charset="0"/>
                </a:rPr>
                <a:t>r2</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1.	Set </a:t>
              </a:r>
              <a:r>
                <a:rPr lang="en-US" altLang="en-US" sz="2000" i="1">
                  <a:latin typeface="Times New Roman" pitchFamily="18" charset="0"/>
                </a:rPr>
                <a:t>i</a:t>
              </a:r>
              <a:r>
                <a:rPr lang="en-US" altLang="en-US" sz="2000">
                  <a:latin typeface="Times New Roman" pitchFamily="18" charset="0"/>
                </a:rPr>
                <a:t> = </a:t>
              </a:r>
              <a:r>
                <a:rPr lang="en-US" altLang="en-US" sz="2000" i="1">
                  <a:latin typeface="Times New Roman" pitchFamily="18" charset="0"/>
                </a:rPr>
                <a:t>l1</a:t>
              </a:r>
              <a:r>
                <a:rPr lang="en-US" altLang="en-US" sz="2000">
                  <a:latin typeface="Times New Roman" pitchFamily="18" charset="0"/>
                </a:rPr>
                <a:t>, set </a:t>
              </a:r>
              <a:r>
                <a:rPr lang="en-US" altLang="en-US" sz="2000" i="1">
                  <a:latin typeface="Times New Roman" pitchFamily="18" charset="0"/>
                </a:rPr>
                <a:t>j</a:t>
              </a:r>
              <a:r>
                <a:rPr lang="en-US" altLang="en-US" sz="2000">
                  <a:latin typeface="Times New Roman" pitchFamily="18" charset="0"/>
                </a:rPr>
                <a:t> = </a:t>
              </a:r>
              <a:r>
                <a:rPr lang="en-US" altLang="en-US" sz="2000" i="1">
                  <a:latin typeface="Times New Roman" pitchFamily="18" charset="0"/>
                </a:rPr>
                <a:t>l2</a:t>
              </a:r>
              <a:r>
                <a:rPr lang="en-US" altLang="en-US" sz="2000">
                  <a:latin typeface="Times New Roman" pitchFamily="18" charset="0"/>
                </a:rPr>
                <a:t>, and set </a:t>
              </a:r>
              <a:r>
                <a:rPr lang="en-US" altLang="en-US" sz="2000" i="1">
                  <a:latin typeface="Times New Roman" pitchFamily="18" charset="0"/>
                </a:rPr>
                <a:t>k</a:t>
              </a:r>
              <a:r>
                <a:rPr lang="en-US" altLang="en-US" sz="2000">
                  <a:latin typeface="Times New Roman" pitchFamily="18" charset="0"/>
                </a:rPr>
                <a:t> = </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a:t>
              </a:r>
              <a:r>
                <a:rPr lang="en-US" altLang="en-US" sz="2000">
                  <a:solidFill>
                    <a:srgbClr val="FF0000"/>
                  </a:solidFill>
                  <a:latin typeface="Times New Roman" pitchFamily="18" charset="0"/>
                </a:rPr>
                <a:t>While </a:t>
              </a:r>
              <a:r>
                <a:rPr lang="en-US" altLang="en-US" sz="2000" i="1">
                  <a:solidFill>
                    <a:srgbClr val="FF0000"/>
                  </a:solidFill>
                  <a:latin typeface="Times New Roman" pitchFamily="18" charset="0"/>
                </a:rPr>
                <a:t>i</a:t>
              </a:r>
              <a:r>
                <a:rPr lang="en-US" altLang="en-US" sz="2000">
                  <a:solidFill>
                    <a:srgbClr val="FF0000"/>
                  </a:solidFill>
                  <a:latin typeface="Times New Roman" pitchFamily="18" charset="0"/>
                </a:rPr>
                <a:t> </a:t>
              </a:r>
              <a:r>
                <a:rPr lang="en-US" altLang="en-US" sz="2000">
                  <a:solidFill>
                    <a:srgbClr val="FF0000"/>
                  </a:solidFill>
                  <a:latin typeface="Times New Roman" pitchFamily="18" charset="0"/>
                  <a:sym typeface="Symbol" pitchFamily="18" charset="2"/>
                </a:rPr>
                <a:t></a:t>
              </a:r>
              <a:r>
                <a:rPr lang="en-US" altLang="en-US" sz="2000">
                  <a:solidFill>
                    <a:srgbClr val="FF0000"/>
                  </a:solidFill>
                  <a:latin typeface="Times New Roman" pitchFamily="18" charset="0"/>
                </a:rPr>
                <a:t> </a:t>
              </a:r>
              <a:r>
                <a:rPr lang="en-US" altLang="en-US" sz="2000" i="1">
                  <a:solidFill>
                    <a:srgbClr val="FF0000"/>
                  </a:solidFill>
                  <a:latin typeface="Times New Roman" pitchFamily="18" charset="0"/>
                </a:rPr>
                <a:t>r1</a:t>
              </a:r>
              <a:r>
                <a:rPr lang="en-US" altLang="en-US" sz="2000">
                  <a:solidFill>
                    <a:srgbClr val="FF0000"/>
                  </a:solidFill>
                  <a:latin typeface="Times New Roman" pitchFamily="18" charset="0"/>
                </a:rPr>
                <a:t> and </a:t>
              </a:r>
              <a:r>
                <a:rPr lang="en-US" altLang="en-US" sz="2000" i="1">
                  <a:solidFill>
                    <a:srgbClr val="FF0000"/>
                  </a:solidFill>
                  <a:latin typeface="Times New Roman" pitchFamily="18" charset="0"/>
                </a:rPr>
                <a:t>j</a:t>
              </a:r>
              <a:r>
                <a:rPr lang="en-US" altLang="en-US" sz="2000">
                  <a:solidFill>
                    <a:srgbClr val="FF0000"/>
                  </a:solidFill>
                  <a:latin typeface="Times New Roman" pitchFamily="18" charset="0"/>
                </a:rPr>
                <a:t> </a:t>
              </a:r>
              <a:r>
                <a:rPr lang="en-US" altLang="en-US" sz="2000">
                  <a:solidFill>
                    <a:srgbClr val="FF0000"/>
                  </a:solidFill>
                  <a:latin typeface="Times New Roman" pitchFamily="18" charset="0"/>
                  <a:sym typeface="Symbol" pitchFamily="18" charset="2"/>
                </a:rPr>
                <a:t></a:t>
              </a:r>
              <a:r>
                <a:rPr lang="en-US" altLang="en-US" sz="2000">
                  <a:solidFill>
                    <a:srgbClr val="FF0000"/>
                  </a:solidFill>
                  <a:latin typeface="Times New Roman" pitchFamily="18" charset="0"/>
                </a:rPr>
                <a:t> </a:t>
              </a:r>
              <a:r>
                <a:rPr lang="en-US" altLang="en-US" sz="2000" i="1">
                  <a:solidFill>
                    <a:srgbClr val="FF0000"/>
                  </a:solidFill>
                  <a:latin typeface="Times New Roman" pitchFamily="18" charset="0"/>
                </a:rPr>
                <a:t>r2</a:t>
              </a:r>
              <a:r>
                <a:rPr lang="en-US" altLang="en-US" sz="2000">
                  <a:solidFill>
                    <a:srgbClr val="FF0000"/>
                  </a:solidFill>
                  <a:latin typeface="Times New Roman" pitchFamily="18" charset="0"/>
                </a:rPr>
                <a:t>, repeat:</a:t>
              </a:r>
              <a:br>
                <a:rPr lang="en-US" altLang="en-US" sz="2000">
                  <a:latin typeface="Times New Roman" pitchFamily="18" charset="0"/>
                </a:rPr>
              </a:br>
              <a:r>
                <a:rPr lang="en-US" altLang="en-US" sz="2000">
                  <a:latin typeface="Times New Roman" pitchFamily="18" charset="0"/>
                </a:rPr>
                <a:t>	2.1.	If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i</a:t>
              </a:r>
              <a:r>
                <a:rPr lang="en-US" altLang="en-US" sz="2000">
                  <a:latin typeface="Times New Roman" pitchFamily="18" charset="0"/>
                </a:rPr>
                <a:t>] is less than or equal to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j</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2.1.1.	Copy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i</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k</a:t>
              </a:r>
              <a:r>
                <a:rPr lang="en-US" altLang="en-US" sz="2000">
                  <a:latin typeface="Times New Roman" pitchFamily="18" charset="0"/>
                </a:rPr>
                <a:t>], then increment </a:t>
              </a:r>
              <a:r>
                <a:rPr lang="en-US" altLang="en-US" sz="2000" i="1">
                  <a:latin typeface="Times New Roman" pitchFamily="18" charset="0"/>
                </a:rPr>
                <a:t>i</a:t>
              </a:r>
              <a:r>
                <a:rPr lang="en-US" altLang="en-US" sz="2000">
                  <a:latin typeface="Times New Roman" pitchFamily="18" charset="0"/>
                </a:rPr>
                <a:t> and </a:t>
              </a:r>
              <a:r>
                <a:rPr lang="en-US" altLang="en-US" sz="2000" i="1">
                  <a:latin typeface="Times New Roman" pitchFamily="18" charset="0"/>
                </a:rPr>
                <a:t>k</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2.2.	Else:</a:t>
              </a:r>
              <a:br>
                <a:rPr lang="en-US" altLang="en-US" sz="2000">
                  <a:latin typeface="Times New Roman" pitchFamily="18" charset="0"/>
                </a:rPr>
              </a:br>
              <a:r>
                <a:rPr lang="en-US" altLang="en-US" sz="2000">
                  <a:latin typeface="Times New Roman" pitchFamily="18" charset="0"/>
                </a:rPr>
                <a:t>		2.2.1.	Copy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j</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k</a:t>
              </a:r>
              <a:r>
                <a:rPr lang="en-US" altLang="en-US" sz="2000">
                  <a:latin typeface="Times New Roman" pitchFamily="18" charset="0"/>
                </a:rPr>
                <a:t>], then increment </a:t>
              </a:r>
              <a:r>
                <a:rPr lang="en-US" altLang="en-US" sz="2000" i="1">
                  <a:latin typeface="Times New Roman" pitchFamily="18" charset="0"/>
                </a:rPr>
                <a:t>j</a:t>
              </a:r>
              <a:r>
                <a:rPr lang="en-US" altLang="en-US" sz="2000">
                  <a:latin typeface="Times New Roman" pitchFamily="18" charset="0"/>
                </a:rPr>
                <a:t> and </a:t>
              </a:r>
              <a:r>
                <a:rPr lang="en-US" altLang="en-US" sz="2000" i="1">
                  <a:latin typeface="Times New Roman" pitchFamily="18" charset="0"/>
                </a:rPr>
                <a:t>k</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a:t>
              </a:r>
            </a:p>
          </p:txBody>
        </p:sp>
        <p:sp>
          <p:nvSpPr>
            <p:cNvPr id="31209" name="Text Box 82"/>
            <p:cNvSpPr txBox="1">
              <a:spLocks noChangeArrowheads="1"/>
            </p:cNvSpPr>
            <p:nvPr/>
          </p:nvSpPr>
          <p:spPr bwMode="auto">
            <a:xfrm>
              <a:off x="1512" y="216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31210" name="Text Box 83"/>
            <p:cNvSpPr txBox="1">
              <a:spLocks noChangeArrowheads="1"/>
            </p:cNvSpPr>
            <p:nvPr/>
          </p:nvSpPr>
          <p:spPr bwMode="auto">
            <a:xfrm>
              <a:off x="1416" y="1977"/>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l1 </a:t>
              </a:r>
              <a:r>
                <a:rPr lang="en-US" altLang="en-US" sz="1800">
                  <a:latin typeface="Times New Roman" pitchFamily="18" charset="0"/>
                </a:rPr>
                <a:t>= 0</a:t>
              </a:r>
            </a:p>
          </p:txBody>
        </p:sp>
        <p:sp>
          <p:nvSpPr>
            <p:cNvPr id="31211" name="Text Box 84"/>
            <p:cNvSpPr txBox="1">
              <a:spLocks noChangeArrowheads="1"/>
            </p:cNvSpPr>
            <p:nvPr/>
          </p:nvSpPr>
          <p:spPr bwMode="auto">
            <a:xfrm>
              <a:off x="1992" y="1977"/>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 = </a:t>
              </a:r>
              <a:r>
                <a:rPr lang="en-US" altLang="en-US" sz="1800" i="1">
                  <a:latin typeface="Times New Roman" pitchFamily="18" charset="0"/>
                </a:rPr>
                <a:t>r1</a:t>
              </a:r>
              <a:endParaRPr lang="en-US" altLang="en-US" sz="1800">
                <a:latin typeface="Times New Roman" pitchFamily="18" charset="0"/>
              </a:endParaRPr>
            </a:p>
          </p:txBody>
        </p:sp>
        <p:sp>
          <p:nvSpPr>
            <p:cNvPr id="31212" name="Text Box 85"/>
            <p:cNvSpPr txBox="1">
              <a:spLocks noChangeArrowheads="1"/>
            </p:cNvSpPr>
            <p:nvPr/>
          </p:nvSpPr>
          <p:spPr bwMode="auto">
            <a:xfrm>
              <a:off x="1971" y="216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31213" name="Text Box 86"/>
            <p:cNvSpPr txBox="1">
              <a:spLocks noChangeArrowheads="1"/>
            </p:cNvSpPr>
            <p:nvPr/>
          </p:nvSpPr>
          <p:spPr bwMode="auto">
            <a:xfrm>
              <a:off x="1320" y="2169"/>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a1</a:t>
              </a:r>
            </a:p>
          </p:txBody>
        </p:sp>
        <p:sp>
          <p:nvSpPr>
            <p:cNvPr id="31214" name="Text Box 87"/>
            <p:cNvSpPr txBox="1">
              <a:spLocks noChangeArrowheads="1"/>
            </p:cNvSpPr>
            <p:nvPr/>
          </p:nvSpPr>
          <p:spPr bwMode="auto">
            <a:xfrm>
              <a:off x="1512" y="260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31215" name="Text Box 88"/>
            <p:cNvSpPr txBox="1">
              <a:spLocks noChangeArrowheads="1"/>
            </p:cNvSpPr>
            <p:nvPr/>
          </p:nvSpPr>
          <p:spPr bwMode="auto">
            <a:xfrm>
              <a:off x="1416" y="2409"/>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l2 </a:t>
              </a:r>
              <a:r>
                <a:rPr lang="en-US" altLang="en-US" sz="1800">
                  <a:latin typeface="Times New Roman" pitchFamily="18" charset="0"/>
                </a:rPr>
                <a:t>= 0</a:t>
              </a:r>
            </a:p>
          </p:txBody>
        </p:sp>
        <p:sp>
          <p:nvSpPr>
            <p:cNvPr id="31216" name="Text Box 89"/>
            <p:cNvSpPr txBox="1">
              <a:spLocks noChangeArrowheads="1"/>
            </p:cNvSpPr>
            <p:nvPr/>
          </p:nvSpPr>
          <p:spPr bwMode="auto">
            <a:xfrm>
              <a:off x="2092" y="240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1217" name="Text Box 90"/>
            <p:cNvSpPr txBox="1">
              <a:spLocks noChangeArrowheads="1"/>
            </p:cNvSpPr>
            <p:nvPr/>
          </p:nvSpPr>
          <p:spPr bwMode="auto">
            <a:xfrm>
              <a:off x="2520" y="240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1218" name="Text Box 91"/>
            <p:cNvSpPr txBox="1">
              <a:spLocks noChangeArrowheads="1"/>
            </p:cNvSpPr>
            <p:nvPr/>
          </p:nvSpPr>
          <p:spPr bwMode="auto">
            <a:xfrm>
              <a:off x="2952" y="240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1219" name="Text Box 92"/>
            <p:cNvSpPr txBox="1">
              <a:spLocks noChangeArrowheads="1"/>
            </p:cNvSpPr>
            <p:nvPr/>
          </p:nvSpPr>
          <p:spPr bwMode="auto">
            <a:xfrm>
              <a:off x="3288" y="2409"/>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 = </a:t>
              </a:r>
              <a:r>
                <a:rPr lang="en-US" altLang="en-US" sz="1800" i="1">
                  <a:latin typeface="Times New Roman" pitchFamily="18" charset="0"/>
                </a:rPr>
                <a:t>r2</a:t>
              </a:r>
              <a:endParaRPr lang="en-US" altLang="en-US" sz="1800">
                <a:latin typeface="Times New Roman" pitchFamily="18" charset="0"/>
              </a:endParaRPr>
            </a:p>
          </p:txBody>
        </p:sp>
        <p:sp>
          <p:nvSpPr>
            <p:cNvPr id="31220" name="Text Box 93"/>
            <p:cNvSpPr txBox="1">
              <a:spLocks noChangeArrowheads="1"/>
            </p:cNvSpPr>
            <p:nvPr/>
          </p:nvSpPr>
          <p:spPr bwMode="auto">
            <a:xfrm>
              <a:off x="1971" y="260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31221" name="Text Box 94"/>
            <p:cNvSpPr txBox="1">
              <a:spLocks noChangeArrowheads="1"/>
            </p:cNvSpPr>
            <p:nvPr/>
          </p:nvSpPr>
          <p:spPr bwMode="auto">
            <a:xfrm>
              <a:off x="2403" y="260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31222" name="Text Box 95"/>
            <p:cNvSpPr txBox="1">
              <a:spLocks noChangeArrowheads="1"/>
            </p:cNvSpPr>
            <p:nvPr/>
          </p:nvSpPr>
          <p:spPr bwMode="auto">
            <a:xfrm>
              <a:off x="2835" y="260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31223" name="Text Box 96"/>
            <p:cNvSpPr txBox="1">
              <a:spLocks noChangeArrowheads="1"/>
            </p:cNvSpPr>
            <p:nvPr/>
          </p:nvSpPr>
          <p:spPr bwMode="auto">
            <a:xfrm>
              <a:off x="3267" y="260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31224" name="Text Box 97"/>
            <p:cNvSpPr txBox="1">
              <a:spLocks noChangeArrowheads="1"/>
            </p:cNvSpPr>
            <p:nvPr/>
          </p:nvSpPr>
          <p:spPr bwMode="auto">
            <a:xfrm>
              <a:off x="1320" y="2601"/>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a2</a:t>
              </a:r>
            </a:p>
          </p:txBody>
        </p:sp>
        <p:sp>
          <p:nvSpPr>
            <p:cNvPr id="31225" name="Text Box 98"/>
            <p:cNvSpPr txBox="1">
              <a:spLocks noChangeArrowheads="1"/>
            </p:cNvSpPr>
            <p:nvPr/>
          </p:nvSpPr>
          <p:spPr bwMode="auto">
            <a:xfrm>
              <a:off x="1512" y="303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226" name="Text Box 99"/>
            <p:cNvSpPr txBox="1">
              <a:spLocks noChangeArrowheads="1"/>
            </p:cNvSpPr>
            <p:nvPr/>
          </p:nvSpPr>
          <p:spPr bwMode="auto">
            <a:xfrm>
              <a:off x="1416" y="2841"/>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l3 </a:t>
              </a:r>
              <a:r>
                <a:rPr lang="en-US" altLang="en-US" sz="1800">
                  <a:latin typeface="Times New Roman" pitchFamily="18" charset="0"/>
                </a:rPr>
                <a:t>= 0</a:t>
              </a:r>
            </a:p>
          </p:txBody>
        </p:sp>
        <p:sp>
          <p:nvSpPr>
            <p:cNvPr id="31227" name="Text Box 100"/>
            <p:cNvSpPr txBox="1">
              <a:spLocks noChangeArrowheads="1"/>
            </p:cNvSpPr>
            <p:nvPr/>
          </p:nvSpPr>
          <p:spPr bwMode="auto">
            <a:xfrm>
              <a:off x="2092" y="284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1228" name="Text Box 101"/>
            <p:cNvSpPr txBox="1">
              <a:spLocks noChangeArrowheads="1"/>
            </p:cNvSpPr>
            <p:nvPr/>
          </p:nvSpPr>
          <p:spPr bwMode="auto">
            <a:xfrm>
              <a:off x="2520" y="284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1229" name="Text Box 102"/>
            <p:cNvSpPr txBox="1">
              <a:spLocks noChangeArrowheads="1"/>
            </p:cNvSpPr>
            <p:nvPr/>
          </p:nvSpPr>
          <p:spPr bwMode="auto">
            <a:xfrm>
              <a:off x="2952" y="284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1230" name="Text Box 103"/>
            <p:cNvSpPr txBox="1">
              <a:spLocks noChangeArrowheads="1"/>
            </p:cNvSpPr>
            <p:nvPr/>
          </p:nvSpPr>
          <p:spPr bwMode="auto">
            <a:xfrm>
              <a:off x="3384" y="284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31231" name="Text Box 104"/>
            <p:cNvSpPr txBox="1">
              <a:spLocks noChangeArrowheads="1"/>
            </p:cNvSpPr>
            <p:nvPr/>
          </p:nvSpPr>
          <p:spPr bwMode="auto">
            <a:xfrm>
              <a:off x="3816" y="284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31232" name="Text Box 105"/>
            <p:cNvSpPr txBox="1">
              <a:spLocks noChangeArrowheads="1"/>
            </p:cNvSpPr>
            <p:nvPr/>
          </p:nvSpPr>
          <p:spPr bwMode="auto">
            <a:xfrm>
              <a:off x="1971" y="303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233" name="Text Box 106"/>
            <p:cNvSpPr txBox="1">
              <a:spLocks noChangeArrowheads="1"/>
            </p:cNvSpPr>
            <p:nvPr/>
          </p:nvSpPr>
          <p:spPr bwMode="auto">
            <a:xfrm>
              <a:off x="2403" y="303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234" name="Text Box 107"/>
            <p:cNvSpPr txBox="1">
              <a:spLocks noChangeArrowheads="1"/>
            </p:cNvSpPr>
            <p:nvPr/>
          </p:nvSpPr>
          <p:spPr bwMode="auto">
            <a:xfrm>
              <a:off x="2835" y="303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235" name="Text Box 108"/>
            <p:cNvSpPr txBox="1">
              <a:spLocks noChangeArrowheads="1"/>
            </p:cNvSpPr>
            <p:nvPr/>
          </p:nvSpPr>
          <p:spPr bwMode="auto">
            <a:xfrm>
              <a:off x="3267" y="303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236" name="Text Box 109"/>
            <p:cNvSpPr txBox="1">
              <a:spLocks noChangeArrowheads="1"/>
            </p:cNvSpPr>
            <p:nvPr/>
          </p:nvSpPr>
          <p:spPr bwMode="auto">
            <a:xfrm>
              <a:off x="3699" y="303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237" name="Text Box 110"/>
            <p:cNvSpPr txBox="1">
              <a:spLocks noChangeArrowheads="1"/>
            </p:cNvSpPr>
            <p:nvPr/>
          </p:nvSpPr>
          <p:spPr bwMode="auto">
            <a:xfrm>
              <a:off x="4131" y="303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238" name="Text Box 111"/>
            <p:cNvSpPr txBox="1">
              <a:spLocks noChangeArrowheads="1"/>
            </p:cNvSpPr>
            <p:nvPr/>
          </p:nvSpPr>
          <p:spPr bwMode="auto">
            <a:xfrm>
              <a:off x="1320" y="3033"/>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a3</a:t>
              </a:r>
            </a:p>
          </p:txBody>
        </p:sp>
        <p:sp>
          <p:nvSpPr>
            <p:cNvPr id="31239" name="Text Box 112"/>
            <p:cNvSpPr txBox="1">
              <a:spLocks noChangeArrowheads="1"/>
            </p:cNvSpPr>
            <p:nvPr/>
          </p:nvSpPr>
          <p:spPr bwMode="auto">
            <a:xfrm>
              <a:off x="4251" y="284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31240" name="Text Box 113"/>
            <p:cNvSpPr txBox="1">
              <a:spLocks noChangeArrowheads="1"/>
            </p:cNvSpPr>
            <p:nvPr/>
          </p:nvSpPr>
          <p:spPr bwMode="auto">
            <a:xfrm>
              <a:off x="4899" y="303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0</a:t>
              </a:r>
            </a:p>
          </p:txBody>
        </p:sp>
        <p:sp>
          <p:nvSpPr>
            <p:cNvPr id="31241" name="Text Box 114"/>
            <p:cNvSpPr txBox="1">
              <a:spLocks noChangeArrowheads="1"/>
            </p:cNvSpPr>
            <p:nvPr/>
          </p:nvSpPr>
          <p:spPr bwMode="auto">
            <a:xfrm>
              <a:off x="4707" y="3033"/>
              <a:ext cx="192" cy="24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k</a:t>
              </a:r>
            </a:p>
          </p:txBody>
        </p:sp>
        <p:sp>
          <p:nvSpPr>
            <p:cNvPr id="31242" name="Text Box 115"/>
            <p:cNvSpPr txBox="1">
              <a:spLocks noChangeArrowheads="1"/>
            </p:cNvSpPr>
            <p:nvPr/>
          </p:nvSpPr>
          <p:spPr bwMode="auto">
            <a:xfrm>
              <a:off x="4899" y="260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0</a:t>
              </a:r>
            </a:p>
          </p:txBody>
        </p:sp>
        <p:sp>
          <p:nvSpPr>
            <p:cNvPr id="31243" name="Text Box 116"/>
            <p:cNvSpPr txBox="1">
              <a:spLocks noChangeArrowheads="1"/>
            </p:cNvSpPr>
            <p:nvPr/>
          </p:nvSpPr>
          <p:spPr bwMode="auto">
            <a:xfrm>
              <a:off x="4728" y="2601"/>
              <a:ext cx="1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j</a:t>
              </a:r>
            </a:p>
          </p:txBody>
        </p:sp>
        <p:sp>
          <p:nvSpPr>
            <p:cNvPr id="31244" name="Text Box 117"/>
            <p:cNvSpPr txBox="1">
              <a:spLocks noChangeArrowheads="1"/>
            </p:cNvSpPr>
            <p:nvPr/>
          </p:nvSpPr>
          <p:spPr bwMode="auto">
            <a:xfrm>
              <a:off x="4899" y="216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0</a:t>
              </a:r>
            </a:p>
          </p:txBody>
        </p:sp>
        <p:sp>
          <p:nvSpPr>
            <p:cNvPr id="31245" name="Text Box 118"/>
            <p:cNvSpPr txBox="1">
              <a:spLocks noChangeArrowheads="1"/>
            </p:cNvSpPr>
            <p:nvPr/>
          </p:nvSpPr>
          <p:spPr bwMode="auto">
            <a:xfrm>
              <a:off x="4707" y="2169"/>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i</a:t>
              </a:r>
            </a:p>
          </p:txBody>
        </p:sp>
      </p:grpSp>
      <p:grpSp>
        <p:nvGrpSpPr>
          <p:cNvPr id="5" name="Group 610"/>
          <p:cNvGrpSpPr>
            <a:grpSpLocks/>
          </p:cNvGrpSpPr>
          <p:nvPr/>
        </p:nvGrpSpPr>
        <p:grpSpPr bwMode="auto">
          <a:xfrm>
            <a:off x="571501" y="2022475"/>
            <a:ext cx="6705600" cy="4724400"/>
            <a:chOff x="1224" y="346"/>
            <a:chExt cx="4224" cy="2976"/>
          </a:xfrm>
        </p:grpSpPr>
        <p:sp>
          <p:nvSpPr>
            <p:cNvPr id="31168" name="Rectangle 120"/>
            <p:cNvSpPr>
              <a:spLocks noChangeArrowheads="1"/>
            </p:cNvSpPr>
            <p:nvPr/>
          </p:nvSpPr>
          <p:spPr bwMode="auto">
            <a:xfrm>
              <a:off x="1224" y="346"/>
              <a:ext cx="4224" cy="2976"/>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31169" name="Text Box 121"/>
            <p:cNvSpPr txBox="1">
              <a:spLocks noChangeArrowheads="1"/>
            </p:cNvSpPr>
            <p:nvPr/>
          </p:nvSpPr>
          <p:spPr bwMode="auto">
            <a:xfrm>
              <a:off x="1272" y="384"/>
              <a:ext cx="4128" cy="1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merge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l1</a:t>
              </a:r>
              <a:r>
                <a:rPr lang="en-US" altLang="en-US" sz="2000">
                  <a:latin typeface="Times New Roman" pitchFamily="18" charset="0"/>
                </a:rPr>
                <a:t>…</a:t>
              </a:r>
              <a:r>
                <a:rPr lang="en-US" altLang="en-US" sz="2000" i="1">
                  <a:latin typeface="Times New Roman" pitchFamily="18" charset="0"/>
                </a:rPr>
                <a:t>r1</a:t>
              </a:r>
              <a:r>
                <a:rPr lang="en-US" altLang="en-US" sz="2000">
                  <a:latin typeface="Times New Roman" pitchFamily="18" charset="0"/>
                </a:rPr>
                <a:t>] and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l2</a:t>
              </a:r>
              <a:r>
                <a:rPr lang="en-US" altLang="en-US" sz="2000">
                  <a:latin typeface="Times New Roman" pitchFamily="18" charset="0"/>
                </a:rPr>
                <a:t>…</a:t>
              </a:r>
              <a:r>
                <a:rPr lang="en-US" altLang="en-US" sz="2000" i="1">
                  <a:latin typeface="Times New Roman" pitchFamily="18" charset="0"/>
                </a:rPr>
                <a:t>r2</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1.	Set </a:t>
              </a:r>
              <a:r>
                <a:rPr lang="en-US" altLang="en-US" sz="2000" i="1">
                  <a:latin typeface="Times New Roman" pitchFamily="18" charset="0"/>
                </a:rPr>
                <a:t>i</a:t>
              </a:r>
              <a:r>
                <a:rPr lang="en-US" altLang="en-US" sz="2000">
                  <a:latin typeface="Times New Roman" pitchFamily="18" charset="0"/>
                </a:rPr>
                <a:t> = </a:t>
              </a:r>
              <a:r>
                <a:rPr lang="en-US" altLang="en-US" sz="2000" i="1">
                  <a:latin typeface="Times New Roman" pitchFamily="18" charset="0"/>
                </a:rPr>
                <a:t>l1</a:t>
              </a:r>
              <a:r>
                <a:rPr lang="en-US" altLang="en-US" sz="2000">
                  <a:latin typeface="Times New Roman" pitchFamily="18" charset="0"/>
                </a:rPr>
                <a:t>, set </a:t>
              </a:r>
              <a:r>
                <a:rPr lang="en-US" altLang="en-US" sz="2000" i="1">
                  <a:latin typeface="Times New Roman" pitchFamily="18" charset="0"/>
                </a:rPr>
                <a:t>j</a:t>
              </a:r>
              <a:r>
                <a:rPr lang="en-US" altLang="en-US" sz="2000">
                  <a:latin typeface="Times New Roman" pitchFamily="18" charset="0"/>
                </a:rPr>
                <a:t> = </a:t>
              </a:r>
              <a:r>
                <a:rPr lang="en-US" altLang="en-US" sz="2000" i="1">
                  <a:latin typeface="Times New Roman" pitchFamily="18" charset="0"/>
                </a:rPr>
                <a:t>l2</a:t>
              </a:r>
              <a:r>
                <a:rPr lang="en-US" altLang="en-US" sz="2000">
                  <a:latin typeface="Times New Roman" pitchFamily="18" charset="0"/>
                </a:rPr>
                <a:t>, and set </a:t>
              </a:r>
              <a:r>
                <a:rPr lang="en-US" altLang="en-US" sz="2000" i="1">
                  <a:latin typeface="Times New Roman" pitchFamily="18" charset="0"/>
                </a:rPr>
                <a:t>k</a:t>
              </a:r>
              <a:r>
                <a:rPr lang="en-US" altLang="en-US" sz="2000">
                  <a:latin typeface="Times New Roman" pitchFamily="18" charset="0"/>
                </a:rPr>
                <a:t> = </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While </a:t>
              </a:r>
              <a:r>
                <a:rPr lang="en-US" altLang="en-US" sz="2000" i="1">
                  <a:latin typeface="Times New Roman" pitchFamily="18" charset="0"/>
                </a:rPr>
                <a:t>i</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r1</a:t>
              </a:r>
              <a:r>
                <a:rPr lang="en-US" altLang="en-US" sz="2000">
                  <a:latin typeface="Times New Roman" pitchFamily="18" charset="0"/>
                </a:rPr>
                <a:t> and </a:t>
              </a:r>
              <a:r>
                <a:rPr lang="en-US" altLang="en-US" sz="2000" i="1">
                  <a:latin typeface="Times New Roman" pitchFamily="18" charset="0"/>
                </a:rPr>
                <a:t>j</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r2</a:t>
              </a:r>
              <a:r>
                <a:rPr lang="en-US" altLang="en-US" sz="2000">
                  <a:latin typeface="Times New Roman" pitchFamily="18" charset="0"/>
                </a:rPr>
                <a:t>, repeat:</a:t>
              </a:r>
              <a:br>
                <a:rPr lang="en-US" altLang="en-US" sz="2000">
                  <a:latin typeface="Times New Roman" pitchFamily="18" charset="0"/>
                </a:rPr>
              </a:br>
              <a:r>
                <a:rPr lang="en-US" altLang="en-US" sz="2000">
                  <a:latin typeface="Times New Roman" pitchFamily="18" charset="0"/>
                </a:rPr>
                <a:t>	2.1.	If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i</a:t>
              </a:r>
              <a:r>
                <a:rPr lang="en-US" altLang="en-US" sz="2000">
                  <a:latin typeface="Times New Roman" pitchFamily="18" charset="0"/>
                </a:rPr>
                <a:t>] is less than or equal to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j</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2.1.1.	Copy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i</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k</a:t>
              </a:r>
              <a:r>
                <a:rPr lang="en-US" altLang="en-US" sz="2000">
                  <a:latin typeface="Times New Roman" pitchFamily="18" charset="0"/>
                </a:rPr>
                <a:t>], then increment </a:t>
              </a:r>
              <a:r>
                <a:rPr lang="en-US" altLang="en-US" sz="2000" i="1">
                  <a:latin typeface="Times New Roman" pitchFamily="18" charset="0"/>
                </a:rPr>
                <a:t>i</a:t>
              </a:r>
              <a:r>
                <a:rPr lang="en-US" altLang="en-US" sz="2000">
                  <a:latin typeface="Times New Roman" pitchFamily="18" charset="0"/>
                </a:rPr>
                <a:t> and </a:t>
              </a:r>
              <a:r>
                <a:rPr lang="en-US" altLang="en-US" sz="2000" i="1">
                  <a:latin typeface="Times New Roman" pitchFamily="18" charset="0"/>
                </a:rPr>
                <a:t>k</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2.2.	</a:t>
              </a:r>
              <a:r>
                <a:rPr lang="en-US" altLang="en-US" sz="2000">
                  <a:solidFill>
                    <a:srgbClr val="FF0000"/>
                  </a:solidFill>
                  <a:latin typeface="Times New Roman" pitchFamily="18" charset="0"/>
                </a:rPr>
                <a:t>Else:</a:t>
              </a:r>
              <a:br>
                <a:rPr lang="en-US" altLang="en-US" sz="2000">
                  <a:latin typeface="Times New Roman" pitchFamily="18" charset="0"/>
                </a:rPr>
              </a:br>
              <a:r>
                <a:rPr lang="en-US" altLang="en-US" sz="2000">
                  <a:latin typeface="Times New Roman" pitchFamily="18" charset="0"/>
                </a:rPr>
                <a:t>		2.2.1.	</a:t>
              </a:r>
              <a:r>
                <a:rPr lang="en-US" altLang="en-US" sz="2000">
                  <a:solidFill>
                    <a:srgbClr val="FF0000"/>
                  </a:solidFill>
                  <a:latin typeface="Times New Roman" pitchFamily="18" charset="0"/>
                </a:rPr>
                <a:t>Copy </a:t>
              </a:r>
              <a:r>
                <a:rPr lang="en-US" altLang="en-US" sz="2000" i="1">
                  <a:solidFill>
                    <a:srgbClr val="FF0000"/>
                  </a:solidFill>
                  <a:latin typeface="Times New Roman" pitchFamily="18" charset="0"/>
                </a:rPr>
                <a:t>a2</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j</a:t>
              </a:r>
              <a:r>
                <a:rPr lang="en-US" altLang="en-US" sz="2000">
                  <a:solidFill>
                    <a:srgbClr val="FF0000"/>
                  </a:solidFill>
                  <a:latin typeface="Times New Roman" pitchFamily="18" charset="0"/>
                </a:rPr>
                <a:t>] into </a:t>
              </a:r>
              <a:r>
                <a:rPr lang="en-US" altLang="en-US" sz="2000" i="1">
                  <a:solidFill>
                    <a:srgbClr val="FF0000"/>
                  </a:solidFill>
                  <a:latin typeface="Times New Roman" pitchFamily="18" charset="0"/>
                </a:rPr>
                <a:t>a3</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k</a:t>
              </a:r>
              <a:r>
                <a:rPr lang="en-US" altLang="en-US" sz="2000">
                  <a:solidFill>
                    <a:srgbClr val="FF0000"/>
                  </a:solidFill>
                  <a:latin typeface="Times New Roman" pitchFamily="18" charset="0"/>
                </a:rPr>
                <a:t>], then increment </a:t>
              </a:r>
              <a:r>
                <a:rPr lang="en-US" altLang="en-US" sz="2000" i="1">
                  <a:solidFill>
                    <a:srgbClr val="FF0000"/>
                  </a:solidFill>
                  <a:latin typeface="Times New Roman" pitchFamily="18" charset="0"/>
                </a:rPr>
                <a:t>j</a:t>
              </a:r>
              <a:r>
                <a:rPr lang="en-US" altLang="en-US" sz="2000">
                  <a:solidFill>
                    <a:srgbClr val="FF0000"/>
                  </a:solidFill>
                  <a:latin typeface="Times New Roman" pitchFamily="18" charset="0"/>
                </a:rPr>
                <a:t> and </a:t>
              </a:r>
              <a:r>
                <a:rPr lang="en-US" altLang="en-US" sz="2000" i="1">
                  <a:solidFill>
                    <a:srgbClr val="FF0000"/>
                  </a:solidFill>
                  <a:latin typeface="Times New Roman" pitchFamily="18" charset="0"/>
                </a:rPr>
                <a:t>k</a:t>
              </a:r>
              <a:r>
                <a:rPr lang="en-US" altLang="en-US" sz="2000">
                  <a:solidFill>
                    <a:srgbClr val="FF0000"/>
                  </a:solidFill>
                  <a:latin typeface="Times New Roman" pitchFamily="18" charset="0"/>
                </a:rPr>
                <a:t>.</a:t>
              </a:r>
              <a:br>
                <a:rPr lang="en-US" altLang="en-US" sz="2000">
                  <a:latin typeface="Times New Roman" pitchFamily="18" charset="0"/>
                </a:rPr>
              </a:br>
              <a:r>
                <a:rPr lang="en-US" altLang="en-US" sz="2000">
                  <a:latin typeface="Times New Roman" pitchFamily="18" charset="0"/>
                </a:rPr>
                <a:t>…</a:t>
              </a:r>
            </a:p>
          </p:txBody>
        </p:sp>
        <p:sp>
          <p:nvSpPr>
            <p:cNvPr id="31170" name="Text Box 122"/>
            <p:cNvSpPr txBox="1">
              <a:spLocks noChangeArrowheads="1"/>
            </p:cNvSpPr>
            <p:nvPr/>
          </p:nvSpPr>
          <p:spPr bwMode="auto">
            <a:xfrm>
              <a:off x="1512" y="217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31171" name="Text Box 123"/>
            <p:cNvSpPr txBox="1">
              <a:spLocks noChangeArrowheads="1"/>
            </p:cNvSpPr>
            <p:nvPr/>
          </p:nvSpPr>
          <p:spPr bwMode="auto">
            <a:xfrm>
              <a:off x="1416" y="1978"/>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l1 </a:t>
              </a:r>
              <a:r>
                <a:rPr lang="en-US" altLang="en-US" sz="1800">
                  <a:latin typeface="Times New Roman" pitchFamily="18" charset="0"/>
                </a:rPr>
                <a:t>= 0</a:t>
              </a:r>
            </a:p>
          </p:txBody>
        </p:sp>
        <p:sp>
          <p:nvSpPr>
            <p:cNvPr id="31172" name="Text Box 124"/>
            <p:cNvSpPr txBox="1">
              <a:spLocks noChangeArrowheads="1"/>
            </p:cNvSpPr>
            <p:nvPr/>
          </p:nvSpPr>
          <p:spPr bwMode="auto">
            <a:xfrm>
              <a:off x="1992" y="1978"/>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 = </a:t>
              </a:r>
              <a:r>
                <a:rPr lang="en-US" altLang="en-US" sz="1800" i="1">
                  <a:latin typeface="Times New Roman" pitchFamily="18" charset="0"/>
                </a:rPr>
                <a:t>r1</a:t>
              </a:r>
              <a:endParaRPr lang="en-US" altLang="en-US" sz="1800">
                <a:latin typeface="Times New Roman" pitchFamily="18" charset="0"/>
              </a:endParaRPr>
            </a:p>
          </p:txBody>
        </p:sp>
        <p:sp>
          <p:nvSpPr>
            <p:cNvPr id="31173" name="Text Box 125"/>
            <p:cNvSpPr txBox="1">
              <a:spLocks noChangeArrowheads="1"/>
            </p:cNvSpPr>
            <p:nvPr/>
          </p:nvSpPr>
          <p:spPr bwMode="auto">
            <a:xfrm>
              <a:off x="1971" y="217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31174" name="Text Box 126"/>
            <p:cNvSpPr txBox="1">
              <a:spLocks noChangeArrowheads="1"/>
            </p:cNvSpPr>
            <p:nvPr/>
          </p:nvSpPr>
          <p:spPr bwMode="auto">
            <a:xfrm>
              <a:off x="1320" y="217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a1</a:t>
              </a:r>
            </a:p>
          </p:txBody>
        </p:sp>
        <p:sp>
          <p:nvSpPr>
            <p:cNvPr id="31175" name="Text Box 127"/>
            <p:cNvSpPr txBox="1">
              <a:spLocks noChangeArrowheads="1"/>
            </p:cNvSpPr>
            <p:nvPr/>
          </p:nvSpPr>
          <p:spPr bwMode="auto">
            <a:xfrm>
              <a:off x="1512" y="2602"/>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31176" name="Text Box 128"/>
            <p:cNvSpPr txBox="1">
              <a:spLocks noChangeArrowheads="1"/>
            </p:cNvSpPr>
            <p:nvPr/>
          </p:nvSpPr>
          <p:spPr bwMode="auto">
            <a:xfrm>
              <a:off x="1416" y="2410"/>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l2 </a:t>
              </a:r>
              <a:r>
                <a:rPr lang="en-US" altLang="en-US" sz="1800">
                  <a:latin typeface="Times New Roman" pitchFamily="18" charset="0"/>
                </a:rPr>
                <a:t>= 0</a:t>
              </a:r>
            </a:p>
          </p:txBody>
        </p:sp>
        <p:sp>
          <p:nvSpPr>
            <p:cNvPr id="31177" name="Text Box 129"/>
            <p:cNvSpPr txBox="1">
              <a:spLocks noChangeArrowheads="1"/>
            </p:cNvSpPr>
            <p:nvPr/>
          </p:nvSpPr>
          <p:spPr bwMode="auto">
            <a:xfrm>
              <a:off x="2092" y="241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1178" name="Text Box 130"/>
            <p:cNvSpPr txBox="1">
              <a:spLocks noChangeArrowheads="1"/>
            </p:cNvSpPr>
            <p:nvPr/>
          </p:nvSpPr>
          <p:spPr bwMode="auto">
            <a:xfrm>
              <a:off x="2520" y="241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1179" name="Text Box 131"/>
            <p:cNvSpPr txBox="1">
              <a:spLocks noChangeArrowheads="1"/>
            </p:cNvSpPr>
            <p:nvPr/>
          </p:nvSpPr>
          <p:spPr bwMode="auto">
            <a:xfrm>
              <a:off x="2952" y="241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1180" name="Text Box 132"/>
            <p:cNvSpPr txBox="1">
              <a:spLocks noChangeArrowheads="1"/>
            </p:cNvSpPr>
            <p:nvPr/>
          </p:nvSpPr>
          <p:spPr bwMode="auto">
            <a:xfrm>
              <a:off x="3288" y="2410"/>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 = </a:t>
              </a:r>
              <a:r>
                <a:rPr lang="en-US" altLang="en-US" sz="1800" i="1">
                  <a:latin typeface="Times New Roman" pitchFamily="18" charset="0"/>
                </a:rPr>
                <a:t>r2</a:t>
              </a:r>
              <a:endParaRPr lang="en-US" altLang="en-US" sz="1800">
                <a:latin typeface="Times New Roman" pitchFamily="18" charset="0"/>
              </a:endParaRPr>
            </a:p>
          </p:txBody>
        </p:sp>
        <p:sp>
          <p:nvSpPr>
            <p:cNvPr id="31181" name="Text Box 133"/>
            <p:cNvSpPr txBox="1">
              <a:spLocks noChangeArrowheads="1"/>
            </p:cNvSpPr>
            <p:nvPr/>
          </p:nvSpPr>
          <p:spPr bwMode="auto">
            <a:xfrm>
              <a:off x="1971"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31182" name="Text Box 134"/>
            <p:cNvSpPr txBox="1">
              <a:spLocks noChangeArrowheads="1"/>
            </p:cNvSpPr>
            <p:nvPr/>
          </p:nvSpPr>
          <p:spPr bwMode="auto">
            <a:xfrm>
              <a:off x="2403"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31183" name="Text Box 135"/>
            <p:cNvSpPr txBox="1">
              <a:spLocks noChangeArrowheads="1"/>
            </p:cNvSpPr>
            <p:nvPr/>
          </p:nvSpPr>
          <p:spPr bwMode="auto">
            <a:xfrm>
              <a:off x="2835"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31184" name="Text Box 136"/>
            <p:cNvSpPr txBox="1">
              <a:spLocks noChangeArrowheads="1"/>
            </p:cNvSpPr>
            <p:nvPr/>
          </p:nvSpPr>
          <p:spPr bwMode="auto">
            <a:xfrm>
              <a:off x="3267"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31185" name="Text Box 137"/>
            <p:cNvSpPr txBox="1">
              <a:spLocks noChangeArrowheads="1"/>
            </p:cNvSpPr>
            <p:nvPr/>
          </p:nvSpPr>
          <p:spPr bwMode="auto">
            <a:xfrm>
              <a:off x="1320" y="2602"/>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a2</a:t>
              </a:r>
            </a:p>
          </p:txBody>
        </p:sp>
        <p:sp>
          <p:nvSpPr>
            <p:cNvPr id="31186" name="Text Box 138"/>
            <p:cNvSpPr txBox="1">
              <a:spLocks noChangeArrowheads="1"/>
            </p:cNvSpPr>
            <p:nvPr/>
          </p:nvSpPr>
          <p:spPr bwMode="auto">
            <a:xfrm>
              <a:off x="1512" y="30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31187" name="Text Box 139"/>
            <p:cNvSpPr txBox="1">
              <a:spLocks noChangeArrowheads="1"/>
            </p:cNvSpPr>
            <p:nvPr/>
          </p:nvSpPr>
          <p:spPr bwMode="auto">
            <a:xfrm>
              <a:off x="1416" y="2842"/>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l3 </a:t>
              </a:r>
              <a:r>
                <a:rPr lang="en-US" altLang="en-US" sz="1800">
                  <a:latin typeface="Times New Roman" pitchFamily="18" charset="0"/>
                </a:rPr>
                <a:t>= 0</a:t>
              </a:r>
            </a:p>
          </p:txBody>
        </p:sp>
        <p:sp>
          <p:nvSpPr>
            <p:cNvPr id="31188" name="Text Box 140"/>
            <p:cNvSpPr txBox="1">
              <a:spLocks noChangeArrowheads="1"/>
            </p:cNvSpPr>
            <p:nvPr/>
          </p:nvSpPr>
          <p:spPr bwMode="auto">
            <a:xfrm>
              <a:off x="2092"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1189" name="Text Box 141"/>
            <p:cNvSpPr txBox="1">
              <a:spLocks noChangeArrowheads="1"/>
            </p:cNvSpPr>
            <p:nvPr/>
          </p:nvSpPr>
          <p:spPr bwMode="auto">
            <a:xfrm>
              <a:off x="2520"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1190" name="Text Box 142"/>
            <p:cNvSpPr txBox="1">
              <a:spLocks noChangeArrowheads="1"/>
            </p:cNvSpPr>
            <p:nvPr/>
          </p:nvSpPr>
          <p:spPr bwMode="auto">
            <a:xfrm>
              <a:off x="2952"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1191" name="Text Box 143"/>
            <p:cNvSpPr txBox="1">
              <a:spLocks noChangeArrowheads="1"/>
            </p:cNvSpPr>
            <p:nvPr/>
          </p:nvSpPr>
          <p:spPr bwMode="auto">
            <a:xfrm>
              <a:off x="3384"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31192" name="Text Box 144"/>
            <p:cNvSpPr txBox="1">
              <a:spLocks noChangeArrowheads="1"/>
            </p:cNvSpPr>
            <p:nvPr/>
          </p:nvSpPr>
          <p:spPr bwMode="auto">
            <a:xfrm>
              <a:off x="3816"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31193" name="Text Box 145"/>
            <p:cNvSpPr txBox="1">
              <a:spLocks noChangeArrowheads="1"/>
            </p:cNvSpPr>
            <p:nvPr/>
          </p:nvSpPr>
          <p:spPr bwMode="auto">
            <a:xfrm>
              <a:off x="1971"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194" name="Text Box 146"/>
            <p:cNvSpPr txBox="1">
              <a:spLocks noChangeArrowheads="1"/>
            </p:cNvSpPr>
            <p:nvPr/>
          </p:nvSpPr>
          <p:spPr bwMode="auto">
            <a:xfrm>
              <a:off x="2403"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195" name="Text Box 147"/>
            <p:cNvSpPr txBox="1">
              <a:spLocks noChangeArrowheads="1"/>
            </p:cNvSpPr>
            <p:nvPr/>
          </p:nvSpPr>
          <p:spPr bwMode="auto">
            <a:xfrm>
              <a:off x="2835"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196" name="Text Box 148"/>
            <p:cNvSpPr txBox="1">
              <a:spLocks noChangeArrowheads="1"/>
            </p:cNvSpPr>
            <p:nvPr/>
          </p:nvSpPr>
          <p:spPr bwMode="auto">
            <a:xfrm>
              <a:off x="3267"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197" name="Text Box 149"/>
            <p:cNvSpPr txBox="1">
              <a:spLocks noChangeArrowheads="1"/>
            </p:cNvSpPr>
            <p:nvPr/>
          </p:nvSpPr>
          <p:spPr bwMode="auto">
            <a:xfrm>
              <a:off x="3699"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198" name="Text Box 150"/>
            <p:cNvSpPr txBox="1">
              <a:spLocks noChangeArrowheads="1"/>
            </p:cNvSpPr>
            <p:nvPr/>
          </p:nvSpPr>
          <p:spPr bwMode="auto">
            <a:xfrm>
              <a:off x="4131"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199" name="Text Box 151"/>
            <p:cNvSpPr txBox="1">
              <a:spLocks noChangeArrowheads="1"/>
            </p:cNvSpPr>
            <p:nvPr/>
          </p:nvSpPr>
          <p:spPr bwMode="auto">
            <a:xfrm>
              <a:off x="1320" y="303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a3</a:t>
              </a:r>
            </a:p>
          </p:txBody>
        </p:sp>
        <p:sp>
          <p:nvSpPr>
            <p:cNvPr id="31200" name="Text Box 152"/>
            <p:cNvSpPr txBox="1">
              <a:spLocks noChangeArrowheads="1"/>
            </p:cNvSpPr>
            <p:nvPr/>
          </p:nvSpPr>
          <p:spPr bwMode="auto">
            <a:xfrm>
              <a:off x="4251"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31201" name="Text Box 153"/>
            <p:cNvSpPr txBox="1">
              <a:spLocks noChangeArrowheads="1"/>
            </p:cNvSpPr>
            <p:nvPr/>
          </p:nvSpPr>
          <p:spPr bwMode="auto">
            <a:xfrm>
              <a:off x="4899"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1</a:t>
              </a:r>
            </a:p>
          </p:txBody>
        </p:sp>
        <p:sp>
          <p:nvSpPr>
            <p:cNvPr id="31202" name="Text Box 154"/>
            <p:cNvSpPr txBox="1">
              <a:spLocks noChangeArrowheads="1"/>
            </p:cNvSpPr>
            <p:nvPr/>
          </p:nvSpPr>
          <p:spPr bwMode="auto">
            <a:xfrm>
              <a:off x="4707" y="303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k</a:t>
              </a:r>
            </a:p>
          </p:txBody>
        </p:sp>
        <p:sp>
          <p:nvSpPr>
            <p:cNvPr id="31203" name="Text Box 155"/>
            <p:cNvSpPr txBox="1">
              <a:spLocks noChangeArrowheads="1"/>
            </p:cNvSpPr>
            <p:nvPr/>
          </p:nvSpPr>
          <p:spPr bwMode="auto">
            <a:xfrm>
              <a:off x="4899"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1</a:t>
              </a:r>
            </a:p>
          </p:txBody>
        </p:sp>
        <p:sp>
          <p:nvSpPr>
            <p:cNvPr id="31204" name="Text Box 156"/>
            <p:cNvSpPr txBox="1">
              <a:spLocks noChangeArrowheads="1"/>
            </p:cNvSpPr>
            <p:nvPr/>
          </p:nvSpPr>
          <p:spPr bwMode="auto">
            <a:xfrm>
              <a:off x="4728" y="2602"/>
              <a:ext cx="1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j</a:t>
              </a:r>
            </a:p>
          </p:txBody>
        </p:sp>
        <p:sp>
          <p:nvSpPr>
            <p:cNvPr id="31205" name="Text Box 157"/>
            <p:cNvSpPr txBox="1">
              <a:spLocks noChangeArrowheads="1"/>
            </p:cNvSpPr>
            <p:nvPr/>
          </p:nvSpPr>
          <p:spPr bwMode="auto">
            <a:xfrm>
              <a:off x="4899" y="217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0</a:t>
              </a:r>
            </a:p>
          </p:txBody>
        </p:sp>
        <p:sp>
          <p:nvSpPr>
            <p:cNvPr id="31206" name="Text Box 158"/>
            <p:cNvSpPr txBox="1">
              <a:spLocks noChangeArrowheads="1"/>
            </p:cNvSpPr>
            <p:nvPr/>
          </p:nvSpPr>
          <p:spPr bwMode="auto">
            <a:xfrm>
              <a:off x="4707" y="217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i</a:t>
              </a:r>
            </a:p>
          </p:txBody>
        </p:sp>
      </p:grpSp>
      <p:grpSp>
        <p:nvGrpSpPr>
          <p:cNvPr id="6" name="Group 609"/>
          <p:cNvGrpSpPr>
            <a:grpSpLocks/>
          </p:cNvGrpSpPr>
          <p:nvPr/>
        </p:nvGrpSpPr>
        <p:grpSpPr bwMode="auto">
          <a:xfrm>
            <a:off x="571501" y="2030413"/>
            <a:ext cx="6705600" cy="4724400"/>
            <a:chOff x="1224" y="363"/>
            <a:chExt cx="4224" cy="2976"/>
          </a:xfrm>
        </p:grpSpPr>
        <p:sp>
          <p:nvSpPr>
            <p:cNvPr id="31129" name="Rectangle 160"/>
            <p:cNvSpPr>
              <a:spLocks noChangeArrowheads="1"/>
            </p:cNvSpPr>
            <p:nvPr/>
          </p:nvSpPr>
          <p:spPr bwMode="auto">
            <a:xfrm>
              <a:off x="1224" y="363"/>
              <a:ext cx="4224" cy="2976"/>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31130" name="Text Box 161"/>
            <p:cNvSpPr txBox="1">
              <a:spLocks noChangeArrowheads="1"/>
            </p:cNvSpPr>
            <p:nvPr/>
          </p:nvSpPr>
          <p:spPr bwMode="auto">
            <a:xfrm>
              <a:off x="1272" y="401"/>
              <a:ext cx="4128" cy="1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merge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l1</a:t>
              </a:r>
              <a:r>
                <a:rPr lang="en-US" altLang="en-US" sz="2000">
                  <a:latin typeface="Times New Roman" pitchFamily="18" charset="0"/>
                </a:rPr>
                <a:t>…</a:t>
              </a:r>
              <a:r>
                <a:rPr lang="en-US" altLang="en-US" sz="2000" i="1">
                  <a:latin typeface="Times New Roman" pitchFamily="18" charset="0"/>
                </a:rPr>
                <a:t>r1</a:t>
              </a:r>
              <a:r>
                <a:rPr lang="en-US" altLang="en-US" sz="2000">
                  <a:latin typeface="Times New Roman" pitchFamily="18" charset="0"/>
                </a:rPr>
                <a:t>] and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l2</a:t>
              </a:r>
              <a:r>
                <a:rPr lang="en-US" altLang="en-US" sz="2000">
                  <a:latin typeface="Times New Roman" pitchFamily="18" charset="0"/>
                </a:rPr>
                <a:t>…</a:t>
              </a:r>
              <a:r>
                <a:rPr lang="en-US" altLang="en-US" sz="2000" i="1">
                  <a:latin typeface="Times New Roman" pitchFamily="18" charset="0"/>
                </a:rPr>
                <a:t>r2</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1.	Set </a:t>
              </a:r>
              <a:r>
                <a:rPr lang="en-US" altLang="en-US" sz="2000" i="1">
                  <a:latin typeface="Times New Roman" pitchFamily="18" charset="0"/>
                </a:rPr>
                <a:t>i</a:t>
              </a:r>
              <a:r>
                <a:rPr lang="en-US" altLang="en-US" sz="2000">
                  <a:latin typeface="Times New Roman" pitchFamily="18" charset="0"/>
                </a:rPr>
                <a:t> = </a:t>
              </a:r>
              <a:r>
                <a:rPr lang="en-US" altLang="en-US" sz="2000" i="1">
                  <a:latin typeface="Times New Roman" pitchFamily="18" charset="0"/>
                </a:rPr>
                <a:t>l1</a:t>
              </a:r>
              <a:r>
                <a:rPr lang="en-US" altLang="en-US" sz="2000">
                  <a:latin typeface="Times New Roman" pitchFamily="18" charset="0"/>
                </a:rPr>
                <a:t>, set </a:t>
              </a:r>
              <a:r>
                <a:rPr lang="en-US" altLang="en-US" sz="2000" i="1">
                  <a:latin typeface="Times New Roman" pitchFamily="18" charset="0"/>
                </a:rPr>
                <a:t>j</a:t>
              </a:r>
              <a:r>
                <a:rPr lang="en-US" altLang="en-US" sz="2000">
                  <a:latin typeface="Times New Roman" pitchFamily="18" charset="0"/>
                </a:rPr>
                <a:t> = </a:t>
              </a:r>
              <a:r>
                <a:rPr lang="en-US" altLang="en-US" sz="2000" i="1">
                  <a:latin typeface="Times New Roman" pitchFamily="18" charset="0"/>
                </a:rPr>
                <a:t>l2</a:t>
              </a:r>
              <a:r>
                <a:rPr lang="en-US" altLang="en-US" sz="2000">
                  <a:latin typeface="Times New Roman" pitchFamily="18" charset="0"/>
                </a:rPr>
                <a:t>, and set </a:t>
              </a:r>
              <a:r>
                <a:rPr lang="en-US" altLang="en-US" sz="2000" i="1">
                  <a:latin typeface="Times New Roman" pitchFamily="18" charset="0"/>
                </a:rPr>
                <a:t>k</a:t>
              </a:r>
              <a:r>
                <a:rPr lang="en-US" altLang="en-US" sz="2000">
                  <a:latin typeface="Times New Roman" pitchFamily="18" charset="0"/>
                </a:rPr>
                <a:t> = </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a:t>
              </a:r>
              <a:r>
                <a:rPr lang="en-US" altLang="en-US" sz="2000">
                  <a:solidFill>
                    <a:srgbClr val="FF0000"/>
                  </a:solidFill>
                  <a:latin typeface="Times New Roman" pitchFamily="18" charset="0"/>
                </a:rPr>
                <a:t>While </a:t>
              </a:r>
              <a:r>
                <a:rPr lang="en-US" altLang="en-US" sz="2000" i="1">
                  <a:solidFill>
                    <a:srgbClr val="FF0000"/>
                  </a:solidFill>
                  <a:latin typeface="Times New Roman" pitchFamily="18" charset="0"/>
                </a:rPr>
                <a:t>i</a:t>
              </a:r>
              <a:r>
                <a:rPr lang="en-US" altLang="en-US" sz="2000">
                  <a:solidFill>
                    <a:srgbClr val="FF0000"/>
                  </a:solidFill>
                  <a:latin typeface="Times New Roman" pitchFamily="18" charset="0"/>
                </a:rPr>
                <a:t> </a:t>
              </a:r>
              <a:r>
                <a:rPr lang="en-US" altLang="en-US" sz="2000">
                  <a:solidFill>
                    <a:srgbClr val="FF0000"/>
                  </a:solidFill>
                  <a:latin typeface="Times New Roman" pitchFamily="18" charset="0"/>
                  <a:sym typeface="Symbol" pitchFamily="18" charset="2"/>
                </a:rPr>
                <a:t></a:t>
              </a:r>
              <a:r>
                <a:rPr lang="en-US" altLang="en-US" sz="2000">
                  <a:solidFill>
                    <a:srgbClr val="FF0000"/>
                  </a:solidFill>
                  <a:latin typeface="Times New Roman" pitchFamily="18" charset="0"/>
                </a:rPr>
                <a:t> </a:t>
              </a:r>
              <a:r>
                <a:rPr lang="en-US" altLang="en-US" sz="2000" i="1">
                  <a:solidFill>
                    <a:srgbClr val="FF0000"/>
                  </a:solidFill>
                  <a:latin typeface="Times New Roman" pitchFamily="18" charset="0"/>
                </a:rPr>
                <a:t>r1</a:t>
              </a:r>
              <a:r>
                <a:rPr lang="en-US" altLang="en-US" sz="2000">
                  <a:solidFill>
                    <a:srgbClr val="FF0000"/>
                  </a:solidFill>
                  <a:latin typeface="Times New Roman" pitchFamily="18" charset="0"/>
                </a:rPr>
                <a:t> and </a:t>
              </a:r>
              <a:r>
                <a:rPr lang="en-US" altLang="en-US" sz="2000" i="1">
                  <a:solidFill>
                    <a:srgbClr val="FF0000"/>
                  </a:solidFill>
                  <a:latin typeface="Times New Roman" pitchFamily="18" charset="0"/>
                </a:rPr>
                <a:t>j</a:t>
              </a:r>
              <a:r>
                <a:rPr lang="en-US" altLang="en-US" sz="2000">
                  <a:solidFill>
                    <a:srgbClr val="FF0000"/>
                  </a:solidFill>
                  <a:latin typeface="Times New Roman" pitchFamily="18" charset="0"/>
                </a:rPr>
                <a:t> </a:t>
              </a:r>
              <a:r>
                <a:rPr lang="en-US" altLang="en-US" sz="2000">
                  <a:solidFill>
                    <a:srgbClr val="FF0000"/>
                  </a:solidFill>
                  <a:latin typeface="Times New Roman" pitchFamily="18" charset="0"/>
                  <a:sym typeface="Symbol" pitchFamily="18" charset="2"/>
                </a:rPr>
                <a:t></a:t>
              </a:r>
              <a:r>
                <a:rPr lang="en-US" altLang="en-US" sz="2000">
                  <a:solidFill>
                    <a:srgbClr val="FF0000"/>
                  </a:solidFill>
                  <a:latin typeface="Times New Roman" pitchFamily="18" charset="0"/>
                </a:rPr>
                <a:t> </a:t>
              </a:r>
              <a:r>
                <a:rPr lang="en-US" altLang="en-US" sz="2000" i="1">
                  <a:solidFill>
                    <a:srgbClr val="FF0000"/>
                  </a:solidFill>
                  <a:latin typeface="Times New Roman" pitchFamily="18" charset="0"/>
                </a:rPr>
                <a:t>r2</a:t>
              </a:r>
              <a:r>
                <a:rPr lang="en-US" altLang="en-US" sz="2000">
                  <a:solidFill>
                    <a:srgbClr val="FF0000"/>
                  </a:solidFill>
                  <a:latin typeface="Times New Roman" pitchFamily="18" charset="0"/>
                </a:rPr>
                <a:t>, repeat:</a:t>
              </a:r>
              <a:br>
                <a:rPr lang="en-US" altLang="en-US" sz="2000">
                  <a:latin typeface="Times New Roman" pitchFamily="18" charset="0"/>
                </a:rPr>
              </a:br>
              <a:r>
                <a:rPr lang="en-US" altLang="en-US" sz="2000">
                  <a:latin typeface="Times New Roman" pitchFamily="18" charset="0"/>
                </a:rPr>
                <a:t>	2.1.	If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i</a:t>
              </a:r>
              <a:r>
                <a:rPr lang="en-US" altLang="en-US" sz="2000">
                  <a:latin typeface="Times New Roman" pitchFamily="18" charset="0"/>
                </a:rPr>
                <a:t>] is less than or equal to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j</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2.1.1.	Copy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i</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k</a:t>
              </a:r>
              <a:r>
                <a:rPr lang="en-US" altLang="en-US" sz="2000">
                  <a:latin typeface="Times New Roman" pitchFamily="18" charset="0"/>
                </a:rPr>
                <a:t>], then increment </a:t>
              </a:r>
              <a:r>
                <a:rPr lang="en-US" altLang="en-US" sz="2000" i="1">
                  <a:latin typeface="Times New Roman" pitchFamily="18" charset="0"/>
                </a:rPr>
                <a:t>i</a:t>
              </a:r>
              <a:r>
                <a:rPr lang="en-US" altLang="en-US" sz="2000">
                  <a:latin typeface="Times New Roman" pitchFamily="18" charset="0"/>
                </a:rPr>
                <a:t> and </a:t>
              </a:r>
              <a:r>
                <a:rPr lang="en-US" altLang="en-US" sz="2000" i="1">
                  <a:latin typeface="Times New Roman" pitchFamily="18" charset="0"/>
                </a:rPr>
                <a:t>k</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2.2.	Else:</a:t>
              </a:r>
              <a:br>
                <a:rPr lang="en-US" altLang="en-US" sz="2000">
                  <a:latin typeface="Times New Roman" pitchFamily="18" charset="0"/>
                </a:rPr>
              </a:br>
              <a:r>
                <a:rPr lang="en-US" altLang="en-US" sz="2000">
                  <a:latin typeface="Times New Roman" pitchFamily="18" charset="0"/>
                </a:rPr>
                <a:t>		2.2.1.	Copy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j</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k</a:t>
              </a:r>
              <a:r>
                <a:rPr lang="en-US" altLang="en-US" sz="2000">
                  <a:latin typeface="Times New Roman" pitchFamily="18" charset="0"/>
                </a:rPr>
                <a:t>], then increment </a:t>
              </a:r>
              <a:r>
                <a:rPr lang="en-US" altLang="en-US" sz="2000" i="1">
                  <a:latin typeface="Times New Roman" pitchFamily="18" charset="0"/>
                </a:rPr>
                <a:t>j</a:t>
              </a:r>
              <a:r>
                <a:rPr lang="en-US" altLang="en-US" sz="2000">
                  <a:latin typeface="Times New Roman" pitchFamily="18" charset="0"/>
                </a:rPr>
                <a:t> and </a:t>
              </a:r>
              <a:r>
                <a:rPr lang="en-US" altLang="en-US" sz="2000" i="1">
                  <a:latin typeface="Times New Roman" pitchFamily="18" charset="0"/>
                </a:rPr>
                <a:t>k</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a:t>
              </a:r>
            </a:p>
          </p:txBody>
        </p:sp>
        <p:sp>
          <p:nvSpPr>
            <p:cNvPr id="31131" name="Text Box 162"/>
            <p:cNvSpPr txBox="1">
              <a:spLocks noChangeArrowheads="1"/>
            </p:cNvSpPr>
            <p:nvPr/>
          </p:nvSpPr>
          <p:spPr bwMode="auto">
            <a:xfrm>
              <a:off x="1512" y="218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31132" name="Text Box 163"/>
            <p:cNvSpPr txBox="1">
              <a:spLocks noChangeArrowheads="1"/>
            </p:cNvSpPr>
            <p:nvPr/>
          </p:nvSpPr>
          <p:spPr bwMode="auto">
            <a:xfrm>
              <a:off x="1416" y="1995"/>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l1 </a:t>
              </a:r>
              <a:r>
                <a:rPr lang="en-US" altLang="en-US" sz="1800">
                  <a:latin typeface="Times New Roman" pitchFamily="18" charset="0"/>
                </a:rPr>
                <a:t>= 0</a:t>
              </a:r>
            </a:p>
          </p:txBody>
        </p:sp>
        <p:sp>
          <p:nvSpPr>
            <p:cNvPr id="31133" name="Text Box 164"/>
            <p:cNvSpPr txBox="1">
              <a:spLocks noChangeArrowheads="1"/>
            </p:cNvSpPr>
            <p:nvPr/>
          </p:nvSpPr>
          <p:spPr bwMode="auto">
            <a:xfrm>
              <a:off x="1992" y="199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 = </a:t>
              </a:r>
              <a:r>
                <a:rPr lang="en-US" altLang="en-US" sz="1800" i="1">
                  <a:latin typeface="Times New Roman" pitchFamily="18" charset="0"/>
                </a:rPr>
                <a:t>r1</a:t>
              </a:r>
              <a:endParaRPr lang="en-US" altLang="en-US" sz="1800">
                <a:latin typeface="Times New Roman" pitchFamily="18" charset="0"/>
              </a:endParaRPr>
            </a:p>
          </p:txBody>
        </p:sp>
        <p:sp>
          <p:nvSpPr>
            <p:cNvPr id="31134" name="Text Box 165"/>
            <p:cNvSpPr txBox="1">
              <a:spLocks noChangeArrowheads="1"/>
            </p:cNvSpPr>
            <p:nvPr/>
          </p:nvSpPr>
          <p:spPr bwMode="auto">
            <a:xfrm>
              <a:off x="1971" y="218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31135" name="Text Box 166"/>
            <p:cNvSpPr txBox="1">
              <a:spLocks noChangeArrowheads="1"/>
            </p:cNvSpPr>
            <p:nvPr/>
          </p:nvSpPr>
          <p:spPr bwMode="auto">
            <a:xfrm>
              <a:off x="1320" y="2187"/>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a1</a:t>
              </a:r>
            </a:p>
          </p:txBody>
        </p:sp>
        <p:sp>
          <p:nvSpPr>
            <p:cNvPr id="31136" name="Text Box 167"/>
            <p:cNvSpPr txBox="1">
              <a:spLocks noChangeArrowheads="1"/>
            </p:cNvSpPr>
            <p:nvPr/>
          </p:nvSpPr>
          <p:spPr bwMode="auto">
            <a:xfrm>
              <a:off x="1512" y="2619"/>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31137" name="Text Box 168"/>
            <p:cNvSpPr txBox="1">
              <a:spLocks noChangeArrowheads="1"/>
            </p:cNvSpPr>
            <p:nvPr/>
          </p:nvSpPr>
          <p:spPr bwMode="auto">
            <a:xfrm>
              <a:off x="1416" y="2427"/>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l2 </a:t>
              </a:r>
              <a:r>
                <a:rPr lang="en-US" altLang="en-US" sz="1800">
                  <a:latin typeface="Times New Roman" pitchFamily="18" charset="0"/>
                </a:rPr>
                <a:t>= 0</a:t>
              </a:r>
            </a:p>
          </p:txBody>
        </p:sp>
        <p:sp>
          <p:nvSpPr>
            <p:cNvPr id="31138" name="Text Box 169"/>
            <p:cNvSpPr txBox="1">
              <a:spLocks noChangeArrowheads="1"/>
            </p:cNvSpPr>
            <p:nvPr/>
          </p:nvSpPr>
          <p:spPr bwMode="auto">
            <a:xfrm>
              <a:off x="2092" y="2427"/>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1139" name="Text Box 170"/>
            <p:cNvSpPr txBox="1">
              <a:spLocks noChangeArrowheads="1"/>
            </p:cNvSpPr>
            <p:nvPr/>
          </p:nvSpPr>
          <p:spPr bwMode="auto">
            <a:xfrm>
              <a:off x="2520" y="2427"/>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1140" name="Text Box 171"/>
            <p:cNvSpPr txBox="1">
              <a:spLocks noChangeArrowheads="1"/>
            </p:cNvSpPr>
            <p:nvPr/>
          </p:nvSpPr>
          <p:spPr bwMode="auto">
            <a:xfrm>
              <a:off x="2952" y="2427"/>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1141" name="Text Box 172"/>
            <p:cNvSpPr txBox="1">
              <a:spLocks noChangeArrowheads="1"/>
            </p:cNvSpPr>
            <p:nvPr/>
          </p:nvSpPr>
          <p:spPr bwMode="auto">
            <a:xfrm>
              <a:off x="3288" y="2427"/>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 = </a:t>
              </a:r>
              <a:r>
                <a:rPr lang="en-US" altLang="en-US" sz="1800" i="1">
                  <a:latin typeface="Times New Roman" pitchFamily="18" charset="0"/>
                </a:rPr>
                <a:t>r2</a:t>
              </a:r>
              <a:endParaRPr lang="en-US" altLang="en-US" sz="1800">
                <a:latin typeface="Times New Roman" pitchFamily="18" charset="0"/>
              </a:endParaRPr>
            </a:p>
          </p:txBody>
        </p:sp>
        <p:sp>
          <p:nvSpPr>
            <p:cNvPr id="31142" name="Text Box 173"/>
            <p:cNvSpPr txBox="1">
              <a:spLocks noChangeArrowheads="1"/>
            </p:cNvSpPr>
            <p:nvPr/>
          </p:nvSpPr>
          <p:spPr bwMode="auto">
            <a:xfrm>
              <a:off x="1971" y="261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31143" name="Text Box 174"/>
            <p:cNvSpPr txBox="1">
              <a:spLocks noChangeArrowheads="1"/>
            </p:cNvSpPr>
            <p:nvPr/>
          </p:nvSpPr>
          <p:spPr bwMode="auto">
            <a:xfrm>
              <a:off x="2403" y="261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31144" name="Text Box 175"/>
            <p:cNvSpPr txBox="1">
              <a:spLocks noChangeArrowheads="1"/>
            </p:cNvSpPr>
            <p:nvPr/>
          </p:nvSpPr>
          <p:spPr bwMode="auto">
            <a:xfrm>
              <a:off x="2835" y="261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31145" name="Text Box 176"/>
            <p:cNvSpPr txBox="1">
              <a:spLocks noChangeArrowheads="1"/>
            </p:cNvSpPr>
            <p:nvPr/>
          </p:nvSpPr>
          <p:spPr bwMode="auto">
            <a:xfrm>
              <a:off x="3267" y="261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31146" name="Text Box 177"/>
            <p:cNvSpPr txBox="1">
              <a:spLocks noChangeArrowheads="1"/>
            </p:cNvSpPr>
            <p:nvPr/>
          </p:nvSpPr>
          <p:spPr bwMode="auto">
            <a:xfrm>
              <a:off x="1320" y="2619"/>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a2</a:t>
              </a:r>
            </a:p>
          </p:txBody>
        </p:sp>
        <p:sp>
          <p:nvSpPr>
            <p:cNvPr id="31147" name="Text Box 178"/>
            <p:cNvSpPr txBox="1">
              <a:spLocks noChangeArrowheads="1"/>
            </p:cNvSpPr>
            <p:nvPr/>
          </p:nvSpPr>
          <p:spPr bwMode="auto">
            <a:xfrm>
              <a:off x="1512" y="3051"/>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31148" name="Text Box 179"/>
            <p:cNvSpPr txBox="1">
              <a:spLocks noChangeArrowheads="1"/>
            </p:cNvSpPr>
            <p:nvPr/>
          </p:nvSpPr>
          <p:spPr bwMode="auto">
            <a:xfrm>
              <a:off x="1416" y="2859"/>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l3 </a:t>
              </a:r>
              <a:r>
                <a:rPr lang="en-US" altLang="en-US" sz="1800">
                  <a:latin typeface="Times New Roman" pitchFamily="18" charset="0"/>
                </a:rPr>
                <a:t>= 0</a:t>
              </a:r>
            </a:p>
          </p:txBody>
        </p:sp>
        <p:sp>
          <p:nvSpPr>
            <p:cNvPr id="31149" name="Text Box 180"/>
            <p:cNvSpPr txBox="1">
              <a:spLocks noChangeArrowheads="1"/>
            </p:cNvSpPr>
            <p:nvPr/>
          </p:nvSpPr>
          <p:spPr bwMode="auto">
            <a:xfrm>
              <a:off x="2092" y="285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1150" name="Text Box 181"/>
            <p:cNvSpPr txBox="1">
              <a:spLocks noChangeArrowheads="1"/>
            </p:cNvSpPr>
            <p:nvPr/>
          </p:nvSpPr>
          <p:spPr bwMode="auto">
            <a:xfrm>
              <a:off x="2520" y="285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1151" name="Text Box 182"/>
            <p:cNvSpPr txBox="1">
              <a:spLocks noChangeArrowheads="1"/>
            </p:cNvSpPr>
            <p:nvPr/>
          </p:nvSpPr>
          <p:spPr bwMode="auto">
            <a:xfrm>
              <a:off x="2952" y="285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1152" name="Text Box 183"/>
            <p:cNvSpPr txBox="1">
              <a:spLocks noChangeArrowheads="1"/>
            </p:cNvSpPr>
            <p:nvPr/>
          </p:nvSpPr>
          <p:spPr bwMode="auto">
            <a:xfrm>
              <a:off x="3384" y="285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31153" name="Text Box 184"/>
            <p:cNvSpPr txBox="1">
              <a:spLocks noChangeArrowheads="1"/>
            </p:cNvSpPr>
            <p:nvPr/>
          </p:nvSpPr>
          <p:spPr bwMode="auto">
            <a:xfrm>
              <a:off x="3816" y="285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31154" name="Text Box 185"/>
            <p:cNvSpPr txBox="1">
              <a:spLocks noChangeArrowheads="1"/>
            </p:cNvSpPr>
            <p:nvPr/>
          </p:nvSpPr>
          <p:spPr bwMode="auto">
            <a:xfrm>
              <a:off x="1971" y="305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155" name="Text Box 186"/>
            <p:cNvSpPr txBox="1">
              <a:spLocks noChangeArrowheads="1"/>
            </p:cNvSpPr>
            <p:nvPr/>
          </p:nvSpPr>
          <p:spPr bwMode="auto">
            <a:xfrm>
              <a:off x="2403" y="305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156" name="Text Box 187"/>
            <p:cNvSpPr txBox="1">
              <a:spLocks noChangeArrowheads="1"/>
            </p:cNvSpPr>
            <p:nvPr/>
          </p:nvSpPr>
          <p:spPr bwMode="auto">
            <a:xfrm>
              <a:off x="2835" y="305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157" name="Text Box 188"/>
            <p:cNvSpPr txBox="1">
              <a:spLocks noChangeArrowheads="1"/>
            </p:cNvSpPr>
            <p:nvPr/>
          </p:nvSpPr>
          <p:spPr bwMode="auto">
            <a:xfrm>
              <a:off x="3267" y="305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158" name="Text Box 189"/>
            <p:cNvSpPr txBox="1">
              <a:spLocks noChangeArrowheads="1"/>
            </p:cNvSpPr>
            <p:nvPr/>
          </p:nvSpPr>
          <p:spPr bwMode="auto">
            <a:xfrm>
              <a:off x="3699" y="305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159" name="Text Box 190"/>
            <p:cNvSpPr txBox="1">
              <a:spLocks noChangeArrowheads="1"/>
            </p:cNvSpPr>
            <p:nvPr/>
          </p:nvSpPr>
          <p:spPr bwMode="auto">
            <a:xfrm>
              <a:off x="4131" y="305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160" name="Text Box 191"/>
            <p:cNvSpPr txBox="1">
              <a:spLocks noChangeArrowheads="1"/>
            </p:cNvSpPr>
            <p:nvPr/>
          </p:nvSpPr>
          <p:spPr bwMode="auto">
            <a:xfrm>
              <a:off x="1320" y="3051"/>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a3</a:t>
              </a:r>
            </a:p>
          </p:txBody>
        </p:sp>
        <p:sp>
          <p:nvSpPr>
            <p:cNvPr id="31161" name="Text Box 192"/>
            <p:cNvSpPr txBox="1">
              <a:spLocks noChangeArrowheads="1"/>
            </p:cNvSpPr>
            <p:nvPr/>
          </p:nvSpPr>
          <p:spPr bwMode="auto">
            <a:xfrm>
              <a:off x="4251" y="285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31162" name="Text Box 193"/>
            <p:cNvSpPr txBox="1">
              <a:spLocks noChangeArrowheads="1"/>
            </p:cNvSpPr>
            <p:nvPr/>
          </p:nvSpPr>
          <p:spPr bwMode="auto">
            <a:xfrm>
              <a:off x="4899" y="305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1</a:t>
              </a:r>
            </a:p>
          </p:txBody>
        </p:sp>
        <p:sp>
          <p:nvSpPr>
            <p:cNvPr id="31163" name="Text Box 194"/>
            <p:cNvSpPr txBox="1">
              <a:spLocks noChangeArrowheads="1"/>
            </p:cNvSpPr>
            <p:nvPr/>
          </p:nvSpPr>
          <p:spPr bwMode="auto">
            <a:xfrm>
              <a:off x="4707" y="3051"/>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k</a:t>
              </a:r>
            </a:p>
          </p:txBody>
        </p:sp>
        <p:sp>
          <p:nvSpPr>
            <p:cNvPr id="31164" name="Text Box 195"/>
            <p:cNvSpPr txBox="1">
              <a:spLocks noChangeArrowheads="1"/>
            </p:cNvSpPr>
            <p:nvPr/>
          </p:nvSpPr>
          <p:spPr bwMode="auto">
            <a:xfrm>
              <a:off x="4899" y="261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1</a:t>
              </a:r>
            </a:p>
          </p:txBody>
        </p:sp>
        <p:sp>
          <p:nvSpPr>
            <p:cNvPr id="31165" name="Text Box 196"/>
            <p:cNvSpPr txBox="1">
              <a:spLocks noChangeArrowheads="1"/>
            </p:cNvSpPr>
            <p:nvPr/>
          </p:nvSpPr>
          <p:spPr bwMode="auto">
            <a:xfrm>
              <a:off x="4728" y="2619"/>
              <a:ext cx="1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j</a:t>
              </a:r>
            </a:p>
          </p:txBody>
        </p:sp>
        <p:sp>
          <p:nvSpPr>
            <p:cNvPr id="31166" name="Text Box 197"/>
            <p:cNvSpPr txBox="1">
              <a:spLocks noChangeArrowheads="1"/>
            </p:cNvSpPr>
            <p:nvPr/>
          </p:nvSpPr>
          <p:spPr bwMode="auto">
            <a:xfrm>
              <a:off x="4899" y="218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0</a:t>
              </a:r>
            </a:p>
          </p:txBody>
        </p:sp>
        <p:sp>
          <p:nvSpPr>
            <p:cNvPr id="31167" name="Text Box 198"/>
            <p:cNvSpPr txBox="1">
              <a:spLocks noChangeArrowheads="1"/>
            </p:cNvSpPr>
            <p:nvPr/>
          </p:nvSpPr>
          <p:spPr bwMode="auto">
            <a:xfrm>
              <a:off x="4707" y="2187"/>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i</a:t>
              </a:r>
            </a:p>
          </p:txBody>
        </p:sp>
      </p:grpSp>
      <p:grpSp>
        <p:nvGrpSpPr>
          <p:cNvPr id="7" name="Group 608"/>
          <p:cNvGrpSpPr>
            <a:grpSpLocks/>
          </p:cNvGrpSpPr>
          <p:nvPr/>
        </p:nvGrpSpPr>
        <p:grpSpPr bwMode="auto">
          <a:xfrm>
            <a:off x="571501" y="2030413"/>
            <a:ext cx="6705600" cy="4724400"/>
            <a:chOff x="1224" y="346"/>
            <a:chExt cx="4224" cy="2976"/>
          </a:xfrm>
        </p:grpSpPr>
        <p:sp>
          <p:nvSpPr>
            <p:cNvPr id="31090" name="Rectangle 200"/>
            <p:cNvSpPr>
              <a:spLocks noChangeArrowheads="1"/>
            </p:cNvSpPr>
            <p:nvPr/>
          </p:nvSpPr>
          <p:spPr bwMode="auto">
            <a:xfrm>
              <a:off x="1224" y="346"/>
              <a:ext cx="4224" cy="2976"/>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31091" name="Text Box 201"/>
            <p:cNvSpPr txBox="1">
              <a:spLocks noChangeArrowheads="1"/>
            </p:cNvSpPr>
            <p:nvPr/>
          </p:nvSpPr>
          <p:spPr bwMode="auto">
            <a:xfrm>
              <a:off x="1272" y="384"/>
              <a:ext cx="4128" cy="1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merge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l1</a:t>
              </a:r>
              <a:r>
                <a:rPr lang="en-US" altLang="en-US" sz="2000">
                  <a:latin typeface="Times New Roman" pitchFamily="18" charset="0"/>
                </a:rPr>
                <a:t>…</a:t>
              </a:r>
              <a:r>
                <a:rPr lang="en-US" altLang="en-US" sz="2000" i="1">
                  <a:latin typeface="Times New Roman" pitchFamily="18" charset="0"/>
                </a:rPr>
                <a:t>r1</a:t>
              </a:r>
              <a:r>
                <a:rPr lang="en-US" altLang="en-US" sz="2000">
                  <a:latin typeface="Times New Roman" pitchFamily="18" charset="0"/>
                </a:rPr>
                <a:t>] and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l2</a:t>
              </a:r>
              <a:r>
                <a:rPr lang="en-US" altLang="en-US" sz="2000">
                  <a:latin typeface="Times New Roman" pitchFamily="18" charset="0"/>
                </a:rPr>
                <a:t>…</a:t>
              </a:r>
              <a:r>
                <a:rPr lang="en-US" altLang="en-US" sz="2000" i="1">
                  <a:latin typeface="Times New Roman" pitchFamily="18" charset="0"/>
                </a:rPr>
                <a:t>r2</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1.	Set </a:t>
              </a:r>
              <a:r>
                <a:rPr lang="en-US" altLang="en-US" sz="2000" i="1">
                  <a:latin typeface="Times New Roman" pitchFamily="18" charset="0"/>
                </a:rPr>
                <a:t>i</a:t>
              </a:r>
              <a:r>
                <a:rPr lang="en-US" altLang="en-US" sz="2000">
                  <a:latin typeface="Times New Roman" pitchFamily="18" charset="0"/>
                </a:rPr>
                <a:t> = </a:t>
              </a:r>
              <a:r>
                <a:rPr lang="en-US" altLang="en-US" sz="2000" i="1">
                  <a:latin typeface="Times New Roman" pitchFamily="18" charset="0"/>
                </a:rPr>
                <a:t>l1</a:t>
              </a:r>
              <a:r>
                <a:rPr lang="en-US" altLang="en-US" sz="2000">
                  <a:latin typeface="Times New Roman" pitchFamily="18" charset="0"/>
                </a:rPr>
                <a:t>, set </a:t>
              </a:r>
              <a:r>
                <a:rPr lang="en-US" altLang="en-US" sz="2000" i="1">
                  <a:latin typeface="Times New Roman" pitchFamily="18" charset="0"/>
                </a:rPr>
                <a:t>j</a:t>
              </a:r>
              <a:r>
                <a:rPr lang="en-US" altLang="en-US" sz="2000">
                  <a:latin typeface="Times New Roman" pitchFamily="18" charset="0"/>
                </a:rPr>
                <a:t> = </a:t>
              </a:r>
              <a:r>
                <a:rPr lang="en-US" altLang="en-US" sz="2000" i="1">
                  <a:latin typeface="Times New Roman" pitchFamily="18" charset="0"/>
                </a:rPr>
                <a:t>l2</a:t>
              </a:r>
              <a:r>
                <a:rPr lang="en-US" altLang="en-US" sz="2000">
                  <a:latin typeface="Times New Roman" pitchFamily="18" charset="0"/>
                </a:rPr>
                <a:t>, and set </a:t>
              </a:r>
              <a:r>
                <a:rPr lang="en-US" altLang="en-US" sz="2000" i="1">
                  <a:latin typeface="Times New Roman" pitchFamily="18" charset="0"/>
                </a:rPr>
                <a:t>k</a:t>
              </a:r>
              <a:r>
                <a:rPr lang="en-US" altLang="en-US" sz="2000">
                  <a:latin typeface="Times New Roman" pitchFamily="18" charset="0"/>
                </a:rPr>
                <a:t> = </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While </a:t>
              </a:r>
              <a:r>
                <a:rPr lang="en-US" altLang="en-US" sz="2000" i="1">
                  <a:latin typeface="Times New Roman" pitchFamily="18" charset="0"/>
                </a:rPr>
                <a:t>i</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r1</a:t>
              </a:r>
              <a:r>
                <a:rPr lang="en-US" altLang="en-US" sz="2000">
                  <a:latin typeface="Times New Roman" pitchFamily="18" charset="0"/>
                </a:rPr>
                <a:t> and </a:t>
              </a:r>
              <a:r>
                <a:rPr lang="en-US" altLang="en-US" sz="2000" i="1">
                  <a:latin typeface="Times New Roman" pitchFamily="18" charset="0"/>
                </a:rPr>
                <a:t>j</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r2</a:t>
              </a:r>
              <a:r>
                <a:rPr lang="en-US" altLang="en-US" sz="2000">
                  <a:latin typeface="Times New Roman" pitchFamily="18" charset="0"/>
                </a:rPr>
                <a:t>, repeat:</a:t>
              </a:r>
              <a:br>
                <a:rPr lang="en-US" altLang="en-US" sz="2000">
                  <a:latin typeface="Times New Roman" pitchFamily="18" charset="0"/>
                </a:rPr>
              </a:br>
              <a:r>
                <a:rPr lang="en-US" altLang="en-US" sz="2000">
                  <a:latin typeface="Times New Roman" pitchFamily="18" charset="0"/>
                </a:rPr>
                <a:t>	2.1.	</a:t>
              </a:r>
              <a:r>
                <a:rPr lang="en-US" altLang="en-US" sz="2000">
                  <a:solidFill>
                    <a:srgbClr val="FF0000"/>
                  </a:solidFill>
                  <a:latin typeface="Times New Roman" pitchFamily="18" charset="0"/>
                </a:rPr>
                <a:t>If </a:t>
              </a:r>
              <a:r>
                <a:rPr lang="en-US" altLang="en-US" sz="2000" i="1">
                  <a:solidFill>
                    <a:srgbClr val="FF0000"/>
                  </a:solidFill>
                  <a:latin typeface="Times New Roman" pitchFamily="18" charset="0"/>
                </a:rPr>
                <a:t>a1</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i</a:t>
              </a:r>
              <a:r>
                <a:rPr lang="en-US" altLang="en-US" sz="2000">
                  <a:solidFill>
                    <a:srgbClr val="FF0000"/>
                  </a:solidFill>
                  <a:latin typeface="Times New Roman" pitchFamily="18" charset="0"/>
                </a:rPr>
                <a:t>] is less than or equal to </a:t>
              </a:r>
              <a:r>
                <a:rPr lang="en-US" altLang="en-US" sz="2000" i="1">
                  <a:solidFill>
                    <a:srgbClr val="FF0000"/>
                  </a:solidFill>
                  <a:latin typeface="Times New Roman" pitchFamily="18" charset="0"/>
                </a:rPr>
                <a:t>a2</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j</a:t>
              </a:r>
              <a:r>
                <a:rPr lang="en-US" altLang="en-US" sz="2000">
                  <a:solidFill>
                    <a:srgbClr val="FF0000"/>
                  </a:solidFill>
                  <a:latin typeface="Times New Roman" pitchFamily="18" charset="0"/>
                </a:rPr>
                <a:t>]:</a:t>
              </a:r>
              <a:br>
                <a:rPr lang="en-US" altLang="en-US" sz="2000">
                  <a:latin typeface="Times New Roman" pitchFamily="18" charset="0"/>
                </a:rPr>
              </a:br>
              <a:r>
                <a:rPr lang="en-US" altLang="en-US" sz="2000">
                  <a:latin typeface="Times New Roman" pitchFamily="18" charset="0"/>
                </a:rPr>
                <a:t>		2.1.1.	</a:t>
              </a:r>
              <a:r>
                <a:rPr lang="en-US" altLang="en-US" sz="2000">
                  <a:solidFill>
                    <a:srgbClr val="FF0000"/>
                  </a:solidFill>
                  <a:latin typeface="Times New Roman" pitchFamily="18" charset="0"/>
                </a:rPr>
                <a:t>Copy </a:t>
              </a:r>
              <a:r>
                <a:rPr lang="en-US" altLang="en-US" sz="2000" i="1">
                  <a:solidFill>
                    <a:srgbClr val="FF0000"/>
                  </a:solidFill>
                  <a:latin typeface="Times New Roman" pitchFamily="18" charset="0"/>
                </a:rPr>
                <a:t>a1</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i</a:t>
              </a:r>
              <a:r>
                <a:rPr lang="en-US" altLang="en-US" sz="2000">
                  <a:solidFill>
                    <a:srgbClr val="FF0000"/>
                  </a:solidFill>
                  <a:latin typeface="Times New Roman" pitchFamily="18" charset="0"/>
                </a:rPr>
                <a:t>] into </a:t>
              </a:r>
              <a:r>
                <a:rPr lang="en-US" altLang="en-US" sz="2000" i="1">
                  <a:solidFill>
                    <a:srgbClr val="FF0000"/>
                  </a:solidFill>
                  <a:latin typeface="Times New Roman" pitchFamily="18" charset="0"/>
                </a:rPr>
                <a:t>a3</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k</a:t>
              </a:r>
              <a:r>
                <a:rPr lang="en-US" altLang="en-US" sz="2000">
                  <a:solidFill>
                    <a:srgbClr val="FF0000"/>
                  </a:solidFill>
                  <a:latin typeface="Times New Roman" pitchFamily="18" charset="0"/>
                </a:rPr>
                <a:t>], then increment </a:t>
              </a:r>
              <a:r>
                <a:rPr lang="en-US" altLang="en-US" sz="2000" i="1">
                  <a:solidFill>
                    <a:srgbClr val="FF0000"/>
                  </a:solidFill>
                  <a:latin typeface="Times New Roman" pitchFamily="18" charset="0"/>
                </a:rPr>
                <a:t>i</a:t>
              </a:r>
              <a:r>
                <a:rPr lang="en-US" altLang="en-US" sz="2000">
                  <a:solidFill>
                    <a:srgbClr val="FF0000"/>
                  </a:solidFill>
                  <a:latin typeface="Times New Roman" pitchFamily="18" charset="0"/>
                </a:rPr>
                <a:t> and </a:t>
              </a:r>
              <a:r>
                <a:rPr lang="en-US" altLang="en-US" sz="2000" i="1">
                  <a:solidFill>
                    <a:srgbClr val="FF0000"/>
                  </a:solidFill>
                  <a:latin typeface="Times New Roman" pitchFamily="18" charset="0"/>
                </a:rPr>
                <a:t>k</a:t>
              </a:r>
              <a:r>
                <a:rPr lang="en-US" altLang="en-US" sz="2000">
                  <a:solidFill>
                    <a:srgbClr val="FF0000"/>
                  </a:solidFill>
                  <a:latin typeface="Times New Roman" pitchFamily="18" charset="0"/>
                </a:rPr>
                <a:t>.</a:t>
              </a:r>
              <a:br>
                <a:rPr lang="en-US" altLang="en-US" sz="2000">
                  <a:latin typeface="Times New Roman" pitchFamily="18" charset="0"/>
                </a:rPr>
              </a:br>
              <a:r>
                <a:rPr lang="en-US" altLang="en-US" sz="2000">
                  <a:latin typeface="Times New Roman" pitchFamily="18" charset="0"/>
                </a:rPr>
                <a:t>	2.2.	Else:</a:t>
              </a:r>
              <a:br>
                <a:rPr lang="en-US" altLang="en-US" sz="2000">
                  <a:latin typeface="Times New Roman" pitchFamily="18" charset="0"/>
                </a:rPr>
              </a:br>
              <a:r>
                <a:rPr lang="en-US" altLang="en-US" sz="2000">
                  <a:latin typeface="Times New Roman" pitchFamily="18" charset="0"/>
                </a:rPr>
                <a:t>		2.2.1.	Copy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j</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k</a:t>
              </a:r>
              <a:r>
                <a:rPr lang="en-US" altLang="en-US" sz="2000">
                  <a:latin typeface="Times New Roman" pitchFamily="18" charset="0"/>
                </a:rPr>
                <a:t>], then increment </a:t>
              </a:r>
              <a:r>
                <a:rPr lang="en-US" altLang="en-US" sz="2000" i="1">
                  <a:latin typeface="Times New Roman" pitchFamily="18" charset="0"/>
                </a:rPr>
                <a:t>j</a:t>
              </a:r>
              <a:r>
                <a:rPr lang="en-US" altLang="en-US" sz="2000">
                  <a:latin typeface="Times New Roman" pitchFamily="18" charset="0"/>
                </a:rPr>
                <a:t> and </a:t>
              </a:r>
              <a:r>
                <a:rPr lang="en-US" altLang="en-US" sz="2000" i="1">
                  <a:latin typeface="Times New Roman" pitchFamily="18" charset="0"/>
                </a:rPr>
                <a:t>k</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a:t>
              </a:r>
            </a:p>
          </p:txBody>
        </p:sp>
        <p:sp>
          <p:nvSpPr>
            <p:cNvPr id="31092" name="Text Box 202"/>
            <p:cNvSpPr txBox="1">
              <a:spLocks noChangeArrowheads="1"/>
            </p:cNvSpPr>
            <p:nvPr/>
          </p:nvSpPr>
          <p:spPr bwMode="auto">
            <a:xfrm>
              <a:off x="1512" y="2170"/>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31093" name="Text Box 203"/>
            <p:cNvSpPr txBox="1">
              <a:spLocks noChangeArrowheads="1"/>
            </p:cNvSpPr>
            <p:nvPr/>
          </p:nvSpPr>
          <p:spPr bwMode="auto">
            <a:xfrm>
              <a:off x="1416" y="1978"/>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l1 </a:t>
              </a:r>
              <a:r>
                <a:rPr lang="en-US" altLang="en-US" sz="1800">
                  <a:latin typeface="Times New Roman" pitchFamily="18" charset="0"/>
                </a:rPr>
                <a:t>= 0</a:t>
              </a:r>
            </a:p>
          </p:txBody>
        </p:sp>
        <p:sp>
          <p:nvSpPr>
            <p:cNvPr id="31094" name="Text Box 204"/>
            <p:cNvSpPr txBox="1">
              <a:spLocks noChangeArrowheads="1"/>
            </p:cNvSpPr>
            <p:nvPr/>
          </p:nvSpPr>
          <p:spPr bwMode="auto">
            <a:xfrm>
              <a:off x="1992" y="1978"/>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 = </a:t>
              </a:r>
              <a:r>
                <a:rPr lang="en-US" altLang="en-US" sz="1800" i="1">
                  <a:latin typeface="Times New Roman" pitchFamily="18" charset="0"/>
                </a:rPr>
                <a:t>r1</a:t>
              </a:r>
              <a:endParaRPr lang="en-US" altLang="en-US" sz="1800">
                <a:latin typeface="Times New Roman" pitchFamily="18" charset="0"/>
              </a:endParaRPr>
            </a:p>
          </p:txBody>
        </p:sp>
        <p:sp>
          <p:nvSpPr>
            <p:cNvPr id="31095" name="Text Box 205"/>
            <p:cNvSpPr txBox="1">
              <a:spLocks noChangeArrowheads="1"/>
            </p:cNvSpPr>
            <p:nvPr/>
          </p:nvSpPr>
          <p:spPr bwMode="auto">
            <a:xfrm>
              <a:off x="1971" y="217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31096" name="Text Box 206"/>
            <p:cNvSpPr txBox="1">
              <a:spLocks noChangeArrowheads="1"/>
            </p:cNvSpPr>
            <p:nvPr/>
          </p:nvSpPr>
          <p:spPr bwMode="auto">
            <a:xfrm>
              <a:off x="1320" y="217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a1</a:t>
              </a:r>
            </a:p>
          </p:txBody>
        </p:sp>
        <p:sp>
          <p:nvSpPr>
            <p:cNvPr id="31097" name="Text Box 207"/>
            <p:cNvSpPr txBox="1">
              <a:spLocks noChangeArrowheads="1"/>
            </p:cNvSpPr>
            <p:nvPr/>
          </p:nvSpPr>
          <p:spPr bwMode="auto">
            <a:xfrm>
              <a:off x="1512" y="2602"/>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31098" name="Text Box 208"/>
            <p:cNvSpPr txBox="1">
              <a:spLocks noChangeArrowheads="1"/>
            </p:cNvSpPr>
            <p:nvPr/>
          </p:nvSpPr>
          <p:spPr bwMode="auto">
            <a:xfrm>
              <a:off x="1416" y="2410"/>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l2 </a:t>
              </a:r>
              <a:r>
                <a:rPr lang="en-US" altLang="en-US" sz="1800">
                  <a:latin typeface="Times New Roman" pitchFamily="18" charset="0"/>
                </a:rPr>
                <a:t>= 0</a:t>
              </a:r>
            </a:p>
          </p:txBody>
        </p:sp>
        <p:sp>
          <p:nvSpPr>
            <p:cNvPr id="31099" name="Text Box 209"/>
            <p:cNvSpPr txBox="1">
              <a:spLocks noChangeArrowheads="1"/>
            </p:cNvSpPr>
            <p:nvPr/>
          </p:nvSpPr>
          <p:spPr bwMode="auto">
            <a:xfrm>
              <a:off x="2092" y="241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1100" name="Text Box 210"/>
            <p:cNvSpPr txBox="1">
              <a:spLocks noChangeArrowheads="1"/>
            </p:cNvSpPr>
            <p:nvPr/>
          </p:nvSpPr>
          <p:spPr bwMode="auto">
            <a:xfrm>
              <a:off x="2520" y="241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1101" name="Text Box 211"/>
            <p:cNvSpPr txBox="1">
              <a:spLocks noChangeArrowheads="1"/>
            </p:cNvSpPr>
            <p:nvPr/>
          </p:nvSpPr>
          <p:spPr bwMode="auto">
            <a:xfrm>
              <a:off x="2952" y="241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1102" name="Text Box 212"/>
            <p:cNvSpPr txBox="1">
              <a:spLocks noChangeArrowheads="1"/>
            </p:cNvSpPr>
            <p:nvPr/>
          </p:nvSpPr>
          <p:spPr bwMode="auto">
            <a:xfrm>
              <a:off x="3288" y="2410"/>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 = </a:t>
              </a:r>
              <a:r>
                <a:rPr lang="en-US" altLang="en-US" sz="1800" i="1">
                  <a:latin typeface="Times New Roman" pitchFamily="18" charset="0"/>
                </a:rPr>
                <a:t>r2</a:t>
              </a:r>
              <a:endParaRPr lang="en-US" altLang="en-US" sz="1800">
                <a:latin typeface="Times New Roman" pitchFamily="18" charset="0"/>
              </a:endParaRPr>
            </a:p>
          </p:txBody>
        </p:sp>
        <p:sp>
          <p:nvSpPr>
            <p:cNvPr id="31103" name="Text Box 213"/>
            <p:cNvSpPr txBox="1">
              <a:spLocks noChangeArrowheads="1"/>
            </p:cNvSpPr>
            <p:nvPr/>
          </p:nvSpPr>
          <p:spPr bwMode="auto">
            <a:xfrm>
              <a:off x="1971"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31104" name="Text Box 214"/>
            <p:cNvSpPr txBox="1">
              <a:spLocks noChangeArrowheads="1"/>
            </p:cNvSpPr>
            <p:nvPr/>
          </p:nvSpPr>
          <p:spPr bwMode="auto">
            <a:xfrm>
              <a:off x="2403"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31105" name="Text Box 215"/>
            <p:cNvSpPr txBox="1">
              <a:spLocks noChangeArrowheads="1"/>
            </p:cNvSpPr>
            <p:nvPr/>
          </p:nvSpPr>
          <p:spPr bwMode="auto">
            <a:xfrm>
              <a:off x="2835"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31106" name="Text Box 216"/>
            <p:cNvSpPr txBox="1">
              <a:spLocks noChangeArrowheads="1"/>
            </p:cNvSpPr>
            <p:nvPr/>
          </p:nvSpPr>
          <p:spPr bwMode="auto">
            <a:xfrm>
              <a:off x="3267"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31107" name="Text Box 217"/>
            <p:cNvSpPr txBox="1">
              <a:spLocks noChangeArrowheads="1"/>
            </p:cNvSpPr>
            <p:nvPr/>
          </p:nvSpPr>
          <p:spPr bwMode="auto">
            <a:xfrm>
              <a:off x="1320" y="2602"/>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a2</a:t>
              </a:r>
            </a:p>
          </p:txBody>
        </p:sp>
        <p:sp>
          <p:nvSpPr>
            <p:cNvPr id="31108" name="Text Box 218"/>
            <p:cNvSpPr txBox="1">
              <a:spLocks noChangeArrowheads="1"/>
            </p:cNvSpPr>
            <p:nvPr/>
          </p:nvSpPr>
          <p:spPr bwMode="auto">
            <a:xfrm>
              <a:off x="1512" y="30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31109" name="Text Box 219"/>
            <p:cNvSpPr txBox="1">
              <a:spLocks noChangeArrowheads="1"/>
            </p:cNvSpPr>
            <p:nvPr/>
          </p:nvSpPr>
          <p:spPr bwMode="auto">
            <a:xfrm>
              <a:off x="1416" y="2842"/>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l3 </a:t>
              </a:r>
              <a:r>
                <a:rPr lang="en-US" altLang="en-US" sz="1800">
                  <a:latin typeface="Times New Roman" pitchFamily="18" charset="0"/>
                </a:rPr>
                <a:t>= 0</a:t>
              </a:r>
            </a:p>
          </p:txBody>
        </p:sp>
        <p:sp>
          <p:nvSpPr>
            <p:cNvPr id="31110" name="Text Box 220"/>
            <p:cNvSpPr txBox="1">
              <a:spLocks noChangeArrowheads="1"/>
            </p:cNvSpPr>
            <p:nvPr/>
          </p:nvSpPr>
          <p:spPr bwMode="auto">
            <a:xfrm>
              <a:off x="2092"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1111" name="Text Box 221"/>
            <p:cNvSpPr txBox="1">
              <a:spLocks noChangeArrowheads="1"/>
            </p:cNvSpPr>
            <p:nvPr/>
          </p:nvSpPr>
          <p:spPr bwMode="auto">
            <a:xfrm>
              <a:off x="2520"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1112" name="Text Box 222"/>
            <p:cNvSpPr txBox="1">
              <a:spLocks noChangeArrowheads="1"/>
            </p:cNvSpPr>
            <p:nvPr/>
          </p:nvSpPr>
          <p:spPr bwMode="auto">
            <a:xfrm>
              <a:off x="2952"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1113" name="Text Box 223"/>
            <p:cNvSpPr txBox="1">
              <a:spLocks noChangeArrowheads="1"/>
            </p:cNvSpPr>
            <p:nvPr/>
          </p:nvSpPr>
          <p:spPr bwMode="auto">
            <a:xfrm>
              <a:off x="3384"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31114" name="Text Box 224"/>
            <p:cNvSpPr txBox="1">
              <a:spLocks noChangeArrowheads="1"/>
            </p:cNvSpPr>
            <p:nvPr/>
          </p:nvSpPr>
          <p:spPr bwMode="auto">
            <a:xfrm>
              <a:off x="3816"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31115" name="Text Box 225"/>
            <p:cNvSpPr txBox="1">
              <a:spLocks noChangeArrowheads="1"/>
            </p:cNvSpPr>
            <p:nvPr/>
          </p:nvSpPr>
          <p:spPr bwMode="auto">
            <a:xfrm>
              <a:off x="1971" y="30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31116" name="Text Box 226"/>
            <p:cNvSpPr txBox="1">
              <a:spLocks noChangeArrowheads="1"/>
            </p:cNvSpPr>
            <p:nvPr/>
          </p:nvSpPr>
          <p:spPr bwMode="auto">
            <a:xfrm>
              <a:off x="2403"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117" name="Text Box 227"/>
            <p:cNvSpPr txBox="1">
              <a:spLocks noChangeArrowheads="1"/>
            </p:cNvSpPr>
            <p:nvPr/>
          </p:nvSpPr>
          <p:spPr bwMode="auto">
            <a:xfrm>
              <a:off x="2835"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118" name="Text Box 228"/>
            <p:cNvSpPr txBox="1">
              <a:spLocks noChangeArrowheads="1"/>
            </p:cNvSpPr>
            <p:nvPr/>
          </p:nvSpPr>
          <p:spPr bwMode="auto">
            <a:xfrm>
              <a:off x="3267"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119" name="Text Box 229"/>
            <p:cNvSpPr txBox="1">
              <a:spLocks noChangeArrowheads="1"/>
            </p:cNvSpPr>
            <p:nvPr/>
          </p:nvSpPr>
          <p:spPr bwMode="auto">
            <a:xfrm>
              <a:off x="3699"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120" name="Text Box 230"/>
            <p:cNvSpPr txBox="1">
              <a:spLocks noChangeArrowheads="1"/>
            </p:cNvSpPr>
            <p:nvPr/>
          </p:nvSpPr>
          <p:spPr bwMode="auto">
            <a:xfrm>
              <a:off x="4131"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121" name="Text Box 231"/>
            <p:cNvSpPr txBox="1">
              <a:spLocks noChangeArrowheads="1"/>
            </p:cNvSpPr>
            <p:nvPr/>
          </p:nvSpPr>
          <p:spPr bwMode="auto">
            <a:xfrm>
              <a:off x="1320" y="303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a3</a:t>
              </a:r>
            </a:p>
          </p:txBody>
        </p:sp>
        <p:sp>
          <p:nvSpPr>
            <p:cNvPr id="31122" name="Text Box 232"/>
            <p:cNvSpPr txBox="1">
              <a:spLocks noChangeArrowheads="1"/>
            </p:cNvSpPr>
            <p:nvPr/>
          </p:nvSpPr>
          <p:spPr bwMode="auto">
            <a:xfrm>
              <a:off x="4251"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31123" name="Text Box 233"/>
            <p:cNvSpPr txBox="1">
              <a:spLocks noChangeArrowheads="1"/>
            </p:cNvSpPr>
            <p:nvPr/>
          </p:nvSpPr>
          <p:spPr bwMode="auto">
            <a:xfrm>
              <a:off x="4899"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2</a:t>
              </a:r>
            </a:p>
          </p:txBody>
        </p:sp>
        <p:sp>
          <p:nvSpPr>
            <p:cNvPr id="31124" name="Text Box 234"/>
            <p:cNvSpPr txBox="1">
              <a:spLocks noChangeArrowheads="1"/>
            </p:cNvSpPr>
            <p:nvPr/>
          </p:nvSpPr>
          <p:spPr bwMode="auto">
            <a:xfrm>
              <a:off x="4707" y="303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k</a:t>
              </a:r>
            </a:p>
          </p:txBody>
        </p:sp>
        <p:sp>
          <p:nvSpPr>
            <p:cNvPr id="31125" name="Text Box 235"/>
            <p:cNvSpPr txBox="1">
              <a:spLocks noChangeArrowheads="1"/>
            </p:cNvSpPr>
            <p:nvPr/>
          </p:nvSpPr>
          <p:spPr bwMode="auto">
            <a:xfrm>
              <a:off x="4899"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1</a:t>
              </a:r>
            </a:p>
          </p:txBody>
        </p:sp>
        <p:sp>
          <p:nvSpPr>
            <p:cNvPr id="31126" name="Text Box 236"/>
            <p:cNvSpPr txBox="1">
              <a:spLocks noChangeArrowheads="1"/>
            </p:cNvSpPr>
            <p:nvPr/>
          </p:nvSpPr>
          <p:spPr bwMode="auto">
            <a:xfrm>
              <a:off x="4728" y="2602"/>
              <a:ext cx="1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j</a:t>
              </a:r>
            </a:p>
          </p:txBody>
        </p:sp>
        <p:sp>
          <p:nvSpPr>
            <p:cNvPr id="31127" name="Text Box 237"/>
            <p:cNvSpPr txBox="1">
              <a:spLocks noChangeArrowheads="1"/>
            </p:cNvSpPr>
            <p:nvPr/>
          </p:nvSpPr>
          <p:spPr bwMode="auto">
            <a:xfrm>
              <a:off x="4899" y="217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1</a:t>
              </a:r>
            </a:p>
          </p:txBody>
        </p:sp>
        <p:sp>
          <p:nvSpPr>
            <p:cNvPr id="31128" name="Text Box 238"/>
            <p:cNvSpPr txBox="1">
              <a:spLocks noChangeArrowheads="1"/>
            </p:cNvSpPr>
            <p:nvPr/>
          </p:nvSpPr>
          <p:spPr bwMode="auto">
            <a:xfrm>
              <a:off x="4707" y="217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i</a:t>
              </a:r>
            </a:p>
          </p:txBody>
        </p:sp>
      </p:grpSp>
      <p:grpSp>
        <p:nvGrpSpPr>
          <p:cNvPr id="8" name="Group 607"/>
          <p:cNvGrpSpPr>
            <a:grpSpLocks/>
          </p:cNvGrpSpPr>
          <p:nvPr/>
        </p:nvGrpSpPr>
        <p:grpSpPr bwMode="auto">
          <a:xfrm>
            <a:off x="571501" y="2039938"/>
            <a:ext cx="6705600" cy="4724400"/>
            <a:chOff x="1224" y="345"/>
            <a:chExt cx="4224" cy="2976"/>
          </a:xfrm>
        </p:grpSpPr>
        <p:sp>
          <p:nvSpPr>
            <p:cNvPr id="31051" name="Rectangle 240"/>
            <p:cNvSpPr>
              <a:spLocks noChangeArrowheads="1"/>
            </p:cNvSpPr>
            <p:nvPr/>
          </p:nvSpPr>
          <p:spPr bwMode="auto">
            <a:xfrm>
              <a:off x="1224" y="345"/>
              <a:ext cx="4224" cy="2976"/>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31052" name="Text Box 241"/>
            <p:cNvSpPr txBox="1">
              <a:spLocks noChangeArrowheads="1"/>
            </p:cNvSpPr>
            <p:nvPr/>
          </p:nvSpPr>
          <p:spPr bwMode="auto">
            <a:xfrm>
              <a:off x="1272" y="383"/>
              <a:ext cx="4128" cy="1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merge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l1</a:t>
              </a:r>
              <a:r>
                <a:rPr lang="en-US" altLang="en-US" sz="2000">
                  <a:latin typeface="Times New Roman" pitchFamily="18" charset="0"/>
                </a:rPr>
                <a:t>…</a:t>
              </a:r>
              <a:r>
                <a:rPr lang="en-US" altLang="en-US" sz="2000" i="1">
                  <a:latin typeface="Times New Roman" pitchFamily="18" charset="0"/>
                </a:rPr>
                <a:t>r1</a:t>
              </a:r>
              <a:r>
                <a:rPr lang="en-US" altLang="en-US" sz="2000">
                  <a:latin typeface="Times New Roman" pitchFamily="18" charset="0"/>
                </a:rPr>
                <a:t>] and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l2</a:t>
              </a:r>
              <a:r>
                <a:rPr lang="en-US" altLang="en-US" sz="2000">
                  <a:latin typeface="Times New Roman" pitchFamily="18" charset="0"/>
                </a:rPr>
                <a:t>…</a:t>
              </a:r>
              <a:r>
                <a:rPr lang="en-US" altLang="en-US" sz="2000" i="1">
                  <a:latin typeface="Times New Roman" pitchFamily="18" charset="0"/>
                </a:rPr>
                <a:t>r2</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1.	Set </a:t>
              </a:r>
              <a:r>
                <a:rPr lang="en-US" altLang="en-US" sz="2000" i="1">
                  <a:latin typeface="Times New Roman" pitchFamily="18" charset="0"/>
                </a:rPr>
                <a:t>i</a:t>
              </a:r>
              <a:r>
                <a:rPr lang="en-US" altLang="en-US" sz="2000">
                  <a:latin typeface="Times New Roman" pitchFamily="18" charset="0"/>
                </a:rPr>
                <a:t> = </a:t>
              </a:r>
              <a:r>
                <a:rPr lang="en-US" altLang="en-US" sz="2000" i="1">
                  <a:latin typeface="Times New Roman" pitchFamily="18" charset="0"/>
                </a:rPr>
                <a:t>l1</a:t>
              </a:r>
              <a:r>
                <a:rPr lang="en-US" altLang="en-US" sz="2000">
                  <a:latin typeface="Times New Roman" pitchFamily="18" charset="0"/>
                </a:rPr>
                <a:t>, set </a:t>
              </a:r>
              <a:r>
                <a:rPr lang="en-US" altLang="en-US" sz="2000" i="1">
                  <a:latin typeface="Times New Roman" pitchFamily="18" charset="0"/>
                </a:rPr>
                <a:t>j</a:t>
              </a:r>
              <a:r>
                <a:rPr lang="en-US" altLang="en-US" sz="2000">
                  <a:latin typeface="Times New Roman" pitchFamily="18" charset="0"/>
                </a:rPr>
                <a:t> = </a:t>
              </a:r>
              <a:r>
                <a:rPr lang="en-US" altLang="en-US" sz="2000" i="1">
                  <a:latin typeface="Times New Roman" pitchFamily="18" charset="0"/>
                </a:rPr>
                <a:t>l2</a:t>
              </a:r>
              <a:r>
                <a:rPr lang="en-US" altLang="en-US" sz="2000">
                  <a:latin typeface="Times New Roman" pitchFamily="18" charset="0"/>
                </a:rPr>
                <a:t>, and set </a:t>
              </a:r>
              <a:r>
                <a:rPr lang="en-US" altLang="en-US" sz="2000" i="1">
                  <a:latin typeface="Times New Roman" pitchFamily="18" charset="0"/>
                </a:rPr>
                <a:t>k</a:t>
              </a:r>
              <a:r>
                <a:rPr lang="en-US" altLang="en-US" sz="2000">
                  <a:latin typeface="Times New Roman" pitchFamily="18" charset="0"/>
                </a:rPr>
                <a:t> = </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a:t>
              </a:r>
              <a:r>
                <a:rPr lang="en-US" altLang="en-US" sz="2000">
                  <a:solidFill>
                    <a:srgbClr val="FF0000"/>
                  </a:solidFill>
                  <a:latin typeface="Times New Roman" pitchFamily="18" charset="0"/>
                </a:rPr>
                <a:t>While </a:t>
              </a:r>
              <a:r>
                <a:rPr lang="en-US" altLang="en-US" sz="2000" i="1">
                  <a:solidFill>
                    <a:srgbClr val="FF0000"/>
                  </a:solidFill>
                  <a:latin typeface="Times New Roman" pitchFamily="18" charset="0"/>
                </a:rPr>
                <a:t>i</a:t>
              </a:r>
              <a:r>
                <a:rPr lang="en-US" altLang="en-US" sz="2000">
                  <a:solidFill>
                    <a:srgbClr val="FF0000"/>
                  </a:solidFill>
                  <a:latin typeface="Times New Roman" pitchFamily="18" charset="0"/>
                </a:rPr>
                <a:t> </a:t>
              </a:r>
              <a:r>
                <a:rPr lang="en-US" altLang="en-US" sz="2000">
                  <a:solidFill>
                    <a:srgbClr val="FF0000"/>
                  </a:solidFill>
                  <a:latin typeface="Times New Roman" pitchFamily="18" charset="0"/>
                  <a:sym typeface="Symbol" pitchFamily="18" charset="2"/>
                </a:rPr>
                <a:t></a:t>
              </a:r>
              <a:r>
                <a:rPr lang="en-US" altLang="en-US" sz="2000">
                  <a:solidFill>
                    <a:srgbClr val="FF0000"/>
                  </a:solidFill>
                  <a:latin typeface="Times New Roman" pitchFamily="18" charset="0"/>
                </a:rPr>
                <a:t> </a:t>
              </a:r>
              <a:r>
                <a:rPr lang="en-US" altLang="en-US" sz="2000" i="1">
                  <a:solidFill>
                    <a:srgbClr val="FF0000"/>
                  </a:solidFill>
                  <a:latin typeface="Times New Roman" pitchFamily="18" charset="0"/>
                </a:rPr>
                <a:t>r1</a:t>
              </a:r>
              <a:r>
                <a:rPr lang="en-US" altLang="en-US" sz="2000">
                  <a:solidFill>
                    <a:srgbClr val="FF0000"/>
                  </a:solidFill>
                  <a:latin typeface="Times New Roman" pitchFamily="18" charset="0"/>
                </a:rPr>
                <a:t> and </a:t>
              </a:r>
              <a:r>
                <a:rPr lang="en-US" altLang="en-US" sz="2000" i="1">
                  <a:solidFill>
                    <a:srgbClr val="FF0000"/>
                  </a:solidFill>
                  <a:latin typeface="Times New Roman" pitchFamily="18" charset="0"/>
                </a:rPr>
                <a:t>j</a:t>
              </a:r>
              <a:r>
                <a:rPr lang="en-US" altLang="en-US" sz="2000">
                  <a:solidFill>
                    <a:srgbClr val="FF0000"/>
                  </a:solidFill>
                  <a:latin typeface="Times New Roman" pitchFamily="18" charset="0"/>
                </a:rPr>
                <a:t> </a:t>
              </a:r>
              <a:r>
                <a:rPr lang="en-US" altLang="en-US" sz="2000">
                  <a:solidFill>
                    <a:srgbClr val="FF0000"/>
                  </a:solidFill>
                  <a:latin typeface="Times New Roman" pitchFamily="18" charset="0"/>
                  <a:sym typeface="Symbol" pitchFamily="18" charset="2"/>
                </a:rPr>
                <a:t></a:t>
              </a:r>
              <a:r>
                <a:rPr lang="en-US" altLang="en-US" sz="2000">
                  <a:solidFill>
                    <a:srgbClr val="FF0000"/>
                  </a:solidFill>
                  <a:latin typeface="Times New Roman" pitchFamily="18" charset="0"/>
                </a:rPr>
                <a:t> </a:t>
              </a:r>
              <a:r>
                <a:rPr lang="en-US" altLang="en-US" sz="2000" i="1">
                  <a:solidFill>
                    <a:srgbClr val="FF0000"/>
                  </a:solidFill>
                  <a:latin typeface="Times New Roman" pitchFamily="18" charset="0"/>
                </a:rPr>
                <a:t>r2</a:t>
              </a:r>
              <a:r>
                <a:rPr lang="en-US" altLang="en-US" sz="2000">
                  <a:solidFill>
                    <a:srgbClr val="FF0000"/>
                  </a:solidFill>
                  <a:latin typeface="Times New Roman" pitchFamily="18" charset="0"/>
                </a:rPr>
                <a:t>, repeat:</a:t>
              </a:r>
              <a:br>
                <a:rPr lang="en-US" altLang="en-US" sz="2000">
                  <a:latin typeface="Times New Roman" pitchFamily="18" charset="0"/>
                </a:rPr>
              </a:br>
              <a:r>
                <a:rPr lang="en-US" altLang="en-US" sz="2000">
                  <a:latin typeface="Times New Roman" pitchFamily="18" charset="0"/>
                </a:rPr>
                <a:t>	2.1.	If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i</a:t>
              </a:r>
              <a:r>
                <a:rPr lang="en-US" altLang="en-US" sz="2000">
                  <a:latin typeface="Times New Roman" pitchFamily="18" charset="0"/>
                </a:rPr>
                <a:t>] is less than or equal to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j</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2.1.1.	Copy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i</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k</a:t>
              </a:r>
              <a:r>
                <a:rPr lang="en-US" altLang="en-US" sz="2000">
                  <a:latin typeface="Times New Roman" pitchFamily="18" charset="0"/>
                </a:rPr>
                <a:t>], then increment </a:t>
              </a:r>
              <a:r>
                <a:rPr lang="en-US" altLang="en-US" sz="2000" i="1">
                  <a:latin typeface="Times New Roman" pitchFamily="18" charset="0"/>
                </a:rPr>
                <a:t>i</a:t>
              </a:r>
              <a:r>
                <a:rPr lang="en-US" altLang="en-US" sz="2000">
                  <a:latin typeface="Times New Roman" pitchFamily="18" charset="0"/>
                </a:rPr>
                <a:t> and </a:t>
              </a:r>
              <a:r>
                <a:rPr lang="en-US" altLang="en-US" sz="2000" i="1">
                  <a:latin typeface="Times New Roman" pitchFamily="18" charset="0"/>
                </a:rPr>
                <a:t>k</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2.2.	Else:</a:t>
              </a:r>
              <a:br>
                <a:rPr lang="en-US" altLang="en-US" sz="2000">
                  <a:latin typeface="Times New Roman" pitchFamily="18" charset="0"/>
                </a:rPr>
              </a:br>
              <a:r>
                <a:rPr lang="en-US" altLang="en-US" sz="2000">
                  <a:latin typeface="Times New Roman" pitchFamily="18" charset="0"/>
                </a:rPr>
                <a:t>		2.2.1.	Copy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j</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k</a:t>
              </a:r>
              <a:r>
                <a:rPr lang="en-US" altLang="en-US" sz="2000">
                  <a:latin typeface="Times New Roman" pitchFamily="18" charset="0"/>
                </a:rPr>
                <a:t>], then increment </a:t>
              </a:r>
              <a:r>
                <a:rPr lang="en-US" altLang="en-US" sz="2000" i="1">
                  <a:latin typeface="Times New Roman" pitchFamily="18" charset="0"/>
                </a:rPr>
                <a:t>j</a:t>
              </a:r>
              <a:r>
                <a:rPr lang="en-US" altLang="en-US" sz="2000">
                  <a:latin typeface="Times New Roman" pitchFamily="18" charset="0"/>
                </a:rPr>
                <a:t> and </a:t>
              </a:r>
              <a:r>
                <a:rPr lang="en-US" altLang="en-US" sz="2000" i="1">
                  <a:latin typeface="Times New Roman" pitchFamily="18" charset="0"/>
                </a:rPr>
                <a:t>k</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a:t>
              </a:r>
            </a:p>
          </p:txBody>
        </p:sp>
        <p:sp>
          <p:nvSpPr>
            <p:cNvPr id="31053" name="Text Box 242"/>
            <p:cNvSpPr txBox="1">
              <a:spLocks noChangeArrowheads="1"/>
            </p:cNvSpPr>
            <p:nvPr/>
          </p:nvSpPr>
          <p:spPr bwMode="auto">
            <a:xfrm>
              <a:off x="1512" y="2169"/>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31054" name="Text Box 243"/>
            <p:cNvSpPr txBox="1">
              <a:spLocks noChangeArrowheads="1"/>
            </p:cNvSpPr>
            <p:nvPr/>
          </p:nvSpPr>
          <p:spPr bwMode="auto">
            <a:xfrm>
              <a:off x="1416" y="1977"/>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l1 </a:t>
              </a:r>
              <a:r>
                <a:rPr lang="en-US" altLang="en-US" sz="1800">
                  <a:latin typeface="Times New Roman" pitchFamily="18" charset="0"/>
                </a:rPr>
                <a:t>= 0</a:t>
              </a:r>
            </a:p>
          </p:txBody>
        </p:sp>
        <p:sp>
          <p:nvSpPr>
            <p:cNvPr id="31055" name="Text Box 244"/>
            <p:cNvSpPr txBox="1">
              <a:spLocks noChangeArrowheads="1"/>
            </p:cNvSpPr>
            <p:nvPr/>
          </p:nvSpPr>
          <p:spPr bwMode="auto">
            <a:xfrm>
              <a:off x="1992" y="1977"/>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 = </a:t>
              </a:r>
              <a:r>
                <a:rPr lang="en-US" altLang="en-US" sz="1800" i="1">
                  <a:latin typeface="Times New Roman" pitchFamily="18" charset="0"/>
                </a:rPr>
                <a:t>r1</a:t>
              </a:r>
              <a:endParaRPr lang="en-US" altLang="en-US" sz="1800">
                <a:latin typeface="Times New Roman" pitchFamily="18" charset="0"/>
              </a:endParaRPr>
            </a:p>
          </p:txBody>
        </p:sp>
        <p:sp>
          <p:nvSpPr>
            <p:cNvPr id="31056" name="Text Box 245"/>
            <p:cNvSpPr txBox="1">
              <a:spLocks noChangeArrowheads="1"/>
            </p:cNvSpPr>
            <p:nvPr/>
          </p:nvSpPr>
          <p:spPr bwMode="auto">
            <a:xfrm>
              <a:off x="1971" y="216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31057" name="Text Box 246"/>
            <p:cNvSpPr txBox="1">
              <a:spLocks noChangeArrowheads="1"/>
            </p:cNvSpPr>
            <p:nvPr/>
          </p:nvSpPr>
          <p:spPr bwMode="auto">
            <a:xfrm>
              <a:off x="1320" y="2169"/>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a1</a:t>
              </a:r>
            </a:p>
          </p:txBody>
        </p:sp>
        <p:sp>
          <p:nvSpPr>
            <p:cNvPr id="31058" name="Text Box 247"/>
            <p:cNvSpPr txBox="1">
              <a:spLocks noChangeArrowheads="1"/>
            </p:cNvSpPr>
            <p:nvPr/>
          </p:nvSpPr>
          <p:spPr bwMode="auto">
            <a:xfrm>
              <a:off x="1512" y="2601"/>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31059" name="Text Box 248"/>
            <p:cNvSpPr txBox="1">
              <a:spLocks noChangeArrowheads="1"/>
            </p:cNvSpPr>
            <p:nvPr/>
          </p:nvSpPr>
          <p:spPr bwMode="auto">
            <a:xfrm>
              <a:off x="1416" y="2409"/>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l2 </a:t>
              </a:r>
              <a:r>
                <a:rPr lang="en-US" altLang="en-US" sz="1800">
                  <a:latin typeface="Times New Roman" pitchFamily="18" charset="0"/>
                </a:rPr>
                <a:t>= 0</a:t>
              </a:r>
            </a:p>
          </p:txBody>
        </p:sp>
        <p:sp>
          <p:nvSpPr>
            <p:cNvPr id="31060" name="Text Box 249"/>
            <p:cNvSpPr txBox="1">
              <a:spLocks noChangeArrowheads="1"/>
            </p:cNvSpPr>
            <p:nvPr/>
          </p:nvSpPr>
          <p:spPr bwMode="auto">
            <a:xfrm>
              <a:off x="2092" y="240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1061" name="Text Box 250"/>
            <p:cNvSpPr txBox="1">
              <a:spLocks noChangeArrowheads="1"/>
            </p:cNvSpPr>
            <p:nvPr/>
          </p:nvSpPr>
          <p:spPr bwMode="auto">
            <a:xfrm>
              <a:off x="2520" y="240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1062" name="Text Box 251"/>
            <p:cNvSpPr txBox="1">
              <a:spLocks noChangeArrowheads="1"/>
            </p:cNvSpPr>
            <p:nvPr/>
          </p:nvSpPr>
          <p:spPr bwMode="auto">
            <a:xfrm>
              <a:off x="2952" y="240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1063" name="Text Box 252"/>
            <p:cNvSpPr txBox="1">
              <a:spLocks noChangeArrowheads="1"/>
            </p:cNvSpPr>
            <p:nvPr/>
          </p:nvSpPr>
          <p:spPr bwMode="auto">
            <a:xfrm>
              <a:off x="3288" y="2409"/>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 = </a:t>
              </a:r>
              <a:r>
                <a:rPr lang="en-US" altLang="en-US" sz="1800" i="1">
                  <a:latin typeface="Times New Roman" pitchFamily="18" charset="0"/>
                </a:rPr>
                <a:t>r2</a:t>
              </a:r>
              <a:endParaRPr lang="en-US" altLang="en-US" sz="1800">
                <a:latin typeface="Times New Roman" pitchFamily="18" charset="0"/>
              </a:endParaRPr>
            </a:p>
          </p:txBody>
        </p:sp>
        <p:sp>
          <p:nvSpPr>
            <p:cNvPr id="31064" name="Text Box 253"/>
            <p:cNvSpPr txBox="1">
              <a:spLocks noChangeArrowheads="1"/>
            </p:cNvSpPr>
            <p:nvPr/>
          </p:nvSpPr>
          <p:spPr bwMode="auto">
            <a:xfrm>
              <a:off x="1971" y="260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31065" name="Text Box 254"/>
            <p:cNvSpPr txBox="1">
              <a:spLocks noChangeArrowheads="1"/>
            </p:cNvSpPr>
            <p:nvPr/>
          </p:nvSpPr>
          <p:spPr bwMode="auto">
            <a:xfrm>
              <a:off x="2403" y="260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31066" name="Text Box 255"/>
            <p:cNvSpPr txBox="1">
              <a:spLocks noChangeArrowheads="1"/>
            </p:cNvSpPr>
            <p:nvPr/>
          </p:nvSpPr>
          <p:spPr bwMode="auto">
            <a:xfrm>
              <a:off x="2835" y="260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31067" name="Text Box 256"/>
            <p:cNvSpPr txBox="1">
              <a:spLocks noChangeArrowheads="1"/>
            </p:cNvSpPr>
            <p:nvPr/>
          </p:nvSpPr>
          <p:spPr bwMode="auto">
            <a:xfrm>
              <a:off x="3267" y="260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31068" name="Text Box 257"/>
            <p:cNvSpPr txBox="1">
              <a:spLocks noChangeArrowheads="1"/>
            </p:cNvSpPr>
            <p:nvPr/>
          </p:nvSpPr>
          <p:spPr bwMode="auto">
            <a:xfrm>
              <a:off x="1320" y="2601"/>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a2</a:t>
              </a:r>
            </a:p>
          </p:txBody>
        </p:sp>
        <p:sp>
          <p:nvSpPr>
            <p:cNvPr id="31069" name="Text Box 258"/>
            <p:cNvSpPr txBox="1">
              <a:spLocks noChangeArrowheads="1"/>
            </p:cNvSpPr>
            <p:nvPr/>
          </p:nvSpPr>
          <p:spPr bwMode="auto">
            <a:xfrm>
              <a:off x="1512" y="3033"/>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31070" name="Text Box 259"/>
            <p:cNvSpPr txBox="1">
              <a:spLocks noChangeArrowheads="1"/>
            </p:cNvSpPr>
            <p:nvPr/>
          </p:nvSpPr>
          <p:spPr bwMode="auto">
            <a:xfrm>
              <a:off x="1416" y="2841"/>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l3 </a:t>
              </a:r>
              <a:r>
                <a:rPr lang="en-US" altLang="en-US" sz="1800">
                  <a:latin typeface="Times New Roman" pitchFamily="18" charset="0"/>
                </a:rPr>
                <a:t>= 0</a:t>
              </a:r>
            </a:p>
          </p:txBody>
        </p:sp>
        <p:sp>
          <p:nvSpPr>
            <p:cNvPr id="31071" name="Text Box 260"/>
            <p:cNvSpPr txBox="1">
              <a:spLocks noChangeArrowheads="1"/>
            </p:cNvSpPr>
            <p:nvPr/>
          </p:nvSpPr>
          <p:spPr bwMode="auto">
            <a:xfrm>
              <a:off x="2092" y="284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1072" name="Text Box 261"/>
            <p:cNvSpPr txBox="1">
              <a:spLocks noChangeArrowheads="1"/>
            </p:cNvSpPr>
            <p:nvPr/>
          </p:nvSpPr>
          <p:spPr bwMode="auto">
            <a:xfrm>
              <a:off x="2520" y="284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1073" name="Text Box 262"/>
            <p:cNvSpPr txBox="1">
              <a:spLocks noChangeArrowheads="1"/>
            </p:cNvSpPr>
            <p:nvPr/>
          </p:nvSpPr>
          <p:spPr bwMode="auto">
            <a:xfrm>
              <a:off x="2952" y="284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1074" name="Text Box 263"/>
            <p:cNvSpPr txBox="1">
              <a:spLocks noChangeArrowheads="1"/>
            </p:cNvSpPr>
            <p:nvPr/>
          </p:nvSpPr>
          <p:spPr bwMode="auto">
            <a:xfrm>
              <a:off x="3384" y="284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31075" name="Text Box 264"/>
            <p:cNvSpPr txBox="1">
              <a:spLocks noChangeArrowheads="1"/>
            </p:cNvSpPr>
            <p:nvPr/>
          </p:nvSpPr>
          <p:spPr bwMode="auto">
            <a:xfrm>
              <a:off x="3816" y="284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31076" name="Text Box 265"/>
            <p:cNvSpPr txBox="1">
              <a:spLocks noChangeArrowheads="1"/>
            </p:cNvSpPr>
            <p:nvPr/>
          </p:nvSpPr>
          <p:spPr bwMode="auto">
            <a:xfrm>
              <a:off x="1971" y="3033"/>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31077" name="Text Box 266"/>
            <p:cNvSpPr txBox="1">
              <a:spLocks noChangeArrowheads="1"/>
            </p:cNvSpPr>
            <p:nvPr/>
          </p:nvSpPr>
          <p:spPr bwMode="auto">
            <a:xfrm>
              <a:off x="2403" y="303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078" name="Text Box 267"/>
            <p:cNvSpPr txBox="1">
              <a:spLocks noChangeArrowheads="1"/>
            </p:cNvSpPr>
            <p:nvPr/>
          </p:nvSpPr>
          <p:spPr bwMode="auto">
            <a:xfrm>
              <a:off x="2835" y="303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079" name="Text Box 268"/>
            <p:cNvSpPr txBox="1">
              <a:spLocks noChangeArrowheads="1"/>
            </p:cNvSpPr>
            <p:nvPr/>
          </p:nvSpPr>
          <p:spPr bwMode="auto">
            <a:xfrm>
              <a:off x="3267" y="303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080" name="Text Box 269"/>
            <p:cNvSpPr txBox="1">
              <a:spLocks noChangeArrowheads="1"/>
            </p:cNvSpPr>
            <p:nvPr/>
          </p:nvSpPr>
          <p:spPr bwMode="auto">
            <a:xfrm>
              <a:off x="3699" y="303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081" name="Text Box 270"/>
            <p:cNvSpPr txBox="1">
              <a:spLocks noChangeArrowheads="1"/>
            </p:cNvSpPr>
            <p:nvPr/>
          </p:nvSpPr>
          <p:spPr bwMode="auto">
            <a:xfrm>
              <a:off x="4131" y="303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082" name="Text Box 271"/>
            <p:cNvSpPr txBox="1">
              <a:spLocks noChangeArrowheads="1"/>
            </p:cNvSpPr>
            <p:nvPr/>
          </p:nvSpPr>
          <p:spPr bwMode="auto">
            <a:xfrm>
              <a:off x="1320" y="3033"/>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a3</a:t>
              </a:r>
            </a:p>
          </p:txBody>
        </p:sp>
        <p:sp>
          <p:nvSpPr>
            <p:cNvPr id="31083" name="Text Box 272"/>
            <p:cNvSpPr txBox="1">
              <a:spLocks noChangeArrowheads="1"/>
            </p:cNvSpPr>
            <p:nvPr/>
          </p:nvSpPr>
          <p:spPr bwMode="auto">
            <a:xfrm>
              <a:off x="4251" y="284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31084" name="Text Box 273"/>
            <p:cNvSpPr txBox="1">
              <a:spLocks noChangeArrowheads="1"/>
            </p:cNvSpPr>
            <p:nvPr/>
          </p:nvSpPr>
          <p:spPr bwMode="auto">
            <a:xfrm>
              <a:off x="4899" y="303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2</a:t>
              </a:r>
            </a:p>
          </p:txBody>
        </p:sp>
        <p:sp>
          <p:nvSpPr>
            <p:cNvPr id="31085" name="Text Box 274"/>
            <p:cNvSpPr txBox="1">
              <a:spLocks noChangeArrowheads="1"/>
            </p:cNvSpPr>
            <p:nvPr/>
          </p:nvSpPr>
          <p:spPr bwMode="auto">
            <a:xfrm>
              <a:off x="4707" y="3033"/>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k</a:t>
              </a:r>
            </a:p>
          </p:txBody>
        </p:sp>
        <p:sp>
          <p:nvSpPr>
            <p:cNvPr id="31086" name="Text Box 275"/>
            <p:cNvSpPr txBox="1">
              <a:spLocks noChangeArrowheads="1"/>
            </p:cNvSpPr>
            <p:nvPr/>
          </p:nvSpPr>
          <p:spPr bwMode="auto">
            <a:xfrm>
              <a:off x="4899" y="260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1</a:t>
              </a:r>
            </a:p>
          </p:txBody>
        </p:sp>
        <p:sp>
          <p:nvSpPr>
            <p:cNvPr id="31087" name="Text Box 276"/>
            <p:cNvSpPr txBox="1">
              <a:spLocks noChangeArrowheads="1"/>
            </p:cNvSpPr>
            <p:nvPr/>
          </p:nvSpPr>
          <p:spPr bwMode="auto">
            <a:xfrm>
              <a:off x="4728" y="2601"/>
              <a:ext cx="1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j</a:t>
              </a:r>
            </a:p>
          </p:txBody>
        </p:sp>
        <p:sp>
          <p:nvSpPr>
            <p:cNvPr id="31088" name="Text Box 277"/>
            <p:cNvSpPr txBox="1">
              <a:spLocks noChangeArrowheads="1"/>
            </p:cNvSpPr>
            <p:nvPr/>
          </p:nvSpPr>
          <p:spPr bwMode="auto">
            <a:xfrm>
              <a:off x="4899" y="216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1</a:t>
              </a:r>
            </a:p>
          </p:txBody>
        </p:sp>
        <p:sp>
          <p:nvSpPr>
            <p:cNvPr id="31089" name="Text Box 278"/>
            <p:cNvSpPr txBox="1">
              <a:spLocks noChangeArrowheads="1"/>
            </p:cNvSpPr>
            <p:nvPr/>
          </p:nvSpPr>
          <p:spPr bwMode="auto">
            <a:xfrm>
              <a:off x="4707" y="2169"/>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i</a:t>
              </a:r>
            </a:p>
          </p:txBody>
        </p:sp>
      </p:grpSp>
      <p:grpSp>
        <p:nvGrpSpPr>
          <p:cNvPr id="9" name="Group 606"/>
          <p:cNvGrpSpPr>
            <a:grpSpLocks/>
          </p:cNvGrpSpPr>
          <p:nvPr/>
        </p:nvGrpSpPr>
        <p:grpSpPr bwMode="auto">
          <a:xfrm>
            <a:off x="571501" y="2030413"/>
            <a:ext cx="6705600" cy="4724400"/>
            <a:chOff x="1224" y="346"/>
            <a:chExt cx="4224" cy="2976"/>
          </a:xfrm>
        </p:grpSpPr>
        <p:sp>
          <p:nvSpPr>
            <p:cNvPr id="31012" name="Rectangle 280"/>
            <p:cNvSpPr>
              <a:spLocks noChangeArrowheads="1"/>
            </p:cNvSpPr>
            <p:nvPr/>
          </p:nvSpPr>
          <p:spPr bwMode="auto">
            <a:xfrm>
              <a:off x="1224" y="346"/>
              <a:ext cx="4224" cy="2976"/>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31013" name="Text Box 281"/>
            <p:cNvSpPr txBox="1">
              <a:spLocks noChangeArrowheads="1"/>
            </p:cNvSpPr>
            <p:nvPr/>
          </p:nvSpPr>
          <p:spPr bwMode="auto">
            <a:xfrm>
              <a:off x="1272" y="384"/>
              <a:ext cx="4128" cy="1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merge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l1</a:t>
              </a:r>
              <a:r>
                <a:rPr lang="en-US" altLang="en-US" sz="2000">
                  <a:latin typeface="Times New Roman" pitchFamily="18" charset="0"/>
                </a:rPr>
                <a:t>…</a:t>
              </a:r>
              <a:r>
                <a:rPr lang="en-US" altLang="en-US" sz="2000" i="1">
                  <a:latin typeface="Times New Roman" pitchFamily="18" charset="0"/>
                </a:rPr>
                <a:t>r1</a:t>
              </a:r>
              <a:r>
                <a:rPr lang="en-US" altLang="en-US" sz="2000">
                  <a:latin typeface="Times New Roman" pitchFamily="18" charset="0"/>
                </a:rPr>
                <a:t>] and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l2</a:t>
              </a:r>
              <a:r>
                <a:rPr lang="en-US" altLang="en-US" sz="2000">
                  <a:latin typeface="Times New Roman" pitchFamily="18" charset="0"/>
                </a:rPr>
                <a:t>…</a:t>
              </a:r>
              <a:r>
                <a:rPr lang="en-US" altLang="en-US" sz="2000" i="1">
                  <a:latin typeface="Times New Roman" pitchFamily="18" charset="0"/>
                </a:rPr>
                <a:t>r2</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1.	Set </a:t>
              </a:r>
              <a:r>
                <a:rPr lang="en-US" altLang="en-US" sz="2000" i="1">
                  <a:latin typeface="Times New Roman" pitchFamily="18" charset="0"/>
                </a:rPr>
                <a:t>i</a:t>
              </a:r>
              <a:r>
                <a:rPr lang="en-US" altLang="en-US" sz="2000">
                  <a:latin typeface="Times New Roman" pitchFamily="18" charset="0"/>
                </a:rPr>
                <a:t> = </a:t>
              </a:r>
              <a:r>
                <a:rPr lang="en-US" altLang="en-US" sz="2000" i="1">
                  <a:latin typeface="Times New Roman" pitchFamily="18" charset="0"/>
                </a:rPr>
                <a:t>l1</a:t>
              </a:r>
              <a:r>
                <a:rPr lang="en-US" altLang="en-US" sz="2000">
                  <a:latin typeface="Times New Roman" pitchFamily="18" charset="0"/>
                </a:rPr>
                <a:t>, set </a:t>
              </a:r>
              <a:r>
                <a:rPr lang="en-US" altLang="en-US" sz="2000" i="1">
                  <a:latin typeface="Times New Roman" pitchFamily="18" charset="0"/>
                </a:rPr>
                <a:t>j</a:t>
              </a:r>
              <a:r>
                <a:rPr lang="en-US" altLang="en-US" sz="2000">
                  <a:latin typeface="Times New Roman" pitchFamily="18" charset="0"/>
                </a:rPr>
                <a:t> = </a:t>
              </a:r>
              <a:r>
                <a:rPr lang="en-US" altLang="en-US" sz="2000" i="1">
                  <a:latin typeface="Times New Roman" pitchFamily="18" charset="0"/>
                </a:rPr>
                <a:t>l2</a:t>
              </a:r>
              <a:r>
                <a:rPr lang="en-US" altLang="en-US" sz="2000">
                  <a:latin typeface="Times New Roman" pitchFamily="18" charset="0"/>
                </a:rPr>
                <a:t>, and set </a:t>
              </a:r>
              <a:r>
                <a:rPr lang="en-US" altLang="en-US" sz="2000" i="1">
                  <a:latin typeface="Times New Roman" pitchFamily="18" charset="0"/>
                </a:rPr>
                <a:t>k</a:t>
              </a:r>
              <a:r>
                <a:rPr lang="en-US" altLang="en-US" sz="2000">
                  <a:latin typeface="Times New Roman" pitchFamily="18" charset="0"/>
                </a:rPr>
                <a:t> = </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While </a:t>
              </a:r>
              <a:r>
                <a:rPr lang="en-US" altLang="en-US" sz="2000" i="1">
                  <a:latin typeface="Times New Roman" pitchFamily="18" charset="0"/>
                </a:rPr>
                <a:t>i</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r1</a:t>
              </a:r>
              <a:r>
                <a:rPr lang="en-US" altLang="en-US" sz="2000">
                  <a:latin typeface="Times New Roman" pitchFamily="18" charset="0"/>
                </a:rPr>
                <a:t> and </a:t>
              </a:r>
              <a:r>
                <a:rPr lang="en-US" altLang="en-US" sz="2000" i="1">
                  <a:latin typeface="Times New Roman" pitchFamily="18" charset="0"/>
                </a:rPr>
                <a:t>j</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r2</a:t>
              </a:r>
              <a:r>
                <a:rPr lang="en-US" altLang="en-US" sz="2000">
                  <a:latin typeface="Times New Roman" pitchFamily="18" charset="0"/>
                </a:rPr>
                <a:t>, repeat:</a:t>
              </a:r>
              <a:br>
                <a:rPr lang="en-US" altLang="en-US" sz="2000">
                  <a:latin typeface="Times New Roman" pitchFamily="18" charset="0"/>
                </a:rPr>
              </a:br>
              <a:r>
                <a:rPr lang="en-US" altLang="en-US" sz="2000">
                  <a:latin typeface="Times New Roman" pitchFamily="18" charset="0"/>
                </a:rPr>
                <a:t>	2.1.	If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i</a:t>
              </a:r>
              <a:r>
                <a:rPr lang="en-US" altLang="en-US" sz="2000">
                  <a:latin typeface="Times New Roman" pitchFamily="18" charset="0"/>
                </a:rPr>
                <a:t>] is less than or equal to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j</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2.1.1.	Copy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i</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k</a:t>
              </a:r>
              <a:r>
                <a:rPr lang="en-US" altLang="en-US" sz="2000">
                  <a:latin typeface="Times New Roman" pitchFamily="18" charset="0"/>
                </a:rPr>
                <a:t>], then increment </a:t>
              </a:r>
              <a:r>
                <a:rPr lang="en-US" altLang="en-US" sz="2000" i="1">
                  <a:latin typeface="Times New Roman" pitchFamily="18" charset="0"/>
                </a:rPr>
                <a:t>i</a:t>
              </a:r>
              <a:r>
                <a:rPr lang="en-US" altLang="en-US" sz="2000">
                  <a:latin typeface="Times New Roman" pitchFamily="18" charset="0"/>
                </a:rPr>
                <a:t> and </a:t>
              </a:r>
              <a:r>
                <a:rPr lang="en-US" altLang="en-US" sz="2000" i="1">
                  <a:latin typeface="Times New Roman" pitchFamily="18" charset="0"/>
                </a:rPr>
                <a:t>k</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2.2.	</a:t>
              </a:r>
              <a:r>
                <a:rPr lang="en-US" altLang="en-US" sz="2000">
                  <a:solidFill>
                    <a:srgbClr val="FF0000"/>
                  </a:solidFill>
                  <a:latin typeface="Times New Roman" pitchFamily="18" charset="0"/>
                </a:rPr>
                <a:t>Else:</a:t>
              </a:r>
              <a:br>
                <a:rPr lang="en-US" altLang="en-US" sz="2000">
                  <a:latin typeface="Times New Roman" pitchFamily="18" charset="0"/>
                </a:rPr>
              </a:br>
              <a:r>
                <a:rPr lang="en-US" altLang="en-US" sz="2000">
                  <a:latin typeface="Times New Roman" pitchFamily="18" charset="0"/>
                </a:rPr>
                <a:t>		2.2.1.	</a:t>
              </a:r>
              <a:r>
                <a:rPr lang="en-US" altLang="en-US" sz="2000">
                  <a:solidFill>
                    <a:srgbClr val="FF0000"/>
                  </a:solidFill>
                  <a:latin typeface="Times New Roman" pitchFamily="18" charset="0"/>
                </a:rPr>
                <a:t>Copy </a:t>
              </a:r>
              <a:r>
                <a:rPr lang="en-US" altLang="en-US" sz="2000" i="1">
                  <a:solidFill>
                    <a:srgbClr val="FF0000"/>
                  </a:solidFill>
                  <a:latin typeface="Times New Roman" pitchFamily="18" charset="0"/>
                </a:rPr>
                <a:t>a2</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j</a:t>
              </a:r>
              <a:r>
                <a:rPr lang="en-US" altLang="en-US" sz="2000">
                  <a:solidFill>
                    <a:srgbClr val="FF0000"/>
                  </a:solidFill>
                  <a:latin typeface="Times New Roman" pitchFamily="18" charset="0"/>
                </a:rPr>
                <a:t>] into </a:t>
              </a:r>
              <a:r>
                <a:rPr lang="en-US" altLang="en-US" sz="2000" i="1">
                  <a:solidFill>
                    <a:srgbClr val="FF0000"/>
                  </a:solidFill>
                  <a:latin typeface="Times New Roman" pitchFamily="18" charset="0"/>
                </a:rPr>
                <a:t>a3</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k</a:t>
              </a:r>
              <a:r>
                <a:rPr lang="en-US" altLang="en-US" sz="2000">
                  <a:solidFill>
                    <a:srgbClr val="FF0000"/>
                  </a:solidFill>
                  <a:latin typeface="Times New Roman" pitchFamily="18" charset="0"/>
                </a:rPr>
                <a:t>], then increment </a:t>
              </a:r>
              <a:r>
                <a:rPr lang="en-US" altLang="en-US" sz="2000" i="1">
                  <a:solidFill>
                    <a:srgbClr val="FF0000"/>
                  </a:solidFill>
                  <a:latin typeface="Times New Roman" pitchFamily="18" charset="0"/>
                </a:rPr>
                <a:t>j</a:t>
              </a:r>
              <a:r>
                <a:rPr lang="en-US" altLang="en-US" sz="2000">
                  <a:solidFill>
                    <a:srgbClr val="FF0000"/>
                  </a:solidFill>
                  <a:latin typeface="Times New Roman" pitchFamily="18" charset="0"/>
                </a:rPr>
                <a:t> and </a:t>
              </a:r>
              <a:r>
                <a:rPr lang="en-US" altLang="en-US" sz="2000" i="1">
                  <a:solidFill>
                    <a:srgbClr val="FF0000"/>
                  </a:solidFill>
                  <a:latin typeface="Times New Roman" pitchFamily="18" charset="0"/>
                </a:rPr>
                <a:t>k</a:t>
              </a:r>
              <a:r>
                <a:rPr lang="en-US" altLang="en-US" sz="2000">
                  <a:solidFill>
                    <a:srgbClr val="FF0000"/>
                  </a:solidFill>
                  <a:latin typeface="Times New Roman" pitchFamily="18" charset="0"/>
                </a:rPr>
                <a:t>.</a:t>
              </a:r>
              <a:br>
                <a:rPr lang="en-US" altLang="en-US" sz="2000">
                  <a:latin typeface="Times New Roman" pitchFamily="18" charset="0"/>
                </a:rPr>
              </a:br>
              <a:r>
                <a:rPr lang="en-US" altLang="en-US" sz="2000">
                  <a:latin typeface="Times New Roman" pitchFamily="18" charset="0"/>
                </a:rPr>
                <a:t>…</a:t>
              </a:r>
            </a:p>
          </p:txBody>
        </p:sp>
        <p:sp>
          <p:nvSpPr>
            <p:cNvPr id="31014" name="Text Box 282"/>
            <p:cNvSpPr txBox="1">
              <a:spLocks noChangeArrowheads="1"/>
            </p:cNvSpPr>
            <p:nvPr/>
          </p:nvSpPr>
          <p:spPr bwMode="auto">
            <a:xfrm>
              <a:off x="1512" y="2170"/>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31015" name="Text Box 283"/>
            <p:cNvSpPr txBox="1">
              <a:spLocks noChangeArrowheads="1"/>
            </p:cNvSpPr>
            <p:nvPr/>
          </p:nvSpPr>
          <p:spPr bwMode="auto">
            <a:xfrm>
              <a:off x="1416" y="1978"/>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l1 </a:t>
              </a:r>
              <a:r>
                <a:rPr lang="en-US" altLang="en-US" sz="1800">
                  <a:latin typeface="Times New Roman" pitchFamily="18" charset="0"/>
                </a:rPr>
                <a:t>= 0</a:t>
              </a:r>
            </a:p>
          </p:txBody>
        </p:sp>
        <p:sp>
          <p:nvSpPr>
            <p:cNvPr id="31016" name="Text Box 284"/>
            <p:cNvSpPr txBox="1">
              <a:spLocks noChangeArrowheads="1"/>
            </p:cNvSpPr>
            <p:nvPr/>
          </p:nvSpPr>
          <p:spPr bwMode="auto">
            <a:xfrm>
              <a:off x="1992" y="1978"/>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 = </a:t>
              </a:r>
              <a:r>
                <a:rPr lang="en-US" altLang="en-US" sz="1800" i="1">
                  <a:latin typeface="Times New Roman" pitchFamily="18" charset="0"/>
                </a:rPr>
                <a:t>r1</a:t>
              </a:r>
              <a:endParaRPr lang="en-US" altLang="en-US" sz="1800">
                <a:latin typeface="Times New Roman" pitchFamily="18" charset="0"/>
              </a:endParaRPr>
            </a:p>
          </p:txBody>
        </p:sp>
        <p:sp>
          <p:nvSpPr>
            <p:cNvPr id="31017" name="Text Box 285"/>
            <p:cNvSpPr txBox="1">
              <a:spLocks noChangeArrowheads="1"/>
            </p:cNvSpPr>
            <p:nvPr/>
          </p:nvSpPr>
          <p:spPr bwMode="auto">
            <a:xfrm>
              <a:off x="1971" y="217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31018" name="Text Box 286"/>
            <p:cNvSpPr txBox="1">
              <a:spLocks noChangeArrowheads="1"/>
            </p:cNvSpPr>
            <p:nvPr/>
          </p:nvSpPr>
          <p:spPr bwMode="auto">
            <a:xfrm>
              <a:off x="1320" y="217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a1</a:t>
              </a:r>
            </a:p>
          </p:txBody>
        </p:sp>
        <p:sp>
          <p:nvSpPr>
            <p:cNvPr id="31019" name="Text Box 287"/>
            <p:cNvSpPr txBox="1">
              <a:spLocks noChangeArrowheads="1"/>
            </p:cNvSpPr>
            <p:nvPr/>
          </p:nvSpPr>
          <p:spPr bwMode="auto">
            <a:xfrm>
              <a:off x="1512" y="2602"/>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31020" name="Text Box 288"/>
            <p:cNvSpPr txBox="1">
              <a:spLocks noChangeArrowheads="1"/>
            </p:cNvSpPr>
            <p:nvPr/>
          </p:nvSpPr>
          <p:spPr bwMode="auto">
            <a:xfrm>
              <a:off x="1416" y="2410"/>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l2 </a:t>
              </a:r>
              <a:r>
                <a:rPr lang="en-US" altLang="en-US" sz="1800">
                  <a:latin typeface="Times New Roman" pitchFamily="18" charset="0"/>
                </a:rPr>
                <a:t>= 0</a:t>
              </a:r>
            </a:p>
          </p:txBody>
        </p:sp>
        <p:sp>
          <p:nvSpPr>
            <p:cNvPr id="31021" name="Text Box 289"/>
            <p:cNvSpPr txBox="1">
              <a:spLocks noChangeArrowheads="1"/>
            </p:cNvSpPr>
            <p:nvPr/>
          </p:nvSpPr>
          <p:spPr bwMode="auto">
            <a:xfrm>
              <a:off x="2092" y="241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1022" name="Text Box 290"/>
            <p:cNvSpPr txBox="1">
              <a:spLocks noChangeArrowheads="1"/>
            </p:cNvSpPr>
            <p:nvPr/>
          </p:nvSpPr>
          <p:spPr bwMode="auto">
            <a:xfrm>
              <a:off x="2520" y="241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1023" name="Text Box 291"/>
            <p:cNvSpPr txBox="1">
              <a:spLocks noChangeArrowheads="1"/>
            </p:cNvSpPr>
            <p:nvPr/>
          </p:nvSpPr>
          <p:spPr bwMode="auto">
            <a:xfrm>
              <a:off x="2952" y="241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1024" name="Text Box 292"/>
            <p:cNvSpPr txBox="1">
              <a:spLocks noChangeArrowheads="1"/>
            </p:cNvSpPr>
            <p:nvPr/>
          </p:nvSpPr>
          <p:spPr bwMode="auto">
            <a:xfrm>
              <a:off x="3288" y="2410"/>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 = </a:t>
              </a:r>
              <a:r>
                <a:rPr lang="en-US" altLang="en-US" sz="1800" i="1">
                  <a:latin typeface="Times New Roman" pitchFamily="18" charset="0"/>
                </a:rPr>
                <a:t>r2</a:t>
              </a:r>
              <a:endParaRPr lang="en-US" altLang="en-US" sz="1800">
                <a:latin typeface="Times New Roman" pitchFamily="18" charset="0"/>
              </a:endParaRPr>
            </a:p>
          </p:txBody>
        </p:sp>
        <p:sp>
          <p:nvSpPr>
            <p:cNvPr id="31025" name="Text Box 293"/>
            <p:cNvSpPr txBox="1">
              <a:spLocks noChangeArrowheads="1"/>
            </p:cNvSpPr>
            <p:nvPr/>
          </p:nvSpPr>
          <p:spPr bwMode="auto">
            <a:xfrm>
              <a:off x="1971" y="2602"/>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31026" name="Text Box 294"/>
            <p:cNvSpPr txBox="1">
              <a:spLocks noChangeArrowheads="1"/>
            </p:cNvSpPr>
            <p:nvPr/>
          </p:nvSpPr>
          <p:spPr bwMode="auto">
            <a:xfrm>
              <a:off x="2403"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31027" name="Text Box 295"/>
            <p:cNvSpPr txBox="1">
              <a:spLocks noChangeArrowheads="1"/>
            </p:cNvSpPr>
            <p:nvPr/>
          </p:nvSpPr>
          <p:spPr bwMode="auto">
            <a:xfrm>
              <a:off x="2835"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31028" name="Text Box 296"/>
            <p:cNvSpPr txBox="1">
              <a:spLocks noChangeArrowheads="1"/>
            </p:cNvSpPr>
            <p:nvPr/>
          </p:nvSpPr>
          <p:spPr bwMode="auto">
            <a:xfrm>
              <a:off x="3267"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31029" name="Text Box 297"/>
            <p:cNvSpPr txBox="1">
              <a:spLocks noChangeArrowheads="1"/>
            </p:cNvSpPr>
            <p:nvPr/>
          </p:nvSpPr>
          <p:spPr bwMode="auto">
            <a:xfrm>
              <a:off x="1320" y="2602"/>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a2</a:t>
              </a:r>
            </a:p>
          </p:txBody>
        </p:sp>
        <p:sp>
          <p:nvSpPr>
            <p:cNvPr id="31030" name="Text Box 298"/>
            <p:cNvSpPr txBox="1">
              <a:spLocks noChangeArrowheads="1"/>
            </p:cNvSpPr>
            <p:nvPr/>
          </p:nvSpPr>
          <p:spPr bwMode="auto">
            <a:xfrm>
              <a:off x="1512" y="30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31031" name="Text Box 299"/>
            <p:cNvSpPr txBox="1">
              <a:spLocks noChangeArrowheads="1"/>
            </p:cNvSpPr>
            <p:nvPr/>
          </p:nvSpPr>
          <p:spPr bwMode="auto">
            <a:xfrm>
              <a:off x="1416" y="2842"/>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l3 </a:t>
              </a:r>
              <a:r>
                <a:rPr lang="en-US" altLang="en-US" sz="1800">
                  <a:latin typeface="Times New Roman" pitchFamily="18" charset="0"/>
                </a:rPr>
                <a:t>= 0</a:t>
              </a:r>
            </a:p>
          </p:txBody>
        </p:sp>
        <p:sp>
          <p:nvSpPr>
            <p:cNvPr id="31032" name="Text Box 300"/>
            <p:cNvSpPr txBox="1">
              <a:spLocks noChangeArrowheads="1"/>
            </p:cNvSpPr>
            <p:nvPr/>
          </p:nvSpPr>
          <p:spPr bwMode="auto">
            <a:xfrm>
              <a:off x="2092"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1033" name="Text Box 301"/>
            <p:cNvSpPr txBox="1">
              <a:spLocks noChangeArrowheads="1"/>
            </p:cNvSpPr>
            <p:nvPr/>
          </p:nvSpPr>
          <p:spPr bwMode="auto">
            <a:xfrm>
              <a:off x="2520"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1034" name="Text Box 302"/>
            <p:cNvSpPr txBox="1">
              <a:spLocks noChangeArrowheads="1"/>
            </p:cNvSpPr>
            <p:nvPr/>
          </p:nvSpPr>
          <p:spPr bwMode="auto">
            <a:xfrm>
              <a:off x="2952"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1035" name="Text Box 303"/>
            <p:cNvSpPr txBox="1">
              <a:spLocks noChangeArrowheads="1"/>
            </p:cNvSpPr>
            <p:nvPr/>
          </p:nvSpPr>
          <p:spPr bwMode="auto">
            <a:xfrm>
              <a:off x="3384"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31036" name="Text Box 304"/>
            <p:cNvSpPr txBox="1">
              <a:spLocks noChangeArrowheads="1"/>
            </p:cNvSpPr>
            <p:nvPr/>
          </p:nvSpPr>
          <p:spPr bwMode="auto">
            <a:xfrm>
              <a:off x="3816"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31037" name="Text Box 305"/>
            <p:cNvSpPr txBox="1">
              <a:spLocks noChangeArrowheads="1"/>
            </p:cNvSpPr>
            <p:nvPr/>
          </p:nvSpPr>
          <p:spPr bwMode="auto">
            <a:xfrm>
              <a:off x="1971" y="30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31038" name="Text Box 306"/>
            <p:cNvSpPr txBox="1">
              <a:spLocks noChangeArrowheads="1"/>
            </p:cNvSpPr>
            <p:nvPr/>
          </p:nvSpPr>
          <p:spPr bwMode="auto">
            <a:xfrm>
              <a:off x="2403" y="30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31039" name="Text Box 307"/>
            <p:cNvSpPr txBox="1">
              <a:spLocks noChangeArrowheads="1"/>
            </p:cNvSpPr>
            <p:nvPr/>
          </p:nvSpPr>
          <p:spPr bwMode="auto">
            <a:xfrm>
              <a:off x="2835"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040" name="Text Box 308"/>
            <p:cNvSpPr txBox="1">
              <a:spLocks noChangeArrowheads="1"/>
            </p:cNvSpPr>
            <p:nvPr/>
          </p:nvSpPr>
          <p:spPr bwMode="auto">
            <a:xfrm>
              <a:off x="3267"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041" name="Text Box 309"/>
            <p:cNvSpPr txBox="1">
              <a:spLocks noChangeArrowheads="1"/>
            </p:cNvSpPr>
            <p:nvPr/>
          </p:nvSpPr>
          <p:spPr bwMode="auto">
            <a:xfrm>
              <a:off x="3699"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042" name="Text Box 310"/>
            <p:cNvSpPr txBox="1">
              <a:spLocks noChangeArrowheads="1"/>
            </p:cNvSpPr>
            <p:nvPr/>
          </p:nvSpPr>
          <p:spPr bwMode="auto">
            <a:xfrm>
              <a:off x="4131"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043" name="Text Box 311"/>
            <p:cNvSpPr txBox="1">
              <a:spLocks noChangeArrowheads="1"/>
            </p:cNvSpPr>
            <p:nvPr/>
          </p:nvSpPr>
          <p:spPr bwMode="auto">
            <a:xfrm>
              <a:off x="1320" y="303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a3</a:t>
              </a:r>
            </a:p>
          </p:txBody>
        </p:sp>
        <p:sp>
          <p:nvSpPr>
            <p:cNvPr id="31044" name="Text Box 312"/>
            <p:cNvSpPr txBox="1">
              <a:spLocks noChangeArrowheads="1"/>
            </p:cNvSpPr>
            <p:nvPr/>
          </p:nvSpPr>
          <p:spPr bwMode="auto">
            <a:xfrm>
              <a:off x="4251"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31045" name="Text Box 313"/>
            <p:cNvSpPr txBox="1">
              <a:spLocks noChangeArrowheads="1"/>
            </p:cNvSpPr>
            <p:nvPr/>
          </p:nvSpPr>
          <p:spPr bwMode="auto">
            <a:xfrm>
              <a:off x="4899"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3</a:t>
              </a:r>
            </a:p>
          </p:txBody>
        </p:sp>
        <p:sp>
          <p:nvSpPr>
            <p:cNvPr id="31046" name="Text Box 314"/>
            <p:cNvSpPr txBox="1">
              <a:spLocks noChangeArrowheads="1"/>
            </p:cNvSpPr>
            <p:nvPr/>
          </p:nvSpPr>
          <p:spPr bwMode="auto">
            <a:xfrm>
              <a:off x="4707" y="303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k</a:t>
              </a:r>
            </a:p>
          </p:txBody>
        </p:sp>
        <p:sp>
          <p:nvSpPr>
            <p:cNvPr id="31047" name="Text Box 315"/>
            <p:cNvSpPr txBox="1">
              <a:spLocks noChangeArrowheads="1"/>
            </p:cNvSpPr>
            <p:nvPr/>
          </p:nvSpPr>
          <p:spPr bwMode="auto">
            <a:xfrm>
              <a:off x="4899"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2</a:t>
              </a:r>
            </a:p>
          </p:txBody>
        </p:sp>
        <p:sp>
          <p:nvSpPr>
            <p:cNvPr id="31048" name="Text Box 316"/>
            <p:cNvSpPr txBox="1">
              <a:spLocks noChangeArrowheads="1"/>
            </p:cNvSpPr>
            <p:nvPr/>
          </p:nvSpPr>
          <p:spPr bwMode="auto">
            <a:xfrm>
              <a:off x="4728" y="2602"/>
              <a:ext cx="1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j</a:t>
              </a:r>
            </a:p>
          </p:txBody>
        </p:sp>
        <p:sp>
          <p:nvSpPr>
            <p:cNvPr id="31049" name="Text Box 317"/>
            <p:cNvSpPr txBox="1">
              <a:spLocks noChangeArrowheads="1"/>
            </p:cNvSpPr>
            <p:nvPr/>
          </p:nvSpPr>
          <p:spPr bwMode="auto">
            <a:xfrm>
              <a:off x="4899" y="217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1</a:t>
              </a:r>
            </a:p>
          </p:txBody>
        </p:sp>
        <p:sp>
          <p:nvSpPr>
            <p:cNvPr id="31050" name="Text Box 318"/>
            <p:cNvSpPr txBox="1">
              <a:spLocks noChangeArrowheads="1"/>
            </p:cNvSpPr>
            <p:nvPr/>
          </p:nvSpPr>
          <p:spPr bwMode="auto">
            <a:xfrm>
              <a:off x="4707" y="217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i</a:t>
              </a:r>
            </a:p>
          </p:txBody>
        </p:sp>
      </p:grpSp>
      <p:grpSp>
        <p:nvGrpSpPr>
          <p:cNvPr id="10" name="Group 605"/>
          <p:cNvGrpSpPr>
            <a:grpSpLocks/>
          </p:cNvGrpSpPr>
          <p:nvPr/>
        </p:nvGrpSpPr>
        <p:grpSpPr bwMode="auto">
          <a:xfrm>
            <a:off x="571501" y="2030413"/>
            <a:ext cx="6705600" cy="4724400"/>
            <a:chOff x="1224" y="345"/>
            <a:chExt cx="4224" cy="2976"/>
          </a:xfrm>
        </p:grpSpPr>
        <p:sp>
          <p:nvSpPr>
            <p:cNvPr id="30973" name="Rectangle 320"/>
            <p:cNvSpPr>
              <a:spLocks noChangeArrowheads="1"/>
            </p:cNvSpPr>
            <p:nvPr/>
          </p:nvSpPr>
          <p:spPr bwMode="auto">
            <a:xfrm>
              <a:off x="1224" y="345"/>
              <a:ext cx="4224" cy="2976"/>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30974" name="Text Box 321"/>
            <p:cNvSpPr txBox="1">
              <a:spLocks noChangeArrowheads="1"/>
            </p:cNvSpPr>
            <p:nvPr/>
          </p:nvSpPr>
          <p:spPr bwMode="auto">
            <a:xfrm>
              <a:off x="1272" y="383"/>
              <a:ext cx="4128" cy="1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merge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l1</a:t>
              </a:r>
              <a:r>
                <a:rPr lang="en-US" altLang="en-US" sz="2000">
                  <a:latin typeface="Times New Roman" pitchFamily="18" charset="0"/>
                </a:rPr>
                <a:t>…</a:t>
              </a:r>
              <a:r>
                <a:rPr lang="en-US" altLang="en-US" sz="2000" i="1">
                  <a:latin typeface="Times New Roman" pitchFamily="18" charset="0"/>
                </a:rPr>
                <a:t>r1</a:t>
              </a:r>
              <a:r>
                <a:rPr lang="en-US" altLang="en-US" sz="2000">
                  <a:latin typeface="Times New Roman" pitchFamily="18" charset="0"/>
                </a:rPr>
                <a:t>] and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l2</a:t>
              </a:r>
              <a:r>
                <a:rPr lang="en-US" altLang="en-US" sz="2000">
                  <a:latin typeface="Times New Roman" pitchFamily="18" charset="0"/>
                </a:rPr>
                <a:t>…</a:t>
              </a:r>
              <a:r>
                <a:rPr lang="en-US" altLang="en-US" sz="2000" i="1">
                  <a:latin typeface="Times New Roman" pitchFamily="18" charset="0"/>
                </a:rPr>
                <a:t>r2</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1.	Set </a:t>
              </a:r>
              <a:r>
                <a:rPr lang="en-US" altLang="en-US" sz="2000" i="1">
                  <a:latin typeface="Times New Roman" pitchFamily="18" charset="0"/>
                </a:rPr>
                <a:t>i</a:t>
              </a:r>
              <a:r>
                <a:rPr lang="en-US" altLang="en-US" sz="2000">
                  <a:latin typeface="Times New Roman" pitchFamily="18" charset="0"/>
                </a:rPr>
                <a:t> = </a:t>
              </a:r>
              <a:r>
                <a:rPr lang="en-US" altLang="en-US" sz="2000" i="1">
                  <a:latin typeface="Times New Roman" pitchFamily="18" charset="0"/>
                </a:rPr>
                <a:t>l1</a:t>
              </a:r>
              <a:r>
                <a:rPr lang="en-US" altLang="en-US" sz="2000">
                  <a:latin typeface="Times New Roman" pitchFamily="18" charset="0"/>
                </a:rPr>
                <a:t>, set </a:t>
              </a:r>
              <a:r>
                <a:rPr lang="en-US" altLang="en-US" sz="2000" i="1">
                  <a:latin typeface="Times New Roman" pitchFamily="18" charset="0"/>
                </a:rPr>
                <a:t>j</a:t>
              </a:r>
              <a:r>
                <a:rPr lang="en-US" altLang="en-US" sz="2000">
                  <a:latin typeface="Times New Roman" pitchFamily="18" charset="0"/>
                </a:rPr>
                <a:t> = </a:t>
              </a:r>
              <a:r>
                <a:rPr lang="en-US" altLang="en-US" sz="2000" i="1">
                  <a:latin typeface="Times New Roman" pitchFamily="18" charset="0"/>
                </a:rPr>
                <a:t>l2</a:t>
              </a:r>
              <a:r>
                <a:rPr lang="en-US" altLang="en-US" sz="2000">
                  <a:latin typeface="Times New Roman" pitchFamily="18" charset="0"/>
                </a:rPr>
                <a:t>, and set </a:t>
              </a:r>
              <a:r>
                <a:rPr lang="en-US" altLang="en-US" sz="2000" i="1">
                  <a:latin typeface="Times New Roman" pitchFamily="18" charset="0"/>
                </a:rPr>
                <a:t>k</a:t>
              </a:r>
              <a:r>
                <a:rPr lang="en-US" altLang="en-US" sz="2000">
                  <a:latin typeface="Times New Roman" pitchFamily="18" charset="0"/>
                </a:rPr>
                <a:t> = </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a:t>
              </a:r>
              <a:r>
                <a:rPr lang="en-US" altLang="en-US" sz="2000">
                  <a:solidFill>
                    <a:srgbClr val="FF0000"/>
                  </a:solidFill>
                  <a:latin typeface="Times New Roman" pitchFamily="18" charset="0"/>
                </a:rPr>
                <a:t>While </a:t>
              </a:r>
              <a:r>
                <a:rPr lang="en-US" altLang="en-US" sz="2000" i="1">
                  <a:solidFill>
                    <a:srgbClr val="FF0000"/>
                  </a:solidFill>
                  <a:latin typeface="Times New Roman" pitchFamily="18" charset="0"/>
                </a:rPr>
                <a:t>i</a:t>
              </a:r>
              <a:r>
                <a:rPr lang="en-US" altLang="en-US" sz="2000">
                  <a:solidFill>
                    <a:srgbClr val="FF0000"/>
                  </a:solidFill>
                  <a:latin typeface="Times New Roman" pitchFamily="18" charset="0"/>
                </a:rPr>
                <a:t> </a:t>
              </a:r>
              <a:r>
                <a:rPr lang="en-US" altLang="en-US" sz="2000">
                  <a:solidFill>
                    <a:srgbClr val="FF0000"/>
                  </a:solidFill>
                  <a:latin typeface="Times New Roman" pitchFamily="18" charset="0"/>
                  <a:sym typeface="Symbol" pitchFamily="18" charset="2"/>
                </a:rPr>
                <a:t></a:t>
              </a:r>
              <a:r>
                <a:rPr lang="en-US" altLang="en-US" sz="2000">
                  <a:solidFill>
                    <a:srgbClr val="FF0000"/>
                  </a:solidFill>
                  <a:latin typeface="Times New Roman" pitchFamily="18" charset="0"/>
                </a:rPr>
                <a:t> </a:t>
              </a:r>
              <a:r>
                <a:rPr lang="en-US" altLang="en-US" sz="2000" i="1">
                  <a:solidFill>
                    <a:srgbClr val="FF0000"/>
                  </a:solidFill>
                  <a:latin typeface="Times New Roman" pitchFamily="18" charset="0"/>
                </a:rPr>
                <a:t>r1</a:t>
              </a:r>
              <a:r>
                <a:rPr lang="en-US" altLang="en-US" sz="2000">
                  <a:solidFill>
                    <a:srgbClr val="FF0000"/>
                  </a:solidFill>
                  <a:latin typeface="Times New Roman" pitchFamily="18" charset="0"/>
                </a:rPr>
                <a:t> and </a:t>
              </a:r>
              <a:r>
                <a:rPr lang="en-US" altLang="en-US" sz="2000" i="1">
                  <a:solidFill>
                    <a:srgbClr val="FF0000"/>
                  </a:solidFill>
                  <a:latin typeface="Times New Roman" pitchFamily="18" charset="0"/>
                </a:rPr>
                <a:t>j</a:t>
              </a:r>
              <a:r>
                <a:rPr lang="en-US" altLang="en-US" sz="2000">
                  <a:solidFill>
                    <a:srgbClr val="FF0000"/>
                  </a:solidFill>
                  <a:latin typeface="Times New Roman" pitchFamily="18" charset="0"/>
                </a:rPr>
                <a:t> </a:t>
              </a:r>
              <a:r>
                <a:rPr lang="en-US" altLang="en-US" sz="2000">
                  <a:solidFill>
                    <a:srgbClr val="FF0000"/>
                  </a:solidFill>
                  <a:latin typeface="Times New Roman" pitchFamily="18" charset="0"/>
                  <a:sym typeface="Symbol" pitchFamily="18" charset="2"/>
                </a:rPr>
                <a:t></a:t>
              </a:r>
              <a:r>
                <a:rPr lang="en-US" altLang="en-US" sz="2000">
                  <a:solidFill>
                    <a:srgbClr val="FF0000"/>
                  </a:solidFill>
                  <a:latin typeface="Times New Roman" pitchFamily="18" charset="0"/>
                </a:rPr>
                <a:t> </a:t>
              </a:r>
              <a:r>
                <a:rPr lang="en-US" altLang="en-US" sz="2000" i="1">
                  <a:solidFill>
                    <a:srgbClr val="FF0000"/>
                  </a:solidFill>
                  <a:latin typeface="Times New Roman" pitchFamily="18" charset="0"/>
                </a:rPr>
                <a:t>r2</a:t>
              </a:r>
              <a:r>
                <a:rPr lang="en-US" altLang="en-US" sz="2000">
                  <a:solidFill>
                    <a:srgbClr val="FF0000"/>
                  </a:solidFill>
                  <a:latin typeface="Times New Roman" pitchFamily="18" charset="0"/>
                </a:rPr>
                <a:t>, repeat:</a:t>
              </a:r>
              <a:br>
                <a:rPr lang="en-US" altLang="en-US" sz="2000">
                  <a:latin typeface="Times New Roman" pitchFamily="18" charset="0"/>
                </a:rPr>
              </a:br>
              <a:r>
                <a:rPr lang="en-US" altLang="en-US" sz="2000">
                  <a:latin typeface="Times New Roman" pitchFamily="18" charset="0"/>
                </a:rPr>
                <a:t>	2.1.	If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i</a:t>
              </a:r>
              <a:r>
                <a:rPr lang="en-US" altLang="en-US" sz="2000">
                  <a:latin typeface="Times New Roman" pitchFamily="18" charset="0"/>
                </a:rPr>
                <a:t>] is less than or equal to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j</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2.1.1.	Copy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i</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k</a:t>
              </a:r>
              <a:r>
                <a:rPr lang="en-US" altLang="en-US" sz="2000">
                  <a:latin typeface="Times New Roman" pitchFamily="18" charset="0"/>
                </a:rPr>
                <a:t>], then increment </a:t>
              </a:r>
              <a:r>
                <a:rPr lang="en-US" altLang="en-US" sz="2000" i="1">
                  <a:latin typeface="Times New Roman" pitchFamily="18" charset="0"/>
                </a:rPr>
                <a:t>i</a:t>
              </a:r>
              <a:r>
                <a:rPr lang="en-US" altLang="en-US" sz="2000">
                  <a:latin typeface="Times New Roman" pitchFamily="18" charset="0"/>
                </a:rPr>
                <a:t> and </a:t>
              </a:r>
              <a:r>
                <a:rPr lang="en-US" altLang="en-US" sz="2000" i="1">
                  <a:latin typeface="Times New Roman" pitchFamily="18" charset="0"/>
                </a:rPr>
                <a:t>k</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2.2.	Else:</a:t>
              </a:r>
              <a:br>
                <a:rPr lang="en-US" altLang="en-US" sz="2000">
                  <a:latin typeface="Times New Roman" pitchFamily="18" charset="0"/>
                </a:rPr>
              </a:br>
              <a:r>
                <a:rPr lang="en-US" altLang="en-US" sz="2000">
                  <a:latin typeface="Times New Roman" pitchFamily="18" charset="0"/>
                </a:rPr>
                <a:t>		2.2.1.	Copy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j</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k</a:t>
              </a:r>
              <a:r>
                <a:rPr lang="en-US" altLang="en-US" sz="2000">
                  <a:latin typeface="Times New Roman" pitchFamily="18" charset="0"/>
                </a:rPr>
                <a:t>], then increment </a:t>
              </a:r>
              <a:r>
                <a:rPr lang="en-US" altLang="en-US" sz="2000" i="1">
                  <a:latin typeface="Times New Roman" pitchFamily="18" charset="0"/>
                </a:rPr>
                <a:t>j</a:t>
              </a:r>
              <a:r>
                <a:rPr lang="en-US" altLang="en-US" sz="2000">
                  <a:latin typeface="Times New Roman" pitchFamily="18" charset="0"/>
                </a:rPr>
                <a:t> and </a:t>
              </a:r>
              <a:r>
                <a:rPr lang="en-US" altLang="en-US" sz="2000" i="1">
                  <a:latin typeface="Times New Roman" pitchFamily="18" charset="0"/>
                </a:rPr>
                <a:t>k</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a:t>
              </a:r>
            </a:p>
          </p:txBody>
        </p:sp>
        <p:sp>
          <p:nvSpPr>
            <p:cNvPr id="30975" name="Text Box 322"/>
            <p:cNvSpPr txBox="1">
              <a:spLocks noChangeArrowheads="1"/>
            </p:cNvSpPr>
            <p:nvPr/>
          </p:nvSpPr>
          <p:spPr bwMode="auto">
            <a:xfrm>
              <a:off x="1512" y="2169"/>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30976" name="Text Box 323"/>
            <p:cNvSpPr txBox="1">
              <a:spLocks noChangeArrowheads="1"/>
            </p:cNvSpPr>
            <p:nvPr/>
          </p:nvSpPr>
          <p:spPr bwMode="auto">
            <a:xfrm>
              <a:off x="1416" y="1977"/>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l1 </a:t>
              </a:r>
              <a:r>
                <a:rPr lang="en-US" altLang="en-US" sz="1800">
                  <a:latin typeface="Times New Roman" pitchFamily="18" charset="0"/>
                </a:rPr>
                <a:t>= 0</a:t>
              </a:r>
            </a:p>
          </p:txBody>
        </p:sp>
        <p:sp>
          <p:nvSpPr>
            <p:cNvPr id="30977" name="Text Box 324"/>
            <p:cNvSpPr txBox="1">
              <a:spLocks noChangeArrowheads="1"/>
            </p:cNvSpPr>
            <p:nvPr/>
          </p:nvSpPr>
          <p:spPr bwMode="auto">
            <a:xfrm>
              <a:off x="1992" y="1977"/>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 = </a:t>
              </a:r>
              <a:r>
                <a:rPr lang="en-US" altLang="en-US" sz="1800" i="1">
                  <a:latin typeface="Times New Roman" pitchFamily="18" charset="0"/>
                </a:rPr>
                <a:t>r1</a:t>
              </a:r>
              <a:endParaRPr lang="en-US" altLang="en-US" sz="1800">
                <a:latin typeface="Times New Roman" pitchFamily="18" charset="0"/>
              </a:endParaRPr>
            </a:p>
          </p:txBody>
        </p:sp>
        <p:sp>
          <p:nvSpPr>
            <p:cNvPr id="30978" name="Text Box 325"/>
            <p:cNvSpPr txBox="1">
              <a:spLocks noChangeArrowheads="1"/>
            </p:cNvSpPr>
            <p:nvPr/>
          </p:nvSpPr>
          <p:spPr bwMode="auto">
            <a:xfrm>
              <a:off x="1971" y="216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30979" name="Text Box 326"/>
            <p:cNvSpPr txBox="1">
              <a:spLocks noChangeArrowheads="1"/>
            </p:cNvSpPr>
            <p:nvPr/>
          </p:nvSpPr>
          <p:spPr bwMode="auto">
            <a:xfrm>
              <a:off x="1320" y="2169"/>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a1</a:t>
              </a:r>
            </a:p>
          </p:txBody>
        </p:sp>
        <p:sp>
          <p:nvSpPr>
            <p:cNvPr id="30980" name="Text Box 327"/>
            <p:cNvSpPr txBox="1">
              <a:spLocks noChangeArrowheads="1"/>
            </p:cNvSpPr>
            <p:nvPr/>
          </p:nvSpPr>
          <p:spPr bwMode="auto">
            <a:xfrm>
              <a:off x="1512" y="2601"/>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30981" name="Text Box 328"/>
            <p:cNvSpPr txBox="1">
              <a:spLocks noChangeArrowheads="1"/>
            </p:cNvSpPr>
            <p:nvPr/>
          </p:nvSpPr>
          <p:spPr bwMode="auto">
            <a:xfrm>
              <a:off x="1416" y="2409"/>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l2 </a:t>
              </a:r>
              <a:r>
                <a:rPr lang="en-US" altLang="en-US" sz="1800">
                  <a:latin typeface="Times New Roman" pitchFamily="18" charset="0"/>
                </a:rPr>
                <a:t>= 0</a:t>
              </a:r>
            </a:p>
          </p:txBody>
        </p:sp>
        <p:sp>
          <p:nvSpPr>
            <p:cNvPr id="30982" name="Text Box 329"/>
            <p:cNvSpPr txBox="1">
              <a:spLocks noChangeArrowheads="1"/>
            </p:cNvSpPr>
            <p:nvPr/>
          </p:nvSpPr>
          <p:spPr bwMode="auto">
            <a:xfrm>
              <a:off x="2092" y="240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0983" name="Text Box 330"/>
            <p:cNvSpPr txBox="1">
              <a:spLocks noChangeArrowheads="1"/>
            </p:cNvSpPr>
            <p:nvPr/>
          </p:nvSpPr>
          <p:spPr bwMode="auto">
            <a:xfrm>
              <a:off x="2520" y="240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0984" name="Text Box 331"/>
            <p:cNvSpPr txBox="1">
              <a:spLocks noChangeArrowheads="1"/>
            </p:cNvSpPr>
            <p:nvPr/>
          </p:nvSpPr>
          <p:spPr bwMode="auto">
            <a:xfrm>
              <a:off x="2952" y="240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0985" name="Text Box 332"/>
            <p:cNvSpPr txBox="1">
              <a:spLocks noChangeArrowheads="1"/>
            </p:cNvSpPr>
            <p:nvPr/>
          </p:nvSpPr>
          <p:spPr bwMode="auto">
            <a:xfrm>
              <a:off x="3288" y="2409"/>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 = </a:t>
              </a:r>
              <a:r>
                <a:rPr lang="en-US" altLang="en-US" sz="1800" i="1">
                  <a:latin typeface="Times New Roman" pitchFamily="18" charset="0"/>
                </a:rPr>
                <a:t>r2</a:t>
              </a:r>
              <a:endParaRPr lang="en-US" altLang="en-US" sz="1800">
                <a:latin typeface="Times New Roman" pitchFamily="18" charset="0"/>
              </a:endParaRPr>
            </a:p>
          </p:txBody>
        </p:sp>
        <p:sp>
          <p:nvSpPr>
            <p:cNvPr id="30986" name="Text Box 333"/>
            <p:cNvSpPr txBox="1">
              <a:spLocks noChangeArrowheads="1"/>
            </p:cNvSpPr>
            <p:nvPr/>
          </p:nvSpPr>
          <p:spPr bwMode="auto">
            <a:xfrm>
              <a:off x="1971" y="2601"/>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30987" name="Text Box 334"/>
            <p:cNvSpPr txBox="1">
              <a:spLocks noChangeArrowheads="1"/>
            </p:cNvSpPr>
            <p:nvPr/>
          </p:nvSpPr>
          <p:spPr bwMode="auto">
            <a:xfrm>
              <a:off x="2403" y="260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30988" name="Text Box 335"/>
            <p:cNvSpPr txBox="1">
              <a:spLocks noChangeArrowheads="1"/>
            </p:cNvSpPr>
            <p:nvPr/>
          </p:nvSpPr>
          <p:spPr bwMode="auto">
            <a:xfrm>
              <a:off x="2835" y="260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30989" name="Text Box 336"/>
            <p:cNvSpPr txBox="1">
              <a:spLocks noChangeArrowheads="1"/>
            </p:cNvSpPr>
            <p:nvPr/>
          </p:nvSpPr>
          <p:spPr bwMode="auto">
            <a:xfrm>
              <a:off x="3267" y="260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30990" name="Text Box 337"/>
            <p:cNvSpPr txBox="1">
              <a:spLocks noChangeArrowheads="1"/>
            </p:cNvSpPr>
            <p:nvPr/>
          </p:nvSpPr>
          <p:spPr bwMode="auto">
            <a:xfrm>
              <a:off x="1320" y="2601"/>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a2</a:t>
              </a:r>
            </a:p>
          </p:txBody>
        </p:sp>
        <p:sp>
          <p:nvSpPr>
            <p:cNvPr id="30991" name="Text Box 338"/>
            <p:cNvSpPr txBox="1">
              <a:spLocks noChangeArrowheads="1"/>
            </p:cNvSpPr>
            <p:nvPr/>
          </p:nvSpPr>
          <p:spPr bwMode="auto">
            <a:xfrm>
              <a:off x="1512" y="3033"/>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30992" name="Text Box 339"/>
            <p:cNvSpPr txBox="1">
              <a:spLocks noChangeArrowheads="1"/>
            </p:cNvSpPr>
            <p:nvPr/>
          </p:nvSpPr>
          <p:spPr bwMode="auto">
            <a:xfrm>
              <a:off x="1416" y="2841"/>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l3 </a:t>
              </a:r>
              <a:r>
                <a:rPr lang="en-US" altLang="en-US" sz="1800">
                  <a:latin typeface="Times New Roman" pitchFamily="18" charset="0"/>
                </a:rPr>
                <a:t>= 0</a:t>
              </a:r>
            </a:p>
          </p:txBody>
        </p:sp>
        <p:sp>
          <p:nvSpPr>
            <p:cNvPr id="30993" name="Text Box 340"/>
            <p:cNvSpPr txBox="1">
              <a:spLocks noChangeArrowheads="1"/>
            </p:cNvSpPr>
            <p:nvPr/>
          </p:nvSpPr>
          <p:spPr bwMode="auto">
            <a:xfrm>
              <a:off x="2092" y="284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0994" name="Text Box 341"/>
            <p:cNvSpPr txBox="1">
              <a:spLocks noChangeArrowheads="1"/>
            </p:cNvSpPr>
            <p:nvPr/>
          </p:nvSpPr>
          <p:spPr bwMode="auto">
            <a:xfrm>
              <a:off x="2520" y="284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0995" name="Text Box 342"/>
            <p:cNvSpPr txBox="1">
              <a:spLocks noChangeArrowheads="1"/>
            </p:cNvSpPr>
            <p:nvPr/>
          </p:nvSpPr>
          <p:spPr bwMode="auto">
            <a:xfrm>
              <a:off x="2952" y="284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0996" name="Text Box 343"/>
            <p:cNvSpPr txBox="1">
              <a:spLocks noChangeArrowheads="1"/>
            </p:cNvSpPr>
            <p:nvPr/>
          </p:nvSpPr>
          <p:spPr bwMode="auto">
            <a:xfrm>
              <a:off x="3384" y="284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30997" name="Text Box 344"/>
            <p:cNvSpPr txBox="1">
              <a:spLocks noChangeArrowheads="1"/>
            </p:cNvSpPr>
            <p:nvPr/>
          </p:nvSpPr>
          <p:spPr bwMode="auto">
            <a:xfrm>
              <a:off x="3816" y="284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30998" name="Text Box 345"/>
            <p:cNvSpPr txBox="1">
              <a:spLocks noChangeArrowheads="1"/>
            </p:cNvSpPr>
            <p:nvPr/>
          </p:nvSpPr>
          <p:spPr bwMode="auto">
            <a:xfrm>
              <a:off x="1971" y="3033"/>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30999" name="Text Box 346"/>
            <p:cNvSpPr txBox="1">
              <a:spLocks noChangeArrowheads="1"/>
            </p:cNvSpPr>
            <p:nvPr/>
          </p:nvSpPr>
          <p:spPr bwMode="auto">
            <a:xfrm>
              <a:off x="2403" y="3033"/>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31000" name="Text Box 347"/>
            <p:cNvSpPr txBox="1">
              <a:spLocks noChangeArrowheads="1"/>
            </p:cNvSpPr>
            <p:nvPr/>
          </p:nvSpPr>
          <p:spPr bwMode="auto">
            <a:xfrm>
              <a:off x="2835" y="303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001" name="Text Box 348"/>
            <p:cNvSpPr txBox="1">
              <a:spLocks noChangeArrowheads="1"/>
            </p:cNvSpPr>
            <p:nvPr/>
          </p:nvSpPr>
          <p:spPr bwMode="auto">
            <a:xfrm>
              <a:off x="3267" y="303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002" name="Text Box 349"/>
            <p:cNvSpPr txBox="1">
              <a:spLocks noChangeArrowheads="1"/>
            </p:cNvSpPr>
            <p:nvPr/>
          </p:nvSpPr>
          <p:spPr bwMode="auto">
            <a:xfrm>
              <a:off x="3699" y="303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003" name="Text Box 350"/>
            <p:cNvSpPr txBox="1">
              <a:spLocks noChangeArrowheads="1"/>
            </p:cNvSpPr>
            <p:nvPr/>
          </p:nvSpPr>
          <p:spPr bwMode="auto">
            <a:xfrm>
              <a:off x="4131" y="303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1004" name="Text Box 351"/>
            <p:cNvSpPr txBox="1">
              <a:spLocks noChangeArrowheads="1"/>
            </p:cNvSpPr>
            <p:nvPr/>
          </p:nvSpPr>
          <p:spPr bwMode="auto">
            <a:xfrm>
              <a:off x="1320" y="3033"/>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a3</a:t>
              </a:r>
            </a:p>
          </p:txBody>
        </p:sp>
        <p:sp>
          <p:nvSpPr>
            <p:cNvPr id="31005" name="Text Box 352"/>
            <p:cNvSpPr txBox="1">
              <a:spLocks noChangeArrowheads="1"/>
            </p:cNvSpPr>
            <p:nvPr/>
          </p:nvSpPr>
          <p:spPr bwMode="auto">
            <a:xfrm>
              <a:off x="4251" y="284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31006" name="Text Box 353"/>
            <p:cNvSpPr txBox="1">
              <a:spLocks noChangeArrowheads="1"/>
            </p:cNvSpPr>
            <p:nvPr/>
          </p:nvSpPr>
          <p:spPr bwMode="auto">
            <a:xfrm>
              <a:off x="4899" y="303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3</a:t>
              </a:r>
            </a:p>
          </p:txBody>
        </p:sp>
        <p:sp>
          <p:nvSpPr>
            <p:cNvPr id="31007" name="Text Box 354"/>
            <p:cNvSpPr txBox="1">
              <a:spLocks noChangeArrowheads="1"/>
            </p:cNvSpPr>
            <p:nvPr/>
          </p:nvSpPr>
          <p:spPr bwMode="auto">
            <a:xfrm>
              <a:off x="4707" y="3033"/>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k</a:t>
              </a:r>
            </a:p>
          </p:txBody>
        </p:sp>
        <p:sp>
          <p:nvSpPr>
            <p:cNvPr id="31008" name="Text Box 355"/>
            <p:cNvSpPr txBox="1">
              <a:spLocks noChangeArrowheads="1"/>
            </p:cNvSpPr>
            <p:nvPr/>
          </p:nvSpPr>
          <p:spPr bwMode="auto">
            <a:xfrm>
              <a:off x="4899" y="260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2</a:t>
              </a:r>
            </a:p>
          </p:txBody>
        </p:sp>
        <p:sp>
          <p:nvSpPr>
            <p:cNvPr id="31009" name="Text Box 356"/>
            <p:cNvSpPr txBox="1">
              <a:spLocks noChangeArrowheads="1"/>
            </p:cNvSpPr>
            <p:nvPr/>
          </p:nvSpPr>
          <p:spPr bwMode="auto">
            <a:xfrm>
              <a:off x="4728" y="2601"/>
              <a:ext cx="1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j</a:t>
              </a:r>
            </a:p>
          </p:txBody>
        </p:sp>
        <p:sp>
          <p:nvSpPr>
            <p:cNvPr id="31010" name="Text Box 357"/>
            <p:cNvSpPr txBox="1">
              <a:spLocks noChangeArrowheads="1"/>
            </p:cNvSpPr>
            <p:nvPr/>
          </p:nvSpPr>
          <p:spPr bwMode="auto">
            <a:xfrm>
              <a:off x="4899" y="216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1</a:t>
              </a:r>
            </a:p>
          </p:txBody>
        </p:sp>
        <p:sp>
          <p:nvSpPr>
            <p:cNvPr id="31011" name="Text Box 358"/>
            <p:cNvSpPr txBox="1">
              <a:spLocks noChangeArrowheads="1"/>
            </p:cNvSpPr>
            <p:nvPr/>
          </p:nvSpPr>
          <p:spPr bwMode="auto">
            <a:xfrm>
              <a:off x="4707" y="2169"/>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i</a:t>
              </a:r>
            </a:p>
          </p:txBody>
        </p:sp>
      </p:grpSp>
      <p:grpSp>
        <p:nvGrpSpPr>
          <p:cNvPr id="11" name="Group 604"/>
          <p:cNvGrpSpPr>
            <a:grpSpLocks/>
          </p:cNvGrpSpPr>
          <p:nvPr/>
        </p:nvGrpSpPr>
        <p:grpSpPr bwMode="auto">
          <a:xfrm>
            <a:off x="571501" y="2032000"/>
            <a:ext cx="6705600" cy="4724400"/>
            <a:chOff x="1224" y="346"/>
            <a:chExt cx="4224" cy="2976"/>
          </a:xfrm>
        </p:grpSpPr>
        <p:sp>
          <p:nvSpPr>
            <p:cNvPr id="30934" name="Rectangle 360"/>
            <p:cNvSpPr>
              <a:spLocks noChangeArrowheads="1"/>
            </p:cNvSpPr>
            <p:nvPr/>
          </p:nvSpPr>
          <p:spPr bwMode="auto">
            <a:xfrm>
              <a:off x="1224" y="346"/>
              <a:ext cx="4224" cy="2976"/>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30935" name="Text Box 361"/>
            <p:cNvSpPr txBox="1">
              <a:spLocks noChangeArrowheads="1"/>
            </p:cNvSpPr>
            <p:nvPr/>
          </p:nvSpPr>
          <p:spPr bwMode="auto">
            <a:xfrm>
              <a:off x="1272" y="384"/>
              <a:ext cx="4128" cy="1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merge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l1</a:t>
              </a:r>
              <a:r>
                <a:rPr lang="en-US" altLang="en-US" sz="2000">
                  <a:latin typeface="Times New Roman" pitchFamily="18" charset="0"/>
                </a:rPr>
                <a:t>…</a:t>
              </a:r>
              <a:r>
                <a:rPr lang="en-US" altLang="en-US" sz="2000" i="1">
                  <a:latin typeface="Times New Roman" pitchFamily="18" charset="0"/>
                </a:rPr>
                <a:t>r1</a:t>
              </a:r>
              <a:r>
                <a:rPr lang="en-US" altLang="en-US" sz="2000">
                  <a:latin typeface="Times New Roman" pitchFamily="18" charset="0"/>
                </a:rPr>
                <a:t>] and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l2</a:t>
              </a:r>
              <a:r>
                <a:rPr lang="en-US" altLang="en-US" sz="2000">
                  <a:latin typeface="Times New Roman" pitchFamily="18" charset="0"/>
                </a:rPr>
                <a:t>…</a:t>
              </a:r>
              <a:r>
                <a:rPr lang="en-US" altLang="en-US" sz="2000" i="1">
                  <a:latin typeface="Times New Roman" pitchFamily="18" charset="0"/>
                </a:rPr>
                <a:t>r2</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1.	Set </a:t>
              </a:r>
              <a:r>
                <a:rPr lang="en-US" altLang="en-US" sz="2000" i="1">
                  <a:latin typeface="Times New Roman" pitchFamily="18" charset="0"/>
                </a:rPr>
                <a:t>i</a:t>
              </a:r>
              <a:r>
                <a:rPr lang="en-US" altLang="en-US" sz="2000">
                  <a:latin typeface="Times New Roman" pitchFamily="18" charset="0"/>
                </a:rPr>
                <a:t> = </a:t>
              </a:r>
              <a:r>
                <a:rPr lang="en-US" altLang="en-US" sz="2000" i="1">
                  <a:latin typeface="Times New Roman" pitchFamily="18" charset="0"/>
                </a:rPr>
                <a:t>l1</a:t>
              </a:r>
              <a:r>
                <a:rPr lang="en-US" altLang="en-US" sz="2000">
                  <a:latin typeface="Times New Roman" pitchFamily="18" charset="0"/>
                </a:rPr>
                <a:t>, set </a:t>
              </a:r>
              <a:r>
                <a:rPr lang="en-US" altLang="en-US" sz="2000" i="1">
                  <a:latin typeface="Times New Roman" pitchFamily="18" charset="0"/>
                </a:rPr>
                <a:t>j</a:t>
              </a:r>
              <a:r>
                <a:rPr lang="en-US" altLang="en-US" sz="2000">
                  <a:latin typeface="Times New Roman" pitchFamily="18" charset="0"/>
                </a:rPr>
                <a:t> = </a:t>
              </a:r>
              <a:r>
                <a:rPr lang="en-US" altLang="en-US" sz="2000" i="1">
                  <a:latin typeface="Times New Roman" pitchFamily="18" charset="0"/>
                </a:rPr>
                <a:t>l2</a:t>
              </a:r>
              <a:r>
                <a:rPr lang="en-US" altLang="en-US" sz="2000">
                  <a:latin typeface="Times New Roman" pitchFamily="18" charset="0"/>
                </a:rPr>
                <a:t>, and set </a:t>
              </a:r>
              <a:r>
                <a:rPr lang="en-US" altLang="en-US" sz="2000" i="1">
                  <a:latin typeface="Times New Roman" pitchFamily="18" charset="0"/>
                </a:rPr>
                <a:t>k</a:t>
              </a:r>
              <a:r>
                <a:rPr lang="en-US" altLang="en-US" sz="2000">
                  <a:latin typeface="Times New Roman" pitchFamily="18" charset="0"/>
                </a:rPr>
                <a:t> = </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While </a:t>
              </a:r>
              <a:r>
                <a:rPr lang="en-US" altLang="en-US" sz="2000" i="1">
                  <a:latin typeface="Times New Roman" pitchFamily="18" charset="0"/>
                </a:rPr>
                <a:t>i</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r1</a:t>
              </a:r>
              <a:r>
                <a:rPr lang="en-US" altLang="en-US" sz="2000">
                  <a:latin typeface="Times New Roman" pitchFamily="18" charset="0"/>
                </a:rPr>
                <a:t> and </a:t>
              </a:r>
              <a:r>
                <a:rPr lang="en-US" altLang="en-US" sz="2000" i="1">
                  <a:latin typeface="Times New Roman" pitchFamily="18" charset="0"/>
                </a:rPr>
                <a:t>j</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r2</a:t>
              </a:r>
              <a:r>
                <a:rPr lang="en-US" altLang="en-US" sz="2000">
                  <a:latin typeface="Times New Roman" pitchFamily="18" charset="0"/>
                </a:rPr>
                <a:t>, repeat:</a:t>
              </a:r>
              <a:br>
                <a:rPr lang="en-US" altLang="en-US" sz="2000">
                  <a:latin typeface="Times New Roman" pitchFamily="18" charset="0"/>
                </a:rPr>
              </a:br>
              <a:r>
                <a:rPr lang="en-US" altLang="en-US" sz="2000">
                  <a:latin typeface="Times New Roman" pitchFamily="18" charset="0"/>
                </a:rPr>
                <a:t>	2.1.	If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i</a:t>
              </a:r>
              <a:r>
                <a:rPr lang="en-US" altLang="en-US" sz="2000">
                  <a:latin typeface="Times New Roman" pitchFamily="18" charset="0"/>
                </a:rPr>
                <a:t>] is less than or equal to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j</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2.1.1.	Copy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i</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k</a:t>
              </a:r>
              <a:r>
                <a:rPr lang="en-US" altLang="en-US" sz="2000">
                  <a:latin typeface="Times New Roman" pitchFamily="18" charset="0"/>
                </a:rPr>
                <a:t>], then increment </a:t>
              </a:r>
              <a:r>
                <a:rPr lang="en-US" altLang="en-US" sz="2000" i="1">
                  <a:latin typeface="Times New Roman" pitchFamily="18" charset="0"/>
                </a:rPr>
                <a:t>i</a:t>
              </a:r>
              <a:r>
                <a:rPr lang="en-US" altLang="en-US" sz="2000">
                  <a:latin typeface="Times New Roman" pitchFamily="18" charset="0"/>
                </a:rPr>
                <a:t> and </a:t>
              </a:r>
              <a:r>
                <a:rPr lang="en-US" altLang="en-US" sz="2000" i="1">
                  <a:latin typeface="Times New Roman" pitchFamily="18" charset="0"/>
                </a:rPr>
                <a:t>k</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2.2.	</a:t>
              </a:r>
              <a:r>
                <a:rPr lang="en-US" altLang="en-US" sz="2000">
                  <a:solidFill>
                    <a:srgbClr val="FF0000"/>
                  </a:solidFill>
                  <a:latin typeface="Times New Roman" pitchFamily="18" charset="0"/>
                </a:rPr>
                <a:t>Else:</a:t>
              </a:r>
              <a:br>
                <a:rPr lang="en-US" altLang="en-US" sz="2000">
                  <a:latin typeface="Times New Roman" pitchFamily="18" charset="0"/>
                </a:rPr>
              </a:br>
              <a:r>
                <a:rPr lang="en-US" altLang="en-US" sz="2000">
                  <a:latin typeface="Times New Roman" pitchFamily="18" charset="0"/>
                </a:rPr>
                <a:t>		2.2.1.	</a:t>
              </a:r>
              <a:r>
                <a:rPr lang="en-US" altLang="en-US" sz="2000">
                  <a:solidFill>
                    <a:srgbClr val="FF0000"/>
                  </a:solidFill>
                  <a:latin typeface="Times New Roman" pitchFamily="18" charset="0"/>
                </a:rPr>
                <a:t>Copy </a:t>
              </a:r>
              <a:r>
                <a:rPr lang="en-US" altLang="en-US" sz="2000" i="1">
                  <a:solidFill>
                    <a:srgbClr val="FF0000"/>
                  </a:solidFill>
                  <a:latin typeface="Times New Roman" pitchFamily="18" charset="0"/>
                </a:rPr>
                <a:t>a2</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j</a:t>
              </a:r>
              <a:r>
                <a:rPr lang="en-US" altLang="en-US" sz="2000">
                  <a:solidFill>
                    <a:srgbClr val="FF0000"/>
                  </a:solidFill>
                  <a:latin typeface="Times New Roman" pitchFamily="18" charset="0"/>
                </a:rPr>
                <a:t>] into </a:t>
              </a:r>
              <a:r>
                <a:rPr lang="en-US" altLang="en-US" sz="2000" i="1">
                  <a:solidFill>
                    <a:srgbClr val="FF0000"/>
                  </a:solidFill>
                  <a:latin typeface="Times New Roman" pitchFamily="18" charset="0"/>
                </a:rPr>
                <a:t>a3</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k</a:t>
              </a:r>
              <a:r>
                <a:rPr lang="en-US" altLang="en-US" sz="2000">
                  <a:solidFill>
                    <a:srgbClr val="FF0000"/>
                  </a:solidFill>
                  <a:latin typeface="Times New Roman" pitchFamily="18" charset="0"/>
                </a:rPr>
                <a:t>], then increment </a:t>
              </a:r>
              <a:r>
                <a:rPr lang="en-US" altLang="en-US" sz="2000" i="1">
                  <a:solidFill>
                    <a:srgbClr val="FF0000"/>
                  </a:solidFill>
                  <a:latin typeface="Times New Roman" pitchFamily="18" charset="0"/>
                </a:rPr>
                <a:t>j</a:t>
              </a:r>
              <a:r>
                <a:rPr lang="en-US" altLang="en-US" sz="2000">
                  <a:solidFill>
                    <a:srgbClr val="FF0000"/>
                  </a:solidFill>
                  <a:latin typeface="Times New Roman" pitchFamily="18" charset="0"/>
                </a:rPr>
                <a:t> and </a:t>
              </a:r>
              <a:r>
                <a:rPr lang="en-US" altLang="en-US" sz="2000" i="1">
                  <a:solidFill>
                    <a:srgbClr val="FF0000"/>
                  </a:solidFill>
                  <a:latin typeface="Times New Roman" pitchFamily="18" charset="0"/>
                </a:rPr>
                <a:t>k</a:t>
              </a:r>
              <a:r>
                <a:rPr lang="en-US" altLang="en-US" sz="2000">
                  <a:solidFill>
                    <a:srgbClr val="FF0000"/>
                  </a:solidFill>
                  <a:latin typeface="Times New Roman" pitchFamily="18" charset="0"/>
                </a:rPr>
                <a:t>.</a:t>
              </a:r>
              <a:br>
                <a:rPr lang="en-US" altLang="en-US" sz="2000">
                  <a:latin typeface="Times New Roman" pitchFamily="18" charset="0"/>
                </a:rPr>
              </a:br>
              <a:r>
                <a:rPr lang="en-US" altLang="en-US" sz="2000">
                  <a:latin typeface="Times New Roman" pitchFamily="18" charset="0"/>
                </a:rPr>
                <a:t>…</a:t>
              </a:r>
            </a:p>
          </p:txBody>
        </p:sp>
        <p:sp>
          <p:nvSpPr>
            <p:cNvPr id="30936" name="Text Box 362"/>
            <p:cNvSpPr txBox="1">
              <a:spLocks noChangeArrowheads="1"/>
            </p:cNvSpPr>
            <p:nvPr/>
          </p:nvSpPr>
          <p:spPr bwMode="auto">
            <a:xfrm>
              <a:off x="1512" y="2170"/>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30937" name="Text Box 363"/>
            <p:cNvSpPr txBox="1">
              <a:spLocks noChangeArrowheads="1"/>
            </p:cNvSpPr>
            <p:nvPr/>
          </p:nvSpPr>
          <p:spPr bwMode="auto">
            <a:xfrm>
              <a:off x="1416" y="1978"/>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l1 </a:t>
              </a:r>
              <a:r>
                <a:rPr lang="en-US" altLang="en-US" sz="1800">
                  <a:latin typeface="Times New Roman" pitchFamily="18" charset="0"/>
                </a:rPr>
                <a:t>= 0</a:t>
              </a:r>
            </a:p>
          </p:txBody>
        </p:sp>
        <p:sp>
          <p:nvSpPr>
            <p:cNvPr id="30938" name="Text Box 364"/>
            <p:cNvSpPr txBox="1">
              <a:spLocks noChangeArrowheads="1"/>
            </p:cNvSpPr>
            <p:nvPr/>
          </p:nvSpPr>
          <p:spPr bwMode="auto">
            <a:xfrm>
              <a:off x="1992" y="1978"/>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 = </a:t>
              </a:r>
              <a:r>
                <a:rPr lang="en-US" altLang="en-US" sz="1800" i="1">
                  <a:latin typeface="Times New Roman" pitchFamily="18" charset="0"/>
                </a:rPr>
                <a:t>r1</a:t>
              </a:r>
              <a:endParaRPr lang="en-US" altLang="en-US" sz="1800">
                <a:latin typeface="Times New Roman" pitchFamily="18" charset="0"/>
              </a:endParaRPr>
            </a:p>
          </p:txBody>
        </p:sp>
        <p:sp>
          <p:nvSpPr>
            <p:cNvPr id="30939" name="Text Box 365"/>
            <p:cNvSpPr txBox="1">
              <a:spLocks noChangeArrowheads="1"/>
            </p:cNvSpPr>
            <p:nvPr/>
          </p:nvSpPr>
          <p:spPr bwMode="auto">
            <a:xfrm>
              <a:off x="1971" y="217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30940" name="Text Box 366"/>
            <p:cNvSpPr txBox="1">
              <a:spLocks noChangeArrowheads="1"/>
            </p:cNvSpPr>
            <p:nvPr/>
          </p:nvSpPr>
          <p:spPr bwMode="auto">
            <a:xfrm>
              <a:off x="1320" y="217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a1</a:t>
              </a:r>
            </a:p>
          </p:txBody>
        </p:sp>
        <p:sp>
          <p:nvSpPr>
            <p:cNvPr id="30941" name="Text Box 367"/>
            <p:cNvSpPr txBox="1">
              <a:spLocks noChangeArrowheads="1"/>
            </p:cNvSpPr>
            <p:nvPr/>
          </p:nvSpPr>
          <p:spPr bwMode="auto">
            <a:xfrm>
              <a:off x="1512" y="2602"/>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30942" name="Text Box 368"/>
            <p:cNvSpPr txBox="1">
              <a:spLocks noChangeArrowheads="1"/>
            </p:cNvSpPr>
            <p:nvPr/>
          </p:nvSpPr>
          <p:spPr bwMode="auto">
            <a:xfrm>
              <a:off x="1416" y="2410"/>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l2 </a:t>
              </a:r>
              <a:r>
                <a:rPr lang="en-US" altLang="en-US" sz="1800">
                  <a:latin typeface="Times New Roman" pitchFamily="18" charset="0"/>
                </a:rPr>
                <a:t>= 0</a:t>
              </a:r>
            </a:p>
          </p:txBody>
        </p:sp>
        <p:sp>
          <p:nvSpPr>
            <p:cNvPr id="30943" name="Text Box 369"/>
            <p:cNvSpPr txBox="1">
              <a:spLocks noChangeArrowheads="1"/>
            </p:cNvSpPr>
            <p:nvPr/>
          </p:nvSpPr>
          <p:spPr bwMode="auto">
            <a:xfrm>
              <a:off x="2092" y="241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0944" name="Text Box 370"/>
            <p:cNvSpPr txBox="1">
              <a:spLocks noChangeArrowheads="1"/>
            </p:cNvSpPr>
            <p:nvPr/>
          </p:nvSpPr>
          <p:spPr bwMode="auto">
            <a:xfrm>
              <a:off x="2520" y="241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0945" name="Text Box 371"/>
            <p:cNvSpPr txBox="1">
              <a:spLocks noChangeArrowheads="1"/>
            </p:cNvSpPr>
            <p:nvPr/>
          </p:nvSpPr>
          <p:spPr bwMode="auto">
            <a:xfrm>
              <a:off x="2952" y="241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0946" name="Text Box 372"/>
            <p:cNvSpPr txBox="1">
              <a:spLocks noChangeArrowheads="1"/>
            </p:cNvSpPr>
            <p:nvPr/>
          </p:nvSpPr>
          <p:spPr bwMode="auto">
            <a:xfrm>
              <a:off x="3288" y="2410"/>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 = </a:t>
              </a:r>
              <a:r>
                <a:rPr lang="en-US" altLang="en-US" sz="1800" i="1">
                  <a:latin typeface="Times New Roman" pitchFamily="18" charset="0"/>
                </a:rPr>
                <a:t>r2</a:t>
              </a:r>
              <a:endParaRPr lang="en-US" altLang="en-US" sz="1800">
                <a:latin typeface="Times New Roman" pitchFamily="18" charset="0"/>
              </a:endParaRPr>
            </a:p>
          </p:txBody>
        </p:sp>
        <p:sp>
          <p:nvSpPr>
            <p:cNvPr id="30947" name="Text Box 373"/>
            <p:cNvSpPr txBox="1">
              <a:spLocks noChangeArrowheads="1"/>
            </p:cNvSpPr>
            <p:nvPr/>
          </p:nvSpPr>
          <p:spPr bwMode="auto">
            <a:xfrm>
              <a:off x="1971" y="2602"/>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30948" name="Text Box 374"/>
            <p:cNvSpPr txBox="1">
              <a:spLocks noChangeArrowheads="1"/>
            </p:cNvSpPr>
            <p:nvPr/>
          </p:nvSpPr>
          <p:spPr bwMode="auto">
            <a:xfrm>
              <a:off x="2403" y="2602"/>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30949" name="Text Box 375"/>
            <p:cNvSpPr txBox="1">
              <a:spLocks noChangeArrowheads="1"/>
            </p:cNvSpPr>
            <p:nvPr/>
          </p:nvSpPr>
          <p:spPr bwMode="auto">
            <a:xfrm>
              <a:off x="2835"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30950" name="Text Box 376"/>
            <p:cNvSpPr txBox="1">
              <a:spLocks noChangeArrowheads="1"/>
            </p:cNvSpPr>
            <p:nvPr/>
          </p:nvSpPr>
          <p:spPr bwMode="auto">
            <a:xfrm>
              <a:off x="3267"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30951" name="Text Box 377"/>
            <p:cNvSpPr txBox="1">
              <a:spLocks noChangeArrowheads="1"/>
            </p:cNvSpPr>
            <p:nvPr/>
          </p:nvSpPr>
          <p:spPr bwMode="auto">
            <a:xfrm>
              <a:off x="1320" y="2602"/>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a2</a:t>
              </a:r>
            </a:p>
          </p:txBody>
        </p:sp>
        <p:sp>
          <p:nvSpPr>
            <p:cNvPr id="30952" name="Text Box 378"/>
            <p:cNvSpPr txBox="1">
              <a:spLocks noChangeArrowheads="1"/>
            </p:cNvSpPr>
            <p:nvPr/>
          </p:nvSpPr>
          <p:spPr bwMode="auto">
            <a:xfrm>
              <a:off x="1512" y="30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30953" name="Text Box 379"/>
            <p:cNvSpPr txBox="1">
              <a:spLocks noChangeArrowheads="1"/>
            </p:cNvSpPr>
            <p:nvPr/>
          </p:nvSpPr>
          <p:spPr bwMode="auto">
            <a:xfrm>
              <a:off x="1416" y="2842"/>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l3 </a:t>
              </a:r>
              <a:r>
                <a:rPr lang="en-US" altLang="en-US" sz="1800">
                  <a:latin typeface="Times New Roman" pitchFamily="18" charset="0"/>
                </a:rPr>
                <a:t>= 0</a:t>
              </a:r>
            </a:p>
          </p:txBody>
        </p:sp>
        <p:sp>
          <p:nvSpPr>
            <p:cNvPr id="30954" name="Text Box 380"/>
            <p:cNvSpPr txBox="1">
              <a:spLocks noChangeArrowheads="1"/>
            </p:cNvSpPr>
            <p:nvPr/>
          </p:nvSpPr>
          <p:spPr bwMode="auto">
            <a:xfrm>
              <a:off x="2092"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0955" name="Text Box 381"/>
            <p:cNvSpPr txBox="1">
              <a:spLocks noChangeArrowheads="1"/>
            </p:cNvSpPr>
            <p:nvPr/>
          </p:nvSpPr>
          <p:spPr bwMode="auto">
            <a:xfrm>
              <a:off x="2520"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0956" name="Text Box 382"/>
            <p:cNvSpPr txBox="1">
              <a:spLocks noChangeArrowheads="1"/>
            </p:cNvSpPr>
            <p:nvPr/>
          </p:nvSpPr>
          <p:spPr bwMode="auto">
            <a:xfrm>
              <a:off x="2952"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0957" name="Text Box 383"/>
            <p:cNvSpPr txBox="1">
              <a:spLocks noChangeArrowheads="1"/>
            </p:cNvSpPr>
            <p:nvPr/>
          </p:nvSpPr>
          <p:spPr bwMode="auto">
            <a:xfrm>
              <a:off x="3384"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30958" name="Text Box 384"/>
            <p:cNvSpPr txBox="1">
              <a:spLocks noChangeArrowheads="1"/>
            </p:cNvSpPr>
            <p:nvPr/>
          </p:nvSpPr>
          <p:spPr bwMode="auto">
            <a:xfrm>
              <a:off x="3816"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30959" name="Text Box 385"/>
            <p:cNvSpPr txBox="1">
              <a:spLocks noChangeArrowheads="1"/>
            </p:cNvSpPr>
            <p:nvPr/>
          </p:nvSpPr>
          <p:spPr bwMode="auto">
            <a:xfrm>
              <a:off x="1971" y="30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30960" name="Text Box 386"/>
            <p:cNvSpPr txBox="1">
              <a:spLocks noChangeArrowheads="1"/>
            </p:cNvSpPr>
            <p:nvPr/>
          </p:nvSpPr>
          <p:spPr bwMode="auto">
            <a:xfrm>
              <a:off x="2403" y="30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30961" name="Text Box 387"/>
            <p:cNvSpPr txBox="1">
              <a:spLocks noChangeArrowheads="1"/>
            </p:cNvSpPr>
            <p:nvPr/>
          </p:nvSpPr>
          <p:spPr bwMode="auto">
            <a:xfrm>
              <a:off x="2835" y="30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30962" name="Text Box 388"/>
            <p:cNvSpPr txBox="1">
              <a:spLocks noChangeArrowheads="1"/>
            </p:cNvSpPr>
            <p:nvPr/>
          </p:nvSpPr>
          <p:spPr bwMode="auto">
            <a:xfrm>
              <a:off x="3267"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0963" name="Text Box 389"/>
            <p:cNvSpPr txBox="1">
              <a:spLocks noChangeArrowheads="1"/>
            </p:cNvSpPr>
            <p:nvPr/>
          </p:nvSpPr>
          <p:spPr bwMode="auto">
            <a:xfrm>
              <a:off x="3699"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0964" name="Text Box 390"/>
            <p:cNvSpPr txBox="1">
              <a:spLocks noChangeArrowheads="1"/>
            </p:cNvSpPr>
            <p:nvPr/>
          </p:nvSpPr>
          <p:spPr bwMode="auto">
            <a:xfrm>
              <a:off x="4131"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0965" name="Text Box 391"/>
            <p:cNvSpPr txBox="1">
              <a:spLocks noChangeArrowheads="1"/>
            </p:cNvSpPr>
            <p:nvPr/>
          </p:nvSpPr>
          <p:spPr bwMode="auto">
            <a:xfrm>
              <a:off x="1320" y="303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a3</a:t>
              </a:r>
            </a:p>
          </p:txBody>
        </p:sp>
        <p:sp>
          <p:nvSpPr>
            <p:cNvPr id="30966" name="Text Box 392"/>
            <p:cNvSpPr txBox="1">
              <a:spLocks noChangeArrowheads="1"/>
            </p:cNvSpPr>
            <p:nvPr/>
          </p:nvSpPr>
          <p:spPr bwMode="auto">
            <a:xfrm>
              <a:off x="4251"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30967" name="Text Box 393"/>
            <p:cNvSpPr txBox="1">
              <a:spLocks noChangeArrowheads="1"/>
            </p:cNvSpPr>
            <p:nvPr/>
          </p:nvSpPr>
          <p:spPr bwMode="auto">
            <a:xfrm>
              <a:off x="4899"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4</a:t>
              </a:r>
            </a:p>
          </p:txBody>
        </p:sp>
        <p:sp>
          <p:nvSpPr>
            <p:cNvPr id="30968" name="Text Box 394"/>
            <p:cNvSpPr txBox="1">
              <a:spLocks noChangeArrowheads="1"/>
            </p:cNvSpPr>
            <p:nvPr/>
          </p:nvSpPr>
          <p:spPr bwMode="auto">
            <a:xfrm>
              <a:off x="4707" y="303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k</a:t>
              </a:r>
            </a:p>
          </p:txBody>
        </p:sp>
        <p:sp>
          <p:nvSpPr>
            <p:cNvPr id="30969" name="Text Box 395"/>
            <p:cNvSpPr txBox="1">
              <a:spLocks noChangeArrowheads="1"/>
            </p:cNvSpPr>
            <p:nvPr/>
          </p:nvSpPr>
          <p:spPr bwMode="auto">
            <a:xfrm>
              <a:off x="4899"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3</a:t>
              </a:r>
            </a:p>
          </p:txBody>
        </p:sp>
        <p:sp>
          <p:nvSpPr>
            <p:cNvPr id="30970" name="Text Box 396"/>
            <p:cNvSpPr txBox="1">
              <a:spLocks noChangeArrowheads="1"/>
            </p:cNvSpPr>
            <p:nvPr/>
          </p:nvSpPr>
          <p:spPr bwMode="auto">
            <a:xfrm>
              <a:off x="4728" y="2602"/>
              <a:ext cx="1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j</a:t>
              </a:r>
            </a:p>
          </p:txBody>
        </p:sp>
        <p:sp>
          <p:nvSpPr>
            <p:cNvPr id="30971" name="Text Box 397"/>
            <p:cNvSpPr txBox="1">
              <a:spLocks noChangeArrowheads="1"/>
            </p:cNvSpPr>
            <p:nvPr/>
          </p:nvSpPr>
          <p:spPr bwMode="auto">
            <a:xfrm>
              <a:off x="4899" y="217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1</a:t>
              </a:r>
            </a:p>
          </p:txBody>
        </p:sp>
        <p:sp>
          <p:nvSpPr>
            <p:cNvPr id="30972" name="Text Box 398"/>
            <p:cNvSpPr txBox="1">
              <a:spLocks noChangeArrowheads="1"/>
            </p:cNvSpPr>
            <p:nvPr/>
          </p:nvSpPr>
          <p:spPr bwMode="auto">
            <a:xfrm>
              <a:off x="4707" y="217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i</a:t>
              </a:r>
            </a:p>
          </p:txBody>
        </p:sp>
      </p:grpSp>
      <p:grpSp>
        <p:nvGrpSpPr>
          <p:cNvPr id="12" name="Group 603"/>
          <p:cNvGrpSpPr>
            <a:grpSpLocks/>
          </p:cNvGrpSpPr>
          <p:nvPr/>
        </p:nvGrpSpPr>
        <p:grpSpPr bwMode="auto">
          <a:xfrm>
            <a:off x="571501" y="2032000"/>
            <a:ext cx="6705600" cy="4724400"/>
            <a:chOff x="1224" y="346"/>
            <a:chExt cx="4224" cy="2976"/>
          </a:xfrm>
        </p:grpSpPr>
        <p:sp>
          <p:nvSpPr>
            <p:cNvPr id="30895" name="Rectangle 400"/>
            <p:cNvSpPr>
              <a:spLocks noChangeArrowheads="1"/>
            </p:cNvSpPr>
            <p:nvPr/>
          </p:nvSpPr>
          <p:spPr bwMode="auto">
            <a:xfrm>
              <a:off x="1224" y="346"/>
              <a:ext cx="4224" cy="2976"/>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30896" name="Text Box 401"/>
            <p:cNvSpPr txBox="1">
              <a:spLocks noChangeArrowheads="1"/>
            </p:cNvSpPr>
            <p:nvPr/>
          </p:nvSpPr>
          <p:spPr bwMode="auto">
            <a:xfrm>
              <a:off x="1272" y="384"/>
              <a:ext cx="4128" cy="1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merge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l1</a:t>
              </a:r>
              <a:r>
                <a:rPr lang="en-US" altLang="en-US" sz="2000">
                  <a:latin typeface="Times New Roman" pitchFamily="18" charset="0"/>
                </a:rPr>
                <a:t>…</a:t>
              </a:r>
              <a:r>
                <a:rPr lang="en-US" altLang="en-US" sz="2000" i="1">
                  <a:latin typeface="Times New Roman" pitchFamily="18" charset="0"/>
                </a:rPr>
                <a:t>r1</a:t>
              </a:r>
              <a:r>
                <a:rPr lang="en-US" altLang="en-US" sz="2000">
                  <a:latin typeface="Times New Roman" pitchFamily="18" charset="0"/>
                </a:rPr>
                <a:t>] and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l2</a:t>
              </a:r>
              <a:r>
                <a:rPr lang="en-US" altLang="en-US" sz="2000">
                  <a:latin typeface="Times New Roman" pitchFamily="18" charset="0"/>
                </a:rPr>
                <a:t>…</a:t>
              </a:r>
              <a:r>
                <a:rPr lang="en-US" altLang="en-US" sz="2000" i="1">
                  <a:latin typeface="Times New Roman" pitchFamily="18" charset="0"/>
                </a:rPr>
                <a:t>r2</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1.	Set </a:t>
              </a:r>
              <a:r>
                <a:rPr lang="en-US" altLang="en-US" sz="2000" i="1">
                  <a:latin typeface="Times New Roman" pitchFamily="18" charset="0"/>
                </a:rPr>
                <a:t>i</a:t>
              </a:r>
              <a:r>
                <a:rPr lang="en-US" altLang="en-US" sz="2000">
                  <a:latin typeface="Times New Roman" pitchFamily="18" charset="0"/>
                </a:rPr>
                <a:t> = </a:t>
              </a:r>
              <a:r>
                <a:rPr lang="en-US" altLang="en-US" sz="2000" i="1">
                  <a:latin typeface="Times New Roman" pitchFamily="18" charset="0"/>
                </a:rPr>
                <a:t>l1</a:t>
              </a:r>
              <a:r>
                <a:rPr lang="en-US" altLang="en-US" sz="2000">
                  <a:latin typeface="Times New Roman" pitchFamily="18" charset="0"/>
                </a:rPr>
                <a:t>, set </a:t>
              </a:r>
              <a:r>
                <a:rPr lang="en-US" altLang="en-US" sz="2000" i="1">
                  <a:latin typeface="Times New Roman" pitchFamily="18" charset="0"/>
                </a:rPr>
                <a:t>j</a:t>
              </a:r>
              <a:r>
                <a:rPr lang="en-US" altLang="en-US" sz="2000">
                  <a:latin typeface="Times New Roman" pitchFamily="18" charset="0"/>
                </a:rPr>
                <a:t> = </a:t>
              </a:r>
              <a:r>
                <a:rPr lang="en-US" altLang="en-US" sz="2000" i="1">
                  <a:latin typeface="Times New Roman" pitchFamily="18" charset="0"/>
                </a:rPr>
                <a:t>l2</a:t>
              </a:r>
              <a:r>
                <a:rPr lang="en-US" altLang="en-US" sz="2000">
                  <a:latin typeface="Times New Roman" pitchFamily="18" charset="0"/>
                </a:rPr>
                <a:t>, and set </a:t>
              </a:r>
              <a:r>
                <a:rPr lang="en-US" altLang="en-US" sz="2000" i="1">
                  <a:latin typeface="Times New Roman" pitchFamily="18" charset="0"/>
                </a:rPr>
                <a:t>k</a:t>
              </a:r>
              <a:r>
                <a:rPr lang="en-US" altLang="en-US" sz="2000">
                  <a:latin typeface="Times New Roman" pitchFamily="18" charset="0"/>
                </a:rPr>
                <a:t> = </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a:t>
              </a:r>
              <a:r>
                <a:rPr lang="en-US" altLang="en-US" sz="2000">
                  <a:solidFill>
                    <a:srgbClr val="FF0000"/>
                  </a:solidFill>
                  <a:latin typeface="Times New Roman" pitchFamily="18" charset="0"/>
                </a:rPr>
                <a:t>While </a:t>
              </a:r>
              <a:r>
                <a:rPr lang="en-US" altLang="en-US" sz="2000" i="1">
                  <a:solidFill>
                    <a:srgbClr val="FF0000"/>
                  </a:solidFill>
                  <a:latin typeface="Times New Roman" pitchFamily="18" charset="0"/>
                </a:rPr>
                <a:t>i</a:t>
              </a:r>
              <a:r>
                <a:rPr lang="en-US" altLang="en-US" sz="2000">
                  <a:solidFill>
                    <a:srgbClr val="FF0000"/>
                  </a:solidFill>
                  <a:latin typeface="Times New Roman" pitchFamily="18" charset="0"/>
                </a:rPr>
                <a:t> </a:t>
              </a:r>
              <a:r>
                <a:rPr lang="en-US" altLang="en-US" sz="2000">
                  <a:solidFill>
                    <a:srgbClr val="FF0000"/>
                  </a:solidFill>
                  <a:latin typeface="Times New Roman" pitchFamily="18" charset="0"/>
                  <a:sym typeface="Symbol" pitchFamily="18" charset="2"/>
                </a:rPr>
                <a:t></a:t>
              </a:r>
              <a:r>
                <a:rPr lang="en-US" altLang="en-US" sz="2000">
                  <a:solidFill>
                    <a:srgbClr val="FF0000"/>
                  </a:solidFill>
                  <a:latin typeface="Times New Roman" pitchFamily="18" charset="0"/>
                </a:rPr>
                <a:t> </a:t>
              </a:r>
              <a:r>
                <a:rPr lang="en-US" altLang="en-US" sz="2000" i="1">
                  <a:solidFill>
                    <a:srgbClr val="FF0000"/>
                  </a:solidFill>
                  <a:latin typeface="Times New Roman" pitchFamily="18" charset="0"/>
                </a:rPr>
                <a:t>r1</a:t>
              </a:r>
              <a:r>
                <a:rPr lang="en-US" altLang="en-US" sz="2000">
                  <a:solidFill>
                    <a:srgbClr val="FF0000"/>
                  </a:solidFill>
                  <a:latin typeface="Times New Roman" pitchFamily="18" charset="0"/>
                </a:rPr>
                <a:t> and </a:t>
              </a:r>
              <a:r>
                <a:rPr lang="en-US" altLang="en-US" sz="2000" i="1">
                  <a:solidFill>
                    <a:srgbClr val="FF0000"/>
                  </a:solidFill>
                  <a:latin typeface="Times New Roman" pitchFamily="18" charset="0"/>
                </a:rPr>
                <a:t>j</a:t>
              </a:r>
              <a:r>
                <a:rPr lang="en-US" altLang="en-US" sz="2000">
                  <a:solidFill>
                    <a:srgbClr val="FF0000"/>
                  </a:solidFill>
                  <a:latin typeface="Times New Roman" pitchFamily="18" charset="0"/>
                </a:rPr>
                <a:t> </a:t>
              </a:r>
              <a:r>
                <a:rPr lang="en-US" altLang="en-US" sz="2000">
                  <a:solidFill>
                    <a:srgbClr val="FF0000"/>
                  </a:solidFill>
                  <a:latin typeface="Times New Roman" pitchFamily="18" charset="0"/>
                  <a:sym typeface="Symbol" pitchFamily="18" charset="2"/>
                </a:rPr>
                <a:t></a:t>
              </a:r>
              <a:r>
                <a:rPr lang="en-US" altLang="en-US" sz="2000">
                  <a:solidFill>
                    <a:srgbClr val="FF0000"/>
                  </a:solidFill>
                  <a:latin typeface="Times New Roman" pitchFamily="18" charset="0"/>
                </a:rPr>
                <a:t> </a:t>
              </a:r>
              <a:r>
                <a:rPr lang="en-US" altLang="en-US" sz="2000" i="1">
                  <a:solidFill>
                    <a:srgbClr val="FF0000"/>
                  </a:solidFill>
                  <a:latin typeface="Times New Roman" pitchFamily="18" charset="0"/>
                </a:rPr>
                <a:t>r2</a:t>
              </a:r>
              <a:r>
                <a:rPr lang="en-US" altLang="en-US" sz="2000">
                  <a:solidFill>
                    <a:srgbClr val="FF0000"/>
                  </a:solidFill>
                  <a:latin typeface="Times New Roman" pitchFamily="18" charset="0"/>
                </a:rPr>
                <a:t>, repeat:</a:t>
              </a:r>
              <a:br>
                <a:rPr lang="en-US" altLang="en-US" sz="2000">
                  <a:latin typeface="Times New Roman" pitchFamily="18" charset="0"/>
                </a:rPr>
              </a:br>
              <a:r>
                <a:rPr lang="en-US" altLang="en-US" sz="2000">
                  <a:latin typeface="Times New Roman" pitchFamily="18" charset="0"/>
                </a:rPr>
                <a:t>	2.1.	If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i</a:t>
              </a:r>
              <a:r>
                <a:rPr lang="en-US" altLang="en-US" sz="2000">
                  <a:latin typeface="Times New Roman" pitchFamily="18" charset="0"/>
                </a:rPr>
                <a:t>] is less than or equal to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j</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2.1.1.	Copy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i</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k</a:t>
              </a:r>
              <a:r>
                <a:rPr lang="en-US" altLang="en-US" sz="2000">
                  <a:latin typeface="Times New Roman" pitchFamily="18" charset="0"/>
                </a:rPr>
                <a:t>], then increment </a:t>
              </a:r>
              <a:r>
                <a:rPr lang="en-US" altLang="en-US" sz="2000" i="1">
                  <a:latin typeface="Times New Roman" pitchFamily="18" charset="0"/>
                </a:rPr>
                <a:t>i</a:t>
              </a:r>
              <a:r>
                <a:rPr lang="en-US" altLang="en-US" sz="2000">
                  <a:latin typeface="Times New Roman" pitchFamily="18" charset="0"/>
                </a:rPr>
                <a:t> and </a:t>
              </a:r>
              <a:r>
                <a:rPr lang="en-US" altLang="en-US" sz="2000" i="1">
                  <a:latin typeface="Times New Roman" pitchFamily="18" charset="0"/>
                </a:rPr>
                <a:t>k</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2.2.	Else:</a:t>
              </a:r>
              <a:br>
                <a:rPr lang="en-US" altLang="en-US" sz="2000">
                  <a:latin typeface="Times New Roman" pitchFamily="18" charset="0"/>
                </a:rPr>
              </a:br>
              <a:r>
                <a:rPr lang="en-US" altLang="en-US" sz="2000">
                  <a:latin typeface="Times New Roman" pitchFamily="18" charset="0"/>
                </a:rPr>
                <a:t>		2.2.1.	Copy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j</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k</a:t>
              </a:r>
              <a:r>
                <a:rPr lang="en-US" altLang="en-US" sz="2000">
                  <a:latin typeface="Times New Roman" pitchFamily="18" charset="0"/>
                </a:rPr>
                <a:t>], then increment </a:t>
              </a:r>
              <a:r>
                <a:rPr lang="en-US" altLang="en-US" sz="2000" i="1">
                  <a:latin typeface="Times New Roman" pitchFamily="18" charset="0"/>
                </a:rPr>
                <a:t>j</a:t>
              </a:r>
              <a:r>
                <a:rPr lang="en-US" altLang="en-US" sz="2000">
                  <a:latin typeface="Times New Roman" pitchFamily="18" charset="0"/>
                </a:rPr>
                <a:t> and </a:t>
              </a:r>
              <a:r>
                <a:rPr lang="en-US" altLang="en-US" sz="2000" i="1">
                  <a:latin typeface="Times New Roman" pitchFamily="18" charset="0"/>
                </a:rPr>
                <a:t>k</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a:t>
              </a:r>
            </a:p>
          </p:txBody>
        </p:sp>
        <p:sp>
          <p:nvSpPr>
            <p:cNvPr id="30897" name="Text Box 402"/>
            <p:cNvSpPr txBox="1">
              <a:spLocks noChangeArrowheads="1"/>
            </p:cNvSpPr>
            <p:nvPr/>
          </p:nvSpPr>
          <p:spPr bwMode="auto">
            <a:xfrm>
              <a:off x="1512" y="2170"/>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30898" name="Text Box 403"/>
            <p:cNvSpPr txBox="1">
              <a:spLocks noChangeArrowheads="1"/>
            </p:cNvSpPr>
            <p:nvPr/>
          </p:nvSpPr>
          <p:spPr bwMode="auto">
            <a:xfrm>
              <a:off x="1416" y="1978"/>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l1 </a:t>
              </a:r>
              <a:r>
                <a:rPr lang="en-US" altLang="en-US" sz="1800">
                  <a:latin typeface="Times New Roman" pitchFamily="18" charset="0"/>
                </a:rPr>
                <a:t>= 0</a:t>
              </a:r>
            </a:p>
          </p:txBody>
        </p:sp>
        <p:sp>
          <p:nvSpPr>
            <p:cNvPr id="30899" name="Text Box 404"/>
            <p:cNvSpPr txBox="1">
              <a:spLocks noChangeArrowheads="1"/>
            </p:cNvSpPr>
            <p:nvPr/>
          </p:nvSpPr>
          <p:spPr bwMode="auto">
            <a:xfrm>
              <a:off x="1992" y="1978"/>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 = </a:t>
              </a:r>
              <a:r>
                <a:rPr lang="en-US" altLang="en-US" sz="1800" i="1">
                  <a:latin typeface="Times New Roman" pitchFamily="18" charset="0"/>
                </a:rPr>
                <a:t>r1</a:t>
              </a:r>
              <a:endParaRPr lang="en-US" altLang="en-US" sz="1800">
                <a:latin typeface="Times New Roman" pitchFamily="18" charset="0"/>
              </a:endParaRPr>
            </a:p>
          </p:txBody>
        </p:sp>
        <p:sp>
          <p:nvSpPr>
            <p:cNvPr id="30900" name="Text Box 405"/>
            <p:cNvSpPr txBox="1">
              <a:spLocks noChangeArrowheads="1"/>
            </p:cNvSpPr>
            <p:nvPr/>
          </p:nvSpPr>
          <p:spPr bwMode="auto">
            <a:xfrm>
              <a:off x="1971" y="217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30901" name="Text Box 406"/>
            <p:cNvSpPr txBox="1">
              <a:spLocks noChangeArrowheads="1"/>
            </p:cNvSpPr>
            <p:nvPr/>
          </p:nvSpPr>
          <p:spPr bwMode="auto">
            <a:xfrm>
              <a:off x="1320" y="217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a1</a:t>
              </a:r>
            </a:p>
          </p:txBody>
        </p:sp>
        <p:sp>
          <p:nvSpPr>
            <p:cNvPr id="30902" name="Text Box 407"/>
            <p:cNvSpPr txBox="1">
              <a:spLocks noChangeArrowheads="1"/>
            </p:cNvSpPr>
            <p:nvPr/>
          </p:nvSpPr>
          <p:spPr bwMode="auto">
            <a:xfrm>
              <a:off x="1512" y="2602"/>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30903" name="Text Box 408"/>
            <p:cNvSpPr txBox="1">
              <a:spLocks noChangeArrowheads="1"/>
            </p:cNvSpPr>
            <p:nvPr/>
          </p:nvSpPr>
          <p:spPr bwMode="auto">
            <a:xfrm>
              <a:off x="1416" y="2410"/>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l2 </a:t>
              </a:r>
              <a:r>
                <a:rPr lang="en-US" altLang="en-US" sz="1800">
                  <a:latin typeface="Times New Roman" pitchFamily="18" charset="0"/>
                </a:rPr>
                <a:t>= 0</a:t>
              </a:r>
            </a:p>
          </p:txBody>
        </p:sp>
        <p:sp>
          <p:nvSpPr>
            <p:cNvPr id="30904" name="Text Box 409"/>
            <p:cNvSpPr txBox="1">
              <a:spLocks noChangeArrowheads="1"/>
            </p:cNvSpPr>
            <p:nvPr/>
          </p:nvSpPr>
          <p:spPr bwMode="auto">
            <a:xfrm>
              <a:off x="2092" y="241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0905" name="Text Box 410"/>
            <p:cNvSpPr txBox="1">
              <a:spLocks noChangeArrowheads="1"/>
            </p:cNvSpPr>
            <p:nvPr/>
          </p:nvSpPr>
          <p:spPr bwMode="auto">
            <a:xfrm>
              <a:off x="2520" y="241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0906" name="Text Box 411"/>
            <p:cNvSpPr txBox="1">
              <a:spLocks noChangeArrowheads="1"/>
            </p:cNvSpPr>
            <p:nvPr/>
          </p:nvSpPr>
          <p:spPr bwMode="auto">
            <a:xfrm>
              <a:off x="2952" y="241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0907" name="Text Box 412"/>
            <p:cNvSpPr txBox="1">
              <a:spLocks noChangeArrowheads="1"/>
            </p:cNvSpPr>
            <p:nvPr/>
          </p:nvSpPr>
          <p:spPr bwMode="auto">
            <a:xfrm>
              <a:off x="3288" y="2410"/>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 = </a:t>
              </a:r>
              <a:r>
                <a:rPr lang="en-US" altLang="en-US" sz="1800" i="1">
                  <a:latin typeface="Times New Roman" pitchFamily="18" charset="0"/>
                </a:rPr>
                <a:t>r2</a:t>
              </a:r>
              <a:endParaRPr lang="en-US" altLang="en-US" sz="1800">
                <a:latin typeface="Times New Roman" pitchFamily="18" charset="0"/>
              </a:endParaRPr>
            </a:p>
          </p:txBody>
        </p:sp>
        <p:sp>
          <p:nvSpPr>
            <p:cNvPr id="30908" name="Text Box 413"/>
            <p:cNvSpPr txBox="1">
              <a:spLocks noChangeArrowheads="1"/>
            </p:cNvSpPr>
            <p:nvPr/>
          </p:nvSpPr>
          <p:spPr bwMode="auto">
            <a:xfrm>
              <a:off x="1971" y="2602"/>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30909" name="Text Box 414"/>
            <p:cNvSpPr txBox="1">
              <a:spLocks noChangeArrowheads="1"/>
            </p:cNvSpPr>
            <p:nvPr/>
          </p:nvSpPr>
          <p:spPr bwMode="auto">
            <a:xfrm>
              <a:off x="2403" y="2602"/>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30910" name="Text Box 415"/>
            <p:cNvSpPr txBox="1">
              <a:spLocks noChangeArrowheads="1"/>
            </p:cNvSpPr>
            <p:nvPr/>
          </p:nvSpPr>
          <p:spPr bwMode="auto">
            <a:xfrm>
              <a:off x="2835"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30911" name="Text Box 416"/>
            <p:cNvSpPr txBox="1">
              <a:spLocks noChangeArrowheads="1"/>
            </p:cNvSpPr>
            <p:nvPr/>
          </p:nvSpPr>
          <p:spPr bwMode="auto">
            <a:xfrm>
              <a:off x="3267"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30912" name="Text Box 417"/>
            <p:cNvSpPr txBox="1">
              <a:spLocks noChangeArrowheads="1"/>
            </p:cNvSpPr>
            <p:nvPr/>
          </p:nvSpPr>
          <p:spPr bwMode="auto">
            <a:xfrm>
              <a:off x="1320" y="2602"/>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a2</a:t>
              </a:r>
            </a:p>
          </p:txBody>
        </p:sp>
        <p:sp>
          <p:nvSpPr>
            <p:cNvPr id="30913" name="Text Box 418"/>
            <p:cNvSpPr txBox="1">
              <a:spLocks noChangeArrowheads="1"/>
            </p:cNvSpPr>
            <p:nvPr/>
          </p:nvSpPr>
          <p:spPr bwMode="auto">
            <a:xfrm>
              <a:off x="1512" y="30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30914" name="Text Box 419"/>
            <p:cNvSpPr txBox="1">
              <a:spLocks noChangeArrowheads="1"/>
            </p:cNvSpPr>
            <p:nvPr/>
          </p:nvSpPr>
          <p:spPr bwMode="auto">
            <a:xfrm>
              <a:off x="1416" y="2842"/>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l3 </a:t>
              </a:r>
              <a:r>
                <a:rPr lang="en-US" altLang="en-US" sz="1800">
                  <a:latin typeface="Times New Roman" pitchFamily="18" charset="0"/>
                </a:rPr>
                <a:t>= 0</a:t>
              </a:r>
            </a:p>
          </p:txBody>
        </p:sp>
        <p:sp>
          <p:nvSpPr>
            <p:cNvPr id="30915" name="Text Box 420"/>
            <p:cNvSpPr txBox="1">
              <a:spLocks noChangeArrowheads="1"/>
            </p:cNvSpPr>
            <p:nvPr/>
          </p:nvSpPr>
          <p:spPr bwMode="auto">
            <a:xfrm>
              <a:off x="2092"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0916" name="Text Box 421"/>
            <p:cNvSpPr txBox="1">
              <a:spLocks noChangeArrowheads="1"/>
            </p:cNvSpPr>
            <p:nvPr/>
          </p:nvSpPr>
          <p:spPr bwMode="auto">
            <a:xfrm>
              <a:off x="2520"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0917" name="Text Box 422"/>
            <p:cNvSpPr txBox="1">
              <a:spLocks noChangeArrowheads="1"/>
            </p:cNvSpPr>
            <p:nvPr/>
          </p:nvSpPr>
          <p:spPr bwMode="auto">
            <a:xfrm>
              <a:off x="2952"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0918" name="Text Box 423"/>
            <p:cNvSpPr txBox="1">
              <a:spLocks noChangeArrowheads="1"/>
            </p:cNvSpPr>
            <p:nvPr/>
          </p:nvSpPr>
          <p:spPr bwMode="auto">
            <a:xfrm>
              <a:off x="3384"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30919" name="Text Box 424"/>
            <p:cNvSpPr txBox="1">
              <a:spLocks noChangeArrowheads="1"/>
            </p:cNvSpPr>
            <p:nvPr/>
          </p:nvSpPr>
          <p:spPr bwMode="auto">
            <a:xfrm>
              <a:off x="3816"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30920" name="Text Box 425"/>
            <p:cNvSpPr txBox="1">
              <a:spLocks noChangeArrowheads="1"/>
            </p:cNvSpPr>
            <p:nvPr/>
          </p:nvSpPr>
          <p:spPr bwMode="auto">
            <a:xfrm>
              <a:off x="1971" y="30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30921" name="Text Box 426"/>
            <p:cNvSpPr txBox="1">
              <a:spLocks noChangeArrowheads="1"/>
            </p:cNvSpPr>
            <p:nvPr/>
          </p:nvSpPr>
          <p:spPr bwMode="auto">
            <a:xfrm>
              <a:off x="2403" y="30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30922" name="Text Box 427"/>
            <p:cNvSpPr txBox="1">
              <a:spLocks noChangeArrowheads="1"/>
            </p:cNvSpPr>
            <p:nvPr/>
          </p:nvSpPr>
          <p:spPr bwMode="auto">
            <a:xfrm>
              <a:off x="2835" y="30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30923" name="Text Box 428"/>
            <p:cNvSpPr txBox="1">
              <a:spLocks noChangeArrowheads="1"/>
            </p:cNvSpPr>
            <p:nvPr/>
          </p:nvSpPr>
          <p:spPr bwMode="auto">
            <a:xfrm>
              <a:off x="3267"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0924" name="Text Box 429"/>
            <p:cNvSpPr txBox="1">
              <a:spLocks noChangeArrowheads="1"/>
            </p:cNvSpPr>
            <p:nvPr/>
          </p:nvSpPr>
          <p:spPr bwMode="auto">
            <a:xfrm>
              <a:off x="3699"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0925" name="Text Box 430"/>
            <p:cNvSpPr txBox="1">
              <a:spLocks noChangeArrowheads="1"/>
            </p:cNvSpPr>
            <p:nvPr/>
          </p:nvSpPr>
          <p:spPr bwMode="auto">
            <a:xfrm>
              <a:off x="4131"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0926" name="Text Box 431"/>
            <p:cNvSpPr txBox="1">
              <a:spLocks noChangeArrowheads="1"/>
            </p:cNvSpPr>
            <p:nvPr/>
          </p:nvSpPr>
          <p:spPr bwMode="auto">
            <a:xfrm>
              <a:off x="1320" y="303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a3</a:t>
              </a:r>
            </a:p>
          </p:txBody>
        </p:sp>
        <p:sp>
          <p:nvSpPr>
            <p:cNvPr id="30927" name="Text Box 432"/>
            <p:cNvSpPr txBox="1">
              <a:spLocks noChangeArrowheads="1"/>
            </p:cNvSpPr>
            <p:nvPr/>
          </p:nvSpPr>
          <p:spPr bwMode="auto">
            <a:xfrm>
              <a:off x="4251"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30928" name="Text Box 433"/>
            <p:cNvSpPr txBox="1">
              <a:spLocks noChangeArrowheads="1"/>
            </p:cNvSpPr>
            <p:nvPr/>
          </p:nvSpPr>
          <p:spPr bwMode="auto">
            <a:xfrm>
              <a:off x="4899"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4</a:t>
              </a:r>
            </a:p>
          </p:txBody>
        </p:sp>
        <p:sp>
          <p:nvSpPr>
            <p:cNvPr id="30929" name="Text Box 434"/>
            <p:cNvSpPr txBox="1">
              <a:spLocks noChangeArrowheads="1"/>
            </p:cNvSpPr>
            <p:nvPr/>
          </p:nvSpPr>
          <p:spPr bwMode="auto">
            <a:xfrm>
              <a:off x="4707" y="303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k</a:t>
              </a:r>
            </a:p>
          </p:txBody>
        </p:sp>
        <p:sp>
          <p:nvSpPr>
            <p:cNvPr id="30930" name="Text Box 435"/>
            <p:cNvSpPr txBox="1">
              <a:spLocks noChangeArrowheads="1"/>
            </p:cNvSpPr>
            <p:nvPr/>
          </p:nvSpPr>
          <p:spPr bwMode="auto">
            <a:xfrm>
              <a:off x="4899"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3</a:t>
              </a:r>
            </a:p>
          </p:txBody>
        </p:sp>
        <p:sp>
          <p:nvSpPr>
            <p:cNvPr id="30931" name="Text Box 436"/>
            <p:cNvSpPr txBox="1">
              <a:spLocks noChangeArrowheads="1"/>
            </p:cNvSpPr>
            <p:nvPr/>
          </p:nvSpPr>
          <p:spPr bwMode="auto">
            <a:xfrm>
              <a:off x="4728" y="2602"/>
              <a:ext cx="1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j</a:t>
              </a:r>
            </a:p>
          </p:txBody>
        </p:sp>
        <p:sp>
          <p:nvSpPr>
            <p:cNvPr id="30932" name="Text Box 437"/>
            <p:cNvSpPr txBox="1">
              <a:spLocks noChangeArrowheads="1"/>
            </p:cNvSpPr>
            <p:nvPr/>
          </p:nvSpPr>
          <p:spPr bwMode="auto">
            <a:xfrm>
              <a:off x="4899" y="217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1</a:t>
              </a:r>
            </a:p>
          </p:txBody>
        </p:sp>
        <p:sp>
          <p:nvSpPr>
            <p:cNvPr id="30933" name="Text Box 438"/>
            <p:cNvSpPr txBox="1">
              <a:spLocks noChangeArrowheads="1"/>
            </p:cNvSpPr>
            <p:nvPr/>
          </p:nvSpPr>
          <p:spPr bwMode="auto">
            <a:xfrm>
              <a:off x="4707" y="217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i</a:t>
              </a:r>
            </a:p>
          </p:txBody>
        </p:sp>
      </p:grpSp>
      <p:grpSp>
        <p:nvGrpSpPr>
          <p:cNvPr id="13" name="Group 602"/>
          <p:cNvGrpSpPr>
            <a:grpSpLocks/>
          </p:cNvGrpSpPr>
          <p:nvPr/>
        </p:nvGrpSpPr>
        <p:grpSpPr bwMode="auto">
          <a:xfrm>
            <a:off x="571501" y="2032000"/>
            <a:ext cx="6705600" cy="4724400"/>
            <a:chOff x="1224" y="346"/>
            <a:chExt cx="4224" cy="2976"/>
          </a:xfrm>
        </p:grpSpPr>
        <p:sp>
          <p:nvSpPr>
            <p:cNvPr id="30856" name="Rectangle 440"/>
            <p:cNvSpPr>
              <a:spLocks noChangeArrowheads="1"/>
            </p:cNvSpPr>
            <p:nvPr/>
          </p:nvSpPr>
          <p:spPr bwMode="auto">
            <a:xfrm>
              <a:off x="1224" y="346"/>
              <a:ext cx="4224" cy="2976"/>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30857" name="Text Box 441"/>
            <p:cNvSpPr txBox="1">
              <a:spLocks noChangeArrowheads="1"/>
            </p:cNvSpPr>
            <p:nvPr/>
          </p:nvSpPr>
          <p:spPr bwMode="auto">
            <a:xfrm>
              <a:off x="1272" y="384"/>
              <a:ext cx="4128" cy="1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merge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l1</a:t>
              </a:r>
              <a:r>
                <a:rPr lang="en-US" altLang="en-US" sz="2000">
                  <a:latin typeface="Times New Roman" pitchFamily="18" charset="0"/>
                </a:rPr>
                <a:t>…</a:t>
              </a:r>
              <a:r>
                <a:rPr lang="en-US" altLang="en-US" sz="2000" i="1">
                  <a:latin typeface="Times New Roman" pitchFamily="18" charset="0"/>
                </a:rPr>
                <a:t>r1</a:t>
              </a:r>
              <a:r>
                <a:rPr lang="en-US" altLang="en-US" sz="2000">
                  <a:latin typeface="Times New Roman" pitchFamily="18" charset="0"/>
                </a:rPr>
                <a:t>] and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l2</a:t>
              </a:r>
              <a:r>
                <a:rPr lang="en-US" altLang="en-US" sz="2000">
                  <a:latin typeface="Times New Roman" pitchFamily="18" charset="0"/>
                </a:rPr>
                <a:t>…</a:t>
              </a:r>
              <a:r>
                <a:rPr lang="en-US" altLang="en-US" sz="2000" i="1">
                  <a:latin typeface="Times New Roman" pitchFamily="18" charset="0"/>
                </a:rPr>
                <a:t>r2</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1.	Set </a:t>
              </a:r>
              <a:r>
                <a:rPr lang="en-US" altLang="en-US" sz="2000" i="1">
                  <a:latin typeface="Times New Roman" pitchFamily="18" charset="0"/>
                </a:rPr>
                <a:t>i</a:t>
              </a:r>
              <a:r>
                <a:rPr lang="en-US" altLang="en-US" sz="2000">
                  <a:latin typeface="Times New Roman" pitchFamily="18" charset="0"/>
                </a:rPr>
                <a:t> = </a:t>
              </a:r>
              <a:r>
                <a:rPr lang="en-US" altLang="en-US" sz="2000" i="1">
                  <a:latin typeface="Times New Roman" pitchFamily="18" charset="0"/>
                </a:rPr>
                <a:t>l1</a:t>
              </a:r>
              <a:r>
                <a:rPr lang="en-US" altLang="en-US" sz="2000">
                  <a:latin typeface="Times New Roman" pitchFamily="18" charset="0"/>
                </a:rPr>
                <a:t>, set </a:t>
              </a:r>
              <a:r>
                <a:rPr lang="en-US" altLang="en-US" sz="2000" i="1">
                  <a:latin typeface="Times New Roman" pitchFamily="18" charset="0"/>
                </a:rPr>
                <a:t>j</a:t>
              </a:r>
              <a:r>
                <a:rPr lang="en-US" altLang="en-US" sz="2000">
                  <a:latin typeface="Times New Roman" pitchFamily="18" charset="0"/>
                </a:rPr>
                <a:t> = </a:t>
              </a:r>
              <a:r>
                <a:rPr lang="en-US" altLang="en-US" sz="2000" i="1">
                  <a:latin typeface="Times New Roman" pitchFamily="18" charset="0"/>
                </a:rPr>
                <a:t>l2</a:t>
              </a:r>
              <a:r>
                <a:rPr lang="en-US" altLang="en-US" sz="2000">
                  <a:latin typeface="Times New Roman" pitchFamily="18" charset="0"/>
                </a:rPr>
                <a:t>, and set </a:t>
              </a:r>
              <a:r>
                <a:rPr lang="en-US" altLang="en-US" sz="2000" i="1">
                  <a:latin typeface="Times New Roman" pitchFamily="18" charset="0"/>
                </a:rPr>
                <a:t>k</a:t>
              </a:r>
              <a:r>
                <a:rPr lang="en-US" altLang="en-US" sz="2000">
                  <a:latin typeface="Times New Roman" pitchFamily="18" charset="0"/>
                </a:rPr>
                <a:t> = </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While </a:t>
              </a:r>
              <a:r>
                <a:rPr lang="en-US" altLang="en-US" sz="2000" i="1">
                  <a:latin typeface="Times New Roman" pitchFamily="18" charset="0"/>
                </a:rPr>
                <a:t>i</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r1</a:t>
              </a:r>
              <a:r>
                <a:rPr lang="en-US" altLang="en-US" sz="2000">
                  <a:latin typeface="Times New Roman" pitchFamily="18" charset="0"/>
                </a:rPr>
                <a:t> and </a:t>
              </a:r>
              <a:r>
                <a:rPr lang="en-US" altLang="en-US" sz="2000" i="1">
                  <a:latin typeface="Times New Roman" pitchFamily="18" charset="0"/>
                </a:rPr>
                <a:t>j</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r2</a:t>
              </a:r>
              <a:r>
                <a:rPr lang="en-US" altLang="en-US" sz="2000">
                  <a:latin typeface="Times New Roman" pitchFamily="18" charset="0"/>
                </a:rPr>
                <a:t>, repeat:</a:t>
              </a:r>
              <a:br>
                <a:rPr lang="en-US" altLang="en-US" sz="2000">
                  <a:latin typeface="Times New Roman" pitchFamily="18" charset="0"/>
                </a:rPr>
              </a:br>
              <a:r>
                <a:rPr lang="en-US" altLang="en-US" sz="2000">
                  <a:latin typeface="Times New Roman" pitchFamily="18" charset="0"/>
                </a:rPr>
                <a:t>	2.1.	</a:t>
              </a:r>
              <a:r>
                <a:rPr lang="en-US" altLang="en-US" sz="2000">
                  <a:solidFill>
                    <a:srgbClr val="FF0000"/>
                  </a:solidFill>
                  <a:latin typeface="Times New Roman" pitchFamily="18" charset="0"/>
                </a:rPr>
                <a:t>If </a:t>
              </a:r>
              <a:r>
                <a:rPr lang="en-US" altLang="en-US" sz="2000" i="1">
                  <a:solidFill>
                    <a:srgbClr val="FF0000"/>
                  </a:solidFill>
                  <a:latin typeface="Times New Roman" pitchFamily="18" charset="0"/>
                </a:rPr>
                <a:t>a1</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i</a:t>
              </a:r>
              <a:r>
                <a:rPr lang="en-US" altLang="en-US" sz="2000">
                  <a:solidFill>
                    <a:srgbClr val="FF0000"/>
                  </a:solidFill>
                  <a:latin typeface="Times New Roman" pitchFamily="18" charset="0"/>
                </a:rPr>
                <a:t>] is less than or equal to </a:t>
              </a:r>
              <a:r>
                <a:rPr lang="en-US" altLang="en-US" sz="2000" i="1">
                  <a:solidFill>
                    <a:srgbClr val="FF0000"/>
                  </a:solidFill>
                  <a:latin typeface="Times New Roman" pitchFamily="18" charset="0"/>
                </a:rPr>
                <a:t>a2</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j</a:t>
              </a:r>
              <a:r>
                <a:rPr lang="en-US" altLang="en-US" sz="2000">
                  <a:solidFill>
                    <a:srgbClr val="FF0000"/>
                  </a:solidFill>
                  <a:latin typeface="Times New Roman" pitchFamily="18" charset="0"/>
                </a:rPr>
                <a:t>]:</a:t>
              </a:r>
              <a:br>
                <a:rPr lang="en-US" altLang="en-US" sz="2000">
                  <a:latin typeface="Times New Roman" pitchFamily="18" charset="0"/>
                </a:rPr>
              </a:br>
              <a:r>
                <a:rPr lang="en-US" altLang="en-US" sz="2000">
                  <a:latin typeface="Times New Roman" pitchFamily="18" charset="0"/>
                </a:rPr>
                <a:t>		2.1.1.	</a:t>
              </a:r>
              <a:r>
                <a:rPr lang="en-US" altLang="en-US" sz="2000">
                  <a:solidFill>
                    <a:srgbClr val="FF0000"/>
                  </a:solidFill>
                  <a:latin typeface="Times New Roman" pitchFamily="18" charset="0"/>
                </a:rPr>
                <a:t>Copy </a:t>
              </a:r>
              <a:r>
                <a:rPr lang="en-US" altLang="en-US" sz="2000" i="1">
                  <a:solidFill>
                    <a:srgbClr val="FF0000"/>
                  </a:solidFill>
                  <a:latin typeface="Times New Roman" pitchFamily="18" charset="0"/>
                </a:rPr>
                <a:t>a1</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i</a:t>
              </a:r>
              <a:r>
                <a:rPr lang="en-US" altLang="en-US" sz="2000">
                  <a:solidFill>
                    <a:srgbClr val="FF0000"/>
                  </a:solidFill>
                  <a:latin typeface="Times New Roman" pitchFamily="18" charset="0"/>
                </a:rPr>
                <a:t>] into </a:t>
              </a:r>
              <a:r>
                <a:rPr lang="en-US" altLang="en-US" sz="2000" i="1">
                  <a:solidFill>
                    <a:srgbClr val="FF0000"/>
                  </a:solidFill>
                  <a:latin typeface="Times New Roman" pitchFamily="18" charset="0"/>
                </a:rPr>
                <a:t>a3</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k</a:t>
              </a:r>
              <a:r>
                <a:rPr lang="en-US" altLang="en-US" sz="2000">
                  <a:solidFill>
                    <a:srgbClr val="FF0000"/>
                  </a:solidFill>
                  <a:latin typeface="Times New Roman" pitchFamily="18" charset="0"/>
                </a:rPr>
                <a:t>], then increment </a:t>
              </a:r>
              <a:r>
                <a:rPr lang="en-US" altLang="en-US" sz="2000" i="1">
                  <a:solidFill>
                    <a:srgbClr val="FF0000"/>
                  </a:solidFill>
                  <a:latin typeface="Times New Roman" pitchFamily="18" charset="0"/>
                </a:rPr>
                <a:t>i</a:t>
              </a:r>
              <a:r>
                <a:rPr lang="en-US" altLang="en-US" sz="2000">
                  <a:solidFill>
                    <a:srgbClr val="FF0000"/>
                  </a:solidFill>
                  <a:latin typeface="Times New Roman" pitchFamily="18" charset="0"/>
                </a:rPr>
                <a:t> and </a:t>
              </a:r>
              <a:r>
                <a:rPr lang="en-US" altLang="en-US" sz="2000" i="1">
                  <a:solidFill>
                    <a:srgbClr val="FF0000"/>
                  </a:solidFill>
                  <a:latin typeface="Times New Roman" pitchFamily="18" charset="0"/>
                </a:rPr>
                <a:t>k</a:t>
              </a:r>
              <a:r>
                <a:rPr lang="en-US" altLang="en-US" sz="2000">
                  <a:solidFill>
                    <a:srgbClr val="FF0000"/>
                  </a:solidFill>
                  <a:latin typeface="Times New Roman" pitchFamily="18" charset="0"/>
                </a:rPr>
                <a:t>.</a:t>
              </a:r>
              <a:br>
                <a:rPr lang="en-US" altLang="en-US" sz="2000">
                  <a:latin typeface="Times New Roman" pitchFamily="18" charset="0"/>
                </a:rPr>
              </a:br>
              <a:r>
                <a:rPr lang="en-US" altLang="en-US" sz="2000">
                  <a:latin typeface="Times New Roman" pitchFamily="18" charset="0"/>
                </a:rPr>
                <a:t>	2.2.	Else:</a:t>
              </a:r>
              <a:br>
                <a:rPr lang="en-US" altLang="en-US" sz="2000">
                  <a:latin typeface="Times New Roman" pitchFamily="18" charset="0"/>
                </a:rPr>
              </a:br>
              <a:r>
                <a:rPr lang="en-US" altLang="en-US" sz="2000">
                  <a:latin typeface="Times New Roman" pitchFamily="18" charset="0"/>
                </a:rPr>
                <a:t>		2.2.1.	Copy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j</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k</a:t>
              </a:r>
              <a:r>
                <a:rPr lang="en-US" altLang="en-US" sz="2000">
                  <a:latin typeface="Times New Roman" pitchFamily="18" charset="0"/>
                </a:rPr>
                <a:t>], then increment </a:t>
              </a:r>
              <a:r>
                <a:rPr lang="en-US" altLang="en-US" sz="2000" i="1">
                  <a:latin typeface="Times New Roman" pitchFamily="18" charset="0"/>
                </a:rPr>
                <a:t>j</a:t>
              </a:r>
              <a:r>
                <a:rPr lang="en-US" altLang="en-US" sz="2000">
                  <a:latin typeface="Times New Roman" pitchFamily="18" charset="0"/>
                </a:rPr>
                <a:t> and </a:t>
              </a:r>
              <a:r>
                <a:rPr lang="en-US" altLang="en-US" sz="2000" i="1">
                  <a:latin typeface="Times New Roman" pitchFamily="18" charset="0"/>
                </a:rPr>
                <a:t>k</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a:t>
              </a:r>
            </a:p>
          </p:txBody>
        </p:sp>
        <p:sp>
          <p:nvSpPr>
            <p:cNvPr id="30858" name="Text Box 442"/>
            <p:cNvSpPr txBox="1">
              <a:spLocks noChangeArrowheads="1"/>
            </p:cNvSpPr>
            <p:nvPr/>
          </p:nvSpPr>
          <p:spPr bwMode="auto">
            <a:xfrm>
              <a:off x="1512" y="2170"/>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30859" name="Text Box 443"/>
            <p:cNvSpPr txBox="1">
              <a:spLocks noChangeArrowheads="1"/>
            </p:cNvSpPr>
            <p:nvPr/>
          </p:nvSpPr>
          <p:spPr bwMode="auto">
            <a:xfrm>
              <a:off x="1416" y="1978"/>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l1 </a:t>
              </a:r>
              <a:r>
                <a:rPr lang="en-US" altLang="en-US" sz="1800">
                  <a:latin typeface="Times New Roman" pitchFamily="18" charset="0"/>
                </a:rPr>
                <a:t>= 0</a:t>
              </a:r>
            </a:p>
          </p:txBody>
        </p:sp>
        <p:sp>
          <p:nvSpPr>
            <p:cNvPr id="30860" name="Text Box 444"/>
            <p:cNvSpPr txBox="1">
              <a:spLocks noChangeArrowheads="1"/>
            </p:cNvSpPr>
            <p:nvPr/>
          </p:nvSpPr>
          <p:spPr bwMode="auto">
            <a:xfrm>
              <a:off x="1992" y="1978"/>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 = </a:t>
              </a:r>
              <a:r>
                <a:rPr lang="en-US" altLang="en-US" sz="1800" i="1">
                  <a:latin typeface="Times New Roman" pitchFamily="18" charset="0"/>
                </a:rPr>
                <a:t>r1</a:t>
              </a:r>
              <a:endParaRPr lang="en-US" altLang="en-US" sz="1800">
                <a:latin typeface="Times New Roman" pitchFamily="18" charset="0"/>
              </a:endParaRPr>
            </a:p>
          </p:txBody>
        </p:sp>
        <p:sp>
          <p:nvSpPr>
            <p:cNvPr id="30861" name="Text Box 445"/>
            <p:cNvSpPr txBox="1">
              <a:spLocks noChangeArrowheads="1"/>
            </p:cNvSpPr>
            <p:nvPr/>
          </p:nvSpPr>
          <p:spPr bwMode="auto">
            <a:xfrm>
              <a:off x="1971" y="2170"/>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30862" name="Text Box 446"/>
            <p:cNvSpPr txBox="1">
              <a:spLocks noChangeArrowheads="1"/>
            </p:cNvSpPr>
            <p:nvPr/>
          </p:nvSpPr>
          <p:spPr bwMode="auto">
            <a:xfrm>
              <a:off x="1320" y="217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a1</a:t>
              </a:r>
            </a:p>
          </p:txBody>
        </p:sp>
        <p:sp>
          <p:nvSpPr>
            <p:cNvPr id="30863" name="Text Box 447"/>
            <p:cNvSpPr txBox="1">
              <a:spLocks noChangeArrowheads="1"/>
            </p:cNvSpPr>
            <p:nvPr/>
          </p:nvSpPr>
          <p:spPr bwMode="auto">
            <a:xfrm>
              <a:off x="1512" y="2602"/>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30864" name="Text Box 448"/>
            <p:cNvSpPr txBox="1">
              <a:spLocks noChangeArrowheads="1"/>
            </p:cNvSpPr>
            <p:nvPr/>
          </p:nvSpPr>
          <p:spPr bwMode="auto">
            <a:xfrm>
              <a:off x="1416" y="2410"/>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l2 </a:t>
              </a:r>
              <a:r>
                <a:rPr lang="en-US" altLang="en-US" sz="1800">
                  <a:latin typeface="Times New Roman" pitchFamily="18" charset="0"/>
                </a:rPr>
                <a:t>= 0</a:t>
              </a:r>
            </a:p>
          </p:txBody>
        </p:sp>
        <p:sp>
          <p:nvSpPr>
            <p:cNvPr id="30865" name="Text Box 449"/>
            <p:cNvSpPr txBox="1">
              <a:spLocks noChangeArrowheads="1"/>
            </p:cNvSpPr>
            <p:nvPr/>
          </p:nvSpPr>
          <p:spPr bwMode="auto">
            <a:xfrm>
              <a:off x="2092" y="241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0866" name="Text Box 450"/>
            <p:cNvSpPr txBox="1">
              <a:spLocks noChangeArrowheads="1"/>
            </p:cNvSpPr>
            <p:nvPr/>
          </p:nvSpPr>
          <p:spPr bwMode="auto">
            <a:xfrm>
              <a:off x="2520" y="241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0867" name="Text Box 451"/>
            <p:cNvSpPr txBox="1">
              <a:spLocks noChangeArrowheads="1"/>
            </p:cNvSpPr>
            <p:nvPr/>
          </p:nvSpPr>
          <p:spPr bwMode="auto">
            <a:xfrm>
              <a:off x="2952" y="241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0868" name="Text Box 452"/>
            <p:cNvSpPr txBox="1">
              <a:spLocks noChangeArrowheads="1"/>
            </p:cNvSpPr>
            <p:nvPr/>
          </p:nvSpPr>
          <p:spPr bwMode="auto">
            <a:xfrm>
              <a:off x="3288" y="2410"/>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 = </a:t>
              </a:r>
              <a:r>
                <a:rPr lang="en-US" altLang="en-US" sz="1800" i="1">
                  <a:latin typeface="Times New Roman" pitchFamily="18" charset="0"/>
                </a:rPr>
                <a:t>r2</a:t>
              </a:r>
              <a:endParaRPr lang="en-US" altLang="en-US" sz="1800">
                <a:latin typeface="Times New Roman" pitchFamily="18" charset="0"/>
              </a:endParaRPr>
            </a:p>
          </p:txBody>
        </p:sp>
        <p:sp>
          <p:nvSpPr>
            <p:cNvPr id="30869" name="Text Box 453"/>
            <p:cNvSpPr txBox="1">
              <a:spLocks noChangeArrowheads="1"/>
            </p:cNvSpPr>
            <p:nvPr/>
          </p:nvSpPr>
          <p:spPr bwMode="auto">
            <a:xfrm>
              <a:off x="1971" y="2602"/>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30870" name="Text Box 454"/>
            <p:cNvSpPr txBox="1">
              <a:spLocks noChangeArrowheads="1"/>
            </p:cNvSpPr>
            <p:nvPr/>
          </p:nvSpPr>
          <p:spPr bwMode="auto">
            <a:xfrm>
              <a:off x="2403" y="2602"/>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30871" name="Text Box 455"/>
            <p:cNvSpPr txBox="1">
              <a:spLocks noChangeArrowheads="1"/>
            </p:cNvSpPr>
            <p:nvPr/>
          </p:nvSpPr>
          <p:spPr bwMode="auto">
            <a:xfrm>
              <a:off x="2835"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30872" name="Text Box 456"/>
            <p:cNvSpPr txBox="1">
              <a:spLocks noChangeArrowheads="1"/>
            </p:cNvSpPr>
            <p:nvPr/>
          </p:nvSpPr>
          <p:spPr bwMode="auto">
            <a:xfrm>
              <a:off x="3267"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30873" name="Text Box 457"/>
            <p:cNvSpPr txBox="1">
              <a:spLocks noChangeArrowheads="1"/>
            </p:cNvSpPr>
            <p:nvPr/>
          </p:nvSpPr>
          <p:spPr bwMode="auto">
            <a:xfrm>
              <a:off x="1320" y="2602"/>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a2</a:t>
              </a:r>
            </a:p>
          </p:txBody>
        </p:sp>
        <p:sp>
          <p:nvSpPr>
            <p:cNvPr id="30874" name="Text Box 458"/>
            <p:cNvSpPr txBox="1">
              <a:spLocks noChangeArrowheads="1"/>
            </p:cNvSpPr>
            <p:nvPr/>
          </p:nvSpPr>
          <p:spPr bwMode="auto">
            <a:xfrm>
              <a:off x="1512" y="30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30875" name="Text Box 459"/>
            <p:cNvSpPr txBox="1">
              <a:spLocks noChangeArrowheads="1"/>
            </p:cNvSpPr>
            <p:nvPr/>
          </p:nvSpPr>
          <p:spPr bwMode="auto">
            <a:xfrm>
              <a:off x="1416" y="2842"/>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l3 </a:t>
              </a:r>
              <a:r>
                <a:rPr lang="en-US" altLang="en-US" sz="1800">
                  <a:latin typeface="Times New Roman" pitchFamily="18" charset="0"/>
                </a:rPr>
                <a:t>= 0</a:t>
              </a:r>
            </a:p>
          </p:txBody>
        </p:sp>
        <p:sp>
          <p:nvSpPr>
            <p:cNvPr id="30876" name="Text Box 460"/>
            <p:cNvSpPr txBox="1">
              <a:spLocks noChangeArrowheads="1"/>
            </p:cNvSpPr>
            <p:nvPr/>
          </p:nvSpPr>
          <p:spPr bwMode="auto">
            <a:xfrm>
              <a:off x="2092"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0877" name="Text Box 461"/>
            <p:cNvSpPr txBox="1">
              <a:spLocks noChangeArrowheads="1"/>
            </p:cNvSpPr>
            <p:nvPr/>
          </p:nvSpPr>
          <p:spPr bwMode="auto">
            <a:xfrm>
              <a:off x="2520"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0878" name="Text Box 462"/>
            <p:cNvSpPr txBox="1">
              <a:spLocks noChangeArrowheads="1"/>
            </p:cNvSpPr>
            <p:nvPr/>
          </p:nvSpPr>
          <p:spPr bwMode="auto">
            <a:xfrm>
              <a:off x="2952"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0879" name="Text Box 463"/>
            <p:cNvSpPr txBox="1">
              <a:spLocks noChangeArrowheads="1"/>
            </p:cNvSpPr>
            <p:nvPr/>
          </p:nvSpPr>
          <p:spPr bwMode="auto">
            <a:xfrm>
              <a:off x="3384"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30880" name="Text Box 464"/>
            <p:cNvSpPr txBox="1">
              <a:spLocks noChangeArrowheads="1"/>
            </p:cNvSpPr>
            <p:nvPr/>
          </p:nvSpPr>
          <p:spPr bwMode="auto">
            <a:xfrm>
              <a:off x="3816"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30881" name="Text Box 465"/>
            <p:cNvSpPr txBox="1">
              <a:spLocks noChangeArrowheads="1"/>
            </p:cNvSpPr>
            <p:nvPr/>
          </p:nvSpPr>
          <p:spPr bwMode="auto">
            <a:xfrm>
              <a:off x="1971" y="30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30882" name="Text Box 466"/>
            <p:cNvSpPr txBox="1">
              <a:spLocks noChangeArrowheads="1"/>
            </p:cNvSpPr>
            <p:nvPr/>
          </p:nvSpPr>
          <p:spPr bwMode="auto">
            <a:xfrm>
              <a:off x="2403" y="30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30883" name="Text Box 467"/>
            <p:cNvSpPr txBox="1">
              <a:spLocks noChangeArrowheads="1"/>
            </p:cNvSpPr>
            <p:nvPr/>
          </p:nvSpPr>
          <p:spPr bwMode="auto">
            <a:xfrm>
              <a:off x="2835" y="30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30884" name="Text Box 468"/>
            <p:cNvSpPr txBox="1">
              <a:spLocks noChangeArrowheads="1"/>
            </p:cNvSpPr>
            <p:nvPr/>
          </p:nvSpPr>
          <p:spPr bwMode="auto">
            <a:xfrm>
              <a:off x="3267" y="30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30885" name="Text Box 469"/>
            <p:cNvSpPr txBox="1">
              <a:spLocks noChangeArrowheads="1"/>
            </p:cNvSpPr>
            <p:nvPr/>
          </p:nvSpPr>
          <p:spPr bwMode="auto">
            <a:xfrm>
              <a:off x="3699"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0886" name="Text Box 470"/>
            <p:cNvSpPr txBox="1">
              <a:spLocks noChangeArrowheads="1"/>
            </p:cNvSpPr>
            <p:nvPr/>
          </p:nvSpPr>
          <p:spPr bwMode="auto">
            <a:xfrm>
              <a:off x="4131"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0887" name="Text Box 471"/>
            <p:cNvSpPr txBox="1">
              <a:spLocks noChangeArrowheads="1"/>
            </p:cNvSpPr>
            <p:nvPr/>
          </p:nvSpPr>
          <p:spPr bwMode="auto">
            <a:xfrm>
              <a:off x="1320" y="303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a3</a:t>
              </a:r>
            </a:p>
          </p:txBody>
        </p:sp>
        <p:sp>
          <p:nvSpPr>
            <p:cNvPr id="30888" name="Text Box 472"/>
            <p:cNvSpPr txBox="1">
              <a:spLocks noChangeArrowheads="1"/>
            </p:cNvSpPr>
            <p:nvPr/>
          </p:nvSpPr>
          <p:spPr bwMode="auto">
            <a:xfrm>
              <a:off x="4251"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30889" name="Text Box 473"/>
            <p:cNvSpPr txBox="1">
              <a:spLocks noChangeArrowheads="1"/>
            </p:cNvSpPr>
            <p:nvPr/>
          </p:nvSpPr>
          <p:spPr bwMode="auto">
            <a:xfrm>
              <a:off x="4899"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5</a:t>
              </a:r>
            </a:p>
          </p:txBody>
        </p:sp>
        <p:sp>
          <p:nvSpPr>
            <p:cNvPr id="30890" name="Text Box 474"/>
            <p:cNvSpPr txBox="1">
              <a:spLocks noChangeArrowheads="1"/>
            </p:cNvSpPr>
            <p:nvPr/>
          </p:nvSpPr>
          <p:spPr bwMode="auto">
            <a:xfrm>
              <a:off x="4707" y="303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k</a:t>
              </a:r>
            </a:p>
          </p:txBody>
        </p:sp>
        <p:sp>
          <p:nvSpPr>
            <p:cNvPr id="30891" name="Text Box 475"/>
            <p:cNvSpPr txBox="1">
              <a:spLocks noChangeArrowheads="1"/>
            </p:cNvSpPr>
            <p:nvPr/>
          </p:nvSpPr>
          <p:spPr bwMode="auto">
            <a:xfrm>
              <a:off x="4899"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3</a:t>
              </a:r>
            </a:p>
          </p:txBody>
        </p:sp>
        <p:sp>
          <p:nvSpPr>
            <p:cNvPr id="30892" name="Text Box 476"/>
            <p:cNvSpPr txBox="1">
              <a:spLocks noChangeArrowheads="1"/>
            </p:cNvSpPr>
            <p:nvPr/>
          </p:nvSpPr>
          <p:spPr bwMode="auto">
            <a:xfrm>
              <a:off x="4728" y="2602"/>
              <a:ext cx="1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j</a:t>
              </a:r>
            </a:p>
          </p:txBody>
        </p:sp>
        <p:sp>
          <p:nvSpPr>
            <p:cNvPr id="30893" name="Text Box 477"/>
            <p:cNvSpPr txBox="1">
              <a:spLocks noChangeArrowheads="1"/>
            </p:cNvSpPr>
            <p:nvPr/>
          </p:nvSpPr>
          <p:spPr bwMode="auto">
            <a:xfrm>
              <a:off x="4899" y="217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2</a:t>
              </a:r>
            </a:p>
          </p:txBody>
        </p:sp>
        <p:sp>
          <p:nvSpPr>
            <p:cNvPr id="30894" name="Text Box 478"/>
            <p:cNvSpPr txBox="1">
              <a:spLocks noChangeArrowheads="1"/>
            </p:cNvSpPr>
            <p:nvPr/>
          </p:nvSpPr>
          <p:spPr bwMode="auto">
            <a:xfrm>
              <a:off x="4707" y="217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i</a:t>
              </a:r>
            </a:p>
          </p:txBody>
        </p:sp>
      </p:grpSp>
      <p:grpSp>
        <p:nvGrpSpPr>
          <p:cNvPr id="14" name="Group 601"/>
          <p:cNvGrpSpPr>
            <a:grpSpLocks/>
          </p:cNvGrpSpPr>
          <p:nvPr/>
        </p:nvGrpSpPr>
        <p:grpSpPr bwMode="auto">
          <a:xfrm>
            <a:off x="571501" y="2032000"/>
            <a:ext cx="6705600" cy="4724400"/>
            <a:chOff x="1224" y="346"/>
            <a:chExt cx="4224" cy="2976"/>
          </a:xfrm>
        </p:grpSpPr>
        <p:sp>
          <p:nvSpPr>
            <p:cNvPr id="30817" name="Rectangle 480"/>
            <p:cNvSpPr>
              <a:spLocks noChangeArrowheads="1"/>
            </p:cNvSpPr>
            <p:nvPr/>
          </p:nvSpPr>
          <p:spPr bwMode="auto">
            <a:xfrm>
              <a:off x="1224" y="346"/>
              <a:ext cx="4224" cy="2976"/>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30818" name="Text Box 481"/>
            <p:cNvSpPr txBox="1">
              <a:spLocks noChangeArrowheads="1"/>
            </p:cNvSpPr>
            <p:nvPr/>
          </p:nvSpPr>
          <p:spPr bwMode="auto">
            <a:xfrm>
              <a:off x="1272" y="384"/>
              <a:ext cx="4128" cy="1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merge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l1</a:t>
              </a:r>
              <a:r>
                <a:rPr lang="en-US" altLang="en-US" sz="2000">
                  <a:latin typeface="Times New Roman" pitchFamily="18" charset="0"/>
                </a:rPr>
                <a:t>…</a:t>
              </a:r>
              <a:r>
                <a:rPr lang="en-US" altLang="en-US" sz="2000" i="1">
                  <a:latin typeface="Times New Roman" pitchFamily="18" charset="0"/>
                </a:rPr>
                <a:t>r1</a:t>
              </a:r>
              <a:r>
                <a:rPr lang="en-US" altLang="en-US" sz="2000">
                  <a:latin typeface="Times New Roman" pitchFamily="18" charset="0"/>
                </a:rPr>
                <a:t>] and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l2</a:t>
              </a:r>
              <a:r>
                <a:rPr lang="en-US" altLang="en-US" sz="2000">
                  <a:latin typeface="Times New Roman" pitchFamily="18" charset="0"/>
                </a:rPr>
                <a:t>…</a:t>
              </a:r>
              <a:r>
                <a:rPr lang="en-US" altLang="en-US" sz="2000" i="1">
                  <a:latin typeface="Times New Roman" pitchFamily="18" charset="0"/>
                </a:rPr>
                <a:t>r2</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1.	Set </a:t>
              </a:r>
              <a:r>
                <a:rPr lang="en-US" altLang="en-US" sz="2000" i="1">
                  <a:latin typeface="Times New Roman" pitchFamily="18" charset="0"/>
                </a:rPr>
                <a:t>i</a:t>
              </a:r>
              <a:r>
                <a:rPr lang="en-US" altLang="en-US" sz="2000">
                  <a:latin typeface="Times New Roman" pitchFamily="18" charset="0"/>
                </a:rPr>
                <a:t> = </a:t>
              </a:r>
              <a:r>
                <a:rPr lang="en-US" altLang="en-US" sz="2000" i="1">
                  <a:latin typeface="Times New Roman" pitchFamily="18" charset="0"/>
                </a:rPr>
                <a:t>l1</a:t>
              </a:r>
              <a:r>
                <a:rPr lang="en-US" altLang="en-US" sz="2000">
                  <a:latin typeface="Times New Roman" pitchFamily="18" charset="0"/>
                </a:rPr>
                <a:t>, set </a:t>
              </a:r>
              <a:r>
                <a:rPr lang="en-US" altLang="en-US" sz="2000" i="1">
                  <a:latin typeface="Times New Roman" pitchFamily="18" charset="0"/>
                </a:rPr>
                <a:t>j</a:t>
              </a:r>
              <a:r>
                <a:rPr lang="en-US" altLang="en-US" sz="2000">
                  <a:latin typeface="Times New Roman" pitchFamily="18" charset="0"/>
                </a:rPr>
                <a:t> = </a:t>
              </a:r>
              <a:r>
                <a:rPr lang="en-US" altLang="en-US" sz="2000" i="1">
                  <a:latin typeface="Times New Roman" pitchFamily="18" charset="0"/>
                </a:rPr>
                <a:t>l2</a:t>
              </a:r>
              <a:r>
                <a:rPr lang="en-US" altLang="en-US" sz="2000">
                  <a:latin typeface="Times New Roman" pitchFamily="18" charset="0"/>
                </a:rPr>
                <a:t>, and set </a:t>
              </a:r>
              <a:r>
                <a:rPr lang="en-US" altLang="en-US" sz="2000" i="1">
                  <a:latin typeface="Times New Roman" pitchFamily="18" charset="0"/>
                </a:rPr>
                <a:t>k</a:t>
              </a:r>
              <a:r>
                <a:rPr lang="en-US" altLang="en-US" sz="2000">
                  <a:latin typeface="Times New Roman" pitchFamily="18" charset="0"/>
                </a:rPr>
                <a:t> = </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While </a:t>
              </a:r>
              <a:r>
                <a:rPr lang="en-US" altLang="en-US" sz="2000" i="1">
                  <a:latin typeface="Times New Roman" pitchFamily="18" charset="0"/>
                </a:rPr>
                <a:t>i</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r1</a:t>
              </a:r>
              <a:r>
                <a:rPr lang="en-US" altLang="en-US" sz="2000">
                  <a:latin typeface="Times New Roman" pitchFamily="18" charset="0"/>
                </a:rPr>
                <a:t> and </a:t>
              </a:r>
              <a:r>
                <a:rPr lang="en-US" altLang="en-US" sz="2000" i="1">
                  <a:latin typeface="Times New Roman" pitchFamily="18" charset="0"/>
                </a:rPr>
                <a:t>j</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r2</a:t>
              </a:r>
              <a:r>
                <a:rPr lang="en-US" altLang="en-US" sz="2000">
                  <a:latin typeface="Times New Roman" pitchFamily="18" charset="0"/>
                </a:rPr>
                <a:t>, repeat:</a:t>
              </a:r>
              <a:br>
                <a:rPr lang="en-US" altLang="en-US" sz="2000">
                  <a:latin typeface="Times New Roman" pitchFamily="18" charset="0"/>
                </a:rPr>
              </a:br>
              <a:r>
                <a:rPr lang="en-US" altLang="en-US" sz="2000">
                  <a:latin typeface="Times New Roman" pitchFamily="18" charset="0"/>
                </a:rPr>
                <a:t>	…</a:t>
              </a:r>
              <a:br>
                <a:rPr lang="en-US" altLang="en-US" sz="2000">
                  <a:latin typeface="Times New Roman" pitchFamily="18" charset="0"/>
                </a:rPr>
              </a:br>
              <a:r>
                <a:rPr lang="en-US" altLang="en-US" sz="2000">
                  <a:latin typeface="Times New Roman" pitchFamily="18" charset="0"/>
                </a:rPr>
                <a:t>3.	</a:t>
              </a:r>
              <a:r>
                <a:rPr lang="en-US" altLang="en-US" sz="2000">
                  <a:solidFill>
                    <a:srgbClr val="FF0000"/>
                  </a:solidFill>
                  <a:latin typeface="Times New Roman" pitchFamily="18" charset="0"/>
                </a:rPr>
                <a:t>If </a:t>
              </a:r>
              <a:r>
                <a:rPr lang="en-US" altLang="en-US" sz="2000" i="1">
                  <a:solidFill>
                    <a:srgbClr val="FF0000"/>
                  </a:solidFill>
                  <a:latin typeface="Times New Roman" pitchFamily="18" charset="0"/>
                </a:rPr>
                <a:t>i</a:t>
              </a:r>
              <a:r>
                <a:rPr lang="en-US" altLang="en-US" sz="2000">
                  <a:solidFill>
                    <a:srgbClr val="FF0000"/>
                  </a:solidFill>
                  <a:latin typeface="Times New Roman" pitchFamily="18" charset="0"/>
                </a:rPr>
                <a:t> </a:t>
              </a:r>
              <a:r>
                <a:rPr lang="en-US" altLang="en-US" sz="2000">
                  <a:solidFill>
                    <a:srgbClr val="FF0000"/>
                  </a:solidFill>
                  <a:latin typeface="Times New Roman" pitchFamily="18" charset="0"/>
                  <a:sym typeface="Symbol" pitchFamily="18" charset="2"/>
                </a:rPr>
                <a:t></a:t>
              </a:r>
              <a:r>
                <a:rPr lang="en-US" altLang="en-US" sz="2000">
                  <a:solidFill>
                    <a:srgbClr val="FF0000"/>
                  </a:solidFill>
                  <a:latin typeface="Times New Roman" pitchFamily="18" charset="0"/>
                </a:rPr>
                <a:t> </a:t>
              </a:r>
              <a:r>
                <a:rPr lang="en-US" altLang="en-US" sz="2000" i="1">
                  <a:solidFill>
                    <a:srgbClr val="FF0000"/>
                  </a:solidFill>
                  <a:latin typeface="Times New Roman" pitchFamily="18" charset="0"/>
                </a:rPr>
                <a:t>r1</a:t>
              </a:r>
              <a:r>
                <a:rPr lang="en-US" altLang="en-US" sz="2000">
                  <a:latin typeface="Times New Roman" pitchFamily="18" charset="0"/>
                </a:rPr>
                <a:t>, copy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i</a:t>
              </a:r>
              <a:r>
                <a:rPr lang="en-US" altLang="en-US" sz="2000">
                  <a:latin typeface="Times New Roman" pitchFamily="18" charset="0"/>
                </a:rPr>
                <a:t>…</a:t>
              </a:r>
              <a:r>
                <a:rPr lang="en-US" altLang="en-US" sz="2000" i="1">
                  <a:latin typeface="Times New Roman" pitchFamily="18" charset="0"/>
                </a:rPr>
                <a:t>r1</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k</a:t>
              </a:r>
              <a:r>
                <a:rPr lang="en-US" altLang="en-US" sz="2000">
                  <a:latin typeface="Times New Roman" pitchFamily="18" charset="0"/>
                </a:rPr>
                <a:t>…</a:t>
              </a:r>
              <a:r>
                <a:rPr lang="en-US" altLang="en-US" sz="2000" i="1">
                  <a:latin typeface="Times New Roman" pitchFamily="18" charset="0"/>
                </a:rPr>
                <a:t>r3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4.	If </a:t>
              </a:r>
              <a:r>
                <a:rPr lang="en-US" altLang="en-US" sz="2000" i="1">
                  <a:latin typeface="Times New Roman" pitchFamily="18" charset="0"/>
                </a:rPr>
                <a:t>j</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r2</a:t>
              </a:r>
              <a:r>
                <a:rPr lang="en-US" altLang="en-US" sz="2000">
                  <a:latin typeface="Times New Roman" pitchFamily="18" charset="0"/>
                </a:rPr>
                <a:t>, copy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j</a:t>
              </a:r>
              <a:r>
                <a:rPr lang="en-US" altLang="en-US" sz="2000">
                  <a:latin typeface="Times New Roman" pitchFamily="18" charset="0"/>
                </a:rPr>
                <a:t>…</a:t>
              </a:r>
              <a:r>
                <a:rPr lang="en-US" altLang="en-US" sz="2000" i="1">
                  <a:latin typeface="Times New Roman" pitchFamily="18" charset="0"/>
                </a:rPr>
                <a:t>r2</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k</a:t>
              </a:r>
              <a:r>
                <a:rPr lang="en-US" altLang="en-US" sz="2000">
                  <a:latin typeface="Times New Roman" pitchFamily="18" charset="0"/>
                </a:rPr>
                <a:t>…</a:t>
              </a:r>
              <a:r>
                <a:rPr lang="en-US" altLang="en-US" sz="2000" i="1">
                  <a:latin typeface="Times New Roman" pitchFamily="18" charset="0"/>
                </a:rPr>
                <a:t>r3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5.	Terminate.</a:t>
              </a:r>
            </a:p>
          </p:txBody>
        </p:sp>
        <p:sp>
          <p:nvSpPr>
            <p:cNvPr id="30819" name="Text Box 482"/>
            <p:cNvSpPr txBox="1">
              <a:spLocks noChangeArrowheads="1"/>
            </p:cNvSpPr>
            <p:nvPr/>
          </p:nvSpPr>
          <p:spPr bwMode="auto">
            <a:xfrm>
              <a:off x="1512" y="2170"/>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30820" name="Text Box 483"/>
            <p:cNvSpPr txBox="1">
              <a:spLocks noChangeArrowheads="1"/>
            </p:cNvSpPr>
            <p:nvPr/>
          </p:nvSpPr>
          <p:spPr bwMode="auto">
            <a:xfrm>
              <a:off x="1416" y="1978"/>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l1 </a:t>
              </a:r>
              <a:r>
                <a:rPr lang="en-US" altLang="en-US" sz="1800">
                  <a:latin typeface="Times New Roman" pitchFamily="18" charset="0"/>
                </a:rPr>
                <a:t>= 0</a:t>
              </a:r>
            </a:p>
          </p:txBody>
        </p:sp>
        <p:sp>
          <p:nvSpPr>
            <p:cNvPr id="30821" name="Text Box 484"/>
            <p:cNvSpPr txBox="1">
              <a:spLocks noChangeArrowheads="1"/>
            </p:cNvSpPr>
            <p:nvPr/>
          </p:nvSpPr>
          <p:spPr bwMode="auto">
            <a:xfrm>
              <a:off x="1992" y="1978"/>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 = </a:t>
              </a:r>
              <a:r>
                <a:rPr lang="en-US" altLang="en-US" sz="1800" i="1">
                  <a:latin typeface="Times New Roman" pitchFamily="18" charset="0"/>
                </a:rPr>
                <a:t>r1</a:t>
              </a:r>
              <a:endParaRPr lang="en-US" altLang="en-US" sz="1800">
                <a:latin typeface="Times New Roman" pitchFamily="18" charset="0"/>
              </a:endParaRPr>
            </a:p>
          </p:txBody>
        </p:sp>
        <p:sp>
          <p:nvSpPr>
            <p:cNvPr id="30822" name="Text Box 485"/>
            <p:cNvSpPr txBox="1">
              <a:spLocks noChangeArrowheads="1"/>
            </p:cNvSpPr>
            <p:nvPr/>
          </p:nvSpPr>
          <p:spPr bwMode="auto">
            <a:xfrm>
              <a:off x="1971" y="2170"/>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30823" name="Text Box 486"/>
            <p:cNvSpPr txBox="1">
              <a:spLocks noChangeArrowheads="1"/>
            </p:cNvSpPr>
            <p:nvPr/>
          </p:nvSpPr>
          <p:spPr bwMode="auto">
            <a:xfrm>
              <a:off x="1320" y="217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a1</a:t>
              </a:r>
            </a:p>
          </p:txBody>
        </p:sp>
        <p:sp>
          <p:nvSpPr>
            <p:cNvPr id="30824" name="Text Box 487"/>
            <p:cNvSpPr txBox="1">
              <a:spLocks noChangeArrowheads="1"/>
            </p:cNvSpPr>
            <p:nvPr/>
          </p:nvSpPr>
          <p:spPr bwMode="auto">
            <a:xfrm>
              <a:off x="1512" y="2602"/>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30825" name="Text Box 488"/>
            <p:cNvSpPr txBox="1">
              <a:spLocks noChangeArrowheads="1"/>
            </p:cNvSpPr>
            <p:nvPr/>
          </p:nvSpPr>
          <p:spPr bwMode="auto">
            <a:xfrm>
              <a:off x="1416" y="2410"/>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l2 </a:t>
              </a:r>
              <a:r>
                <a:rPr lang="en-US" altLang="en-US" sz="1800">
                  <a:latin typeface="Times New Roman" pitchFamily="18" charset="0"/>
                </a:rPr>
                <a:t>= 0</a:t>
              </a:r>
            </a:p>
          </p:txBody>
        </p:sp>
        <p:sp>
          <p:nvSpPr>
            <p:cNvPr id="30826" name="Text Box 489"/>
            <p:cNvSpPr txBox="1">
              <a:spLocks noChangeArrowheads="1"/>
            </p:cNvSpPr>
            <p:nvPr/>
          </p:nvSpPr>
          <p:spPr bwMode="auto">
            <a:xfrm>
              <a:off x="2092" y="241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0827" name="Text Box 490"/>
            <p:cNvSpPr txBox="1">
              <a:spLocks noChangeArrowheads="1"/>
            </p:cNvSpPr>
            <p:nvPr/>
          </p:nvSpPr>
          <p:spPr bwMode="auto">
            <a:xfrm>
              <a:off x="2520" y="241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0828" name="Text Box 491"/>
            <p:cNvSpPr txBox="1">
              <a:spLocks noChangeArrowheads="1"/>
            </p:cNvSpPr>
            <p:nvPr/>
          </p:nvSpPr>
          <p:spPr bwMode="auto">
            <a:xfrm>
              <a:off x="2952" y="2410"/>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0829" name="Text Box 492"/>
            <p:cNvSpPr txBox="1">
              <a:spLocks noChangeArrowheads="1"/>
            </p:cNvSpPr>
            <p:nvPr/>
          </p:nvSpPr>
          <p:spPr bwMode="auto">
            <a:xfrm>
              <a:off x="3288" y="2410"/>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 = </a:t>
              </a:r>
              <a:r>
                <a:rPr lang="en-US" altLang="en-US" sz="1800" i="1">
                  <a:latin typeface="Times New Roman" pitchFamily="18" charset="0"/>
                </a:rPr>
                <a:t>r2</a:t>
              </a:r>
              <a:endParaRPr lang="en-US" altLang="en-US" sz="1800">
                <a:latin typeface="Times New Roman" pitchFamily="18" charset="0"/>
              </a:endParaRPr>
            </a:p>
          </p:txBody>
        </p:sp>
        <p:sp>
          <p:nvSpPr>
            <p:cNvPr id="30830" name="Text Box 493"/>
            <p:cNvSpPr txBox="1">
              <a:spLocks noChangeArrowheads="1"/>
            </p:cNvSpPr>
            <p:nvPr/>
          </p:nvSpPr>
          <p:spPr bwMode="auto">
            <a:xfrm>
              <a:off x="1971" y="2602"/>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30831" name="Text Box 494"/>
            <p:cNvSpPr txBox="1">
              <a:spLocks noChangeArrowheads="1"/>
            </p:cNvSpPr>
            <p:nvPr/>
          </p:nvSpPr>
          <p:spPr bwMode="auto">
            <a:xfrm>
              <a:off x="2403" y="2602"/>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30832" name="Text Box 495"/>
            <p:cNvSpPr txBox="1">
              <a:spLocks noChangeArrowheads="1"/>
            </p:cNvSpPr>
            <p:nvPr/>
          </p:nvSpPr>
          <p:spPr bwMode="auto">
            <a:xfrm>
              <a:off x="2835"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30833" name="Text Box 496"/>
            <p:cNvSpPr txBox="1">
              <a:spLocks noChangeArrowheads="1"/>
            </p:cNvSpPr>
            <p:nvPr/>
          </p:nvSpPr>
          <p:spPr bwMode="auto">
            <a:xfrm>
              <a:off x="3267"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30834" name="Text Box 497"/>
            <p:cNvSpPr txBox="1">
              <a:spLocks noChangeArrowheads="1"/>
            </p:cNvSpPr>
            <p:nvPr/>
          </p:nvSpPr>
          <p:spPr bwMode="auto">
            <a:xfrm>
              <a:off x="1320" y="2602"/>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a2</a:t>
              </a:r>
            </a:p>
          </p:txBody>
        </p:sp>
        <p:sp>
          <p:nvSpPr>
            <p:cNvPr id="30835" name="Text Box 498"/>
            <p:cNvSpPr txBox="1">
              <a:spLocks noChangeArrowheads="1"/>
            </p:cNvSpPr>
            <p:nvPr/>
          </p:nvSpPr>
          <p:spPr bwMode="auto">
            <a:xfrm>
              <a:off x="1512" y="30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30836" name="Text Box 499"/>
            <p:cNvSpPr txBox="1">
              <a:spLocks noChangeArrowheads="1"/>
            </p:cNvSpPr>
            <p:nvPr/>
          </p:nvSpPr>
          <p:spPr bwMode="auto">
            <a:xfrm>
              <a:off x="1416" y="2842"/>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l3 </a:t>
              </a:r>
              <a:r>
                <a:rPr lang="en-US" altLang="en-US" sz="1800">
                  <a:latin typeface="Times New Roman" pitchFamily="18" charset="0"/>
                </a:rPr>
                <a:t>= 0</a:t>
              </a:r>
            </a:p>
          </p:txBody>
        </p:sp>
        <p:sp>
          <p:nvSpPr>
            <p:cNvPr id="30837" name="Text Box 500"/>
            <p:cNvSpPr txBox="1">
              <a:spLocks noChangeArrowheads="1"/>
            </p:cNvSpPr>
            <p:nvPr/>
          </p:nvSpPr>
          <p:spPr bwMode="auto">
            <a:xfrm>
              <a:off x="2092"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0838" name="Text Box 501"/>
            <p:cNvSpPr txBox="1">
              <a:spLocks noChangeArrowheads="1"/>
            </p:cNvSpPr>
            <p:nvPr/>
          </p:nvSpPr>
          <p:spPr bwMode="auto">
            <a:xfrm>
              <a:off x="2520"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0839" name="Text Box 502"/>
            <p:cNvSpPr txBox="1">
              <a:spLocks noChangeArrowheads="1"/>
            </p:cNvSpPr>
            <p:nvPr/>
          </p:nvSpPr>
          <p:spPr bwMode="auto">
            <a:xfrm>
              <a:off x="2952"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0840" name="Text Box 503"/>
            <p:cNvSpPr txBox="1">
              <a:spLocks noChangeArrowheads="1"/>
            </p:cNvSpPr>
            <p:nvPr/>
          </p:nvSpPr>
          <p:spPr bwMode="auto">
            <a:xfrm>
              <a:off x="3384"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30841" name="Text Box 504"/>
            <p:cNvSpPr txBox="1">
              <a:spLocks noChangeArrowheads="1"/>
            </p:cNvSpPr>
            <p:nvPr/>
          </p:nvSpPr>
          <p:spPr bwMode="auto">
            <a:xfrm>
              <a:off x="3816"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30842" name="Text Box 505"/>
            <p:cNvSpPr txBox="1">
              <a:spLocks noChangeArrowheads="1"/>
            </p:cNvSpPr>
            <p:nvPr/>
          </p:nvSpPr>
          <p:spPr bwMode="auto">
            <a:xfrm>
              <a:off x="1971" y="30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30843" name="Text Box 506"/>
            <p:cNvSpPr txBox="1">
              <a:spLocks noChangeArrowheads="1"/>
            </p:cNvSpPr>
            <p:nvPr/>
          </p:nvSpPr>
          <p:spPr bwMode="auto">
            <a:xfrm>
              <a:off x="2403" y="30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30844" name="Text Box 507"/>
            <p:cNvSpPr txBox="1">
              <a:spLocks noChangeArrowheads="1"/>
            </p:cNvSpPr>
            <p:nvPr/>
          </p:nvSpPr>
          <p:spPr bwMode="auto">
            <a:xfrm>
              <a:off x="2835" y="30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30845" name="Text Box 508"/>
            <p:cNvSpPr txBox="1">
              <a:spLocks noChangeArrowheads="1"/>
            </p:cNvSpPr>
            <p:nvPr/>
          </p:nvSpPr>
          <p:spPr bwMode="auto">
            <a:xfrm>
              <a:off x="3267" y="30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30846" name="Text Box 509"/>
            <p:cNvSpPr txBox="1">
              <a:spLocks noChangeArrowheads="1"/>
            </p:cNvSpPr>
            <p:nvPr/>
          </p:nvSpPr>
          <p:spPr bwMode="auto">
            <a:xfrm>
              <a:off x="3699"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0847" name="Text Box 510"/>
            <p:cNvSpPr txBox="1">
              <a:spLocks noChangeArrowheads="1"/>
            </p:cNvSpPr>
            <p:nvPr/>
          </p:nvSpPr>
          <p:spPr bwMode="auto">
            <a:xfrm>
              <a:off x="4131"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endParaRPr lang="en-US" altLang="en-US" sz="2000">
                <a:latin typeface="Times New Roman" pitchFamily="18" charset="0"/>
              </a:endParaRPr>
            </a:p>
          </p:txBody>
        </p:sp>
        <p:sp>
          <p:nvSpPr>
            <p:cNvPr id="30848" name="Text Box 511"/>
            <p:cNvSpPr txBox="1">
              <a:spLocks noChangeArrowheads="1"/>
            </p:cNvSpPr>
            <p:nvPr/>
          </p:nvSpPr>
          <p:spPr bwMode="auto">
            <a:xfrm>
              <a:off x="1320" y="303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a3</a:t>
              </a:r>
            </a:p>
          </p:txBody>
        </p:sp>
        <p:sp>
          <p:nvSpPr>
            <p:cNvPr id="30849" name="Text Box 512"/>
            <p:cNvSpPr txBox="1">
              <a:spLocks noChangeArrowheads="1"/>
            </p:cNvSpPr>
            <p:nvPr/>
          </p:nvSpPr>
          <p:spPr bwMode="auto">
            <a:xfrm>
              <a:off x="4251" y="28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30850" name="Text Box 513"/>
            <p:cNvSpPr txBox="1">
              <a:spLocks noChangeArrowheads="1"/>
            </p:cNvSpPr>
            <p:nvPr/>
          </p:nvSpPr>
          <p:spPr bwMode="auto">
            <a:xfrm>
              <a:off x="4899" y="30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5</a:t>
              </a:r>
            </a:p>
          </p:txBody>
        </p:sp>
        <p:sp>
          <p:nvSpPr>
            <p:cNvPr id="30851" name="Text Box 514"/>
            <p:cNvSpPr txBox="1">
              <a:spLocks noChangeArrowheads="1"/>
            </p:cNvSpPr>
            <p:nvPr/>
          </p:nvSpPr>
          <p:spPr bwMode="auto">
            <a:xfrm>
              <a:off x="4707" y="303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k</a:t>
              </a:r>
            </a:p>
          </p:txBody>
        </p:sp>
        <p:sp>
          <p:nvSpPr>
            <p:cNvPr id="30852" name="Text Box 515"/>
            <p:cNvSpPr txBox="1">
              <a:spLocks noChangeArrowheads="1"/>
            </p:cNvSpPr>
            <p:nvPr/>
          </p:nvSpPr>
          <p:spPr bwMode="auto">
            <a:xfrm>
              <a:off x="4899" y="260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3</a:t>
              </a:r>
            </a:p>
          </p:txBody>
        </p:sp>
        <p:sp>
          <p:nvSpPr>
            <p:cNvPr id="30853" name="Text Box 516"/>
            <p:cNvSpPr txBox="1">
              <a:spLocks noChangeArrowheads="1"/>
            </p:cNvSpPr>
            <p:nvPr/>
          </p:nvSpPr>
          <p:spPr bwMode="auto">
            <a:xfrm>
              <a:off x="4728" y="2602"/>
              <a:ext cx="1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j</a:t>
              </a:r>
            </a:p>
          </p:txBody>
        </p:sp>
        <p:sp>
          <p:nvSpPr>
            <p:cNvPr id="30854" name="Text Box 517"/>
            <p:cNvSpPr txBox="1">
              <a:spLocks noChangeArrowheads="1"/>
            </p:cNvSpPr>
            <p:nvPr/>
          </p:nvSpPr>
          <p:spPr bwMode="auto">
            <a:xfrm>
              <a:off x="4899" y="217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2</a:t>
              </a:r>
            </a:p>
          </p:txBody>
        </p:sp>
        <p:sp>
          <p:nvSpPr>
            <p:cNvPr id="30855" name="Text Box 518"/>
            <p:cNvSpPr txBox="1">
              <a:spLocks noChangeArrowheads="1"/>
            </p:cNvSpPr>
            <p:nvPr/>
          </p:nvSpPr>
          <p:spPr bwMode="auto">
            <a:xfrm>
              <a:off x="4707" y="217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i</a:t>
              </a:r>
            </a:p>
          </p:txBody>
        </p:sp>
      </p:grpSp>
      <p:grpSp>
        <p:nvGrpSpPr>
          <p:cNvPr id="15" name="Group 600"/>
          <p:cNvGrpSpPr>
            <a:grpSpLocks/>
          </p:cNvGrpSpPr>
          <p:nvPr/>
        </p:nvGrpSpPr>
        <p:grpSpPr bwMode="auto">
          <a:xfrm>
            <a:off x="571501" y="2032000"/>
            <a:ext cx="6705600" cy="4724400"/>
            <a:chOff x="1224" y="345"/>
            <a:chExt cx="4224" cy="2976"/>
          </a:xfrm>
        </p:grpSpPr>
        <p:sp>
          <p:nvSpPr>
            <p:cNvPr id="30778" name="Rectangle 520"/>
            <p:cNvSpPr>
              <a:spLocks noChangeArrowheads="1"/>
            </p:cNvSpPr>
            <p:nvPr/>
          </p:nvSpPr>
          <p:spPr bwMode="auto">
            <a:xfrm>
              <a:off x="1224" y="345"/>
              <a:ext cx="4224" cy="2976"/>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30779" name="Text Box 521"/>
            <p:cNvSpPr txBox="1">
              <a:spLocks noChangeArrowheads="1"/>
            </p:cNvSpPr>
            <p:nvPr/>
          </p:nvSpPr>
          <p:spPr bwMode="auto">
            <a:xfrm>
              <a:off x="1272" y="383"/>
              <a:ext cx="4128" cy="1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merge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l1</a:t>
              </a:r>
              <a:r>
                <a:rPr lang="en-US" altLang="en-US" sz="2000">
                  <a:latin typeface="Times New Roman" pitchFamily="18" charset="0"/>
                </a:rPr>
                <a:t>…</a:t>
              </a:r>
              <a:r>
                <a:rPr lang="en-US" altLang="en-US" sz="2000" i="1">
                  <a:latin typeface="Times New Roman" pitchFamily="18" charset="0"/>
                </a:rPr>
                <a:t>r1</a:t>
              </a:r>
              <a:r>
                <a:rPr lang="en-US" altLang="en-US" sz="2000">
                  <a:latin typeface="Times New Roman" pitchFamily="18" charset="0"/>
                </a:rPr>
                <a:t>] and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l2</a:t>
              </a:r>
              <a:r>
                <a:rPr lang="en-US" altLang="en-US" sz="2000">
                  <a:latin typeface="Times New Roman" pitchFamily="18" charset="0"/>
                </a:rPr>
                <a:t>…</a:t>
              </a:r>
              <a:r>
                <a:rPr lang="en-US" altLang="en-US" sz="2000" i="1">
                  <a:latin typeface="Times New Roman" pitchFamily="18" charset="0"/>
                </a:rPr>
                <a:t>r2</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1.	Set </a:t>
              </a:r>
              <a:r>
                <a:rPr lang="en-US" altLang="en-US" sz="2000" i="1">
                  <a:latin typeface="Times New Roman" pitchFamily="18" charset="0"/>
                </a:rPr>
                <a:t>i</a:t>
              </a:r>
              <a:r>
                <a:rPr lang="en-US" altLang="en-US" sz="2000">
                  <a:latin typeface="Times New Roman" pitchFamily="18" charset="0"/>
                </a:rPr>
                <a:t> = </a:t>
              </a:r>
              <a:r>
                <a:rPr lang="en-US" altLang="en-US" sz="2000" i="1">
                  <a:latin typeface="Times New Roman" pitchFamily="18" charset="0"/>
                </a:rPr>
                <a:t>l1</a:t>
              </a:r>
              <a:r>
                <a:rPr lang="en-US" altLang="en-US" sz="2000">
                  <a:latin typeface="Times New Roman" pitchFamily="18" charset="0"/>
                </a:rPr>
                <a:t>, set </a:t>
              </a:r>
              <a:r>
                <a:rPr lang="en-US" altLang="en-US" sz="2000" i="1">
                  <a:latin typeface="Times New Roman" pitchFamily="18" charset="0"/>
                </a:rPr>
                <a:t>j</a:t>
              </a:r>
              <a:r>
                <a:rPr lang="en-US" altLang="en-US" sz="2000">
                  <a:latin typeface="Times New Roman" pitchFamily="18" charset="0"/>
                </a:rPr>
                <a:t> = </a:t>
              </a:r>
              <a:r>
                <a:rPr lang="en-US" altLang="en-US" sz="2000" i="1">
                  <a:latin typeface="Times New Roman" pitchFamily="18" charset="0"/>
                </a:rPr>
                <a:t>l2</a:t>
              </a:r>
              <a:r>
                <a:rPr lang="en-US" altLang="en-US" sz="2000">
                  <a:latin typeface="Times New Roman" pitchFamily="18" charset="0"/>
                </a:rPr>
                <a:t>, and set </a:t>
              </a:r>
              <a:r>
                <a:rPr lang="en-US" altLang="en-US" sz="2000" i="1">
                  <a:latin typeface="Times New Roman" pitchFamily="18" charset="0"/>
                </a:rPr>
                <a:t>k</a:t>
              </a:r>
              <a:r>
                <a:rPr lang="en-US" altLang="en-US" sz="2000">
                  <a:latin typeface="Times New Roman" pitchFamily="18" charset="0"/>
                </a:rPr>
                <a:t> = </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While </a:t>
              </a:r>
              <a:r>
                <a:rPr lang="en-US" altLang="en-US" sz="2000" i="1">
                  <a:latin typeface="Times New Roman" pitchFamily="18" charset="0"/>
                </a:rPr>
                <a:t>i</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r1</a:t>
              </a:r>
              <a:r>
                <a:rPr lang="en-US" altLang="en-US" sz="2000">
                  <a:latin typeface="Times New Roman" pitchFamily="18" charset="0"/>
                </a:rPr>
                <a:t> and </a:t>
              </a:r>
              <a:r>
                <a:rPr lang="en-US" altLang="en-US" sz="2000" i="1">
                  <a:latin typeface="Times New Roman" pitchFamily="18" charset="0"/>
                </a:rPr>
                <a:t>j</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r2</a:t>
              </a:r>
              <a:r>
                <a:rPr lang="en-US" altLang="en-US" sz="2000">
                  <a:latin typeface="Times New Roman" pitchFamily="18" charset="0"/>
                </a:rPr>
                <a:t>, repeat:</a:t>
              </a:r>
              <a:br>
                <a:rPr lang="en-US" altLang="en-US" sz="2000">
                  <a:latin typeface="Times New Roman" pitchFamily="18" charset="0"/>
                </a:rPr>
              </a:br>
              <a:r>
                <a:rPr lang="en-US" altLang="en-US" sz="2000">
                  <a:latin typeface="Times New Roman" pitchFamily="18" charset="0"/>
                </a:rPr>
                <a:t>	…</a:t>
              </a:r>
              <a:br>
                <a:rPr lang="en-US" altLang="en-US" sz="2000">
                  <a:latin typeface="Times New Roman" pitchFamily="18" charset="0"/>
                </a:rPr>
              </a:br>
              <a:r>
                <a:rPr lang="en-US" altLang="en-US" sz="2000">
                  <a:latin typeface="Times New Roman" pitchFamily="18" charset="0"/>
                </a:rPr>
                <a:t>3.	If </a:t>
              </a:r>
              <a:r>
                <a:rPr lang="en-US" altLang="en-US" sz="2000" i="1">
                  <a:latin typeface="Times New Roman" pitchFamily="18" charset="0"/>
                </a:rPr>
                <a:t>i</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r1</a:t>
              </a:r>
              <a:r>
                <a:rPr lang="en-US" altLang="en-US" sz="2000">
                  <a:latin typeface="Times New Roman" pitchFamily="18" charset="0"/>
                </a:rPr>
                <a:t>, copy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i</a:t>
              </a:r>
              <a:r>
                <a:rPr lang="en-US" altLang="en-US" sz="2000">
                  <a:latin typeface="Times New Roman" pitchFamily="18" charset="0"/>
                </a:rPr>
                <a:t>…</a:t>
              </a:r>
              <a:r>
                <a:rPr lang="en-US" altLang="en-US" sz="2000" i="1">
                  <a:latin typeface="Times New Roman" pitchFamily="18" charset="0"/>
                </a:rPr>
                <a:t>r1</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k</a:t>
              </a:r>
              <a:r>
                <a:rPr lang="en-US" altLang="en-US" sz="2000">
                  <a:latin typeface="Times New Roman" pitchFamily="18" charset="0"/>
                </a:rPr>
                <a:t>…</a:t>
              </a:r>
              <a:r>
                <a:rPr lang="en-US" altLang="en-US" sz="2000" i="1">
                  <a:latin typeface="Times New Roman" pitchFamily="18" charset="0"/>
                </a:rPr>
                <a:t>r3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4.	</a:t>
              </a:r>
              <a:r>
                <a:rPr lang="en-US" altLang="en-US" sz="2000">
                  <a:solidFill>
                    <a:srgbClr val="FF0000"/>
                  </a:solidFill>
                  <a:latin typeface="Times New Roman" pitchFamily="18" charset="0"/>
                </a:rPr>
                <a:t>If </a:t>
              </a:r>
              <a:r>
                <a:rPr lang="en-US" altLang="en-US" sz="2000" i="1">
                  <a:solidFill>
                    <a:srgbClr val="FF0000"/>
                  </a:solidFill>
                  <a:latin typeface="Times New Roman" pitchFamily="18" charset="0"/>
                </a:rPr>
                <a:t>j</a:t>
              </a:r>
              <a:r>
                <a:rPr lang="en-US" altLang="en-US" sz="2000">
                  <a:solidFill>
                    <a:srgbClr val="FF0000"/>
                  </a:solidFill>
                  <a:latin typeface="Times New Roman" pitchFamily="18" charset="0"/>
                </a:rPr>
                <a:t> </a:t>
              </a:r>
              <a:r>
                <a:rPr lang="en-US" altLang="en-US" sz="2000">
                  <a:solidFill>
                    <a:srgbClr val="FF0000"/>
                  </a:solidFill>
                  <a:latin typeface="Times New Roman" pitchFamily="18" charset="0"/>
                  <a:sym typeface="Symbol" pitchFamily="18" charset="2"/>
                </a:rPr>
                <a:t></a:t>
              </a:r>
              <a:r>
                <a:rPr lang="en-US" altLang="en-US" sz="2000">
                  <a:solidFill>
                    <a:srgbClr val="FF0000"/>
                  </a:solidFill>
                  <a:latin typeface="Times New Roman" pitchFamily="18" charset="0"/>
                </a:rPr>
                <a:t> </a:t>
              </a:r>
              <a:r>
                <a:rPr lang="en-US" altLang="en-US" sz="2000" i="1">
                  <a:solidFill>
                    <a:srgbClr val="FF0000"/>
                  </a:solidFill>
                  <a:latin typeface="Times New Roman" pitchFamily="18" charset="0"/>
                </a:rPr>
                <a:t>r2</a:t>
              </a:r>
              <a:r>
                <a:rPr lang="en-US" altLang="en-US" sz="2000">
                  <a:solidFill>
                    <a:srgbClr val="FF0000"/>
                  </a:solidFill>
                  <a:latin typeface="Times New Roman" pitchFamily="18" charset="0"/>
                </a:rPr>
                <a:t>, copy </a:t>
              </a:r>
              <a:r>
                <a:rPr lang="en-US" altLang="en-US" sz="2000" i="1">
                  <a:solidFill>
                    <a:srgbClr val="FF0000"/>
                  </a:solidFill>
                  <a:latin typeface="Times New Roman" pitchFamily="18" charset="0"/>
                </a:rPr>
                <a:t>a2</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j</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r2</a:t>
              </a:r>
              <a:r>
                <a:rPr lang="en-US" altLang="en-US" sz="2000">
                  <a:solidFill>
                    <a:srgbClr val="FF0000"/>
                  </a:solidFill>
                  <a:latin typeface="Times New Roman" pitchFamily="18" charset="0"/>
                </a:rPr>
                <a:t>] into </a:t>
              </a:r>
              <a:r>
                <a:rPr lang="en-US" altLang="en-US" sz="2000" i="1">
                  <a:solidFill>
                    <a:srgbClr val="FF0000"/>
                  </a:solidFill>
                  <a:latin typeface="Times New Roman" pitchFamily="18" charset="0"/>
                </a:rPr>
                <a:t>a3</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k</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r3</a:t>
              </a:r>
              <a:r>
                <a:rPr lang="en-US" altLang="en-US" sz="2000">
                  <a:solidFill>
                    <a:srgbClr val="FF0000"/>
                  </a:solidFill>
                  <a:latin typeface="Times New Roman" pitchFamily="18" charset="0"/>
                </a:rPr>
                <a:t>].</a:t>
              </a:r>
              <a:br>
                <a:rPr lang="en-US" altLang="en-US" sz="2000">
                  <a:latin typeface="Times New Roman" pitchFamily="18" charset="0"/>
                </a:rPr>
              </a:br>
              <a:r>
                <a:rPr lang="en-US" altLang="en-US" sz="2000">
                  <a:latin typeface="Times New Roman" pitchFamily="18" charset="0"/>
                </a:rPr>
                <a:t>5.	Terminate.</a:t>
              </a:r>
            </a:p>
          </p:txBody>
        </p:sp>
        <p:sp>
          <p:nvSpPr>
            <p:cNvPr id="30780" name="Text Box 522"/>
            <p:cNvSpPr txBox="1">
              <a:spLocks noChangeArrowheads="1"/>
            </p:cNvSpPr>
            <p:nvPr/>
          </p:nvSpPr>
          <p:spPr bwMode="auto">
            <a:xfrm>
              <a:off x="1512" y="2169"/>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30781" name="Text Box 523"/>
            <p:cNvSpPr txBox="1">
              <a:spLocks noChangeArrowheads="1"/>
            </p:cNvSpPr>
            <p:nvPr/>
          </p:nvSpPr>
          <p:spPr bwMode="auto">
            <a:xfrm>
              <a:off x="1416" y="1977"/>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l1 </a:t>
              </a:r>
              <a:r>
                <a:rPr lang="en-US" altLang="en-US" sz="1800">
                  <a:latin typeface="Times New Roman" pitchFamily="18" charset="0"/>
                </a:rPr>
                <a:t>= 0</a:t>
              </a:r>
            </a:p>
          </p:txBody>
        </p:sp>
        <p:sp>
          <p:nvSpPr>
            <p:cNvPr id="30782" name="Text Box 524"/>
            <p:cNvSpPr txBox="1">
              <a:spLocks noChangeArrowheads="1"/>
            </p:cNvSpPr>
            <p:nvPr/>
          </p:nvSpPr>
          <p:spPr bwMode="auto">
            <a:xfrm>
              <a:off x="1992" y="1977"/>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 = </a:t>
              </a:r>
              <a:r>
                <a:rPr lang="en-US" altLang="en-US" sz="1800" i="1">
                  <a:latin typeface="Times New Roman" pitchFamily="18" charset="0"/>
                </a:rPr>
                <a:t>r1</a:t>
              </a:r>
              <a:endParaRPr lang="en-US" altLang="en-US" sz="1800">
                <a:latin typeface="Times New Roman" pitchFamily="18" charset="0"/>
              </a:endParaRPr>
            </a:p>
          </p:txBody>
        </p:sp>
        <p:sp>
          <p:nvSpPr>
            <p:cNvPr id="30783" name="Text Box 525"/>
            <p:cNvSpPr txBox="1">
              <a:spLocks noChangeArrowheads="1"/>
            </p:cNvSpPr>
            <p:nvPr/>
          </p:nvSpPr>
          <p:spPr bwMode="auto">
            <a:xfrm>
              <a:off x="1971" y="2169"/>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30784" name="Text Box 526"/>
            <p:cNvSpPr txBox="1">
              <a:spLocks noChangeArrowheads="1"/>
            </p:cNvSpPr>
            <p:nvPr/>
          </p:nvSpPr>
          <p:spPr bwMode="auto">
            <a:xfrm>
              <a:off x="1320" y="2169"/>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a1</a:t>
              </a:r>
            </a:p>
          </p:txBody>
        </p:sp>
        <p:sp>
          <p:nvSpPr>
            <p:cNvPr id="30785" name="Text Box 527"/>
            <p:cNvSpPr txBox="1">
              <a:spLocks noChangeArrowheads="1"/>
            </p:cNvSpPr>
            <p:nvPr/>
          </p:nvSpPr>
          <p:spPr bwMode="auto">
            <a:xfrm>
              <a:off x="1512" y="2601"/>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30786" name="Text Box 528"/>
            <p:cNvSpPr txBox="1">
              <a:spLocks noChangeArrowheads="1"/>
            </p:cNvSpPr>
            <p:nvPr/>
          </p:nvSpPr>
          <p:spPr bwMode="auto">
            <a:xfrm>
              <a:off x="1416" y="2409"/>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l2 </a:t>
              </a:r>
              <a:r>
                <a:rPr lang="en-US" altLang="en-US" sz="1800">
                  <a:latin typeface="Times New Roman" pitchFamily="18" charset="0"/>
                </a:rPr>
                <a:t>= 0</a:t>
              </a:r>
            </a:p>
          </p:txBody>
        </p:sp>
        <p:sp>
          <p:nvSpPr>
            <p:cNvPr id="30787" name="Text Box 529"/>
            <p:cNvSpPr txBox="1">
              <a:spLocks noChangeArrowheads="1"/>
            </p:cNvSpPr>
            <p:nvPr/>
          </p:nvSpPr>
          <p:spPr bwMode="auto">
            <a:xfrm>
              <a:off x="2092" y="240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0788" name="Text Box 530"/>
            <p:cNvSpPr txBox="1">
              <a:spLocks noChangeArrowheads="1"/>
            </p:cNvSpPr>
            <p:nvPr/>
          </p:nvSpPr>
          <p:spPr bwMode="auto">
            <a:xfrm>
              <a:off x="2520" y="240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0789" name="Text Box 531"/>
            <p:cNvSpPr txBox="1">
              <a:spLocks noChangeArrowheads="1"/>
            </p:cNvSpPr>
            <p:nvPr/>
          </p:nvSpPr>
          <p:spPr bwMode="auto">
            <a:xfrm>
              <a:off x="2952" y="240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0790" name="Text Box 532"/>
            <p:cNvSpPr txBox="1">
              <a:spLocks noChangeArrowheads="1"/>
            </p:cNvSpPr>
            <p:nvPr/>
          </p:nvSpPr>
          <p:spPr bwMode="auto">
            <a:xfrm>
              <a:off x="3288" y="2409"/>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 = </a:t>
              </a:r>
              <a:r>
                <a:rPr lang="en-US" altLang="en-US" sz="1800" i="1">
                  <a:latin typeface="Times New Roman" pitchFamily="18" charset="0"/>
                </a:rPr>
                <a:t>r2</a:t>
              </a:r>
              <a:endParaRPr lang="en-US" altLang="en-US" sz="1800">
                <a:latin typeface="Times New Roman" pitchFamily="18" charset="0"/>
              </a:endParaRPr>
            </a:p>
          </p:txBody>
        </p:sp>
        <p:sp>
          <p:nvSpPr>
            <p:cNvPr id="30791" name="Text Box 533"/>
            <p:cNvSpPr txBox="1">
              <a:spLocks noChangeArrowheads="1"/>
            </p:cNvSpPr>
            <p:nvPr/>
          </p:nvSpPr>
          <p:spPr bwMode="auto">
            <a:xfrm>
              <a:off x="1971" y="2601"/>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30792" name="Text Box 534"/>
            <p:cNvSpPr txBox="1">
              <a:spLocks noChangeArrowheads="1"/>
            </p:cNvSpPr>
            <p:nvPr/>
          </p:nvSpPr>
          <p:spPr bwMode="auto">
            <a:xfrm>
              <a:off x="2403" y="2601"/>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30793" name="Text Box 535"/>
            <p:cNvSpPr txBox="1">
              <a:spLocks noChangeArrowheads="1"/>
            </p:cNvSpPr>
            <p:nvPr/>
          </p:nvSpPr>
          <p:spPr bwMode="auto">
            <a:xfrm>
              <a:off x="2835" y="2601"/>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30794" name="Text Box 536"/>
            <p:cNvSpPr txBox="1">
              <a:spLocks noChangeArrowheads="1"/>
            </p:cNvSpPr>
            <p:nvPr/>
          </p:nvSpPr>
          <p:spPr bwMode="auto">
            <a:xfrm>
              <a:off x="3267" y="2601"/>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30795" name="Text Box 537"/>
            <p:cNvSpPr txBox="1">
              <a:spLocks noChangeArrowheads="1"/>
            </p:cNvSpPr>
            <p:nvPr/>
          </p:nvSpPr>
          <p:spPr bwMode="auto">
            <a:xfrm>
              <a:off x="1320" y="2601"/>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a2</a:t>
              </a:r>
            </a:p>
          </p:txBody>
        </p:sp>
        <p:sp>
          <p:nvSpPr>
            <p:cNvPr id="30796" name="Text Box 538"/>
            <p:cNvSpPr txBox="1">
              <a:spLocks noChangeArrowheads="1"/>
            </p:cNvSpPr>
            <p:nvPr/>
          </p:nvSpPr>
          <p:spPr bwMode="auto">
            <a:xfrm>
              <a:off x="1512" y="3033"/>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30797" name="Text Box 539"/>
            <p:cNvSpPr txBox="1">
              <a:spLocks noChangeArrowheads="1"/>
            </p:cNvSpPr>
            <p:nvPr/>
          </p:nvSpPr>
          <p:spPr bwMode="auto">
            <a:xfrm>
              <a:off x="1416" y="2841"/>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l3 </a:t>
              </a:r>
              <a:r>
                <a:rPr lang="en-US" altLang="en-US" sz="1800">
                  <a:latin typeface="Times New Roman" pitchFamily="18" charset="0"/>
                </a:rPr>
                <a:t>= 0</a:t>
              </a:r>
            </a:p>
          </p:txBody>
        </p:sp>
        <p:sp>
          <p:nvSpPr>
            <p:cNvPr id="30798" name="Text Box 540"/>
            <p:cNvSpPr txBox="1">
              <a:spLocks noChangeArrowheads="1"/>
            </p:cNvSpPr>
            <p:nvPr/>
          </p:nvSpPr>
          <p:spPr bwMode="auto">
            <a:xfrm>
              <a:off x="2092" y="284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0799" name="Text Box 541"/>
            <p:cNvSpPr txBox="1">
              <a:spLocks noChangeArrowheads="1"/>
            </p:cNvSpPr>
            <p:nvPr/>
          </p:nvSpPr>
          <p:spPr bwMode="auto">
            <a:xfrm>
              <a:off x="2520" y="284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0800" name="Text Box 542"/>
            <p:cNvSpPr txBox="1">
              <a:spLocks noChangeArrowheads="1"/>
            </p:cNvSpPr>
            <p:nvPr/>
          </p:nvSpPr>
          <p:spPr bwMode="auto">
            <a:xfrm>
              <a:off x="2952" y="284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0801" name="Text Box 543"/>
            <p:cNvSpPr txBox="1">
              <a:spLocks noChangeArrowheads="1"/>
            </p:cNvSpPr>
            <p:nvPr/>
          </p:nvSpPr>
          <p:spPr bwMode="auto">
            <a:xfrm>
              <a:off x="3384" y="284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30802" name="Text Box 544"/>
            <p:cNvSpPr txBox="1">
              <a:spLocks noChangeArrowheads="1"/>
            </p:cNvSpPr>
            <p:nvPr/>
          </p:nvSpPr>
          <p:spPr bwMode="auto">
            <a:xfrm>
              <a:off x="3816" y="284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30803" name="Text Box 545"/>
            <p:cNvSpPr txBox="1">
              <a:spLocks noChangeArrowheads="1"/>
            </p:cNvSpPr>
            <p:nvPr/>
          </p:nvSpPr>
          <p:spPr bwMode="auto">
            <a:xfrm>
              <a:off x="1971" y="3033"/>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30804" name="Text Box 546"/>
            <p:cNvSpPr txBox="1">
              <a:spLocks noChangeArrowheads="1"/>
            </p:cNvSpPr>
            <p:nvPr/>
          </p:nvSpPr>
          <p:spPr bwMode="auto">
            <a:xfrm>
              <a:off x="2403" y="3033"/>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30805" name="Text Box 547"/>
            <p:cNvSpPr txBox="1">
              <a:spLocks noChangeArrowheads="1"/>
            </p:cNvSpPr>
            <p:nvPr/>
          </p:nvSpPr>
          <p:spPr bwMode="auto">
            <a:xfrm>
              <a:off x="2835" y="3033"/>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30806" name="Text Box 548"/>
            <p:cNvSpPr txBox="1">
              <a:spLocks noChangeArrowheads="1"/>
            </p:cNvSpPr>
            <p:nvPr/>
          </p:nvSpPr>
          <p:spPr bwMode="auto">
            <a:xfrm>
              <a:off x="3267" y="3033"/>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30807" name="Text Box 549"/>
            <p:cNvSpPr txBox="1">
              <a:spLocks noChangeArrowheads="1"/>
            </p:cNvSpPr>
            <p:nvPr/>
          </p:nvSpPr>
          <p:spPr bwMode="auto">
            <a:xfrm>
              <a:off x="3699" y="3033"/>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GB" altLang="en-US" sz="2000">
                  <a:latin typeface="Times New Roman" pitchFamily="18" charset="0"/>
                </a:rPr>
                <a:t>lion</a:t>
              </a:r>
            </a:p>
          </p:txBody>
        </p:sp>
        <p:sp>
          <p:nvSpPr>
            <p:cNvPr id="30808" name="Text Box 550"/>
            <p:cNvSpPr txBox="1">
              <a:spLocks noChangeArrowheads="1"/>
            </p:cNvSpPr>
            <p:nvPr/>
          </p:nvSpPr>
          <p:spPr bwMode="auto">
            <a:xfrm>
              <a:off x="4131" y="3033"/>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GB" altLang="en-US" sz="2000">
                  <a:latin typeface="Times New Roman" pitchFamily="18" charset="0"/>
                </a:rPr>
                <a:t>tiger</a:t>
              </a:r>
            </a:p>
          </p:txBody>
        </p:sp>
        <p:sp>
          <p:nvSpPr>
            <p:cNvPr id="30809" name="Text Box 551"/>
            <p:cNvSpPr txBox="1">
              <a:spLocks noChangeArrowheads="1"/>
            </p:cNvSpPr>
            <p:nvPr/>
          </p:nvSpPr>
          <p:spPr bwMode="auto">
            <a:xfrm>
              <a:off x="1320" y="3033"/>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a3</a:t>
              </a:r>
            </a:p>
          </p:txBody>
        </p:sp>
        <p:sp>
          <p:nvSpPr>
            <p:cNvPr id="30810" name="Text Box 552"/>
            <p:cNvSpPr txBox="1">
              <a:spLocks noChangeArrowheads="1"/>
            </p:cNvSpPr>
            <p:nvPr/>
          </p:nvSpPr>
          <p:spPr bwMode="auto">
            <a:xfrm>
              <a:off x="4251" y="284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30811" name="Text Box 553"/>
            <p:cNvSpPr txBox="1">
              <a:spLocks noChangeArrowheads="1"/>
            </p:cNvSpPr>
            <p:nvPr/>
          </p:nvSpPr>
          <p:spPr bwMode="auto">
            <a:xfrm>
              <a:off x="4899" y="303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5</a:t>
              </a:r>
            </a:p>
          </p:txBody>
        </p:sp>
        <p:sp>
          <p:nvSpPr>
            <p:cNvPr id="30812" name="Text Box 554"/>
            <p:cNvSpPr txBox="1">
              <a:spLocks noChangeArrowheads="1"/>
            </p:cNvSpPr>
            <p:nvPr/>
          </p:nvSpPr>
          <p:spPr bwMode="auto">
            <a:xfrm>
              <a:off x="4707" y="3033"/>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k</a:t>
              </a:r>
            </a:p>
          </p:txBody>
        </p:sp>
        <p:sp>
          <p:nvSpPr>
            <p:cNvPr id="30813" name="Text Box 555"/>
            <p:cNvSpPr txBox="1">
              <a:spLocks noChangeArrowheads="1"/>
            </p:cNvSpPr>
            <p:nvPr/>
          </p:nvSpPr>
          <p:spPr bwMode="auto">
            <a:xfrm>
              <a:off x="4899" y="260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3</a:t>
              </a:r>
            </a:p>
          </p:txBody>
        </p:sp>
        <p:sp>
          <p:nvSpPr>
            <p:cNvPr id="30814" name="Text Box 556"/>
            <p:cNvSpPr txBox="1">
              <a:spLocks noChangeArrowheads="1"/>
            </p:cNvSpPr>
            <p:nvPr/>
          </p:nvSpPr>
          <p:spPr bwMode="auto">
            <a:xfrm>
              <a:off x="4728" y="2601"/>
              <a:ext cx="1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j</a:t>
              </a:r>
            </a:p>
          </p:txBody>
        </p:sp>
        <p:sp>
          <p:nvSpPr>
            <p:cNvPr id="30815" name="Text Box 557"/>
            <p:cNvSpPr txBox="1">
              <a:spLocks noChangeArrowheads="1"/>
            </p:cNvSpPr>
            <p:nvPr/>
          </p:nvSpPr>
          <p:spPr bwMode="auto">
            <a:xfrm>
              <a:off x="4899" y="216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2</a:t>
              </a:r>
            </a:p>
          </p:txBody>
        </p:sp>
        <p:sp>
          <p:nvSpPr>
            <p:cNvPr id="30816" name="Text Box 558"/>
            <p:cNvSpPr txBox="1">
              <a:spLocks noChangeArrowheads="1"/>
            </p:cNvSpPr>
            <p:nvPr/>
          </p:nvSpPr>
          <p:spPr bwMode="auto">
            <a:xfrm>
              <a:off x="4707" y="2169"/>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i</a:t>
              </a:r>
            </a:p>
          </p:txBody>
        </p:sp>
      </p:grpSp>
      <p:grpSp>
        <p:nvGrpSpPr>
          <p:cNvPr id="16" name="Group 599"/>
          <p:cNvGrpSpPr>
            <a:grpSpLocks/>
          </p:cNvGrpSpPr>
          <p:nvPr/>
        </p:nvGrpSpPr>
        <p:grpSpPr bwMode="auto">
          <a:xfrm>
            <a:off x="571501" y="2032000"/>
            <a:ext cx="6705600" cy="4724400"/>
            <a:chOff x="1224" y="341"/>
            <a:chExt cx="4224" cy="2976"/>
          </a:xfrm>
        </p:grpSpPr>
        <p:sp>
          <p:nvSpPr>
            <p:cNvPr id="30739" name="Rectangle 560"/>
            <p:cNvSpPr>
              <a:spLocks noChangeArrowheads="1"/>
            </p:cNvSpPr>
            <p:nvPr/>
          </p:nvSpPr>
          <p:spPr bwMode="auto">
            <a:xfrm>
              <a:off x="1224" y="341"/>
              <a:ext cx="4224" cy="2976"/>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30740" name="Text Box 561"/>
            <p:cNvSpPr txBox="1">
              <a:spLocks noChangeArrowheads="1"/>
            </p:cNvSpPr>
            <p:nvPr/>
          </p:nvSpPr>
          <p:spPr bwMode="auto">
            <a:xfrm>
              <a:off x="1272" y="379"/>
              <a:ext cx="4128" cy="1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merge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l1</a:t>
              </a:r>
              <a:r>
                <a:rPr lang="en-US" altLang="en-US" sz="2000">
                  <a:latin typeface="Times New Roman" pitchFamily="18" charset="0"/>
                </a:rPr>
                <a:t>…</a:t>
              </a:r>
              <a:r>
                <a:rPr lang="en-US" altLang="en-US" sz="2000" i="1">
                  <a:latin typeface="Times New Roman" pitchFamily="18" charset="0"/>
                </a:rPr>
                <a:t>r1</a:t>
              </a:r>
              <a:r>
                <a:rPr lang="en-US" altLang="en-US" sz="2000">
                  <a:latin typeface="Times New Roman" pitchFamily="18" charset="0"/>
                </a:rPr>
                <a:t>] and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l2</a:t>
              </a:r>
              <a:r>
                <a:rPr lang="en-US" altLang="en-US" sz="2000">
                  <a:latin typeface="Times New Roman" pitchFamily="18" charset="0"/>
                </a:rPr>
                <a:t>…</a:t>
              </a:r>
              <a:r>
                <a:rPr lang="en-US" altLang="en-US" sz="2000" i="1">
                  <a:latin typeface="Times New Roman" pitchFamily="18" charset="0"/>
                </a:rPr>
                <a:t>r2</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1.	Set </a:t>
              </a:r>
              <a:r>
                <a:rPr lang="en-US" altLang="en-US" sz="2000" i="1">
                  <a:latin typeface="Times New Roman" pitchFamily="18" charset="0"/>
                </a:rPr>
                <a:t>i</a:t>
              </a:r>
              <a:r>
                <a:rPr lang="en-US" altLang="en-US" sz="2000">
                  <a:latin typeface="Times New Roman" pitchFamily="18" charset="0"/>
                </a:rPr>
                <a:t> = </a:t>
              </a:r>
              <a:r>
                <a:rPr lang="en-US" altLang="en-US" sz="2000" i="1">
                  <a:latin typeface="Times New Roman" pitchFamily="18" charset="0"/>
                </a:rPr>
                <a:t>l1</a:t>
              </a:r>
              <a:r>
                <a:rPr lang="en-US" altLang="en-US" sz="2000">
                  <a:latin typeface="Times New Roman" pitchFamily="18" charset="0"/>
                </a:rPr>
                <a:t>, set </a:t>
              </a:r>
              <a:r>
                <a:rPr lang="en-US" altLang="en-US" sz="2000" i="1">
                  <a:latin typeface="Times New Roman" pitchFamily="18" charset="0"/>
                </a:rPr>
                <a:t>j</a:t>
              </a:r>
              <a:r>
                <a:rPr lang="en-US" altLang="en-US" sz="2000">
                  <a:latin typeface="Times New Roman" pitchFamily="18" charset="0"/>
                </a:rPr>
                <a:t> = </a:t>
              </a:r>
              <a:r>
                <a:rPr lang="en-US" altLang="en-US" sz="2000" i="1">
                  <a:latin typeface="Times New Roman" pitchFamily="18" charset="0"/>
                </a:rPr>
                <a:t>l2</a:t>
              </a:r>
              <a:r>
                <a:rPr lang="en-US" altLang="en-US" sz="2000">
                  <a:latin typeface="Times New Roman" pitchFamily="18" charset="0"/>
                </a:rPr>
                <a:t>, and set </a:t>
              </a:r>
              <a:r>
                <a:rPr lang="en-US" altLang="en-US" sz="2000" i="1">
                  <a:latin typeface="Times New Roman" pitchFamily="18" charset="0"/>
                </a:rPr>
                <a:t>k</a:t>
              </a:r>
              <a:r>
                <a:rPr lang="en-US" altLang="en-US" sz="2000">
                  <a:latin typeface="Times New Roman" pitchFamily="18" charset="0"/>
                </a:rPr>
                <a:t> = </a:t>
              </a:r>
              <a:r>
                <a:rPr lang="en-US" altLang="en-US" sz="2000" i="1">
                  <a:latin typeface="Times New Roman" pitchFamily="18" charset="0"/>
                </a:rPr>
                <a:t>l3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While </a:t>
              </a:r>
              <a:r>
                <a:rPr lang="en-US" altLang="en-US" sz="2000" i="1">
                  <a:latin typeface="Times New Roman" pitchFamily="18" charset="0"/>
                </a:rPr>
                <a:t>i</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r1</a:t>
              </a:r>
              <a:r>
                <a:rPr lang="en-US" altLang="en-US" sz="2000">
                  <a:latin typeface="Times New Roman" pitchFamily="18" charset="0"/>
                </a:rPr>
                <a:t> and </a:t>
              </a:r>
              <a:r>
                <a:rPr lang="en-US" altLang="en-US" sz="2000" i="1">
                  <a:latin typeface="Times New Roman" pitchFamily="18" charset="0"/>
                </a:rPr>
                <a:t>j</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r2</a:t>
              </a:r>
              <a:r>
                <a:rPr lang="en-US" altLang="en-US" sz="2000">
                  <a:latin typeface="Times New Roman" pitchFamily="18" charset="0"/>
                </a:rPr>
                <a:t>, repeat:</a:t>
              </a:r>
              <a:br>
                <a:rPr lang="en-US" altLang="en-US" sz="2000">
                  <a:latin typeface="Times New Roman" pitchFamily="18" charset="0"/>
                </a:rPr>
              </a:br>
              <a:r>
                <a:rPr lang="en-US" altLang="en-US" sz="2000">
                  <a:latin typeface="Times New Roman" pitchFamily="18" charset="0"/>
                </a:rPr>
                <a:t>	…</a:t>
              </a:r>
              <a:br>
                <a:rPr lang="en-US" altLang="en-US" sz="2000">
                  <a:latin typeface="Times New Roman" pitchFamily="18" charset="0"/>
                </a:rPr>
              </a:br>
              <a:r>
                <a:rPr lang="en-US" altLang="en-US" sz="2000">
                  <a:latin typeface="Times New Roman" pitchFamily="18" charset="0"/>
                </a:rPr>
                <a:t>3.	If </a:t>
              </a:r>
              <a:r>
                <a:rPr lang="en-US" altLang="en-US" sz="2000" i="1">
                  <a:latin typeface="Times New Roman" pitchFamily="18" charset="0"/>
                </a:rPr>
                <a:t>i</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r1</a:t>
              </a:r>
              <a:r>
                <a:rPr lang="en-US" altLang="en-US" sz="2000">
                  <a:latin typeface="Times New Roman" pitchFamily="18" charset="0"/>
                </a:rPr>
                <a:t>, copy </a:t>
              </a:r>
              <a:r>
                <a:rPr lang="en-US" altLang="en-US" sz="2000" i="1">
                  <a:latin typeface="Times New Roman" pitchFamily="18" charset="0"/>
                </a:rPr>
                <a:t>a1</a:t>
              </a:r>
              <a:r>
                <a:rPr lang="en-US" altLang="en-US" sz="2000">
                  <a:latin typeface="Times New Roman" pitchFamily="18" charset="0"/>
                </a:rPr>
                <a:t>[</a:t>
              </a:r>
              <a:r>
                <a:rPr lang="en-US" altLang="en-US" sz="2000" i="1">
                  <a:latin typeface="Times New Roman" pitchFamily="18" charset="0"/>
                </a:rPr>
                <a:t>i</a:t>
              </a:r>
              <a:r>
                <a:rPr lang="en-US" altLang="en-US" sz="2000">
                  <a:latin typeface="Times New Roman" pitchFamily="18" charset="0"/>
                </a:rPr>
                <a:t>…</a:t>
              </a:r>
              <a:r>
                <a:rPr lang="en-US" altLang="en-US" sz="2000" i="1">
                  <a:latin typeface="Times New Roman" pitchFamily="18" charset="0"/>
                </a:rPr>
                <a:t>r1</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k</a:t>
              </a:r>
              <a:r>
                <a:rPr lang="en-US" altLang="en-US" sz="2000">
                  <a:latin typeface="Times New Roman" pitchFamily="18" charset="0"/>
                </a:rPr>
                <a:t>…</a:t>
              </a:r>
              <a:r>
                <a:rPr lang="en-US" altLang="en-US" sz="2000" i="1">
                  <a:latin typeface="Times New Roman" pitchFamily="18" charset="0"/>
                </a:rPr>
                <a:t>r3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4.	If </a:t>
              </a:r>
              <a:r>
                <a:rPr lang="en-US" altLang="en-US" sz="2000" i="1">
                  <a:latin typeface="Times New Roman" pitchFamily="18" charset="0"/>
                </a:rPr>
                <a:t>j</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r2</a:t>
              </a:r>
              <a:r>
                <a:rPr lang="en-US" altLang="en-US" sz="2000">
                  <a:latin typeface="Times New Roman" pitchFamily="18" charset="0"/>
                </a:rPr>
                <a:t>, copy </a:t>
              </a:r>
              <a:r>
                <a:rPr lang="en-US" altLang="en-US" sz="2000" i="1">
                  <a:latin typeface="Times New Roman" pitchFamily="18" charset="0"/>
                </a:rPr>
                <a:t>a2</a:t>
              </a:r>
              <a:r>
                <a:rPr lang="en-US" altLang="en-US" sz="2000">
                  <a:latin typeface="Times New Roman" pitchFamily="18" charset="0"/>
                </a:rPr>
                <a:t>[</a:t>
              </a:r>
              <a:r>
                <a:rPr lang="en-US" altLang="en-US" sz="2000" i="1">
                  <a:latin typeface="Times New Roman" pitchFamily="18" charset="0"/>
                </a:rPr>
                <a:t>j</a:t>
              </a:r>
              <a:r>
                <a:rPr lang="en-US" altLang="en-US" sz="2000">
                  <a:latin typeface="Times New Roman" pitchFamily="18" charset="0"/>
                </a:rPr>
                <a:t>…</a:t>
              </a:r>
              <a:r>
                <a:rPr lang="en-US" altLang="en-US" sz="2000" i="1">
                  <a:latin typeface="Times New Roman" pitchFamily="18" charset="0"/>
                </a:rPr>
                <a:t>r2</a:t>
              </a:r>
              <a:r>
                <a:rPr lang="en-US" altLang="en-US" sz="2000">
                  <a:latin typeface="Times New Roman" pitchFamily="18" charset="0"/>
                </a:rPr>
                <a:t>] into </a:t>
              </a:r>
              <a:r>
                <a:rPr lang="en-US" altLang="en-US" sz="2000" i="1">
                  <a:latin typeface="Times New Roman" pitchFamily="18" charset="0"/>
                </a:rPr>
                <a:t>a3</a:t>
              </a:r>
              <a:r>
                <a:rPr lang="en-US" altLang="en-US" sz="2000">
                  <a:latin typeface="Times New Roman" pitchFamily="18" charset="0"/>
                </a:rPr>
                <a:t>[</a:t>
              </a:r>
              <a:r>
                <a:rPr lang="en-US" altLang="en-US" sz="2000" i="1">
                  <a:latin typeface="Times New Roman" pitchFamily="18" charset="0"/>
                </a:rPr>
                <a:t>k</a:t>
              </a:r>
              <a:r>
                <a:rPr lang="en-US" altLang="en-US" sz="2000">
                  <a:latin typeface="Times New Roman" pitchFamily="18" charset="0"/>
                </a:rPr>
                <a:t>…</a:t>
              </a:r>
              <a:r>
                <a:rPr lang="en-US" altLang="en-US" sz="2000" i="1">
                  <a:latin typeface="Times New Roman" pitchFamily="18" charset="0"/>
                </a:rPr>
                <a:t>r3</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5.	</a:t>
              </a:r>
              <a:r>
                <a:rPr lang="en-US" altLang="en-US" sz="2000">
                  <a:solidFill>
                    <a:srgbClr val="FF5050"/>
                  </a:solidFill>
                  <a:latin typeface="Times New Roman" pitchFamily="18" charset="0"/>
                </a:rPr>
                <a:t>Terminate.</a:t>
              </a:r>
            </a:p>
          </p:txBody>
        </p:sp>
        <p:sp>
          <p:nvSpPr>
            <p:cNvPr id="30741" name="Text Box 562"/>
            <p:cNvSpPr txBox="1">
              <a:spLocks noChangeArrowheads="1"/>
            </p:cNvSpPr>
            <p:nvPr/>
          </p:nvSpPr>
          <p:spPr bwMode="auto">
            <a:xfrm>
              <a:off x="1512" y="2165"/>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dirty="0">
                  <a:latin typeface="Times New Roman" pitchFamily="18" charset="0"/>
                </a:rPr>
                <a:t>cow</a:t>
              </a:r>
            </a:p>
          </p:txBody>
        </p:sp>
        <p:sp>
          <p:nvSpPr>
            <p:cNvPr id="30742" name="Text Box 563"/>
            <p:cNvSpPr txBox="1">
              <a:spLocks noChangeArrowheads="1"/>
            </p:cNvSpPr>
            <p:nvPr/>
          </p:nvSpPr>
          <p:spPr bwMode="auto">
            <a:xfrm>
              <a:off x="1416" y="1973"/>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l1 </a:t>
              </a:r>
              <a:r>
                <a:rPr lang="en-US" altLang="en-US" sz="1800">
                  <a:latin typeface="Times New Roman" pitchFamily="18" charset="0"/>
                </a:rPr>
                <a:t>= 0</a:t>
              </a:r>
            </a:p>
          </p:txBody>
        </p:sp>
        <p:sp>
          <p:nvSpPr>
            <p:cNvPr id="30743" name="Text Box 564"/>
            <p:cNvSpPr txBox="1">
              <a:spLocks noChangeArrowheads="1"/>
            </p:cNvSpPr>
            <p:nvPr/>
          </p:nvSpPr>
          <p:spPr bwMode="auto">
            <a:xfrm>
              <a:off x="1992" y="1973"/>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 = </a:t>
              </a:r>
              <a:r>
                <a:rPr lang="en-US" altLang="en-US" sz="1800" i="1">
                  <a:latin typeface="Times New Roman" pitchFamily="18" charset="0"/>
                </a:rPr>
                <a:t>r1</a:t>
              </a:r>
              <a:endParaRPr lang="en-US" altLang="en-US" sz="1800">
                <a:latin typeface="Times New Roman" pitchFamily="18" charset="0"/>
              </a:endParaRPr>
            </a:p>
          </p:txBody>
        </p:sp>
        <p:sp>
          <p:nvSpPr>
            <p:cNvPr id="30744" name="Text Box 565"/>
            <p:cNvSpPr txBox="1">
              <a:spLocks noChangeArrowheads="1"/>
            </p:cNvSpPr>
            <p:nvPr/>
          </p:nvSpPr>
          <p:spPr bwMode="auto">
            <a:xfrm>
              <a:off x="1971" y="2165"/>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30745" name="Text Box 566"/>
            <p:cNvSpPr txBox="1">
              <a:spLocks noChangeArrowheads="1"/>
            </p:cNvSpPr>
            <p:nvPr/>
          </p:nvSpPr>
          <p:spPr bwMode="auto">
            <a:xfrm>
              <a:off x="1320" y="2165"/>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a1</a:t>
              </a:r>
            </a:p>
          </p:txBody>
        </p:sp>
        <p:sp>
          <p:nvSpPr>
            <p:cNvPr id="30746" name="Text Box 567"/>
            <p:cNvSpPr txBox="1">
              <a:spLocks noChangeArrowheads="1"/>
            </p:cNvSpPr>
            <p:nvPr/>
          </p:nvSpPr>
          <p:spPr bwMode="auto">
            <a:xfrm>
              <a:off x="1512" y="2597"/>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dirty="0">
                  <a:latin typeface="Times New Roman" pitchFamily="18" charset="0"/>
                </a:rPr>
                <a:t>cat</a:t>
              </a:r>
            </a:p>
          </p:txBody>
        </p:sp>
        <p:sp>
          <p:nvSpPr>
            <p:cNvPr id="30747" name="Text Box 568"/>
            <p:cNvSpPr txBox="1">
              <a:spLocks noChangeArrowheads="1"/>
            </p:cNvSpPr>
            <p:nvPr/>
          </p:nvSpPr>
          <p:spPr bwMode="auto">
            <a:xfrm>
              <a:off x="1416" y="2405"/>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l2 </a:t>
              </a:r>
              <a:r>
                <a:rPr lang="en-US" altLang="en-US" sz="1800">
                  <a:latin typeface="Times New Roman" pitchFamily="18" charset="0"/>
                </a:rPr>
                <a:t>= 0</a:t>
              </a:r>
            </a:p>
          </p:txBody>
        </p:sp>
        <p:sp>
          <p:nvSpPr>
            <p:cNvPr id="30748" name="Text Box 569"/>
            <p:cNvSpPr txBox="1">
              <a:spLocks noChangeArrowheads="1"/>
            </p:cNvSpPr>
            <p:nvPr/>
          </p:nvSpPr>
          <p:spPr bwMode="auto">
            <a:xfrm>
              <a:off x="2092" y="240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0749" name="Text Box 570"/>
            <p:cNvSpPr txBox="1">
              <a:spLocks noChangeArrowheads="1"/>
            </p:cNvSpPr>
            <p:nvPr/>
          </p:nvSpPr>
          <p:spPr bwMode="auto">
            <a:xfrm>
              <a:off x="2520" y="240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0750" name="Text Box 571"/>
            <p:cNvSpPr txBox="1">
              <a:spLocks noChangeArrowheads="1"/>
            </p:cNvSpPr>
            <p:nvPr/>
          </p:nvSpPr>
          <p:spPr bwMode="auto">
            <a:xfrm>
              <a:off x="2952" y="240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0751" name="Text Box 572"/>
            <p:cNvSpPr txBox="1">
              <a:spLocks noChangeArrowheads="1"/>
            </p:cNvSpPr>
            <p:nvPr/>
          </p:nvSpPr>
          <p:spPr bwMode="auto">
            <a:xfrm>
              <a:off x="3288" y="2405"/>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 = </a:t>
              </a:r>
              <a:r>
                <a:rPr lang="en-US" altLang="en-US" sz="1800" i="1">
                  <a:latin typeface="Times New Roman" pitchFamily="18" charset="0"/>
                </a:rPr>
                <a:t>r2</a:t>
              </a:r>
              <a:endParaRPr lang="en-US" altLang="en-US" sz="1800">
                <a:latin typeface="Times New Roman" pitchFamily="18" charset="0"/>
              </a:endParaRPr>
            </a:p>
          </p:txBody>
        </p:sp>
        <p:sp>
          <p:nvSpPr>
            <p:cNvPr id="30752" name="Text Box 573"/>
            <p:cNvSpPr txBox="1">
              <a:spLocks noChangeArrowheads="1"/>
            </p:cNvSpPr>
            <p:nvPr/>
          </p:nvSpPr>
          <p:spPr bwMode="auto">
            <a:xfrm>
              <a:off x="1971" y="2597"/>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30753" name="Text Box 574"/>
            <p:cNvSpPr txBox="1">
              <a:spLocks noChangeArrowheads="1"/>
            </p:cNvSpPr>
            <p:nvPr/>
          </p:nvSpPr>
          <p:spPr bwMode="auto">
            <a:xfrm>
              <a:off x="2403" y="2597"/>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30754" name="Text Box 575"/>
            <p:cNvSpPr txBox="1">
              <a:spLocks noChangeArrowheads="1"/>
            </p:cNvSpPr>
            <p:nvPr/>
          </p:nvSpPr>
          <p:spPr bwMode="auto">
            <a:xfrm>
              <a:off x="2835" y="2597"/>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30755" name="Text Box 576"/>
            <p:cNvSpPr txBox="1">
              <a:spLocks noChangeArrowheads="1"/>
            </p:cNvSpPr>
            <p:nvPr/>
          </p:nvSpPr>
          <p:spPr bwMode="auto">
            <a:xfrm>
              <a:off x="3267" y="2597"/>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dirty="0">
                  <a:latin typeface="Times New Roman" pitchFamily="18" charset="0"/>
                </a:rPr>
                <a:t>tiger</a:t>
              </a:r>
            </a:p>
          </p:txBody>
        </p:sp>
        <p:sp>
          <p:nvSpPr>
            <p:cNvPr id="30756" name="Text Box 577"/>
            <p:cNvSpPr txBox="1">
              <a:spLocks noChangeArrowheads="1"/>
            </p:cNvSpPr>
            <p:nvPr/>
          </p:nvSpPr>
          <p:spPr bwMode="auto">
            <a:xfrm>
              <a:off x="1320" y="2597"/>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a2</a:t>
              </a:r>
            </a:p>
          </p:txBody>
        </p:sp>
        <p:sp>
          <p:nvSpPr>
            <p:cNvPr id="30757" name="Text Box 578"/>
            <p:cNvSpPr txBox="1">
              <a:spLocks noChangeArrowheads="1"/>
            </p:cNvSpPr>
            <p:nvPr/>
          </p:nvSpPr>
          <p:spPr bwMode="auto">
            <a:xfrm>
              <a:off x="1512" y="3029"/>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30758" name="Text Box 579"/>
            <p:cNvSpPr txBox="1">
              <a:spLocks noChangeArrowheads="1"/>
            </p:cNvSpPr>
            <p:nvPr/>
          </p:nvSpPr>
          <p:spPr bwMode="auto">
            <a:xfrm>
              <a:off x="1416" y="2837"/>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l3 </a:t>
              </a:r>
              <a:r>
                <a:rPr lang="en-US" altLang="en-US" sz="1800">
                  <a:latin typeface="Times New Roman" pitchFamily="18" charset="0"/>
                </a:rPr>
                <a:t>= 0</a:t>
              </a:r>
            </a:p>
          </p:txBody>
        </p:sp>
        <p:sp>
          <p:nvSpPr>
            <p:cNvPr id="30759" name="Text Box 580"/>
            <p:cNvSpPr txBox="1">
              <a:spLocks noChangeArrowheads="1"/>
            </p:cNvSpPr>
            <p:nvPr/>
          </p:nvSpPr>
          <p:spPr bwMode="auto">
            <a:xfrm>
              <a:off x="2092" y="2837"/>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0760" name="Text Box 581"/>
            <p:cNvSpPr txBox="1">
              <a:spLocks noChangeArrowheads="1"/>
            </p:cNvSpPr>
            <p:nvPr/>
          </p:nvSpPr>
          <p:spPr bwMode="auto">
            <a:xfrm>
              <a:off x="2520" y="2837"/>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0761" name="Text Box 582"/>
            <p:cNvSpPr txBox="1">
              <a:spLocks noChangeArrowheads="1"/>
            </p:cNvSpPr>
            <p:nvPr/>
          </p:nvSpPr>
          <p:spPr bwMode="auto">
            <a:xfrm>
              <a:off x="2952" y="2837"/>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0762" name="Text Box 583"/>
            <p:cNvSpPr txBox="1">
              <a:spLocks noChangeArrowheads="1"/>
            </p:cNvSpPr>
            <p:nvPr/>
          </p:nvSpPr>
          <p:spPr bwMode="auto">
            <a:xfrm>
              <a:off x="3384" y="2837"/>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30763" name="Text Box 584"/>
            <p:cNvSpPr txBox="1">
              <a:spLocks noChangeArrowheads="1"/>
            </p:cNvSpPr>
            <p:nvPr/>
          </p:nvSpPr>
          <p:spPr bwMode="auto">
            <a:xfrm>
              <a:off x="3816" y="2837"/>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30764" name="Text Box 585"/>
            <p:cNvSpPr txBox="1">
              <a:spLocks noChangeArrowheads="1"/>
            </p:cNvSpPr>
            <p:nvPr/>
          </p:nvSpPr>
          <p:spPr bwMode="auto">
            <a:xfrm>
              <a:off x="1971" y="3029"/>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30765" name="Text Box 586"/>
            <p:cNvSpPr txBox="1">
              <a:spLocks noChangeArrowheads="1"/>
            </p:cNvSpPr>
            <p:nvPr/>
          </p:nvSpPr>
          <p:spPr bwMode="auto">
            <a:xfrm>
              <a:off x="2403" y="3029"/>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30766" name="Text Box 587"/>
            <p:cNvSpPr txBox="1">
              <a:spLocks noChangeArrowheads="1"/>
            </p:cNvSpPr>
            <p:nvPr/>
          </p:nvSpPr>
          <p:spPr bwMode="auto">
            <a:xfrm>
              <a:off x="2835" y="3029"/>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30767" name="Text Box 588"/>
            <p:cNvSpPr txBox="1">
              <a:spLocks noChangeArrowheads="1"/>
            </p:cNvSpPr>
            <p:nvPr/>
          </p:nvSpPr>
          <p:spPr bwMode="auto">
            <a:xfrm>
              <a:off x="3267" y="3029"/>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30768" name="Text Box 589"/>
            <p:cNvSpPr txBox="1">
              <a:spLocks noChangeArrowheads="1"/>
            </p:cNvSpPr>
            <p:nvPr/>
          </p:nvSpPr>
          <p:spPr bwMode="auto">
            <a:xfrm>
              <a:off x="3699" y="3029"/>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GB" altLang="en-US" sz="2000">
                  <a:latin typeface="Times New Roman" pitchFamily="18" charset="0"/>
                </a:rPr>
                <a:t>lion</a:t>
              </a:r>
            </a:p>
          </p:txBody>
        </p:sp>
        <p:sp>
          <p:nvSpPr>
            <p:cNvPr id="30769" name="Text Box 590"/>
            <p:cNvSpPr txBox="1">
              <a:spLocks noChangeArrowheads="1"/>
            </p:cNvSpPr>
            <p:nvPr/>
          </p:nvSpPr>
          <p:spPr bwMode="auto">
            <a:xfrm>
              <a:off x="4131" y="3029"/>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GB" altLang="en-US" sz="2000" dirty="0">
                  <a:latin typeface="Times New Roman" pitchFamily="18" charset="0"/>
                </a:rPr>
                <a:t>tiger</a:t>
              </a:r>
            </a:p>
          </p:txBody>
        </p:sp>
        <p:sp>
          <p:nvSpPr>
            <p:cNvPr id="30770" name="Text Box 591"/>
            <p:cNvSpPr txBox="1">
              <a:spLocks noChangeArrowheads="1"/>
            </p:cNvSpPr>
            <p:nvPr/>
          </p:nvSpPr>
          <p:spPr bwMode="auto">
            <a:xfrm>
              <a:off x="1320" y="3029"/>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a3</a:t>
              </a:r>
            </a:p>
          </p:txBody>
        </p:sp>
        <p:sp>
          <p:nvSpPr>
            <p:cNvPr id="30771" name="Text Box 592"/>
            <p:cNvSpPr txBox="1">
              <a:spLocks noChangeArrowheads="1"/>
            </p:cNvSpPr>
            <p:nvPr/>
          </p:nvSpPr>
          <p:spPr bwMode="auto">
            <a:xfrm>
              <a:off x="4251" y="2837"/>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30772" name="Text Box 593"/>
            <p:cNvSpPr txBox="1">
              <a:spLocks noChangeArrowheads="1"/>
            </p:cNvSpPr>
            <p:nvPr/>
          </p:nvSpPr>
          <p:spPr bwMode="auto">
            <a:xfrm>
              <a:off x="4899" y="302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5</a:t>
              </a:r>
            </a:p>
          </p:txBody>
        </p:sp>
        <p:sp>
          <p:nvSpPr>
            <p:cNvPr id="30773" name="Text Box 594"/>
            <p:cNvSpPr txBox="1">
              <a:spLocks noChangeArrowheads="1"/>
            </p:cNvSpPr>
            <p:nvPr/>
          </p:nvSpPr>
          <p:spPr bwMode="auto">
            <a:xfrm>
              <a:off x="4707" y="3029"/>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k</a:t>
              </a:r>
            </a:p>
          </p:txBody>
        </p:sp>
        <p:sp>
          <p:nvSpPr>
            <p:cNvPr id="30774" name="Text Box 595"/>
            <p:cNvSpPr txBox="1">
              <a:spLocks noChangeArrowheads="1"/>
            </p:cNvSpPr>
            <p:nvPr/>
          </p:nvSpPr>
          <p:spPr bwMode="auto">
            <a:xfrm>
              <a:off x="4899" y="259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3</a:t>
              </a:r>
            </a:p>
          </p:txBody>
        </p:sp>
        <p:sp>
          <p:nvSpPr>
            <p:cNvPr id="30775" name="Text Box 596"/>
            <p:cNvSpPr txBox="1">
              <a:spLocks noChangeArrowheads="1"/>
            </p:cNvSpPr>
            <p:nvPr/>
          </p:nvSpPr>
          <p:spPr bwMode="auto">
            <a:xfrm>
              <a:off x="4728" y="2597"/>
              <a:ext cx="1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j</a:t>
              </a:r>
            </a:p>
          </p:txBody>
        </p:sp>
        <p:sp>
          <p:nvSpPr>
            <p:cNvPr id="30776" name="Text Box 597"/>
            <p:cNvSpPr txBox="1">
              <a:spLocks noChangeArrowheads="1"/>
            </p:cNvSpPr>
            <p:nvPr/>
          </p:nvSpPr>
          <p:spPr bwMode="auto">
            <a:xfrm>
              <a:off x="4899" y="216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2</a:t>
              </a:r>
            </a:p>
          </p:txBody>
        </p:sp>
        <p:sp>
          <p:nvSpPr>
            <p:cNvPr id="30777" name="Text Box 598"/>
            <p:cNvSpPr txBox="1">
              <a:spLocks noChangeArrowheads="1"/>
            </p:cNvSpPr>
            <p:nvPr/>
          </p:nvSpPr>
          <p:spPr bwMode="auto">
            <a:xfrm>
              <a:off x="4707" y="2165"/>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i</a:t>
              </a:r>
            </a:p>
          </p:txBody>
        </p:sp>
      </p:grpSp>
      <p:sp>
        <p:nvSpPr>
          <p:cNvPr id="17" name="Slide Number Placeholder 16"/>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7334609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14"/>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0"/>
                                          </p:stCondLst>
                                        </p:cTn>
                                        <p:tgtEl>
                                          <p:spTgt spid="15"/>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ltLang="en-US" sz="3200" dirty="0"/>
              <a:t>Merging </a:t>
            </a:r>
            <a:r>
              <a:rPr lang="en-US" altLang="en-US" sz="3200" i="1" dirty="0"/>
              <a:t>(5)</a:t>
            </a:r>
            <a:endParaRPr lang="en-GB" altLang="en-US" sz="3200" dirty="0"/>
          </a:p>
        </p:txBody>
      </p:sp>
      <p:sp>
        <p:nvSpPr>
          <p:cNvPr id="31747" name="Rectangle 3"/>
          <p:cNvSpPr>
            <a:spLocks noGrp="1" noChangeArrowheads="1"/>
          </p:cNvSpPr>
          <p:nvPr>
            <p:ph idx="1"/>
          </p:nvPr>
        </p:nvSpPr>
        <p:spPr>
          <a:noFill/>
        </p:spPr>
        <p:txBody>
          <a:bodyPr/>
          <a:lstStyle/>
          <a:p>
            <a:pPr eaLnBrk="1" hangingPunct="1"/>
            <a:r>
              <a:rPr lang="en-US" altLang="en-US" dirty="0"/>
              <a:t>Analysis (</a:t>
            </a:r>
            <a:r>
              <a:rPr lang="en-US" altLang="en-US" dirty="0">
                <a:solidFill>
                  <a:srgbClr val="C00000"/>
                </a:solidFill>
              </a:rPr>
              <a:t>counting copies</a:t>
            </a:r>
            <a:r>
              <a:rPr lang="en-US" altLang="en-US" dirty="0"/>
              <a:t>):</a:t>
            </a:r>
          </a:p>
          <a:p>
            <a:pPr eaLnBrk="1" hangingPunct="1">
              <a:spcBef>
                <a:spcPts val="900"/>
              </a:spcBef>
              <a:buFont typeface="Wingdings" pitchFamily="2" charset="2"/>
              <a:buNone/>
            </a:pPr>
            <a:r>
              <a:rPr lang="en-US" altLang="en-US" dirty="0"/>
              <a:t>	Let </a:t>
            </a:r>
            <a:r>
              <a:rPr lang="en-US" altLang="en-US" i="1" dirty="0"/>
              <a:t>n</a:t>
            </a:r>
            <a:r>
              <a:rPr lang="en-US" altLang="en-US" baseline="-25000" dirty="0"/>
              <a:t>1</a:t>
            </a:r>
            <a:r>
              <a:rPr lang="en-US" altLang="en-US" dirty="0"/>
              <a:t> and </a:t>
            </a:r>
            <a:r>
              <a:rPr lang="en-US" altLang="en-US" i="1" dirty="0"/>
              <a:t>n</a:t>
            </a:r>
            <a:r>
              <a:rPr lang="en-US" altLang="en-US" baseline="-25000" dirty="0"/>
              <a:t>2</a:t>
            </a:r>
            <a:r>
              <a:rPr lang="en-US" altLang="en-US" dirty="0"/>
              <a:t> be the lengths of </a:t>
            </a:r>
            <a:r>
              <a:rPr lang="en-US" altLang="en-US" i="1" dirty="0"/>
              <a:t>a1</a:t>
            </a:r>
            <a:r>
              <a:rPr lang="en-US" altLang="en-US" dirty="0"/>
              <a:t> and </a:t>
            </a:r>
            <a:r>
              <a:rPr lang="en-US" altLang="en-US" i="1" dirty="0"/>
              <a:t>a2</a:t>
            </a:r>
            <a:r>
              <a:rPr lang="en-US" altLang="en-US" dirty="0"/>
              <a:t>, n = n1 + n2.</a:t>
            </a:r>
            <a:br>
              <a:rPr lang="en-US" altLang="en-US" dirty="0"/>
            </a:br>
            <a:endParaRPr lang="en-US" altLang="en-US" dirty="0"/>
          </a:p>
          <a:p>
            <a:pPr eaLnBrk="1" hangingPunct="1">
              <a:spcBef>
                <a:spcPts val="900"/>
              </a:spcBef>
              <a:buFont typeface="Wingdings" pitchFamily="2" charset="2"/>
              <a:buNone/>
            </a:pPr>
            <a:r>
              <a:rPr lang="en-US" altLang="en-US" dirty="0"/>
              <a:t>	Each element of </a:t>
            </a:r>
            <a:r>
              <a:rPr lang="en-US" altLang="en-US" i="1" dirty="0"/>
              <a:t>a1</a:t>
            </a:r>
            <a:r>
              <a:rPr lang="en-US" altLang="en-US" dirty="0"/>
              <a:t> is copied once, and each element of </a:t>
            </a:r>
            <a:r>
              <a:rPr lang="en-US" altLang="en-US" i="1" dirty="0"/>
              <a:t>a2</a:t>
            </a:r>
            <a:r>
              <a:rPr lang="en-US" altLang="en-US" dirty="0"/>
              <a:t> is copied once.</a:t>
            </a:r>
          </a:p>
          <a:p>
            <a:pPr eaLnBrk="1" hangingPunct="1">
              <a:spcBef>
                <a:spcPts val="900"/>
              </a:spcBef>
              <a:buFont typeface="Wingdings" pitchFamily="2" charset="2"/>
              <a:buNone/>
            </a:pPr>
            <a:r>
              <a:rPr lang="en-US" altLang="en-US" dirty="0"/>
              <a:t>	No. of copies  =  </a:t>
            </a:r>
            <a:r>
              <a:rPr lang="en-US" altLang="en-US" i="1" dirty="0"/>
              <a:t>n</a:t>
            </a:r>
            <a:r>
              <a:rPr lang="en-US" altLang="en-US" baseline="-25000" dirty="0"/>
              <a:t>1</a:t>
            </a:r>
            <a:r>
              <a:rPr lang="en-US" altLang="en-US" dirty="0"/>
              <a:t> + </a:t>
            </a:r>
            <a:r>
              <a:rPr lang="en-US" altLang="en-US" i="1" dirty="0"/>
              <a:t>n</a:t>
            </a:r>
            <a:r>
              <a:rPr lang="en-US" altLang="en-US" baseline="-25000" dirty="0"/>
              <a:t>2</a:t>
            </a:r>
            <a:r>
              <a:rPr lang="en-US" altLang="en-US" dirty="0"/>
              <a:t>  =  </a:t>
            </a:r>
            <a:r>
              <a:rPr lang="en-US" altLang="en-US" i="1" dirty="0"/>
              <a:t>n</a:t>
            </a:r>
            <a:endParaRPr lang="en-US" altLang="en-US" dirty="0"/>
          </a:p>
          <a:p>
            <a:pPr eaLnBrk="1" hangingPunct="1">
              <a:spcBef>
                <a:spcPts val="900"/>
              </a:spcBef>
              <a:buFont typeface="Wingdings" pitchFamily="2" charset="2"/>
              <a:buNone/>
            </a:pPr>
            <a:r>
              <a:rPr lang="en-US" altLang="en-US" dirty="0"/>
              <a:t>	Time complexity is </a:t>
            </a:r>
            <a:r>
              <a:rPr lang="en-US" altLang="en-US" i="1" dirty="0"/>
              <a:t>O</a:t>
            </a:r>
            <a:r>
              <a:rPr lang="en-US" altLang="en-US" dirty="0"/>
              <a:t>(</a:t>
            </a:r>
            <a:r>
              <a:rPr lang="en-US" altLang="en-US" i="1" dirty="0"/>
              <a:t>n</a:t>
            </a:r>
            <a:r>
              <a:rPr lang="en-US" altLang="en-US" dirty="0"/>
              <a:t>).</a:t>
            </a:r>
          </a:p>
        </p:txBody>
      </p:sp>
      <p:sp>
        <p:nvSpPr>
          <p:cNvPr id="2" name="Slide Number Placeholder 1"/>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1448305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en-US" sz="3200" dirty="0"/>
              <a:t>Merging </a:t>
            </a:r>
            <a:r>
              <a:rPr lang="en-US" altLang="en-US" sz="3200" i="1" dirty="0"/>
              <a:t>(6)</a:t>
            </a:r>
            <a:endParaRPr lang="en-GB" altLang="en-US" sz="3200" dirty="0"/>
          </a:p>
        </p:txBody>
      </p:sp>
      <p:sp>
        <p:nvSpPr>
          <p:cNvPr id="32771" name="Rectangle 3"/>
          <p:cNvSpPr>
            <a:spLocks noGrp="1" noChangeArrowheads="1"/>
          </p:cNvSpPr>
          <p:nvPr>
            <p:ph idx="1"/>
          </p:nvPr>
        </p:nvSpPr>
        <p:spPr>
          <a:xfrm>
            <a:off x="125186" y="1295400"/>
            <a:ext cx="8229600" cy="2819400"/>
          </a:xfrm>
          <a:noFill/>
        </p:spPr>
        <p:txBody>
          <a:bodyPr>
            <a:normAutofit lnSpcReduction="10000"/>
          </a:bodyPr>
          <a:lstStyle/>
          <a:p>
            <a:pPr eaLnBrk="1" hangingPunct="1"/>
            <a:r>
              <a:rPr lang="en-US" altLang="en-US"/>
              <a:t>Analysis (</a:t>
            </a:r>
            <a:r>
              <a:rPr lang="en-US" altLang="en-US">
                <a:solidFill>
                  <a:srgbClr val="C00000"/>
                </a:solidFill>
              </a:rPr>
              <a:t>counting comparisons</a:t>
            </a:r>
            <a:r>
              <a:rPr lang="en-US" altLang="en-US"/>
              <a:t>):</a:t>
            </a:r>
          </a:p>
          <a:p>
            <a:pPr eaLnBrk="1" hangingPunct="1">
              <a:spcBef>
                <a:spcPts val="900"/>
              </a:spcBef>
              <a:buFont typeface="Wingdings" pitchFamily="2" charset="2"/>
              <a:buNone/>
            </a:pPr>
            <a:r>
              <a:rPr lang="en-US" altLang="en-US"/>
              <a:t>	Let </a:t>
            </a:r>
            <a:r>
              <a:rPr lang="en-US" altLang="en-US" i="1"/>
              <a:t>n</a:t>
            </a:r>
            <a:r>
              <a:rPr lang="en-US" altLang="en-US" baseline="-25000"/>
              <a:t>1</a:t>
            </a:r>
            <a:r>
              <a:rPr lang="en-US" altLang="en-US"/>
              <a:t> and </a:t>
            </a:r>
            <a:r>
              <a:rPr lang="en-US" altLang="en-US" i="1"/>
              <a:t>n</a:t>
            </a:r>
            <a:r>
              <a:rPr lang="en-US" altLang="en-US" baseline="-25000"/>
              <a:t>2</a:t>
            </a:r>
            <a:r>
              <a:rPr lang="en-US" altLang="en-US"/>
              <a:t> be the lengths of </a:t>
            </a:r>
            <a:r>
              <a:rPr lang="en-US" altLang="en-US" i="1"/>
              <a:t>a1</a:t>
            </a:r>
            <a:r>
              <a:rPr lang="en-US" altLang="en-US"/>
              <a:t> and </a:t>
            </a:r>
            <a:r>
              <a:rPr lang="en-US" altLang="en-US" i="1"/>
              <a:t>a2</a:t>
            </a:r>
            <a:r>
              <a:rPr lang="en-US" altLang="en-US"/>
              <a:t>, </a:t>
            </a:r>
            <a:r>
              <a:rPr lang="en-US" altLang="en-US" i="1"/>
              <a:t>n</a:t>
            </a:r>
            <a:r>
              <a:rPr lang="en-US" altLang="en-US"/>
              <a:t> = </a:t>
            </a:r>
            <a:r>
              <a:rPr lang="en-US" altLang="en-US" i="1"/>
              <a:t>n</a:t>
            </a:r>
            <a:r>
              <a:rPr lang="en-US" altLang="en-US" baseline="-25000"/>
              <a:t>1</a:t>
            </a:r>
            <a:r>
              <a:rPr lang="en-US" altLang="en-US" i="1"/>
              <a:t> </a:t>
            </a:r>
            <a:r>
              <a:rPr lang="en-US" altLang="en-US"/>
              <a:t>+ </a:t>
            </a:r>
            <a:r>
              <a:rPr lang="en-US" altLang="en-US" i="1"/>
              <a:t>n</a:t>
            </a:r>
            <a:r>
              <a:rPr lang="en-US" altLang="en-US" baseline="-25000"/>
              <a:t>2</a:t>
            </a:r>
            <a:r>
              <a:rPr lang="en-US" altLang="en-US"/>
              <a:t>.</a:t>
            </a:r>
          </a:p>
          <a:p>
            <a:pPr eaLnBrk="1" hangingPunct="1">
              <a:spcBef>
                <a:spcPts val="900"/>
              </a:spcBef>
              <a:buFont typeface="Wingdings" pitchFamily="2" charset="2"/>
              <a:buNone/>
            </a:pPr>
            <a:r>
              <a:rPr lang="en-US" altLang="en-US"/>
              <a:t>	Assume steps 2.1–2 perform a single comparison.</a:t>
            </a:r>
          </a:p>
          <a:p>
            <a:pPr eaLnBrk="1" hangingPunct="1">
              <a:spcBef>
                <a:spcPts val="900"/>
              </a:spcBef>
              <a:buFont typeface="Wingdings" pitchFamily="2" charset="2"/>
              <a:buNone/>
            </a:pPr>
            <a:r>
              <a:rPr lang="en-US" altLang="en-US"/>
              <a:t>	Steps 2.1–2 are repeated at most </a:t>
            </a:r>
            <a:r>
              <a:rPr lang="en-US" altLang="en-US" i="1"/>
              <a:t>n</a:t>
            </a:r>
            <a:r>
              <a:rPr lang="en-US" altLang="en-US"/>
              <a:t>–1 times.</a:t>
            </a:r>
          </a:p>
          <a:p>
            <a:pPr eaLnBrk="1" hangingPunct="1">
              <a:spcBef>
                <a:spcPts val="900"/>
              </a:spcBef>
              <a:buFont typeface="Wingdings" pitchFamily="2" charset="2"/>
              <a:buNone/>
            </a:pPr>
            <a:r>
              <a:rPr lang="en-US" altLang="en-US"/>
              <a:t>	Max. no. of comparisons  =  </a:t>
            </a:r>
            <a:r>
              <a:rPr lang="en-US" altLang="en-US" i="1"/>
              <a:t>n</a:t>
            </a:r>
            <a:r>
              <a:rPr lang="en-US" altLang="en-US"/>
              <a:t> – 1</a:t>
            </a:r>
          </a:p>
          <a:p>
            <a:pPr eaLnBrk="1" hangingPunct="1">
              <a:spcBef>
                <a:spcPts val="900"/>
              </a:spcBef>
              <a:buFont typeface="Wingdings" pitchFamily="2" charset="2"/>
              <a:buNone/>
            </a:pPr>
            <a:r>
              <a:rPr lang="en-US" altLang="en-US"/>
              <a:t>	Time complexity is again </a:t>
            </a:r>
            <a:r>
              <a:rPr lang="en-US" altLang="en-US" i="1"/>
              <a:t>O</a:t>
            </a:r>
            <a:r>
              <a:rPr lang="en-US" altLang="en-US"/>
              <a:t>(</a:t>
            </a:r>
            <a:r>
              <a:rPr lang="en-US" altLang="en-US" i="1"/>
              <a:t>n</a:t>
            </a:r>
            <a:r>
              <a:rPr lang="en-US" altLang="en-US"/>
              <a:t>).</a:t>
            </a:r>
          </a:p>
        </p:txBody>
      </p:sp>
      <p:sp>
        <p:nvSpPr>
          <p:cNvPr id="2" name="Slide Number Placeholder 1"/>
          <p:cNvSpPr>
            <a:spLocks noGrp="1"/>
          </p:cNvSpPr>
          <p:nvPr>
            <p:ph type="sldNum" sz="quarter" idx="12"/>
          </p:nvPr>
        </p:nvSpPr>
        <p:spPr/>
        <p:txBody>
          <a:bodyPr/>
          <a:lstStyle/>
          <a:p>
            <a:fld id="{B6F15528-21DE-4FAA-801E-634DDDAF4B2B}" type="slidenum">
              <a:rPr lang="en-US" smtClean="0"/>
              <a:pPr/>
              <a:t>7</a:t>
            </a:fld>
            <a:endParaRPr lang="en-US"/>
          </a:p>
        </p:txBody>
      </p:sp>
      <p:sp>
        <p:nvSpPr>
          <p:cNvPr id="5" name="Rectangle 4"/>
          <p:cNvSpPr/>
          <p:nvPr/>
        </p:nvSpPr>
        <p:spPr>
          <a:xfrm>
            <a:off x="1143000" y="4114800"/>
            <a:ext cx="7239000" cy="2585323"/>
          </a:xfrm>
          <a:prstGeom prst="rect">
            <a:avLst/>
          </a:prstGeom>
          <a:ln>
            <a:solidFill>
              <a:schemeClr val="tx2"/>
            </a:solidFill>
          </a:ln>
        </p:spPr>
        <p:txBody>
          <a:bodyPr wrap="square">
            <a:spAutoFit/>
          </a:bodyPr>
          <a:lstStyle/>
          <a:p>
            <a:pPr>
              <a:spcBef>
                <a:spcPts val="1800"/>
              </a:spcBef>
            </a:pPr>
            <a:r>
              <a:rPr lang="en-US" altLang="en-US">
                <a:latin typeface="Times New Roman" pitchFamily="18" charset="0"/>
              </a:rPr>
              <a:t>1.	Set </a:t>
            </a:r>
            <a:r>
              <a:rPr lang="en-US" altLang="en-US" i="1">
                <a:latin typeface="Times New Roman" pitchFamily="18" charset="0"/>
              </a:rPr>
              <a:t>i</a:t>
            </a:r>
            <a:r>
              <a:rPr lang="en-US" altLang="en-US">
                <a:latin typeface="Times New Roman" pitchFamily="18" charset="0"/>
              </a:rPr>
              <a:t> = </a:t>
            </a:r>
            <a:r>
              <a:rPr lang="en-US" altLang="en-US" i="1">
                <a:latin typeface="Times New Roman" pitchFamily="18" charset="0"/>
              </a:rPr>
              <a:t>l1</a:t>
            </a:r>
            <a:r>
              <a:rPr lang="en-US" altLang="en-US">
                <a:latin typeface="Times New Roman" pitchFamily="18" charset="0"/>
              </a:rPr>
              <a:t>, set </a:t>
            </a:r>
            <a:r>
              <a:rPr lang="en-US" altLang="en-US" i="1">
                <a:latin typeface="Times New Roman" pitchFamily="18" charset="0"/>
              </a:rPr>
              <a:t>j</a:t>
            </a:r>
            <a:r>
              <a:rPr lang="en-US" altLang="en-US">
                <a:latin typeface="Times New Roman" pitchFamily="18" charset="0"/>
              </a:rPr>
              <a:t> = </a:t>
            </a:r>
            <a:r>
              <a:rPr lang="en-US" altLang="en-US" i="1">
                <a:latin typeface="Times New Roman" pitchFamily="18" charset="0"/>
              </a:rPr>
              <a:t>l2</a:t>
            </a:r>
            <a:r>
              <a:rPr lang="en-US" altLang="en-US">
                <a:latin typeface="Times New Roman" pitchFamily="18" charset="0"/>
              </a:rPr>
              <a:t>, and set </a:t>
            </a:r>
            <a:r>
              <a:rPr lang="en-US" altLang="en-US" i="1">
                <a:latin typeface="Times New Roman" pitchFamily="18" charset="0"/>
              </a:rPr>
              <a:t>k</a:t>
            </a:r>
            <a:r>
              <a:rPr lang="en-US" altLang="en-US">
                <a:latin typeface="Times New Roman" pitchFamily="18" charset="0"/>
              </a:rPr>
              <a:t> = </a:t>
            </a:r>
            <a:r>
              <a:rPr lang="en-US" altLang="en-US" i="1">
                <a:latin typeface="Times New Roman" pitchFamily="18" charset="0"/>
              </a:rPr>
              <a:t>l3</a:t>
            </a:r>
            <a:r>
              <a:rPr lang="en-US" altLang="en-US">
                <a:latin typeface="Times New Roman" pitchFamily="18" charset="0"/>
              </a:rPr>
              <a:t>.</a:t>
            </a:r>
            <a:br>
              <a:rPr lang="en-US" altLang="en-US">
                <a:latin typeface="Times New Roman" pitchFamily="18" charset="0"/>
              </a:rPr>
            </a:br>
            <a:r>
              <a:rPr lang="en-US" altLang="en-US">
                <a:latin typeface="Times New Roman" pitchFamily="18" charset="0"/>
              </a:rPr>
              <a:t>2.	While </a:t>
            </a:r>
            <a:r>
              <a:rPr lang="en-US" altLang="en-US" i="1">
                <a:latin typeface="Times New Roman" pitchFamily="18" charset="0"/>
              </a:rPr>
              <a:t>i</a:t>
            </a:r>
            <a:r>
              <a:rPr lang="en-US" altLang="en-US">
                <a:latin typeface="Times New Roman" pitchFamily="18" charset="0"/>
              </a:rPr>
              <a:t> </a:t>
            </a:r>
            <a:r>
              <a:rPr lang="en-US" altLang="en-US">
                <a:latin typeface="Times New Roman" pitchFamily="18" charset="0"/>
                <a:sym typeface="Symbol" pitchFamily="18" charset="2"/>
              </a:rPr>
              <a:t></a:t>
            </a:r>
            <a:r>
              <a:rPr lang="en-US" altLang="en-US">
                <a:latin typeface="Times New Roman" pitchFamily="18" charset="0"/>
              </a:rPr>
              <a:t> </a:t>
            </a:r>
            <a:r>
              <a:rPr lang="en-US" altLang="en-US" i="1">
                <a:latin typeface="Times New Roman" pitchFamily="18" charset="0"/>
              </a:rPr>
              <a:t>r1</a:t>
            </a:r>
            <a:r>
              <a:rPr lang="en-US" altLang="en-US">
                <a:latin typeface="Times New Roman" pitchFamily="18" charset="0"/>
              </a:rPr>
              <a:t> and </a:t>
            </a:r>
            <a:r>
              <a:rPr lang="en-US" altLang="en-US" i="1">
                <a:latin typeface="Times New Roman" pitchFamily="18" charset="0"/>
              </a:rPr>
              <a:t>j</a:t>
            </a:r>
            <a:r>
              <a:rPr lang="en-US" altLang="en-US">
                <a:latin typeface="Times New Roman" pitchFamily="18" charset="0"/>
              </a:rPr>
              <a:t> </a:t>
            </a:r>
            <a:r>
              <a:rPr lang="en-US" altLang="en-US">
                <a:latin typeface="Times New Roman" pitchFamily="18" charset="0"/>
                <a:sym typeface="Symbol" pitchFamily="18" charset="2"/>
              </a:rPr>
              <a:t></a:t>
            </a:r>
            <a:r>
              <a:rPr lang="en-US" altLang="en-US">
                <a:latin typeface="Times New Roman" pitchFamily="18" charset="0"/>
              </a:rPr>
              <a:t> </a:t>
            </a:r>
            <a:r>
              <a:rPr lang="en-US" altLang="en-US" i="1">
                <a:latin typeface="Times New Roman" pitchFamily="18" charset="0"/>
              </a:rPr>
              <a:t>r2</a:t>
            </a:r>
            <a:r>
              <a:rPr lang="en-US" altLang="en-US">
                <a:latin typeface="Times New Roman" pitchFamily="18" charset="0"/>
              </a:rPr>
              <a:t>, repeat:</a:t>
            </a:r>
            <a:br>
              <a:rPr lang="en-US" altLang="en-US">
                <a:latin typeface="Times New Roman" pitchFamily="18" charset="0"/>
              </a:rPr>
            </a:br>
            <a:r>
              <a:rPr lang="en-US" altLang="en-US">
                <a:latin typeface="Times New Roman" pitchFamily="18" charset="0"/>
              </a:rPr>
              <a:t>	2.1.	If </a:t>
            </a:r>
            <a:r>
              <a:rPr lang="en-US" altLang="en-US" i="1">
                <a:latin typeface="Times New Roman" pitchFamily="18" charset="0"/>
              </a:rPr>
              <a:t>a1</a:t>
            </a:r>
            <a:r>
              <a:rPr lang="en-US" altLang="en-US">
                <a:latin typeface="Times New Roman" pitchFamily="18" charset="0"/>
              </a:rPr>
              <a:t>[</a:t>
            </a:r>
            <a:r>
              <a:rPr lang="en-US" altLang="en-US" i="1">
                <a:latin typeface="Times New Roman" pitchFamily="18" charset="0"/>
              </a:rPr>
              <a:t>i</a:t>
            </a:r>
            <a:r>
              <a:rPr lang="en-US" altLang="en-US">
                <a:latin typeface="Times New Roman" pitchFamily="18" charset="0"/>
              </a:rPr>
              <a:t>] is less than or equal to </a:t>
            </a:r>
            <a:r>
              <a:rPr lang="en-US" altLang="en-US" i="1">
                <a:latin typeface="Times New Roman" pitchFamily="18" charset="0"/>
              </a:rPr>
              <a:t>a2</a:t>
            </a:r>
            <a:r>
              <a:rPr lang="en-US" altLang="en-US">
                <a:latin typeface="Times New Roman" pitchFamily="18" charset="0"/>
              </a:rPr>
              <a:t>[</a:t>
            </a:r>
            <a:r>
              <a:rPr lang="en-US" altLang="en-US" i="1">
                <a:latin typeface="Times New Roman" pitchFamily="18" charset="0"/>
              </a:rPr>
              <a:t>j</a:t>
            </a:r>
            <a:r>
              <a:rPr lang="en-US" altLang="en-US">
                <a:latin typeface="Times New Roman" pitchFamily="18" charset="0"/>
              </a:rPr>
              <a:t>]:</a:t>
            </a:r>
            <a:br>
              <a:rPr lang="en-US" altLang="en-US">
                <a:latin typeface="Times New Roman" pitchFamily="18" charset="0"/>
              </a:rPr>
            </a:br>
            <a:r>
              <a:rPr lang="en-US" altLang="en-US">
                <a:latin typeface="Times New Roman" pitchFamily="18" charset="0"/>
              </a:rPr>
              <a:t>		2.1.1.	Copy </a:t>
            </a:r>
            <a:r>
              <a:rPr lang="en-US" altLang="en-US" i="1">
                <a:latin typeface="Times New Roman" pitchFamily="18" charset="0"/>
              </a:rPr>
              <a:t>a1</a:t>
            </a:r>
            <a:r>
              <a:rPr lang="en-US" altLang="en-US">
                <a:latin typeface="Times New Roman" pitchFamily="18" charset="0"/>
              </a:rPr>
              <a:t>[</a:t>
            </a:r>
            <a:r>
              <a:rPr lang="en-US" altLang="en-US" i="1">
                <a:latin typeface="Times New Roman" pitchFamily="18" charset="0"/>
              </a:rPr>
              <a:t>i</a:t>
            </a:r>
            <a:r>
              <a:rPr lang="en-US" altLang="en-US">
                <a:latin typeface="Times New Roman" pitchFamily="18" charset="0"/>
              </a:rPr>
              <a:t>] into </a:t>
            </a:r>
            <a:r>
              <a:rPr lang="en-US" altLang="en-US" i="1">
                <a:latin typeface="Times New Roman" pitchFamily="18" charset="0"/>
              </a:rPr>
              <a:t>a3</a:t>
            </a:r>
            <a:r>
              <a:rPr lang="en-US" altLang="en-US">
                <a:latin typeface="Times New Roman" pitchFamily="18" charset="0"/>
              </a:rPr>
              <a:t>[</a:t>
            </a:r>
            <a:r>
              <a:rPr lang="en-US" altLang="en-US" i="1">
                <a:latin typeface="Times New Roman" pitchFamily="18" charset="0"/>
              </a:rPr>
              <a:t>k</a:t>
            </a:r>
            <a:r>
              <a:rPr lang="en-US" altLang="en-US">
                <a:latin typeface="Times New Roman" pitchFamily="18" charset="0"/>
              </a:rPr>
              <a:t>], then increment </a:t>
            </a:r>
            <a:r>
              <a:rPr lang="en-US" altLang="en-US" i="1">
                <a:latin typeface="Times New Roman" pitchFamily="18" charset="0"/>
              </a:rPr>
              <a:t>i</a:t>
            </a:r>
            <a:r>
              <a:rPr lang="en-US" altLang="en-US">
                <a:latin typeface="Times New Roman" pitchFamily="18" charset="0"/>
              </a:rPr>
              <a:t> and </a:t>
            </a:r>
            <a:r>
              <a:rPr lang="en-US" altLang="en-US" i="1">
                <a:latin typeface="Times New Roman" pitchFamily="18" charset="0"/>
              </a:rPr>
              <a:t>k</a:t>
            </a:r>
            <a:r>
              <a:rPr lang="en-US" altLang="en-US">
                <a:latin typeface="Times New Roman" pitchFamily="18" charset="0"/>
              </a:rPr>
              <a:t>.</a:t>
            </a:r>
            <a:br>
              <a:rPr lang="en-US" altLang="en-US">
                <a:latin typeface="Times New Roman" pitchFamily="18" charset="0"/>
              </a:rPr>
            </a:br>
            <a:r>
              <a:rPr lang="en-US" altLang="en-US">
                <a:latin typeface="Times New Roman" pitchFamily="18" charset="0"/>
              </a:rPr>
              <a:t>	2.2.	Else:</a:t>
            </a:r>
            <a:br>
              <a:rPr lang="en-US" altLang="en-US">
                <a:latin typeface="Times New Roman" pitchFamily="18" charset="0"/>
              </a:rPr>
            </a:br>
            <a:r>
              <a:rPr lang="en-US" altLang="en-US">
                <a:latin typeface="Times New Roman" pitchFamily="18" charset="0"/>
              </a:rPr>
              <a:t>		2.2.1.	Copy </a:t>
            </a:r>
            <a:r>
              <a:rPr lang="en-US" altLang="en-US" i="1">
                <a:latin typeface="Times New Roman" pitchFamily="18" charset="0"/>
              </a:rPr>
              <a:t>a2</a:t>
            </a:r>
            <a:r>
              <a:rPr lang="en-US" altLang="en-US">
                <a:latin typeface="Times New Roman" pitchFamily="18" charset="0"/>
              </a:rPr>
              <a:t>[</a:t>
            </a:r>
            <a:r>
              <a:rPr lang="en-US" altLang="en-US" i="1">
                <a:latin typeface="Times New Roman" pitchFamily="18" charset="0"/>
              </a:rPr>
              <a:t>j</a:t>
            </a:r>
            <a:r>
              <a:rPr lang="en-US" altLang="en-US">
                <a:latin typeface="Times New Roman" pitchFamily="18" charset="0"/>
              </a:rPr>
              <a:t>] into </a:t>
            </a:r>
            <a:r>
              <a:rPr lang="en-US" altLang="en-US" i="1">
                <a:latin typeface="Times New Roman" pitchFamily="18" charset="0"/>
              </a:rPr>
              <a:t>a3</a:t>
            </a:r>
            <a:r>
              <a:rPr lang="en-US" altLang="en-US">
                <a:latin typeface="Times New Roman" pitchFamily="18" charset="0"/>
              </a:rPr>
              <a:t>[</a:t>
            </a:r>
            <a:r>
              <a:rPr lang="en-US" altLang="en-US" i="1">
                <a:latin typeface="Times New Roman" pitchFamily="18" charset="0"/>
              </a:rPr>
              <a:t>k</a:t>
            </a:r>
            <a:r>
              <a:rPr lang="en-US" altLang="en-US">
                <a:latin typeface="Times New Roman" pitchFamily="18" charset="0"/>
              </a:rPr>
              <a:t>], then increment </a:t>
            </a:r>
            <a:r>
              <a:rPr lang="en-US" altLang="en-US" i="1">
                <a:latin typeface="Times New Roman" pitchFamily="18" charset="0"/>
              </a:rPr>
              <a:t>j</a:t>
            </a:r>
            <a:r>
              <a:rPr lang="en-US" altLang="en-US">
                <a:latin typeface="Times New Roman" pitchFamily="18" charset="0"/>
              </a:rPr>
              <a:t> and </a:t>
            </a:r>
            <a:r>
              <a:rPr lang="en-US" altLang="en-US" i="1">
                <a:latin typeface="Times New Roman" pitchFamily="18" charset="0"/>
              </a:rPr>
              <a:t>k</a:t>
            </a:r>
            <a:r>
              <a:rPr lang="en-US" altLang="en-US">
                <a:latin typeface="Times New Roman" pitchFamily="18" charset="0"/>
              </a:rPr>
              <a:t>.</a:t>
            </a:r>
            <a:br>
              <a:rPr lang="en-US" altLang="en-US">
                <a:latin typeface="Times New Roman" pitchFamily="18" charset="0"/>
              </a:rPr>
            </a:br>
            <a:r>
              <a:rPr lang="en-US" altLang="en-US">
                <a:latin typeface="Times New Roman" pitchFamily="18" charset="0"/>
              </a:rPr>
              <a:t>3.	If </a:t>
            </a:r>
            <a:r>
              <a:rPr lang="en-US" altLang="en-US" i="1">
                <a:latin typeface="Times New Roman" pitchFamily="18" charset="0"/>
              </a:rPr>
              <a:t>i</a:t>
            </a:r>
            <a:r>
              <a:rPr lang="en-US" altLang="en-US">
                <a:latin typeface="Times New Roman" pitchFamily="18" charset="0"/>
              </a:rPr>
              <a:t> </a:t>
            </a:r>
            <a:r>
              <a:rPr lang="en-US" altLang="en-US">
                <a:latin typeface="Times New Roman" pitchFamily="18" charset="0"/>
                <a:sym typeface="Symbol" pitchFamily="18" charset="2"/>
              </a:rPr>
              <a:t></a:t>
            </a:r>
            <a:r>
              <a:rPr lang="en-US" altLang="en-US">
                <a:latin typeface="Times New Roman" pitchFamily="18" charset="0"/>
              </a:rPr>
              <a:t> </a:t>
            </a:r>
            <a:r>
              <a:rPr lang="en-US" altLang="en-US" i="1">
                <a:latin typeface="Times New Roman" pitchFamily="18" charset="0"/>
              </a:rPr>
              <a:t>r1</a:t>
            </a:r>
            <a:r>
              <a:rPr lang="en-US" altLang="en-US">
                <a:latin typeface="Times New Roman" pitchFamily="18" charset="0"/>
              </a:rPr>
              <a:t>, copy </a:t>
            </a:r>
            <a:r>
              <a:rPr lang="en-US" altLang="en-US" i="1">
                <a:latin typeface="Times New Roman" pitchFamily="18" charset="0"/>
              </a:rPr>
              <a:t>a1</a:t>
            </a:r>
            <a:r>
              <a:rPr lang="en-US" altLang="en-US">
                <a:latin typeface="Times New Roman" pitchFamily="18" charset="0"/>
              </a:rPr>
              <a:t>[</a:t>
            </a:r>
            <a:r>
              <a:rPr lang="en-US" altLang="en-US" i="1">
                <a:latin typeface="Times New Roman" pitchFamily="18" charset="0"/>
              </a:rPr>
              <a:t>i</a:t>
            </a:r>
            <a:r>
              <a:rPr lang="en-US" altLang="en-US">
                <a:latin typeface="Times New Roman" pitchFamily="18" charset="0"/>
              </a:rPr>
              <a:t>…</a:t>
            </a:r>
            <a:r>
              <a:rPr lang="en-US" altLang="en-US" i="1">
                <a:latin typeface="Times New Roman" pitchFamily="18" charset="0"/>
              </a:rPr>
              <a:t>r1</a:t>
            </a:r>
            <a:r>
              <a:rPr lang="en-US" altLang="en-US">
                <a:latin typeface="Times New Roman" pitchFamily="18" charset="0"/>
              </a:rPr>
              <a:t>] into </a:t>
            </a:r>
            <a:r>
              <a:rPr lang="en-US" altLang="en-US" i="1">
                <a:latin typeface="Times New Roman" pitchFamily="18" charset="0"/>
              </a:rPr>
              <a:t>a3</a:t>
            </a:r>
            <a:r>
              <a:rPr lang="en-US" altLang="en-US">
                <a:latin typeface="Times New Roman" pitchFamily="18" charset="0"/>
              </a:rPr>
              <a:t>[</a:t>
            </a:r>
            <a:r>
              <a:rPr lang="en-US" altLang="en-US" i="1">
                <a:latin typeface="Times New Roman" pitchFamily="18" charset="0"/>
              </a:rPr>
              <a:t>k</a:t>
            </a:r>
            <a:r>
              <a:rPr lang="en-US" altLang="en-US">
                <a:latin typeface="Times New Roman" pitchFamily="18" charset="0"/>
              </a:rPr>
              <a:t>…</a:t>
            </a:r>
            <a:r>
              <a:rPr lang="en-US" altLang="en-US" i="1">
                <a:latin typeface="Times New Roman" pitchFamily="18" charset="0"/>
              </a:rPr>
              <a:t>r3</a:t>
            </a:r>
            <a:r>
              <a:rPr lang="en-US" altLang="en-US">
                <a:latin typeface="Times New Roman" pitchFamily="18" charset="0"/>
              </a:rPr>
              <a:t>].</a:t>
            </a:r>
            <a:br>
              <a:rPr lang="en-US" altLang="en-US">
                <a:latin typeface="Times New Roman" pitchFamily="18" charset="0"/>
              </a:rPr>
            </a:br>
            <a:r>
              <a:rPr lang="en-US" altLang="en-US">
                <a:latin typeface="Times New Roman" pitchFamily="18" charset="0"/>
              </a:rPr>
              <a:t>4.	If </a:t>
            </a:r>
            <a:r>
              <a:rPr lang="en-US" altLang="en-US" i="1">
                <a:latin typeface="Times New Roman" pitchFamily="18" charset="0"/>
              </a:rPr>
              <a:t>j</a:t>
            </a:r>
            <a:r>
              <a:rPr lang="en-US" altLang="en-US">
                <a:latin typeface="Times New Roman" pitchFamily="18" charset="0"/>
              </a:rPr>
              <a:t> </a:t>
            </a:r>
            <a:r>
              <a:rPr lang="en-US" altLang="en-US">
                <a:latin typeface="Times New Roman" pitchFamily="18" charset="0"/>
                <a:sym typeface="Symbol" pitchFamily="18" charset="2"/>
              </a:rPr>
              <a:t></a:t>
            </a:r>
            <a:r>
              <a:rPr lang="en-US" altLang="en-US">
                <a:latin typeface="Times New Roman" pitchFamily="18" charset="0"/>
              </a:rPr>
              <a:t> </a:t>
            </a:r>
            <a:r>
              <a:rPr lang="en-US" altLang="en-US" i="1">
                <a:latin typeface="Times New Roman" pitchFamily="18" charset="0"/>
              </a:rPr>
              <a:t>r2</a:t>
            </a:r>
            <a:r>
              <a:rPr lang="en-US" altLang="en-US">
                <a:latin typeface="Times New Roman" pitchFamily="18" charset="0"/>
              </a:rPr>
              <a:t>, copy </a:t>
            </a:r>
            <a:r>
              <a:rPr lang="en-US" altLang="en-US" i="1">
                <a:latin typeface="Times New Roman" pitchFamily="18" charset="0"/>
              </a:rPr>
              <a:t>a2</a:t>
            </a:r>
            <a:r>
              <a:rPr lang="en-US" altLang="en-US">
                <a:latin typeface="Times New Roman" pitchFamily="18" charset="0"/>
              </a:rPr>
              <a:t>[</a:t>
            </a:r>
            <a:r>
              <a:rPr lang="en-US" altLang="en-US" i="1">
                <a:latin typeface="Times New Roman" pitchFamily="18" charset="0"/>
              </a:rPr>
              <a:t>j</a:t>
            </a:r>
            <a:r>
              <a:rPr lang="en-US" altLang="en-US">
                <a:latin typeface="Times New Roman" pitchFamily="18" charset="0"/>
              </a:rPr>
              <a:t>…</a:t>
            </a:r>
            <a:r>
              <a:rPr lang="en-US" altLang="en-US" i="1">
                <a:latin typeface="Times New Roman" pitchFamily="18" charset="0"/>
              </a:rPr>
              <a:t>r2</a:t>
            </a:r>
            <a:r>
              <a:rPr lang="en-US" altLang="en-US">
                <a:latin typeface="Times New Roman" pitchFamily="18" charset="0"/>
              </a:rPr>
              <a:t>] into </a:t>
            </a:r>
            <a:r>
              <a:rPr lang="en-US" altLang="en-US" i="1">
                <a:latin typeface="Times New Roman" pitchFamily="18" charset="0"/>
              </a:rPr>
              <a:t>a3</a:t>
            </a:r>
            <a:r>
              <a:rPr lang="en-US" altLang="en-US">
                <a:latin typeface="Times New Roman" pitchFamily="18" charset="0"/>
              </a:rPr>
              <a:t>[</a:t>
            </a:r>
            <a:r>
              <a:rPr lang="en-US" altLang="en-US" i="1">
                <a:latin typeface="Times New Roman" pitchFamily="18" charset="0"/>
              </a:rPr>
              <a:t>k</a:t>
            </a:r>
            <a:r>
              <a:rPr lang="en-US" altLang="en-US">
                <a:latin typeface="Times New Roman" pitchFamily="18" charset="0"/>
              </a:rPr>
              <a:t>…</a:t>
            </a:r>
            <a:r>
              <a:rPr lang="en-US" altLang="en-US" i="1">
                <a:latin typeface="Times New Roman" pitchFamily="18" charset="0"/>
              </a:rPr>
              <a:t>r3</a:t>
            </a:r>
            <a:r>
              <a:rPr lang="en-US" altLang="en-US">
                <a:latin typeface="Times New Roman" pitchFamily="18" charset="0"/>
              </a:rPr>
              <a:t>].</a:t>
            </a:r>
            <a:br>
              <a:rPr lang="en-US" altLang="en-US">
                <a:latin typeface="Times New Roman" pitchFamily="18" charset="0"/>
              </a:rPr>
            </a:br>
            <a:r>
              <a:rPr lang="en-US" altLang="en-US">
                <a:latin typeface="Times New Roman" pitchFamily="18" charset="0"/>
              </a:rPr>
              <a:t>5.	Terminate.</a:t>
            </a:r>
          </a:p>
        </p:txBody>
      </p:sp>
    </p:spTree>
    <p:extLst>
      <p:ext uri="{BB962C8B-B14F-4D97-AF65-F5344CB8AC3E}">
        <p14:creationId xmlns:p14="http://schemas.microsoft.com/office/powerpoint/2010/main" val="803992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457200" y="457200"/>
            <a:ext cx="8229600" cy="990600"/>
          </a:xfrm>
        </p:spPr>
        <p:txBody>
          <a:bodyPr/>
          <a:lstStyle/>
          <a:p>
            <a:pPr eaLnBrk="1" hangingPunct="1"/>
            <a:r>
              <a:rPr lang="en-US" altLang="en-US" sz="3200" dirty="0"/>
              <a:t>Merging </a:t>
            </a:r>
            <a:r>
              <a:rPr lang="en-US" altLang="en-US" sz="3200" i="1" dirty="0"/>
              <a:t>(7) </a:t>
            </a:r>
            <a:r>
              <a:rPr lang="mr-IN" altLang="en-US" sz="3200" i="1" dirty="0"/>
              <a:t>–</a:t>
            </a:r>
            <a:r>
              <a:rPr lang="en-US" altLang="en-US" sz="3200" i="1" dirty="0"/>
              <a:t> Java implementation</a:t>
            </a:r>
            <a:endParaRPr lang="en-GB" altLang="en-US" sz="3200" dirty="0"/>
          </a:p>
        </p:txBody>
      </p:sp>
      <p:sp>
        <p:nvSpPr>
          <p:cNvPr id="33795" name="Rectangle 3"/>
          <p:cNvSpPr>
            <a:spLocks noGrp="1" noChangeArrowheads="1"/>
          </p:cNvSpPr>
          <p:nvPr>
            <p:ph idx="1"/>
          </p:nvPr>
        </p:nvSpPr>
        <p:spPr>
          <a:noFill/>
          <a:ln>
            <a:solidFill>
              <a:schemeClr val="accent1">
                <a:lumMod val="75000"/>
              </a:schemeClr>
            </a:solidFill>
          </a:ln>
        </p:spPr>
        <p:txBody>
          <a:bodyPr>
            <a:normAutofit fontScale="77500" lnSpcReduction="20000"/>
          </a:bodyPr>
          <a:lstStyle/>
          <a:p>
            <a:pPr marL="0" indent="0">
              <a:buNone/>
            </a:pPr>
            <a:r>
              <a:rPr lang="en-US" b="1" dirty="0">
                <a:solidFill>
                  <a:srgbClr val="660066"/>
                </a:solidFill>
                <a:latin typeface="Courier New"/>
                <a:cs typeface="Courier New"/>
              </a:rPr>
              <a:t>public static </a:t>
            </a:r>
            <a:r>
              <a:rPr lang="en-US" b="1" dirty="0">
                <a:latin typeface="Courier New"/>
                <a:cs typeface="Courier New"/>
              </a:rPr>
              <a:t>&lt;E </a:t>
            </a:r>
            <a:r>
              <a:rPr lang="en-US" b="1" dirty="0">
                <a:solidFill>
                  <a:srgbClr val="660066"/>
                </a:solidFill>
                <a:latin typeface="Courier New"/>
                <a:cs typeface="Courier New"/>
              </a:rPr>
              <a:t>extends</a:t>
            </a:r>
            <a:r>
              <a:rPr lang="en-US" b="1" dirty="0">
                <a:latin typeface="Courier New"/>
                <a:cs typeface="Courier New"/>
              </a:rPr>
              <a:t> Comparable&lt;E&gt;&gt;  </a:t>
            </a:r>
            <a:r>
              <a:rPr lang="en-US" b="1" dirty="0">
                <a:solidFill>
                  <a:srgbClr val="660066"/>
                </a:solidFill>
                <a:latin typeface="Courier New"/>
                <a:cs typeface="Courier New"/>
              </a:rPr>
              <a:t>void</a:t>
            </a:r>
            <a:r>
              <a:rPr lang="en-US" b="1" dirty="0">
                <a:latin typeface="Courier New"/>
                <a:cs typeface="Courier New"/>
              </a:rPr>
              <a:t> merge (</a:t>
            </a:r>
          </a:p>
          <a:p>
            <a:pPr marL="0" indent="0">
              <a:buNone/>
            </a:pPr>
            <a:r>
              <a:rPr lang="en-US" b="1" dirty="0">
                <a:latin typeface="Courier New"/>
                <a:cs typeface="Courier New"/>
              </a:rPr>
              <a:t>	E[] </a:t>
            </a:r>
            <a:r>
              <a:rPr lang="en-US" b="1" dirty="0">
                <a:solidFill>
                  <a:srgbClr val="726056"/>
                </a:solidFill>
                <a:latin typeface="Courier New"/>
                <a:cs typeface="Courier New"/>
              </a:rPr>
              <a:t>a1</a:t>
            </a:r>
            <a:r>
              <a:rPr lang="en-US" b="1" dirty="0">
                <a:latin typeface="Courier New"/>
                <a:cs typeface="Courier New"/>
              </a:rPr>
              <a:t>, </a:t>
            </a:r>
            <a:r>
              <a:rPr lang="en-US" b="1" dirty="0" err="1">
                <a:solidFill>
                  <a:srgbClr val="660066"/>
                </a:solidFill>
                <a:latin typeface="Courier New"/>
                <a:cs typeface="Courier New"/>
              </a:rPr>
              <a:t>int</a:t>
            </a:r>
            <a:r>
              <a:rPr lang="en-US" b="1" dirty="0">
                <a:latin typeface="Courier New"/>
                <a:cs typeface="Courier New"/>
              </a:rPr>
              <a:t> </a:t>
            </a:r>
            <a:r>
              <a:rPr lang="en-US" b="1" dirty="0">
                <a:solidFill>
                  <a:schemeClr val="accent3"/>
                </a:solidFill>
                <a:latin typeface="Courier New"/>
                <a:cs typeface="Courier New"/>
              </a:rPr>
              <a:t>l1</a:t>
            </a:r>
            <a:r>
              <a:rPr lang="en-US" b="1" dirty="0">
                <a:latin typeface="Courier New"/>
                <a:cs typeface="Courier New"/>
              </a:rPr>
              <a:t>, </a:t>
            </a:r>
            <a:r>
              <a:rPr lang="en-US" b="1" dirty="0" err="1">
                <a:solidFill>
                  <a:srgbClr val="660066"/>
                </a:solidFill>
                <a:latin typeface="Courier New"/>
                <a:cs typeface="Courier New"/>
              </a:rPr>
              <a:t>int</a:t>
            </a:r>
            <a:r>
              <a:rPr lang="en-US" b="1" dirty="0">
                <a:latin typeface="Courier New"/>
                <a:cs typeface="Courier New"/>
              </a:rPr>
              <a:t> </a:t>
            </a:r>
            <a:r>
              <a:rPr lang="en-US" b="1" dirty="0">
                <a:solidFill>
                  <a:srgbClr val="726056"/>
                </a:solidFill>
                <a:latin typeface="Courier New"/>
                <a:cs typeface="Courier New"/>
              </a:rPr>
              <a:t>r1</a:t>
            </a:r>
            <a:r>
              <a:rPr lang="en-US" b="1" dirty="0">
                <a:latin typeface="Courier New"/>
                <a:cs typeface="Courier New"/>
              </a:rPr>
              <a:t>,</a:t>
            </a:r>
          </a:p>
          <a:p>
            <a:pPr marL="0" indent="0">
              <a:buNone/>
            </a:pPr>
            <a:r>
              <a:rPr lang="en-US" b="1" dirty="0">
                <a:latin typeface="Courier New"/>
                <a:cs typeface="Courier New"/>
              </a:rPr>
              <a:t>	E[] </a:t>
            </a:r>
            <a:r>
              <a:rPr lang="en-US" b="1" dirty="0">
                <a:solidFill>
                  <a:srgbClr val="726056"/>
                </a:solidFill>
                <a:latin typeface="Courier New"/>
                <a:cs typeface="Courier New"/>
              </a:rPr>
              <a:t>a2</a:t>
            </a:r>
            <a:r>
              <a:rPr lang="en-US" b="1" dirty="0">
                <a:latin typeface="Courier New"/>
                <a:cs typeface="Courier New"/>
              </a:rPr>
              <a:t>, </a:t>
            </a:r>
            <a:r>
              <a:rPr lang="en-US" b="1" dirty="0" err="1">
                <a:solidFill>
                  <a:srgbClr val="660066"/>
                </a:solidFill>
                <a:latin typeface="Courier New"/>
                <a:cs typeface="Courier New"/>
              </a:rPr>
              <a:t>int</a:t>
            </a:r>
            <a:r>
              <a:rPr lang="en-US" b="1" dirty="0">
                <a:latin typeface="Courier New"/>
                <a:cs typeface="Courier New"/>
              </a:rPr>
              <a:t> </a:t>
            </a:r>
            <a:r>
              <a:rPr lang="en-US" b="1" dirty="0">
                <a:solidFill>
                  <a:srgbClr val="726056"/>
                </a:solidFill>
                <a:latin typeface="Courier New"/>
                <a:cs typeface="Courier New"/>
              </a:rPr>
              <a:t>l2</a:t>
            </a:r>
            <a:r>
              <a:rPr lang="en-US" b="1" dirty="0">
                <a:latin typeface="Courier New"/>
                <a:cs typeface="Courier New"/>
              </a:rPr>
              <a:t>, </a:t>
            </a:r>
            <a:r>
              <a:rPr lang="en-US" b="1" dirty="0" err="1">
                <a:solidFill>
                  <a:srgbClr val="660066"/>
                </a:solidFill>
                <a:latin typeface="Courier New"/>
                <a:cs typeface="Courier New"/>
              </a:rPr>
              <a:t>int</a:t>
            </a:r>
            <a:r>
              <a:rPr lang="en-US" b="1" dirty="0">
                <a:latin typeface="Courier New"/>
                <a:cs typeface="Courier New"/>
              </a:rPr>
              <a:t> </a:t>
            </a:r>
            <a:r>
              <a:rPr lang="en-US" b="1" dirty="0">
                <a:solidFill>
                  <a:srgbClr val="726056"/>
                </a:solidFill>
                <a:latin typeface="Courier New"/>
                <a:cs typeface="Courier New"/>
              </a:rPr>
              <a:t>r2</a:t>
            </a:r>
            <a:r>
              <a:rPr lang="en-US" b="1" dirty="0">
                <a:latin typeface="Courier New"/>
                <a:cs typeface="Courier New"/>
              </a:rPr>
              <a:t>,</a:t>
            </a:r>
          </a:p>
          <a:p>
            <a:pPr marL="0" indent="0">
              <a:buNone/>
            </a:pPr>
            <a:r>
              <a:rPr lang="en-US" b="1" dirty="0">
                <a:latin typeface="Courier New"/>
                <a:cs typeface="Courier New"/>
              </a:rPr>
              <a:t>	E[] </a:t>
            </a:r>
            <a:r>
              <a:rPr lang="en-US" b="1" dirty="0">
                <a:solidFill>
                  <a:srgbClr val="726056"/>
                </a:solidFill>
                <a:latin typeface="Courier New"/>
                <a:cs typeface="Courier New"/>
              </a:rPr>
              <a:t>a3</a:t>
            </a:r>
            <a:r>
              <a:rPr lang="en-US" b="1" dirty="0">
                <a:latin typeface="Courier New"/>
                <a:cs typeface="Courier New"/>
              </a:rPr>
              <a:t>, </a:t>
            </a:r>
            <a:r>
              <a:rPr lang="en-US" b="1" dirty="0" err="1">
                <a:solidFill>
                  <a:srgbClr val="660066"/>
                </a:solidFill>
                <a:latin typeface="Courier New"/>
                <a:cs typeface="Courier New"/>
              </a:rPr>
              <a:t>int</a:t>
            </a:r>
            <a:r>
              <a:rPr lang="en-US" b="1" dirty="0">
                <a:latin typeface="Courier New"/>
                <a:cs typeface="Courier New"/>
              </a:rPr>
              <a:t> </a:t>
            </a:r>
            <a:r>
              <a:rPr lang="en-US" b="1" dirty="0">
                <a:solidFill>
                  <a:srgbClr val="726056"/>
                </a:solidFill>
                <a:latin typeface="Courier New"/>
                <a:cs typeface="Courier New"/>
              </a:rPr>
              <a:t>l3</a:t>
            </a:r>
            <a:r>
              <a:rPr lang="en-US" b="1" dirty="0">
                <a:latin typeface="Courier New"/>
                <a:cs typeface="Courier New"/>
              </a:rPr>
              <a:t>) {</a:t>
            </a:r>
          </a:p>
          <a:p>
            <a:pPr marL="0" indent="0">
              <a:buNone/>
            </a:pPr>
            <a:r>
              <a:rPr lang="en-US" b="1" dirty="0">
                <a:latin typeface="Courier New"/>
                <a:cs typeface="Courier New"/>
              </a:rPr>
              <a:t>	   </a:t>
            </a:r>
            <a:r>
              <a:rPr lang="en-US" b="1" dirty="0">
                <a:solidFill>
                  <a:srgbClr val="008000"/>
                </a:solidFill>
                <a:latin typeface="Courier New"/>
                <a:cs typeface="Courier New"/>
              </a:rPr>
              <a:t>// Merge the sorted </a:t>
            </a:r>
            <a:r>
              <a:rPr lang="en-US" b="1" dirty="0" err="1">
                <a:solidFill>
                  <a:srgbClr val="008000"/>
                </a:solidFill>
                <a:latin typeface="Courier New"/>
                <a:cs typeface="Courier New"/>
              </a:rPr>
              <a:t>subarrays</a:t>
            </a:r>
            <a:r>
              <a:rPr lang="en-US" b="1" dirty="0">
                <a:solidFill>
                  <a:srgbClr val="008000"/>
                </a:solidFill>
                <a:latin typeface="Courier New"/>
                <a:cs typeface="Courier New"/>
              </a:rPr>
              <a:t> a1[</a:t>
            </a:r>
            <a:r>
              <a:rPr lang="en-US" b="1" dirty="0" err="1">
                <a:solidFill>
                  <a:srgbClr val="008000"/>
                </a:solidFill>
                <a:latin typeface="Courier New"/>
                <a:cs typeface="Courier New"/>
              </a:rPr>
              <a:t>ll</a:t>
            </a:r>
            <a:r>
              <a:rPr lang="en-US" b="1" dirty="0">
                <a:solidFill>
                  <a:srgbClr val="008000"/>
                </a:solidFill>
                <a:latin typeface="Courier New"/>
                <a:cs typeface="Courier New"/>
              </a:rPr>
              <a:t> - r1] and  </a:t>
            </a:r>
          </a:p>
          <a:p>
            <a:pPr marL="0" indent="0">
              <a:buNone/>
            </a:pPr>
            <a:r>
              <a:rPr lang="pt-BR" b="1" dirty="0">
                <a:latin typeface="Courier New"/>
                <a:cs typeface="Courier New"/>
              </a:rPr>
              <a:t>	   </a:t>
            </a:r>
            <a:r>
              <a:rPr lang="pt-BR" b="1" dirty="0">
                <a:solidFill>
                  <a:srgbClr val="008000"/>
                </a:solidFill>
                <a:latin typeface="Courier New"/>
                <a:cs typeface="Courier New"/>
              </a:rPr>
              <a:t>// a2[l2 </a:t>
            </a:r>
            <a:r>
              <a:rPr lang="mr-IN" b="1" dirty="0">
                <a:solidFill>
                  <a:srgbClr val="008000"/>
                </a:solidFill>
                <a:latin typeface="Courier New"/>
                <a:cs typeface="Courier New"/>
              </a:rPr>
              <a:t>–</a:t>
            </a:r>
            <a:r>
              <a:rPr lang="pt-BR" b="1" dirty="0">
                <a:solidFill>
                  <a:srgbClr val="008000"/>
                </a:solidFill>
                <a:latin typeface="Courier New"/>
                <a:cs typeface="Courier New"/>
              </a:rPr>
              <a:t> r2] </a:t>
            </a:r>
            <a:r>
              <a:rPr lang="pt-BR" b="1" dirty="0" err="1">
                <a:solidFill>
                  <a:srgbClr val="008000"/>
                </a:solidFill>
                <a:latin typeface="Courier New"/>
                <a:cs typeface="Courier New"/>
              </a:rPr>
              <a:t>into</a:t>
            </a:r>
            <a:r>
              <a:rPr lang="pt-BR" b="1" dirty="0">
                <a:solidFill>
                  <a:srgbClr val="008000"/>
                </a:solidFill>
                <a:latin typeface="Courier New"/>
                <a:cs typeface="Courier New"/>
              </a:rPr>
              <a:t> a3[l3]</a:t>
            </a:r>
          </a:p>
          <a:p>
            <a:pPr marL="0" indent="0">
              <a:buNone/>
            </a:pPr>
            <a:r>
              <a:rPr lang="mr-IN" b="1" dirty="0">
                <a:latin typeface="Courier New"/>
                <a:cs typeface="Courier New"/>
              </a:rPr>
              <a:t>	</a:t>
            </a:r>
            <a:r>
              <a:rPr lang="en-GB" b="1" dirty="0">
                <a:latin typeface="Courier New"/>
                <a:cs typeface="Courier New"/>
              </a:rPr>
              <a:t>   </a:t>
            </a:r>
            <a:r>
              <a:rPr lang="mr-IN" b="1" dirty="0">
                <a:solidFill>
                  <a:srgbClr val="660066"/>
                </a:solidFill>
                <a:latin typeface="Courier New"/>
                <a:cs typeface="Courier New"/>
              </a:rPr>
              <a:t>int</a:t>
            </a:r>
            <a:r>
              <a:rPr lang="mr-IN" b="1" dirty="0">
                <a:latin typeface="Courier New"/>
                <a:cs typeface="Courier New"/>
              </a:rPr>
              <a:t> </a:t>
            </a:r>
            <a:r>
              <a:rPr lang="mr-IN" b="1" dirty="0">
                <a:solidFill>
                  <a:schemeClr val="accent3"/>
                </a:solidFill>
                <a:latin typeface="Courier New"/>
                <a:cs typeface="Courier New"/>
              </a:rPr>
              <a:t>i</a:t>
            </a:r>
            <a:r>
              <a:rPr lang="mr-IN" b="1" dirty="0">
                <a:latin typeface="Courier New"/>
                <a:cs typeface="Courier New"/>
              </a:rPr>
              <a:t> = </a:t>
            </a:r>
            <a:r>
              <a:rPr lang="mr-IN" b="1" dirty="0">
                <a:solidFill>
                  <a:srgbClr val="726056"/>
                </a:solidFill>
                <a:latin typeface="Courier New"/>
                <a:cs typeface="Courier New"/>
              </a:rPr>
              <a:t>l1</a:t>
            </a:r>
            <a:r>
              <a:rPr lang="mr-IN" b="1" dirty="0">
                <a:latin typeface="Courier New"/>
                <a:cs typeface="Courier New"/>
              </a:rPr>
              <a:t>, </a:t>
            </a:r>
            <a:r>
              <a:rPr lang="mr-IN" b="1" dirty="0">
                <a:solidFill>
                  <a:srgbClr val="726056"/>
                </a:solidFill>
                <a:latin typeface="Courier New"/>
                <a:cs typeface="Courier New"/>
              </a:rPr>
              <a:t>j</a:t>
            </a:r>
            <a:r>
              <a:rPr lang="mr-IN" b="1" dirty="0">
                <a:latin typeface="Courier New"/>
                <a:cs typeface="Courier New"/>
              </a:rPr>
              <a:t> = </a:t>
            </a:r>
            <a:r>
              <a:rPr lang="mr-IN" b="1" dirty="0">
                <a:solidFill>
                  <a:srgbClr val="726056"/>
                </a:solidFill>
                <a:latin typeface="Courier New"/>
                <a:cs typeface="Courier New"/>
              </a:rPr>
              <a:t>l2</a:t>
            </a:r>
            <a:r>
              <a:rPr lang="mr-IN" b="1" dirty="0">
                <a:latin typeface="Courier New"/>
                <a:cs typeface="Courier New"/>
              </a:rPr>
              <a:t>, </a:t>
            </a:r>
            <a:r>
              <a:rPr lang="mr-IN" b="1" dirty="0">
                <a:solidFill>
                  <a:srgbClr val="726056"/>
                </a:solidFill>
                <a:latin typeface="Courier New"/>
                <a:cs typeface="Courier New"/>
              </a:rPr>
              <a:t>k</a:t>
            </a:r>
            <a:r>
              <a:rPr lang="mr-IN" b="1" dirty="0">
                <a:latin typeface="Courier New"/>
                <a:cs typeface="Courier New"/>
              </a:rPr>
              <a:t> = </a:t>
            </a:r>
            <a:r>
              <a:rPr lang="mr-IN" b="1" dirty="0">
                <a:solidFill>
                  <a:srgbClr val="726056"/>
                </a:solidFill>
                <a:latin typeface="Courier New"/>
                <a:cs typeface="Courier New"/>
              </a:rPr>
              <a:t>l3</a:t>
            </a:r>
            <a:r>
              <a:rPr lang="mr-IN" b="1" dirty="0">
                <a:latin typeface="Courier New"/>
                <a:cs typeface="Courier New"/>
              </a:rPr>
              <a:t>;</a:t>
            </a:r>
          </a:p>
          <a:p>
            <a:pPr marL="0" indent="0">
              <a:buNone/>
            </a:pPr>
            <a:r>
              <a:rPr lang="en-US" b="1" dirty="0">
                <a:latin typeface="Courier New"/>
                <a:cs typeface="Courier New"/>
              </a:rPr>
              <a:t>	   </a:t>
            </a:r>
            <a:r>
              <a:rPr lang="en-US" b="1" dirty="0">
                <a:solidFill>
                  <a:srgbClr val="660066"/>
                </a:solidFill>
                <a:latin typeface="Courier New"/>
                <a:cs typeface="Courier New"/>
              </a:rPr>
              <a:t>while</a:t>
            </a:r>
            <a:r>
              <a:rPr lang="en-US" b="1" dirty="0">
                <a:latin typeface="Courier New"/>
                <a:cs typeface="Courier New"/>
              </a:rPr>
              <a:t> (</a:t>
            </a:r>
            <a:r>
              <a:rPr lang="en-US" b="1" dirty="0" err="1">
                <a:solidFill>
                  <a:srgbClr val="726056"/>
                </a:solidFill>
                <a:latin typeface="Courier New"/>
                <a:cs typeface="Courier New"/>
              </a:rPr>
              <a:t>i</a:t>
            </a:r>
            <a:r>
              <a:rPr lang="en-US" b="1" dirty="0">
                <a:latin typeface="Courier New"/>
                <a:cs typeface="Courier New"/>
              </a:rPr>
              <a:t> &lt;= </a:t>
            </a:r>
            <a:r>
              <a:rPr lang="en-US" b="1" dirty="0">
                <a:solidFill>
                  <a:srgbClr val="726056"/>
                </a:solidFill>
                <a:latin typeface="Courier New"/>
                <a:cs typeface="Courier New"/>
              </a:rPr>
              <a:t>r1</a:t>
            </a:r>
            <a:r>
              <a:rPr lang="en-US" b="1" dirty="0">
                <a:latin typeface="Courier New"/>
                <a:cs typeface="Courier New"/>
              </a:rPr>
              <a:t> &amp;&amp; </a:t>
            </a:r>
            <a:r>
              <a:rPr lang="en-US" b="1" dirty="0">
                <a:solidFill>
                  <a:srgbClr val="726056"/>
                </a:solidFill>
                <a:latin typeface="Courier New"/>
                <a:cs typeface="Courier New"/>
              </a:rPr>
              <a:t>j</a:t>
            </a:r>
            <a:r>
              <a:rPr lang="en-US" b="1" dirty="0">
                <a:latin typeface="Courier New"/>
                <a:cs typeface="Courier New"/>
              </a:rPr>
              <a:t> &lt;= </a:t>
            </a:r>
            <a:r>
              <a:rPr lang="en-US" b="1" dirty="0">
                <a:solidFill>
                  <a:srgbClr val="726056"/>
                </a:solidFill>
                <a:latin typeface="Courier New"/>
                <a:cs typeface="Courier New"/>
              </a:rPr>
              <a:t>r2</a:t>
            </a:r>
            <a:r>
              <a:rPr lang="en-US" b="1" dirty="0">
                <a:latin typeface="Courier New"/>
                <a:cs typeface="Courier New"/>
              </a:rPr>
              <a:t>) {</a:t>
            </a:r>
          </a:p>
          <a:p>
            <a:pPr marL="0" indent="0">
              <a:buNone/>
            </a:pPr>
            <a:r>
              <a:rPr lang="en-US" b="1" dirty="0">
                <a:latin typeface="Courier New"/>
                <a:cs typeface="Courier New"/>
              </a:rPr>
              <a:t>	      </a:t>
            </a:r>
            <a:r>
              <a:rPr lang="en-US" b="1" dirty="0" err="1">
                <a:solidFill>
                  <a:srgbClr val="660066"/>
                </a:solidFill>
                <a:latin typeface="Courier New"/>
                <a:cs typeface="Courier New"/>
              </a:rPr>
              <a:t>int</a:t>
            </a:r>
            <a:r>
              <a:rPr lang="en-US" b="1" dirty="0">
                <a:latin typeface="Courier New"/>
                <a:cs typeface="Courier New"/>
              </a:rPr>
              <a:t> </a:t>
            </a:r>
            <a:r>
              <a:rPr lang="en-US" b="1" dirty="0">
                <a:solidFill>
                  <a:srgbClr val="726056"/>
                </a:solidFill>
                <a:latin typeface="Courier New"/>
                <a:cs typeface="Courier New"/>
              </a:rPr>
              <a:t>comp</a:t>
            </a:r>
            <a:r>
              <a:rPr lang="en-US" b="1" dirty="0">
                <a:latin typeface="Courier New"/>
                <a:cs typeface="Courier New"/>
              </a:rPr>
              <a:t> = </a:t>
            </a:r>
            <a:r>
              <a:rPr lang="en-US" b="1" dirty="0">
                <a:solidFill>
                  <a:srgbClr val="726056"/>
                </a:solidFill>
                <a:latin typeface="Courier New"/>
                <a:cs typeface="Courier New"/>
              </a:rPr>
              <a:t>a1</a:t>
            </a:r>
            <a:r>
              <a:rPr lang="en-US" b="1" dirty="0">
                <a:latin typeface="Courier New"/>
                <a:cs typeface="Courier New"/>
              </a:rPr>
              <a:t>[</a:t>
            </a:r>
            <a:r>
              <a:rPr lang="en-US" b="1" dirty="0" err="1">
                <a:solidFill>
                  <a:srgbClr val="726056"/>
                </a:solidFill>
                <a:latin typeface="Courier New"/>
                <a:cs typeface="Courier New"/>
              </a:rPr>
              <a:t>i</a:t>
            </a:r>
            <a:r>
              <a:rPr lang="en-US" b="1" dirty="0">
                <a:latin typeface="Courier New"/>
                <a:cs typeface="Courier New"/>
              </a:rPr>
              <a:t>].</a:t>
            </a:r>
            <a:r>
              <a:rPr lang="en-US" b="1" dirty="0" err="1">
                <a:latin typeface="Courier New"/>
                <a:cs typeface="Courier New"/>
              </a:rPr>
              <a:t>compareTo</a:t>
            </a:r>
            <a:r>
              <a:rPr lang="en-US" b="1" dirty="0">
                <a:latin typeface="Courier New"/>
                <a:cs typeface="Courier New"/>
              </a:rPr>
              <a:t>(</a:t>
            </a:r>
            <a:r>
              <a:rPr lang="en-US" b="1" dirty="0">
                <a:solidFill>
                  <a:srgbClr val="726056"/>
                </a:solidFill>
                <a:latin typeface="Courier New"/>
                <a:cs typeface="Courier New"/>
              </a:rPr>
              <a:t>a2</a:t>
            </a:r>
            <a:r>
              <a:rPr lang="en-US" b="1" dirty="0">
                <a:latin typeface="Courier New"/>
                <a:cs typeface="Courier New"/>
              </a:rPr>
              <a:t>[</a:t>
            </a:r>
            <a:r>
              <a:rPr lang="en-US" b="1" dirty="0">
                <a:solidFill>
                  <a:srgbClr val="726056"/>
                </a:solidFill>
                <a:latin typeface="Courier New"/>
                <a:cs typeface="Courier New"/>
              </a:rPr>
              <a:t>j</a:t>
            </a:r>
            <a:r>
              <a:rPr lang="en-US" b="1" dirty="0">
                <a:latin typeface="Courier New"/>
                <a:cs typeface="Courier New"/>
              </a:rPr>
              <a:t>]);</a:t>
            </a:r>
          </a:p>
          <a:p>
            <a:pPr marL="0" indent="0">
              <a:buNone/>
            </a:pPr>
            <a:r>
              <a:rPr lang="mr-IN" b="1" dirty="0">
                <a:latin typeface="Courier New"/>
                <a:cs typeface="Courier New"/>
              </a:rPr>
              <a:t>		</a:t>
            </a:r>
            <a:r>
              <a:rPr lang="mr-IN" b="1" dirty="0">
                <a:solidFill>
                  <a:srgbClr val="660066"/>
                </a:solidFill>
                <a:latin typeface="Courier New"/>
                <a:cs typeface="Courier New"/>
              </a:rPr>
              <a:t>if</a:t>
            </a:r>
            <a:r>
              <a:rPr lang="mr-IN" b="1" dirty="0">
                <a:latin typeface="Courier New"/>
                <a:cs typeface="Courier New"/>
              </a:rPr>
              <a:t> (</a:t>
            </a:r>
            <a:r>
              <a:rPr lang="mr-IN" b="1" dirty="0">
                <a:solidFill>
                  <a:srgbClr val="726056"/>
                </a:solidFill>
                <a:latin typeface="Courier New"/>
                <a:cs typeface="Courier New"/>
              </a:rPr>
              <a:t>comp</a:t>
            </a:r>
            <a:r>
              <a:rPr lang="mr-IN" b="1" dirty="0">
                <a:latin typeface="Courier New"/>
                <a:cs typeface="Courier New"/>
              </a:rPr>
              <a:t> &lt;= 0) </a:t>
            </a:r>
            <a:r>
              <a:rPr lang="mr-IN" b="1" dirty="0">
                <a:solidFill>
                  <a:srgbClr val="726056"/>
                </a:solidFill>
                <a:latin typeface="Courier New"/>
                <a:cs typeface="Courier New"/>
              </a:rPr>
              <a:t>a3</a:t>
            </a:r>
            <a:r>
              <a:rPr lang="mr-IN" b="1" dirty="0">
                <a:latin typeface="Courier New"/>
                <a:cs typeface="Courier New"/>
              </a:rPr>
              <a:t>[</a:t>
            </a:r>
            <a:r>
              <a:rPr lang="mr-IN" b="1" dirty="0">
                <a:solidFill>
                  <a:srgbClr val="726056"/>
                </a:solidFill>
                <a:latin typeface="Courier New"/>
                <a:cs typeface="Courier New"/>
              </a:rPr>
              <a:t>k</a:t>
            </a:r>
            <a:r>
              <a:rPr lang="mr-IN" b="1" dirty="0">
                <a:latin typeface="Courier New"/>
                <a:cs typeface="Courier New"/>
              </a:rPr>
              <a:t>++] = </a:t>
            </a:r>
            <a:r>
              <a:rPr lang="mr-IN" b="1" dirty="0">
                <a:solidFill>
                  <a:srgbClr val="726056"/>
                </a:solidFill>
                <a:latin typeface="Courier New"/>
                <a:cs typeface="Courier New"/>
              </a:rPr>
              <a:t>a1</a:t>
            </a:r>
            <a:r>
              <a:rPr lang="mr-IN" b="1" dirty="0">
                <a:latin typeface="Courier New"/>
                <a:cs typeface="Courier New"/>
              </a:rPr>
              <a:t>[</a:t>
            </a:r>
            <a:r>
              <a:rPr lang="mr-IN" b="1" dirty="0">
                <a:solidFill>
                  <a:schemeClr val="accent3"/>
                </a:solidFill>
                <a:latin typeface="Courier New"/>
                <a:cs typeface="Courier New"/>
              </a:rPr>
              <a:t>i</a:t>
            </a:r>
            <a:r>
              <a:rPr lang="mr-IN" b="1" dirty="0">
                <a:latin typeface="Courier New"/>
                <a:cs typeface="Courier New"/>
              </a:rPr>
              <a:t>++];</a:t>
            </a:r>
          </a:p>
          <a:p>
            <a:pPr marL="0" indent="0">
              <a:buNone/>
            </a:pPr>
            <a:r>
              <a:rPr lang="mr-IN" b="1" dirty="0">
                <a:latin typeface="Courier New"/>
                <a:cs typeface="Courier New"/>
              </a:rPr>
              <a:t>		</a:t>
            </a:r>
            <a:r>
              <a:rPr lang="mr-IN" b="1" dirty="0">
                <a:solidFill>
                  <a:srgbClr val="660066"/>
                </a:solidFill>
                <a:latin typeface="Courier New"/>
                <a:cs typeface="Courier New"/>
              </a:rPr>
              <a:t>else</a:t>
            </a:r>
            <a:r>
              <a:rPr lang="mr-IN" b="1" dirty="0">
                <a:latin typeface="Courier New"/>
                <a:cs typeface="Courier New"/>
              </a:rPr>
              <a:t>  </a:t>
            </a:r>
            <a:r>
              <a:rPr lang="mr-IN" b="1" dirty="0">
                <a:solidFill>
                  <a:srgbClr val="726056"/>
                </a:solidFill>
                <a:latin typeface="Courier New"/>
                <a:cs typeface="Courier New"/>
              </a:rPr>
              <a:t>a3</a:t>
            </a:r>
            <a:r>
              <a:rPr lang="mr-IN" b="1" dirty="0">
                <a:latin typeface="Courier New"/>
                <a:cs typeface="Courier New"/>
              </a:rPr>
              <a:t>[</a:t>
            </a:r>
            <a:r>
              <a:rPr lang="mr-IN" b="1" dirty="0">
                <a:solidFill>
                  <a:srgbClr val="726056"/>
                </a:solidFill>
                <a:latin typeface="Courier New"/>
                <a:cs typeface="Courier New"/>
              </a:rPr>
              <a:t>k</a:t>
            </a:r>
            <a:r>
              <a:rPr lang="mr-IN" b="1" dirty="0">
                <a:latin typeface="Courier New"/>
                <a:cs typeface="Courier New"/>
              </a:rPr>
              <a:t>++] = </a:t>
            </a:r>
            <a:r>
              <a:rPr lang="mr-IN" b="1" dirty="0">
                <a:solidFill>
                  <a:srgbClr val="726056"/>
                </a:solidFill>
                <a:latin typeface="Courier New"/>
                <a:cs typeface="Courier New"/>
              </a:rPr>
              <a:t>a2</a:t>
            </a:r>
            <a:r>
              <a:rPr lang="mr-IN" b="1" dirty="0">
                <a:latin typeface="Courier New"/>
                <a:cs typeface="Courier New"/>
              </a:rPr>
              <a:t>[</a:t>
            </a:r>
            <a:r>
              <a:rPr lang="mr-IN" b="1" dirty="0">
                <a:solidFill>
                  <a:srgbClr val="726056"/>
                </a:solidFill>
                <a:latin typeface="Courier New"/>
                <a:cs typeface="Courier New"/>
              </a:rPr>
              <a:t>j</a:t>
            </a:r>
            <a:r>
              <a:rPr lang="mr-IN" b="1" dirty="0">
                <a:latin typeface="Courier New"/>
                <a:cs typeface="Courier New"/>
              </a:rPr>
              <a:t>++];</a:t>
            </a:r>
          </a:p>
          <a:p>
            <a:pPr marL="0" indent="0">
              <a:buNone/>
            </a:pPr>
            <a:r>
              <a:rPr lang="mr-IN" b="1" dirty="0">
                <a:latin typeface="Courier New"/>
                <a:cs typeface="Courier New"/>
              </a:rPr>
              <a:t>	</a:t>
            </a:r>
            <a:r>
              <a:rPr lang="en-GB" b="1" dirty="0">
                <a:latin typeface="Courier New"/>
                <a:cs typeface="Courier New"/>
              </a:rPr>
              <a:t>   </a:t>
            </a:r>
            <a:r>
              <a:rPr lang="mr-IN" b="1" dirty="0">
                <a:latin typeface="Courier New"/>
                <a:cs typeface="Courier New"/>
              </a:rPr>
              <a:t>}</a:t>
            </a:r>
          </a:p>
          <a:p>
            <a:pPr marL="0" indent="0">
              <a:buNone/>
            </a:pPr>
            <a:r>
              <a:rPr lang="mr-IN" b="1" dirty="0">
                <a:latin typeface="Courier New"/>
                <a:cs typeface="Courier New"/>
              </a:rPr>
              <a:t>	</a:t>
            </a:r>
            <a:r>
              <a:rPr lang="en-GB" b="1" dirty="0">
                <a:latin typeface="Courier New"/>
                <a:cs typeface="Courier New"/>
              </a:rPr>
              <a:t>   </a:t>
            </a:r>
            <a:r>
              <a:rPr lang="mr-IN" b="1" dirty="0">
                <a:solidFill>
                  <a:srgbClr val="660066"/>
                </a:solidFill>
                <a:latin typeface="Courier New"/>
                <a:cs typeface="Courier New"/>
              </a:rPr>
              <a:t>while</a:t>
            </a:r>
            <a:r>
              <a:rPr lang="mr-IN" b="1" dirty="0">
                <a:latin typeface="Courier New"/>
                <a:cs typeface="Courier New"/>
              </a:rPr>
              <a:t> (</a:t>
            </a:r>
            <a:r>
              <a:rPr lang="mr-IN" b="1" dirty="0">
                <a:solidFill>
                  <a:srgbClr val="726056"/>
                </a:solidFill>
                <a:latin typeface="Courier New"/>
                <a:cs typeface="Courier New"/>
              </a:rPr>
              <a:t>i</a:t>
            </a:r>
            <a:r>
              <a:rPr lang="mr-IN" b="1" dirty="0">
                <a:latin typeface="Courier New"/>
                <a:cs typeface="Courier New"/>
              </a:rPr>
              <a:t> &lt;= </a:t>
            </a:r>
            <a:r>
              <a:rPr lang="mr-IN" b="1" dirty="0">
                <a:solidFill>
                  <a:srgbClr val="726056"/>
                </a:solidFill>
                <a:latin typeface="Courier New"/>
                <a:cs typeface="Courier New"/>
              </a:rPr>
              <a:t>r1</a:t>
            </a:r>
            <a:r>
              <a:rPr lang="mr-IN" b="1" dirty="0">
                <a:latin typeface="Courier New"/>
                <a:cs typeface="Courier New"/>
              </a:rPr>
              <a:t>)  </a:t>
            </a:r>
            <a:r>
              <a:rPr lang="mr-IN" b="1" dirty="0">
                <a:solidFill>
                  <a:srgbClr val="726056"/>
                </a:solidFill>
                <a:latin typeface="Courier New"/>
                <a:cs typeface="Courier New"/>
              </a:rPr>
              <a:t>a3</a:t>
            </a:r>
            <a:r>
              <a:rPr lang="mr-IN" b="1" dirty="0">
                <a:latin typeface="Courier New"/>
                <a:cs typeface="Courier New"/>
              </a:rPr>
              <a:t>[</a:t>
            </a:r>
            <a:r>
              <a:rPr lang="mr-IN" b="1" dirty="0">
                <a:solidFill>
                  <a:srgbClr val="726056"/>
                </a:solidFill>
                <a:latin typeface="Courier New"/>
                <a:cs typeface="Courier New"/>
              </a:rPr>
              <a:t>k</a:t>
            </a:r>
            <a:r>
              <a:rPr lang="mr-IN" b="1" dirty="0">
                <a:latin typeface="Courier New"/>
                <a:cs typeface="Courier New"/>
              </a:rPr>
              <a:t>++] = </a:t>
            </a:r>
            <a:r>
              <a:rPr lang="mr-IN" b="1" dirty="0">
                <a:solidFill>
                  <a:srgbClr val="726056"/>
                </a:solidFill>
                <a:latin typeface="Courier New"/>
                <a:cs typeface="Courier New"/>
              </a:rPr>
              <a:t>a1</a:t>
            </a:r>
            <a:r>
              <a:rPr lang="mr-IN" b="1" dirty="0">
                <a:latin typeface="Courier New"/>
                <a:cs typeface="Courier New"/>
              </a:rPr>
              <a:t>[i++];</a:t>
            </a:r>
          </a:p>
          <a:p>
            <a:pPr marL="0" indent="0">
              <a:buNone/>
            </a:pPr>
            <a:r>
              <a:rPr lang="mr-IN" b="1" dirty="0">
                <a:latin typeface="Courier New"/>
                <a:cs typeface="Courier New"/>
              </a:rPr>
              <a:t>	</a:t>
            </a:r>
            <a:r>
              <a:rPr lang="en-GB" b="1" dirty="0">
                <a:latin typeface="Courier New"/>
                <a:cs typeface="Courier New"/>
              </a:rPr>
              <a:t>   </a:t>
            </a:r>
            <a:r>
              <a:rPr lang="mr-IN" b="1" dirty="0">
                <a:solidFill>
                  <a:srgbClr val="660066"/>
                </a:solidFill>
                <a:latin typeface="Courier New"/>
                <a:cs typeface="Courier New"/>
              </a:rPr>
              <a:t>while</a:t>
            </a:r>
            <a:r>
              <a:rPr lang="mr-IN" b="1" dirty="0">
                <a:latin typeface="Courier New"/>
                <a:cs typeface="Courier New"/>
              </a:rPr>
              <a:t> (</a:t>
            </a:r>
            <a:r>
              <a:rPr lang="mr-IN" b="1" dirty="0">
                <a:solidFill>
                  <a:srgbClr val="726056"/>
                </a:solidFill>
                <a:latin typeface="Courier New"/>
                <a:cs typeface="Courier New"/>
              </a:rPr>
              <a:t>j</a:t>
            </a:r>
            <a:r>
              <a:rPr lang="mr-IN" b="1" dirty="0">
                <a:latin typeface="Courier New"/>
                <a:cs typeface="Courier New"/>
              </a:rPr>
              <a:t> &lt;= </a:t>
            </a:r>
            <a:r>
              <a:rPr lang="mr-IN" b="1" dirty="0">
                <a:solidFill>
                  <a:srgbClr val="726056"/>
                </a:solidFill>
                <a:latin typeface="Courier New"/>
                <a:cs typeface="Courier New"/>
              </a:rPr>
              <a:t>r2</a:t>
            </a:r>
            <a:r>
              <a:rPr lang="mr-IN" b="1" dirty="0">
                <a:latin typeface="Courier New"/>
                <a:cs typeface="Courier New"/>
              </a:rPr>
              <a:t>)  </a:t>
            </a:r>
            <a:r>
              <a:rPr lang="mr-IN" b="1" dirty="0">
                <a:solidFill>
                  <a:srgbClr val="726056"/>
                </a:solidFill>
                <a:latin typeface="Courier New"/>
                <a:cs typeface="Courier New"/>
              </a:rPr>
              <a:t>a3</a:t>
            </a:r>
            <a:r>
              <a:rPr lang="mr-IN" b="1" dirty="0">
                <a:latin typeface="Courier New"/>
                <a:cs typeface="Courier New"/>
              </a:rPr>
              <a:t>[</a:t>
            </a:r>
            <a:r>
              <a:rPr lang="mr-IN" b="1" dirty="0">
                <a:solidFill>
                  <a:srgbClr val="726056"/>
                </a:solidFill>
                <a:latin typeface="Courier New"/>
                <a:cs typeface="Courier New"/>
              </a:rPr>
              <a:t>k</a:t>
            </a:r>
            <a:r>
              <a:rPr lang="mr-IN" b="1" dirty="0">
                <a:latin typeface="Courier New"/>
                <a:cs typeface="Courier New"/>
              </a:rPr>
              <a:t>++] = </a:t>
            </a:r>
            <a:r>
              <a:rPr lang="mr-IN" b="1" dirty="0">
                <a:solidFill>
                  <a:srgbClr val="726056"/>
                </a:solidFill>
                <a:latin typeface="Courier New"/>
                <a:cs typeface="Courier New"/>
              </a:rPr>
              <a:t>a2</a:t>
            </a:r>
            <a:r>
              <a:rPr lang="mr-IN" b="1" dirty="0">
                <a:latin typeface="Courier New"/>
                <a:cs typeface="Courier New"/>
              </a:rPr>
              <a:t>[</a:t>
            </a:r>
            <a:r>
              <a:rPr lang="mr-IN" b="1" dirty="0">
                <a:solidFill>
                  <a:srgbClr val="726056"/>
                </a:solidFill>
                <a:latin typeface="Courier New"/>
                <a:cs typeface="Courier New"/>
              </a:rPr>
              <a:t>j</a:t>
            </a:r>
            <a:r>
              <a:rPr lang="mr-IN" b="1" dirty="0">
                <a:latin typeface="Courier New"/>
                <a:cs typeface="Courier New"/>
              </a:rPr>
              <a:t>++];</a:t>
            </a:r>
          </a:p>
          <a:p>
            <a:pPr marL="0" indent="0">
              <a:buNone/>
            </a:pPr>
            <a:r>
              <a:rPr lang="mr-IN" b="1" dirty="0">
                <a:latin typeface="Courier New"/>
                <a:cs typeface="Courier New"/>
              </a:rPr>
              <a:t>}</a:t>
            </a:r>
            <a:endParaRPr lang="en-US" altLang="en-US" b="1" dirty="0">
              <a:latin typeface="Courier New"/>
              <a:cs typeface="Courier New"/>
            </a:endParaRPr>
          </a:p>
          <a:p>
            <a:pPr marL="0" indent="0">
              <a:buNone/>
              <a:tabLst>
                <a:tab pos="723900" algn="l"/>
                <a:tab pos="1079500" algn="l"/>
                <a:tab pos="1435100" algn="l"/>
                <a:tab pos="1790700" algn="l"/>
                <a:tab pos="2159000" algn="l"/>
              </a:tabLst>
            </a:pPr>
            <a:r>
              <a:rPr lang="en-US" altLang="en-US" b="1" dirty="0">
                <a:latin typeface="Courier New"/>
                <a:cs typeface="Courier New"/>
              </a:rPr>
              <a:t>	</a:t>
            </a:r>
            <a:endParaRPr lang="en-US" altLang="en-US" sz="2000" b="1" dirty="0">
              <a:latin typeface="Courier New"/>
              <a:cs typeface="Courier New"/>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8</a:t>
            </a:fld>
            <a:endParaRPr lang="en-US"/>
          </a:p>
        </p:txBody>
      </p:sp>
      <p:sp>
        <p:nvSpPr>
          <p:cNvPr id="3" name="TextBox 2"/>
          <p:cNvSpPr txBox="1"/>
          <p:nvPr/>
        </p:nvSpPr>
        <p:spPr>
          <a:xfrm>
            <a:off x="5480255" y="5992761"/>
            <a:ext cx="2971800" cy="369332"/>
          </a:xfrm>
          <a:prstGeom prst="rect">
            <a:avLst/>
          </a:prstGeom>
          <a:noFill/>
          <a:ln>
            <a:solidFill>
              <a:schemeClr val="tx2"/>
            </a:solidFill>
          </a:ln>
        </p:spPr>
        <p:txBody>
          <a:bodyPr wrap="square" rtlCol="0">
            <a:spAutoFit/>
          </a:bodyPr>
          <a:lstStyle/>
          <a:p>
            <a:r>
              <a:rPr lang="en-GB" dirty="0"/>
              <a:t>Explained  on next slide</a:t>
            </a:r>
          </a:p>
        </p:txBody>
      </p:sp>
      <p:cxnSp>
        <p:nvCxnSpPr>
          <p:cNvPr id="5" name="Straight Arrow Connector 4"/>
          <p:cNvCxnSpPr/>
          <p:nvPr/>
        </p:nvCxnSpPr>
        <p:spPr>
          <a:xfrm flipH="1" flipV="1">
            <a:off x="6508955" y="5611761"/>
            <a:ext cx="457200" cy="381000"/>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28340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ltLang="en-US" sz="3200" dirty="0"/>
              <a:t>Merging </a:t>
            </a:r>
            <a:r>
              <a:rPr lang="en-US" altLang="en-US" sz="3200" i="1" dirty="0"/>
              <a:t>(8)</a:t>
            </a:r>
            <a:endParaRPr lang="en-GB" altLang="en-US" sz="3200" dirty="0"/>
          </a:p>
        </p:txBody>
      </p:sp>
      <p:sp>
        <p:nvSpPr>
          <p:cNvPr id="34819" name="Rectangle 3"/>
          <p:cNvSpPr>
            <a:spLocks noGrp="1" noChangeArrowheads="1"/>
          </p:cNvSpPr>
          <p:nvPr>
            <p:ph idx="1"/>
          </p:nvPr>
        </p:nvSpPr>
        <p:spPr>
          <a:xfrm>
            <a:off x="457200" y="1600200"/>
            <a:ext cx="8229600" cy="3962400"/>
          </a:xfrm>
          <a:noFill/>
        </p:spPr>
        <p:txBody>
          <a:bodyPr>
            <a:normAutofit/>
          </a:bodyPr>
          <a:lstStyle/>
          <a:p>
            <a:pPr eaLnBrk="1" hangingPunct="1">
              <a:buFont typeface="Wingdings" pitchFamily="2" charset="2"/>
              <a:buNone/>
              <a:tabLst>
                <a:tab pos="723900" algn="l"/>
                <a:tab pos="1079500" algn="l"/>
                <a:tab pos="1435100" algn="l"/>
                <a:tab pos="1790700" algn="l"/>
                <a:tab pos="2159000" algn="l"/>
              </a:tabLst>
            </a:pPr>
            <a:r>
              <a:rPr lang="en-US" altLang="en-US" dirty="0"/>
              <a:t>Note that:</a:t>
            </a:r>
          </a:p>
          <a:p>
            <a:pPr eaLnBrk="1" hangingPunct="1">
              <a:buFont typeface="Wingdings" pitchFamily="2" charset="2"/>
              <a:buNone/>
              <a:tabLst>
                <a:tab pos="723900" algn="l"/>
                <a:tab pos="1079500" algn="l"/>
                <a:tab pos="1435100" algn="l"/>
                <a:tab pos="1790700" algn="l"/>
                <a:tab pos="2159000" algn="l"/>
              </a:tabLst>
            </a:pPr>
            <a:endParaRPr lang="en-US" altLang="en-US" sz="2000" dirty="0">
              <a:latin typeface="Courier New" pitchFamily="49" charset="0"/>
            </a:endParaRPr>
          </a:p>
          <a:p>
            <a:pPr>
              <a:buNone/>
              <a:tabLst>
                <a:tab pos="723900" algn="l"/>
                <a:tab pos="1079500" algn="l"/>
                <a:tab pos="1435100" algn="l"/>
                <a:tab pos="1790700" algn="l"/>
                <a:tab pos="2159000" algn="l"/>
              </a:tabLst>
            </a:pPr>
            <a:r>
              <a:rPr lang="mr-IN" sz="2000" b="1" dirty="0">
                <a:solidFill>
                  <a:srgbClr val="660066"/>
                </a:solidFill>
                <a:latin typeface="Courier New"/>
                <a:cs typeface="Courier New"/>
              </a:rPr>
              <a:t>while</a:t>
            </a:r>
            <a:r>
              <a:rPr lang="mr-IN" sz="2000" b="1" dirty="0">
                <a:latin typeface="Courier New"/>
                <a:cs typeface="Courier New"/>
              </a:rPr>
              <a:t> (</a:t>
            </a:r>
            <a:r>
              <a:rPr lang="mr-IN" sz="2000" b="1" dirty="0">
                <a:solidFill>
                  <a:srgbClr val="726056"/>
                </a:solidFill>
                <a:latin typeface="Courier New"/>
                <a:cs typeface="Courier New"/>
              </a:rPr>
              <a:t>j</a:t>
            </a:r>
            <a:r>
              <a:rPr lang="mr-IN" sz="2000" b="1" dirty="0">
                <a:latin typeface="Courier New"/>
                <a:cs typeface="Courier New"/>
              </a:rPr>
              <a:t> &lt;= </a:t>
            </a:r>
            <a:r>
              <a:rPr lang="mr-IN" sz="2000" b="1" dirty="0">
                <a:solidFill>
                  <a:srgbClr val="726056"/>
                </a:solidFill>
                <a:latin typeface="Courier New"/>
                <a:cs typeface="Courier New"/>
              </a:rPr>
              <a:t>r2</a:t>
            </a:r>
            <a:r>
              <a:rPr lang="mr-IN" sz="2000" b="1" dirty="0">
                <a:latin typeface="Courier New"/>
                <a:cs typeface="Courier New"/>
              </a:rPr>
              <a:t>)  </a:t>
            </a:r>
            <a:r>
              <a:rPr lang="mr-IN" sz="2000" b="1" dirty="0">
                <a:solidFill>
                  <a:srgbClr val="726056"/>
                </a:solidFill>
                <a:latin typeface="Courier New"/>
                <a:cs typeface="Courier New"/>
              </a:rPr>
              <a:t>a3</a:t>
            </a:r>
            <a:r>
              <a:rPr lang="mr-IN" sz="2000" b="1" dirty="0">
                <a:latin typeface="Courier New"/>
                <a:cs typeface="Courier New"/>
              </a:rPr>
              <a:t>[</a:t>
            </a:r>
            <a:r>
              <a:rPr lang="mr-IN" sz="2000" b="1" dirty="0">
                <a:solidFill>
                  <a:srgbClr val="726056"/>
                </a:solidFill>
                <a:latin typeface="Courier New"/>
                <a:cs typeface="Courier New"/>
              </a:rPr>
              <a:t>k</a:t>
            </a:r>
            <a:r>
              <a:rPr lang="mr-IN" sz="2000" b="1" dirty="0">
                <a:latin typeface="Courier New"/>
                <a:cs typeface="Courier New"/>
              </a:rPr>
              <a:t>++] = </a:t>
            </a:r>
            <a:r>
              <a:rPr lang="mr-IN" sz="2000" b="1" dirty="0">
                <a:solidFill>
                  <a:srgbClr val="726056"/>
                </a:solidFill>
                <a:latin typeface="Courier New"/>
                <a:cs typeface="Courier New"/>
              </a:rPr>
              <a:t>a2</a:t>
            </a:r>
            <a:r>
              <a:rPr lang="mr-IN" sz="2000" b="1" dirty="0">
                <a:latin typeface="Courier New"/>
                <a:cs typeface="Courier New"/>
              </a:rPr>
              <a:t>[</a:t>
            </a:r>
            <a:r>
              <a:rPr lang="mr-IN" sz="2000" b="1" dirty="0">
                <a:solidFill>
                  <a:srgbClr val="726056"/>
                </a:solidFill>
                <a:latin typeface="Courier New"/>
                <a:cs typeface="Courier New"/>
              </a:rPr>
              <a:t>j</a:t>
            </a:r>
            <a:r>
              <a:rPr lang="mr-IN" sz="2000" b="1" dirty="0">
                <a:latin typeface="Courier New"/>
                <a:cs typeface="Courier New"/>
              </a:rPr>
              <a:t>++];</a:t>
            </a:r>
            <a:endParaRPr lang="en-GB" sz="2000" b="1" dirty="0">
              <a:latin typeface="Courier New"/>
              <a:cs typeface="Courier New"/>
            </a:endParaRPr>
          </a:p>
          <a:p>
            <a:pPr>
              <a:buNone/>
              <a:tabLst>
                <a:tab pos="723900" algn="l"/>
                <a:tab pos="1079500" algn="l"/>
                <a:tab pos="1435100" algn="l"/>
                <a:tab pos="1790700" algn="l"/>
                <a:tab pos="2159000" algn="l"/>
              </a:tabLst>
            </a:pPr>
            <a:endParaRPr lang="en-GB" sz="2000" b="1" dirty="0">
              <a:latin typeface="Courier New"/>
              <a:cs typeface="Courier New"/>
            </a:endParaRPr>
          </a:p>
          <a:p>
            <a:pPr>
              <a:buNone/>
              <a:tabLst>
                <a:tab pos="723900" algn="l"/>
                <a:tab pos="1079500" algn="l"/>
                <a:tab pos="1435100" algn="l"/>
                <a:tab pos="1790700" algn="l"/>
                <a:tab pos="2159000" algn="l"/>
              </a:tabLst>
            </a:pPr>
            <a:r>
              <a:rPr lang="en-GB" dirty="0">
                <a:cs typeface="Courier New"/>
              </a:rPr>
              <a:t>is equivalent to</a:t>
            </a:r>
          </a:p>
          <a:p>
            <a:pPr>
              <a:buNone/>
              <a:tabLst>
                <a:tab pos="723900" algn="l"/>
                <a:tab pos="1079500" algn="l"/>
                <a:tab pos="1435100" algn="l"/>
                <a:tab pos="1790700" algn="l"/>
                <a:tab pos="2159000" algn="l"/>
              </a:tabLst>
            </a:pPr>
            <a:endParaRPr lang="mr-IN" sz="2000" b="1" dirty="0">
              <a:latin typeface="Courier New"/>
              <a:cs typeface="Courier New"/>
            </a:endParaRPr>
          </a:p>
          <a:p>
            <a:pPr>
              <a:buNone/>
              <a:tabLst>
                <a:tab pos="723900" algn="l"/>
                <a:tab pos="1079500" algn="l"/>
                <a:tab pos="1435100" algn="l"/>
                <a:tab pos="1790700" algn="l"/>
                <a:tab pos="2159000" algn="l"/>
              </a:tabLst>
            </a:pPr>
            <a:r>
              <a:rPr lang="mr-IN" sz="2000" b="1" dirty="0">
                <a:solidFill>
                  <a:srgbClr val="660066"/>
                </a:solidFill>
                <a:latin typeface="Courier New"/>
                <a:cs typeface="Courier New"/>
              </a:rPr>
              <a:t>while</a:t>
            </a:r>
            <a:r>
              <a:rPr lang="mr-IN" sz="2000" b="1" dirty="0">
                <a:latin typeface="Courier New"/>
                <a:cs typeface="Courier New"/>
              </a:rPr>
              <a:t> (</a:t>
            </a:r>
            <a:r>
              <a:rPr lang="mr-IN" sz="2000" b="1" dirty="0">
                <a:solidFill>
                  <a:srgbClr val="726056"/>
                </a:solidFill>
                <a:latin typeface="Courier New"/>
                <a:cs typeface="Courier New"/>
              </a:rPr>
              <a:t>j</a:t>
            </a:r>
            <a:r>
              <a:rPr lang="mr-IN" sz="2000" b="1" dirty="0">
                <a:latin typeface="Courier New"/>
                <a:cs typeface="Courier New"/>
              </a:rPr>
              <a:t> &lt;= </a:t>
            </a:r>
            <a:r>
              <a:rPr lang="mr-IN" sz="2000" b="1" dirty="0">
                <a:solidFill>
                  <a:srgbClr val="726056"/>
                </a:solidFill>
                <a:latin typeface="Courier New"/>
                <a:cs typeface="Courier New"/>
              </a:rPr>
              <a:t>r2</a:t>
            </a:r>
            <a:r>
              <a:rPr lang="mr-IN" sz="2000" b="1" dirty="0">
                <a:latin typeface="Courier New"/>
                <a:cs typeface="Courier New"/>
              </a:rPr>
              <a:t>)  </a:t>
            </a:r>
            <a:r>
              <a:rPr lang="en-GB" sz="2000" b="1" dirty="0">
                <a:latin typeface="Courier New"/>
                <a:cs typeface="Courier New"/>
              </a:rPr>
              <a:t>{</a:t>
            </a:r>
          </a:p>
          <a:p>
            <a:pPr>
              <a:buNone/>
              <a:tabLst>
                <a:tab pos="723900" algn="l"/>
                <a:tab pos="1079500" algn="l"/>
                <a:tab pos="1435100" algn="l"/>
                <a:tab pos="1790700" algn="l"/>
                <a:tab pos="2159000" algn="l"/>
              </a:tabLst>
            </a:pPr>
            <a:r>
              <a:rPr lang="en-GB" sz="2000" b="1" dirty="0">
                <a:solidFill>
                  <a:srgbClr val="726056"/>
                </a:solidFill>
                <a:latin typeface="Courier New"/>
                <a:cs typeface="Courier New"/>
              </a:rPr>
              <a:t>     </a:t>
            </a:r>
            <a:r>
              <a:rPr lang="mr-IN" sz="2000" b="1" dirty="0">
                <a:solidFill>
                  <a:srgbClr val="726056"/>
                </a:solidFill>
                <a:latin typeface="Courier New"/>
                <a:cs typeface="Courier New"/>
              </a:rPr>
              <a:t>a3</a:t>
            </a:r>
            <a:r>
              <a:rPr lang="mr-IN" sz="2000" b="1" dirty="0">
                <a:latin typeface="Courier New"/>
                <a:cs typeface="Courier New"/>
              </a:rPr>
              <a:t>[</a:t>
            </a:r>
            <a:r>
              <a:rPr lang="mr-IN" sz="2000" b="1" dirty="0">
                <a:solidFill>
                  <a:srgbClr val="726056"/>
                </a:solidFill>
                <a:latin typeface="Courier New"/>
                <a:cs typeface="Courier New"/>
              </a:rPr>
              <a:t>k</a:t>
            </a:r>
            <a:r>
              <a:rPr lang="mr-IN" sz="2000" b="1" dirty="0">
                <a:latin typeface="Courier New"/>
                <a:cs typeface="Courier New"/>
              </a:rPr>
              <a:t>] = </a:t>
            </a:r>
            <a:r>
              <a:rPr lang="mr-IN" sz="2000" b="1" dirty="0">
                <a:solidFill>
                  <a:srgbClr val="726056"/>
                </a:solidFill>
                <a:latin typeface="Courier New"/>
                <a:cs typeface="Courier New"/>
              </a:rPr>
              <a:t>a2</a:t>
            </a:r>
            <a:r>
              <a:rPr lang="mr-IN" sz="2000" b="1" dirty="0">
                <a:latin typeface="Courier New"/>
                <a:cs typeface="Courier New"/>
              </a:rPr>
              <a:t>[</a:t>
            </a:r>
            <a:r>
              <a:rPr lang="mr-IN" sz="2000" b="1" dirty="0">
                <a:solidFill>
                  <a:srgbClr val="726056"/>
                </a:solidFill>
                <a:latin typeface="Courier New"/>
                <a:cs typeface="Courier New"/>
              </a:rPr>
              <a:t>j</a:t>
            </a:r>
            <a:r>
              <a:rPr lang="mr-IN" sz="2000" b="1" dirty="0">
                <a:latin typeface="Courier New"/>
                <a:cs typeface="Courier New"/>
              </a:rPr>
              <a:t>];</a:t>
            </a:r>
            <a:r>
              <a:rPr lang="en-GB" sz="2000" b="1" dirty="0">
                <a:latin typeface="Courier New"/>
                <a:cs typeface="Courier New"/>
              </a:rPr>
              <a:t> k++; j++;</a:t>
            </a:r>
          </a:p>
          <a:p>
            <a:pPr>
              <a:buNone/>
              <a:tabLst>
                <a:tab pos="723900" algn="l"/>
                <a:tab pos="1079500" algn="l"/>
                <a:tab pos="1435100" algn="l"/>
                <a:tab pos="1790700" algn="l"/>
                <a:tab pos="2159000" algn="l"/>
              </a:tabLst>
            </a:pPr>
            <a:r>
              <a:rPr lang="en-GB" sz="2000" b="1" dirty="0">
                <a:latin typeface="Courier New"/>
                <a:cs typeface="Courier New"/>
              </a:rPr>
              <a:t>}</a:t>
            </a:r>
          </a:p>
          <a:p>
            <a:pPr eaLnBrk="1" hangingPunct="1">
              <a:buFont typeface="Wingdings" pitchFamily="2" charset="2"/>
              <a:buNone/>
              <a:tabLst>
                <a:tab pos="723900" algn="l"/>
                <a:tab pos="1079500" algn="l"/>
                <a:tab pos="1435100" algn="l"/>
                <a:tab pos="1790700" algn="l"/>
                <a:tab pos="2159000" algn="l"/>
              </a:tabLst>
            </a:pPr>
            <a:endParaRPr lang="en-US" altLang="en-US" sz="2000" dirty="0">
              <a:latin typeface="Courier New" pitchFamily="49" charset="0"/>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9</a:t>
            </a:fld>
            <a:endParaRPr lang="en-US"/>
          </a:p>
        </p:txBody>
      </p:sp>
    </p:spTree>
    <p:extLst>
      <p:ext uri="{BB962C8B-B14F-4D97-AF65-F5344CB8AC3E}">
        <p14:creationId xmlns:p14="http://schemas.microsoft.com/office/powerpoint/2010/main" val="2579717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ltLang="en-US" sz="3200" dirty="0"/>
              <a:t>Sorting</a:t>
            </a:r>
            <a:endParaRPr lang="en-GB" altLang="en-US" sz="3200" dirty="0"/>
          </a:p>
        </p:txBody>
      </p:sp>
      <p:sp>
        <p:nvSpPr>
          <p:cNvPr id="36867" name="Rectangle 3"/>
          <p:cNvSpPr>
            <a:spLocks noGrp="1" noChangeArrowheads="1"/>
          </p:cNvSpPr>
          <p:nvPr>
            <p:ph idx="1"/>
          </p:nvPr>
        </p:nvSpPr>
        <p:spPr>
          <a:noFill/>
        </p:spPr>
        <p:txBody>
          <a:bodyPr/>
          <a:lstStyle/>
          <a:p>
            <a:pPr eaLnBrk="1" hangingPunct="1"/>
            <a:r>
              <a:rPr lang="en-US" altLang="en-US" b="1" dirty="0"/>
              <a:t>Problem</a:t>
            </a:r>
            <a:r>
              <a:rPr lang="en-US" altLang="en-US" dirty="0"/>
              <a:t>: Given an unsorted array, rearrange its elements into ascending order.</a:t>
            </a:r>
          </a:p>
          <a:p>
            <a:pPr eaLnBrk="1" hangingPunct="1"/>
            <a:r>
              <a:rPr lang="en-US" altLang="en-US" dirty="0"/>
              <a:t>This is important because a sorted array can be searched and merged efficiently.</a:t>
            </a:r>
          </a:p>
          <a:p>
            <a:pPr eaLnBrk="1" hangingPunct="1"/>
            <a:r>
              <a:rPr lang="en-US" altLang="en-US" dirty="0"/>
              <a:t>There is a huge choice of algorithms:</a:t>
            </a:r>
          </a:p>
          <a:p>
            <a:pPr lvl="1" eaLnBrk="1" hangingPunct="1"/>
            <a:r>
              <a:rPr lang="en-US" altLang="en-US" b="1" dirty="0"/>
              <a:t>selection</a:t>
            </a:r>
            <a:r>
              <a:rPr lang="en-US" altLang="en-US" dirty="0"/>
              <a:t> </a:t>
            </a:r>
            <a:r>
              <a:rPr lang="en-US" altLang="en-US" b="1" dirty="0"/>
              <a:t>sort</a:t>
            </a:r>
          </a:p>
          <a:p>
            <a:pPr lvl="1" eaLnBrk="1" hangingPunct="1"/>
            <a:r>
              <a:rPr lang="en-US" altLang="en-US" dirty="0"/>
              <a:t>insertion sort</a:t>
            </a:r>
            <a:endParaRPr lang="en-US" altLang="en-US" i="1" dirty="0"/>
          </a:p>
          <a:p>
            <a:pPr lvl="1" eaLnBrk="1" hangingPunct="1"/>
            <a:r>
              <a:rPr lang="en-US" altLang="en-US" b="1" dirty="0"/>
              <a:t>merge-sort</a:t>
            </a:r>
          </a:p>
          <a:p>
            <a:pPr lvl="1" eaLnBrk="1" hangingPunct="1"/>
            <a:r>
              <a:rPr lang="en-US" altLang="en-US" b="1" dirty="0"/>
              <a:t>quick-sort</a:t>
            </a:r>
            <a:endParaRPr lang="en-US" altLang="en-US" dirty="0"/>
          </a:p>
          <a:p>
            <a:pPr lvl="1" eaLnBrk="1" hangingPunct="1"/>
            <a:r>
              <a:rPr lang="en-US" altLang="en-US" dirty="0"/>
              <a:t>shell-sort, radix sort, etc.</a:t>
            </a:r>
          </a:p>
        </p:txBody>
      </p:sp>
      <p:sp>
        <p:nvSpPr>
          <p:cNvPr id="389124" name="AutoShape 4"/>
          <p:cNvSpPr>
            <a:spLocks/>
          </p:cNvSpPr>
          <p:nvPr/>
        </p:nvSpPr>
        <p:spPr bwMode="auto">
          <a:xfrm>
            <a:off x="4732842" y="5029200"/>
            <a:ext cx="2700338" cy="250825"/>
          </a:xfrm>
          <a:prstGeom prst="callout1">
            <a:avLst>
              <a:gd name="adj1" fmla="val 45569"/>
              <a:gd name="adj2" fmla="val -2824"/>
              <a:gd name="adj3" fmla="val 115387"/>
              <a:gd name="adj4" fmla="val -32878"/>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lnSpc>
                <a:spcPts val="1800"/>
              </a:lnSpc>
              <a:spcBef>
                <a:spcPct val="0"/>
              </a:spcBef>
              <a:buClrTx/>
              <a:buFontTx/>
              <a:buNone/>
            </a:pPr>
            <a:r>
              <a:rPr lang="en-US" altLang="en-US" sz="1800" dirty="0">
                <a:solidFill>
                  <a:schemeClr val="accent1">
                    <a:lumMod val="50000"/>
                  </a:schemeClr>
                </a:solidFill>
              </a:rPr>
              <a:t>see Goodrich &amp; </a:t>
            </a:r>
            <a:r>
              <a:rPr lang="en-US" altLang="en-US" sz="1800" dirty="0" err="1">
                <a:solidFill>
                  <a:schemeClr val="accent1">
                    <a:lumMod val="50000"/>
                  </a:schemeClr>
                </a:solidFill>
              </a:rPr>
              <a:t>Tamassia</a:t>
            </a:r>
            <a:endParaRPr lang="en-US" altLang="en-US" sz="1800" dirty="0">
              <a:solidFill>
                <a:schemeClr val="accent1">
                  <a:lumMod val="50000"/>
                </a:schemeClr>
              </a:solidFill>
            </a:endParaRPr>
          </a:p>
        </p:txBody>
      </p:sp>
      <p:sp>
        <p:nvSpPr>
          <p:cNvPr id="389125" name="AutoShape 5"/>
          <p:cNvSpPr>
            <a:spLocks/>
          </p:cNvSpPr>
          <p:nvPr/>
        </p:nvSpPr>
        <p:spPr bwMode="auto">
          <a:xfrm>
            <a:off x="5181600" y="4114800"/>
            <a:ext cx="2700338" cy="250825"/>
          </a:xfrm>
          <a:prstGeom prst="callout1">
            <a:avLst>
              <a:gd name="adj1" fmla="val 45569"/>
              <a:gd name="adj2" fmla="val -2824"/>
              <a:gd name="adj3" fmla="val -93503"/>
              <a:gd name="adj4" fmla="val -77422"/>
            </a:avLst>
          </a:prstGeom>
          <a:noFill/>
          <a:ln w="9525">
            <a:solidFill>
              <a:schemeClr val="accent1">
                <a:lumMod val="75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lnSpc>
                <a:spcPts val="1800"/>
              </a:lnSpc>
              <a:spcBef>
                <a:spcPct val="0"/>
              </a:spcBef>
              <a:buClrTx/>
              <a:buFontTx/>
              <a:buNone/>
            </a:pPr>
            <a:r>
              <a:rPr lang="en-US" altLang="en-US" sz="1800" dirty="0">
                <a:solidFill>
                  <a:schemeClr val="accent1">
                    <a:lumMod val="50000"/>
                  </a:schemeClr>
                </a:solidFill>
              </a:rPr>
              <a:t>see Watt &amp; Brown</a:t>
            </a:r>
          </a:p>
        </p:txBody>
      </p:sp>
      <p:cxnSp>
        <p:nvCxnSpPr>
          <p:cNvPr id="3" name="Straight Connector 2"/>
          <p:cNvCxnSpPr/>
          <p:nvPr/>
        </p:nvCxnSpPr>
        <p:spPr>
          <a:xfrm>
            <a:off x="3048000" y="4255202"/>
            <a:ext cx="1905000"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3048000" y="4255202"/>
            <a:ext cx="1905000" cy="31679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3074233" y="4255202"/>
            <a:ext cx="1905000" cy="657577"/>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34055296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912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9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24" grpId="0" animBg="1"/>
      <p:bldP spid="38912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ltLang="en-US" sz="3200" dirty="0"/>
              <a:t>Selection sort </a:t>
            </a:r>
            <a:r>
              <a:rPr lang="en-US" altLang="en-US" sz="3200" i="1" dirty="0"/>
              <a:t>(1)</a:t>
            </a:r>
            <a:endParaRPr lang="en-GB" altLang="en-US" sz="3200" dirty="0"/>
          </a:p>
        </p:txBody>
      </p:sp>
      <p:sp>
        <p:nvSpPr>
          <p:cNvPr id="37891" name="Rectangle 3"/>
          <p:cNvSpPr>
            <a:spLocks noGrp="1" noChangeArrowheads="1"/>
          </p:cNvSpPr>
          <p:nvPr>
            <p:ph idx="1"/>
          </p:nvPr>
        </p:nvSpPr>
        <p:spPr>
          <a:noFill/>
        </p:spPr>
        <p:txBody>
          <a:bodyPr/>
          <a:lstStyle/>
          <a:p>
            <a:pPr eaLnBrk="1" hangingPunct="1"/>
            <a:r>
              <a:rPr lang="en-US" altLang="en-US"/>
              <a:t>Idea: Find the least element in the array, swap it into the leftmost slot (where it belongs). Repeat this, now ignoring the leftmost slot.</a:t>
            </a:r>
          </a:p>
        </p:txBody>
      </p:sp>
      <p:sp>
        <p:nvSpPr>
          <p:cNvPr id="2" name="Slide Number Placeholder 1"/>
          <p:cNvSpPr>
            <a:spLocks noGrp="1"/>
          </p:cNvSpPr>
          <p:nvPr>
            <p:ph type="sldNum" sz="quarter" idx="12"/>
          </p:nvPr>
        </p:nvSpPr>
        <p:spPr/>
        <p:txBody>
          <a:bodyPr/>
          <a:lstStyle/>
          <a:p>
            <a:fld id="{B6F15528-21DE-4FAA-801E-634DDDAF4B2B}" type="slidenum">
              <a:rPr lang="en-US" smtClean="0"/>
              <a:pPr/>
              <a:t>11</a:t>
            </a:fld>
            <a:endParaRPr lang="en-US"/>
          </a:p>
        </p:txBody>
      </p:sp>
    </p:spTree>
    <p:extLst>
      <p:ext uri="{BB962C8B-B14F-4D97-AF65-F5344CB8AC3E}">
        <p14:creationId xmlns:p14="http://schemas.microsoft.com/office/powerpoint/2010/main" val="1941971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en-US" sz="3200" dirty="0"/>
              <a:t>Selection sort </a:t>
            </a:r>
            <a:r>
              <a:rPr lang="en-US" altLang="en-US" sz="3200" i="1" dirty="0"/>
              <a:t>(2)</a:t>
            </a:r>
            <a:endParaRPr lang="en-GB" altLang="en-US" sz="3200" dirty="0"/>
          </a:p>
        </p:txBody>
      </p:sp>
      <p:sp>
        <p:nvSpPr>
          <p:cNvPr id="38915" name="Rectangle 3"/>
          <p:cNvSpPr>
            <a:spLocks noGrp="1" noChangeArrowheads="1"/>
          </p:cNvSpPr>
          <p:nvPr>
            <p:ph idx="1"/>
          </p:nvPr>
        </p:nvSpPr>
        <p:spPr>
          <a:xfrm>
            <a:off x="429419" y="1447800"/>
            <a:ext cx="7620000" cy="4800600"/>
          </a:xfrm>
          <a:noFill/>
        </p:spPr>
        <p:txBody>
          <a:bodyPr/>
          <a:lstStyle/>
          <a:p>
            <a:pPr eaLnBrk="1" hangingPunct="1">
              <a:tabLst>
                <a:tab pos="723900" algn="l"/>
                <a:tab pos="1257300" algn="l"/>
              </a:tabLst>
            </a:pPr>
            <a:r>
              <a:rPr lang="en-US" altLang="en-US" b="1" dirty="0"/>
              <a:t>Selection sort algorithm</a:t>
            </a:r>
            <a:r>
              <a:rPr lang="en-US" altLang="en-US" dirty="0"/>
              <a:t>:</a:t>
            </a:r>
          </a:p>
          <a:p>
            <a:pPr eaLnBrk="1" hangingPunct="1">
              <a:buFont typeface="Wingdings" pitchFamily="2" charset="2"/>
              <a:buNone/>
              <a:tabLst>
                <a:tab pos="723900" algn="l"/>
                <a:tab pos="1257300" algn="l"/>
              </a:tabLst>
            </a:pPr>
            <a:r>
              <a:rPr lang="en-US" altLang="en-US" sz="2000" dirty="0">
                <a:latin typeface="Times New Roman" pitchFamily="18" charset="0"/>
              </a:rPr>
              <a:t>	To sort </a:t>
            </a:r>
            <a:r>
              <a:rPr lang="en-US" altLang="en-US" sz="2000" i="1" dirty="0">
                <a:latin typeface="Times New Roman" pitchFamily="18" charset="0"/>
              </a:rPr>
              <a:t>a</a:t>
            </a:r>
            <a:r>
              <a:rPr lang="en-US" altLang="en-US" sz="2000" dirty="0">
                <a:latin typeface="Times New Roman" pitchFamily="18" charset="0"/>
              </a:rPr>
              <a:t>[</a:t>
            </a:r>
            <a:r>
              <a:rPr lang="en-US" altLang="en-US" sz="2000" i="1" dirty="0">
                <a:latin typeface="Times New Roman" pitchFamily="18" charset="0"/>
              </a:rPr>
              <a:t>left</a:t>
            </a:r>
            <a:r>
              <a:rPr lang="en-US" altLang="en-US" sz="2000" dirty="0">
                <a:latin typeface="Times New Roman" pitchFamily="18" charset="0"/>
              </a:rPr>
              <a:t>…</a:t>
            </a:r>
            <a:r>
              <a:rPr lang="en-US" altLang="en-US" sz="2000" i="1" dirty="0">
                <a:latin typeface="Times New Roman" pitchFamily="18" charset="0"/>
              </a:rPr>
              <a:t>right</a:t>
            </a:r>
            <a:r>
              <a:rPr lang="en-US" altLang="en-US" sz="2000" dirty="0">
                <a:latin typeface="Times New Roman" pitchFamily="18" charset="0"/>
              </a:rPr>
              <a:t>] into ascending order:</a:t>
            </a:r>
          </a:p>
          <a:p>
            <a:pPr eaLnBrk="1" hangingPunct="1">
              <a:buFont typeface="Wingdings" pitchFamily="2" charset="2"/>
              <a:buNone/>
              <a:tabLst>
                <a:tab pos="723900" algn="l"/>
                <a:tab pos="1257300" algn="l"/>
              </a:tabLst>
            </a:pPr>
            <a:r>
              <a:rPr lang="en-US" altLang="en-US" sz="2000" dirty="0">
                <a:latin typeface="Times New Roman" pitchFamily="18" charset="0"/>
              </a:rPr>
              <a:t>	1.	For </a:t>
            </a:r>
            <a:r>
              <a:rPr lang="en-US" altLang="en-US" sz="2000" i="1" dirty="0">
                <a:latin typeface="Times New Roman" pitchFamily="18" charset="0"/>
              </a:rPr>
              <a:t>l</a:t>
            </a:r>
            <a:r>
              <a:rPr lang="en-US" altLang="en-US" sz="2000" dirty="0">
                <a:latin typeface="Times New Roman" pitchFamily="18" charset="0"/>
              </a:rPr>
              <a:t> = </a:t>
            </a:r>
            <a:r>
              <a:rPr lang="en-US" altLang="en-US" sz="2000" i="1" dirty="0">
                <a:latin typeface="Times New Roman" pitchFamily="18" charset="0"/>
              </a:rPr>
              <a:t>left</a:t>
            </a:r>
            <a:r>
              <a:rPr lang="en-US" altLang="en-US" sz="2000" dirty="0">
                <a:latin typeface="Times New Roman" pitchFamily="18" charset="0"/>
              </a:rPr>
              <a:t>, …, </a:t>
            </a:r>
            <a:r>
              <a:rPr lang="en-US" altLang="en-US" sz="2000" i="1" dirty="0">
                <a:latin typeface="Times New Roman" pitchFamily="18" charset="0"/>
              </a:rPr>
              <a:t>right</a:t>
            </a:r>
            <a:r>
              <a:rPr lang="en-US" altLang="en-US" sz="2000" dirty="0">
                <a:latin typeface="Times New Roman" pitchFamily="18" charset="0"/>
              </a:rPr>
              <a:t>–1, repeat:</a:t>
            </a:r>
            <a:br>
              <a:rPr lang="en-US" altLang="en-US" sz="2000" dirty="0">
                <a:latin typeface="Times New Roman" pitchFamily="18" charset="0"/>
              </a:rPr>
            </a:br>
            <a:r>
              <a:rPr lang="en-US" altLang="en-US" sz="2000" dirty="0">
                <a:latin typeface="Times New Roman" pitchFamily="18" charset="0"/>
              </a:rPr>
              <a:t>	1.1.	Set </a:t>
            </a:r>
            <a:r>
              <a:rPr lang="en-US" altLang="en-US" sz="2000" i="1" dirty="0">
                <a:latin typeface="Times New Roman" pitchFamily="18" charset="0"/>
              </a:rPr>
              <a:t>p</a:t>
            </a:r>
            <a:r>
              <a:rPr lang="en-US" altLang="en-US" sz="2000" dirty="0">
                <a:latin typeface="Times New Roman" pitchFamily="18" charset="0"/>
              </a:rPr>
              <a:t> such that </a:t>
            </a:r>
            <a:r>
              <a:rPr lang="en-US" altLang="en-US" sz="2000" i="1" dirty="0">
                <a:latin typeface="Times New Roman" pitchFamily="18" charset="0"/>
              </a:rPr>
              <a:t>a</a:t>
            </a:r>
            <a:r>
              <a:rPr lang="en-US" altLang="en-US" sz="2000" dirty="0">
                <a:latin typeface="Times New Roman" pitchFamily="18" charset="0"/>
              </a:rPr>
              <a:t>[</a:t>
            </a:r>
            <a:r>
              <a:rPr lang="en-US" altLang="en-US" sz="2000" i="1" dirty="0">
                <a:latin typeface="Times New Roman" pitchFamily="18" charset="0"/>
              </a:rPr>
              <a:t>p</a:t>
            </a:r>
            <a:r>
              <a:rPr lang="en-US" altLang="en-US" sz="2000" dirty="0">
                <a:latin typeface="Times New Roman" pitchFamily="18" charset="0"/>
              </a:rPr>
              <a:t>] is the least of </a:t>
            </a:r>
            <a:r>
              <a:rPr lang="en-US" altLang="en-US" sz="2000" i="1" dirty="0">
                <a:latin typeface="Times New Roman" pitchFamily="18" charset="0"/>
              </a:rPr>
              <a:t>a</a:t>
            </a:r>
            <a:r>
              <a:rPr lang="en-US" altLang="en-US" sz="2000" dirty="0">
                <a:latin typeface="Times New Roman" pitchFamily="18" charset="0"/>
              </a:rPr>
              <a:t>[</a:t>
            </a:r>
            <a:r>
              <a:rPr lang="en-US" altLang="en-US" sz="2000" i="1" dirty="0">
                <a:latin typeface="Times New Roman" pitchFamily="18" charset="0"/>
              </a:rPr>
              <a:t>l</a:t>
            </a:r>
            <a:r>
              <a:rPr lang="en-US" altLang="en-US" sz="2000" dirty="0">
                <a:latin typeface="Times New Roman" pitchFamily="18" charset="0"/>
              </a:rPr>
              <a:t>…</a:t>
            </a:r>
            <a:r>
              <a:rPr lang="en-US" altLang="en-US" sz="2000" i="1" dirty="0">
                <a:latin typeface="Times New Roman" pitchFamily="18" charset="0"/>
              </a:rPr>
              <a:t>right</a:t>
            </a:r>
            <a:r>
              <a:rPr lang="en-US" altLang="en-US" sz="2000" dirty="0">
                <a:latin typeface="Times New Roman" pitchFamily="18" charset="0"/>
              </a:rPr>
              <a:t>].</a:t>
            </a:r>
            <a:br>
              <a:rPr lang="en-US" altLang="en-US" sz="2000" dirty="0">
                <a:latin typeface="Times New Roman" pitchFamily="18" charset="0"/>
              </a:rPr>
            </a:br>
            <a:r>
              <a:rPr lang="en-US" altLang="en-US" sz="2000" dirty="0">
                <a:latin typeface="Times New Roman" pitchFamily="18" charset="0"/>
              </a:rPr>
              <a:t>	1.2.	If </a:t>
            </a:r>
            <a:r>
              <a:rPr lang="en-US" altLang="en-US" sz="2000" i="1" dirty="0">
                <a:latin typeface="Times New Roman" pitchFamily="18" charset="0"/>
              </a:rPr>
              <a:t>p</a:t>
            </a:r>
            <a:r>
              <a:rPr lang="en-US" altLang="en-US" sz="2000" dirty="0">
                <a:latin typeface="Times New Roman" pitchFamily="18" charset="0"/>
              </a:rPr>
              <a:t> </a:t>
            </a:r>
            <a:r>
              <a:rPr lang="en-US" altLang="en-US" sz="2000" dirty="0">
                <a:latin typeface="Times New Roman" pitchFamily="18" charset="0"/>
                <a:sym typeface="Symbol" pitchFamily="18" charset="2"/>
              </a:rPr>
              <a:t></a:t>
            </a:r>
            <a:r>
              <a:rPr lang="en-US" altLang="en-US" sz="2000" dirty="0">
                <a:latin typeface="Times New Roman" pitchFamily="18" charset="0"/>
              </a:rPr>
              <a:t> </a:t>
            </a:r>
            <a:r>
              <a:rPr lang="en-US" altLang="en-US" sz="2000" i="1" dirty="0">
                <a:latin typeface="Times New Roman" pitchFamily="18" charset="0"/>
              </a:rPr>
              <a:t>l</a:t>
            </a:r>
            <a:r>
              <a:rPr lang="en-US" altLang="en-US" sz="2000" dirty="0">
                <a:latin typeface="Times New Roman" pitchFamily="18" charset="0"/>
              </a:rPr>
              <a:t>, swap </a:t>
            </a:r>
            <a:r>
              <a:rPr lang="en-US" altLang="en-US" sz="2000" i="1" dirty="0">
                <a:latin typeface="Times New Roman" pitchFamily="18" charset="0"/>
              </a:rPr>
              <a:t>a</a:t>
            </a:r>
            <a:r>
              <a:rPr lang="en-US" altLang="en-US" sz="2000" dirty="0">
                <a:latin typeface="Times New Roman" pitchFamily="18" charset="0"/>
              </a:rPr>
              <a:t>[</a:t>
            </a:r>
            <a:r>
              <a:rPr lang="en-US" altLang="en-US" sz="2000" i="1" dirty="0">
                <a:latin typeface="Times New Roman" pitchFamily="18" charset="0"/>
              </a:rPr>
              <a:t>p</a:t>
            </a:r>
            <a:r>
              <a:rPr lang="en-US" altLang="en-US" sz="2000" dirty="0">
                <a:latin typeface="Times New Roman" pitchFamily="18" charset="0"/>
              </a:rPr>
              <a:t>] and </a:t>
            </a:r>
            <a:r>
              <a:rPr lang="en-US" altLang="en-US" sz="2000" i="1" dirty="0">
                <a:latin typeface="Times New Roman" pitchFamily="18" charset="0"/>
              </a:rPr>
              <a:t>a</a:t>
            </a:r>
            <a:r>
              <a:rPr lang="en-US" altLang="en-US" sz="2000" dirty="0">
                <a:latin typeface="Times New Roman" pitchFamily="18" charset="0"/>
              </a:rPr>
              <a:t>[</a:t>
            </a:r>
            <a:r>
              <a:rPr lang="en-US" altLang="en-US" sz="2000" i="1" dirty="0">
                <a:latin typeface="Times New Roman" pitchFamily="18" charset="0"/>
              </a:rPr>
              <a:t>l</a:t>
            </a:r>
            <a:r>
              <a:rPr lang="en-US" altLang="en-US" sz="2000" dirty="0">
                <a:latin typeface="Times New Roman" pitchFamily="18" charset="0"/>
              </a:rPr>
              <a:t>].</a:t>
            </a:r>
            <a:br>
              <a:rPr lang="en-US" altLang="en-US" sz="2000" dirty="0">
                <a:latin typeface="Times New Roman" pitchFamily="18" charset="0"/>
              </a:rPr>
            </a:br>
            <a:r>
              <a:rPr lang="en-US" altLang="en-US" sz="2000" dirty="0">
                <a:latin typeface="Times New Roman" pitchFamily="18" charset="0"/>
              </a:rPr>
              <a:t>2.	Terminate.</a:t>
            </a:r>
          </a:p>
          <a:p>
            <a:pPr eaLnBrk="1" hangingPunct="1">
              <a:tabLst>
                <a:tab pos="723900" algn="l"/>
                <a:tab pos="1257300" algn="l"/>
              </a:tabLst>
            </a:pPr>
            <a:r>
              <a:rPr lang="en-US" altLang="en-US" dirty="0"/>
              <a:t>Loop invariant:</a:t>
            </a:r>
          </a:p>
        </p:txBody>
      </p:sp>
      <p:grpSp>
        <p:nvGrpSpPr>
          <p:cNvPr id="2" name="Group 32"/>
          <p:cNvGrpSpPr>
            <a:grpSpLocks/>
          </p:cNvGrpSpPr>
          <p:nvPr/>
        </p:nvGrpSpPr>
        <p:grpSpPr bwMode="auto">
          <a:xfrm>
            <a:off x="543719" y="4154487"/>
            <a:ext cx="6392862" cy="1165225"/>
            <a:chOff x="1247" y="2840"/>
            <a:chExt cx="4027" cy="734"/>
          </a:xfrm>
        </p:grpSpPr>
        <p:grpSp>
          <p:nvGrpSpPr>
            <p:cNvPr id="38917" name="Group 30"/>
            <p:cNvGrpSpPr>
              <a:grpSpLocks/>
            </p:cNvGrpSpPr>
            <p:nvPr/>
          </p:nvGrpSpPr>
          <p:grpSpPr bwMode="auto">
            <a:xfrm>
              <a:off x="1429" y="3317"/>
              <a:ext cx="1872" cy="257"/>
              <a:chOff x="1429" y="3317"/>
              <a:chExt cx="1872" cy="257"/>
            </a:xfrm>
          </p:grpSpPr>
          <p:sp>
            <p:nvSpPr>
              <p:cNvPr id="38939" name="Freeform 5"/>
              <p:cNvSpPr>
                <a:spLocks/>
              </p:cNvSpPr>
              <p:nvPr/>
            </p:nvSpPr>
            <p:spPr bwMode="auto">
              <a:xfrm>
                <a:off x="1429" y="3317"/>
                <a:ext cx="1872" cy="96"/>
              </a:xfrm>
              <a:custGeom>
                <a:avLst/>
                <a:gdLst>
                  <a:gd name="T0" fmla="*/ 0 w 2099"/>
                  <a:gd name="T1" fmla="*/ 0 h 137"/>
                  <a:gd name="T2" fmla="*/ 4 w 2099"/>
                  <a:gd name="T3" fmla="*/ 4 h 137"/>
                  <a:gd name="T4" fmla="*/ 9 w 2099"/>
                  <a:gd name="T5" fmla="*/ 6 h 137"/>
                  <a:gd name="T6" fmla="*/ 20 w 2099"/>
                  <a:gd name="T7" fmla="*/ 9 h 137"/>
                  <a:gd name="T8" fmla="*/ 33 w 2099"/>
                  <a:gd name="T9" fmla="*/ 13 h 137"/>
                  <a:gd name="T10" fmla="*/ 49 w 2099"/>
                  <a:gd name="T11" fmla="*/ 14 h 137"/>
                  <a:gd name="T12" fmla="*/ 68 w 2099"/>
                  <a:gd name="T13" fmla="*/ 15 h 137"/>
                  <a:gd name="T14" fmla="*/ 88 w 2099"/>
                  <a:gd name="T15" fmla="*/ 17 h 137"/>
                  <a:gd name="T16" fmla="*/ 111 w 2099"/>
                  <a:gd name="T17" fmla="*/ 17 h 137"/>
                  <a:gd name="T18" fmla="*/ 554 w 2099"/>
                  <a:gd name="T19" fmla="*/ 17 h 137"/>
                  <a:gd name="T20" fmla="*/ 575 w 2099"/>
                  <a:gd name="T21" fmla="*/ 18 h 137"/>
                  <a:gd name="T22" fmla="*/ 596 w 2099"/>
                  <a:gd name="T23" fmla="*/ 18 h 137"/>
                  <a:gd name="T24" fmla="*/ 615 w 2099"/>
                  <a:gd name="T25" fmla="*/ 20 h 137"/>
                  <a:gd name="T26" fmla="*/ 631 w 2099"/>
                  <a:gd name="T27" fmla="*/ 21 h 137"/>
                  <a:gd name="T28" fmla="*/ 645 w 2099"/>
                  <a:gd name="T29" fmla="*/ 24 h 137"/>
                  <a:gd name="T30" fmla="*/ 656 w 2099"/>
                  <a:gd name="T31" fmla="*/ 27 h 137"/>
                  <a:gd name="T32" fmla="*/ 662 w 2099"/>
                  <a:gd name="T33" fmla="*/ 29 h 137"/>
                  <a:gd name="T34" fmla="*/ 664 w 2099"/>
                  <a:gd name="T35" fmla="*/ 33 h 137"/>
                  <a:gd name="T36" fmla="*/ 665 w 2099"/>
                  <a:gd name="T37" fmla="*/ 29 h 137"/>
                  <a:gd name="T38" fmla="*/ 672 w 2099"/>
                  <a:gd name="T39" fmla="*/ 27 h 137"/>
                  <a:gd name="T40" fmla="*/ 683 w 2099"/>
                  <a:gd name="T41" fmla="*/ 24 h 137"/>
                  <a:gd name="T42" fmla="*/ 697 w 2099"/>
                  <a:gd name="T43" fmla="*/ 21 h 137"/>
                  <a:gd name="T44" fmla="*/ 713 w 2099"/>
                  <a:gd name="T45" fmla="*/ 20 h 137"/>
                  <a:gd name="T46" fmla="*/ 732 w 2099"/>
                  <a:gd name="T47" fmla="*/ 18 h 137"/>
                  <a:gd name="T48" fmla="*/ 753 w 2099"/>
                  <a:gd name="T49" fmla="*/ 18 h 137"/>
                  <a:gd name="T50" fmla="*/ 776 w 2099"/>
                  <a:gd name="T51" fmla="*/ 17 h 137"/>
                  <a:gd name="T52" fmla="*/ 1217 w 2099"/>
                  <a:gd name="T53" fmla="*/ 17 h 137"/>
                  <a:gd name="T54" fmla="*/ 1240 w 2099"/>
                  <a:gd name="T55" fmla="*/ 17 h 137"/>
                  <a:gd name="T56" fmla="*/ 1261 w 2099"/>
                  <a:gd name="T57" fmla="*/ 15 h 137"/>
                  <a:gd name="T58" fmla="*/ 1280 w 2099"/>
                  <a:gd name="T59" fmla="*/ 14 h 137"/>
                  <a:gd name="T60" fmla="*/ 1296 w 2099"/>
                  <a:gd name="T61" fmla="*/ 13 h 137"/>
                  <a:gd name="T62" fmla="*/ 1308 w 2099"/>
                  <a:gd name="T63" fmla="*/ 9 h 137"/>
                  <a:gd name="T64" fmla="*/ 1320 w 2099"/>
                  <a:gd name="T65" fmla="*/ 6 h 137"/>
                  <a:gd name="T66" fmla="*/ 1326 w 2099"/>
                  <a:gd name="T67" fmla="*/ 4 h 137"/>
                  <a:gd name="T68" fmla="*/ 1328 w 2099"/>
                  <a:gd name="T69" fmla="*/ 0 h 1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099"/>
                  <a:gd name="T106" fmla="*/ 0 h 137"/>
                  <a:gd name="T107" fmla="*/ 2099 w 2099"/>
                  <a:gd name="T108" fmla="*/ 137 h 1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099" h="137">
                    <a:moveTo>
                      <a:pt x="0" y="0"/>
                    </a:moveTo>
                    <a:lnTo>
                      <a:pt x="4" y="14"/>
                    </a:lnTo>
                    <a:lnTo>
                      <a:pt x="13" y="27"/>
                    </a:lnTo>
                    <a:lnTo>
                      <a:pt x="31" y="39"/>
                    </a:lnTo>
                    <a:lnTo>
                      <a:pt x="52" y="50"/>
                    </a:lnTo>
                    <a:lnTo>
                      <a:pt x="77" y="58"/>
                    </a:lnTo>
                    <a:lnTo>
                      <a:pt x="107" y="64"/>
                    </a:lnTo>
                    <a:lnTo>
                      <a:pt x="140" y="68"/>
                    </a:lnTo>
                    <a:lnTo>
                      <a:pt x="175" y="69"/>
                    </a:lnTo>
                    <a:lnTo>
                      <a:pt x="875" y="69"/>
                    </a:lnTo>
                    <a:lnTo>
                      <a:pt x="909" y="71"/>
                    </a:lnTo>
                    <a:lnTo>
                      <a:pt x="942" y="75"/>
                    </a:lnTo>
                    <a:lnTo>
                      <a:pt x="973" y="81"/>
                    </a:lnTo>
                    <a:lnTo>
                      <a:pt x="998" y="89"/>
                    </a:lnTo>
                    <a:lnTo>
                      <a:pt x="1019" y="100"/>
                    </a:lnTo>
                    <a:lnTo>
                      <a:pt x="1036" y="112"/>
                    </a:lnTo>
                    <a:lnTo>
                      <a:pt x="1046" y="123"/>
                    </a:lnTo>
                    <a:lnTo>
                      <a:pt x="1050" y="137"/>
                    </a:lnTo>
                    <a:lnTo>
                      <a:pt x="1053" y="123"/>
                    </a:lnTo>
                    <a:lnTo>
                      <a:pt x="1063" y="112"/>
                    </a:lnTo>
                    <a:lnTo>
                      <a:pt x="1080" y="100"/>
                    </a:lnTo>
                    <a:lnTo>
                      <a:pt x="1102" y="89"/>
                    </a:lnTo>
                    <a:lnTo>
                      <a:pt x="1127" y="81"/>
                    </a:lnTo>
                    <a:lnTo>
                      <a:pt x="1157" y="75"/>
                    </a:lnTo>
                    <a:lnTo>
                      <a:pt x="1190" y="71"/>
                    </a:lnTo>
                    <a:lnTo>
                      <a:pt x="1225" y="69"/>
                    </a:lnTo>
                    <a:lnTo>
                      <a:pt x="1925" y="69"/>
                    </a:lnTo>
                    <a:lnTo>
                      <a:pt x="1959" y="68"/>
                    </a:lnTo>
                    <a:lnTo>
                      <a:pt x="1992" y="64"/>
                    </a:lnTo>
                    <a:lnTo>
                      <a:pt x="2023" y="58"/>
                    </a:lnTo>
                    <a:lnTo>
                      <a:pt x="2048" y="50"/>
                    </a:lnTo>
                    <a:lnTo>
                      <a:pt x="2069" y="39"/>
                    </a:lnTo>
                    <a:lnTo>
                      <a:pt x="2086" y="27"/>
                    </a:lnTo>
                    <a:lnTo>
                      <a:pt x="2096" y="14"/>
                    </a:lnTo>
                    <a:lnTo>
                      <a:pt x="2099" y="0"/>
                    </a:lnTo>
                  </a:path>
                </a:pathLst>
              </a:custGeom>
              <a:noFill/>
              <a:ln w="19050" cap="flat">
                <a:solidFill>
                  <a:schemeClr val="accent1">
                    <a:lumMod val="75000"/>
                  </a:schemeClr>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8940" name="Rectangle 6"/>
              <p:cNvSpPr>
                <a:spLocks noChangeArrowheads="1"/>
              </p:cNvSpPr>
              <p:nvPr/>
            </p:nvSpPr>
            <p:spPr bwMode="auto">
              <a:xfrm>
                <a:off x="1463" y="3430"/>
                <a:ext cx="180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lnSpc>
                    <a:spcPts val="1800"/>
                  </a:lnSpc>
                  <a:spcBef>
                    <a:spcPct val="0"/>
                  </a:spcBef>
                  <a:buClrTx/>
                  <a:buFontTx/>
                  <a:buNone/>
                </a:pPr>
                <a:r>
                  <a:rPr lang="en-US" altLang="en-US" sz="1800" dirty="0">
                    <a:solidFill>
                      <a:schemeClr val="accent1">
                        <a:lumMod val="50000"/>
                      </a:schemeClr>
                    </a:solidFill>
                  </a:rPr>
                  <a:t>lesser elements (sorted)</a:t>
                </a:r>
              </a:p>
            </p:txBody>
          </p:sp>
        </p:grpSp>
        <p:grpSp>
          <p:nvGrpSpPr>
            <p:cNvPr id="38918" name="Group 31"/>
            <p:cNvGrpSpPr>
              <a:grpSpLocks/>
            </p:cNvGrpSpPr>
            <p:nvPr/>
          </p:nvGrpSpPr>
          <p:grpSpPr bwMode="auto">
            <a:xfrm>
              <a:off x="3368" y="3317"/>
              <a:ext cx="1854" cy="257"/>
              <a:chOff x="3368" y="3317"/>
              <a:chExt cx="1854" cy="257"/>
            </a:xfrm>
          </p:grpSpPr>
          <p:sp>
            <p:nvSpPr>
              <p:cNvPr id="38937" name="Freeform 8"/>
              <p:cNvSpPr>
                <a:spLocks/>
              </p:cNvSpPr>
              <p:nvPr/>
            </p:nvSpPr>
            <p:spPr bwMode="auto">
              <a:xfrm>
                <a:off x="3368" y="3317"/>
                <a:ext cx="1854" cy="96"/>
              </a:xfrm>
              <a:custGeom>
                <a:avLst/>
                <a:gdLst>
                  <a:gd name="T0" fmla="*/ 0 w 1644"/>
                  <a:gd name="T1" fmla="*/ 0 h 137"/>
                  <a:gd name="T2" fmla="*/ 2 w 1644"/>
                  <a:gd name="T3" fmla="*/ 4 h 137"/>
                  <a:gd name="T4" fmla="*/ 20 w 1644"/>
                  <a:gd name="T5" fmla="*/ 6 h 137"/>
                  <a:gd name="T6" fmla="*/ 38 w 1644"/>
                  <a:gd name="T7" fmla="*/ 9 h 137"/>
                  <a:gd name="T8" fmla="*/ 67 w 1644"/>
                  <a:gd name="T9" fmla="*/ 13 h 137"/>
                  <a:gd name="T10" fmla="*/ 98 w 1644"/>
                  <a:gd name="T11" fmla="*/ 14 h 137"/>
                  <a:gd name="T12" fmla="*/ 135 w 1644"/>
                  <a:gd name="T13" fmla="*/ 15 h 137"/>
                  <a:gd name="T14" fmla="*/ 178 w 1644"/>
                  <a:gd name="T15" fmla="*/ 17 h 137"/>
                  <a:gd name="T16" fmla="*/ 222 w 1644"/>
                  <a:gd name="T17" fmla="*/ 17 h 137"/>
                  <a:gd name="T18" fmla="*/ 1109 w 1644"/>
                  <a:gd name="T19" fmla="*/ 17 h 137"/>
                  <a:gd name="T20" fmla="*/ 1155 w 1644"/>
                  <a:gd name="T21" fmla="*/ 18 h 137"/>
                  <a:gd name="T22" fmla="*/ 1194 w 1644"/>
                  <a:gd name="T23" fmla="*/ 18 h 137"/>
                  <a:gd name="T24" fmla="*/ 1233 w 1644"/>
                  <a:gd name="T25" fmla="*/ 20 h 137"/>
                  <a:gd name="T26" fmla="*/ 1266 w 1644"/>
                  <a:gd name="T27" fmla="*/ 21 h 137"/>
                  <a:gd name="T28" fmla="*/ 1294 w 1644"/>
                  <a:gd name="T29" fmla="*/ 24 h 137"/>
                  <a:gd name="T30" fmla="*/ 1314 w 1644"/>
                  <a:gd name="T31" fmla="*/ 27 h 137"/>
                  <a:gd name="T32" fmla="*/ 1328 w 1644"/>
                  <a:gd name="T33" fmla="*/ 29 h 137"/>
                  <a:gd name="T34" fmla="*/ 1332 w 1644"/>
                  <a:gd name="T35" fmla="*/ 33 h 137"/>
                  <a:gd name="T36" fmla="*/ 1334 w 1644"/>
                  <a:gd name="T37" fmla="*/ 29 h 137"/>
                  <a:gd name="T38" fmla="*/ 1351 w 1644"/>
                  <a:gd name="T39" fmla="*/ 27 h 137"/>
                  <a:gd name="T40" fmla="*/ 1370 w 1644"/>
                  <a:gd name="T41" fmla="*/ 24 h 137"/>
                  <a:gd name="T42" fmla="*/ 1396 w 1644"/>
                  <a:gd name="T43" fmla="*/ 21 h 137"/>
                  <a:gd name="T44" fmla="*/ 1428 w 1644"/>
                  <a:gd name="T45" fmla="*/ 20 h 137"/>
                  <a:gd name="T46" fmla="*/ 1466 w 1644"/>
                  <a:gd name="T47" fmla="*/ 18 h 137"/>
                  <a:gd name="T48" fmla="*/ 1508 w 1644"/>
                  <a:gd name="T49" fmla="*/ 18 h 137"/>
                  <a:gd name="T50" fmla="*/ 1553 w 1644"/>
                  <a:gd name="T51" fmla="*/ 17 h 137"/>
                  <a:gd name="T52" fmla="*/ 2439 w 1644"/>
                  <a:gd name="T53" fmla="*/ 17 h 137"/>
                  <a:gd name="T54" fmla="*/ 2482 w 1644"/>
                  <a:gd name="T55" fmla="*/ 17 h 137"/>
                  <a:gd name="T56" fmla="*/ 2527 w 1644"/>
                  <a:gd name="T57" fmla="*/ 15 h 137"/>
                  <a:gd name="T58" fmla="*/ 2562 w 1644"/>
                  <a:gd name="T59" fmla="*/ 14 h 137"/>
                  <a:gd name="T60" fmla="*/ 2595 w 1644"/>
                  <a:gd name="T61" fmla="*/ 13 h 137"/>
                  <a:gd name="T62" fmla="*/ 2622 w 1644"/>
                  <a:gd name="T63" fmla="*/ 9 h 137"/>
                  <a:gd name="T64" fmla="*/ 2641 w 1644"/>
                  <a:gd name="T65" fmla="*/ 6 h 137"/>
                  <a:gd name="T66" fmla="*/ 2658 w 1644"/>
                  <a:gd name="T67" fmla="*/ 4 h 137"/>
                  <a:gd name="T68" fmla="*/ 2659 w 1644"/>
                  <a:gd name="T69" fmla="*/ 0 h 1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644"/>
                  <a:gd name="T106" fmla="*/ 0 h 137"/>
                  <a:gd name="T107" fmla="*/ 1644 w 1644"/>
                  <a:gd name="T108" fmla="*/ 137 h 13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644" h="137">
                    <a:moveTo>
                      <a:pt x="0" y="0"/>
                    </a:moveTo>
                    <a:lnTo>
                      <a:pt x="2" y="14"/>
                    </a:lnTo>
                    <a:lnTo>
                      <a:pt x="12" y="27"/>
                    </a:lnTo>
                    <a:lnTo>
                      <a:pt x="24" y="39"/>
                    </a:lnTo>
                    <a:lnTo>
                      <a:pt x="41" y="50"/>
                    </a:lnTo>
                    <a:lnTo>
                      <a:pt x="60" y="58"/>
                    </a:lnTo>
                    <a:lnTo>
                      <a:pt x="83" y="64"/>
                    </a:lnTo>
                    <a:lnTo>
                      <a:pt x="110" y="68"/>
                    </a:lnTo>
                    <a:lnTo>
                      <a:pt x="137" y="69"/>
                    </a:lnTo>
                    <a:lnTo>
                      <a:pt x="685" y="69"/>
                    </a:lnTo>
                    <a:lnTo>
                      <a:pt x="714" y="71"/>
                    </a:lnTo>
                    <a:lnTo>
                      <a:pt x="739" y="75"/>
                    </a:lnTo>
                    <a:lnTo>
                      <a:pt x="762" y="81"/>
                    </a:lnTo>
                    <a:lnTo>
                      <a:pt x="783" y="89"/>
                    </a:lnTo>
                    <a:lnTo>
                      <a:pt x="800" y="100"/>
                    </a:lnTo>
                    <a:lnTo>
                      <a:pt x="812" y="112"/>
                    </a:lnTo>
                    <a:lnTo>
                      <a:pt x="822" y="123"/>
                    </a:lnTo>
                    <a:lnTo>
                      <a:pt x="823" y="137"/>
                    </a:lnTo>
                    <a:lnTo>
                      <a:pt x="825" y="123"/>
                    </a:lnTo>
                    <a:lnTo>
                      <a:pt x="835" y="112"/>
                    </a:lnTo>
                    <a:lnTo>
                      <a:pt x="847" y="100"/>
                    </a:lnTo>
                    <a:lnTo>
                      <a:pt x="864" y="89"/>
                    </a:lnTo>
                    <a:lnTo>
                      <a:pt x="883" y="81"/>
                    </a:lnTo>
                    <a:lnTo>
                      <a:pt x="906" y="75"/>
                    </a:lnTo>
                    <a:lnTo>
                      <a:pt x="933" y="71"/>
                    </a:lnTo>
                    <a:lnTo>
                      <a:pt x="960" y="69"/>
                    </a:lnTo>
                    <a:lnTo>
                      <a:pt x="1508" y="69"/>
                    </a:lnTo>
                    <a:lnTo>
                      <a:pt x="1535" y="68"/>
                    </a:lnTo>
                    <a:lnTo>
                      <a:pt x="1562" y="64"/>
                    </a:lnTo>
                    <a:lnTo>
                      <a:pt x="1585" y="58"/>
                    </a:lnTo>
                    <a:lnTo>
                      <a:pt x="1604" y="50"/>
                    </a:lnTo>
                    <a:lnTo>
                      <a:pt x="1621" y="39"/>
                    </a:lnTo>
                    <a:lnTo>
                      <a:pt x="1633" y="27"/>
                    </a:lnTo>
                    <a:lnTo>
                      <a:pt x="1643" y="14"/>
                    </a:lnTo>
                    <a:lnTo>
                      <a:pt x="1644" y="0"/>
                    </a:lnTo>
                  </a:path>
                </a:pathLst>
              </a:custGeom>
              <a:noFill/>
              <a:ln w="19050" cap="flat">
                <a:solidFill>
                  <a:schemeClr val="accent1">
                    <a:lumMod val="75000"/>
                  </a:schemeClr>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8938" name="Rectangle 9"/>
              <p:cNvSpPr>
                <a:spLocks noChangeArrowheads="1"/>
              </p:cNvSpPr>
              <p:nvPr/>
            </p:nvSpPr>
            <p:spPr bwMode="auto">
              <a:xfrm>
                <a:off x="3383" y="3430"/>
                <a:ext cx="182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lnSpc>
                    <a:spcPts val="1800"/>
                  </a:lnSpc>
                  <a:spcBef>
                    <a:spcPct val="0"/>
                  </a:spcBef>
                  <a:buClrTx/>
                  <a:buFontTx/>
                  <a:buNone/>
                </a:pPr>
                <a:r>
                  <a:rPr lang="en-US" altLang="en-US" sz="1800">
                    <a:solidFill>
                      <a:schemeClr val="accent1">
                        <a:lumMod val="50000"/>
                      </a:schemeClr>
                    </a:solidFill>
                  </a:rPr>
                  <a:t>greater elements (unsorted)</a:t>
                </a:r>
              </a:p>
            </p:txBody>
          </p:sp>
        </p:grpSp>
        <p:grpSp>
          <p:nvGrpSpPr>
            <p:cNvPr id="38919" name="Group 29"/>
            <p:cNvGrpSpPr>
              <a:grpSpLocks/>
            </p:cNvGrpSpPr>
            <p:nvPr/>
          </p:nvGrpSpPr>
          <p:grpSpPr bwMode="auto">
            <a:xfrm>
              <a:off x="1247" y="2840"/>
              <a:ext cx="4027" cy="480"/>
              <a:chOff x="1247" y="2840"/>
              <a:chExt cx="4027" cy="480"/>
            </a:xfrm>
          </p:grpSpPr>
          <p:sp>
            <p:nvSpPr>
              <p:cNvPr id="38920" name="Rectangle 11"/>
              <p:cNvSpPr>
                <a:spLocks noChangeArrowheads="1"/>
              </p:cNvSpPr>
              <p:nvPr/>
            </p:nvSpPr>
            <p:spPr bwMode="auto">
              <a:xfrm>
                <a:off x="1876" y="2850"/>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left</a:t>
                </a:r>
                <a:r>
                  <a:rPr lang="en-US" altLang="en-US" sz="1800">
                    <a:solidFill>
                      <a:srgbClr val="000000"/>
                    </a:solidFill>
                  </a:rPr>
                  <a:t>+1</a:t>
                </a:r>
              </a:p>
            </p:txBody>
          </p:sp>
          <p:sp>
            <p:nvSpPr>
              <p:cNvPr id="38921" name="Rectangle 13"/>
              <p:cNvSpPr>
                <a:spLocks noChangeArrowheads="1"/>
              </p:cNvSpPr>
              <p:nvPr/>
            </p:nvSpPr>
            <p:spPr bwMode="auto">
              <a:xfrm>
                <a:off x="1247" y="3033"/>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rgbClr val="000000"/>
                    </a:solidFill>
                  </a:rPr>
                  <a:t>a</a:t>
                </a:r>
                <a:endParaRPr lang="en-US" altLang="en-US" sz="1800"/>
              </a:p>
            </p:txBody>
          </p:sp>
          <p:sp>
            <p:nvSpPr>
              <p:cNvPr id="38922" name="Rectangle 14"/>
              <p:cNvSpPr>
                <a:spLocks noChangeArrowheads="1"/>
              </p:cNvSpPr>
              <p:nvPr/>
            </p:nvSpPr>
            <p:spPr bwMode="auto">
              <a:xfrm>
                <a:off x="1396" y="3023"/>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38923" name="Rectangle 15"/>
              <p:cNvSpPr>
                <a:spLocks noChangeArrowheads="1"/>
              </p:cNvSpPr>
              <p:nvPr/>
            </p:nvSpPr>
            <p:spPr bwMode="auto">
              <a:xfrm>
                <a:off x="1876" y="3023"/>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38924" name="Rectangle 16"/>
              <p:cNvSpPr>
                <a:spLocks noChangeArrowheads="1"/>
              </p:cNvSpPr>
              <p:nvPr/>
            </p:nvSpPr>
            <p:spPr bwMode="auto">
              <a:xfrm>
                <a:off x="2375" y="3023"/>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38925" name="Rectangle 17"/>
              <p:cNvSpPr>
                <a:spLocks noChangeArrowheads="1"/>
              </p:cNvSpPr>
              <p:nvPr/>
            </p:nvSpPr>
            <p:spPr bwMode="auto">
              <a:xfrm>
                <a:off x="2855" y="3023"/>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38926" name="Rectangle 18"/>
              <p:cNvSpPr>
                <a:spLocks noChangeArrowheads="1"/>
              </p:cNvSpPr>
              <p:nvPr/>
            </p:nvSpPr>
            <p:spPr bwMode="auto">
              <a:xfrm>
                <a:off x="3335" y="3023"/>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38927" name="Rectangle 19"/>
              <p:cNvSpPr>
                <a:spLocks noChangeArrowheads="1"/>
              </p:cNvSpPr>
              <p:nvPr/>
            </p:nvSpPr>
            <p:spPr bwMode="auto">
              <a:xfrm>
                <a:off x="4276" y="3023"/>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38928" name="Rectangle 20"/>
              <p:cNvSpPr>
                <a:spLocks noChangeArrowheads="1"/>
              </p:cNvSpPr>
              <p:nvPr/>
            </p:nvSpPr>
            <p:spPr bwMode="auto">
              <a:xfrm>
                <a:off x="3335" y="2840"/>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l</a:t>
                </a:r>
                <a:endParaRPr lang="en-US" altLang="en-US" sz="1800">
                  <a:solidFill>
                    <a:srgbClr val="000000"/>
                  </a:solidFill>
                </a:endParaRPr>
              </a:p>
            </p:txBody>
          </p:sp>
          <p:sp>
            <p:nvSpPr>
              <p:cNvPr id="38929" name="Rectangle 21"/>
              <p:cNvSpPr>
                <a:spLocks noChangeArrowheads="1"/>
              </p:cNvSpPr>
              <p:nvPr/>
            </p:nvSpPr>
            <p:spPr bwMode="auto">
              <a:xfrm>
                <a:off x="4276" y="2840"/>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right</a:t>
                </a:r>
                <a:r>
                  <a:rPr lang="en-US" altLang="en-US" sz="1800">
                    <a:solidFill>
                      <a:srgbClr val="000000"/>
                    </a:solidFill>
                    <a:cs typeface="Times New Roman" pitchFamily="18" charset="0"/>
                  </a:rPr>
                  <a:t>–</a:t>
                </a:r>
                <a:r>
                  <a:rPr lang="en-US" altLang="en-US" sz="1800">
                    <a:solidFill>
                      <a:srgbClr val="000000"/>
                    </a:solidFill>
                  </a:rPr>
                  <a:t>1</a:t>
                </a:r>
              </a:p>
            </p:txBody>
          </p:sp>
          <p:sp>
            <p:nvSpPr>
              <p:cNvPr id="38930" name="Rectangle 22"/>
              <p:cNvSpPr>
                <a:spLocks noChangeArrowheads="1"/>
              </p:cNvSpPr>
              <p:nvPr/>
            </p:nvSpPr>
            <p:spPr bwMode="auto">
              <a:xfrm>
                <a:off x="1396" y="2850"/>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left</a:t>
                </a:r>
                <a:endParaRPr lang="en-US" altLang="en-US" sz="1800">
                  <a:solidFill>
                    <a:srgbClr val="000000"/>
                  </a:solidFill>
                </a:endParaRPr>
              </a:p>
            </p:txBody>
          </p:sp>
          <p:sp>
            <p:nvSpPr>
              <p:cNvPr id="38931" name="Rectangle 23"/>
              <p:cNvSpPr>
                <a:spLocks noChangeArrowheads="1"/>
              </p:cNvSpPr>
              <p:nvPr/>
            </p:nvSpPr>
            <p:spPr bwMode="auto">
              <a:xfrm>
                <a:off x="2855" y="2850"/>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l</a:t>
                </a:r>
                <a:r>
                  <a:rPr lang="en-US" altLang="en-US" sz="1800">
                    <a:solidFill>
                      <a:srgbClr val="000000"/>
                    </a:solidFill>
                    <a:cs typeface="Times New Roman" pitchFamily="18" charset="0"/>
                  </a:rPr>
                  <a:t>–</a:t>
                </a:r>
                <a:r>
                  <a:rPr lang="en-US" altLang="en-US" sz="1800">
                    <a:solidFill>
                      <a:srgbClr val="000000"/>
                    </a:solidFill>
                  </a:rPr>
                  <a:t>1</a:t>
                </a:r>
              </a:p>
            </p:txBody>
          </p:sp>
          <p:sp>
            <p:nvSpPr>
              <p:cNvPr id="38932" name="Rectangle 24"/>
              <p:cNvSpPr>
                <a:spLocks noChangeArrowheads="1"/>
              </p:cNvSpPr>
              <p:nvPr/>
            </p:nvSpPr>
            <p:spPr bwMode="auto">
              <a:xfrm>
                <a:off x="3796" y="3023"/>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38933" name="Freeform 25"/>
              <p:cNvSpPr>
                <a:spLocks/>
              </p:cNvSpPr>
              <p:nvPr/>
            </p:nvSpPr>
            <p:spPr bwMode="auto">
              <a:xfrm>
                <a:off x="2519" y="2984"/>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p>
            </p:txBody>
          </p:sp>
          <p:sp>
            <p:nvSpPr>
              <p:cNvPr id="38934" name="Freeform 26"/>
              <p:cNvSpPr>
                <a:spLocks/>
              </p:cNvSpPr>
              <p:nvPr/>
            </p:nvSpPr>
            <p:spPr bwMode="auto">
              <a:xfrm>
                <a:off x="3940" y="2984"/>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p>
            </p:txBody>
          </p:sp>
          <p:sp>
            <p:nvSpPr>
              <p:cNvPr id="38935" name="Rectangle 27"/>
              <p:cNvSpPr>
                <a:spLocks noChangeArrowheads="1"/>
              </p:cNvSpPr>
              <p:nvPr/>
            </p:nvSpPr>
            <p:spPr bwMode="auto">
              <a:xfrm>
                <a:off x="4775" y="3023"/>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38936" name="Rectangle 28"/>
              <p:cNvSpPr>
                <a:spLocks noChangeArrowheads="1"/>
              </p:cNvSpPr>
              <p:nvPr/>
            </p:nvSpPr>
            <p:spPr bwMode="auto">
              <a:xfrm>
                <a:off x="4775" y="2840"/>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right</a:t>
                </a:r>
                <a:endParaRPr lang="en-US" altLang="en-US" sz="1800">
                  <a:solidFill>
                    <a:srgbClr val="000000"/>
                  </a:solidFill>
                </a:endParaRPr>
              </a:p>
            </p:txBody>
          </p:sp>
        </p:grpSp>
      </p:grpSp>
      <p:sp>
        <p:nvSpPr>
          <p:cNvPr id="3" name="Slide Number Placeholder 2"/>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35438686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ltLang="en-US" sz="3200" dirty="0"/>
              <a:t>Selection sort </a:t>
            </a:r>
            <a:r>
              <a:rPr lang="en-US" altLang="en-US" sz="3200" i="1" dirty="0"/>
              <a:t>(3)</a:t>
            </a:r>
            <a:endParaRPr lang="en-GB" altLang="en-US" sz="3200" dirty="0"/>
          </a:p>
        </p:txBody>
      </p:sp>
      <p:sp>
        <p:nvSpPr>
          <p:cNvPr id="39939" name="Rectangle 3"/>
          <p:cNvSpPr>
            <a:spLocks noGrp="1" noChangeArrowheads="1"/>
          </p:cNvSpPr>
          <p:nvPr>
            <p:ph idx="1"/>
          </p:nvPr>
        </p:nvSpPr>
        <p:spPr>
          <a:noFill/>
        </p:spPr>
        <p:txBody>
          <a:bodyPr/>
          <a:lstStyle/>
          <a:p>
            <a:pPr eaLnBrk="1" hangingPunct="1"/>
            <a:r>
              <a:rPr lang="en-US" altLang="en-US"/>
              <a:t>Animation:</a:t>
            </a:r>
          </a:p>
        </p:txBody>
      </p:sp>
      <p:grpSp>
        <p:nvGrpSpPr>
          <p:cNvPr id="2" name="Group 682"/>
          <p:cNvGrpSpPr>
            <a:grpSpLocks/>
          </p:cNvGrpSpPr>
          <p:nvPr/>
        </p:nvGrpSpPr>
        <p:grpSpPr bwMode="auto">
          <a:xfrm>
            <a:off x="864034" y="2596356"/>
            <a:ext cx="7086600" cy="3429000"/>
            <a:chOff x="1202" y="1412"/>
            <a:chExt cx="4464" cy="2160"/>
          </a:xfrm>
        </p:grpSpPr>
        <p:sp>
          <p:nvSpPr>
            <p:cNvPr id="40597" name="Rectangle 683"/>
            <p:cNvSpPr>
              <a:spLocks noChangeArrowheads="1"/>
            </p:cNvSpPr>
            <p:nvPr/>
          </p:nvSpPr>
          <p:spPr bwMode="auto">
            <a:xfrm>
              <a:off x="1202" y="1412"/>
              <a:ext cx="4464" cy="2160"/>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0598" name="Text Box 684"/>
            <p:cNvSpPr txBox="1">
              <a:spLocks noChangeArrowheads="1"/>
            </p:cNvSpPr>
            <p:nvPr/>
          </p:nvSpPr>
          <p:spPr bwMode="auto">
            <a:xfrm>
              <a:off x="1250" y="1450"/>
              <a:ext cx="4128"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rPr>
                <a:t>1.	For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–1, repeat:</a:t>
              </a:r>
              <a:br>
                <a:rPr lang="en-US" altLang="en-US" sz="2000">
                  <a:latin typeface="Times New Roman" pitchFamily="18" charset="0"/>
                </a:rPr>
              </a:br>
              <a:r>
                <a:rPr lang="en-US" altLang="en-US" sz="2000">
                  <a:latin typeface="Times New Roman" pitchFamily="18" charset="0"/>
                </a:rPr>
                <a:t>	1.1.	Set </a:t>
              </a:r>
              <a:r>
                <a:rPr lang="en-US" altLang="en-US" sz="2000" i="1">
                  <a:latin typeface="Times New Roman" pitchFamily="18" charset="0"/>
                </a:rPr>
                <a:t>p</a:t>
              </a:r>
              <a:r>
                <a:rPr lang="en-US" altLang="en-US" sz="2000">
                  <a:latin typeface="Times New Roman" pitchFamily="18" charset="0"/>
                </a:rPr>
                <a:t> such that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is the least of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1.2.	If </a:t>
              </a:r>
              <a:r>
                <a:rPr lang="en-US" altLang="en-US" sz="2000" i="1">
                  <a:latin typeface="Times New Roman" pitchFamily="18" charset="0"/>
                </a:rPr>
                <a:t>p</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l</a:t>
              </a:r>
              <a:r>
                <a:rPr lang="en-US" altLang="en-US" sz="2000">
                  <a:latin typeface="Times New Roman" pitchFamily="18" charset="0"/>
                </a:rPr>
                <a:t>, swap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and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a:t>
              </a:r>
            </a:p>
          </p:txBody>
        </p:sp>
        <p:sp>
          <p:nvSpPr>
            <p:cNvPr id="40599" name="Text Box 685"/>
            <p:cNvSpPr txBox="1">
              <a:spLocks noChangeArrowheads="1"/>
            </p:cNvSpPr>
            <p:nvPr/>
          </p:nvSpPr>
          <p:spPr bwMode="auto">
            <a:xfrm>
              <a:off x="1490" y="280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0600" name="Text Box 686"/>
            <p:cNvSpPr txBox="1">
              <a:spLocks noChangeArrowheads="1"/>
            </p:cNvSpPr>
            <p:nvPr/>
          </p:nvSpPr>
          <p:spPr bwMode="auto">
            <a:xfrm>
              <a:off x="1250" y="2612"/>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0601" name="Text Box 687"/>
            <p:cNvSpPr txBox="1">
              <a:spLocks noChangeArrowheads="1"/>
            </p:cNvSpPr>
            <p:nvPr/>
          </p:nvSpPr>
          <p:spPr bwMode="auto">
            <a:xfrm>
              <a:off x="2070" y="261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0602" name="Text Box 688"/>
            <p:cNvSpPr txBox="1">
              <a:spLocks noChangeArrowheads="1"/>
            </p:cNvSpPr>
            <p:nvPr/>
          </p:nvSpPr>
          <p:spPr bwMode="auto">
            <a:xfrm>
              <a:off x="2498" y="261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0603" name="Text Box 689"/>
            <p:cNvSpPr txBox="1">
              <a:spLocks noChangeArrowheads="1"/>
            </p:cNvSpPr>
            <p:nvPr/>
          </p:nvSpPr>
          <p:spPr bwMode="auto">
            <a:xfrm>
              <a:off x="2930" y="261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0604" name="Text Box 690"/>
            <p:cNvSpPr txBox="1">
              <a:spLocks noChangeArrowheads="1"/>
            </p:cNvSpPr>
            <p:nvPr/>
          </p:nvSpPr>
          <p:spPr bwMode="auto">
            <a:xfrm>
              <a:off x="3362" y="261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0605" name="Text Box 691"/>
            <p:cNvSpPr txBox="1">
              <a:spLocks noChangeArrowheads="1"/>
            </p:cNvSpPr>
            <p:nvPr/>
          </p:nvSpPr>
          <p:spPr bwMode="auto">
            <a:xfrm>
              <a:off x="3794" y="261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0606" name="Text Box 692"/>
            <p:cNvSpPr txBox="1">
              <a:spLocks noChangeArrowheads="1"/>
            </p:cNvSpPr>
            <p:nvPr/>
          </p:nvSpPr>
          <p:spPr bwMode="auto">
            <a:xfrm>
              <a:off x="4994" y="2612"/>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0607" name="Text Box 693"/>
            <p:cNvSpPr txBox="1">
              <a:spLocks noChangeArrowheads="1"/>
            </p:cNvSpPr>
            <p:nvPr/>
          </p:nvSpPr>
          <p:spPr bwMode="auto">
            <a:xfrm>
              <a:off x="1949" y="280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0608" name="Text Box 694"/>
            <p:cNvSpPr txBox="1">
              <a:spLocks noChangeArrowheads="1"/>
            </p:cNvSpPr>
            <p:nvPr/>
          </p:nvSpPr>
          <p:spPr bwMode="auto">
            <a:xfrm>
              <a:off x="2381" y="280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0609" name="Text Box 695"/>
            <p:cNvSpPr txBox="1">
              <a:spLocks noChangeArrowheads="1"/>
            </p:cNvSpPr>
            <p:nvPr/>
          </p:nvSpPr>
          <p:spPr bwMode="auto">
            <a:xfrm>
              <a:off x="2813" y="280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0610" name="Text Box 696"/>
            <p:cNvSpPr txBox="1">
              <a:spLocks noChangeArrowheads="1"/>
            </p:cNvSpPr>
            <p:nvPr/>
          </p:nvSpPr>
          <p:spPr bwMode="auto">
            <a:xfrm>
              <a:off x="3245" y="280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0611" name="Text Box 697"/>
            <p:cNvSpPr txBox="1">
              <a:spLocks noChangeArrowheads="1"/>
            </p:cNvSpPr>
            <p:nvPr/>
          </p:nvSpPr>
          <p:spPr bwMode="auto">
            <a:xfrm>
              <a:off x="3677" y="280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0612" name="Text Box 698"/>
            <p:cNvSpPr txBox="1">
              <a:spLocks noChangeArrowheads="1"/>
            </p:cNvSpPr>
            <p:nvPr/>
          </p:nvSpPr>
          <p:spPr bwMode="auto">
            <a:xfrm>
              <a:off x="4109" y="280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0613" name="Text Box 699"/>
            <p:cNvSpPr txBox="1">
              <a:spLocks noChangeArrowheads="1"/>
            </p:cNvSpPr>
            <p:nvPr/>
          </p:nvSpPr>
          <p:spPr bwMode="auto">
            <a:xfrm>
              <a:off x="1298" y="280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0614" name="Text Box 700"/>
            <p:cNvSpPr txBox="1">
              <a:spLocks noChangeArrowheads="1"/>
            </p:cNvSpPr>
            <p:nvPr/>
          </p:nvSpPr>
          <p:spPr bwMode="auto">
            <a:xfrm>
              <a:off x="4541" y="280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0615" name="Text Box 701"/>
            <p:cNvSpPr txBox="1">
              <a:spLocks noChangeArrowheads="1"/>
            </p:cNvSpPr>
            <p:nvPr/>
          </p:nvSpPr>
          <p:spPr bwMode="auto">
            <a:xfrm>
              <a:off x="4973" y="280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0616" name="Text Box 702"/>
            <p:cNvSpPr txBox="1">
              <a:spLocks noChangeArrowheads="1"/>
            </p:cNvSpPr>
            <p:nvPr/>
          </p:nvSpPr>
          <p:spPr bwMode="auto">
            <a:xfrm>
              <a:off x="4229" y="261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0617" name="Text Box 703"/>
            <p:cNvSpPr txBox="1">
              <a:spLocks noChangeArrowheads="1"/>
            </p:cNvSpPr>
            <p:nvPr/>
          </p:nvSpPr>
          <p:spPr bwMode="auto">
            <a:xfrm>
              <a:off x="4664" y="261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grpSp>
      <p:grpSp>
        <p:nvGrpSpPr>
          <p:cNvPr id="3" name="Group 704"/>
          <p:cNvGrpSpPr>
            <a:grpSpLocks/>
          </p:cNvGrpSpPr>
          <p:nvPr/>
        </p:nvGrpSpPr>
        <p:grpSpPr bwMode="auto">
          <a:xfrm>
            <a:off x="864034" y="2596356"/>
            <a:ext cx="7086600" cy="3429000"/>
            <a:chOff x="1202" y="1503"/>
            <a:chExt cx="4464" cy="2160"/>
          </a:xfrm>
        </p:grpSpPr>
        <p:sp>
          <p:nvSpPr>
            <p:cNvPr id="40574" name="Rectangle 705"/>
            <p:cNvSpPr>
              <a:spLocks noChangeArrowheads="1"/>
            </p:cNvSpPr>
            <p:nvPr/>
          </p:nvSpPr>
          <p:spPr bwMode="auto">
            <a:xfrm>
              <a:off x="1202" y="1503"/>
              <a:ext cx="4464" cy="2160"/>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0575" name="Text Box 706"/>
            <p:cNvSpPr txBox="1">
              <a:spLocks noChangeArrowheads="1"/>
            </p:cNvSpPr>
            <p:nvPr/>
          </p:nvSpPr>
          <p:spPr bwMode="auto">
            <a:xfrm>
              <a:off x="1250" y="1541"/>
              <a:ext cx="4128"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rPr>
                <a:t>1.	</a:t>
              </a:r>
              <a:r>
                <a:rPr lang="en-US" altLang="en-US" sz="2000">
                  <a:solidFill>
                    <a:srgbClr val="FF0000"/>
                  </a:solidFill>
                  <a:latin typeface="Times New Roman" pitchFamily="18" charset="0"/>
                </a:rPr>
                <a:t>For </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left</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right</a:t>
              </a:r>
              <a:r>
                <a:rPr lang="en-US" altLang="en-US" sz="2000">
                  <a:solidFill>
                    <a:srgbClr val="FF0000"/>
                  </a:solidFill>
                  <a:latin typeface="Times New Roman" pitchFamily="18" charset="0"/>
                </a:rPr>
                <a:t>–1, repeat:</a:t>
              </a:r>
              <a:br>
                <a:rPr lang="en-US" altLang="en-US" sz="2000">
                  <a:latin typeface="Times New Roman" pitchFamily="18" charset="0"/>
                </a:rPr>
              </a:br>
              <a:r>
                <a:rPr lang="en-US" altLang="en-US" sz="2000">
                  <a:latin typeface="Times New Roman" pitchFamily="18" charset="0"/>
                </a:rPr>
                <a:t>	1.1.	Set </a:t>
              </a:r>
              <a:r>
                <a:rPr lang="en-US" altLang="en-US" sz="2000" i="1">
                  <a:latin typeface="Times New Roman" pitchFamily="18" charset="0"/>
                </a:rPr>
                <a:t>p</a:t>
              </a:r>
              <a:r>
                <a:rPr lang="en-US" altLang="en-US" sz="2000">
                  <a:latin typeface="Times New Roman" pitchFamily="18" charset="0"/>
                </a:rPr>
                <a:t> such that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is the least of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1.2.	If </a:t>
              </a:r>
              <a:r>
                <a:rPr lang="en-US" altLang="en-US" sz="2000" i="1">
                  <a:latin typeface="Times New Roman" pitchFamily="18" charset="0"/>
                </a:rPr>
                <a:t>p</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l</a:t>
              </a:r>
              <a:r>
                <a:rPr lang="en-US" altLang="en-US" sz="2000">
                  <a:latin typeface="Times New Roman" pitchFamily="18" charset="0"/>
                </a:rPr>
                <a:t>, swap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and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a:t>
              </a:r>
            </a:p>
          </p:txBody>
        </p:sp>
        <p:sp>
          <p:nvSpPr>
            <p:cNvPr id="40576" name="Text Box 707"/>
            <p:cNvSpPr txBox="1">
              <a:spLocks noChangeArrowheads="1"/>
            </p:cNvSpPr>
            <p:nvPr/>
          </p:nvSpPr>
          <p:spPr bwMode="auto">
            <a:xfrm>
              <a:off x="1490" y="289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0577" name="Text Box 708"/>
            <p:cNvSpPr txBox="1">
              <a:spLocks noChangeArrowheads="1"/>
            </p:cNvSpPr>
            <p:nvPr/>
          </p:nvSpPr>
          <p:spPr bwMode="auto">
            <a:xfrm>
              <a:off x="1250" y="2703"/>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0578" name="Text Box 709"/>
            <p:cNvSpPr txBox="1">
              <a:spLocks noChangeArrowheads="1"/>
            </p:cNvSpPr>
            <p:nvPr/>
          </p:nvSpPr>
          <p:spPr bwMode="auto">
            <a:xfrm>
              <a:off x="2070" y="270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0579" name="Text Box 710"/>
            <p:cNvSpPr txBox="1">
              <a:spLocks noChangeArrowheads="1"/>
            </p:cNvSpPr>
            <p:nvPr/>
          </p:nvSpPr>
          <p:spPr bwMode="auto">
            <a:xfrm>
              <a:off x="2498" y="270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0580" name="Text Box 711"/>
            <p:cNvSpPr txBox="1">
              <a:spLocks noChangeArrowheads="1"/>
            </p:cNvSpPr>
            <p:nvPr/>
          </p:nvSpPr>
          <p:spPr bwMode="auto">
            <a:xfrm>
              <a:off x="2930" y="270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0581" name="Text Box 712"/>
            <p:cNvSpPr txBox="1">
              <a:spLocks noChangeArrowheads="1"/>
            </p:cNvSpPr>
            <p:nvPr/>
          </p:nvSpPr>
          <p:spPr bwMode="auto">
            <a:xfrm>
              <a:off x="3362" y="270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0582" name="Text Box 713"/>
            <p:cNvSpPr txBox="1">
              <a:spLocks noChangeArrowheads="1"/>
            </p:cNvSpPr>
            <p:nvPr/>
          </p:nvSpPr>
          <p:spPr bwMode="auto">
            <a:xfrm>
              <a:off x="3794" y="270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0583" name="Text Box 714"/>
            <p:cNvSpPr txBox="1">
              <a:spLocks noChangeArrowheads="1"/>
            </p:cNvSpPr>
            <p:nvPr/>
          </p:nvSpPr>
          <p:spPr bwMode="auto">
            <a:xfrm>
              <a:off x="4994" y="2703"/>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0584" name="Text Box 715"/>
            <p:cNvSpPr txBox="1">
              <a:spLocks noChangeArrowheads="1"/>
            </p:cNvSpPr>
            <p:nvPr/>
          </p:nvSpPr>
          <p:spPr bwMode="auto">
            <a:xfrm>
              <a:off x="1949" y="289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0585" name="Text Box 716"/>
            <p:cNvSpPr txBox="1">
              <a:spLocks noChangeArrowheads="1"/>
            </p:cNvSpPr>
            <p:nvPr/>
          </p:nvSpPr>
          <p:spPr bwMode="auto">
            <a:xfrm>
              <a:off x="2381" y="289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0586" name="Text Box 717"/>
            <p:cNvSpPr txBox="1">
              <a:spLocks noChangeArrowheads="1"/>
            </p:cNvSpPr>
            <p:nvPr/>
          </p:nvSpPr>
          <p:spPr bwMode="auto">
            <a:xfrm>
              <a:off x="2813" y="289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0587" name="Text Box 718"/>
            <p:cNvSpPr txBox="1">
              <a:spLocks noChangeArrowheads="1"/>
            </p:cNvSpPr>
            <p:nvPr/>
          </p:nvSpPr>
          <p:spPr bwMode="auto">
            <a:xfrm>
              <a:off x="3245" y="289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0588" name="Text Box 719"/>
            <p:cNvSpPr txBox="1">
              <a:spLocks noChangeArrowheads="1"/>
            </p:cNvSpPr>
            <p:nvPr/>
          </p:nvSpPr>
          <p:spPr bwMode="auto">
            <a:xfrm>
              <a:off x="3677" y="289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0589" name="Text Box 720"/>
            <p:cNvSpPr txBox="1">
              <a:spLocks noChangeArrowheads="1"/>
            </p:cNvSpPr>
            <p:nvPr/>
          </p:nvSpPr>
          <p:spPr bwMode="auto">
            <a:xfrm>
              <a:off x="4109" y="289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0590" name="Text Box 721"/>
            <p:cNvSpPr txBox="1">
              <a:spLocks noChangeArrowheads="1"/>
            </p:cNvSpPr>
            <p:nvPr/>
          </p:nvSpPr>
          <p:spPr bwMode="auto">
            <a:xfrm>
              <a:off x="1490" y="332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0</a:t>
              </a:r>
            </a:p>
          </p:txBody>
        </p:sp>
        <p:sp>
          <p:nvSpPr>
            <p:cNvPr id="40591" name="Text Box 722"/>
            <p:cNvSpPr txBox="1">
              <a:spLocks noChangeArrowheads="1"/>
            </p:cNvSpPr>
            <p:nvPr/>
          </p:nvSpPr>
          <p:spPr bwMode="auto">
            <a:xfrm>
              <a:off x="1298" y="2895"/>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0592" name="Text Box 723"/>
            <p:cNvSpPr txBox="1">
              <a:spLocks noChangeArrowheads="1"/>
            </p:cNvSpPr>
            <p:nvPr/>
          </p:nvSpPr>
          <p:spPr bwMode="auto">
            <a:xfrm>
              <a:off x="1298" y="3327"/>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40593" name="Text Box 724"/>
            <p:cNvSpPr txBox="1">
              <a:spLocks noChangeArrowheads="1"/>
            </p:cNvSpPr>
            <p:nvPr/>
          </p:nvSpPr>
          <p:spPr bwMode="auto">
            <a:xfrm>
              <a:off x="4541" y="289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0594" name="Text Box 725"/>
            <p:cNvSpPr txBox="1">
              <a:spLocks noChangeArrowheads="1"/>
            </p:cNvSpPr>
            <p:nvPr/>
          </p:nvSpPr>
          <p:spPr bwMode="auto">
            <a:xfrm>
              <a:off x="4973" y="289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0595" name="Text Box 726"/>
            <p:cNvSpPr txBox="1">
              <a:spLocks noChangeArrowheads="1"/>
            </p:cNvSpPr>
            <p:nvPr/>
          </p:nvSpPr>
          <p:spPr bwMode="auto">
            <a:xfrm>
              <a:off x="4229" y="270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0596" name="Text Box 727"/>
            <p:cNvSpPr txBox="1">
              <a:spLocks noChangeArrowheads="1"/>
            </p:cNvSpPr>
            <p:nvPr/>
          </p:nvSpPr>
          <p:spPr bwMode="auto">
            <a:xfrm>
              <a:off x="4664" y="270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grpSp>
      <p:grpSp>
        <p:nvGrpSpPr>
          <p:cNvPr id="4" name="Group 728"/>
          <p:cNvGrpSpPr>
            <a:grpSpLocks/>
          </p:cNvGrpSpPr>
          <p:nvPr/>
        </p:nvGrpSpPr>
        <p:grpSpPr bwMode="auto">
          <a:xfrm>
            <a:off x="864034" y="2596356"/>
            <a:ext cx="7086600" cy="3429000"/>
            <a:chOff x="1202" y="1594"/>
            <a:chExt cx="4464" cy="2160"/>
          </a:xfrm>
        </p:grpSpPr>
        <p:sp>
          <p:nvSpPr>
            <p:cNvPr id="40549" name="Rectangle 729"/>
            <p:cNvSpPr>
              <a:spLocks noChangeArrowheads="1"/>
            </p:cNvSpPr>
            <p:nvPr/>
          </p:nvSpPr>
          <p:spPr bwMode="auto">
            <a:xfrm>
              <a:off x="1202" y="1594"/>
              <a:ext cx="4464" cy="2160"/>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0550" name="Text Box 730"/>
            <p:cNvSpPr txBox="1">
              <a:spLocks noChangeArrowheads="1"/>
            </p:cNvSpPr>
            <p:nvPr/>
          </p:nvSpPr>
          <p:spPr bwMode="auto">
            <a:xfrm>
              <a:off x="1250" y="1632"/>
              <a:ext cx="4128"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rPr>
                <a:t>1.	For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–1, repeat:</a:t>
              </a:r>
              <a:br>
                <a:rPr lang="en-US" altLang="en-US" sz="2000">
                  <a:latin typeface="Times New Roman" pitchFamily="18" charset="0"/>
                </a:rPr>
              </a:br>
              <a:r>
                <a:rPr lang="en-US" altLang="en-US" sz="2000">
                  <a:latin typeface="Times New Roman" pitchFamily="18" charset="0"/>
                </a:rPr>
                <a:t>	1.1.	</a:t>
              </a:r>
              <a:r>
                <a:rPr lang="en-US" altLang="en-US" sz="2000">
                  <a:solidFill>
                    <a:srgbClr val="FF0000"/>
                  </a:solidFill>
                  <a:latin typeface="Times New Roman" pitchFamily="18" charset="0"/>
                </a:rPr>
                <a:t>Set </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such that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is the least of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right</a:t>
              </a:r>
              <a:r>
                <a:rPr lang="en-US" altLang="en-US" sz="2000">
                  <a:solidFill>
                    <a:srgbClr val="FF0000"/>
                  </a:solidFill>
                  <a:latin typeface="Times New Roman" pitchFamily="18" charset="0"/>
                </a:rPr>
                <a:t>].</a:t>
              </a:r>
              <a:br>
                <a:rPr lang="en-US" altLang="en-US" sz="2000">
                  <a:latin typeface="Times New Roman" pitchFamily="18" charset="0"/>
                </a:rPr>
              </a:br>
              <a:r>
                <a:rPr lang="en-US" altLang="en-US" sz="2000">
                  <a:latin typeface="Times New Roman" pitchFamily="18" charset="0"/>
                </a:rPr>
                <a:t>	1.2.	If </a:t>
              </a:r>
              <a:r>
                <a:rPr lang="en-US" altLang="en-US" sz="2000" i="1">
                  <a:latin typeface="Times New Roman" pitchFamily="18" charset="0"/>
                </a:rPr>
                <a:t>p</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l</a:t>
              </a:r>
              <a:r>
                <a:rPr lang="en-US" altLang="en-US" sz="2000">
                  <a:latin typeface="Times New Roman" pitchFamily="18" charset="0"/>
                </a:rPr>
                <a:t>, swap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and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a:t>
              </a:r>
            </a:p>
          </p:txBody>
        </p:sp>
        <p:sp>
          <p:nvSpPr>
            <p:cNvPr id="40551" name="Text Box 731"/>
            <p:cNvSpPr txBox="1">
              <a:spLocks noChangeArrowheads="1"/>
            </p:cNvSpPr>
            <p:nvPr/>
          </p:nvSpPr>
          <p:spPr bwMode="auto">
            <a:xfrm>
              <a:off x="1490" y="298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0552" name="Text Box 732"/>
            <p:cNvSpPr txBox="1">
              <a:spLocks noChangeArrowheads="1"/>
            </p:cNvSpPr>
            <p:nvPr/>
          </p:nvSpPr>
          <p:spPr bwMode="auto">
            <a:xfrm>
              <a:off x="1250" y="2794"/>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0553" name="Text Box 733"/>
            <p:cNvSpPr txBox="1">
              <a:spLocks noChangeArrowheads="1"/>
            </p:cNvSpPr>
            <p:nvPr/>
          </p:nvSpPr>
          <p:spPr bwMode="auto">
            <a:xfrm>
              <a:off x="2070" y="279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0554" name="Text Box 734"/>
            <p:cNvSpPr txBox="1">
              <a:spLocks noChangeArrowheads="1"/>
            </p:cNvSpPr>
            <p:nvPr/>
          </p:nvSpPr>
          <p:spPr bwMode="auto">
            <a:xfrm>
              <a:off x="2498" y="279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0555" name="Text Box 735"/>
            <p:cNvSpPr txBox="1">
              <a:spLocks noChangeArrowheads="1"/>
            </p:cNvSpPr>
            <p:nvPr/>
          </p:nvSpPr>
          <p:spPr bwMode="auto">
            <a:xfrm>
              <a:off x="2930" y="279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0556" name="Text Box 736"/>
            <p:cNvSpPr txBox="1">
              <a:spLocks noChangeArrowheads="1"/>
            </p:cNvSpPr>
            <p:nvPr/>
          </p:nvSpPr>
          <p:spPr bwMode="auto">
            <a:xfrm>
              <a:off x="3362" y="279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0557" name="Text Box 737"/>
            <p:cNvSpPr txBox="1">
              <a:spLocks noChangeArrowheads="1"/>
            </p:cNvSpPr>
            <p:nvPr/>
          </p:nvSpPr>
          <p:spPr bwMode="auto">
            <a:xfrm>
              <a:off x="3794" y="279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0558" name="Text Box 738"/>
            <p:cNvSpPr txBox="1">
              <a:spLocks noChangeArrowheads="1"/>
            </p:cNvSpPr>
            <p:nvPr/>
          </p:nvSpPr>
          <p:spPr bwMode="auto">
            <a:xfrm>
              <a:off x="4994" y="2794"/>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0559" name="Text Box 739"/>
            <p:cNvSpPr txBox="1">
              <a:spLocks noChangeArrowheads="1"/>
            </p:cNvSpPr>
            <p:nvPr/>
          </p:nvSpPr>
          <p:spPr bwMode="auto">
            <a:xfrm>
              <a:off x="1949" y="298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0560" name="Text Box 740"/>
            <p:cNvSpPr txBox="1">
              <a:spLocks noChangeArrowheads="1"/>
            </p:cNvSpPr>
            <p:nvPr/>
          </p:nvSpPr>
          <p:spPr bwMode="auto">
            <a:xfrm>
              <a:off x="2381" y="298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0561" name="Text Box 741"/>
            <p:cNvSpPr txBox="1">
              <a:spLocks noChangeArrowheads="1"/>
            </p:cNvSpPr>
            <p:nvPr/>
          </p:nvSpPr>
          <p:spPr bwMode="auto">
            <a:xfrm>
              <a:off x="2813" y="298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0562" name="Text Box 742"/>
            <p:cNvSpPr txBox="1">
              <a:spLocks noChangeArrowheads="1"/>
            </p:cNvSpPr>
            <p:nvPr/>
          </p:nvSpPr>
          <p:spPr bwMode="auto">
            <a:xfrm>
              <a:off x="3245" y="298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0563" name="Text Box 743"/>
            <p:cNvSpPr txBox="1">
              <a:spLocks noChangeArrowheads="1"/>
            </p:cNvSpPr>
            <p:nvPr/>
          </p:nvSpPr>
          <p:spPr bwMode="auto">
            <a:xfrm>
              <a:off x="3677" y="298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0564" name="Text Box 744"/>
            <p:cNvSpPr txBox="1">
              <a:spLocks noChangeArrowheads="1"/>
            </p:cNvSpPr>
            <p:nvPr/>
          </p:nvSpPr>
          <p:spPr bwMode="auto">
            <a:xfrm>
              <a:off x="4109" y="298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0565" name="Text Box 745"/>
            <p:cNvSpPr txBox="1">
              <a:spLocks noChangeArrowheads="1"/>
            </p:cNvSpPr>
            <p:nvPr/>
          </p:nvSpPr>
          <p:spPr bwMode="auto">
            <a:xfrm>
              <a:off x="1490" y="341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0</a:t>
              </a:r>
            </a:p>
          </p:txBody>
        </p:sp>
        <p:sp>
          <p:nvSpPr>
            <p:cNvPr id="40566" name="Text Box 746"/>
            <p:cNvSpPr txBox="1">
              <a:spLocks noChangeArrowheads="1"/>
            </p:cNvSpPr>
            <p:nvPr/>
          </p:nvSpPr>
          <p:spPr bwMode="auto">
            <a:xfrm>
              <a:off x="1298" y="2986"/>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0567" name="Text Box 747"/>
            <p:cNvSpPr txBox="1">
              <a:spLocks noChangeArrowheads="1"/>
            </p:cNvSpPr>
            <p:nvPr/>
          </p:nvSpPr>
          <p:spPr bwMode="auto">
            <a:xfrm>
              <a:off x="1298" y="3418"/>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40568" name="Text Box 748"/>
            <p:cNvSpPr txBox="1">
              <a:spLocks noChangeArrowheads="1"/>
            </p:cNvSpPr>
            <p:nvPr/>
          </p:nvSpPr>
          <p:spPr bwMode="auto">
            <a:xfrm>
              <a:off x="4541" y="298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0569" name="Text Box 749"/>
            <p:cNvSpPr txBox="1">
              <a:spLocks noChangeArrowheads="1"/>
            </p:cNvSpPr>
            <p:nvPr/>
          </p:nvSpPr>
          <p:spPr bwMode="auto">
            <a:xfrm>
              <a:off x="4973" y="298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0570" name="Text Box 750"/>
            <p:cNvSpPr txBox="1">
              <a:spLocks noChangeArrowheads="1"/>
            </p:cNvSpPr>
            <p:nvPr/>
          </p:nvSpPr>
          <p:spPr bwMode="auto">
            <a:xfrm>
              <a:off x="4229" y="279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0571" name="Text Box 751"/>
            <p:cNvSpPr txBox="1">
              <a:spLocks noChangeArrowheads="1"/>
            </p:cNvSpPr>
            <p:nvPr/>
          </p:nvSpPr>
          <p:spPr bwMode="auto">
            <a:xfrm>
              <a:off x="4664" y="279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40572" name="Text Box 752"/>
            <p:cNvSpPr txBox="1">
              <a:spLocks noChangeArrowheads="1"/>
            </p:cNvSpPr>
            <p:nvPr/>
          </p:nvSpPr>
          <p:spPr bwMode="auto">
            <a:xfrm>
              <a:off x="2381" y="341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3</a:t>
              </a:r>
            </a:p>
          </p:txBody>
        </p:sp>
        <p:sp>
          <p:nvSpPr>
            <p:cNvPr id="40573" name="Text Box 753"/>
            <p:cNvSpPr txBox="1">
              <a:spLocks noChangeArrowheads="1"/>
            </p:cNvSpPr>
            <p:nvPr/>
          </p:nvSpPr>
          <p:spPr bwMode="auto">
            <a:xfrm>
              <a:off x="2189" y="3418"/>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p</a:t>
              </a:r>
            </a:p>
          </p:txBody>
        </p:sp>
      </p:grpSp>
      <p:grpSp>
        <p:nvGrpSpPr>
          <p:cNvPr id="5" name="Group 754"/>
          <p:cNvGrpSpPr>
            <a:grpSpLocks/>
          </p:cNvGrpSpPr>
          <p:nvPr/>
        </p:nvGrpSpPr>
        <p:grpSpPr bwMode="auto">
          <a:xfrm>
            <a:off x="864034" y="2596356"/>
            <a:ext cx="7086600" cy="3429000"/>
            <a:chOff x="1202" y="1685"/>
            <a:chExt cx="4464" cy="2160"/>
          </a:xfrm>
        </p:grpSpPr>
        <p:sp>
          <p:nvSpPr>
            <p:cNvPr id="40524" name="Rectangle 755"/>
            <p:cNvSpPr>
              <a:spLocks noChangeArrowheads="1"/>
            </p:cNvSpPr>
            <p:nvPr/>
          </p:nvSpPr>
          <p:spPr bwMode="auto">
            <a:xfrm>
              <a:off x="1202" y="1685"/>
              <a:ext cx="4464" cy="2160"/>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0525" name="Text Box 756"/>
            <p:cNvSpPr txBox="1">
              <a:spLocks noChangeArrowheads="1"/>
            </p:cNvSpPr>
            <p:nvPr/>
          </p:nvSpPr>
          <p:spPr bwMode="auto">
            <a:xfrm>
              <a:off x="1250" y="1723"/>
              <a:ext cx="4128"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rPr>
                <a:t>1.	For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–1, repeat:</a:t>
              </a:r>
              <a:br>
                <a:rPr lang="en-US" altLang="en-US" sz="2000">
                  <a:latin typeface="Times New Roman" pitchFamily="18" charset="0"/>
                </a:rPr>
              </a:br>
              <a:r>
                <a:rPr lang="en-US" altLang="en-US" sz="2000">
                  <a:latin typeface="Times New Roman" pitchFamily="18" charset="0"/>
                </a:rPr>
                <a:t>	1.1.	Set </a:t>
              </a:r>
              <a:r>
                <a:rPr lang="en-US" altLang="en-US" sz="2000" i="1">
                  <a:latin typeface="Times New Roman" pitchFamily="18" charset="0"/>
                </a:rPr>
                <a:t>p</a:t>
              </a:r>
              <a:r>
                <a:rPr lang="en-US" altLang="en-US" sz="2000">
                  <a:latin typeface="Times New Roman" pitchFamily="18" charset="0"/>
                </a:rPr>
                <a:t> such that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is the least of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1.2.	</a:t>
              </a:r>
              <a:r>
                <a:rPr lang="en-US" altLang="en-US" sz="2000">
                  <a:solidFill>
                    <a:srgbClr val="FF0000"/>
                  </a:solidFill>
                  <a:latin typeface="Times New Roman" pitchFamily="18" charset="0"/>
                </a:rPr>
                <a:t>If </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a:t>
              </a:r>
              <a:r>
                <a:rPr lang="en-US" altLang="en-US" sz="2000">
                  <a:solidFill>
                    <a:srgbClr val="FF0000"/>
                  </a:solidFill>
                  <a:latin typeface="Times New Roman" pitchFamily="18" charset="0"/>
                  <a:sym typeface="Symbol" pitchFamily="18" charset="2"/>
                </a:rPr>
                <a:t></a:t>
              </a:r>
              <a:r>
                <a:rPr lang="en-US" altLang="en-US" sz="2000">
                  <a:solidFill>
                    <a:srgbClr val="FF0000"/>
                  </a:solidFill>
                  <a:latin typeface="Times New Roman" pitchFamily="18" charset="0"/>
                </a:rPr>
                <a:t> </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 swap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and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a:t>
              </a:r>
              <a:br>
                <a:rPr lang="en-US" altLang="en-US" sz="2000">
                  <a:latin typeface="Times New Roman" pitchFamily="18" charset="0"/>
                </a:rPr>
              </a:br>
              <a:r>
                <a:rPr lang="en-US" altLang="en-US" sz="2000">
                  <a:latin typeface="Times New Roman" pitchFamily="18" charset="0"/>
                </a:rPr>
                <a:t>2.	Terminate.</a:t>
              </a:r>
            </a:p>
          </p:txBody>
        </p:sp>
        <p:sp>
          <p:nvSpPr>
            <p:cNvPr id="40526" name="Text Box 757"/>
            <p:cNvSpPr txBox="1">
              <a:spLocks noChangeArrowheads="1"/>
            </p:cNvSpPr>
            <p:nvPr/>
          </p:nvSpPr>
          <p:spPr bwMode="auto">
            <a:xfrm>
              <a:off x="1490" y="307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0527" name="Text Box 758"/>
            <p:cNvSpPr txBox="1">
              <a:spLocks noChangeArrowheads="1"/>
            </p:cNvSpPr>
            <p:nvPr/>
          </p:nvSpPr>
          <p:spPr bwMode="auto">
            <a:xfrm>
              <a:off x="1250" y="2885"/>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0528" name="Text Box 759"/>
            <p:cNvSpPr txBox="1">
              <a:spLocks noChangeArrowheads="1"/>
            </p:cNvSpPr>
            <p:nvPr/>
          </p:nvSpPr>
          <p:spPr bwMode="auto">
            <a:xfrm>
              <a:off x="2070" y="288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0529" name="Text Box 760"/>
            <p:cNvSpPr txBox="1">
              <a:spLocks noChangeArrowheads="1"/>
            </p:cNvSpPr>
            <p:nvPr/>
          </p:nvSpPr>
          <p:spPr bwMode="auto">
            <a:xfrm>
              <a:off x="2498" y="288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0530" name="Text Box 761"/>
            <p:cNvSpPr txBox="1">
              <a:spLocks noChangeArrowheads="1"/>
            </p:cNvSpPr>
            <p:nvPr/>
          </p:nvSpPr>
          <p:spPr bwMode="auto">
            <a:xfrm>
              <a:off x="2930" y="288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0531" name="Text Box 762"/>
            <p:cNvSpPr txBox="1">
              <a:spLocks noChangeArrowheads="1"/>
            </p:cNvSpPr>
            <p:nvPr/>
          </p:nvSpPr>
          <p:spPr bwMode="auto">
            <a:xfrm>
              <a:off x="3362" y="288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0532" name="Text Box 763"/>
            <p:cNvSpPr txBox="1">
              <a:spLocks noChangeArrowheads="1"/>
            </p:cNvSpPr>
            <p:nvPr/>
          </p:nvSpPr>
          <p:spPr bwMode="auto">
            <a:xfrm>
              <a:off x="3794" y="288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0533" name="Text Box 764"/>
            <p:cNvSpPr txBox="1">
              <a:spLocks noChangeArrowheads="1"/>
            </p:cNvSpPr>
            <p:nvPr/>
          </p:nvSpPr>
          <p:spPr bwMode="auto">
            <a:xfrm>
              <a:off x="4994" y="2885"/>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0534" name="Text Box 765"/>
            <p:cNvSpPr txBox="1">
              <a:spLocks noChangeArrowheads="1"/>
            </p:cNvSpPr>
            <p:nvPr/>
          </p:nvSpPr>
          <p:spPr bwMode="auto">
            <a:xfrm>
              <a:off x="1949" y="307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0535" name="Text Box 766"/>
            <p:cNvSpPr txBox="1">
              <a:spLocks noChangeArrowheads="1"/>
            </p:cNvSpPr>
            <p:nvPr/>
          </p:nvSpPr>
          <p:spPr bwMode="auto">
            <a:xfrm>
              <a:off x="2381" y="307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0536" name="Text Box 767"/>
            <p:cNvSpPr txBox="1">
              <a:spLocks noChangeArrowheads="1"/>
            </p:cNvSpPr>
            <p:nvPr/>
          </p:nvSpPr>
          <p:spPr bwMode="auto">
            <a:xfrm>
              <a:off x="2813" y="307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0537" name="Text Box 768"/>
            <p:cNvSpPr txBox="1">
              <a:spLocks noChangeArrowheads="1"/>
            </p:cNvSpPr>
            <p:nvPr/>
          </p:nvSpPr>
          <p:spPr bwMode="auto">
            <a:xfrm>
              <a:off x="3245" y="307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0538" name="Text Box 769"/>
            <p:cNvSpPr txBox="1">
              <a:spLocks noChangeArrowheads="1"/>
            </p:cNvSpPr>
            <p:nvPr/>
          </p:nvSpPr>
          <p:spPr bwMode="auto">
            <a:xfrm>
              <a:off x="3677" y="307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0539" name="Text Box 770"/>
            <p:cNvSpPr txBox="1">
              <a:spLocks noChangeArrowheads="1"/>
            </p:cNvSpPr>
            <p:nvPr/>
          </p:nvSpPr>
          <p:spPr bwMode="auto">
            <a:xfrm>
              <a:off x="4109" y="307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0540" name="Text Box 771"/>
            <p:cNvSpPr txBox="1">
              <a:spLocks noChangeArrowheads="1"/>
            </p:cNvSpPr>
            <p:nvPr/>
          </p:nvSpPr>
          <p:spPr bwMode="auto">
            <a:xfrm>
              <a:off x="1490" y="350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0</a:t>
              </a:r>
            </a:p>
          </p:txBody>
        </p:sp>
        <p:sp>
          <p:nvSpPr>
            <p:cNvPr id="40541" name="Text Box 772"/>
            <p:cNvSpPr txBox="1">
              <a:spLocks noChangeArrowheads="1"/>
            </p:cNvSpPr>
            <p:nvPr/>
          </p:nvSpPr>
          <p:spPr bwMode="auto">
            <a:xfrm>
              <a:off x="1298" y="3077"/>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0542" name="Text Box 773"/>
            <p:cNvSpPr txBox="1">
              <a:spLocks noChangeArrowheads="1"/>
            </p:cNvSpPr>
            <p:nvPr/>
          </p:nvSpPr>
          <p:spPr bwMode="auto">
            <a:xfrm>
              <a:off x="1298" y="3509"/>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40543" name="Text Box 774"/>
            <p:cNvSpPr txBox="1">
              <a:spLocks noChangeArrowheads="1"/>
            </p:cNvSpPr>
            <p:nvPr/>
          </p:nvSpPr>
          <p:spPr bwMode="auto">
            <a:xfrm>
              <a:off x="4541" y="307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0544" name="Text Box 775"/>
            <p:cNvSpPr txBox="1">
              <a:spLocks noChangeArrowheads="1"/>
            </p:cNvSpPr>
            <p:nvPr/>
          </p:nvSpPr>
          <p:spPr bwMode="auto">
            <a:xfrm>
              <a:off x="4973" y="307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0545" name="Text Box 776"/>
            <p:cNvSpPr txBox="1">
              <a:spLocks noChangeArrowheads="1"/>
            </p:cNvSpPr>
            <p:nvPr/>
          </p:nvSpPr>
          <p:spPr bwMode="auto">
            <a:xfrm>
              <a:off x="4229" y="288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0546" name="Text Box 777"/>
            <p:cNvSpPr txBox="1">
              <a:spLocks noChangeArrowheads="1"/>
            </p:cNvSpPr>
            <p:nvPr/>
          </p:nvSpPr>
          <p:spPr bwMode="auto">
            <a:xfrm>
              <a:off x="4664" y="288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40547" name="Text Box 778"/>
            <p:cNvSpPr txBox="1">
              <a:spLocks noChangeArrowheads="1"/>
            </p:cNvSpPr>
            <p:nvPr/>
          </p:nvSpPr>
          <p:spPr bwMode="auto">
            <a:xfrm>
              <a:off x="2381" y="350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3</a:t>
              </a:r>
            </a:p>
          </p:txBody>
        </p:sp>
        <p:sp>
          <p:nvSpPr>
            <p:cNvPr id="40548" name="Text Box 779"/>
            <p:cNvSpPr txBox="1">
              <a:spLocks noChangeArrowheads="1"/>
            </p:cNvSpPr>
            <p:nvPr/>
          </p:nvSpPr>
          <p:spPr bwMode="auto">
            <a:xfrm>
              <a:off x="2189" y="3509"/>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p</a:t>
              </a:r>
            </a:p>
          </p:txBody>
        </p:sp>
      </p:grpSp>
      <p:grpSp>
        <p:nvGrpSpPr>
          <p:cNvPr id="6" name="Group 780"/>
          <p:cNvGrpSpPr>
            <a:grpSpLocks/>
          </p:cNvGrpSpPr>
          <p:nvPr/>
        </p:nvGrpSpPr>
        <p:grpSpPr bwMode="auto">
          <a:xfrm>
            <a:off x="864034" y="2596356"/>
            <a:ext cx="7086600" cy="3429000"/>
            <a:chOff x="1202" y="1775"/>
            <a:chExt cx="4464" cy="2160"/>
          </a:xfrm>
        </p:grpSpPr>
        <p:sp>
          <p:nvSpPr>
            <p:cNvPr id="40501" name="Rectangle 781"/>
            <p:cNvSpPr>
              <a:spLocks noChangeArrowheads="1"/>
            </p:cNvSpPr>
            <p:nvPr/>
          </p:nvSpPr>
          <p:spPr bwMode="auto">
            <a:xfrm>
              <a:off x="1202" y="1775"/>
              <a:ext cx="4464" cy="2160"/>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0502" name="Text Box 782"/>
            <p:cNvSpPr txBox="1">
              <a:spLocks noChangeArrowheads="1"/>
            </p:cNvSpPr>
            <p:nvPr/>
          </p:nvSpPr>
          <p:spPr bwMode="auto">
            <a:xfrm>
              <a:off x="1250" y="1813"/>
              <a:ext cx="4128"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rPr>
                <a:t>1.	</a:t>
              </a:r>
              <a:r>
                <a:rPr lang="en-US" altLang="en-US" sz="2000">
                  <a:solidFill>
                    <a:srgbClr val="FF0000"/>
                  </a:solidFill>
                  <a:latin typeface="Times New Roman" pitchFamily="18" charset="0"/>
                </a:rPr>
                <a:t>For </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left</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right</a:t>
              </a:r>
              <a:r>
                <a:rPr lang="en-US" altLang="en-US" sz="2000">
                  <a:solidFill>
                    <a:srgbClr val="FF0000"/>
                  </a:solidFill>
                  <a:latin typeface="Times New Roman" pitchFamily="18" charset="0"/>
                </a:rPr>
                <a:t>–1, repeat:</a:t>
              </a:r>
              <a:br>
                <a:rPr lang="en-US" altLang="en-US" sz="2000">
                  <a:latin typeface="Times New Roman" pitchFamily="18" charset="0"/>
                </a:rPr>
              </a:br>
              <a:r>
                <a:rPr lang="en-US" altLang="en-US" sz="2000">
                  <a:latin typeface="Times New Roman" pitchFamily="18" charset="0"/>
                </a:rPr>
                <a:t>	1.1.	Set </a:t>
              </a:r>
              <a:r>
                <a:rPr lang="en-US" altLang="en-US" sz="2000" i="1">
                  <a:latin typeface="Times New Roman" pitchFamily="18" charset="0"/>
                </a:rPr>
                <a:t>p</a:t>
              </a:r>
              <a:r>
                <a:rPr lang="en-US" altLang="en-US" sz="2000">
                  <a:latin typeface="Times New Roman" pitchFamily="18" charset="0"/>
                </a:rPr>
                <a:t> such that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is the least of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1.2.	If </a:t>
              </a:r>
              <a:r>
                <a:rPr lang="en-US" altLang="en-US" sz="2000" i="1">
                  <a:latin typeface="Times New Roman" pitchFamily="18" charset="0"/>
                </a:rPr>
                <a:t>p</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l</a:t>
              </a:r>
              <a:r>
                <a:rPr lang="en-US" altLang="en-US" sz="2000">
                  <a:latin typeface="Times New Roman" pitchFamily="18" charset="0"/>
                </a:rPr>
                <a:t>, swap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and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a:t>
              </a:r>
            </a:p>
          </p:txBody>
        </p:sp>
        <p:sp>
          <p:nvSpPr>
            <p:cNvPr id="40503" name="Text Box 783"/>
            <p:cNvSpPr txBox="1">
              <a:spLocks noChangeArrowheads="1"/>
            </p:cNvSpPr>
            <p:nvPr/>
          </p:nvSpPr>
          <p:spPr bwMode="auto">
            <a:xfrm>
              <a:off x="1490" y="316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0504" name="Text Box 784"/>
            <p:cNvSpPr txBox="1">
              <a:spLocks noChangeArrowheads="1"/>
            </p:cNvSpPr>
            <p:nvPr/>
          </p:nvSpPr>
          <p:spPr bwMode="auto">
            <a:xfrm>
              <a:off x="1250" y="2975"/>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0505" name="Text Box 785"/>
            <p:cNvSpPr txBox="1">
              <a:spLocks noChangeArrowheads="1"/>
            </p:cNvSpPr>
            <p:nvPr/>
          </p:nvSpPr>
          <p:spPr bwMode="auto">
            <a:xfrm>
              <a:off x="2070" y="297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0506" name="Text Box 786"/>
            <p:cNvSpPr txBox="1">
              <a:spLocks noChangeArrowheads="1"/>
            </p:cNvSpPr>
            <p:nvPr/>
          </p:nvSpPr>
          <p:spPr bwMode="auto">
            <a:xfrm>
              <a:off x="2498" y="297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0507" name="Text Box 787"/>
            <p:cNvSpPr txBox="1">
              <a:spLocks noChangeArrowheads="1"/>
            </p:cNvSpPr>
            <p:nvPr/>
          </p:nvSpPr>
          <p:spPr bwMode="auto">
            <a:xfrm>
              <a:off x="2930" y="297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0508" name="Text Box 788"/>
            <p:cNvSpPr txBox="1">
              <a:spLocks noChangeArrowheads="1"/>
            </p:cNvSpPr>
            <p:nvPr/>
          </p:nvSpPr>
          <p:spPr bwMode="auto">
            <a:xfrm>
              <a:off x="3362" y="297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0509" name="Text Box 789"/>
            <p:cNvSpPr txBox="1">
              <a:spLocks noChangeArrowheads="1"/>
            </p:cNvSpPr>
            <p:nvPr/>
          </p:nvSpPr>
          <p:spPr bwMode="auto">
            <a:xfrm>
              <a:off x="3794" y="297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0510" name="Text Box 790"/>
            <p:cNvSpPr txBox="1">
              <a:spLocks noChangeArrowheads="1"/>
            </p:cNvSpPr>
            <p:nvPr/>
          </p:nvSpPr>
          <p:spPr bwMode="auto">
            <a:xfrm>
              <a:off x="4994" y="2975"/>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0511" name="Text Box 791"/>
            <p:cNvSpPr txBox="1">
              <a:spLocks noChangeArrowheads="1"/>
            </p:cNvSpPr>
            <p:nvPr/>
          </p:nvSpPr>
          <p:spPr bwMode="auto">
            <a:xfrm>
              <a:off x="1949" y="316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0512" name="Text Box 792"/>
            <p:cNvSpPr txBox="1">
              <a:spLocks noChangeArrowheads="1"/>
            </p:cNvSpPr>
            <p:nvPr/>
          </p:nvSpPr>
          <p:spPr bwMode="auto">
            <a:xfrm>
              <a:off x="2381" y="316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0513" name="Text Box 793"/>
            <p:cNvSpPr txBox="1">
              <a:spLocks noChangeArrowheads="1"/>
            </p:cNvSpPr>
            <p:nvPr/>
          </p:nvSpPr>
          <p:spPr bwMode="auto">
            <a:xfrm>
              <a:off x="2813" y="316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0514" name="Text Box 794"/>
            <p:cNvSpPr txBox="1">
              <a:spLocks noChangeArrowheads="1"/>
            </p:cNvSpPr>
            <p:nvPr/>
          </p:nvSpPr>
          <p:spPr bwMode="auto">
            <a:xfrm>
              <a:off x="3245" y="316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0515" name="Text Box 795"/>
            <p:cNvSpPr txBox="1">
              <a:spLocks noChangeArrowheads="1"/>
            </p:cNvSpPr>
            <p:nvPr/>
          </p:nvSpPr>
          <p:spPr bwMode="auto">
            <a:xfrm>
              <a:off x="3677" y="316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0516" name="Text Box 796"/>
            <p:cNvSpPr txBox="1">
              <a:spLocks noChangeArrowheads="1"/>
            </p:cNvSpPr>
            <p:nvPr/>
          </p:nvSpPr>
          <p:spPr bwMode="auto">
            <a:xfrm>
              <a:off x="4109" y="316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0517" name="Text Box 797"/>
            <p:cNvSpPr txBox="1">
              <a:spLocks noChangeArrowheads="1"/>
            </p:cNvSpPr>
            <p:nvPr/>
          </p:nvSpPr>
          <p:spPr bwMode="auto">
            <a:xfrm>
              <a:off x="1490" y="359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1</a:t>
              </a:r>
            </a:p>
          </p:txBody>
        </p:sp>
        <p:sp>
          <p:nvSpPr>
            <p:cNvPr id="40518" name="Text Box 798"/>
            <p:cNvSpPr txBox="1">
              <a:spLocks noChangeArrowheads="1"/>
            </p:cNvSpPr>
            <p:nvPr/>
          </p:nvSpPr>
          <p:spPr bwMode="auto">
            <a:xfrm>
              <a:off x="1298" y="3167"/>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0519" name="Text Box 799"/>
            <p:cNvSpPr txBox="1">
              <a:spLocks noChangeArrowheads="1"/>
            </p:cNvSpPr>
            <p:nvPr/>
          </p:nvSpPr>
          <p:spPr bwMode="auto">
            <a:xfrm>
              <a:off x="1298" y="3599"/>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40520" name="Text Box 800"/>
            <p:cNvSpPr txBox="1">
              <a:spLocks noChangeArrowheads="1"/>
            </p:cNvSpPr>
            <p:nvPr/>
          </p:nvSpPr>
          <p:spPr bwMode="auto">
            <a:xfrm>
              <a:off x="4541" y="316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0521" name="Text Box 801"/>
            <p:cNvSpPr txBox="1">
              <a:spLocks noChangeArrowheads="1"/>
            </p:cNvSpPr>
            <p:nvPr/>
          </p:nvSpPr>
          <p:spPr bwMode="auto">
            <a:xfrm>
              <a:off x="4973" y="316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0522" name="Text Box 802"/>
            <p:cNvSpPr txBox="1">
              <a:spLocks noChangeArrowheads="1"/>
            </p:cNvSpPr>
            <p:nvPr/>
          </p:nvSpPr>
          <p:spPr bwMode="auto">
            <a:xfrm>
              <a:off x="4229" y="297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0523" name="Text Box 803"/>
            <p:cNvSpPr txBox="1">
              <a:spLocks noChangeArrowheads="1"/>
            </p:cNvSpPr>
            <p:nvPr/>
          </p:nvSpPr>
          <p:spPr bwMode="auto">
            <a:xfrm>
              <a:off x="4664" y="297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grpSp>
      <p:grpSp>
        <p:nvGrpSpPr>
          <p:cNvPr id="7" name="Group 804"/>
          <p:cNvGrpSpPr>
            <a:grpSpLocks/>
          </p:cNvGrpSpPr>
          <p:nvPr/>
        </p:nvGrpSpPr>
        <p:grpSpPr bwMode="auto">
          <a:xfrm>
            <a:off x="864034" y="2596356"/>
            <a:ext cx="7086600" cy="3429000"/>
            <a:chOff x="1202" y="1866"/>
            <a:chExt cx="4464" cy="2160"/>
          </a:xfrm>
        </p:grpSpPr>
        <p:sp>
          <p:nvSpPr>
            <p:cNvPr id="40476" name="Rectangle 805"/>
            <p:cNvSpPr>
              <a:spLocks noChangeArrowheads="1"/>
            </p:cNvSpPr>
            <p:nvPr/>
          </p:nvSpPr>
          <p:spPr bwMode="auto">
            <a:xfrm>
              <a:off x="1202" y="1866"/>
              <a:ext cx="4464" cy="2160"/>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0477" name="Text Box 806"/>
            <p:cNvSpPr txBox="1">
              <a:spLocks noChangeArrowheads="1"/>
            </p:cNvSpPr>
            <p:nvPr/>
          </p:nvSpPr>
          <p:spPr bwMode="auto">
            <a:xfrm>
              <a:off x="1250" y="1904"/>
              <a:ext cx="4128"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rPr>
                <a:t>1.	For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–1, repeat:</a:t>
              </a:r>
              <a:br>
                <a:rPr lang="en-US" altLang="en-US" sz="2000">
                  <a:latin typeface="Times New Roman" pitchFamily="18" charset="0"/>
                </a:rPr>
              </a:br>
              <a:r>
                <a:rPr lang="en-US" altLang="en-US" sz="2000">
                  <a:latin typeface="Times New Roman" pitchFamily="18" charset="0"/>
                </a:rPr>
                <a:t>	1.1.	</a:t>
              </a:r>
              <a:r>
                <a:rPr lang="en-US" altLang="en-US" sz="2000">
                  <a:solidFill>
                    <a:srgbClr val="FF0000"/>
                  </a:solidFill>
                  <a:latin typeface="Times New Roman" pitchFamily="18" charset="0"/>
                </a:rPr>
                <a:t>Set </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such that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is the least of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right</a:t>
              </a:r>
              <a:r>
                <a:rPr lang="en-US" altLang="en-US" sz="2000">
                  <a:solidFill>
                    <a:srgbClr val="FF0000"/>
                  </a:solidFill>
                  <a:latin typeface="Times New Roman" pitchFamily="18" charset="0"/>
                </a:rPr>
                <a:t>].</a:t>
              </a:r>
              <a:br>
                <a:rPr lang="en-US" altLang="en-US" sz="2000">
                  <a:latin typeface="Times New Roman" pitchFamily="18" charset="0"/>
                </a:rPr>
              </a:br>
              <a:r>
                <a:rPr lang="en-US" altLang="en-US" sz="2000">
                  <a:latin typeface="Times New Roman" pitchFamily="18" charset="0"/>
                </a:rPr>
                <a:t>	1.2.	If </a:t>
              </a:r>
              <a:r>
                <a:rPr lang="en-US" altLang="en-US" sz="2000" i="1">
                  <a:latin typeface="Times New Roman" pitchFamily="18" charset="0"/>
                </a:rPr>
                <a:t>p</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l</a:t>
              </a:r>
              <a:r>
                <a:rPr lang="en-US" altLang="en-US" sz="2000">
                  <a:latin typeface="Times New Roman" pitchFamily="18" charset="0"/>
                </a:rPr>
                <a:t>, swap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and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a:t>
              </a:r>
            </a:p>
          </p:txBody>
        </p:sp>
        <p:sp>
          <p:nvSpPr>
            <p:cNvPr id="40478" name="Text Box 807"/>
            <p:cNvSpPr txBox="1">
              <a:spLocks noChangeArrowheads="1"/>
            </p:cNvSpPr>
            <p:nvPr/>
          </p:nvSpPr>
          <p:spPr bwMode="auto">
            <a:xfrm>
              <a:off x="1490" y="3258"/>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0479" name="Text Box 808"/>
            <p:cNvSpPr txBox="1">
              <a:spLocks noChangeArrowheads="1"/>
            </p:cNvSpPr>
            <p:nvPr/>
          </p:nvSpPr>
          <p:spPr bwMode="auto">
            <a:xfrm>
              <a:off x="1250" y="3066"/>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0480" name="Text Box 809"/>
            <p:cNvSpPr txBox="1">
              <a:spLocks noChangeArrowheads="1"/>
            </p:cNvSpPr>
            <p:nvPr/>
          </p:nvSpPr>
          <p:spPr bwMode="auto">
            <a:xfrm>
              <a:off x="2070" y="3066"/>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0481" name="Text Box 810"/>
            <p:cNvSpPr txBox="1">
              <a:spLocks noChangeArrowheads="1"/>
            </p:cNvSpPr>
            <p:nvPr/>
          </p:nvSpPr>
          <p:spPr bwMode="auto">
            <a:xfrm>
              <a:off x="2498" y="3066"/>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0482" name="Text Box 811"/>
            <p:cNvSpPr txBox="1">
              <a:spLocks noChangeArrowheads="1"/>
            </p:cNvSpPr>
            <p:nvPr/>
          </p:nvSpPr>
          <p:spPr bwMode="auto">
            <a:xfrm>
              <a:off x="2930" y="3066"/>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0483" name="Text Box 812"/>
            <p:cNvSpPr txBox="1">
              <a:spLocks noChangeArrowheads="1"/>
            </p:cNvSpPr>
            <p:nvPr/>
          </p:nvSpPr>
          <p:spPr bwMode="auto">
            <a:xfrm>
              <a:off x="3362" y="3066"/>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0484" name="Text Box 813"/>
            <p:cNvSpPr txBox="1">
              <a:spLocks noChangeArrowheads="1"/>
            </p:cNvSpPr>
            <p:nvPr/>
          </p:nvSpPr>
          <p:spPr bwMode="auto">
            <a:xfrm>
              <a:off x="3794" y="3066"/>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0485" name="Text Box 814"/>
            <p:cNvSpPr txBox="1">
              <a:spLocks noChangeArrowheads="1"/>
            </p:cNvSpPr>
            <p:nvPr/>
          </p:nvSpPr>
          <p:spPr bwMode="auto">
            <a:xfrm>
              <a:off x="4994" y="3066"/>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0486" name="Text Box 815"/>
            <p:cNvSpPr txBox="1">
              <a:spLocks noChangeArrowheads="1"/>
            </p:cNvSpPr>
            <p:nvPr/>
          </p:nvSpPr>
          <p:spPr bwMode="auto">
            <a:xfrm>
              <a:off x="1949" y="325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0487" name="Text Box 816"/>
            <p:cNvSpPr txBox="1">
              <a:spLocks noChangeArrowheads="1"/>
            </p:cNvSpPr>
            <p:nvPr/>
          </p:nvSpPr>
          <p:spPr bwMode="auto">
            <a:xfrm>
              <a:off x="2381" y="325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0488" name="Text Box 817"/>
            <p:cNvSpPr txBox="1">
              <a:spLocks noChangeArrowheads="1"/>
            </p:cNvSpPr>
            <p:nvPr/>
          </p:nvSpPr>
          <p:spPr bwMode="auto">
            <a:xfrm>
              <a:off x="2813" y="325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0489" name="Text Box 818"/>
            <p:cNvSpPr txBox="1">
              <a:spLocks noChangeArrowheads="1"/>
            </p:cNvSpPr>
            <p:nvPr/>
          </p:nvSpPr>
          <p:spPr bwMode="auto">
            <a:xfrm>
              <a:off x="3245" y="325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0490" name="Text Box 819"/>
            <p:cNvSpPr txBox="1">
              <a:spLocks noChangeArrowheads="1"/>
            </p:cNvSpPr>
            <p:nvPr/>
          </p:nvSpPr>
          <p:spPr bwMode="auto">
            <a:xfrm>
              <a:off x="3677" y="325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0491" name="Text Box 820"/>
            <p:cNvSpPr txBox="1">
              <a:spLocks noChangeArrowheads="1"/>
            </p:cNvSpPr>
            <p:nvPr/>
          </p:nvSpPr>
          <p:spPr bwMode="auto">
            <a:xfrm>
              <a:off x="4109" y="325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0492" name="Text Box 821"/>
            <p:cNvSpPr txBox="1">
              <a:spLocks noChangeArrowheads="1"/>
            </p:cNvSpPr>
            <p:nvPr/>
          </p:nvSpPr>
          <p:spPr bwMode="auto">
            <a:xfrm>
              <a:off x="1490" y="369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1</a:t>
              </a:r>
            </a:p>
          </p:txBody>
        </p:sp>
        <p:sp>
          <p:nvSpPr>
            <p:cNvPr id="40493" name="Text Box 822"/>
            <p:cNvSpPr txBox="1">
              <a:spLocks noChangeArrowheads="1"/>
            </p:cNvSpPr>
            <p:nvPr/>
          </p:nvSpPr>
          <p:spPr bwMode="auto">
            <a:xfrm>
              <a:off x="1298" y="3258"/>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0494" name="Text Box 823"/>
            <p:cNvSpPr txBox="1">
              <a:spLocks noChangeArrowheads="1"/>
            </p:cNvSpPr>
            <p:nvPr/>
          </p:nvSpPr>
          <p:spPr bwMode="auto">
            <a:xfrm>
              <a:off x="1298" y="369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40495" name="Text Box 824"/>
            <p:cNvSpPr txBox="1">
              <a:spLocks noChangeArrowheads="1"/>
            </p:cNvSpPr>
            <p:nvPr/>
          </p:nvSpPr>
          <p:spPr bwMode="auto">
            <a:xfrm>
              <a:off x="4541" y="325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0496" name="Text Box 825"/>
            <p:cNvSpPr txBox="1">
              <a:spLocks noChangeArrowheads="1"/>
            </p:cNvSpPr>
            <p:nvPr/>
          </p:nvSpPr>
          <p:spPr bwMode="auto">
            <a:xfrm>
              <a:off x="4973" y="325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0497" name="Text Box 826"/>
            <p:cNvSpPr txBox="1">
              <a:spLocks noChangeArrowheads="1"/>
            </p:cNvSpPr>
            <p:nvPr/>
          </p:nvSpPr>
          <p:spPr bwMode="auto">
            <a:xfrm>
              <a:off x="4229" y="3066"/>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0498" name="Text Box 827"/>
            <p:cNvSpPr txBox="1">
              <a:spLocks noChangeArrowheads="1"/>
            </p:cNvSpPr>
            <p:nvPr/>
          </p:nvSpPr>
          <p:spPr bwMode="auto">
            <a:xfrm>
              <a:off x="4664" y="3066"/>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40499" name="Text Box 828"/>
            <p:cNvSpPr txBox="1">
              <a:spLocks noChangeArrowheads="1"/>
            </p:cNvSpPr>
            <p:nvPr/>
          </p:nvSpPr>
          <p:spPr bwMode="auto">
            <a:xfrm>
              <a:off x="2381" y="369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1</a:t>
              </a:r>
            </a:p>
          </p:txBody>
        </p:sp>
        <p:sp>
          <p:nvSpPr>
            <p:cNvPr id="40500" name="Text Box 829"/>
            <p:cNvSpPr txBox="1">
              <a:spLocks noChangeArrowheads="1"/>
            </p:cNvSpPr>
            <p:nvPr/>
          </p:nvSpPr>
          <p:spPr bwMode="auto">
            <a:xfrm>
              <a:off x="2189" y="369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p</a:t>
              </a:r>
            </a:p>
          </p:txBody>
        </p:sp>
      </p:grpSp>
      <p:grpSp>
        <p:nvGrpSpPr>
          <p:cNvPr id="8" name="Group 830"/>
          <p:cNvGrpSpPr>
            <a:grpSpLocks/>
          </p:cNvGrpSpPr>
          <p:nvPr/>
        </p:nvGrpSpPr>
        <p:grpSpPr bwMode="auto">
          <a:xfrm>
            <a:off x="864034" y="2596356"/>
            <a:ext cx="7086600" cy="3429000"/>
            <a:chOff x="1202" y="1957"/>
            <a:chExt cx="4464" cy="2160"/>
          </a:xfrm>
        </p:grpSpPr>
        <p:sp>
          <p:nvSpPr>
            <p:cNvPr id="40451" name="Rectangle 831"/>
            <p:cNvSpPr>
              <a:spLocks noChangeArrowheads="1"/>
            </p:cNvSpPr>
            <p:nvPr/>
          </p:nvSpPr>
          <p:spPr bwMode="auto">
            <a:xfrm>
              <a:off x="1202" y="1957"/>
              <a:ext cx="4464" cy="2160"/>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0452" name="Text Box 832"/>
            <p:cNvSpPr txBox="1">
              <a:spLocks noChangeArrowheads="1"/>
            </p:cNvSpPr>
            <p:nvPr/>
          </p:nvSpPr>
          <p:spPr bwMode="auto">
            <a:xfrm>
              <a:off x="1250" y="1995"/>
              <a:ext cx="4128"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rPr>
                <a:t>1.	For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–1, repeat:</a:t>
              </a:r>
              <a:br>
                <a:rPr lang="en-US" altLang="en-US" sz="2000">
                  <a:latin typeface="Times New Roman" pitchFamily="18" charset="0"/>
                </a:rPr>
              </a:br>
              <a:r>
                <a:rPr lang="en-US" altLang="en-US" sz="2000">
                  <a:latin typeface="Times New Roman" pitchFamily="18" charset="0"/>
                </a:rPr>
                <a:t>	1.1.	Set </a:t>
              </a:r>
              <a:r>
                <a:rPr lang="en-US" altLang="en-US" sz="2000" i="1">
                  <a:latin typeface="Times New Roman" pitchFamily="18" charset="0"/>
                </a:rPr>
                <a:t>p</a:t>
              </a:r>
              <a:r>
                <a:rPr lang="en-US" altLang="en-US" sz="2000">
                  <a:latin typeface="Times New Roman" pitchFamily="18" charset="0"/>
                </a:rPr>
                <a:t> such that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is the least of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1.2.	</a:t>
              </a:r>
              <a:r>
                <a:rPr lang="en-US" altLang="en-US" sz="2000">
                  <a:solidFill>
                    <a:srgbClr val="FF0000"/>
                  </a:solidFill>
                  <a:latin typeface="Times New Roman" pitchFamily="18" charset="0"/>
                </a:rPr>
                <a:t>If </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a:t>
              </a:r>
              <a:r>
                <a:rPr lang="en-US" altLang="en-US" sz="2000">
                  <a:solidFill>
                    <a:srgbClr val="FF0000"/>
                  </a:solidFill>
                  <a:latin typeface="Times New Roman" pitchFamily="18" charset="0"/>
                  <a:sym typeface="Symbol" pitchFamily="18" charset="2"/>
                </a:rPr>
                <a:t></a:t>
              </a:r>
              <a:r>
                <a:rPr lang="en-US" altLang="en-US" sz="2000">
                  <a:solidFill>
                    <a:srgbClr val="FF0000"/>
                  </a:solidFill>
                  <a:latin typeface="Times New Roman" pitchFamily="18" charset="0"/>
                </a:rPr>
                <a:t> </a:t>
              </a:r>
              <a:r>
                <a:rPr lang="en-US" altLang="en-US" sz="2000" i="1">
                  <a:solidFill>
                    <a:srgbClr val="FF0000"/>
                  </a:solidFill>
                  <a:latin typeface="Times New Roman" pitchFamily="18" charset="0"/>
                </a:rPr>
                <a:t>l</a:t>
              </a:r>
              <a:r>
                <a:rPr lang="en-US" altLang="en-US" sz="2000">
                  <a:latin typeface="Times New Roman" pitchFamily="18" charset="0"/>
                </a:rPr>
                <a:t>, swap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and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a:t>
              </a:r>
            </a:p>
          </p:txBody>
        </p:sp>
        <p:sp>
          <p:nvSpPr>
            <p:cNvPr id="40453" name="Text Box 833"/>
            <p:cNvSpPr txBox="1">
              <a:spLocks noChangeArrowheads="1"/>
            </p:cNvSpPr>
            <p:nvPr/>
          </p:nvSpPr>
          <p:spPr bwMode="auto">
            <a:xfrm>
              <a:off x="1490" y="3349"/>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0454" name="Text Box 834"/>
            <p:cNvSpPr txBox="1">
              <a:spLocks noChangeArrowheads="1"/>
            </p:cNvSpPr>
            <p:nvPr/>
          </p:nvSpPr>
          <p:spPr bwMode="auto">
            <a:xfrm>
              <a:off x="1250" y="3157"/>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0455" name="Text Box 835"/>
            <p:cNvSpPr txBox="1">
              <a:spLocks noChangeArrowheads="1"/>
            </p:cNvSpPr>
            <p:nvPr/>
          </p:nvSpPr>
          <p:spPr bwMode="auto">
            <a:xfrm>
              <a:off x="2070" y="3157"/>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0456" name="Text Box 836"/>
            <p:cNvSpPr txBox="1">
              <a:spLocks noChangeArrowheads="1"/>
            </p:cNvSpPr>
            <p:nvPr/>
          </p:nvSpPr>
          <p:spPr bwMode="auto">
            <a:xfrm>
              <a:off x="2498" y="3157"/>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0457" name="Text Box 837"/>
            <p:cNvSpPr txBox="1">
              <a:spLocks noChangeArrowheads="1"/>
            </p:cNvSpPr>
            <p:nvPr/>
          </p:nvSpPr>
          <p:spPr bwMode="auto">
            <a:xfrm>
              <a:off x="2930" y="3157"/>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0458" name="Text Box 838"/>
            <p:cNvSpPr txBox="1">
              <a:spLocks noChangeArrowheads="1"/>
            </p:cNvSpPr>
            <p:nvPr/>
          </p:nvSpPr>
          <p:spPr bwMode="auto">
            <a:xfrm>
              <a:off x="3362" y="3157"/>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0459" name="Text Box 839"/>
            <p:cNvSpPr txBox="1">
              <a:spLocks noChangeArrowheads="1"/>
            </p:cNvSpPr>
            <p:nvPr/>
          </p:nvSpPr>
          <p:spPr bwMode="auto">
            <a:xfrm>
              <a:off x="3794" y="3157"/>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0460" name="Text Box 840"/>
            <p:cNvSpPr txBox="1">
              <a:spLocks noChangeArrowheads="1"/>
            </p:cNvSpPr>
            <p:nvPr/>
          </p:nvSpPr>
          <p:spPr bwMode="auto">
            <a:xfrm>
              <a:off x="4994" y="3157"/>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0461" name="Text Box 841"/>
            <p:cNvSpPr txBox="1">
              <a:spLocks noChangeArrowheads="1"/>
            </p:cNvSpPr>
            <p:nvPr/>
          </p:nvSpPr>
          <p:spPr bwMode="auto">
            <a:xfrm>
              <a:off x="1949" y="334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0462" name="Text Box 842"/>
            <p:cNvSpPr txBox="1">
              <a:spLocks noChangeArrowheads="1"/>
            </p:cNvSpPr>
            <p:nvPr/>
          </p:nvSpPr>
          <p:spPr bwMode="auto">
            <a:xfrm>
              <a:off x="2381" y="334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0463" name="Text Box 843"/>
            <p:cNvSpPr txBox="1">
              <a:spLocks noChangeArrowheads="1"/>
            </p:cNvSpPr>
            <p:nvPr/>
          </p:nvSpPr>
          <p:spPr bwMode="auto">
            <a:xfrm>
              <a:off x="2813" y="334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0464" name="Text Box 844"/>
            <p:cNvSpPr txBox="1">
              <a:spLocks noChangeArrowheads="1"/>
            </p:cNvSpPr>
            <p:nvPr/>
          </p:nvSpPr>
          <p:spPr bwMode="auto">
            <a:xfrm>
              <a:off x="3245" y="334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0465" name="Text Box 845"/>
            <p:cNvSpPr txBox="1">
              <a:spLocks noChangeArrowheads="1"/>
            </p:cNvSpPr>
            <p:nvPr/>
          </p:nvSpPr>
          <p:spPr bwMode="auto">
            <a:xfrm>
              <a:off x="3677" y="334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0466" name="Text Box 846"/>
            <p:cNvSpPr txBox="1">
              <a:spLocks noChangeArrowheads="1"/>
            </p:cNvSpPr>
            <p:nvPr/>
          </p:nvSpPr>
          <p:spPr bwMode="auto">
            <a:xfrm>
              <a:off x="4109" y="334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0467" name="Text Box 847"/>
            <p:cNvSpPr txBox="1">
              <a:spLocks noChangeArrowheads="1"/>
            </p:cNvSpPr>
            <p:nvPr/>
          </p:nvSpPr>
          <p:spPr bwMode="auto">
            <a:xfrm>
              <a:off x="1490" y="378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1</a:t>
              </a:r>
            </a:p>
          </p:txBody>
        </p:sp>
        <p:sp>
          <p:nvSpPr>
            <p:cNvPr id="40468" name="Text Box 848"/>
            <p:cNvSpPr txBox="1">
              <a:spLocks noChangeArrowheads="1"/>
            </p:cNvSpPr>
            <p:nvPr/>
          </p:nvSpPr>
          <p:spPr bwMode="auto">
            <a:xfrm>
              <a:off x="1298" y="3349"/>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0469" name="Text Box 849"/>
            <p:cNvSpPr txBox="1">
              <a:spLocks noChangeArrowheads="1"/>
            </p:cNvSpPr>
            <p:nvPr/>
          </p:nvSpPr>
          <p:spPr bwMode="auto">
            <a:xfrm>
              <a:off x="1298" y="3781"/>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40470" name="Text Box 850"/>
            <p:cNvSpPr txBox="1">
              <a:spLocks noChangeArrowheads="1"/>
            </p:cNvSpPr>
            <p:nvPr/>
          </p:nvSpPr>
          <p:spPr bwMode="auto">
            <a:xfrm>
              <a:off x="4541" y="334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0471" name="Text Box 851"/>
            <p:cNvSpPr txBox="1">
              <a:spLocks noChangeArrowheads="1"/>
            </p:cNvSpPr>
            <p:nvPr/>
          </p:nvSpPr>
          <p:spPr bwMode="auto">
            <a:xfrm>
              <a:off x="4973" y="334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0472" name="Text Box 852"/>
            <p:cNvSpPr txBox="1">
              <a:spLocks noChangeArrowheads="1"/>
            </p:cNvSpPr>
            <p:nvPr/>
          </p:nvSpPr>
          <p:spPr bwMode="auto">
            <a:xfrm>
              <a:off x="4229" y="3157"/>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0473" name="Text Box 853"/>
            <p:cNvSpPr txBox="1">
              <a:spLocks noChangeArrowheads="1"/>
            </p:cNvSpPr>
            <p:nvPr/>
          </p:nvSpPr>
          <p:spPr bwMode="auto">
            <a:xfrm>
              <a:off x="4664" y="3157"/>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40474" name="Text Box 854"/>
            <p:cNvSpPr txBox="1">
              <a:spLocks noChangeArrowheads="1"/>
            </p:cNvSpPr>
            <p:nvPr/>
          </p:nvSpPr>
          <p:spPr bwMode="auto">
            <a:xfrm>
              <a:off x="2381" y="378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1</a:t>
              </a:r>
            </a:p>
          </p:txBody>
        </p:sp>
        <p:sp>
          <p:nvSpPr>
            <p:cNvPr id="40475" name="Text Box 855"/>
            <p:cNvSpPr txBox="1">
              <a:spLocks noChangeArrowheads="1"/>
            </p:cNvSpPr>
            <p:nvPr/>
          </p:nvSpPr>
          <p:spPr bwMode="auto">
            <a:xfrm>
              <a:off x="2189" y="3781"/>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p</a:t>
              </a:r>
            </a:p>
          </p:txBody>
        </p:sp>
      </p:grpSp>
      <p:grpSp>
        <p:nvGrpSpPr>
          <p:cNvPr id="9" name="Group 856"/>
          <p:cNvGrpSpPr>
            <a:grpSpLocks/>
          </p:cNvGrpSpPr>
          <p:nvPr/>
        </p:nvGrpSpPr>
        <p:grpSpPr bwMode="auto">
          <a:xfrm>
            <a:off x="864034" y="2596356"/>
            <a:ext cx="7086600" cy="3429000"/>
            <a:chOff x="1202" y="2047"/>
            <a:chExt cx="4464" cy="2160"/>
          </a:xfrm>
        </p:grpSpPr>
        <p:sp>
          <p:nvSpPr>
            <p:cNvPr id="40428" name="Rectangle 857"/>
            <p:cNvSpPr>
              <a:spLocks noChangeArrowheads="1"/>
            </p:cNvSpPr>
            <p:nvPr/>
          </p:nvSpPr>
          <p:spPr bwMode="auto">
            <a:xfrm>
              <a:off x="1202" y="2047"/>
              <a:ext cx="4464" cy="2160"/>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0429" name="Text Box 858"/>
            <p:cNvSpPr txBox="1">
              <a:spLocks noChangeArrowheads="1"/>
            </p:cNvSpPr>
            <p:nvPr/>
          </p:nvSpPr>
          <p:spPr bwMode="auto">
            <a:xfrm>
              <a:off x="1250" y="2085"/>
              <a:ext cx="4128"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rPr>
                <a:t>1.	</a:t>
              </a:r>
              <a:r>
                <a:rPr lang="en-US" altLang="en-US" sz="2000">
                  <a:solidFill>
                    <a:srgbClr val="FF0000"/>
                  </a:solidFill>
                  <a:latin typeface="Times New Roman" pitchFamily="18" charset="0"/>
                </a:rPr>
                <a:t>For </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left</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right</a:t>
              </a:r>
              <a:r>
                <a:rPr lang="en-US" altLang="en-US" sz="2000">
                  <a:solidFill>
                    <a:srgbClr val="FF0000"/>
                  </a:solidFill>
                  <a:latin typeface="Times New Roman" pitchFamily="18" charset="0"/>
                </a:rPr>
                <a:t>–1, repeat:</a:t>
              </a:r>
              <a:br>
                <a:rPr lang="en-US" altLang="en-US" sz="2000">
                  <a:latin typeface="Times New Roman" pitchFamily="18" charset="0"/>
                </a:rPr>
              </a:br>
              <a:r>
                <a:rPr lang="en-US" altLang="en-US" sz="2000">
                  <a:latin typeface="Times New Roman" pitchFamily="18" charset="0"/>
                </a:rPr>
                <a:t>	1.1.	Set </a:t>
              </a:r>
              <a:r>
                <a:rPr lang="en-US" altLang="en-US" sz="2000" i="1">
                  <a:latin typeface="Times New Roman" pitchFamily="18" charset="0"/>
                </a:rPr>
                <a:t>p</a:t>
              </a:r>
              <a:r>
                <a:rPr lang="en-US" altLang="en-US" sz="2000">
                  <a:latin typeface="Times New Roman" pitchFamily="18" charset="0"/>
                </a:rPr>
                <a:t> such that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is the least of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1.2.	If </a:t>
              </a:r>
              <a:r>
                <a:rPr lang="en-US" altLang="en-US" sz="2000" i="1">
                  <a:latin typeface="Times New Roman" pitchFamily="18" charset="0"/>
                </a:rPr>
                <a:t>p</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l</a:t>
              </a:r>
              <a:r>
                <a:rPr lang="en-US" altLang="en-US" sz="2000">
                  <a:latin typeface="Times New Roman" pitchFamily="18" charset="0"/>
                </a:rPr>
                <a:t>, swap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and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a:t>
              </a:r>
            </a:p>
          </p:txBody>
        </p:sp>
        <p:sp>
          <p:nvSpPr>
            <p:cNvPr id="40430" name="Text Box 859"/>
            <p:cNvSpPr txBox="1">
              <a:spLocks noChangeArrowheads="1"/>
            </p:cNvSpPr>
            <p:nvPr/>
          </p:nvSpPr>
          <p:spPr bwMode="auto">
            <a:xfrm>
              <a:off x="1490" y="3439"/>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0431" name="Text Box 860"/>
            <p:cNvSpPr txBox="1">
              <a:spLocks noChangeArrowheads="1"/>
            </p:cNvSpPr>
            <p:nvPr/>
          </p:nvSpPr>
          <p:spPr bwMode="auto">
            <a:xfrm>
              <a:off x="1250" y="3247"/>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0432" name="Text Box 861"/>
            <p:cNvSpPr txBox="1">
              <a:spLocks noChangeArrowheads="1"/>
            </p:cNvSpPr>
            <p:nvPr/>
          </p:nvSpPr>
          <p:spPr bwMode="auto">
            <a:xfrm>
              <a:off x="2070" y="3247"/>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0433" name="Text Box 862"/>
            <p:cNvSpPr txBox="1">
              <a:spLocks noChangeArrowheads="1"/>
            </p:cNvSpPr>
            <p:nvPr/>
          </p:nvSpPr>
          <p:spPr bwMode="auto">
            <a:xfrm>
              <a:off x="2498" y="3247"/>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0434" name="Text Box 863"/>
            <p:cNvSpPr txBox="1">
              <a:spLocks noChangeArrowheads="1"/>
            </p:cNvSpPr>
            <p:nvPr/>
          </p:nvSpPr>
          <p:spPr bwMode="auto">
            <a:xfrm>
              <a:off x="2930" y="3247"/>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0435" name="Text Box 864"/>
            <p:cNvSpPr txBox="1">
              <a:spLocks noChangeArrowheads="1"/>
            </p:cNvSpPr>
            <p:nvPr/>
          </p:nvSpPr>
          <p:spPr bwMode="auto">
            <a:xfrm>
              <a:off x="3362" y="3247"/>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0436" name="Text Box 865"/>
            <p:cNvSpPr txBox="1">
              <a:spLocks noChangeArrowheads="1"/>
            </p:cNvSpPr>
            <p:nvPr/>
          </p:nvSpPr>
          <p:spPr bwMode="auto">
            <a:xfrm>
              <a:off x="3794" y="3247"/>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0437" name="Text Box 866"/>
            <p:cNvSpPr txBox="1">
              <a:spLocks noChangeArrowheads="1"/>
            </p:cNvSpPr>
            <p:nvPr/>
          </p:nvSpPr>
          <p:spPr bwMode="auto">
            <a:xfrm>
              <a:off x="4994" y="3247"/>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0438" name="Text Box 867"/>
            <p:cNvSpPr txBox="1">
              <a:spLocks noChangeArrowheads="1"/>
            </p:cNvSpPr>
            <p:nvPr/>
          </p:nvSpPr>
          <p:spPr bwMode="auto">
            <a:xfrm>
              <a:off x="1949" y="3439"/>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0439" name="Text Box 868"/>
            <p:cNvSpPr txBox="1">
              <a:spLocks noChangeArrowheads="1"/>
            </p:cNvSpPr>
            <p:nvPr/>
          </p:nvSpPr>
          <p:spPr bwMode="auto">
            <a:xfrm>
              <a:off x="2381" y="343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0440" name="Text Box 869"/>
            <p:cNvSpPr txBox="1">
              <a:spLocks noChangeArrowheads="1"/>
            </p:cNvSpPr>
            <p:nvPr/>
          </p:nvSpPr>
          <p:spPr bwMode="auto">
            <a:xfrm>
              <a:off x="2813" y="343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0441" name="Text Box 870"/>
            <p:cNvSpPr txBox="1">
              <a:spLocks noChangeArrowheads="1"/>
            </p:cNvSpPr>
            <p:nvPr/>
          </p:nvSpPr>
          <p:spPr bwMode="auto">
            <a:xfrm>
              <a:off x="3245" y="343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0442" name="Text Box 871"/>
            <p:cNvSpPr txBox="1">
              <a:spLocks noChangeArrowheads="1"/>
            </p:cNvSpPr>
            <p:nvPr/>
          </p:nvSpPr>
          <p:spPr bwMode="auto">
            <a:xfrm>
              <a:off x="3677" y="343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0443" name="Text Box 872"/>
            <p:cNvSpPr txBox="1">
              <a:spLocks noChangeArrowheads="1"/>
            </p:cNvSpPr>
            <p:nvPr/>
          </p:nvSpPr>
          <p:spPr bwMode="auto">
            <a:xfrm>
              <a:off x="4109" y="343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0444" name="Text Box 873"/>
            <p:cNvSpPr txBox="1">
              <a:spLocks noChangeArrowheads="1"/>
            </p:cNvSpPr>
            <p:nvPr/>
          </p:nvSpPr>
          <p:spPr bwMode="auto">
            <a:xfrm>
              <a:off x="1490" y="387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2</a:t>
              </a:r>
            </a:p>
          </p:txBody>
        </p:sp>
        <p:sp>
          <p:nvSpPr>
            <p:cNvPr id="40445" name="Text Box 874"/>
            <p:cNvSpPr txBox="1">
              <a:spLocks noChangeArrowheads="1"/>
            </p:cNvSpPr>
            <p:nvPr/>
          </p:nvSpPr>
          <p:spPr bwMode="auto">
            <a:xfrm>
              <a:off x="1298" y="3439"/>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0446" name="Text Box 875"/>
            <p:cNvSpPr txBox="1">
              <a:spLocks noChangeArrowheads="1"/>
            </p:cNvSpPr>
            <p:nvPr/>
          </p:nvSpPr>
          <p:spPr bwMode="auto">
            <a:xfrm>
              <a:off x="1298" y="3871"/>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40447" name="Text Box 876"/>
            <p:cNvSpPr txBox="1">
              <a:spLocks noChangeArrowheads="1"/>
            </p:cNvSpPr>
            <p:nvPr/>
          </p:nvSpPr>
          <p:spPr bwMode="auto">
            <a:xfrm>
              <a:off x="4541" y="343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0448" name="Text Box 877"/>
            <p:cNvSpPr txBox="1">
              <a:spLocks noChangeArrowheads="1"/>
            </p:cNvSpPr>
            <p:nvPr/>
          </p:nvSpPr>
          <p:spPr bwMode="auto">
            <a:xfrm>
              <a:off x="4973" y="343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0449" name="Text Box 878"/>
            <p:cNvSpPr txBox="1">
              <a:spLocks noChangeArrowheads="1"/>
            </p:cNvSpPr>
            <p:nvPr/>
          </p:nvSpPr>
          <p:spPr bwMode="auto">
            <a:xfrm>
              <a:off x="4229" y="3247"/>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0450" name="Text Box 879"/>
            <p:cNvSpPr txBox="1">
              <a:spLocks noChangeArrowheads="1"/>
            </p:cNvSpPr>
            <p:nvPr/>
          </p:nvSpPr>
          <p:spPr bwMode="auto">
            <a:xfrm>
              <a:off x="4664" y="3247"/>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grpSp>
      <p:grpSp>
        <p:nvGrpSpPr>
          <p:cNvPr id="10" name="Group 880"/>
          <p:cNvGrpSpPr>
            <a:grpSpLocks/>
          </p:cNvGrpSpPr>
          <p:nvPr/>
        </p:nvGrpSpPr>
        <p:grpSpPr bwMode="auto">
          <a:xfrm>
            <a:off x="864034" y="2596356"/>
            <a:ext cx="7086600" cy="3429000"/>
            <a:chOff x="1202" y="2138"/>
            <a:chExt cx="4464" cy="2160"/>
          </a:xfrm>
        </p:grpSpPr>
        <p:sp>
          <p:nvSpPr>
            <p:cNvPr id="40403" name="Rectangle 881"/>
            <p:cNvSpPr>
              <a:spLocks noChangeArrowheads="1"/>
            </p:cNvSpPr>
            <p:nvPr/>
          </p:nvSpPr>
          <p:spPr bwMode="auto">
            <a:xfrm>
              <a:off x="1202" y="2138"/>
              <a:ext cx="4464" cy="2160"/>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0404" name="Text Box 882"/>
            <p:cNvSpPr txBox="1">
              <a:spLocks noChangeArrowheads="1"/>
            </p:cNvSpPr>
            <p:nvPr/>
          </p:nvSpPr>
          <p:spPr bwMode="auto">
            <a:xfrm>
              <a:off x="1250" y="2176"/>
              <a:ext cx="4128"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rPr>
                <a:t>1.	For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–1, repeat:</a:t>
              </a:r>
              <a:br>
                <a:rPr lang="en-US" altLang="en-US" sz="2000">
                  <a:latin typeface="Times New Roman" pitchFamily="18" charset="0"/>
                </a:rPr>
              </a:br>
              <a:r>
                <a:rPr lang="en-US" altLang="en-US" sz="2000">
                  <a:latin typeface="Times New Roman" pitchFamily="18" charset="0"/>
                </a:rPr>
                <a:t>	1.1.	</a:t>
              </a:r>
              <a:r>
                <a:rPr lang="en-US" altLang="en-US" sz="2000">
                  <a:solidFill>
                    <a:srgbClr val="FF0000"/>
                  </a:solidFill>
                  <a:latin typeface="Times New Roman" pitchFamily="18" charset="0"/>
                </a:rPr>
                <a:t>Set </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such that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is the least of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right</a:t>
              </a:r>
              <a:r>
                <a:rPr lang="en-US" altLang="en-US" sz="2000">
                  <a:solidFill>
                    <a:srgbClr val="FF0000"/>
                  </a:solidFill>
                  <a:latin typeface="Times New Roman" pitchFamily="18" charset="0"/>
                </a:rPr>
                <a:t>].</a:t>
              </a:r>
              <a:br>
                <a:rPr lang="en-US" altLang="en-US" sz="2000">
                  <a:latin typeface="Times New Roman" pitchFamily="18" charset="0"/>
                </a:rPr>
              </a:br>
              <a:r>
                <a:rPr lang="en-US" altLang="en-US" sz="2000">
                  <a:latin typeface="Times New Roman" pitchFamily="18" charset="0"/>
                </a:rPr>
                <a:t>	1.2.	If </a:t>
              </a:r>
              <a:r>
                <a:rPr lang="en-US" altLang="en-US" sz="2000" i="1">
                  <a:latin typeface="Times New Roman" pitchFamily="18" charset="0"/>
                </a:rPr>
                <a:t>p</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l</a:t>
              </a:r>
              <a:r>
                <a:rPr lang="en-US" altLang="en-US" sz="2000">
                  <a:latin typeface="Times New Roman" pitchFamily="18" charset="0"/>
                </a:rPr>
                <a:t>, swap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and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a:t>
              </a:r>
            </a:p>
          </p:txBody>
        </p:sp>
        <p:sp>
          <p:nvSpPr>
            <p:cNvPr id="40405" name="Text Box 883"/>
            <p:cNvSpPr txBox="1">
              <a:spLocks noChangeArrowheads="1"/>
            </p:cNvSpPr>
            <p:nvPr/>
          </p:nvSpPr>
          <p:spPr bwMode="auto">
            <a:xfrm>
              <a:off x="1490" y="3530"/>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0406" name="Text Box 884"/>
            <p:cNvSpPr txBox="1">
              <a:spLocks noChangeArrowheads="1"/>
            </p:cNvSpPr>
            <p:nvPr/>
          </p:nvSpPr>
          <p:spPr bwMode="auto">
            <a:xfrm>
              <a:off x="1250" y="3338"/>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0407" name="Text Box 885"/>
            <p:cNvSpPr txBox="1">
              <a:spLocks noChangeArrowheads="1"/>
            </p:cNvSpPr>
            <p:nvPr/>
          </p:nvSpPr>
          <p:spPr bwMode="auto">
            <a:xfrm>
              <a:off x="2070" y="3338"/>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0408" name="Text Box 886"/>
            <p:cNvSpPr txBox="1">
              <a:spLocks noChangeArrowheads="1"/>
            </p:cNvSpPr>
            <p:nvPr/>
          </p:nvSpPr>
          <p:spPr bwMode="auto">
            <a:xfrm>
              <a:off x="2498" y="3338"/>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0409" name="Text Box 887"/>
            <p:cNvSpPr txBox="1">
              <a:spLocks noChangeArrowheads="1"/>
            </p:cNvSpPr>
            <p:nvPr/>
          </p:nvSpPr>
          <p:spPr bwMode="auto">
            <a:xfrm>
              <a:off x="2930" y="3338"/>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0410" name="Text Box 888"/>
            <p:cNvSpPr txBox="1">
              <a:spLocks noChangeArrowheads="1"/>
            </p:cNvSpPr>
            <p:nvPr/>
          </p:nvSpPr>
          <p:spPr bwMode="auto">
            <a:xfrm>
              <a:off x="3362" y="3338"/>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0411" name="Text Box 889"/>
            <p:cNvSpPr txBox="1">
              <a:spLocks noChangeArrowheads="1"/>
            </p:cNvSpPr>
            <p:nvPr/>
          </p:nvSpPr>
          <p:spPr bwMode="auto">
            <a:xfrm>
              <a:off x="3794" y="3338"/>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0412" name="Text Box 890"/>
            <p:cNvSpPr txBox="1">
              <a:spLocks noChangeArrowheads="1"/>
            </p:cNvSpPr>
            <p:nvPr/>
          </p:nvSpPr>
          <p:spPr bwMode="auto">
            <a:xfrm>
              <a:off x="4994" y="3338"/>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0413" name="Text Box 891"/>
            <p:cNvSpPr txBox="1">
              <a:spLocks noChangeArrowheads="1"/>
            </p:cNvSpPr>
            <p:nvPr/>
          </p:nvSpPr>
          <p:spPr bwMode="auto">
            <a:xfrm>
              <a:off x="1949" y="3530"/>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0414" name="Text Box 892"/>
            <p:cNvSpPr txBox="1">
              <a:spLocks noChangeArrowheads="1"/>
            </p:cNvSpPr>
            <p:nvPr/>
          </p:nvSpPr>
          <p:spPr bwMode="auto">
            <a:xfrm>
              <a:off x="2381" y="353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0415" name="Text Box 893"/>
            <p:cNvSpPr txBox="1">
              <a:spLocks noChangeArrowheads="1"/>
            </p:cNvSpPr>
            <p:nvPr/>
          </p:nvSpPr>
          <p:spPr bwMode="auto">
            <a:xfrm>
              <a:off x="2813" y="353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0416" name="Text Box 894"/>
            <p:cNvSpPr txBox="1">
              <a:spLocks noChangeArrowheads="1"/>
            </p:cNvSpPr>
            <p:nvPr/>
          </p:nvSpPr>
          <p:spPr bwMode="auto">
            <a:xfrm>
              <a:off x="3245" y="353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0417" name="Text Box 895"/>
            <p:cNvSpPr txBox="1">
              <a:spLocks noChangeArrowheads="1"/>
            </p:cNvSpPr>
            <p:nvPr/>
          </p:nvSpPr>
          <p:spPr bwMode="auto">
            <a:xfrm>
              <a:off x="3677" y="353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0418" name="Text Box 896"/>
            <p:cNvSpPr txBox="1">
              <a:spLocks noChangeArrowheads="1"/>
            </p:cNvSpPr>
            <p:nvPr/>
          </p:nvSpPr>
          <p:spPr bwMode="auto">
            <a:xfrm>
              <a:off x="4109" y="353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0419" name="Text Box 897"/>
            <p:cNvSpPr txBox="1">
              <a:spLocks noChangeArrowheads="1"/>
            </p:cNvSpPr>
            <p:nvPr/>
          </p:nvSpPr>
          <p:spPr bwMode="auto">
            <a:xfrm>
              <a:off x="1490" y="396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2</a:t>
              </a:r>
            </a:p>
          </p:txBody>
        </p:sp>
        <p:sp>
          <p:nvSpPr>
            <p:cNvPr id="40420" name="Text Box 898"/>
            <p:cNvSpPr txBox="1">
              <a:spLocks noChangeArrowheads="1"/>
            </p:cNvSpPr>
            <p:nvPr/>
          </p:nvSpPr>
          <p:spPr bwMode="auto">
            <a:xfrm>
              <a:off x="1298" y="3530"/>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0421" name="Text Box 899"/>
            <p:cNvSpPr txBox="1">
              <a:spLocks noChangeArrowheads="1"/>
            </p:cNvSpPr>
            <p:nvPr/>
          </p:nvSpPr>
          <p:spPr bwMode="auto">
            <a:xfrm>
              <a:off x="1298" y="3962"/>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40422" name="Text Box 900"/>
            <p:cNvSpPr txBox="1">
              <a:spLocks noChangeArrowheads="1"/>
            </p:cNvSpPr>
            <p:nvPr/>
          </p:nvSpPr>
          <p:spPr bwMode="auto">
            <a:xfrm>
              <a:off x="4541" y="353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0423" name="Text Box 901"/>
            <p:cNvSpPr txBox="1">
              <a:spLocks noChangeArrowheads="1"/>
            </p:cNvSpPr>
            <p:nvPr/>
          </p:nvSpPr>
          <p:spPr bwMode="auto">
            <a:xfrm>
              <a:off x="4973" y="353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0424" name="Text Box 902"/>
            <p:cNvSpPr txBox="1">
              <a:spLocks noChangeArrowheads="1"/>
            </p:cNvSpPr>
            <p:nvPr/>
          </p:nvSpPr>
          <p:spPr bwMode="auto">
            <a:xfrm>
              <a:off x="4229" y="3338"/>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0425" name="Text Box 903"/>
            <p:cNvSpPr txBox="1">
              <a:spLocks noChangeArrowheads="1"/>
            </p:cNvSpPr>
            <p:nvPr/>
          </p:nvSpPr>
          <p:spPr bwMode="auto">
            <a:xfrm>
              <a:off x="4664" y="3338"/>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40426" name="Text Box 904"/>
            <p:cNvSpPr txBox="1">
              <a:spLocks noChangeArrowheads="1"/>
            </p:cNvSpPr>
            <p:nvPr/>
          </p:nvSpPr>
          <p:spPr bwMode="auto">
            <a:xfrm>
              <a:off x="2381" y="396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8</a:t>
              </a:r>
            </a:p>
          </p:txBody>
        </p:sp>
        <p:sp>
          <p:nvSpPr>
            <p:cNvPr id="40427" name="Text Box 905"/>
            <p:cNvSpPr txBox="1">
              <a:spLocks noChangeArrowheads="1"/>
            </p:cNvSpPr>
            <p:nvPr/>
          </p:nvSpPr>
          <p:spPr bwMode="auto">
            <a:xfrm>
              <a:off x="2189" y="3962"/>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p</a:t>
              </a:r>
            </a:p>
          </p:txBody>
        </p:sp>
      </p:grpSp>
      <p:grpSp>
        <p:nvGrpSpPr>
          <p:cNvPr id="11" name="Group 906"/>
          <p:cNvGrpSpPr>
            <a:grpSpLocks/>
          </p:cNvGrpSpPr>
          <p:nvPr/>
        </p:nvGrpSpPr>
        <p:grpSpPr bwMode="auto">
          <a:xfrm>
            <a:off x="864034" y="2596356"/>
            <a:ext cx="7086600" cy="3429000"/>
            <a:chOff x="1202" y="2223"/>
            <a:chExt cx="4464" cy="2160"/>
          </a:xfrm>
        </p:grpSpPr>
        <p:sp>
          <p:nvSpPr>
            <p:cNvPr id="40378" name="Rectangle 907"/>
            <p:cNvSpPr>
              <a:spLocks noChangeArrowheads="1"/>
            </p:cNvSpPr>
            <p:nvPr/>
          </p:nvSpPr>
          <p:spPr bwMode="auto">
            <a:xfrm>
              <a:off x="1202" y="2223"/>
              <a:ext cx="4464" cy="2160"/>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0379" name="Text Box 908"/>
            <p:cNvSpPr txBox="1">
              <a:spLocks noChangeArrowheads="1"/>
            </p:cNvSpPr>
            <p:nvPr/>
          </p:nvSpPr>
          <p:spPr bwMode="auto">
            <a:xfrm>
              <a:off x="1250" y="2261"/>
              <a:ext cx="4128"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rPr>
                <a:t>1.	For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–1, repeat:</a:t>
              </a:r>
              <a:br>
                <a:rPr lang="en-US" altLang="en-US" sz="2000">
                  <a:latin typeface="Times New Roman" pitchFamily="18" charset="0"/>
                </a:rPr>
              </a:br>
              <a:r>
                <a:rPr lang="en-US" altLang="en-US" sz="2000">
                  <a:latin typeface="Times New Roman" pitchFamily="18" charset="0"/>
                </a:rPr>
                <a:t>	1.1.	Set </a:t>
              </a:r>
              <a:r>
                <a:rPr lang="en-US" altLang="en-US" sz="2000" i="1">
                  <a:latin typeface="Times New Roman" pitchFamily="18" charset="0"/>
                </a:rPr>
                <a:t>p</a:t>
              </a:r>
              <a:r>
                <a:rPr lang="en-US" altLang="en-US" sz="2000">
                  <a:latin typeface="Times New Roman" pitchFamily="18" charset="0"/>
                </a:rPr>
                <a:t> such that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is the least of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1.2.	</a:t>
              </a:r>
              <a:r>
                <a:rPr lang="en-US" altLang="en-US" sz="2000">
                  <a:solidFill>
                    <a:srgbClr val="FF0000"/>
                  </a:solidFill>
                  <a:latin typeface="Times New Roman" pitchFamily="18" charset="0"/>
                </a:rPr>
                <a:t>If </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a:t>
              </a:r>
              <a:r>
                <a:rPr lang="en-US" altLang="en-US" sz="2000">
                  <a:solidFill>
                    <a:srgbClr val="FF0000"/>
                  </a:solidFill>
                  <a:latin typeface="Times New Roman" pitchFamily="18" charset="0"/>
                  <a:sym typeface="Symbol" pitchFamily="18" charset="2"/>
                </a:rPr>
                <a:t></a:t>
              </a:r>
              <a:r>
                <a:rPr lang="en-US" altLang="en-US" sz="2000">
                  <a:solidFill>
                    <a:srgbClr val="FF0000"/>
                  </a:solidFill>
                  <a:latin typeface="Times New Roman" pitchFamily="18" charset="0"/>
                </a:rPr>
                <a:t> </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 swap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and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a:t>
              </a:r>
              <a:br>
                <a:rPr lang="en-US" altLang="en-US" sz="2000">
                  <a:latin typeface="Times New Roman" pitchFamily="18" charset="0"/>
                </a:rPr>
              </a:br>
              <a:r>
                <a:rPr lang="en-US" altLang="en-US" sz="2000">
                  <a:latin typeface="Times New Roman" pitchFamily="18" charset="0"/>
                </a:rPr>
                <a:t>2.	Terminate.</a:t>
              </a:r>
            </a:p>
          </p:txBody>
        </p:sp>
        <p:sp>
          <p:nvSpPr>
            <p:cNvPr id="40380" name="Text Box 909"/>
            <p:cNvSpPr txBox="1">
              <a:spLocks noChangeArrowheads="1"/>
            </p:cNvSpPr>
            <p:nvPr/>
          </p:nvSpPr>
          <p:spPr bwMode="auto">
            <a:xfrm>
              <a:off x="1490" y="3615"/>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0381" name="Text Box 910"/>
            <p:cNvSpPr txBox="1">
              <a:spLocks noChangeArrowheads="1"/>
            </p:cNvSpPr>
            <p:nvPr/>
          </p:nvSpPr>
          <p:spPr bwMode="auto">
            <a:xfrm>
              <a:off x="1250" y="3423"/>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0382" name="Text Box 911"/>
            <p:cNvSpPr txBox="1">
              <a:spLocks noChangeArrowheads="1"/>
            </p:cNvSpPr>
            <p:nvPr/>
          </p:nvSpPr>
          <p:spPr bwMode="auto">
            <a:xfrm>
              <a:off x="2070" y="342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0383" name="Text Box 912"/>
            <p:cNvSpPr txBox="1">
              <a:spLocks noChangeArrowheads="1"/>
            </p:cNvSpPr>
            <p:nvPr/>
          </p:nvSpPr>
          <p:spPr bwMode="auto">
            <a:xfrm>
              <a:off x="2498" y="342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0384" name="Text Box 913"/>
            <p:cNvSpPr txBox="1">
              <a:spLocks noChangeArrowheads="1"/>
            </p:cNvSpPr>
            <p:nvPr/>
          </p:nvSpPr>
          <p:spPr bwMode="auto">
            <a:xfrm>
              <a:off x="2930" y="342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0385" name="Text Box 914"/>
            <p:cNvSpPr txBox="1">
              <a:spLocks noChangeArrowheads="1"/>
            </p:cNvSpPr>
            <p:nvPr/>
          </p:nvSpPr>
          <p:spPr bwMode="auto">
            <a:xfrm>
              <a:off x="3362" y="342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0386" name="Text Box 915"/>
            <p:cNvSpPr txBox="1">
              <a:spLocks noChangeArrowheads="1"/>
            </p:cNvSpPr>
            <p:nvPr/>
          </p:nvSpPr>
          <p:spPr bwMode="auto">
            <a:xfrm>
              <a:off x="3794" y="342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0387" name="Text Box 916"/>
            <p:cNvSpPr txBox="1">
              <a:spLocks noChangeArrowheads="1"/>
            </p:cNvSpPr>
            <p:nvPr/>
          </p:nvSpPr>
          <p:spPr bwMode="auto">
            <a:xfrm>
              <a:off x="4994" y="3423"/>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0388" name="Text Box 917"/>
            <p:cNvSpPr txBox="1">
              <a:spLocks noChangeArrowheads="1"/>
            </p:cNvSpPr>
            <p:nvPr/>
          </p:nvSpPr>
          <p:spPr bwMode="auto">
            <a:xfrm>
              <a:off x="1949" y="3615"/>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0389" name="Text Box 918"/>
            <p:cNvSpPr txBox="1">
              <a:spLocks noChangeArrowheads="1"/>
            </p:cNvSpPr>
            <p:nvPr/>
          </p:nvSpPr>
          <p:spPr bwMode="auto">
            <a:xfrm>
              <a:off x="2381" y="361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0390" name="Text Box 919"/>
            <p:cNvSpPr txBox="1">
              <a:spLocks noChangeArrowheads="1"/>
            </p:cNvSpPr>
            <p:nvPr/>
          </p:nvSpPr>
          <p:spPr bwMode="auto">
            <a:xfrm>
              <a:off x="2813" y="361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0391" name="Text Box 920"/>
            <p:cNvSpPr txBox="1">
              <a:spLocks noChangeArrowheads="1"/>
            </p:cNvSpPr>
            <p:nvPr/>
          </p:nvSpPr>
          <p:spPr bwMode="auto">
            <a:xfrm>
              <a:off x="3245" y="361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0392" name="Text Box 921"/>
            <p:cNvSpPr txBox="1">
              <a:spLocks noChangeArrowheads="1"/>
            </p:cNvSpPr>
            <p:nvPr/>
          </p:nvSpPr>
          <p:spPr bwMode="auto">
            <a:xfrm>
              <a:off x="3677" y="361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0393" name="Text Box 922"/>
            <p:cNvSpPr txBox="1">
              <a:spLocks noChangeArrowheads="1"/>
            </p:cNvSpPr>
            <p:nvPr/>
          </p:nvSpPr>
          <p:spPr bwMode="auto">
            <a:xfrm>
              <a:off x="4109" y="361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0394" name="Text Box 923"/>
            <p:cNvSpPr txBox="1">
              <a:spLocks noChangeArrowheads="1"/>
            </p:cNvSpPr>
            <p:nvPr/>
          </p:nvSpPr>
          <p:spPr bwMode="auto">
            <a:xfrm>
              <a:off x="1490" y="404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2</a:t>
              </a:r>
            </a:p>
          </p:txBody>
        </p:sp>
        <p:sp>
          <p:nvSpPr>
            <p:cNvPr id="40395" name="Text Box 924"/>
            <p:cNvSpPr txBox="1">
              <a:spLocks noChangeArrowheads="1"/>
            </p:cNvSpPr>
            <p:nvPr/>
          </p:nvSpPr>
          <p:spPr bwMode="auto">
            <a:xfrm>
              <a:off x="1298" y="3615"/>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0396" name="Text Box 925"/>
            <p:cNvSpPr txBox="1">
              <a:spLocks noChangeArrowheads="1"/>
            </p:cNvSpPr>
            <p:nvPr/>
          </p:nvSpPr>
          <p:spPr bwMode="auto">
            <a:xfrm>
              <a:off x="1298" y="4047"/>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40397" name="Text Box 926"/>
            <p:cNvSpPr txBox="1">
              <a:spLocks noChangeArrowheads="1"/>
            </p:cNvSpPr>
            <p:nvPr/>
          </p:nvSpPr>
          <p:spPr bwMode="auto">
            <a:xfrm>
              <a:off x="4541" y="361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0398" name="Text Box 927"/>
            <p:cNvSpPr txBox="1">
              <a:spLocks noChangeArrowheads="1"/>
            </p:cNvSpPr>
            <p:nvPr/>
          </p:nvSpPr>
          <p:spPr bwMode="auto">
            <a:xfrm>
              <a:off x="4973" y="361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0399" name="Text Box 928"/>
            <p:cNvSpPr txBox="1">
              <a:spLocks noChangeArrowheads="1"/>
            </p:cNvSpPr>
            <p:nvPr/>
          </p:nvSpPr>
          <p:spPr bwMode="auto">
            <a:xfrm>
              <a:off x="4229" y="342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0400" name="Text Box 929"/>
            <p:cNvSpPr txBox="1">
              <a:spLocks noChangeArrowheads="1"/>
            </p:cNvSpPr>
            <p:nvPr/>
          </p:nvSpPr>
          <p:spPr bwMode="auto">
            <a:xfrm>
              <a:off x="4664" y="342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40401" name="Text Box 930"/>
            <p:cNvSpPr txBox="1">
              <a:spLocks noChangeArrowheads="1"/>
            </p:cNvSpPr>
            <p:nvPr/>
          </p:nvSpPr>
          <p:spPr bwMode="auto">
            <a:xfrm>
              <a:off x="2381" y="404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8</a:t>
              </a:r>
            </a:p>
          </p:txBody>
        </p:sp>
        <p:sp>
          <p:nvSpPr>
            <p:cNvPr id="40402" name="Text Box 931"/>
            <p:cNvSpPr txBox="1">
              <a:spLocks noChangeArrowheads="1"/>
            </p:cNvSpPr>
            <p:nvPr/>
          </p:nvSpPr>
          <p:spPr bwMode="auto">
            <a:xfrm>
              <a:off x="2189" y="4047"/>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p</a:t>
              </a:r>
            </a:p>
          </p:txBody>
        </p:sp>
      </p:grpSp>
      <p:grpSp>
        <p:nvGrpSpPr>
          <p:cNvPr id="12" name="Group 932"/>
          <p:cNvGrpSpPr>
            <a:grpSpLocks/>
          </p:cNvGrpSpPr>
          <p:nvPr/>
        </p:nvGrpSpPr>
        <p:grpSpPr bwMode="auto">
          <a:xfrm>
            <a:off x="864034" y="2596356"/>
            <a:ext cx="7086600" cy="3429000"/>
            <a:chOff x="1202" y="1412"/>
            <a:chExt cx="4464" cy="2160"/>
          </a:xfrm>
        </p:grpSpPr>
        <p:sp>
          <p:nvSpPr>
            <p:cNvPr id="40355" name="Rectangle 933"/>
            <p:cNvSpPr>
              <a:spLocks noChangeArrowheads="1"/>
            </p:cNvSpPr>
            <p:nvPr/>
          </p:nvSpPr>
          <p:spPr bwMode="auto">
            <a:xfrm>
              <a:off x="1202" y="1412"/>
              <a:ext cx="4464" cy="2160"/>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0356" name="Text Box 934"/>
            <p:cNvSpPr txBox="1">
              <a:spLocks noChangeArrowheads="1"/>
            </p:cNvSpPr>
            <p:nvPr/>
          </p:nvSpPr>
          <p:spPr bwMode="auto">
            <a:xfrm>
              <a:off x="1250" y="1450"/>
              <a:ext cx="4128"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rPr>
                <a:t>1.	</a:t>
              </a:r>
              <a:r>
                <a:rPr lang="en-US" altLang="en-US" sz="2000">
                  <a:solidFill>
                    <a:srgbClr val="FF0000"/>
                  </a:solidFill>
                  <a:latin typeface="Times New Roman" pitchFamily="18" charset="0"/>
                </a:rPr>
                <a:t>For </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left</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right</a:t>
              </a:r>
              <a:r>
                <a:rPr lang="en-US" altLang="en-US" sz="2000">
                  <a:solidFill>
                    <a:srgbClr val="FF0000"/>
                  </a:solidFill>
                  <a:latin typeface="Times New Roman" pitchFamily="18" charset="0"/>
                </a:rPr>
                <a:t>–1, repeat:</a:t>
              </a:r>
              <a:br>
                <a:rPr lang="en-US" altLang="en-US" sz="2000">
                  <a:latin typeface="Times New Roman" pitchFamily="18" charset="0"/>
                </a:rPr>
              </a:br>
              <a:r>
                <a:rPr lang="en-US" altLang="en-US" sz="2000">
                  <a:latin typeface="Times New Roman" pitchFamily="18" charset="0"/>
                </a:rPr>
                <a:t>	1.1.	Set </a:t>
              </a:r>
              <a:r>
                <a:rPr lang="en-US" altLang="en-US" sz="2000" i="1">
                  <a:latin typeface="Times New Roman" pitchFamily="18" charset="0"/>
                </a:rPr>
                <a:t>p</a:t>
              </a:r>
              <a:r>
                <a:rPr lang="en-US" altLang="en-US" sz="2000">
                  <a:latin typeface="Times New Roman" pitchFamily="18" charset="0"/>
                </a:rPr>
                <a:t> such that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is the least of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1.2.	If </a:t>
              </a:r>
              <a:r>
                <a:rPr lang="en-US" altLang="en-US" sz="2000" i="1">
                  <a:latin typeface="Times New Roman" pitchFamily="18" charset="0"/>
                </a:rPr>
                <a:t>p</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l</a:t>
              </a:r>
              <a:r>
                <a:rPr lang="en-US" altLang="en-US" sz="2000">
                  <a:latin typeface="Times New Roman" pitchFamily="18" charset="0"/>
                </a:rPr>
                <a:t>, swap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and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a:t>
              </a:r>
            </a:p>
          </p:txBody>
        </p:sp>
        <p:sp>
          <p:nvSpPr>
            <p:cNvPr id="40357" name="Text Box 935"/>
            <p:cNvSpPr txBox="1">
              <a:spLocks noChangeArrowheads="1"/>
            </p:cNvSpPr>
            <p:nvPr/>
          </p:nvSpPr>
          <p:spPr bwMode="auto">
            <a:xfrm>
              <a:off x="1490" y="280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0358" name="Text Box 936"/>
            <p:cNvSpPr txBox="1">
              <a:spLocks noChangeArrowheads="1"/>
            </p:cNvSpPr>
            <p:nvPr/>
          </p:nvSpPr>
          <p:spPr bwMode="auto">
            <a:xfrm>
              <a:off x="1250" y="2612"/>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0359" name="Text Box 937"/>
            <p:cNvSpPr txBox="1">
              <a:spLocks noChangeArrowheads="1"/>
            </p:cNvSpPr>
            <p:nvPr/>
          </p:nvSpPr>
          <p:spPr bwMode="auto">
            <a:xfrm>
              <a:off x="2070" y="261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0360" name="Text Box 938"/>
            <p:cNvSpPr txBox="1">
              <a:spLocks noChangeArrowheads="1"/>
            </p:cNvSpPr>
            <p:nvPr/>
          </p:nvSpPr>
          <p:spPr bwMode="auto">
            <a:xfrm>
              <a:off x="2498" y="261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0361" name="Text Box 939"/>
            <p:cNvSpPr txBox="1">
              <a:spLocks noChangeArrowheads="1"/>
            </p:cNvSpPr>
            <p:nvPr/>
          </p:nvSpPr>
          <p:spPr bwMode="auto">
            <a:xfrm>
              <a:off x="2930" y="261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0362" name="Text Box 940"/>
            <p:cNvSpPr txBox="1">
              <a:spLocks noChangeArrowheads="1"/>
            </p:cNvSpPr>
            <p:nvPr/>
          </p:nvSpPr>
          <p:spPr bwMode="auto">
            <a:xfrm>
              <a:off x="3362" y="261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0363" name="Text Box 941"/>
            <p:cNvSpPr txBox="1">
              <a:spLocks noChangeArrowheads="1"/>
            </p:cNvSpPr>
            <p:nvPr/>
          </p:nvSpPr>
          <p:spPr bwMode="auto">
            <a:xfrm>
              <a:off x="3794" y="261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0364" name="Text Box 942"/>
            <p:cNvSpPr txBox="1">
              <a:spLocks noChangeArrowheads="1"/>
            </p:cNvSpPr>
            <p:nvPr/>
          </p:nvSpPr>
          <p:spPr bwMode="auto">
            <a:xfrm>
              <a:off x="4994" y="2612"/>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0365" name="Text Box 943"/>
            <p:cNvSpPr txBox="1">
              <a:spLocks noChangeArrowheads="1"/>
            </p:cNvSpPr>
            <p:nvPr/>
          </p:nvSpPr>
          <p:spPr bwMode="auto">
            <a:xfrm>
              <a:off x="1949" y="280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0366" name="Text Box 944"/>
            <p:cNvSpPr txBox="1">
              <a:spLocks noChangeArrowheads="1"/>
            </p:cNvSpPr>
            <p:nvPr/>
          </p:nvSpPr>
          <p:spPr bwMode="auto">
            <a:xfrm>
              <a:off x="2381" y="280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0367" name="Text Box 945"/>
            <p:cNvSpPr txBox="1">
              <a:spLocks noChangeArrowheads="1"/>
            </p:cNvSpPr>
            <p:nvPr/>
          </p:nvSpPr>
          <p:spPr bwMode="auto">
            <a:xfrm>
              <a:off x="2813" y="280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0368" name="Text Box 946"/>
            <p:cNvSpPr txBox="1">
              <a:spLocks noChangeArrowheads="1"/>
            </p:cNvSpPr>
            <p:nvPr/>
          </p:nvSpPr>
          <p:spPr bwMode="auto">
            <a:xfrm>
              <a:off x="3245" y="280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0369" name="Text Box 947"/>
            <p:cNvSpPr txBox="1">
              <a:spLocks noChangeArrowheads="1"/>
            </p:cNvSpPr>
            <p:nvPr/>
          </p:nvSpPr>
          <p:spPr bwMode="auto">
            <a:xfrm>
              <a:off x="3677" y="280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0370" name="Text Box 948"/>
            <p:cNvSpPr txBox="1">
              <a:spLocks noChangeArrowheads="1"/>
            </p:cNvSpPr>
            <p:nvPr/>
          </p:nvSpPr>
          <p:spPr bwMode="auto">
            <a:xfrm>
              <a:off x="4109" y="280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0371" name="Text Box 949"/>
            <p:cNvSpPr txBox="1">
              <a:spLocks noChangeArrowheads="1"/>
            </p:cNvSpPr>
            <p:nvPr/>
          </p:nvSpPr>
          <p:spPr bwMode="auto">
            <a:xfrm>
              <a:off x="1490" y="323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3</a:t>
              </a:r>
            </a:p>
          </p:txBody>
        </p:sp>
        <p:sp>
          <p:nvSpPr>
            <p:cNvPr id="40372" name="Text Box 950"/>
            <p:cNvSpPr txBox="1">
              <a:spLocks noChangeArrowheads="1"/>
            </p:cNvSpPr>
            <p:nvPr/>
          </p:nvSpPr>
          <p:spPr bwMode="auto">
            <a:xfrm>
              <a:off x="1298" y="280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0373" name="Text Box 951"/>
            <p:cNvSpPr txBox="1">
              <a:spLocks noChangeArrowheads="1"/>
            </p:cNvSpPr>
            <p:nvPr/>
          </p:nvSpPr>
          <p:spPr bwMode="auto">
            <a:xfrm>
              <a:off x="1298" y="3236"/>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40374" name="Text Box 952"/>
            <p:cNvSpPr txBox="1">
              <a:spLocks noChangeArrowheads="1"/>
            </p:cNvSpPr>
            <p:nvPr/>
          </p:nvSpPr>
          <p:spPr bwMode="auto">
            <a:xfrm>
              <a:off x="4541" y="280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0375" name="Text Box 953"/>
            <p:cNvSpPr txBox="1">
              <a:spLocks noChangeArrowheads="1"/>
            </p:cNvSpPr>
            <p:nvPr/>
          </p:nvSpPr>
          <p:spPr bwMode="auto">
            <a:xfrm>
              <a:off x="4973" y="280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0376" name="Text Box 954"/>
            <p:cNvSpPr txBox="1">
              <a:spLocks noChangeArrowheads="1"/>
            </p:cNvSpPr>
            <p:nvPr/>
          </p:nvSpPr>
          <p:spPr bwMode="auto">
            <a:xfrm>
              <a:off x="4229" y="261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0377" name="Text Box 955"/>
            <p:cNvSpPr txBox="1">
              <a:spLocks noChangeArrowheads="1"/>
            </p:cNvSpPr>
            <p:nvPr/>
          </p:nvSpPr>
          <p:spPr bwMode="auto">
            <a:xfrm>
              <a:off x="4664" y="261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grpSp>
      <p:grpSp>
        <p:nvGrpSpPr>
          <p:cNvPr id="13" name="Group 956"/>
          <p:cNvGrpSpPr>
            <a:grpSpLocks/>
          </p:cNvGrpSpPr>
          <p:nvPr/>
        </p:nvGrpSpPr>
        <p:grpSpPr bwMode="auto">
          <a:xfrm>
            <a:off x="864034" y="2586831"/>
            <a:ext cx="7086600" cy="3429000"/>
            <a:chOff x="1202" y="1503"/>
            <a:chExt cx="4464" cy="2160"/>
          </a:xfrm>
        </p:grpSpPr>
        <p:sp>
          <p:nvSpPr>
            <p:cNvPr id="40330" name="Rectangle 957"/>
            <p:cNvSpPr>
              <a:spLocks noChangeArrowheads="1"/>
            </p:cNvSpPr>
            <p:nvPr/>
          </p:nvSpPr>
          <p:spPr bwMode="auto">
            <a:xfrm>
              <a:off x="1202" y="1503"/>
              <a:ext cx="4464" cy="2160"/>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0331" name="Text Box 958"/>
            <p:cNvSpPr txBox="1">
              <a:spLocks noChangeArrowheads="1"/>
            </p:cNvSpPr>
            <p:nvPr/>
          </p:nvSpPr>
          <p:spPr bwMode="auto">
            <a:xfrm>
              <a:off x="1250" y="1541"/>
              <a:ext cx="4128"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rPr>
                <a:t>1.	For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–1, repeat:</a:t>
              </a:r>
              <a:br>
                <a:rPr lang="en-US" altLang="en-US" sz="2000">
                  <a:latin typeface="Times New Roman" pitchFamily="18" charset="0"/>
                </a:rPr>
              </a:br>
              <a:r>
                <a:rPr lang="en-US" altLang="en-US" sz="2000">
                  <a:latin typeface="Times New Roman" pitchFamily="18" charset="0"/>
                </a:rPr>
                <a:t>	1.1.	</a:t>
              </a:r>
              <a:r>
                <a:rPr lang="en-US" altLang="en-US" sz="2000">
                  <a:solidFill>
                    <a:srgbClr val="FF0000"/>
                  </a:solidFill>
                  <a:latin typeface="Times New Roman" pitchFamily="18" charset="0"/>
                </a:rPr>
                <a:t>Set </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such that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is the least of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right</a:t>
              </a:r>
              <a:r>
                <a:rPr lang="en-US" altLang="en-US" sz="2000">
                  <a:solidFill>
                    <a:srgbClr val="FF0000"/>
                  </a:solidFill>
                  <a:latin typeface="Times New Roman" pitchFamily="18" charset="0"/>
                </a:rPr>
                <a:t>].</a:t>
              </a:r>
              <a:br>
                <a:rPr lang="en-US" altLang="en-US" sz="2000">
                  <a:latin typeface="Times New Roman" pitchFamily="18" charset="0"/>
                </a:rPr>
              </a:br>
              <a:r>
                <a:rPr lang="en-US" altLang="en-US" sz="2000">
                  <a:latin typeface="Times New Roman" pitchFamily="18" charset="0"/>
                </a:rPr>
                <a:t>	1.2.	If </a:t>
              </a:r>
              <a:r>
                <a:rPr lang="en-US" altLang="en-US" sz="2000" i="1">
                  <a:latin typeface="Times New Roman" pitchFamily="18" charset="0"/>
                </a:rPr>
                <a:t>p</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l</a:t>
              </a:r>
              <a:r>
                <a:rPr lang="en-US" altLang="en-US" sz="2000">
                  <a:latin typeface="Times New Roman" pitchFamily="18" charset="0"/>
                </a:rPr>
                <a:t>, swap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and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a:t>
              </a:r>
            </a:p>
          </p:txBody>
        </p:sp>
        <p:sp>
          <p:nvSpPr>
            <p:cNvPr id="40332" name="Text Box 959"/>
            <p:cNvSpPr txBox="1">
              <a:spLocks noChangeArrowheads="1"/>
            </p:cNvSpPr>
            <p:nvPr/>
          </p:nvSpPr>
          <p:spPr bwMode="auto">
            <a:xfrm>
              <a:off x="1490" y="2895"/>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0333" name="Text Box 960"/>
            <p:cNvSpPr txBox="1">
              <a:spLocks noChangeArrowheads="1"/>
            </p:cNvSpPr>
            <p:nvPr/>
          </p:nvSpPr>
          <p:spPr bwMode="auto">
            <a:xfrm>
              <a:off x="1250" y="2703"/>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0334" name="Text Box 961"/>
            <p:cNvSpPr txBox="1">
              <a:spLocks noChangeArrowheads="1"/>
            </p:cNvSpPr>
            <p:nvPr/>
          </p:nvSpPr>
          <p:spPr bwMode="auto">
            <a:xfrm>
              <a:off x="2070" y="270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0335" name="Text Box 962"/>
            <p:cNvSpPr txBox="1">
              <a:spLocks noChangeArrowheads="1"/>
            </p:cNvSpPr>
            <p:nvPr/>
          </p:nvSpPr>
          <p:spPr bwMode="auto">
            <a:xfrm>
              <a:off x="2498" y="270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0336" name="Text Box 963"/>
            <p:cNvSpPr txBox="1">
              <a:spLocks noChangeArrowheads="1"/>
            </p:cNvSpPr>
            <p:nvPr/>
          </p:nvSpPr>
          <p:spPr bwMode="auto">
            <a:xfrm>
              <a:off x="2930" y="270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0337" name="Text Box 964"/>
            <p:cNvSpPr txBox="1">
              <a:spLocks noChangeArrowheads="1"/>
            </p:cNvSpPr>
            <p:nvPr/>
          </p:nvSpPr>
          <p:spPr bwMode="auto">
            <a:xfrm>
              <a:off x="3362" y="270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0338" name="Text Box 965"/>
            <p:cNvSpPr txBox="1">
              <a:spLocks noChangeArrowheads="1"/>
            </p:cNvSpPr>
            <p:nvPr/>
          </p:nvSpPr>
          <p:spPr bwMode="auto">
            <a:xfrm>
              <a:off x="3794" y="270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0339" name="Text Box 966"/>
            <p:cNvSpPr txBox="1">
              <a:spLocks noChangeArrowheads="1"/>
            </p:cNvSpPr>
            <p:nvPr/>
          </p:nvSpPr>
          <p:spPr bwMode="auto">
            <a:xfrm>
              <a:off x="4994" y="2703"/>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0340" name="Text Box 967"/>
            <p:cNvSpPr txBox="1">
              <a:spLocks noChangeArrowheads="1"/>
            </p:cNvSpPr>
            <p:nvPr/>
          </p:nvSpPr>
          <p:spPr bwMode="auto">
            <a:xfrm>
              <a:off x="1949" y="2895"/>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0341" name="Text Box 968"/>
            <p:cNvSpPr txBox="1">
              <a:spLocks noChangeArrowheads="1"/>
            </p:cNvSpPr>
            <p:nvPr/>
          </p:nvSpPr>
          <p:spPr bwMode="auto">
            <a:xfrm>
              <a:off x="2381" y="2895"/>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0342" name="Text Box 969"/>
            <p:cNvSpPr txBox="1">
              <a:spLocks noChangeArrowheads="1"/>
            </p:cNvSpPr>
            <p:nvPr/>
          </p:nvSpPr>
          <p:spPr bwMode="auto">
            <a:xfrm>
              <a:off x="2813" y="289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0343" name="Text Box 970"/>
            <p:cNvSpPr txBox="1">
              <a:spLocks noChangeArrowheads="1"/>
            </p:cNvSpPr>
            <p:nvPr/>
          </p:nvSpPr>
          <p:spPr bwMode="auto">
            <a:xfrm>
              <a:off x="3245" y="289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0344" name="Text Box 971"/>
            <p:cNvSpPr txBox="1">
              <a:spLocks noChangeArrowheads="1"/>
            </p:cNvSpPr>
            <p:nvPr/>
          </p:nvSpPr>
          <p:spPr bwMode="auto">
            <a:xfrm>
              <a:off x="3677" y="289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0345" name="Text Box 972"/>
            <p:cNvSpPr txBox="1">
              <a:spLocks noChangeArrowheads="1"/>
            </p:cNvSpPr>
            <p:nvPr/>
          </p:nvSpPr>
          <p:spPr bwMode="auto">
            <a:xfrm>
              <a:off x="4109" y="289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0346" name="Text Box 973"/>
            <p:cNvSpPr txBox="1">
              <a:spLocks noChangeArrowheads="1"/>
            </p:cNvSpPr>
            <p:nvPr/>
          </p:nvSpPr>
          <p:spPr bwMode="auto">
            <a:xfrm>
              <a:off x="1490" y="332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3</a:t>
              </a:r>
            </a:p>
          </p:txBody>
        </p:sp>
        <p:sp>
          <p:nvSpPr>
            <p:cNvPr id="40347" name="Text Box 974"/>
            <p:cNvSpPr txBox="1">
              <a:spLocks noChangeArrowheads="1"/>
            </p:cNvSpPr>
            <p:nvPr/>
          </p:nvSpPr>
          <p:spPr bwMode="auto">
            <a:xfrm>
              <a:off x="1298" y="2895"/>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0348" name="Text Box 975"/>
            <p:cNvSpPr txBox="1">
              <a:spLocks noChangeArrowheads="1"/>
            </p:cNvSpPr>
            <p:nvPr/>
          </p:nvSpPr>
          <p:spPr bwMode="auto">
            <a:xfrm>
              <a:off x="1298" y="3327"/>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40349" name="Text Box 976"/>
            <p:cNvSpPr txBox="1">
              <a:spLocks noChangeArrowheads="1"/>
            </p:cNvSpPr>
            <p:nvPr/>
          </p:nvSpPr>
          <p:spPr bwMode="auto">
            <a:xfrm>
              <a:off x="4541" y="289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0350" name="Text Box 977"/>
            <p:cNvSpPr txBox="1">
              <a:spLocks noChangeArrowheads="1"/>
            </p:cNvSpPr>
            <p:nvPr/>
          </p:nvSpPr>
          <p:spPr bwMode="auto">
            <a:xfrm>
              <a:off x="4973" y="289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0351" name="Text Box 978"/>
            <p:cNvSpPr txBox="1">
              <a:spLocks noChangeArrowheads="1"/>
            </p:cNvSpPr>
            <p:nvPr/>
          </p:nvSpPr>
          <p:spPr bwMode="auto">
            <a:xfrm>
              <a:off x="4229" y="270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0352" name="Text Box 979"/>
            <p:cNvSpPr txBox="1">
              <a:spLocks noChangeArrowheads="1"/>
            </p:cNvSpPr>
            <p:nvPr/>
          </p:nvSpPr>
          <p:spPr bwMode="auto">
            <a:xfrm>
              <a:off x="4664" y="270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40353" name="Text Box 980"/>
            <p:cNvSpPr txBox="1">
              <a:spLocks noChangeArrowheads="1"/>
            </p:cNvSpPr>
            <p:nvPr/>
          </p:nvSpPr>
          <p:spPr bwMode="auto">
            <a:xfrm>
              <a:off x="2381" y="332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3</a:t>
              </a:r>
            </a:p>
          </p:txBody>
        </p:sp>
        <p:sp>
          <p:nvSpPr>
            <p:cNvPr id="40354" name="Text Box 981"/>
            <p:cNvSpPr txBox="1">
              <a:spLocks noChangeArrowheads="1"/>
            </p:cNvSpPr>
            <p:nvPr/>
          </p:nvSpPr>
          <p:spPr bwMode="auto">
            <a:xfrm>
              <a:off x="2189" y="3327"/>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p</a:t>
              </a:r>
            </a:p>
          </p:txBody>
        </p:sp>
      </p:grpSp>
      <p:grpSp>
        <p:nvGrpSpPr>
          <p:cNvPr id="14" name="Group 982"/>
          <p:cNvGrpSpPr>
            <a:grpSpLocks/>
          </p:cNvGrpSpPr>
          <p:nvPr/>
        </p:nvGrpSpPr>
        <p:grpSpPr bwMode="auto">
          <a:xfrm>
            <a:off x="864034" y="2596356"/>
            <a:ext cx="7086600" cy="3429000"/>
            <a:chOff x="1202" y="1594"/>
            <a:chExt cx="4464" cy="2160"/>
          </a:xfrm>
        </p:grpSpPr>
        <p:sp>
          <p:nvSpPr>
            <p:cNvPr id="40305" name="Rectangle 983"/>
            <p:cNvSpPr>
              <a:spLocks noChangeArrowheads="1"/>
            </p:cNvSpPr>
            <p:nvPr/>
          </p:nvSpPr>
          <p:spPr bwMode="auto">
            <a:xfrm>
              <a:off x="1202" y="1594"/>
              <a:ext cx="4464" cy="2160"/>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0306" name="Text Box 984"/>
            <p:cNvSpPr txBox="1">
              <a:spLocks noChangeArrowheads="1"/>
            </p:cNvSpPr>
            <p:nvPr/>
          </p:nvSpPr>
          <p:spPr bwMode="auto">
            <a:xfrm>
              <a:off x="1250" y="1632"/>
              <a:ext cx="4128"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rPr>
                <a:t>1.	For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–1, repeat:</a:t>
              </a:r>
              <a:br>
                <a:rPr lang="en-US" altLang="en-US" sz="2000">
                  <a:latin typeface="Times New Roman" pitchFamily="18" charset="0"/>
                </a:rPr>
              </a:br>
              <a:r>
                <a:rPr lang="en-US" altLang="en-US" sz="2000">
                  <a:latin typeface="Times New Roman" pitchFamily="18" charset="0"/>
                </a:rPr>
                <a:t>	1.1.	Set </a:t>
              </a:r>
              <a:r>
                <a:rPr lang="en-US" altLang="en-US" sz="2000" i="1">
                  <a:latin typeface="Times New Roman" pitchFamily="18" charset="0"/>
                </a:rPr>
                <a:t>p</a:t>
              </a:r>
              <a:r>
                <a:rPr lang="en-US" altLang="en-US" sz="2000">
                  <a:latin typeface="Times New Roman" pitchFamily="18" charset="0"/>
                </a:rPr>
                <a:t> such that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is the least of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1.2.	</a:t>
              </a:r>
              <a:r>
                <a:rPr lang="en-US" altLang="en-US" sz="2000">
                  <a:solidFill>
                    <a:srgbClr val="FF0000"/>
                  </a:solidFill>
                  <a:latin typeface="Times New Roman" pitchFamily="18" charset="0"/>
                </a:rPr>
                <a:t>If </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a:t>
              </a:r>
              <a:r>
                <a:rPr lang="en-US" altLang="en-US" sz="2000">
                  <a:solidFill>
                    <a:srgbClr val="FF0000"/>
                  </a:solidFill>
                  <a:latin typeface="Times New Roman" pitchFamily="18" charset="0"/>
                  <a:sym typeface="Symbol" pitchFamily="18" charset="2"/>
                </a:rPr>
                <a:t></a:t>
              </a:r>
              <a:r>
                <a:rPr lang="en-US" altLang="en-US" sz="2000">
                  <a:solidFill>
                    <a:srgbClr val="FF0000"/>
                  </a:solidFill>
                  <a:latin typeface="Times New Roman" pitchFamily="18" charset="0"/>
                </a:rPr>
                <a:t> </a:t>
              </a:r>
              <a:r>
                <a:rPr lang="en-US" altLang="en-US" sz="2000" i="1">
                  <a:solidFill>
                    <a:srgbClr val="FF0000"/>
                  </a:solidFill>
                  <a:latin typeface="Times New Roman" pitchFamily="18" charset="0"/>
                </a:rPr>
                <a:t>l</a:t>
              </a:r>
              <a:r>
                <a:rPr lang="en-US" altLang="en-US" sz="2000">
                  <a:latin typeface="Times New Roman" pitchFamily="18" charset="0"/>
                </a:rPr>
                <a:t>, swap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and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a:t>
              </a:r>
            </a:p>
          </p:txBody>
        </p:sp>
        <p:sp>
          <p:nvSpPr>
            <p:cNvPr id="40307" name="Text Box 985"/>
            <p:cNvSpPr txBox="1">
              <a:spLocks noChangeArrowheads="1"/>
            </p:cNvSpPr>
            <p:nvPr/>
          </p:nvSpPr>
          <p:spPr bwMode="auto">
            <a:xfrm>
              <a:off x="1490" y="298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0308" name="Text Box 986"/>
            <p:cNvSpPr txBox="1">
              <a:spLocks noChangeArrowheads="1"/>
            </p:cNvSpPr>
            <p:nvPr/>
          </p:nvSpPr>
          <p:spPr bwMode="auto">
            <a:xfrm>
              <a:off x="1250" y="2794"/>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0309" name="Text Box 987"/>
            <p:cNvSpPr txBox="1">
              <a:spLocks noChangeArrowheads="1"/>
            </p:cNvSpPr>
            <p:nvPr/>
          </p:nvSpPr>
          <p:spPr bwMode="auto">
            <a:xfrm>
              <a:off x="2070" y="279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0310" name="Text Box 988"/>
            <p:cNvSpPr txBox="1">
              <a:spLocks noChangeArrowheads="1"/>
            </p:cNvSpPr>
            <p:nvPr/>
          </p:nvSpPr>
          <p:spPr bwMode="auto">
            <a:xfrm>
              <a:off x="2498" y="279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0311" name="Text Box 989"/>
            <p:cNvSpPr txBox="1">
              <a:spLocks noChangeArrowheads="1"/>
            </p:cNvSpPr>
            <p:nvPr/>
          </p:nvSpPr>
          <p:spPr bwMode="auto">
            <a:xfrm>
              <a:off x="2930" y="279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0312" name="Text Box 990"/>
            <p:cNvSpPr txBox="1">
              <a:spLocks noChangeArrowheads="1"/>
            </p:cNvSpPr>
            <p:nvPr/>
          </p:nvSpPr>
          <p:spPr bwMode="auto">
            <a:xfrm>
              <a:off x="3362" y="279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0313" name="Text Box 991"/>
            <p:cNvSpPr txBox="1">
              <a:spLocks noChangeArrowheads="1"/>
            </p:cNvSpPr>
            <p:nvPr/>
          </p:nvSpPr>
          <p:spPr bwMode="auto">
            <a:xfrm>
              <a:off x="3794" y="279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0314" name="Text Box 992"/>
            <p:cNvSpPr txBox="1">
              <a:spLocks noChangeArrowheads="1"/>
            </p:cNvSpPr>
            <p:nvPr/>
          </p:nvSpPr>
          <p:spPr bwMode="auto">
            <a:xfrm>
              <a:off x="4994" y="2794"/>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0315" name="Text Box 993"/>
            <p:cNvSpPr txBox="1">
              <a:spLocks noChangeArrowheads="1"/>
            </p:cNvSpPr>
            <p:nvPr/>
          </p:nvSpPr>
          <p:spPr bwMode="auto">
            <a:xfrm>
              <a:off x="1949" y="298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0316" name="Text Box 994"/>
            <p:cNvSpPr txBox="1">
              <a:spLocks noChangeArrowheads="1"/>
            </p:cNvSpPr>
            <p:nvPr/>
          </p:nvSpPr>
          <p:spPr bwMode="auto">
            <a:xfrm>
              <a:off x="2381" y="298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0317" name="Text Box 995"/>
            <p:cNvSpPr txBox="1">
              <a:spLocks noChangeArrowheads="1"/>
            </p:cNvSpPr>
            <p:nvPr/>
          </p:nvSpPr>
          <p:spPr bwMode="auto">
            <a:xfrm>
              <a:off x="2813" y="298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0318" name="Text Box 996"/>
            <p:cNvSpPr txBox="1">
              <a:spLocks noChangeArrowheads="1"/>
            </p:cNvSpPr>
            <p:nvPr/>
          </p:nvSpPr>
          <p:spPr bwMode="auto">
            <a:xfrm>
              <a:off x="3245" y="298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0319" name="Text Box 997"/>
            <p:cNvSpPr txBox="1">
              <a:spLocks noChangeArrowheads="1"/>
            </p:cNvSpPr>
            <p:nvPr/>
          </p:nvSpPr>
          <p:spPr bwMode="auto">
            <a:xfrm>
              <a:off x="3677" y="298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0320" name="Text Box 998"/>
            <p:cNvSpPr txBox="1">
              <a:spLocks noChangeArrowheads="1"/>
            </p:cNvSpPr>
            <p:nvPr/>
          </p:nvSpPr>
          <p:spPr bwMode="auto">
            <a:xfrm>
              <a:off x="4109" y="298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0321" name="Text Box 999"/>
            <p:cNvSpPr txBox="1">
              <a:spLocks noChangeArrowheads="1"/>
            </p:cNvSpPr>
            <p:nvPr/>
          </p:nvSpPr>
          <p:spPr bwMode="auto">
            <a:xfrm>
              <a:off x="1490" y="341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3</a:t>
              </a:r>
            </a:p>
          </p:txBody>
        </p:sp>
        <p:sp>
          <p:nvSpPr>
            <p:cNvPr id="40322" name="Text Box 1000"/>
            <p:cNvSpPr txBox="1">
              <a:spLocks noChangeArrowheads="1"/>
            </p:cNvSpPr>
            <p:nvPr/>
          </p:nvSpPr>
          <p:spPr bwMode="auto">
            <a:xfrm>
              <a:off x="1298" y="2986"/>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0323" name="Text Box 1001"/>
            <p:cNvSpPr txBox="1">
              <a:spLocks noChangeArrowheads="1"/>
            </p:cNvSpPr>
            <p:nvPr/>
          </p:nvSpPr>
          <p:spPr bwMode="auto">
            <a:xfrm>
              <a:off x="1298" y="3418"/>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40324" name="Text Box 1002"/>
            <p:cNvSpPr txBox="1">
              <a:spLocks noChangeArrowheads="1"/>
            </p:cNvSpPr>
            <p:nvPr/>
          </p:nvSpPr>
          <p:spPr bwMode="auto">
            <a:xfrm>
              <a:off x="4541" y="298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0325" name="Text Box 1003"/>
            <p:cNvSpPr txBox="1">
              <a:spLocks noChangeArrowheads="1"/>
            </p:cNvSpPr>
            <p:nvPr/>
          </p:nvSpPr>
          <p:spPr bwMode="auto">
            <a:xfrm>
              <a:off x="4973" y="298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0326" name="Text Box 1004"/>
            <p:cNvSpPr txBox="1">
              <a:spLocks noChangeArrowheads="1"/>
            </p:cNvSpPr>
            <p:nvPr/>
          </p:nvSpPr>
          <p:spPr bwMode="auto">
            <a:xfrm>
              <a:off x="4229" y="279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0327" name="Text Box 1005"/>
            <p:cNvSpPr txBox="1">
              <a:spLocks noChangeArrowheads="1"/>
            </p:cNvSpPr>
            <p:nvPr/>
          </p:nvSpPr>
          <p:spPr bwMode="auto">
            <a:xfrm>
              <a:off x="4664" y="279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40328" name="Text Box 1006"/>
            <p:cNvSpPr txBox="1">
              <a:spLocks noChangeArrowheads="1"/>
            </p:cNvSpPr>
            <p:nvPr/>
          </p:nvSpPr>
          <p:spPr bwMode="auto">
            <a:xfrm>
              <a:off x="2381" y="341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3</a:t>
              </a:r>
            </a:p>
          </p:txBody>
        </p:sp>
        <p:sp>
          <p:nvSpPr>
            <p:cNvPr id="40329" name="Text Box 1007"/>
            <p:cNvSpPr txBox="1">
              <a:spLocks noChangeArrowheads="1"/>
            </p:cNvSpPr>
            <p:nvPr/>
          </p:nvSpPr>
          <p:spPr bwMode="auto">
            <a:xfrm>
              <a:off x="2189" y="3418"/>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p</a:t>
              </a:r>
            </a:p>
          </p:txBody>
        </p:sp>
      </p:grpSp>
      <p:grpSp>
        <p:nvGrpSpPr>
          <p:cNvPr id="15" name="Group 1008"/>
          <p:cNvGrpSpPr>
            <a:grpSpLocks/>
          </p:cNvGrpSpPr>
          <p:nvPr/>
        </p:nvGrpSpPr>
        <p:grpSpPr bwMode="auto">
          <a:xfrm>
            <a:off x="864034" y="2596356"/>
            <a:ext cx="7086600" cy="3429000"/>
            <a:chOff x="1202" y="1685"/>
            <a:chExt cx="4464" cy="2160"/>
          </a:xfrm>
        </p:grpSpPr>
        <p:sp>
          <p:nvSpPr>
            <p:cNvPr id="40282" name="Rectangle 1009"/>
            <p:cNvSpPr>
              <a:spLocks noChangeArrowheads="1"/>
            </p:cNvSpPr>
            <p:nvPr/>
          </p:nvSpPr>
          <p:spPr bwMode="auto">
            <a:xfrm>
              <a:off x="1202" y="1685"/>
              <a:ext cx="4464" cy="2160"/>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0283" name="Text Box 1010"/>
            <p:cNvSpPr txBox="1">
              <a:spLocks noChangeArrowheads="1"/>
            </p:cNvSpPr>
            <p:nvPr/>
          </p:nvSpPr>
          <p:spPr bwMode="auto">
            <a:xfrm>
              <a:off x="1250" y="1723"/>
              <a:ext cx="4128"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rPr>
                <a:t>1.	</a:t>
              </a:r>
              <a:r>
                <a:rPr lang="en-US" altLang="en-US" sz="2000">
                  <a:solidFill>
                    <a:srgbClr val="FF0000"/>
                  </a:solidFill>
                  <a:latin typeface="Times New Roman" pitchFamily="18" charset="0"/>
                </a:rPr>
                <a:t>For </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left</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right</a:t>
              </a:r>
              <a:r>
                <a:rPr lang="en-US" altLang="en-US" sz="2000">
                  <a:solidFill>
                    <a:srgbClr val="FF0000"/>
                  </a:solidFill>
                  <a:latin typeface="Times New Roman" pitchFamily="18" charset="0"/>
                </a:rPr>
                <a:t>–1, repeat:</a:t>
              </a:r>
              <a:br>
                <a:rPr lang="en-US" altLang="en-US" sz="2000">
                  <a:latin typeface="Times New Roman" pitchFamily="18" charset="0"/>
                </a:rPr>
              </a:br>
              <a:r>
                <a:rPr lang="en-US" altLang="en-US" sz="2000">
                  <a:latin typeface="Times New Roman" pitchFamily="18" charset="0"/>
                </a:rPr>
                <a:t>	1.1.	Set </a:t>
              </a:r>
              <a:r>
                <a:rPr lang="en-US" altLang="en-US" sz="2000" i="1">
                  <a:latin typeface="Times New Roman" pitchFamily="18" charset="0"/>
                </a:rPr>
                <a:t>p</a:t>
              </a:r>
              <a:r>
                <a:rPr lang="en-US" altLang="en-US" sz="2000">
                  <a:latin typeface="Times New Roman" pitchFamily="18" charset="0"/>
                </a:rPr>
                <a:t> such that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is the least of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1.2.	If </a:t>
              </a:r>
              <a:r>
                <a:rPr lang="en-US" altLang="en-US" sz="2000" i="1">
                  <a:latin typeface="Times New Roman" pitchFamily="18" charset="0"/>
                </a:rPr>
                <a:t>p</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l</a:t>
              </a:r>
              <a:r>
                <a:rPr lang="en-US" altLang="en-US" sz="2000">
                  <a:latin typeface="Times New Roman" pitchFamily="18" charset="0"/>
                </a:rPr>
                <a:t>, swap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and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a:t>
              </a:r>
            </a:p>
          </p:txBody>
        </p:sp>
        <p:sp>
          <p:nvSpPr>
            <p:cNvPr id="40284" name="Text Box 1011"/>
            <p:cNvSpPr txBox="1">
              <a:spLocks noChangeArrowheads="1"/>
            </p:cNvSpPr>
            <p:nvPr/>
          </p:nvSpPr>
          <p:spPr bwMode="auto">
            <a:xfrm>
              <a:off x="1490" y="307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0285" name="Text Box 1012"/>
            <p:cNvSpPr txBox="1">
              <a:spLocks noChangeArrowheads="1"/>
            </p:cNvSpPr>
            <p:nvPr/>
          </p:nvSpPr>
          <p:spPr bwMode="auto">
            <a:xfrm>
              <a:off x="1250" y="2885"/>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0286" name="Text Box 1013"/>
            <p:cNvSpPr txBox="1">
              <a:spLocks noChangeArrowheads="1"/>
            </p:cNvSpPr>
            <p:nvPr/>
          </p:nvSpPr>
          <p:spPr bwMode="auto">
            <a:xfrm>
              <a:off x="2070" y="288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0287" name="Text Box 1014"/>
            <p:cNvSpPr txBox="1">
              <a:spLocks noChangeArrowheads="1"/>
            </p:cNvSpPr>
            <p:nvPr/>
          </p:nvSpPr>
          <p:spPr bwMode="auto">
            <a:xfrm>
              <a:off x="2498" y="288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0288" name="Text Box 1015"/>
            <p:cNvSpPr txBox="1">
              <a:spLocks noChangeArrowheads="1"/>
            </p:cNvSpPr>
            <p:nvPr/>
          </p:nvSpPr>
          <p:spPr bwMode="auto">
            <a:xfrm>
              <a:off x="2930" y="288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0289" name="Text Box 1016"/>
            <p:cNvSpPr txBox="1">
              <a:spLocks noChangeArrowheads="1"/>
            </p:cNvSpPr>
            <p:nvPr/>
          </p:nvSpPr>
          <p:spPr bwMode="auto">
            <a:xfrm>
              <a:off x="3362" y="288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0290" name="Text Box 1017"/>
            <p:cNvSpPr txBox="1">
              <a:spLocks noChangeArrowheads="1"/>
            </p:cNvSpPr>
            <p:nvPr/>
          </p:nvSpPr>
          <p:spPr bwMode="auto">
            <a:xfrm>
              <a:off x="3794" y="288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0291" name="Text Box 1018"/>
            <p:cNvSpPr txBox="1">
              <a:spLocks noChangeArrowheads="1"/>
            </p:cNvSpPr>
            <p:nvPr/>
          </p:nvSpPr>
          <p:spPr bwMode="auto">
            <a:xfrm>
              <a:off x="4994" y="2885"/>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0292" name="Text Box 1019"/>
            <p:cNvSpPr txBox="1">
              <a:spLocks noChangeArrowheads="1"/>
            </p:cNvSpPr>
            <p:nvPr/>
          </p:nvSpPr>
          <p:spPr bwMode="auto">
            <a:xfrm>
              <a:off x="1949" y="307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0293" name="Text Box 1020"/>
            <p:cNvSpPr txBox="1">
              <a:spLocks noChangeArrowheads="1"/>
            </p:cNvSpPr>
            <p:nvPr/>
          </p:nvSpPr>
          <p:spPr bwMode="auto">
            <a:xfrm>
              <a:off x="2381" y="307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0294" name="Text Box 1021"/>
            <p:cNvSpPr txBox="1">
              <a:spLocks noChangeArrowheads="1"/>
            </p:cNvSpPr>
            <p:nvPr/>
          </p:nvSpPr>
          <p:spPr bwMode="auto">
            <a:xfrm>
              <a:off x="2813" y="307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0295" name="Text Box 1022"/>
            <p:cNvSpPr txBox="1">
              <a:spLocks noChangeArrowheads="1"/>
            </p:cNvSpPr>
            <p:nvPr/>
          </p:nvSpPr>
          <p:spPr bwMode="auto">
            <a:xfrm>
              <a:off x="3245" y="307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0296" name="Text Box 1023"/>
            <p:cNvSpPr txBox="1">
              <a:spLocks noChangeArrowheads="1"/>
            </p:cNvSpPr>
            <p:nvPr/>
          </p:nvSpPr>
          <p:spPr bwMode="auto">
            <a:xfrm>
              <a:off x="3677" y="307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0297" name="Text Box 1024"/>
            <p:cNvSpPr txBox="1">
              <a:spLocks noChangeArrowheads="1"/>
            </p:cNvSpPr>
            <p:nvPr/>
          </p:nvSpPr>
          <p:spPr bwMode="auto">
            <a:xfrm>
              <a:off x="4109" y="307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0298" name="Text Box 1025"/>
            <p:cNvSpPr txBox="1">
              <a:spLocks noChangeArrowheads="1"/>
            </p:cNvSpPr>
            <p:nvPr/>
          </p:nvSpPr>
          <p:spPr bwMode="auto">
            <a:xfrm>
              <a:off x="1490" y="350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4</a:t>
              </a:r>
            </a:p>
          </p:txBody>
        </p:sp>
        <p:sp>
          <p:nvSpPr>
            <p:cNvPr id="40299" name="Text Box 1026"/>
            <p:cNvSpPr txBox="1">
              <a:spLocks noChangeArrowheads="1"/>
            </p:cNvSpPr>
            <p:nvPr/>
          </p:nvSpPr>
          <p:spPr bwMode="auto">
            <a:xfrm>
              <a:off x="1298" y="3077"/>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0300" name="Text Box 1027"/>
            <p:cNvSpPr txBox="1">
              <a:spLocks noChangeArrowheads="1"/>
            </p:cNvSpPr>
            <p:nvPr/>
          </p:nvSpPr>
          <p:spPr bwMode="auto">
            <a:xfrm>
              <a:off x="1298" y="3509"/>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40301" name="Text Box 1028"/>
            <p:cNvSpPr txBox="1">
              <a:spLocks noChangeArrowheads="1"/>
            </p:cNvSpPr>
            <p:nvPr/>
          </p:nvSpPr>
          <p:spPr bwMode="auto">
            <a:xfrm>
              <a:off x="4541" y="307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0302" name="Text Box 1029"/>
            <p:cNvSpPr txBox="1">
              <a:spLocks noChangeArrowheads="1"/>
            </p:cNvSpPr>
            <p:nvPr/>
          </p:nvSpPr>
          <p:spPr bwMode="auto">
            <a:xfrm>
              <a:off x="4973" y="307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0303" name="Text Box 1030"/>
            <p:cNvSpPr txBox="1">
              <a:spLocks noChangeArrowheads="1"/>
            </p:cNvSpPr>
            <p:nvPr/>
          </p:nvSpPr>
          <p:spPr bwMode="auto">
            <a:xfrm>
              <a:off x="4229" y="288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0304" name="Text Box 1031"/>
            <p:cNvSpPr txBox="1">
              <a:spLocks noChangeArrowheads="1"/>
            </p:cNvSpPr>
            <p:nvPr/>
          </p:nvSpPr>
          <p:spPr bwMode="auto">
            <a:xfrm>
              <a:off x="4664" y="288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grpSp>
      <p:grpSp>
        <p:nvGrpSpPr>
          <p:cNvPr id="16" name="Group 1032"/>
          <p:cNvGrpSpPr>
            <a:grpSpLocks/>
          </p:cNvGrpSpPr>
          <p:nvPr/>
        </p:nvGrpSpPr>
        <p:grpSpPr bwMode="auto">
          <a:xfrm>
            <a:off x="864034" y="2596356"/>
            <a:ext cx="7086600" cy="3429000"/>
            <a:chOff x="1202" y="1775"/>
            <a:chExt cx="4464" cy="2160"/>
          </a:xfrm>
        </p:grpSpPr>
        <p:sp>
          <p:nvSpPr>
            <p:cNvPr id="40257" name="Rectangle 1033"/>
            <p:cNvSpPr>
              <a:spLocks noChangeArrowheads="1"/>
            </p:cNvSpPr>
            <p:nvPr/>
          </p:nvSpPr>
          <p:spPr bwMode="auto">
            <a:xfrm>
              <a:off x="1202" y="1775"/>
              <a:ext cx="4464" cy="2160"/>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0258" name="Text Box 1034"/>
            <p:cNvSpPr txBox="1">
              <a:spLocks noChangeArrowheads="1"/>
            </p:cNvSpPr>
            <p:nvPr/>
          </p:nvSpPr>
          <p:spPr bwMode="auto">
            <a:xfrm>
              <a:off x="1250" y="1813"/>
              <a:ext cx="4128"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rPr>
                <a:t>1.	For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–1, repeat:</a:t>
              </a:r>
              <a:br>
                <a:rPr lang="en-US" altLang="en-US" sz="2000">
                  <a:latin typeface="Times New Roman" pitchFamily="18" charset="0"/>
                </a:rPr>
              </a:br>
              <a:r>
                <a:rPr lang="en-US" altLang="en-US" sz="2000">
                  <a:latin typeface="Times New Roman" pitchFamily="18" charset="0"/>
                </a:rPr>
                <a:t>	1.1.	</a:t>
              </a:r>
              <a:r>
                <a:rPr lang="en-US" altLang="en-US" sz="2000">
                  <a:solidFill>
                    <a:srgbClr val="FF0000"/>
                  </a:solidFill>
                  <a:latin typeface="Times New Roman" pitchFamily="18" charset="0"/>
                </a:rPr>
                <a:t>Set </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such that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is the least of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right</a:t>
              </a:r>
              <a:r>
                <a:rPr lang="en-US" altLang="en-US" sz="2000">
                  <a:solidFill>
                    <a:srgbClr val="FF0000"/>
                  </a:solidFill>
                  <a:latin typeface="Times New Roman" pitchFamily="18" charset="0"/>
                </a:rPr>
                <a:t>].</a:t>
              </a:r>
              <a:br>
                <a:rPr lang="en-US" altLang="en-US" sz="2000">
                  <a:latin typeface="Times New Roman" pitchFamily="18" charset="0"/>
                </a:rPr>
              </a:br>
              <a:r>
                <a:rPr lang="en-US" altLang="en-US" sz="2000">
                  <a:latin typeface="Times New Roman" pitchFamily="18" charset="0"/>
                </a:rPr>
                <a:t>	1.2.	If </a:t>
              </a:r>
              <a:r>
                <a:rPr lang="en-US" altLang="en-US" sz="2000" i="1">
                  <a:latin typeface="Times New Roman" pitchFamily="18" charset="0"/>
                </a:rPr>
                <a:t>p</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l</a:t>
              </a:r>
              <a:r>
                <a:rPr lang="en-US" altLang="en-US" sz="2000">
                  <a:latin typeface="Times New Roman" pitchFamily="18" charset="0"/>
                </a:rPr>
                <a:t>, swap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and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a:t>
              </a:r>
            </a:p>
          </p:txBody>
        </p:sp>
        <p:sp>
          <p:nvSpPr>
            <p:cNvPr id="40259" name="Text Box 1035"/>
            <p:cNvSpPr txBox="1">
              <a:spLocks noChangeArrowheads="1"/>
            </p:cNvSpPr>
            <p:nvPr/>
          </p:nvSpPr>
          <p:spPr bwMode="auto">
            <a:xfrm>
              <a:off x="1490" y="316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0260" name="Text Box 1036"/>
            <p:cNvSpPr txBox="1">
              <a:spLocks noChangeArrowheads="1"/>
            </p:cNvSpPr>
            <p:nvPr/>
          </p:nvSpPr>
          <p:spPr bwMode="auto">
            <a:xfrm>
              <a:off x="1250" y="2975"/>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0261" name="Text Box 1037"/>
            <p:cNvSpPr txBox="1">
              <a:spLocks noChangeArrowheads="1"/>
            </p:cNvSpPr>
            <p:nvPr/>
          </p:nvSpPr>
          <p:spPr bwMode="auto">
            <a:xfrm>
              <a:off x="2070" y="297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0262" name="Text Box 1038"/>
            <p:cNvSpPr txBox="1">
              <a:spLocks noChangeArrowheads="1"/>
            </p:cNvSpPr>
            <p:nvPr/>
          </p:nvSpPr>
          <p:spPr bwMode="auto">
            <a:xfrm>
              <a:off x="2498" y="297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0263" name="Text Box 1039"/>
            <p:cNvSpPr txBox="1">
              <a:spLocks noChangeArrowheads="1"/>
            </p:cNvSpPr>
            <p:nvPr/>
          </p:nvSpPr>
          <p:spPr bwMode="auto">
            <a:xfrm>
              <a:off x="2930" y="297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0264" name="Text Box 1040"/>
            <p:cNvSpPr txBox="1">
              <a:spLocks noChangeArrowheads="1"/>
            </p:cNvSpPr>
            <p:nvPr/>
          </p:nvSpPr>
          <p:spPr bwMode="auto">
            <a:xfrm>
              <a:off x="3362" y="297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0265" name="Text Box 1041"/>
            <p:cNvSpPr txBox="1">
              <a:spLocks noChangeArrowheads="1"/>
            </p:cNvSpPr>
            <p:nvPr/>
          </p:nvSpPr>
          <p:spPr bwMode="auto">
            <a:xfrm>
              <a:off x="3794" y="297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0266" name="Text Box 1042"/>
            <p:cNvSpPr txBox="1">
              <a:spLocks noChangeArrowheads="1"/>
            </p:cNvSpPr>
            <p:nvPr/>
          </p:nvSpPr>
          <p:spPr bwMode="auto">
            <a:xfrm>
              <a:off x="4994" y="2975"/>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0267" name="Text Box 1043"/>
            <p:cNvSpPr txBox="1">
              <a:spLocks noChangeArrowheads="1"/>
            </p:cNvSpPr>
            <p:nvPr/>
          </p:nvSpPr>
          <p:spPr bwMode="auto">
            <a:xfrm>
              <a:off x="1949" y="316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0268" name="Text Box 1044"/>
            <p:cNvSpPr txBox="1">
              <a:spLocks noChangeArrowheads="1"/>
            </p:cNvSpPr>
            <p:nvPr/>
          </p:nvSpPr>
          <p:spPr bwMode="auto">
            <a:xfrm>
              <a:off x="2381" y="316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0269" name="Text Box 1045"/>
            <p:cNvSpPr txBox="1">
              <a:spLocks noChangeArrowheads="1"/>
            </p:cNvSpPr>
            <p:nvPr/>
          </p:nvSpPr>
          <p:spPr bwMode="auto">
            <a:xfrm>
              <a:off x="2813" y="316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0270" name="Text Box 1046"/>
            <p:cNvSpPr txBox="1">
              <a:spLocks noChangeArrowheads="1"/>
            </p:cNvSpPr>
            <p:nvPr/>
          </p:nvSpPr>
          <p:spPr bwMode="auto">
            <a:xfrm>
              <a:off x="3245" y="316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0271" name="Text Box 1047"/>
            <p:cNvSpPr txBox="1">
              <a:spLocks noChangeArrowheads="1"/>
            </p:cNvSpPr>
            <p:nvPr/>
          </p:nvSpPr>
          <p:spPr bwMode="auto">
            <a:xfrm>
              <a:off x="3677" y="316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0272" name="Text Box 1048"/>
            <p:cNvSpPr txBox="1">
              <a:spLocks noChangeArrowheads="1"/>
            </p:cNvSpPr>
            <p:nvPr/>
          </p:nvSpPr>
          <p:spPr bwMode="auto">
            <a:xfrm>
              <a:off x="4109" y="316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0273" name="Text Box 1049"/>
            <p:cNvSpPr txBox="1">
              <a:spLocks noChangeArrowheads="1"/>
            </p:cNvSpPr>
            <p:nvPr/>
          </p:nvSpPr>
          <p:spPr bwMode="auto">
            <a:xfrm>
              <a:off x="1490" y="359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4</a:t>
              </a:r>
            </a:p>
          </p:txBody>
        </p:sp>
        <p:sp>
          <p:nvSpPr>
            <p:cNvPr id="40274" name="Text Box 1050"/>
            <p:cNvSpPr txBox="1">
              <a:spLocks noChangeArrowheads="1"/>
            </p:cNvSpPr>
            <p:nvPr/>
          </p:nvSpPr>
          <p:spPr bwMode="auto">
            <a:xfrm>
              <a:off x="1298" y="3167"/>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0275" name="Text Box 1051"/>
            <p:cNvSpPr txBox="1">
              <a:spLocks noChangeArrowheads="1"/>
            </p:cNvSpPr>
            <p:nvPr/>
          </p:nvSpPr>
          <p:spPr bwMode="auto">
            <a:xfrm>
              <a:off x="1298" y="3599"/>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40276" name="Text Box 1052"/>
            <p:cNvSpPr txBox="1">
              <a:spLocks noChangeArrowheads="1"/>
            </p:cNvSpPr>
            <p:nvPr/>
          </p:nvSpPr>
          <p:spPr bwMode="auto">
            <a:xfrm>
              <a:off x="4541" y="316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0277" name="Text Box 1053"/>
            <p:cNvSpPr txBox="1">
              <a:spLocks noChangeArrowheads="1"/>
            </p:cNvSpPr>
            <p:nvPr/>
          </p:nvSpPr>
          <p:spPr bwMode="auto">
            <a:xfrm>
              <a:off x="4973" y="316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0278" name="Text Box 1054"/>
            <p:cNvSpPr txBox="1">
              <a:spLocks noChangeArrowheads="1"/>
            </p:cNvSpPr>
            <p:nvPr/>
          </p:nvSpPr>
          <p:spPr bwMode="auto">
            <a:xfrm>
              <a:off x="4229" y="297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0279" name="Text Box 1055"/>
            <p:cNvSpPr txBox="1">
              <a:spLocks noChangeArrowheads="1"/>
            </p:cNvSpPr>
            <p:nvPr/>
          </p:nvSpPr>
          <p:spPr bwMode="auto">
            <a:xfrm>
              <a:off x="4664" y="297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40280" name="Text Box 1056"/>
            <p:cNvSpPr txBox="1">
              <a:spLocks noChangeArrowheads="1"/>
            </p:cNvSpPr>
            <p:nvPr/>
          </p:nvSpPr>
          <p:spPr bwMode="auto">
            <a:xfrm>
              <a:off x="2381" y="359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7</a:t>
              </a:r>
            </a:p>
          </p:txBody>
        </p:sp>
        <p:sp>
          <p:nvSpPr>
            <p:cNvPr id="40281" name="Text Box 1057"/>
            <p:cNvSpPr txBox="1">
              <a:spLocks noChangeArrowheads="1"/>
            </p:cNvSpPr>
            <p:nvPr/>
          </p:nvSpPr>
          <p:spPr bwMode="auto">
            <a:xfrm>
              <a:off x="2189" y="3599"/>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p</a:t>
              </a:r>
            </a:p>
          </p:txBody>
        </p:sp>
      </p:grpSp>
      <p:grpSp>
        <p:nvGrpSpPr>
          <p:cNvPr id="17" name="Group 1058"/>
          <p:cNvGrpSpPr>
            <a:grpSpLocks/>
          </p:cNvGrpSpPr>
          <p:nvPr/>
        </p:nvGrpSpPr>
        <p:grpSpPr bwMode="auto">
          <a:xfrm>
            <a:off x="864034" y="2596356"/>
            <a:ext cx="7086600" cy="3429000"/>
            <a:chOff x="1202" y="1861"/>
            <a:chExt cx="4464" cy="2160"/>
          </a:xfrm>
        </p:grpSpPr>
        <p:sp>
          <p:nvSpPr>
            <p:cNvPr id="40232" name="Rectangle 1059"/>
            <p:cNvSpPr>
              <a:spLocks noChangeArrowheads="1"/>
            </p:cNvSpPr>
            <p:nvPr/>
          </p:nvSpPr>
          <p:spPr bwMode="auto">
            <a:xfrm>
              <a:off x="1202" y="1861"/>
              <a:ext cx="4464" cy="2160"/>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0233" name="Text Box 1060"/>
            <p:cNvSpPr txBox="1">
              <a:spLocks noChangeArrowheads="1"/>
            </p:cNvSpPr>
            <p:nvPr/>
          </p:nvSpPr>
          <p:spPr bwMode="auto">
            <a:xfrm>
              <a:off x="1250" y="1899"/>
              <a:ext cx="4128"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rPr>
                <a:t>1.	For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–1, repeat:</a:t>
              </a:r>
              <a:br>
                <a:rPr lang="en-US" altLang="en-US" sz="2000">
                  <a:latin typeface="Times New Roman" pitchFamily="18" charset="0"/>
                </a:rPr>
              </a:br>
              <a:r>
                <a:rPr lang="en-US" altLang="en-US" sz="2000">
                  <a:latin typeface="Times New Roman" pitchFamily="18" charset="0"/>
                </a:rPr>
                <a:t>	1.1.	Set </a:t>
              </a:r>
              <a:r>
                <a:rPr lang="en-US" altLang="en-US" sz="2000" i="1">
                  <a:latin typeface="Times New Roman" pitchFamily="18" charset="0"/>
                </a:rPr>
                <a:t>p</a:t>
              </a:r>
              <a:r>
                <a:rPr lang="en-US" altLang="en-US" sz="2000">
                  <a:latin typeface="Times New Roman" pitchFamily="18" charset="0"/>
                </a:rPr>
                <a:t> such that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is the least of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1.2.	</a:t>
              </a:r>
              <a:r>
                <a:rPr lang="en-US" altLang="en-US" sz="2000">
                  <a:solidFill>
                    <a:srgbClr val="FF0000"/>
                  </a:solidFill>
                  <a:latin typeface="Times New Roman" pitchFamily="18" charset="0"/>
                </a:rPr>
                <a:t>If </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a:t>
              </a:r>
              <a:r>
                <a:rPr lang="en-US" altLang="en-US" sz="2000">
                  <a:solidFill>
                    <a:srgbClr val="FF0000"/>
                  </a:solidFill>
                  <a:latin typeface="Times New Roman" pitchFamily="18" charset="0"/>
                  <a:sym typeface="Symbol" pitchFamily="18" charset="2"/>
                </a:rPr>
                <a:t></a:t>
              </a:r>
              <a:r>
                <a:rPr lang="en-US" altLang="en-US" sz="2000">
                  <a:solidFill>
                    <a:srgbClr val="FF0000"/>
                  </a:solidFill>
                  <a:latin typeface="Times New Roman" pitchFamily="18" charset="0"/>
                </a:rPr>
                <a:t> </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 swap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and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a:t>
              </a:r>
              <a:br>
                <a:rPr lang="en-US" altLang="en-US" sz="2000">
                  <a:latin typeface="Times New Roman" pitchFamily="18" charset="0"/>
                </a:rPr>
              </a:br>
              <a:r>
                <a:rPr lang="en-US" altLang="en-US" sz="2000">
                  <a:latin typeface="Times New Roman" pitchFamily="18" charset="0"/>
                </a:rPr>
                <a:t>2.	Terminate.</a:t>
              </a:r>
            </a:p>
          </p:txBody>
        </p:sp>
        <p:sp>
          <p:nvSpPr>
            <p:cNvPr id="40234" name="Text Box 1061"/>
            <p:cNvSpPr txBox="1">
              <a:spLocks noChangeArrowheads="1"/>
            </p:cNvSpPr>
            <p:nvPr/>
          </p:nvSpPr>
          <p:spPr bwMode="auto">
            <a:xfrm>
              <a:off x="1490" y="3253"/>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0235" name="Text Box 1062"/>
            <p:cNvSpPr txBox="1">
              <a:spLocks noChangeArrowheads="1"/>
            </p:cNvSpPr>
            <p:nvPr/>
          </p:nvSpPr>
          <p:spPr bwMode="auto">
            <a:xfrm>
              <a:off x="1250" y="3061"/>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0236" name="Text Box 1063"/>
            <p:cNvSpPr txBox="1">
              <a:spLocks noChangeArrowheads="1"/>
            </p:cNvSpPr>
            <p:nvPr/>
          </p:nvSpPr>
          <p:spPr bwMode="auto">
            <a:xfrm>
              <a:off x="2070" y="306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0237" name="Text Box 1064"/>
            <p:cNvSpPr txBox="1">
              <a:spLocks noChangeArrowheads="1"/>
            </p:cNvSpPr>
            <p:nvPr/>
          </p:nvSpPr>
          <p:spPr bwMode="auto">
            <a:xfrm>
              <a:off x="2498" y="306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0238" name="Text Box 1065"/>
            <p:cNvSpPr txBox="1">
              <a:spLocks noChangeArrowheads="1"/>
            </p:cNvSpPr>
            <p:nvPr/>
          </p:nvSpPr>
          <p:spPr bwMode="auto">
            <a:xfrm>
              <a:off x="2930" y="306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0239" name="Text Box 1066"/>
            <p:cNvSpPr txBox="1">
              <a:spLocks noChangeArrowheads="1"/>
            </p:cNvSpPr>
            <p:nvPr/>
          </p:nvSpPr>
          <p:spPr bwMode="auto">
            <a:xfrm>
              <a:off x="3362" y="306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0240" name="Text Box 1067"/>
            <p:cNvSpPr txBox="1">
              <a:spLocks noChangeArrowheads="1"/>
            </p:cNvSpPr>
            <p:nvPr/>
          </p:nvSpPr>
          <p:spPr bwMode="auto">
            <a:xfrm>
              <a:off x="3794" y="306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0241" name="Text Box 1068"/>
            <p:cNvSpPr txBox="1">
              <a:spLocks noChangeArrowheads="1"/>
            </p:cNvSpPr>
            <p:nvPr/>
          </p:nvSpPr>
          <p:spPr bwMode="auto">
            <a:xfrm>
              <a:off x="4994" y="3061"/>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0242" name="Text Box 1069"/>
            <p:cNvSpPr txBox="1">
              <a:spLocks noChangeArrowheads="1"/>
            </p:cNvSpPr>
            <p:nvPr/>
          </p:nvSpPr>
          <p:spPr bwMode="auto">
            <a:xfrm>
              <a:off x="1949" y="3253"/>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0243" name="Text Box 1070"/>
            <p:cNvSpPr txBox="1">
              <a:spLocks noChangeArrowheads="1"/>
            </p:cNvSpPr>
            <p:nvPr/>
          </p:nvSpPr>
          <p:spPr bwMode="auto">
            <a:xfrm>
              <a:off x="2381" y="3253"/>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0244" name="Text Box 1071"/>
            <p:cNvSpPr txBox="1">
              <a:spLocks noChangeArrowheads="1"/>
            </p:cNvSpPr>
            <p:nvPr/>
          </p:nvSpPr>
          <p:spPr bwMode="auto">
            <a:xfrm>
              <a:off x="2813" y="3253"/>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0245" name="Text Box 1072"/>
            <p:cNvSpPr txBox="1">
              <a:spLocks noChangeArrowheads="1"/>
            </p:cNvSpPr>
            <p:nvPr/>
          </p:nvSpPr>
          <p:spPr bwMode="auto">
            <a:xfrm>
              <a:off x="3245" y="325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0246" name="Text Box 1073"/>
            <p:cNvSpPr txBox="1">
              <a:spLocks noChangeArrowheads="1"/>
            </p:cNvSpPr>
            <p:nvPr/>
          </p:nvSpPr>
          <p:spPr bwMode="auto">
            <a:xfrm>
              <a:off x="3677" y="325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0247" name="Text Box 1074"/>
            <p:cNvSpPr txBox="1">
              <a:spLocks noChangeArrowheads="1"/>
            </p:cNvSpPr>
            <p:nvPr/>
          </p:nvSpPr>
          <p:spPr bwMode="auto">
            <a:xfrm>
              <a:off x="4109" y="325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0248" name="Text Box 1075"/>
            <p:cNvSpPr txBox="1">
              <a:spLocks noChangeArrowheads="1"/>
            </p:cNvSpPr>
            <p:nvPr/>
          </p:nvSpPr>
          <p:spPr bwMode="auto">
            <a:xfrm>
              <a:off x="1490" y="368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4</a:t>
              </a:r>
            </a:p>
          </p:txBody>
        </p:sp>
        <p:sp>
          <p:nvSpPr>
            <p:cNvPr id="40249" name="Text Box 1076"/>
            <p:cNvSpPr txBox="1">
              <a:spLocks noChangeArrowheads="1"/>
            </p:cNvSpPr>
            <p:nvPr/>
          </p:nvSpPr>
          <p:spPr bwMode="auto">
            <a:xfrm>
              <a:off x="1298" y="3253"/>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0250" name="Text Box 1077"/>
            <p:cNvSpPr txBox="1">
              <a:spLocks noChangeArrowheads="1"/>
            </p:cNvSpPr>
            <p:nvPr/>
          </p:nvSpPr>
          <p:spPr bwMode="auto">
            <a:xfrm>
              <a:off x="1298" y="3685"/>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40251" name="Text Box 1078"/>
            <p:cNvSpPr txBox="1">
              <a:spLocks noChangeArrowheads="1"/>
            </p:cNvSpPr>
            <p:nvPr/>
          </p:nvSpPr>
          <p:spPr bwMode="auto">
            <a:xfrm>
              <a:off x="4541" y="325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0252" name="Text Box 1079"/>
            <p:cNvSpPr txBox="1">
              <a:spLocks noChangeArrowheads="1"/>
            </p:cNvSpPr>
            <p:nvPr/>
          </p:nvSpPr>
          <p:spPr bwMode="auto">
            <a:xfrm>
              <a:off x="4973" y="325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0253" name="Text Box 1080"/>
            <p:cNvSpPr txBox="1">
              <a:spLocks noChangeArrowheads="1"/>
            </p:cNvSpPr>
            <p:nvPr/>
          </p:nvSpPr>
          <p:spPr bwMode="auto">
            <a:xfrm>
              <a:off x="4229" y="306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0254" name="Text Box 1081"/>
            <p:cNvSpPr txBox="1">
              <a:spLocks noChangeArrowheads="1"/>
            </p:cNvSpPr>
            <p:nvPr/>
          </p:nvSpPr>
          <p:spPr bwMode="auto">
            <a:xfrm>
              <a:off x="4664" y="306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40255" name="Text Box 1082"/>
            <p:cNvSpPr txBox="1">
              <a:spLocks noChangeArrowheads="1"/>
            </p:cNvSpPr>
            <p:nvPr/>
          </p:nvSpPr>
          <p:spPr bwMode="auto">
            <a:xfrm>
              <a:off x="2381" y="368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7</a:t>
              </a:r>
            </a:p>
          </p:txBody>
        </p:sp>
        <p:sp>
          <p:nvSpPr>
            <p:cNvPr id="40256" name="Text Box 1083"/>
            <p:cNvSpPr txBox="1">
              <a:spLocks noChangeArrowheads="1"/>
            </p:cNvSpPr>
            <p:nvPr/>
          </p:nvSpPr>
          <p:spPr bwMode="auto">
            <a:xfrm>
              <a:off x="2189" y="3685"/>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p</a:t>
              </a:r>
            </a:p>
          </p:txBody>
        </p:sp>
      </p:grpSp>
      <p:grpSp>
        <p:nvGrpSpPr>
          <p:cNvPr id="18" name="Group 1084"/>
          <p:cNvGrpSpPr>
            <a:grpSpLocks/>
          </p:cNvGrpSpPr>
          <p:nvPr/>
        </p:nvGrpSpPr>
        <p:grpSpPr bwMode="auto">
          <a:xfrm>
            <a:off x="864034" y="2596356"/>
            <a:ext cx="7086600" cy="3429000"/>
            <a:chOff x="1202" y="1951"/>
            <a:chExt cx="4464" cy="2160"/>
          </a:xfrm>
        </p:grpSpPr>
        <p:sp>
          <p:nvSpPr>
            <p:cNvPr id="40209" name="Rectangle 1085"/>
            <p:cNvSpPr>
              <a:spLocks noChangeArrowheads="1"/>
            </p:cNvSpPr>
            <p:nvPr/>
          </p:nvSpPr>
          <p:spPr bwMode="auto">
            <a:xfrm>
              <a:off x="1202" y="1951"/>
              <a:ext cx="4464" cy="2160"/>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0210" name="Text Box 1086"/>
            <p:cNvSpPr txBox="1">
              <a:spLocks noChangeArrowheads="1"/>
            </p:cNvSpPr>
            <p:nvPr/>
          </p:nvSpPr>
          <p:spPr bwMode="auto">
            <a:xfrm>
              <a:off x="1250" y="1989"/>
              <a:ext cx="4128"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rPr>
                <a:t>1.	</a:t>
              </a:r>
              <a:r>
                <a:rPr lang="en-US" altLang="en-US" sz="2000">
                  <a:solidFill>
                    <a:srgbClr val="FF0000"/>
                  </a:solidFill>
                  <a:latin typeface="Times New Roman" pitchFamily="18" charset="0"/>
                </a:rPr>
                <a:t>For </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left</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right</a:t>
              </a:r>
              <a:r>
                <a:rPr lang="en-US" altLang="en-US" sz="2000">
                  <a:solidFill>
                    <a:srgbClr val="FF0000"/>
                  </a:solidFill>
                  <a:latin typeface="Times New Roman" pitchFamily="18" charset="0"/>
                </a:rPr>
                <a:t>–1, repeat:</a:t>
              </a:r>
              <a:br>
                <a:rPr lang="en-US" altLang="en-US" sz="2000">
                  <a:latin typeface="Times New Roman" pitchFamily="18" charset="0"/>
                </a:rPr>
              </a:br>
              <a:r>
                <a:rPr lang="en-US" altLang="en-US" sz="2000">
                  <a:latin typeface="Times New Roman" pitchFamily="18" charset="0"/>
                </a:rPr>
                <a:t>	1.1.	Set </a:t>
              </a:r>
              <a:r>
                <a:rPr lang="en-US" altLang="en-US" sz="2000" i="1">
                  <a:latin typeface="Times New Roman" pitchFamily="18" charset="0"/>
                </a:rPr>
                <a:t>p</a:t>
              </a:r>
              <a:r>
                <a:rPr lang="en-US" altLang="en-US" sz="2000">
                  <a:latin typeface="Times New Roman" pitchFamily="18" charset="0"/>
                </a:rPr>
                <a:t> such that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is the least of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1.2.	If </a:t>
              </a:r>
              <a:r>
                <a:rPr lang="en-US" altLang="en-US" sz="2000" i="1">
                  <a:latin typeface="Times New Roman" pitchFamily="18" charset="0"/>
                </a:rPr>
                <a:t>p</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l</a:t>
              </a:r>
              <a:r>
                <a:rPr lang="en-US" altLang="en-US" sz="2000">
                  <a:latin typeface="Times New Roman" pitchFamily="18" charset="0"/>
                </a:rPr>
                <a:t>, swap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and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a:t>
              </a:r>
            </a:p>
          </p:txBody>
        </p:sp>
        <p:sp>
          <p:nvSpPr>
            <p:cNvPr id="40211" name="Text Box 1087"/>
            <p:cNvSpPr txBox="1">
              <a:spLocks noChangeArrowheads="1"/>
            </p:cNvSpPr>
            <p:nvPr/>
          </p:nvSpPr>
          <p:spPr bwMode="auto">
            <a:xfrm>
              <a:off x="1490" y="3343"/>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0212" name="Text Box 1088"/>
            <p:cNvSpPr txBox="1">
              <a:spLocks noChangeArrowheads="1"/>
            </p:cNvSpPr>
            <p:nvPr/>
          </p:nvSpPr>
          <p:spPr bwMode="auto">
            <a:xfrm>
              <a:off x="1250" y="3151"/>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0213" name="Text Box 1089"/>
            <p:cNvSpPr txBox="1">
              <a:spLocks noChangeArrowheads="1"/>
            </p:cNvSpPr>
            <p:nvPr/>
          </p:nvSpPr>
          <p:spPr bwMode="auto">
            <a:xfrm>
              <a:off x="2070" y="315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0214" name="Text Box 1090"/>
            <p:cNvSpPr txBox="1">
              <a:spLocks noChangeArrowheads="1"/>
            </p:cNvSpPr>
            <p:nvPr/>
          </p:nvSpPr>
          <p:spPr bwMode="auto">
            <a:xfrm>
              <a:off x="2498" y="315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0215" name="Text Box 1091"/>
            <p:cNvSpPr txBox="1">
              <a:spLocks noChangeArrowheads="1"/>
            </p:cNvSpPr>
            <p:nvPr/>
          </p:nvSpPr>
          <p:spPr bwMode="auto">
            <a:xfrm>
              <a:off x="2930" y="315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0216" name="Text Box 1092"/>
            <p:cNvSpPr txBox="1">
              <a:spLocks noChangeArrowheads="1"/>
            </p:cNvSpPr>
            <p:nvPr/>
          </p:nvSpPr>
          <p:spPr bwMode="auto">
            <a:xfrm>
              <a:off x="3362" y="315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0217" name="Text Box 1093"/>
            <p:cNvSpPr txBox="1">
              <a:spLocks noChangeArrowheads="1"/>
            </p:cNvSpPr>
            <p:nvPr/>
          </p:nvSpPr>
          <p:spPr bwMode="auto">
            <a:xfrm>
              <a:off x="3794" y="315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0218" name="Text Box 1094"/>
            <p:cNvSpPr txBox="1">
              <a:spLocks noChangeArrowheads="1"/>
            </p:cNvSpPr>
            <p:nvPr/>
          </p:nvSpPr>
          <p:spPr bwMode="auto">
            <a:xfrm>
              <a:off x="4994" y="3151"/>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0219" name="Text Box 1095"/>
            <p:cNvSpPr txBox="1">
              <a:spLocks noChangeArrowheads="1"/>
            </p:cNvSpPr>
            <p:nvPr/>
          </p:nvSpPr>
          <p:spPr bwMode="auto">
            <a:xfrm>
              <a:off x="1949" y="3343"/>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0220" name="Text Box 1096"/>
            <p:cNvSpPr txBox="1">
              <a:spLocks noChangeArrowheads="1"/>
            </p:cNvSpPr>
            <p:nvPr/>
          </p:nvSpPr>
          <p:spPr bwMode="auto">
            <a:xfrm>
              <a:off x="2381" y="3343"/>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0221" name="Text Box 1097"/>
            <p:cNvSpPr txBox="1">
              <a:spLocks noChangeArrowheads="1"/>
            </p:cNvSpPr>
            <p:nvPr/>
          </p:nvSpPr>
          <p:spPr bwMode="auto">
            <a:xfrm>
              <a:off x="2813" y="3343"/>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0222" name="Text Box 1098"/>
            <p:cNvSpPr txBox="1">
              <a:spLocks noChangeArrowheads="1"/>
            </p:cNvSpPr>
            <p:nvPr/>
          </p:nvSpPr>
          <p:spPr bwMode="auto">
            <a:xfrm>
              <a:off x="3245" y="3343"/>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0223" name="Text Box 1099"/>
            <p:cNvSpPr txBox="1">
              <a:spLocks noChangeArrowheads="1"/>
            </p:cNvSpPr>
            <p:nvPr/>
          </p:nvSpPr>
          <p:spPr bwMode="auto">
            <a:xfrm>
              <a:off x="3677" y="334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0224" name="Text Box 1100"/>
            <p:cNvSpPr txBox="1">
              <a:spLocks noChangeArrowheads="1"/>
            </p:cNvSpPr>
            <p:nvPr/>
          </p:nvSpPr>
          <p:spPr bwMode="auto">
            <a:xfrm>
              <a:off x="4109" y="334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0225" name="Text Box 1101"/>
            <p:cNvSpPr txBox="1">
              <a:spLocks noChangeArrowheads="1"/>
            </p:cNvSpPr>
            <p:nvPr/>
          </p:nvSpPr>
          <p:spPr bwMode="auto">
            <a:xfrm>
              <a:off x="1490" y="377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5</a:t>
              </a:r>
            </a:p>
          </p:txBody>
        </p:sp>
        <p:sp>
          <p:nvSpPr>
            <p:cNvPr id="40226" name="Text Box 1102"/>
            <p:cNvSpPr txBox="1">
              <a:spLocks noChangeArrowheads="1"/>
            </p:cNvSpPr>
            <p:nvPr/>
          </p:nvSpPr>
          <p:spPr bwMode="auto">
            <a:xfrm>
              <a:off x="1298" y="3343"/>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0227" name="Text Box 1103"/>
            <p:cNvSpPr txBox="1">
              <a:spLocks noChangeArrowheads="1"/>
            </p:cNvSpPr>
            <p:nvPr/>
          </p:nvSpPr>
          <p:spPr bwMode="auto">
            <a:xfrm>
              <a:off x="1298" y="3775"/>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40228" name="Text Box 1104"/>
            <p:cNvSpPr txBox="1">
              <a:spLocks noChangeArrowheads="1"/>
            </p:cNvSpPr>
            <p:nvPr/>
          </p:nvSpPr>
          <p:spPr bwMode="auto">
            <a:xfrm>
              <a:off x="4541" y="334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0229" name="Text Box 1105"/>
            <p:cNvSpPr txBox="1">
              <a:spLocks noChangeArrowheads="1"/>
            </p:cNvSpPr>
            <p:nvPr/>
          </p:nvSpPr>
          <p:spPr bwMode="auto">
            <a:xfrm>
              <a:off x="4973" y="334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0230" name="Text Box 1106"/>
            <p:cNvSpPr txBox="1">
              <a:spLocks noChangeArrowheads="1"/>
            </p:cNvSpPr>
            <p:nvPr/>
          </p:nvSpPr>
          <p:spPr bwMode="auto">
            <a:xfrm>
              <a:off x="4229" y="315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0231" name="Text Box 1107"/>
            <p:cNvSpPr txBox="1">
              <a:spLocks noChangeArrowheads="1"/>
            </p:cNvSpPr>
            <p:nvPr/>
          </p:nvSpPr>
          <p:spPr bwMode="auto">
            <a:xfrm>
              <a:off x="4664" y="3151"/>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grpSp>
      <p:grpSp>
        <p:nvGrpSpPr>
          <p:cNvPr id="19" name="Group 1108"/>
          <p:cNvGrpSpPr>
            <a:grpSpLocks/>
          </p:cNvGrpSpPr>
          <p:nvPr/>
        </p:nvGrpSpPr>
        <p:grpSpPr bwMode="auto">
          <a:xfrm>
            <a:off x="864034" y="2596356"/>
            <a:ext cx="7086600" cy="3429000"/>
            <a:chOff x="1202" y="2042"/>
            <a:chExt cx="4464" cy="2160"/>
          </a:xfrm>
        </p:grpSpPr>
        <p:sp>
          <p:nvSpPr>
            <p:cNvPr id="40184" name="Rectangle 1109"/>
            <p:cNvSpPr>
              <a:spLocks noChangeArrowheads="1"/>
            </p:cNvSpPr>
            <p:nvPr/>
          </p:nvSpPr>
          <p:spPr bwMode="auto">
            <a:xfrm>
              <a:off x="1202" y="2042"/>
              <a:ext cx="4464" cy="2160"/>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0185" name="Text Box 1110"/>
            <p:cNvSpPr txBox="1">
              <a:spLocks noChangeArrowheads="1"/>
            </p:cNvSpPr>
            <p:nvPr/>
          </p:nvSpPr>
          <p:spPr bwMode="auto">
            <a:xfrm>
              <a:off x="1250" y="2080"/>
              <a:ext cx="4128"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rPr>
                <a:t>1.	For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–1, repeat:</a:t>
              </a:r>
              <a:br>
                <a:rPr lang="en-US" altLang="en-US" sz="2000">
                  <a:latin typeface="Times New Roman" pitchFamily="18" charset="0"/>
                </a:rPr>
              </a:br>
              <a:r>
                <a:rPr lang="en-US" altLang="en-US" sz="2000">
                  <a:latin typeface="Times New Roman" pitchFamily="18" charset="0"/>
                </a:rPr>
                <a:t>	1.1.	</a:t>
              </a:r>
              <a:r>
                <a:rPr lang="en-US" altLang="en-US" sz="2000">
                  <a:solidFill>
                    <a:srgbClr val="FF0000"/>
                  </a:solidFill>
                  <a:latin typeface="Times New Roman" pitchFamily="18" charset="0"/>
                </a:rPr>
                <a:t>Set </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such that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is the least of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right</a:t>
              </a:r>
              <a:r>
                <a:rPr lang="en-US" altLang="en-US" sz="2000">
                  <a:solidFill>
                    <a:srgbClr val="FF0000"/>
                  </a:solidFill>
                  <a:latin typeface="Times New Roman" pitchFamily="18" charset="0"/>
                </a:rPr>
                <a:t>].</a:t>
              </a:r>
              <a:br>
                <a:rPr lang="en-US" altLang="en-US" sz="2000">
                  <a:latin typeface="Times New Roman" pitchFamily="18" charset="0"/>
                </a:rPr>
              </a:br>
              <a:r>
                <a:rPr lang="en-US" altLang="en-US" sz="2000">
                  <a:latin typeface="Times New Roman" pitchFamily="18" charset="0"/>
                </a:rPr>
                <a:t>	1.2.	If </a:t>
              </a:r>
              <a:r>
                <a:rPr lang="en-US" altLang="en-US" sz="2000" i="1">
                  <a:latin typeface="Times New Roman" pitchFamily="18" charset="0"/>
                </a:rPr>
                <a:t>p</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l</a:t>
              </a:r>
              <a:r>
                <a:rPr lang="en-US" altLang="en-US" sz="2000">
                  <a:latin typeface="Times New Roman" pitchFamily="18" charset="0"/>
                </a:rPr>
                <a:t>, swap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and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a:t>
              </a:r>
            </a:p>
          </p:txBody>
        </p:sp>
        <p:sp>
          <p:nvSpPr>
            <p:cNvPr id="40186" name="Text Box 1111"/>
            <p:cNvSpPr txBox="1">
              <a:spLocks noChangeArrowheads="1"/>
            </p:cNvSpPr>
            <p:nvPr/>
          </p:nvSpPr>
          <p:spPr bwMode="auto">
            <a:xfrm>
              <a:off x="1490" y="34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0187" name="Text Box 1112"/>
            <p:cNvSpPr txBox="1">
              <a:spLocks noChangeArrowheads="1"/>
            </p:cNvSpPr>
            <p:nvPr/>
          </p:nvSpPr>
          <p:spPr bwMode="auto">
            <a:xfrm>
              <a:off x="1250" y="3242"/>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0188" name="Text Box 1113"/>
            <p:cNvSpPr txBox="1">
              <a:spLocks noChangeArrowheads="1"/>
            </p:cNvSpPr>
            <p:nvPr/>
          </p:nvSpPr>
          <p:spPr bwMode="auto">
            <a:xfrm>
              <a:off x="2070" y="32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0189" name="Text Box 1114"/>
            <p:cNvSpPr txBox="1">
              <a:spLocks noChangeArrowheads="1"/>
            </p:cNvSpPr>
            <p:nvPr/>
          </p:nvSpPr>
          <p:spPr bwMode="auto">
            <a:xfrm>
              <a:off x="2498" y="32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0190" name="Text Box 1115"/>
            <p:cNvSpPr txBox="1">
              <a:spLocks noChangeArrowheads="1"/>
            </p:cNvSpPr>
            <p:nvPr/>
          </p:nvSpPr>
          <p:spPr bwMode="auto">
            <a:xfrm>
              <a:off x="2930" y="32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0191" name="Text Box 1116"/>
            <p:cNvSpPr txBox="1">
              <a:spLocks noChangeArrowheads="1"/>
            </p:cNvSpPr>
            <p:nvPr/>
          </p:nvSpPr>
          <p:spPr bwMode="auto">
            <a:xfrm>
              <a:off x="3362" y="32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0192" name="Text Box 1117"/>
            <p:cNvSpPr txBox="1">
              <a:spLocks noChangeArrowheads="1"/>
            </p:cNvSpPr>
            <p:nvPr/>
          </p:nvSpPr>
          <p:spPr bwMode="auto">
            <a:xfrm>
              <a:off x="3794" y="32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0193" name="Text Box 1118"/>
            <p:cNvSpPr txBox="1">
              <a:spLocks noChangeArrowheads="1"/>
            </p:cNvSpPr>
            <p:nvPr/>
          </p:nvSpPr>
          <p:spPr bwMode="auto">
            <a:xfrm>
              <a:off x="4994" y="3242"/>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0194" name="Text Box 1119"/>
            <p:cNvSpPr txBox="1">
              <a:spLocks noChangeArrowheads="1"/>
            </p:cNvSpPr>
            <p:nvPr/>
          </p:nvSpPr>
          <p:spPr bwMode="auto">
            <a:xfrm>
              <a:off x="1949" y="34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0195" name="Text Box 1120"/>
            <p:cNvSpPr txBox="1">
              <a:spLocks noChangeArrowheads="1"/>
            </p:cNvSpPr>
            <p:nvPr/>
          </p:nvSpPr>
          <p:spPr bwMode="auto">
            <a:xfrm>
              <a:off x="2381" y="34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0196" name="Text Box 1121"/>
            <p:cNvSpPr txBox="1">
              <a:spLocks noChangeArrowheads="1"/>
            </p:cNvSpPr>
            <p:nvPr/>
          </p:nvSpPr>
          <p:spPr bwMode="auto">
            <a:xfrm>
              <a:off x="2813" y="34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0197" name="Text Box 1122"/>
            <p:cNvSpPr txBox="1">
              <a:spLocks noChangeArrowheads="1"/>
            </p:cNvSpPr>
            <p:nvPr/>
          </p:nvSpPr>
          <p:spPr bwMode="auto">
            <a:xfrm>
              <a:off x="3245" y="343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0198" name="Text Box 1123"/>
            <p:cNvSpPr txBox="1">
              <a:spLocks noChangeArrowheads="1"/>
            </p:cNvSpPr>
            <p:nvPr/>
          </p:nvSpPr>
          <p:spPr bwMode="auto">
            <a:xfrm>
              <a:off x="3677" y="34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0199" name="Text Box 1124"/>
            <p:cNvSpPr txBox="1">
              <a:spLocks noChangeArrowheads="1"/>
            </p:cNvSpPr>
            <p:nvPr/>
          </p:nvSpPr>
          <p:spPr bwMode="auto">
            <a:xfrm>
              <a:off x="4109" y="34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0200" name="Text Box 1125"/>
            <p:cNvSpPr txBox="1">
              <a:spLocks noChangeArrowheads="1"/>
            </p:cNvSpPr>
            <p:nvPr/>
          </p:nvSpPr>
          <p:spPr bwMode="auto">
            <a:xfrm>
              <a:off x="1490" y="386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5</a:t>
              </a:r>
            </a:p>
          </p:txBody>
        </p:sp>
        <p:sp>
          <p:nvSpPr>
            <p:cNvPr id="40201" name="Text Box 1126"/>
            <p:cNvSpPr txBox="1">
              <a:spLocks noChangeArrowheads="1"/>
            </p:cNvSpPr>
            <p:nvPr/>
          </p:nvSpPr>
          <p:spPr bwMode="auto">
            <a:xfrm>
              <a:off x="1298" y="343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0202" name="Text Box 1127"/>
            <p:cNvSpPr txBox="1">
              <a:spLocks noChangeArrowheads="1"/>
            </p:cNvSpPr>
            <p:nvPr/>
          </p:nvSpPr>
          <p:spPr bwMode="auto">
            <a:xfrm>
              <a:off x="1298" y="3866"/>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40203" name="Text Box 1128"/>
            <p:cNvSpPr txBox="1">
              <a:spLocks noChangeArrowheads="1"/>
            </p:cNvSpPr>
            <p:nvPr/>
          </p:nvSpPr>
          <p:spPr bwMode="auto">
            <a:xfrm>
              <a:off x="4541" y="34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0204" name="Text Box 1129"/>
            <p:cNvSpPr txBox="1">
              <a:spLocks noChangeArrowheads="1"/>
            </p:cNvSpPr>
            <p:nvPr/>
          </p:nvSpPr>
          <p:spPr bwMode="auto">
            <a:xfrm>
              <a:off x="4973" y="343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0205" name="Text Box 1130"/>
            <p:cNvSpPr txBox="1">
              <a:spLocks noChangeArrowheads="1"/>
            </p:cNvSpPr>
            <p:nvPr/>
          </p:nvSpPr>
          <p:spPr bwMode="auto">
            <a:xfrm>
              <a:off x="4229" y="32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0206" name="Text Box 1131"/>
            <p:cNvSpPr txBox="1">
              <a:spLocks noChangeArrowheads="1"/>
            </p:cNvSpPr>
            <p:nvPr/>
          </p:nvSpPr>
          <p:spPr bwMode="auto">
            <a:xfrm>
              <a:off x="4664" y="324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40207" name="Text Box 1132"/>
            <p:cNvSpPr txBox="1">
              <a:spLocks noChangeArrowheads="1"/>
            </p:cNvSpPr>
            <p:nvPr/>
          </p:nvSpPr>
          <p:spPr bwMode="auto">
            <a:xfrm>
              <a:off x="2381" y="386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5</a:t>
              </a:r>
            </a:p>
          </p:txBody>
        </p:sp>
        <p:sp>
          <p:nvSpPr>
            <p:cNvPr id="40208" name="Text Box 1133"/>
            <p:cNvSpPr txBox="1">
              <a:spLocks noChangeArrowheads="1"/>
            </p:cNvSpPr>
            <p:nvPr/>
          </p:nvSpPr>
          <p:spPr bwMode="auto">
            <a:xfrm>
              <a:off x="2189" y="3866"/>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p</a:t>
              </a:r>
            </a:p>
          </p:txBody>
        </p:sp>
      </p:grpSp>
      <p:grpSp>
        <p:nvGrpSpPr>
          <p:cNvPr id="20" name="Group 1134"/>
          <p:cNvGrpSpPr>
            <a:grpSpLocks/>
          </p:cNvGrpSpPr>
          <p:nvPr/>
        </p:nvGrpSpPr>
        <p:grpSpPr bwMode="auto">
          <a:xfrm>
            <a:off x="864034" y="2596356"/>
            <a:ext cx="7086600" cy="3429000"/>
            <a:chOff x="1202" y="2132"/>
            <a:chExt cx="4464" cy="2160"/>
          </a:xfrm>
        </p:grpSpPr>
        <p:sp>
          <p:nvSpPr>
            <p:cNvPr id="40159" name="Rectangle 1135"/>
            <p:cNvSpPr>
              <a:spLocks noChangeArrowheads="1"/>
            </p:cNvSpPr>
            <p:nvPr/>
          </p:nvSpPr>
          <p:spPr bwMode="auto">
            <a:xfrm>
              <a:off x="1202" y="2132"/>
              <a:ext cx="4464" cy="2160"/>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0160" name="Text Box 1136"/>
            <p:cNvSpPr txBox="1">
              <a:spLocks noChangeArrowheads="1"/>
            </p:cNvSpPr>
            <p:nvPr/>
          </p:nvSpPr>
          <p:spPr bwMode="auto">
            <a:xfrm>
              <a:off x="1250" y="2170"/>
              <a:ext cx="4128"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rPr>
                <a:t>1.	For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–1, repeat:</a:t>
              </a:r>
              <a:br>
                <a:rPr lang="en-US" altLang="en-US" sz="2000">
                  <a:latin typeface="Times New Roman" pitchFamily="18" charset="0"/>
                </a:rPr>
              </a:br>
              <a:r>
                <a:rPr lang="en-US" altLang="en-US" sz="2000">
                  <a:latin typeface="Times New Roman" pitchFamily="18" charset="0"/>
                </a:rPr>
                <a:t>	1.1.	Set </a:t>
              </a:r>
              <a:r>
                <a:rPr lang="en-US" altLang="en-US" sz="2000" i="1">
                  <a:latin typeface="Times New Roman" pitchFamily="18" charset="0"/>
                </a:rPr>
                <a:t>p</a:t>
              </a:r>
              <a:r>
                <a:rPr lang="en-US" altLang="en-US" sz="2000">
                  <a:latin typeface="Times New Roman" pitchFamily="18" charset="0"/>
                </a:rPr>
                <a:t> such that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is the least of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1.2.	</a:t>
              </a:r>
              <a:r>
                <a:rPr lang="en-US" altLang="en-US" sz="2000">
                  <a:solidFill>
                    <a:srgbClr val="FF0000"/>
                  </a:solidFill>
                  <a:latin typeface="Times New Roman" pitchFamily="18" charset="0"/>
                </a:rPr>
                <a:t>If </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a:t>
              </a:r>
              <a:r>
                <a:rPr lang="en-US" altLang="en-US" sz="2000">
                  <a:solidFill>
                    <a:srgbClr val="FF0000"/>
                  </a:solidFill>
                  <a:latin typeface="Times New Roman" pitchFamily="18" charset="0"/>
                  <a:sym typeface="Symbol" pitchFamily="18" charset="2"/>
                </a:rPr>
                <a:t></a:t>
              </a:r>
              <a:r>
                <a:rPr lang="en-US" altLang="en-US" sz="2000">
                  <a:solidFill>
                    <a:srgbClr val="FF0000"/>
                  </a:solidFill>
                  <a:latin typeface="Times New Roman" pitchFamily="18" charset="0"/>
                </a:rPr>
                <a:t> </a:t>
              </a:r>
              <a:r>
                <a:rPr lang="en-US" altLang="en-US" sz="2000" i="1">
                  <a:solidFill>
                    <a:srgbClr val="FF0000"/>
                  </a:solidFill>
                  <a:latin typeface="Times New Roman" pitchFamily="18" charset="0"/>
                </a:rPr>
                <a:t>l</a:t>
              </a:r>
              <a:r>
                <a:rPr lang="en-US" altLang="en-US" sz="2000">
                  <a:latin typeface="Times New Roman" pitchFamily="18" charset="0"/>
                </a:rPr>
                <a:t>, swap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and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a:t>
              </a:r>
            </a:p>
          </p:txBody>
        </p:sp>
        <p:sp>
          <p:nvSpPr>
            <p:cNvPr id="40161" name="Text Box 1137"/>
            <p:cNvSpPr txBox="1">
              <a:spLocks noChangeArrowheads="1"/>
            </p:cNvSpPr>
            <p:nvPr/>
          </p:nvSpPr>
          <p:spPr bwMode="auto">
            <a:xfrm>
              <a:off x="1490" y="352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0162" name="Text Box 1138"/>
            <p:cNvSpPr txBox="1">
              <a:spLocks noChangeArrowheads="1"/>
            </p:cNvSpPr>
            <p:nvPr/>
          </p:nvSpPr>
          <p:spPr bwMode="auto">
            <a:xfrm>
              <a:off x="1250" y="3332"/>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0163" name="Text Box 1139"/>
            <p:cNvSpPr txBox="1">
              <a:spLocks noChangeArrowheads="1"/>
            </p:cNvSpPr>
            <p:nvPr/>
          </p:nvSpPr>
          <p:spPr bwMode="auto">
            <a:xfrm>
              <a:off x="2070" y="333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0164" name="Text Box 1140"/>
            <p:cNvSpPr txBox="1">
              <a:spLocks noChangeArrowheads="1"/>
            </p:cNvSpPr>
            <p:nvPr/>
          </p:nvSpPr>
          <p:spPr bwMode="auto">
            <a:xfrm>
              <a:off x="2498" y="333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0165" name="Text Box 1141"/>
            <p:cNvSpPr txBox="1">
              <a:spLocks noChangeArrowheads="1"/>
            </p:cNvSpPr>
            <p:nvPr/>
          </p:nvSpPr>
          <p:spPr bwMode="auto">
            <a:xfrm>
              <a:off x="2930" y="333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0166" name="Text Box 1142"/>
            <p:cNvSpPr txBox="1">
              <a:spLocks noChangeArrowheads="1"/>
            </p:cNvSpPr>
            <p:nvPr/>
          </p:nvSpPr>
          <p:spPr bwMode="auto">
            <a:xfrm>
              <a:off x="3362" y="333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0167" name="Text Box 1143"/>
            <p:cNvSpPr txBox="1">
              <a:spLocks noChangeArrowheads="1"/>
            </p:cNvSpPr>
            <p:nvPr/>
          </p:nvSpPr>
          <p:spPr bwMode="auto">
            <a:xfrm>
              <a:off x="3794" y="333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0168" name="Text Box 1144"/>
            <p:cNvSpPr txBox="1">
              <a:spLocks noChangeArrowheads="1"/>
            </p:cNvSpPr>
            <p:nvPr/>
          </p:nvSpPr>
          <p:spPr bwMode="auto">
            <a:xfrm>
              <a:off x="4994" y="3332"/>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0169" name="Text Box 1145"/>
            <p:cNvSpPr txBox="1">
              <a:spLocks noChangeArrowheads="1"/>
            </p:cNvSpPr>
            <p:nvPr/>
          </p:nvSpPr>
          <p:spPr bwMode="auto">
            <a:xfrm>
              <a:off x="1949" y="352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0170" name="Text Box 1146"/>
            <p:cNvSpPr txBox="1">
              <a:spLocks noChangeArrowheads="1"/>
            </p:cNvSpPr>
            <p:nvPr/>
          </p:nvSpPr>
          <p:spPr bwMode="auto">
            <a:xfrm>
              <a:off x="2381" y="352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0171" name="Text Box 1147"/>
            <p:cNvSpPr txBox="1">
              <a:spLocks noChangeArrowheads="1"/>
            </p:cNvSpPr>
            <p:nvPr/>
          </p:nvSpPr>
          <p:spPr bwMode="auto">
            <a:xfrm>
              <a:off x="2813" y="352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0172" name="Text Box 1148"/>
            <p:cNvSpPr txBox="1">
              <a:spLocks noChangeArrowheads="1"/>
            </p:cNvSpPr>
            <p:nvPr/>
          </p:nvSpPr>
          <p:spPr bwMode="auto">
            <a:xfrm>
              <a:off x="3245" y="352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0173" name="Text Box 1149"/>
            <p:cNvSpPr txBox="1">
              <a:spLocks noChangeArrowheads="1"/>
            </p:cNvSpPr>
            <p:nvPr/>
          </p:nvSpPr>
          <p:spPr bwMode="auto">
            <a:xfrm>
              <a:off x="3677" y="352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0174" name="Text Box 1150"/>
            <p:cNvSpPr txBox="1">
              <a:spLocks noChangeArrowheads="1"/>
            </p:cNvSpPr>
            <p:nvPr/>
          </p:nvSpPr>
          <p:spPr bwMode="auto">
            <a:xfrm>
              <a:off x="4109" y="352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0175" name="Text Box 1151"/>
            <p:cNvSpPr txBox="1">
              <a:spLocks noChangeArrowheads="1"/>
            </p:cNvSpPr>
            <p:nvPr/>
          </p:nvSpPr>
          <p:spPr bwMode="auto">
            <a:xfrm>
              <a:off x="1490" y="395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5</a:t>
              </a:r>
            </a:p>
          </p:txBody>
        </p:sp>
        <p:sp>
          <p:nvSpPr>
            <p:cNvPr id="40176" name="Text Box 1152"/>
            <p:cNvSpPr txBox="1">
              <a:spLocks noChangeArrowheads="1"/>
            </p:cNvSpPr>
            <p:nvPr/>
          </p:nvSpPr>
          <p:spPr bwMode="auto">
            <a:xfrm>
              <a:off x="1298" y="352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0177" name="Text Box 1153"/>
            <p:cNvSpPr txBox="1">
              <a:spLocks noChangeArrowheads="1"/>
            </p:cNvSpPr>
            <p:nvPr/>
          </p:nvSpPr>
          <p:spPr bwMode="auto">
            <a:xfrm>
              <a:off x="1298" y="3956"/>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40178" name="Text Box 1154"/>
            <p:cNvSpPr txBox="1">
              <a:spLocks noChangeArrowheads="1"/>
            </p:cNvSpPr>
            <p:nvPr/>
          </p:nvSpPr>
          <p:spPr bwMode="auto">
            <a:xfrm>
              <a:off x="4541" y="352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0179" name="Text Box 1155"/>
            <p:cNvSpPr txBox="1">
              <a:spLocks noChangeArrowheads="1"/>
            </p:cNvSpPr>
            <p:nvPr/>
          </p:nvSpPr>
          <p:spPr bwMode="auto">
            <a:xfrm>
              <a:off x="4973" y="352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0180" name="Text Box 1156"/>
            <p:cNvSpPr txBox="1">
              <a:spLocks noChangeArrowheads="1"/>
            </p:cNvSpPr>
            <p:nvPr/>
          </p:nvSpPr>
          <p:spPr bwMode="auto">
            <a:xfrm>
              <a:off x="4229" y="333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0181" name="Text Box 1157"/>
            <p:cNvSpPr txBox="1">
              <a:spLocks noChangeArrowheads="1"/>
            </p:cNvSpPr>
            <p:nvPr/>
          </p:nvSpPr>
          <p:spPr bwMode="auto">
            <a:xfrm>
              <a:off x="4664" y="333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40182" name="Text Box 1158"/>
            <p:cNvSpPr txBox="1">
              <a:spLocks noChangeArrowheads="1"/>
            </p:cNvSpPr>
            <p:nvPr/>
          </p:nvSpPr>
          <p:spPr bwMode="auto">
            <a:xfrm>
              <a:off x="2381" y="395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5</a:t>
              </a:r>
            </a:p>
          </p:txBody>
        </p:sp>
        <p:sp>
          <p:nvSpPr>
            <p:cNvPr id="40183" name="Text Box 1159"/>
            <p:cNvSpPr txBox="1">
              <a:spLocks noChangeArrowheads="1"/>
            </p:cNvSpPr>
            <p:nvPr/>
          </p:nvSpPr>
          <p:spPr bwMode="auto">
            <a:xfrm>
              <a:off x="2189" y="3956"/>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p</a:t>
              </a:r>
            </a:p>
          </p:txBody>
        </p:sp>
      </p:grpSp>
      <p:grpSp>
        <p:nvGrpSpPr>
          <p:cNvPr id="21" name="Group 1160"/>
          <p:cNvGrpSpPr>
            <a:grpSpLocks/>
          </p:cNvGrpSpPr>
          <p:nvPr/>
        </p:nvGrpSpPr>
        <p:grpSpPr bwMode="auto">
          <a:xfrm>
            <a:off x="864034" y="2596356"/>
            <a:ext cx="7086600" cy="3429000"/>
            <a:chOff x="1202" y="2223"/>
            <a:chExt cx="4464" cy="2160"/>
          </a:xfrm>
        </p:grpSpPr>
        <p:sp>
          <p:nvSpPr>
            <p:cNvPr id="40136" name="Rectangle 1161"/>
            <p:cNvSpPr>
              <a:spLocks noChangeArrowheads="1"/>
            </p:cNvSpPr>
            <p:nvPr/>
          </p:nvSpPr>
          <p:spPr bwMode="auto">
            <a:xfrm>
              <a:off x="1202" y="2223"/>
              <a:ext cx="4464" cy="2160"/>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0137" name="Text Box 1162"/>
            <p:cNvSpPr txBox="1">
              <a:spLocks noChangeArrowheads="1"/>
            </p:cNvSpPr>
            <p:nvPr/>
          </p:nvSpPr>
          <p:spPr bwMode="auto">
            <a:xfrm>
              <a:off x="1250" y="2261"/>
              <a:ext cx="4128"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rPr>
                <a:t>1.	</a:t>
              </a:r>
              <a:r>
                <a:rPr lang="en-US" altLang="en-US" sz="2000">
                  <a:solidFill>
                    <a:srgbClr val="FF0000"/>
                  </a:solidFill>
                  <a:latin typeface="Times New Roman" pitchFamily="18" charset="0"/>
                </a:rPr>
                <a:t>For </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left</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right</a:t>
              </a:r>
              <a:r>
                <a:rPr lang="en-US" altLang="en-US" sz="2000">
                  <a:solidFill>
                    <a:srgbClr val="FF0000"/>
                  </a:solidFill>
                  <a:latin typeface="Times New Roman" pitchFamily="18" charset="0"/>
                </a:rPr>
                <a:t>–1, repeat:</a:t>
              </a:r>
              <a:br>
                <a:rPr lang="en-US" altLang="en-US" sz="2000">
                  <a:latin typeface="Times New Roman" pitchFamily="18" charset="0"/>
                </a:rPr>
              </a:br>
              <a:r>
                <a:rPr lang="en-US" altLang="en-US" sz="2000">
                  <a:latin typeface="Times New Roman" pitchFamily="18" charset="0"/>
                </a:rPr>
                <a:t>	1.1.	Set </a:t>
              </a:r>
              <a:r>
                <a:rPr lang="en-US" altLang="en-US" sz="2000" i="1">
                  <a:latin typeface="Times New Roman" pitchFamily="18" charset="0"/>
                </a:rPr>
                <a:t>p</a:t>
              </a:r>
              <a:r>
                <a:rPr lang="en-US" altLang="en-US" sz="2000">
                  <a:latin typeface="Times New Roman" pitchFamily="18" charset="0"/>
                </a:rPr>
                <a:t> such that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is the least of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1.2.	If </a:t>
              </a:r>
              <a:r>
                <a:rPr lang="en-US" altLang="en-US" sz="2000" i="1">
                  <a:latin typeface="Times New Roman" pitchFamily="18" charset="0"/>
                </a:rPr>
                <a:t>p</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l</a:t>
              </a:r>
              <a:r>
                <a:rPr lang="en-US" altLang="en-US" sz="2000">
                  <a:latin typeface="Times New Roman" pitchFamily="18" charset="0"/>
                </a:rPr>
                <a:t>, swap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and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a:t>
              </a:r>
            </a:p>
          </p:txBody>
        </p:sp>
        <p:sp>
          <p:nvSpPr>
            <p:cNvPr id="40138" name="Text Box 1163"/>
            <p:cNvSpPr txBox="1">
              <a:spLocks noChangeArrowheads="1"/>
            </p:cNvSpPr>
            <p:nvPr/>
          </p:nvSpPr>
          <p:spPr bwMode="auto">
            <a:xfrm>
              <a:off x="1490" y="3615"/>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0139" name="Text Box 1164"/>
            <p:cNvSpPr txBox="1">
              <a:spLocks noChangeArrowheads="1"/>
            </p:cNvSpPr>
            <p:nvPr/>
          </p:nvSpPr>
          <p:spPr bwMode="auto">
            <a:xfrm>
              <a:off x="1250" y="3423"/>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0140" name="Text Box 1165"/>
            <p:cNvSpPr txBox="1">
              <a:spLocks noChangeArrowheads="1"/>
            </p:cNvSpPr>
            <p:nvPr/>
          </p:nvSpPr>
          <p:spPr bwMode="auto">
            <a:xfrm>
              <a:off x="2070" y="342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0141" name="Text Box 1166"/>
            <p:cNvSpPr txBox="1">
              <a:spLocks noChangeArrowheads="1"/>
            </p:cNvSpPr>
            <p:nvPr/>
          </p:nvSpPr>
          <p:spPr bwMode="auto">
            <a:xfrm>
              <a:off x="2498" y="342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0142" name="Text Box 1167"/>
            <p:cNvSpPr txBox="1">
              <a:spLocks noChangeArrowheads="1"/>
            </p:cNvSpPr>
            <p:nvPr/>
          </p:nvSpPr>
          <p:spPr bwMode="auto">
            <a:xfrm>
              <a:off x="2930" y="342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0143" name="Text Box 1168"/>
            <p:cNvSpPr txBox="1">
              <a:spLocks noChangeArrowheads="1"/>
            </p:cNvSpPr>
            <p:nvPr/>
          </p:nvSpPr>
          <p:spPr bwMode="auto">
            <a:xfrm>
              <a:off x="3362" y="342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0144" name="Text Box 1169"/>
            <p:cNvSpPr txBox="1">
              <a:spLocks noChangeArrowheads="1"/>
            </p:cNvSpPr>
            <p:nvPr/>
          </p:nvSpPr>
          <p:spPr bwMode="auto">
            <a:xfrm>
              <a:off x="3794" y="342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0145" name="Text Box 1170"/>
            <p:cNvSpPr txBox="1">
              <a:spLocks noChangeArrowheads="1"/>
            </p:cNvSpPr>
            <p:nvPr/>
          </p:nvSpPr>
          <p:spPr bwMode="auto">
            <a:xfrm>
              <a:off x="4994" y="3423"/>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0146" name="Text Box 1171"/>
            <p:cNvSpPr txBox="1">
              <a:spLocks noChangeArrowheads="1"/>
            </p:cNvSpPr>
            <p:nvPr/>
          </p:nvSpPr>
          <p:spPr bwMode="auto">
            <a:xfrm>
              <a:off x="1949" y="3615"/>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0147" name="Text Box 1172"/>
            <p:cNvSpPr txBox="1">
              <a:spLocks noChangeArrowheads="1"/>
            </p:cNvSpPr>
            <p:nvPr/>
          </p:nvSpPr>
          <p:spPr bwMode="auto">
            <a:xfrm>
              <a:off x="2381" y="3615"/>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0148" name="Text Box 1173"/>
            <p:cNvSpPr txBox="1">
              <a:spLocks noChangeArrowheads="1"/>
            </p:cNvSpPr>
            <p:nvPr/>
          </p:nvSpPr>
          <p:spPr bwMode="auto">
            <a:xfrm>
              <a:off x="2813" y="3615"/>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0149" name="Text Box 1174"/>
            <p:cNvSpPr txBox="1">
              <a:spLocks noChangeArrowheads="1"/>
            </p:cNvSpPr>
            <p:nvPr/>
          </p:nvSpPr>
          <p:spPr bwMode="auto">
            <a:xfrm>
              <a:off x="3245" y="3615"/>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0150" name="Text Box 1175"/>
            <p:cNvSpPr txBox="1">
              <a:spLocks noChangeArrowheads="1"/>
            </p:cNvSpPr>
            <p:nvPr/>
          </p:nvSpPr>
          <p:spPr bwMode="auto">
            <a:xfrm>
              <a:off x="3677" y="3615"/>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0151" name="Text Box 1176"/>
            <p:cNvSpPr txBox="1">
              <a:spLocks noChangeArrowheads="1"/>
            </p:cNvSpPr>
            <p:nvPr/>
          </p:nvSpPr>
          <p:spPr bwMode="auto">
            <a:xfrm>
              <a:off x="4109" y="361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0152" name="Text Box 1177"/>
            <p:cNvSpPr txBox="1">
              <a:spLocks noChangeArrowheads="1"/>
            </p:cNvSpPr>
            <p:nvPr/>
          </p:nvSpPr>
          <p:spPr bwMode="auto">
            <a:xfrm>
              <a:off x="1490" y="404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6</a:t>
              </a:r>
            </a:p>
          </p:txBody>
        </p:sp>
        <p:sp>
          <p:nvSpPr>
            <p:cNvPr id="40153" name="Text Box 1178"/>
            <p:cNvSpPr txBox="1">
              <a:spLocks noChangeArrowheads="1"/>
            </p:cNvSpPr>
            <p:nvPr/>
          </p:nvSpPr>
          <p:spPr bwMode="auto">
            <a:xfrm>
              <a:off x="1298" y="3615"/>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0154" name="Text Box 1179"/>
            <p:cNvSpPr txBox="1">
              <a:spLocks noChangeArrowheads="1"/>
            </p:cNvSpPr>
            <p:nvPr/>
          </p:nvSpPr>
          <p:spPr bwMode="auto">
            <a:xfrm>
              <a:off x="1298" y="4047"/>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40155" name="Text Box 1180"/>
            <p:cNvSpPr txBox="1">
              <a:spLocks noChangeArrowheads="1"/>
            </p:cNvSpPr>
            <p:nvPr/>
          </p:nvSpPr>
          <p:spPr bwMode="auto">
            <a:xfrm>
              <a:off x="4541" y="361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0156" name="Text Box 1181"/>
            <p:cNvSpPr txBox="1">
              <a:spLocks noChangeArrowheads="1"/>
            </p:cNvSpPr>
            <p:nvPr/>
          </p:nvSpPr>
          <p:spPr bwMode="auto">
            <a:xfrm>
              <a:off x="4973" y="361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0157" name="Text Box 1182"/>
            <p:cNvSpPr txBox="1">
              <a:spLocks noChangeArrowheads="1"/>
            </p:cNvSpPr>
            <p:nvPr/>
          </p:nvSpPr>
          <p:spPr bwMode="auto">
            <a:xfrm>
              <a:off x="4229" y="342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0158" name="Text Box 1183"/>
            <p:cNvSpPr txBox="1">
              <a:spLocks noChangeArrowheads="1"/>
            </p:cNvSpPr>
            <p:nvPr/>
          </p:nvSpPr>
          <p:spPr bwMode="auto">
            <a:xfrm>
              <a:off x="4664" y="342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grpSp>
      <p:grpSp>
        <p:nvGrpSpPr>
          <p:cNvPr id="22" name="Group 1184"/>
          <p:cNvGrpSpPr>
            <a:grpSpLocks/>
          </p:cNvGrpSpPr>
          <p:nvPr/>
        </p:nvGrpSpPr>
        <p:grpSpPr bwMode="auto">
          <a:xfrm>
            <a:off x="864034" y="2596356"/>
            <a:ext cx="7086600" cy="3429000"/>
            <a:chOff x="1202" y="1412"/>
            <a:chExt cx="4464" cy="2160"/>
          </a:xfrm>
        </p:grpSpPr>
        <p:sp>
          <p:nvSpPr>
            <p:cNvPr id="40111" name="Rectangle 1185"/>
            <p:cNvSpPr>
              <a:spLocks noChangeArrowheads="1"/>
            </p:cNvSpPr>
            <p:nvPr/>
          </p:nvSpPr>
          <p:spPr bwMode="auto">
            <a:xfrm>
              <a:off x="1202" y="1412"/>
              <a:ext cx="4464" cy="2160"/>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0112" name="Text Box 1186"/>
            <p:cNvSpPr txBox="1">
              <a:spLocks noChangeArrowheads="1"/>
            </p:cNvSpPr>
            <p:nvPr/>
          </p:nvSpPr>
          <p:spPr bwMode="auto">
            <a:xfrm>
              <a:off x="1250" y="1450"/>
              <a:ext cx="4128"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rPr>
                <a:t>1.	For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–1, repeat:</a:t>
              </a:r>
              <a:br>
                <a:rPr lang="en-US" altLang="en-US" sz="2000">
                  <a:latin typeface="Times New Roman" pitchFamily="18" charset="0"/>
                </a:rPr>
              </a:br>
              <a:r>
                <a:rPr lang="en-US" altLang="en-US" sz="2000">
                  <a:latin typeface="Times New Roman" pitchFamily="18" charset="0"/>
                </a:rPr>
                <a:t>	1.1.	</a:t>
              </a:r>
              <a:r>
                <a:rPr lang="en-US" altLang="en-US" sz="2000">
                  <a:solidFill>
                    <a:srgbClr val="FF0000"/>
                  </a:solidFill>
                  <a:latin typeface="Times New Roman" pitchFamily="18" charset="0"/>
                </a:rPr>
                <a:t>Set </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such that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is the least of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right</a:t>
              </a:r>
              <a:r>
                <a:rPr lang="en-US" altLang="en-US" sz="2000">
                  <a:solidFill>
                    <a:srgbClr val="FF0000"/>
                  </a:solidFill>
                  <a:latin typeface="Times New Roman" pitchFamily="18" charset="0"/>
                </a:rPr>
                <a:t>].</a:t>
              </a:r>
              <a:br>
                <a:rPr lang="en-US" altLang="en-US" sz="2000">
                  <a:latin typeface="Times New Roman" pitchFamily="18" charset="0"/>
                </a:rPr>
              </a:br>
              <a:r>
                <a:rPr lang="en-US" altLang="en-US" sz="2000">
                  <a:latin typeface="Times New Roman" pitchFamily="18" charset="0"/>
                </a:rPr>
                <a:t>	1.2.	If </a:t>
              </a:r>
              <a:r>
                <a:rPr lang="en-US" altLang="en-US" sz="2000" i="1">
                  <a:latin typeface="Times New Roman" pitchFamily="18" charset="0"/>
                </a:rPr>
                <a:t>p</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l</a:t>
              </a:r>
              <a:r>
                <a:rPr lang="en-US" altLang="en-US" sz="2000">
                  <a:latin typeface="Times New Roman" pitchFamily="18" charset="0"/>
                </a:rPr>
                <a:t>, swap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and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a:t>
              </a:r>
            </a:p>
          </p:txBody>
        </p:sp>
        <p:sp>
          <p:nvSpPr>
            <p:cNvPr id="40113" name="Text Box 1187"/>
            <p:cNvSpPr txBox="1">
              <a:spLocks noChangeArrowheads="1"/>
            </p:cNvSpPr>
            <p:nvPr/>
          </p:nvSpPr>
          <p:spPr bwMode="auto">
            <a:xfrm>
              <a:off x="1490" y="280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0114" name="Text Box 1188"/>
            <p:cNvSpPr txBox="1">
              <a:spLocks noChangeArrowheads="1"/>
            </p:cNvSpPr>
            <p:nvPr/>
          </p:nvSpPr>
          <p:spPr bwMode="auto">
            <a:xfrm>
              <a:off x="1250" y="2612"/>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0115" name="Text Box 1189"/>
            <p:cNvSpPr txBox="1">
              <a:spLocks noChangeArrowheads="1"/>
            </p:cNvSpPr>
            <p:nvPr/>
          </p:nvSpPr>
          <p:spPr bwMode="auto">
            <a:xfrm>
              <a:off x="2070" y="261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0116" name="Text Box 1190"/>
            <p:cNvSpPr txBox="1">
              <a:spLocks noChangeArrowheads="1"/>
            </p:cNvSpPr>
            <p:nvPr/>
          </p:nvSpPr>
          <p:spPr bwMode="auto">
            <a:xfrm>
              <a:off x="2498" y="261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0117" name="Text Box 1191"/>
            <p:cNvSpPr txBox="1">
              <a:spLocks noChangeArrowheads="1"/>
            </p:cNvSpPr>
            <p:nvPr/>
          </p:nvSpPr>
          <p:spPr bwMode="auto">
            <a:xfrm>
              <a:off x="2930" y="261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0118" name="Text Box 1192"/>
            <p:cNvSpPr txBox="1">
              <a:spLocks noChangeArrowheads="1"/>
            </p:cNvSpPr>
            <p:nvPr/>
          </p:nvSpPr>
          <p:spPr bwMode="auto">
            <a:xfrm>
              <a:off x="3362" y="261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0119" name="Text Box 1193"/>
            <p:cNvSpPr txBox="1">
              <a:spLocks noChangeArrowheads="1"/>
            </p:cNvSpPr>
            <p:nvPr/>
          </p:nvSpPr>
          <p:spPr bwMode="auto">
            <a:xfrm>
              <a:off x="3794" y="261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0120" name="Text Box 1194"/>
            <p:cNvSpPr txBox="1">
              <a:spLocks noChangeArrowheads="1"/>
            </p:cNvSpPr>
            <p:nvPr/>
          </p:nvSpPr>
          <p:spPr bwMode="auto">
            <a:xfrm>
              <a:off x="4994" y="2612"/>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0121" name="Text Box 1195"/>
            <p:cNvSpPr txBox="1">
              <a:spLocks noChangeArrowheads="1"/>
            </p:cNvSpPr>
            <p:nvPr/>
          </p:nvSpPr>
          <p:spPr bwMode="auto">
            <a:xfrm>
              <a:off x="1949" y="280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0122" name="Text Box 1196"/>
            <p:cNvSpPr txBox="1">
              <a:spLocks noChangeArrowheads="1"/>
            </p:cNvSpPr>
            <p:nvPr/>
          </p:nvSpPr>
          <p:spPr bwMode="auto">
            <a:xfrm>
              <a:off x="2381" y="280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0123" name="Text Box 1197"/>
            <p:cNvSpPr txBox="1">
              <a:spLocks noChangeArrowheads="1"/>
            </p:cNvSpPr>
            <p:nvPr/>
          </p:nvSpPr>
          <p:spPr bwMode="auto">
            <a:xfrm>
              <a:off x="2813" y="280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0124" name="Text Box 1198"/>
            <p:cNvSpPr txBox="1">
              <a:spLocks noChangeArrowheads="1"/>
            </p:cNvSpPr>
            <p:nvPr/>
          </p:nvSpPr>
          <p:spPr bwMode="auto">
            <a:xfrm>
              <a:off x="3245" y="280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0125" name="Text Box 1199"/>
            <p:cNvSpPr txBox="1">
              <a:spLocks noChangeArrowheads="1"/>
            </p:cNvSpPr>
            <p:nvPr/>
          </p:nvSpPr>
          <p:spPr bwMode="auto">
            <a:xfrm>
              <a:off x="3677" y="280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0126" name="Text Box 1200"/>
            <p:cNvSpPr txBox="1">
              <a:spLocks noChangeArrowheads="1"/>
            </p:cNvSpPr>
            <p:nvPr/>
          </p:nvSpPr>
          <p:spPr bwMode="auto">
            <a:xfrm>
              <a:off x="4109" y="280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0127" name="Text Box 1201"/>
            <p:cNvSpPr txBox="1">
              <a:spLocks noChangeArrowheads="1"/>
            </p:cNvSpPr>
            <p:nvPr/>
          </p:nvSpPr>
          <p:spPr bwMode="auto">
            <a:xfrm>
              <a:off x="1490" y="323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6</a:t>
              </a:r>
            </a:p>
          </p:txBody>
        </p:sp>
        <p:sp>
          <p:nvSpPr>
            <p:cNvPr id="40128" name="Text Box 1202"/>
            <p:cNvSpPr txBox="1">
              <a:spLocks noChangeArrowheads="1"/>
            </p:cNvSpPr>
            <p:nvPr/>
          </p:nvSpPr>
          <p:spPr bwMode="auto">
            <a:xfrm>
              <a:off x="1298" y="280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0129" name="Text Box 1203"/>
            <p:cNvSpPr txBox="1">
              <a:spLocks noChangeArrowheads="1"/>
            </p:cNvSpPr>
            <p:nvPr/>
          </p:nvSpPr>
          <p:spPr bwMode="auto">
            <a:xfrm>
              <a:off x="1298" y="3236"/>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40130" name="Text Box 1204"/>
            <p:cNvSpPr txBox="1">
              <a:spLocks noChangeArrowheads="1"/>
            </p:cNvSpPr>
            <p:nvPr/>
          </p:nvSpPr>
          <p:spPr bwMode="auto">
            <a:xfrm>
              <a:off x="4541" y="280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0131" name="Text Box 1205"/>
            <p:cNvSpPr txBox="1">
              <a:spLocks noChangeArrowheads="1"/>
            </p:cNvSpPr>
            <p:nvPr/>
          </p:nvSpPr>
          <p:spPr bwMode="auto">
            <a:xfrm>
              <a:off x="4973" y="280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0132" name="Text Box 1206"/>
            <p:cNvSpPr txBox="1">
              <a:spLocks noChangeArrowheads="1"/>
            </p:cNvSpPr>
            <p:nvPr/>
          </p:nvSpPr>
          <p:spPr bwMode="auto">
            <a:xfrm>
              <a:off x="4229" y="261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0133" name="Text Box 1207"/>
            <p:cNvSpPr txBox="1">
              <a:spLocks noChangeArrowheads="1"/>
            </p:cNvSpPr>
            <p:nvPr/>
          </p:nvSpPr>
          <p:spPr bwMode="auto">
            <a:xfrm>
              <a:off x="4664" y="261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40134" name="Text Box 1208"/>
            <p:cNvSpPr txBox="1">
              <a:spLocks noChangeArrowheads="1"/>
            </p:cNvSpPr>
            <p:nvPr/>
          </p:nvSpPr>
          <p:spPr bwMode="auto">
            <a:xfrm>
              <a:off x="2381" y="323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8</a:t>
              </a:r>
            </a:p>
          </p:txBody>
        </p:sp>
        <p:sp>
          <p:nvSpPr>
            <p:cNvPr id="40135" name="Text Box 1209"/>
            <p:cNvSpPr txBox="1">
              <a:spLocks noChangeArrowheads="1"/>
            </p:cNvSpPr>
            <p:nvPr/>
          </p:nvSpPr>
          <p:spPr bwMode="auto">
            <a:xfrm>
              <a:off x="2189" y="3236"/>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p</a:t>
              </a:r>
            </a:p>
          </p:txBody>
        </p:sp>
      </p:grpSp>
      <p:grpSp>
        <p:nvGrpSpPr>
          <p:cNvPr id="23" name="Group 1210"/>
          <p:cNvGrpSpPr>
            <a:grpSpLocks/>
          </p:cNvGrpSpPr>
          <p:nvPr/>
        </p:nvGrpSpPr>
        <p:grpSpPr bwMode="auto">
          <a:xfrm>
            <a:off x="864034" y="2596356"/>
            <a:ext cx="7086600" cy="3429000"/>
            <a:chOff x="1202" y="1502"/>
            <a:chExt cx="4464" cy="2160"/>
          </a:xfrm>
        </p:grpSpPr>
        <p:sp>
          <p:nvSpPr>
            <p:cNvPr id="40086" name="Rectangle 1211"/>
            <p:cNvSpPr>
              <a:spLocks noChangeArrowheads="1"/>
            </p:cNvSpPr>
            <p:nvPr/>
          </p:nvSpPr>
          <p:spPr bwMode="auto">
            <a:xfrm>
              <a:off x="1202" y="1502"/>
              <a:ext cx="4464" cy="2160"/>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0087" name="Text Box 1212"/>
            <p:cNvSpPr txBox="1">
              <a:spLocks noChangeArrowheads="1"/>
            </p:cNvSpPr>
            <p:nvPr/>
          </p:nvSpPr>
          <p:spPr bwMode="auto">
            <a:xfrm>
              <a:off x="1250" y="1540"/>
              <a:ext cx="4128"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rPr>
                <a:t>1.	For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–1, repeat:</a:t>
              </a:r>
              <a:br>
                <a:rPr lang="en-US" altLang="en-US" sz="2000">
                  <a:latin typeface="Times New Roman" pitchFamily="18" charset="0"/>
                </a:rPr>
              </a:br>
              <a:r>
                <a:rPr lang="en-US" altLang="en-US" sz="2000">
                  <a:latin typeface="Times New Roman" pitchFamily="18" charset="0"/>
                </a:rPr>
                <a:t>	1.1.	Set </a:t>
              </a:r>
              <a:r>
                <a:rPr lang="en-US" altLang="en-US" sz="2000" i="1">
                  <a:latin typeface="Times New Roman" pitchFamily="18" charset="0"/>
                </a:rPr>
                <a:t>p</a:t>
              </a:r>
              <a:r>
                <a:rPr lang="en-US" altLang="en-US" sz="2000">
                  <a:latin typeface="Times New Roman" pitchFamily="18" charset="0"/>
                </a:rPr>
                <a:t> such that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is the least of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1.2.	</a:t>
              </a:r>
              <a:r>
                <a:rPr lang="en-US" altLang="en-US" sz="2000">
                  <a:solidFill>
                    <a:srgbClr val="FF0000"/>
                  </a:solidFill>
                  <a:latin typeface="Times New Roman" pitchFamily="18" charset="0"/>
                </a:rPr>
                <a:t>If </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a:t>
              </a:r>
              <a:r>
                <a:rPr lang="en-US" altLang="en-US" sz="2000">
                  <a:solidFill>
                    <a:srgbClr val="FF0000"/>
                  </a:solidFill>
                  <a:latin typeface="Times New Roman" pitchFamily="18" charset="0"/>
                  <a:sym typeface="Symbol" pitchFamily="18" charset="2"/>
                </a:rPr>
                <a:t></a:t>
              </a:r>
              <a:r>
                <a:rPr lang="en-US" altLang="en-US" sz="2000">
                  <a:solidFill>
                    <a:srgbClr val="FF0000"/>
                  </a:solidFill>
                  <a:latin typeface="Times New Roman" pitchFamily="18" charset="0"/>
                </a:rPr>
                <a:t> </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 swap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and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a:t>
              </a:r>
              <a:br>
                <a:rPr lang="en-US" altLang="en-US" sz="2000">
                  <a:latin typeface="Times New Roman" pitchFamily="18" charset="0"/>
                </a:rPr>
              </a:br>
              <a:r>
                <a:rPr lang="en-US" altLang="en-US" sz="2000">
                  <a:latin typeface="Times New Roman" pitchFamily="18" charset="0"/>
                </a:rPr>
                <a:t>2.	Terminate.</a:t>
              </a:r>
            </a:p>
          </p:txBody>
        </p:sp>
        <p:sp>
          <p:nvSpPr>
            <p:cNvPr id="40088" name="Text Box 1213"/>
            <p:cNvSpPr txBox="1">
              <a:spLocks noChangeArrowheads="1"/>
            </p:cNvSpPr>
            <p:nvPr/>
          </p:nvSpPr>
          <p:spPr bwMode="auto">
            <a:xfrm>
              <a:off x="1490" y="289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0089" name="Text Box 1214"/>
            <p:cNvSpPr txBox="1">
              <a:spLocks noChangeArrowheads="1"/>
            </p:cNvSpPr>
            <p:nvPr/>
          </p:nvSpPr>
          <p:spPr bwMode="auto">
            <a:xfrm>
              <a:off x="1250" y="2702"/>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0090" name="Text Box 1215"/>
            <p:cNvSpPr txBox="1">
              <a:spLocks noChangeArrowheads="1"/>
            </p:cNvSpPr>
            <p:nvPr/>
          </p:nvSpPr>
          <p:spPr bwMode="auto">
            <a:xfrm>
              <a:off x="2070" y="270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0091" name="Text Box 1216"/>
            <p:cNvSpPr txBox="1">
              <a:spLocks noChangeArrowheads="1"/>
            </p:cNvSpPr>
            <p:nvPr/>
          </p:nvSpPr>
          <p:spPr bwMode="auto">
            <a:xfrm>
              <a:off x="2498" y="270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0092" name="Text Box 1217"/>
            <p:cNvSpPr txBox="1">
              <a:spLocks noChangeArrowheads="1"/>
            </p:cNvSpPr>
            <p:nvPr/>
          </p:nvSpPr>
          <p:spPr bwMode="auto">
            <a:xfrm>
              <a:off x="2930" y="270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0093" name="Text Box 1218"/>
            <p:cNvSpPr txBox="1">
              <a:spLocks noChangeArrowheads="1"/>
            </p:cNvSpPr>
            <p:nvPr/>
          </p:nvSpPr>
          <p:spPr bwMode="auto">
            <a:xfrm>
              <a:off x="3362" y="270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0094" name="Text Box 1219"/>
            <p:cNvSpPr txBox="1">
              <a:spLocks noChangeArrowheads="1"/>
            </p:cNvSpPr>
            <p:nvPr/>
          </p:nvSpPr>
          <p:spPr bwMode="auto">
            <a:xfrm>
              <a:off x="3794" y="270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0095" name="Text Box 1220"/>
            <p:cNvSpPr txBox="1">
              <a:spLocks noChangeArrowheads="1"/>
            </p:cNvSpPr>
            <p:nvPr/>
          </p:nvSpPr>
          <p:spPr bwMode="auto">
            <a:xfrm>
              <a:off x="4994" y="2702"/>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0096" name="Text Box 1221"/>
            <p:cNvSpPr txBox="1">
              <a:spLocks noChangeArrowheads="1"/>
            </p:cNvSpPr>
            <p:nvPr/>
          </p:nvSpPr>
          <p:spPr bwMode="auto">
            <a:xfrm>
              <a:off x="1949" y="289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0097" name="Text Box 1222"/>
            <p:cNvSpPr txBox="1">
              <a:spLocks noChangeArrowheads="1"/>
            </p:cNvSpPr>
            <p:nvPr/>
          </p:nvSpPr>
          <p:spPr bwMode="auto">
            <a:xfrm>
              <a:off x="2381" y="289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0098" name="Text Box 1223"/>
            <p:cNvSpPr txBox="1">
              <a:spLocks noChangeArrowheads="1"/>
            </p:cNvSpPr>
            <p:nvPr/>
          </p:nvSpPr>
          <p:spPr bwMode="auto">
            <a:xfrm>
              <a:off x="2813" y="289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0099" name="Text Box 1224"/>
            <p:cNvSpPr txBox="1">
              <a:spLocks noChangeArrowheads="1"/>
            </p:cNvSpPr>
            <p:nvPr/>
          </p:nvSpPr>
          <p:spPr bwMode="auto">
            <a:xfrm>
              <a:off x="3245" y="289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0100" name="Text Box 1225"/>
            <p:cNvSpPr txBox="1">
              <a:spLocks noChangeArrowheads="1"/>
            </p:cNvSpPr>
            <p:nvPr/>
          </p:nvSpPr>
          <p:spPr bwMode="auto">
            <a:xfrm>
              <a:off x="3677" y="289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0101" name="Text Box 1226"/>
            <p:cNvSpPr txBox="1">
              <a:spLocks noChangeArrowheads="1"/>
            </p:cNvSpPr>
            <p:nvPr/>
          </p:nvSpPr>
          <p:spPr bwMode="auto">
            <a:xfrm>
              <a:off x="4109" y="28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0102" name="Text Box 1227"/>
            <p:cNvSpPr txBox="1">
              <a:spLocks noChangeArrowheads="1"/>
            </p:cNvSpPr>
            <p:nvPr/>
          </p:nvSpPr>
          <p:spPr bwMode="auto">
            <a:xfrm>
              <a:off x="1490" y="332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6</a:t>
              </a:r>
            </a:p>
          </p:txBody>
        </p:sp>
        <p:sp>
          <p:nvSpPr>
            <p:cNvPr id="40103" name="Text Box 1228"/>
            <p:cNvSpPr txBox="1">
              <a:spLocks noChangeArrowheads="1"/>
            </p:cNvSpPr>
            <p:nvPr/>
          </p:nvSpPr>
          <p:spPr bwMode="auto">
            <a:xfrm>
              <a:off x="1298" y="2894"/>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0104" name="Text Box 1229"/>
            <p:cNvSpPr txBox="1">
              <a:spLocks noChangeArrowheads="1"/>
            </p:cNvSpPr>
            <p:nvPr/>
          </p:nvSpPr>
          <p:spPr bwMode="auto">
            <a:xfrm>
              <a:off x="1298" y="3326"/>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40105" name="Text Box 1230"/>
            <p:cNvSpPr txBox="1">
              <a:spLocks noChangeArrowheads="1"/>
            </p:cNvSpPr>
            <p:nvPr/>
          </p:nvSpPr>
          <p:spPr bwMode="auto">
            <a:xfrm>
              <a:off x="4541" y="28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0106" name="Text Box 1231"/>
            <p:cNvSpPr txBox="1">
              <a:spLocks noChangeArrowheads="1"/>
            </p:cNvSpPr>
            <p:nvPr/>
          </p:nvSpPr>
          <p:spPr bwMode="auto">
            <a:xfrm>
              <a:off x="4973" y="28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0107" name="Text Box 1232"/>
            <p:cNvSpPr txBox="1">
              <a:spLocks noChangeArrowheads="1"/>
            </p:cNvSpPr>
            <p:nvPr/>
          </p:nvSpPr>
          <p:spPr bwMode="auto">
            <a:xfrm>
              <a:off x="4229" y="270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0108" name="Text Box 1233"/>
            <p:cNvSpPr txBox="1">
              <a:spLocks noChangeArrowheads="1"/>
            </p:cNvSpPr>
            <p:nvPr/>
          </p:nvSpPr>
          <p:spPr bwMode="auto">
            <a:xfrm>
              <a:off x="4664" y="2702"/>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40109" name="Text Box 1234"/>
            <p:cNvSpPr txBox="1">
              <a:spLocks noChangeArrowheads="1"/>
            </p:cNvSpPr>
            <p:nvPr/>
          </p:nvSpPr>
          <p:spPr bwMode="auto">
            <a:xfrm>
              <a:off x="2381" y="332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8</a:t>
              </a:r>
            </a:p>
          </p:txBody>
        </p:sp>
        <p:sp>
          <p:nvSpPr>
            <p:cNvPr id="40110" name="Text Box 1235"/>
            <p:cNvSpPr txBox="1">
              <a:spLocks noChangeArrowheads="1"/>
            </p:cNvSpPr>
            <p:nvPr/>
          </p:nvSpPr>
          <p:spPr bwMode="auto">
            <a:xfrm>
              <a:off x="2189" y="3326"/>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p</a:t>
              </a:r>
            </a:p>
          </p:txBody>
        </p:sp>
      </p:grpSp>
      <p:grpSp>
        <p:nvGrpSpPr>
          <p:cNvPr id="24" name="Group 1236"/>
          <p:cNvGrpSpPr>
            <a:grpSpLocks/>
          </p:cNvGrpSpPr>
          <p:nvPr/>
        </p:nvGrpSpPr>
        <p:grpSpPr bwMode="auto">
          <a:xfrm>
            <a:off x="864034" y="2596356"/>
            <a:ext cx="7086600" cy="3429000"/>
            <a:chOff x="1202" y="1593"/>
            <a:chExt cx="4464" cy="2160"/>
          </a:xfrm>
        </p:grpSpPr>
        <p:sp>
          <p:nvSpPr>
            <p:cNvPr id="40063" name="Rectangle 1237"/>
            <p:cNvSpPr>
              <a:spLocks noChangeArrowheads="1"/>
            </p:cNvSpPr>
            <p:nvPr/>
          </p:nvSpPr>
          <p:spPr bwMode="auto">
            <a:xfrm>
              <a:off x="1202" y="1593"/>
              <a:ext cx="4464" cy="2160"/>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0064" name="Text Box 1238"/>
            <p:cNvSpPr txBox="1">
              <a:spLocks noChangeArrowheads="1"/>
            </p:cNvSpPr>
            <p:nvPr/>
          </p:nvSpPr>
          <p:spPr bwMode="auto">
            <a:xfrm>
              <a:off x="1250" y="1631"/>
              <a:ext cx="4128"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rPr>
                <a:t>1.	</a:t>
              </a:r>
              <a:r>
                <a:rPr lang="en-US" altLang="en-US" sz="2000">
                  <a:solidFill>
                    <a:srgbClr val="FF0000"/>
                  </a:solidFill>
                  <a:latin typeface="Times New Roman" pitchFamily="18" charset="0"/>
                </a:rPr>
                <a:t>For </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left</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right</a:t>
              </a:r>
              <a:r>
                <a:rPr lang="en-US" altLang="en-US" sz="2000">
                  <a:solidFill>
                    <a:srgbClr val="FF0000"/>
                  </a:solidFill>
                  <a:latin typeface="Times New Roman" pitchFamily="18" charset="0"/>
                </a:rPr>
                <a:t>–1, repeat:</a:t>
              </a:r>
              <a:br>
                <a:rPr lang="en-US" altLang="en-US" sz="2000">
                  <a:latin typeface="Times New Roman" pitchFamily="18" charset="0"/>
                </a:rPr>
              </a:br>
              <a:r>
                <a:rPr lang="en-US" altLang="en-US" sz="2000">
                  <a:latin typeface="Times New Roman" pitchFamily="18" charset="0"/>
                </a:rPr>
                <a:t>	1.1.	Set </a:t>
              </a:r>
              <a:r>
                <a:rPr lang="en-US" altLang="en-US" sz="2000" i="1">
                  <a:latin typeface="Times New Roman" pitchFamily="18" charset="0"/>
                </a:rPr>
                <a:t>p</a:t>
              </a:r>
              <a:r>
                <a:rPr lang="en-US" altLang="en-US" sz="2000">
                  <a:latin typeface="Times New Roman" pitchFamily="18" charset="0"/>
                </a:rPr>
                <a:t> such that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is the least of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1.2.	If </a:t>
              </a:r>
              <a:r>
                <a:rPr lang="en-US" altLang="en-US" sz="2000" i="1">
                  <a:latin typeface="Times New Roman" pitchFamily="18" charset="0"/>
                </a:rPr>
                <a:t>p</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l</a:t>
              </a:r>
              <a:r>
                <a:rPr lang="en-US" altLang="en-US" sz="2000">
                  <a:latin typeface="Times New Roman" pitchFamily="18" charset="0"/>
                </a:rPr>
                <a:t>, swap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and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a:t>
              </a:r>
            </a:p>
          </p:txBody>
        </p:sp>
        <p:sp>
          <p:nvSpPr>
            <p:cNvPr id="40065" name="Text Box 1239"/>
            <p:cNvSpPr txBox="1">
              <a:spLocks noChangeArrowheads="1"/>
            </p:cNvSpPr>
            <p:nvPr/>
          </p:nvSpPr>
          <p:spPr bwMode="auto">
            <a:xfrm>
              <a:off x="1490" y="2985"/>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0066" name="Text Box 1240"/>
            <p:cNvSpPr txBox="1">
              <a:spLocks noChangeArrowheads="1"/>
            </p:cNvSpPr>
            <p:nvPr/>
          </p:nvSpPr>
          <p:spPr bwMode="auto">
            <a:xfrm>
              <a:off x="1250" y="2793"/>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0067" name="Text Box 1241"/>
            <p:cNvSpPr txBox="1">
              <a:spLocks noChangeArrowheads="1"/>
            </p:cNvSpPr>
            <p:nvPr/>
          </p:nvSpPr>
          <p:spPr bwMode="auto">
            <a:xfrm>
              <a:off x="2070" y="279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0068" name="Text Box 1242"/>
            <p:cNvSpPr txBox="1">
              <a:spLocks noChangeArrowheads="1"/>
            </p:cNvSpPr>
            <p:nvPr/>
          </p:nvSpPr>
          <p:spPr bwMode="auto">
            <a:xfrm>
              <a:off x="2498" y="279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0069" name="Text Box 1243"/>
            <p:cNvSpPr txBox="1">
              <a:spLocks noChangeArrowheads="1"/>
            </p:cNvSpPr>
            <p:nvPr/>
          </p:nvSpPr>
          <p:spPr bwMode="auto">
            <a:xfrm>
              <a:off x="2930" y="279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0070" name="Text Box 1244"/>
            <p:cNvSpPr txBox="1">
              <a:spLocks noChangeArrowheads="1"/>
            </p:cNvSpPr>
            <p:nvPr/>
          </p:nvSpPr>
          <p:spPr bwMode="auto">
            <a:xfrm>
              <a:off x="3362" y="279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0071" name="Text Box 1245"/>
            <p:cNvSpPr txBox="1">
              <a:spLocks noChangeArrowheads="1"/>
            </p:cNvSpPr>
            <p:nvPr/>
          </p:nvSpPr>
          <p:spPr bwMode="auto">
            <a:xfrm>
              <a:off x="3794" y="279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0072" name="Text Box 1246"/>
            <p:cNvSpPr txBox="1">
              <a:spLocks noChangeArrowheads="1"/>
            </p:cNvSpPr>
            <p:nvPr/>
          </p:nvSpPr>
          <p:spPr bwMode="auto">
            <a:xfrm>
              <a:off x="4994" y="2793"/>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0073" name="Text Box 1247"/>
            <p:cNvSpPr txBox="1">
              <a:spLocks noChangeArrowheads="1"/>
            </p:cNvSpPr>
            <p:nvPr/>
          </p:nvSpPr>
          <p:spPr bwMode="auto">
            <a:xfrm>
              <a:off x="1949" y="2985"/>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0074" name="Text Box 1248"/>
            <p:cNvSpPr txBox="1">
              <a:spLocks noChangeArrowheads="1"/>
            </p:cNvSpPr>
            <p:nvPr/>
          </p:nvSpPr>
          <p:spPr bwMode="auto">
            <a:xfrm>
              <a:off x="2381" y="2985"/>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0075" name="Text Box 1249"/>
            <p:cNvSpPr txBox="1">
              <a:spLocks noChangeArrowheads="1"/>
            </p:cNvSpPr>
            <p:nvPr/>
          </p:nvSpPr>
          <p:spPr bwMode="auto">
            <a:xfrm>
              <a:off x="2813" y="2985"/>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0076" name="Text Box 1250"/>
            <p:cNvSpPr txBox="1">
              <a:spLocks noChangeArrowheads="1"/>
            </p:cNvSpPr>
            <p:nvPr/>
          </p:nvSpPr>
          <p:spPr bwMode="auto">
            <a:xfrm>
              <a:off x="3245" y="2985"/>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0077" name="Text Box 1251"/>
            <p:cNvSpPr txBox="1">
              <a:spLocks noChangeArrowheads="1"/>
            </p:cNvSpPr>
            <p:nvPr/>
          </p:nvSpPr>
          <p:spPr bwMode="auto">
            <a:xfrm>
              <a:off x="3677" y="2985"/>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0078" name="Text Box 1252"/>
            <p:cNvSpPr txBox="1">
              <a:spLocks noChangeArrowheads="1"/>
            </p:cNvSpPr>
            <p:nvPr/>
          </p:nvSpPr>
          <p:spPr bwMode="auto">
            <a:xfrm>
              <a:off x="4109" y="2985"/>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0079" name="Text Box 1253"/>
            <p:cNvSpPr txBox="1">
              <a:spLocks noChangeArrowheads="1"/>
            </p:cNvSpPr>
            <p:nvPr/>
          </p:nvSpPr>
          <p:spPr bwMode="auto">
            <a:xfrm>
              <a:off x="1490" y="341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7</a:t>
              </a:r>
            </a:p>
          </p:txBody>
        </p:sp>
        <p:sp>
          <p:nvSpPr>
            <p:cNvPr id="40080" name="Text Box 1254"/>
            <p:cNvSpPr txBox="1">
              <a:spLocks noChangeArrowheads="1"/>
            </p:cNvSpPr>
            <p:nvPr/>
          </p:nvSpPr>
          <p:spPr bwMode="auto">
            <a:xfrm>
              <a:off x="1298" y="2985"/>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0081" name="Text Box 1255"/>
            <p:cNvSpPr txBox="1">
              <a:spLocks noChangeArrowheads="1"/>
            </p:cNvSpPr>
            <p:nvPr/>
          </p:nvSpPr>
          <p:spPr bwMode="auto">
            <a:xfrm>
              <a:off x="1298" y="3417"/>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40082" name="Text Box 1256"/>
            <p:cNvSpPr txBox="1">
              <a:spLocks noChangeArrowheads="1"/>
            </p:cNvSpPr>
            <p:nvPr/>
          </p:nvSpPr>
          <p:spPr bwMode="auto">
            <a:xfrm>
              <a:off x="4541" y="298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0083" name="Text Box 1257"/>
            <p:cNvSpPr txBox="1">
              <a:spLocks noChangeArrowheads="1"/>
            </p:cNvSpPr>
            <p:nvPr/>
          </p:nvSpPr>
          <p:spPr bwMode="auto">
            <a:xfrm>
              <a:off x="4973" y="298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0084" name="Text Box 1258"/>
            <p:cNvSpPr txBox="1">
              <a:spLocks noChangeArrowheads="1"/>
            </p:cNvSpPr>
            <p:nvPr/>
          </p:nvSpPr>
          <p:spPr bwMode="auto">
            <a:xfrm>
              <a:off x="4229" y="279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0085" name="Text Box 1259"/>
            <p:cNvSpPr txBox="1">
              <a:spLocks noChangeArrowheads="1"/>
            </p:cNvSpPr>
            <p:nvPr/>
          </p:nvSpPr>
          <p:spPr bwMode="auto">
            <a:xfrm>
              <a:off x="4664" y="2793"/>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grpSp>
      <p:grpSp>
        <p:nvGrpSpPr>
          <p:cNvPr id="25" name="Group 1260"/>
          <p:cNvGrpSpPr>
            <a:grpSpLocks/>
          </p:cNvGrpSpPr>
          <p:nvPr/>
        </p:nvGrpSpPr>
        <p:grpSpPr bwMode="auto">
          <a:xfrm>
            <a:off x="864034" y="2586831"/>
            <a:ext cx="7086600" cy="3429000"/>
            <a:chOff x="1202" y="1684"/>
            <a:chExt cx="4464" cy="2160"/>
          </a:xfrm>
        </p:grpSpPr>
        <p:sp>
          <p:nvSpPr>
            <p:cNvPr id="40038" name="Rectangle 1261"/>
            <p:cNvSpPr>
              <a:spLocks noChangeArrowheads="1"/>
            </p:cNvSpPr>
            <p:nvPr/>
          </p:nvSpPr>
          <p:spPr bwMode="auto">
            <a:xfrm>
              <a:off x="1202" y="1684"/>
              <a:ext cx="4464" cy="2160"/>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0039" name="Text Box 1262"/>
            <p:cNvSpPr txBox="1">
              <a:spLocks noChangeArrowheads="1"/>
            </p:cNvSpPr>
            <p:nvPr/>
          </p:nvSpPr>
          <p:spPr bwMode="auto">
            <a:xfrm>
              <a:off x="1250" y="1722"/>
              <a:ext cx="4128"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rPr>
                <a:t>1.	For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–1, repeat:</a:t>
              </a:r>
              <a:br>
                <a:rPr lang="en-US" altLang="en-US" sz="2000">
                  <a:latin typeface="Times New Roman" pitchFamily="18" charset="0"/>
                </a:rPr>
              </a:br>
              <a:r>
                <a:rPr lang="en-US" altLang="en-US" sz="2000">
                  <a:latin typeface="Times New Roman" pitchFamily="18" charset="0"/>
                </a:rPr>
                <a:t>	1.1.	</a:t>
              </a:r>
              <a:r>
                <a:rPr lang="en-US" altLang="en-US" sz="2000">
                  <a:solidFill>
                    <a:srgbClr val="FF0000"/>
                  </a:solidFill>
                  <a:latin typeface="Times New Roman" pitchFamily="18" charset="0"/>
                </a:rPr>
                <a:t>Set </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such that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is the least of </a:t>
              </a:r>
              <a:r>
                <a:rPr lang="en-US" altLang="en-US" sz="2000" i="1">
                  <a:solidFill>
                    <a:srgbClr val="FF0000"/>
                  </a:solidFill>
                  <a:latin typeface="Times New Roman" pitchFamily="18" charset="0"/>
                </a:rPr>
                <a:t>a</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a:t>
              </a:r>
              <a:r>
                <a:rPr lang="en-US" altLang="en-US" sz="2000" i="1">
                  <a:solidFill>
                    <a:srgbClr val="FF0000"/>
                  </a:solidFill>
                  <a:latin typeface="Times New Roman" pitchFamily="18" charset="0"/>
                </a:rPr>
                <a:t>right</a:t>
              </a:r>
              <a:r>
                <a:rPr lang="en-US" altLang="en-US" sz="2000">
                  <a:solidFill>
                    <a:srgbClr val="FF0000"/>
                  </a:solidFill>
                  <a:latin typeface="Times New Roman" pitchFamily="18" charset="0"/>
                </a:rPr>
                <a:t>].</a:t>
              </a:r>
              <a:br>
                <a:rPr lang="en-US" altLang="en-US" sz="2000">
                  <a:latin typeface="Times New Roman" pitchFamily="18" charset="0"/>
                </a:rPr>
              </a:br>
              <a:r>
                <a:rPr lang="en-US" altLang="en-US" sz="2000">
                  <a:latin typeface="Times New Roman" pitchFamily="18" charset="0"/>
                </a:rPr>
                <a:t>	1.2.	If </a:t>
              </a:r>
              <a:r>
                <a:rPr lang="en-US" altLang="en-US" sz="2000" i="1">
                  <a:latin typeface="Times New Roman" pitchFamily="18" charset="0"/>
                </a:rPr>
                <a:t>p</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l</a:t>
              </a:r>
              <a:r>
                <a:rPr lang="en-US" altLang="en-US" sz="2000">
                  <a:latin typeface="Times New Roman" pitchFamily="18" charset="0"/>
                </a:rPr>
                <a:t>, swap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and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a:t>
              </a:r>
            </a:p>
          </p:txBody>
        </p:sp>
        <p:sp>
          <p:nvSpPr>
            <p:cNvPr id="40040" name="Text Box 1263"/>
            <p:cNvSpPr txBox="1">
              <a:spLocks noChangeArrowheads="1"/>
            </p:cNvSpPr>
            <p:nvPr/>
          </p:nvSpPr>
          <p:spPr bwMode="auto">
            <a:xfrm>
              <a:off x="1490" y="307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0041" name="Text Box 1264"/>
            <p:cNvSpPr txBox="1">
              <a:spLocks noChangeArrowheads="1"/>
            </p:cNvSpPr>
            <p:nvPr/>
          </p:nvSpPr>
          <p:spPr bwMode="auto">
            <a:xfrm>
              <a:off x="1250" y="2884"/>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0042" name="Text Box 1265"/>
            <p:cNvSpPr txBox="1">
              <a:spLocks noChangeArrowheads="1"/>
            </p:cNvSpPr>
            <p:nvPr/>
          </p:nvSpPr>
          <p:spPr bwMode="auto">
            <a:xfrm>
              <a:off x="2070" y="288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0043" name="Text Box 1266"/>
            <p:cNvSpPr txBox="1">
              <a:spLocks noChangeArrowheads="1"/>
            </p:cNvSpPr>
            <p:nvPr/>
          </p:nvSpPr>
          <p:spPr bwMode="auto">
            <a:xfrm>
              <a:off x="2498" y="288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0044" name="Text Box 1267"/>
            <p:cNvSpPr txBox="1">
              <a:spLocks noChangeArrowheads="1"/>
            </p:cNvSpPr>
            <p:nvPr/>
          </p:nvSpPr>
          <p:spPr bwMode="auto">
            <a:xfrm>
              <a:off x="2930" y="288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0045" name="Text Box 1268"/>
            <p:cNvSpPr txBox="1">
              <a:spLocks noChangeArrowheads="1"/>
            </p:cNvSpPr>
            <p:nvPr/>
          </p:nvSpPr>
          <p:spPr bwMode="auto">
            <a:xfrm>
              <a:off x="3362" y="288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0046" name="Text Box 1269"/>
            <p:cNvSpPr txBox="1">
              <a:spLocks noChangeArrowheads="1"/>
            </p:cNvSpPr>
            <p:nvPr/>
          </p:nvSpPr>
          <p:spPr bwMode="auto">
            <a:xfrm>
              <a:off x="3794" y="288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0047" name="Text Box 1270"/>
            <p:cNvSpPr txBox="1">
              <a:spLocks noChangeArrowheads="1"/>
            </p:cNvSpPr>
            <p:nvPr/>
          </p:nvSpPr>
          <p:spPr bwMode="auto">
            <a:xfrm>
              <a:off x="4994" y="2884"/>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0048" name="Text Box 1271"/>
            <p:cNvSpPr txBox="1">
              <a:spLocks noChangeArrowheads="1"/>
            </p:cNvSpPr>
            <p:nvPr/>
          </p:nvSpPr>
          <p:spPr bwMode="auto">
            <a:xfrm>
              <a:off x="1949" y="307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0049" name="Text Box 1272"/>
            <p:cNvSpPr txBox="1">
              <a:spLocks noChangeArrowheads="1"/>
            </p:cNvSpPr>
            <p:nvPr/>
          </p:nvSpPr>
          <p:spPr bwMode="auto">
            <a:xfrm>
              <a:off x="2381" y="307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0050" name="Text Box 1273"/>
            <p:cNvSpPr txBox="1">
              <a:spLocks noChangeArrowheads="1"/>
            </p:cNvSpPr>
            <p:nvPr/>
          </p:nvSpPr>
          <p:spPr bwMode="auto">
            <a:xfrm>
              <a:off x="2813" y="307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0051" name="Text Box 1274"/>
            <p:cNvSpPr txBox="1">
              <a:spLocks noChangeArrowheads="1"/>
            </p:cNvSpPr>
            <p:nvPr/>
          </p:nvSpPr>
          <p:spPr bwMode="auto">
            <a:xfrm>
              <a:off x="3245" y="307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0052" name="Text Box 1275"/>
            <p:cNvSpPr txBox="1">
              <a:spLocks noChangeArrowheads="1"/>
            </p:cNvSpPr>
            <p:nvPr/>
          </p:nvSpPr>
          <p:spPr bwMode="auto">
            <a:xfrm>
              <a:off x="3677" y="307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0053" name="Text Box 1276"/>
            <p:cNvSpPr txBox="1">
              <a:spLocks noChangeArrowheads="1"/>
            </p:cNvSpPr>
            <p:nvPr/>
          </p:nvSpPr>
          <p:spPr bwMode="auto">
            <a:xfrm>
              <a:off x="4109" y="307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0054" name="Text Box 1277"/>
            <p:cNvSpPr txBox="1">
              <a:spLocks noChangeArrowheads="1"/>
            </p:cNvSpPr>
            <p:nvPr/>
          </p:nvSpPr>
          <p:spPr bwMode="auto">
            <a:xfrm>
              <a:off x="1490" y="350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7</a:t>
              </a:r>
            </a:p>
          </p:txBody>
        </p:sp>
        <p:sp>
          <p:nvSpPr>
            <p:cNvPr id="40055" name="Text Box 1278"/>
            <p:cNvSpPr txBox="1">
              <a:spLocks noChangeArrowheads="1"/>
            </p:cNvSpPr>
            <p:nvPr/>
          </p:nvSpPr>
          <p:spPr bwMode="auto">
            <a:xfrm>
              <a:off x="1298" y="3076"/>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0056" name="Text Box 1279"/>
            <p:cNvSpPr txBox="1">
              <a:spLocks noChangeArrowheads="1"/>
            </p:cNvSpPr>
            <p:nvPr/>
          </p:nvSpPr>
          <p:spPr bwMode="auto">
            <a:xfrm>
              <a:off x="1298" y="3508"/>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40057" name="Text Box 1280"/>
            <p:cNvSpPr txBox="1">
              <a:spLocks noChangeArrowheads="1"/>
            </p:cNvSpPr>
            <p:nvPr/>
          </p:nvSpPr>
          <p:spPr bwMode="auto">
            <a:xfrm>
              <a:off x="4541" y="307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0058" name="Text Box 1281"/>
            <p:cNvSpPr txBox="1">
              <a:spLocks noChangeArrowheads="1"/>
            </p:cNvSpPr>
            <p:nvPr/>
          </p:nvSpPr>
          <p:spPr bwMode="auto">
            <a:xfrm>
              <a:off x="4973" y="307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0059" name="Text Box 1282"/>
            <p:cNvSpPr txBox="1">
              <a:spLocks noChangeArrowheads="1"/>
            </p:cNvSpPr>
            <p:nvPr/>
          </p:nvSpPr>
          <p:spPr bwMode="auto">
            <a:xfrm>
              <a:off x="4229" y="288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0060" name="Text Box 1283"/>
            <p:cNvSpPr txBox="1">
              <a:spLocks noChangeArrowheads="1"/>
            </p:cNvSpPr>
            <p:nvPr/>
          </p:nvSpPr>
          <p:spPr bwMode="auto">
            <a:xfrm>
              <a:off x="4664" y="288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40061" name="Text Box 1284"/>
            <p:cNvSpPr txBox="1">
              <a:spLocks noChangeArrowheads="1"/>
            </p:cNvSpPr>
            <p:nvPr/>
          </p:nvSpPr>
          <p:spPr bwMode="auto">
            <a:xfrm>
              <a:off x="2381" y="350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7</a:t>
              </a:r>
            </a:p>
          </p:txBody>
        </p:sp>
        <p:sp>
          <p:nvSpPr>
            <p:cNvPr id="40062" name="Text Box 1285"/>
            <p:cNvSpPr txBox="1">
              <a:spLocks noChangeArrowheads="1"/>
            </p:cNvSpPr>
            <p:nvPr/>
          </p:nvSpPr>
          <p:spPr bwMode="auto">
            <a:xfrm>
              <a:off x="2189" y="3508"/>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p</a:t>
              </a:r>
            </a:p>
          </p:txBody>
        </p:sp>
      </p:grpSp>
      <p:grpSp>
        <p:nvGrpSpPr>
          <p:cNvPr id="26" name="Group 1286"/>
          <p:cNvGrpSpPr>
            <a:grpSpLocks/>
          </p:cNvGrpSpPr>
          <p:nvPr/>
        </p:nvGrpSpPr>
        <p:grpSpPr bwMode="auto">
          <a:xfrm>
            <a:off x="870384" y="2596356"/>
            <a:ext cx="7086600" cy="3429000"/>
            <a:chOff x="1202" y="1774"/>
            <a:chExt cx="4464" cy="2160"/>
          </a:xfrm>
        </p:grpSpPr>
        <p:sp>
          <p:nvSpPr>
            <p:cNvPr id="40013" name="Rectangle 1287"/>
            <p:cNvSpPr>
              <a:spLocks noChangeArrowheads="1"/>
            </p:cNvSpPr>
            <p:nvPr/>
          </p:nvSpPr>
          <p:spPr bwMode="auto">
            <a:xfrm>
              <a:off x="1202" y="1774"/>
              <a:ext cx="4464" cy="2160"/>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0014" name="Text Box 1288"/>
            <p:cNvSpPr txBox="1">
              <a:spLocks noChangeArrowheads="1"/>
            </p:cNvSpPr>
            <p:nvPr/>
          </p:nvSpPr>
          <p:spPr bwMode="auto">
            <a:xfrm>
              <a:off x="1250" y="1812"/>
              <a:ext cx="4128"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rPr>
                <a:t>1.	For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–1, repeat:</a:t>
              </a:r>
              <a:br>
                <a:rPr lang="en-US" altLang="en-US" sz="2000">
                  <a:latin typeface="Times New Roman" pitchFamily="18" charset="0"/>
                </a:rPr>
              </a:br>
              <a:r>
                <a:rPr lang="en-US" altLang="en-US" sz="2000">
                  <a:latin typeface="Times New Roman" pitchFamily="18" charset="0"/>
                </a:rPr>
                <a:t>	1.1.	Set </a:t>
              </a:r>
              <a:r>
                <a:rPr lang="en-US" altLang="en-US" sz="2000" i="1">
                  <a:latin typeface="Times New Roman" pitchFamily="18" charset="0"/>
                </a:rPr>
                <a:t>p</a:t>
              </a:r>
              <a:r>
                <a:rPr lang="en-US" altLang="en-US" sz="2000">
                  <a:latin typeface="Times New Roman" pitchFamily="18" charset="0"/>
                </a:rPr>
                <a:t> such that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is the least of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1.2.	</a:t>
              </a:r>
              <a:r>
                <a:rPr lang="en-US" altLang="en-US" sz="2000">
                  <a:solidFill>
                    <a:srgbClr val="FF0000"/>
                  </a:solidFill>
                  <a:latin typeface="Times New Roman" pitchFamily="18" charset="0"/>
                </a:rPr>
                <a:t>If </a:t>
              </a:r>
              <a:r>
                <a:rPr lang="en-US" altLang="en-US" sz="2000" i="1">
                  <a:solidFill>
                    <a:srgbClr val="FF0000"/>
                  </a:solidFill>
                  <a:latin typeface="Times New Roman" pitchFamily="18" charset="0"/>
                </a:rPr>
                <a:t>p</a:t>
              </a:r>
              <a:r>
                <a:rPr lang="en-US" altLang="en-US" sz="2000">
                  <a:solidFill>
                    <a:srgbClr val="FF0000"/>
                  </a:solidFill>
                  <a:latin typeface="Times New Roman" pitchFamily="18" charset="0"/>
                </a:rPr>
                <a:t> </a:t>
              </a:r>
              <a:r>
                <a:rPr lang="en-US" altLang="en-US" sz="2000">
                  <a:solidFill>
                    <a:srgbClr val="FF0000"/>
                  </a:solidFill>
                  <a:latin typeface="Times New Roman" pitchFamily="18" charset="0"/>
                  <a:sym typeface="Symbol" pitchFamily="18" charset="2"/>
                </a:rPr>
                <a:t></a:t>
              </a:r>
              <a:r>
                <a:rPr lang="en-US" altLang="en-US" sz="2000">
                  <a:solidFill>
                    <a:srgbClr val="FF0000"/>
                  </a:solidFill>
                  <a:latin typeface="Times New Roman" pitchFamily="18" charset="0"/>
                </a:rPr>
                <a:t> </a:t>
              </a:r>
              <a:r>
                <a:rPr lang="en-US" altLang="en-US" sz="2000" i="1">
                  <a:solidFill>
                    <a:srgbClr val="FF0000"/>
                  </a:solidFill>
                  <a:latin typeface="Times New Roman" pitchFamily="18" charset="0"/>
                </a:rPr>
                <a:t>l</a:t>
              </a:r>
              <a:r>
                <a:rPr lang="en-US" altLang="en-US" sz="2000">
                  <a:latin typeface="Times New Roman" pitchFamily="18" charset="0"/>
                </a:rPr>
                <a:t>, swap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and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a:t>
              </a:r>
            </a:p>
          </p:txBody>
        </p:sp>
        <p:sp>
          <p:nvSpPr>
            <p:cNvPr id="40015" name="Text Box 1289"/>
            <p:cNvSpPr txBox="1">
              <a:spLocks noChangeArrowheads="1"/>
            </p:cNvSpPr>
            <p:nvPr/>
          </p:nvSpPr>
          <p:spPr bwMode="auto">
            <a:xfrm>
              <a:off x="1490" y="316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0016" name="Text Box 1290"/>
            <p:cNvSpPr txBox="1">
              <a:spLocks noChangeArrowheads="1"/>
            </p:cNvSpPr>
            <p:nvPr/>
          </p:nvSpPr>
          <p:spPr bwMode="auto">
            <a:xfrm>
              <a:off x="1250" y="2974"/>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0017" name="Text Box 1291"/>
            <p:cNvSpPr txBox="1">
              <a:spLocks noChangeArrowheads="1"/>
            </p:cNvSpPr>
            <p:nvPr/>
          </p:nvSpPr>
          <p:spPr bwMode="auto">
            <a:xfrm>
              <a:off x="2070" y="297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0018" name="Text Box 1292"/>
            <p:cNvSpPr txBox="1">
              <a:spLocks noChangeArrowheads="1"/>
            </p:cNvSpPr>
            <p:nvPr/>
          </p:nvSpPr>
          <p:spPr bwMode="auto">
            <a:xfrm>
              <a:off x="2498" y="297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0019" name="Text Box 1293"/>
            <p:cNvSpPr txBox="1">
              <a:spLocks noChangeArrowheads="1"/>
            </p:cNvSpPr>
            <p:nvPr/>
          </p:nvSpPr>
          <p:spPr bwMode="auto">
            <a:xfrm>
              <a:off x="2930" y="297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0020" name="Text Box 1294"/>
            <p:cNvSpPr txBox="1">
              <a:spLocks noChangeArrowheads="1"/>
            </p:cNvSpPr>
            <p:nvPr/>
          </p:nvSpPr>
          <p:spPr bwMode="auto">
            <a:xfrm>
              <a:off x="3362" y="297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0021" name="Text Box 1295"/>
            <p:cNvSpPr txBox="1">
              <a:spLocks noChangeArrowheads="1"/>
            </p:cNvSpPr>
            <p:nvPr/>
          </p:nvSpPr>
          <p:spPr bwMode="auto">
            <a:xfrm>
              <a:off x="3794" y="297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0022" name="Text Box 1296"/>
            <p:cNvSpPr txBox="1">
              <a:spLocks noChangeArrowheads="1"/>
            </p:cNvSpPr>
            <p:nvPr/>
          </p:nvSpPr>
          <p:spPr bwMode="auto">
            <a:xfrm>
              <a:off x="4994" y="2974"/>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0023" name="Text Box 1297"/>
            <p:cNvSpPr txBox="1">
              <a:spLocks noChangeArrowheads="1"/>
            </p:cNvSpPr>
            <p:nvPr/>
          </p:nvSpPr>
          <p:spPr bwMode="auto">
            <a:xfrm>
              <a:off x="1949" y="316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0024" name="Text Box 1298"/>
            <p:cNvSpPr txBox="1">
              <a:spLocks noChangeArrowheads="1"/>
            </p:cNvSpPr>
            <p:nvPr/>
          </p:nvSpPr>
          <p:spPr bwMode="auto">
            <a:xfrm>
              <a:off x="2381" y="316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0025" name="Text Box 1299"/>
            <p:cNvSpPr txBox="1">
              <a:spLocks noChangeArrowheads="1"/>
            </p:cNvSpPr>
            <p:nvPr/>
          </p:nvSpPr>
          <p:spPr bwMode="auto">
            <a:xfrm>
              <a:off x="2813" y="316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0026" name="Text Box 1300"/>
            <p:cNvSpPr txBox="1">
              <a:spLocks noChangeArrowheads="1"/>
            </p:cNvSpPr>
            <p:nvPr/>
          </p:nvSpPr>
          <p:spPr bwMode="auto">
            <a:xfrm>
              <a:off x="3245" y="316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0027" name="Text Box 1301"/>
            <p:cNvSpPr txBox="1">
              <a:spLocks noChangeArrowheads="1"/>
            </p:cNvSpPr>
            <p:nvPr/>
          </p:nvSpPr>
          <p:spPr bwMode="auto">
            <a:xfrm>
              <a:off x="3677" y="316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0028" name="Text Box 1302"/>
            <p:cNvSpPr txBox="1">
              <a:spLocks noChangeArrowheads="1"/>
            </p:cNvSpPr>
            <p:nvPr/>
          </p:nvSpPr>
          <p:spPr bwMode="auto">
            <a:xfrm>
              <a:off x="4109" y="316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0029" name="Text Box 1303"/>
            <p:cNvSpPr txBox="1">
              <a:spLocks noChangeArrowheads="1"/>
            </p:cNvSpPr>
            <p:nvPr/>
          </p:nvSpPr>
          <p:spPr bwMode="auto">
            <a:xfrm>
              <a:off x="1490" y="359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7</a:t>
              </a:r>
            </a:p>
          </p:txBody>
        </p:sp>
        <p:sp>
          <p:nvSpPr>
            <p:cNvPr id="40030" name="Text Box 1304"/>
            <p:cNvSpPr txBox="1">
              <a:spLocks noChangeArrowheads="1"/>
            </p:cNvSpPr>
            <p:nvPr/>
          </p:nvSpPr>
          <p:spPr bwMode="auto">
            <a:xfrm>
              <a:off x="1298" y="3166"/>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0031" name="Text Box 1305"/>
            <p:cNvSpPr txBox="1">
              <a:spLocks noChangeArrowheads="1"/>
            </p:cNvSpPr>
            <p:nvPr/>
          </p:nvSpPr>
          <p:spPr bwMode="auto">
            <a:xfrm>
              <a:off x="1298" y="3598"/>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40032" name="Text Box 1306"/>
            <p:cNvSpPr txBox="1">
              <a:spLocks noChangeArrowheads="1"/>
            </p:cNvSpPr>
            <p:nvPr/>
          </p:nvSpPr>
          <p:spPr bwMode="auto">
            <a:xfrm>
              <a:off x="4541" y="316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0033" name="Text Box 1307"/>
            <p:cNvSpPr txBox="1">
              <a:spLocks noChangeArrowheads="1"/>
            </p:cNvSpPr>
            <p:nvPr/>
          </p:nvSpPr>
          <p:spPr bwMode="auto">
            <a:xfrm>
              <a:off x="4973" y="316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0034" name="Text Box 1308"/>
            <p:cNvSpPr txBox="1">
              <a:spLocks noChangeArrowheads="1"/>
            </p:cNvSpPr>
            <p:nvPr/>
          </p:nvSpPr>
          <p:spPr bwMode="auto">
            <a:xfrm>
              <a:off x="4229" y="297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0035" name="Text Box 1309"/>
            <p:cNvSpPr txBox="1">
              <a:spLocks noChangeArrowheads="1"/>
            </p:cNvSpPr>
            <p:nvPr/>
          </p:nvSpPr>
          <p:spPr bwMode="auto">
            <a:xfrm>
              <a:off x="4664" y="2974"/>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40036" name="Text Box 1310"/>
            <p:cNvSpPr txBox="1">
              <a:spLocks noChangeArrowheads="1"/>
            </p:cNvSpPr>
            <p:nvPr/>
          </p:nvSpPr>
          <p:spPr bwMode="auto">
            <a:xfrm>
              <a:off x="2381" y="359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7</a:t>
              </a:r>
            </a:p>
          </p:txBody>
        </p:sp>
        <p:sp>
          <p:nvSpPr>
            <p:cNvPr id="40037" name="Text Box 1311"/>
            <p:cNvSpPr txBox="1">
              <a:spLocks noChangeArrowheads="1"/>
            </p:cNvSpPr>
            <p:nvPr/>
          </p:nvSpPr>
          <p:spPr bwMode="auto">
            <a:xfrm>
              <a:off x="2189" y="3598"/>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p</a:t>
              </a:r>
            </a:p>
          </p:txBody>
        </p:sp>
      </p:grpSp>
      <p:grpSp>
        <p:nvGrpSpPr>
          <p:cNvPr id="27" name="Group 1312"/>
          <p:cNvGrpSpPr>
            <a:grpSpLocks/>
          </p:cNvGrpSpPr>
          <p:nvPr/>
        </p:nvGrpSpPr>
        <p:grpSpPr bwMode="auto">
          <a:xfrm>
            <a:off x="870384" y="2596356"/>
            <a:ext cx="7086600" cy="3429000"/>
            <a:chOff x="998" y="1865"/>
            <a:chExt cx="4464" cy="2160"/>
          </a:xfrm>
        </p:grpSpPr>
        <p:sp>
          <p:nvSpPr>
            <p:cNvPr id="39990" name="Rectangle 1313"/>
            <p:cNvSpPr>
              <a:spLocks noChangeArrowheads="1"/>
            </p:cNvSpPr>
            <p:nvPr/>
          </p:nvSpPr>
          <p:spPr bwMode="auto">
            <a:xfrm>
              <a:off x="998" y="1865"/>
              <a:ext cx="4464" cy="2160"/>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39991" name="Text Box 1314"/>
            <p:cNvSpPr txBox="1">
              <a:spLocks noChangeArrowheads="1"/>
            </p:cNvSpPr>
            <p:nvPr/>
          </p:nvSpPr>
          <p:spPr bwMode="auto">
            <a:xfrm>
              <a:off x="1046" y="1903"/>
              <a:ext cx="4128"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rPr>
                <a:t>1.	</a:t>
              </a:r>
              <a:r>
                <a:rPr lang="en-US" altLang="en-US" sz="2000">
                  <a:solidFill>
                    <a:srgbClr val="FF0000"/>
                  </a:solidFill>
                  <a:latin typeface="Times New Roman" pitchFamily="18" charset="0"/>
                </a:rPr>
                <a:t>For </a:t>
              </a:r>
              <a:r>
                <a:rPr lang="en-US" altLang="en-US" sz="2000" i="1">
                  <a:solidFill>
                    <a:srgbClr val="FF0000"/>
                  </a:solidFill>
                  <a:latin typeface="Times New Roman" pitchFamily="18" charset="0"/>
                </a:rPr>
                <a:t>l</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left</a:t>
              </a:r>
              <a:r>
                <a:rPr lang="en-US" altLang="en-US" sz="2000">
                  <a:solidFill>
                    <a:srgbClr val="FF0000"/>
                  </a:solidFill>
                  <a:latin typeface="Times New Roman" pitchFamily="18" charset="0"/>
                </a:rPr>
                <a:t>, …, </a:t>
              </a:r>
              <a:r>
                <a:rPr lang="en-US" altLang="en-US" sz="2000" i="1">
                  <a:solidFill>
                    <a:srgbClr val="FF0000"/>
                  </a:solidFill>
                  <a:latin typeface="Times New Roman" pitchFamily="18" charset="0"/>
                </a:rPr>
                <a:t>right</a:t>
              </a:r>
              <a:r>
                <a:rPr lang="en-US" altLang="en-US" sz="2000">
                  <a:solidFill>
                    <a:srgbClr val="FF0000"/>
                  </a:solidFill>
                  <a:latin typeface="Times New Roman" pitchFamily="18" charset="0"/>
                </a:rPr>
                <a:t>–1</a:t>
              </a:r>
              <a:r>
                <a:rPr lang="en-US" altLang="en-US" sz="2000">
                  <a:latin typeface="Times New Roman" pitchFamily="18" charset="0"/>
                </a:rPr>
                <a:t>, repeat:</a:t>
              </a:r>
              <a:br>
                <a:rPr lang="en-US" altLang="en-US" sz="2000">
                  <a:latin typeface="Times New Roman" pitchFamily="18" charset="0"/>
                </a:rPr>
              </a:br>
              <a:r>
                <a:rPr lang="en-US" altLang="en-US" sz="2000">
                  <a:latin typeface="Times New Roman" pitchFamily="18" charset="0"/>
                </a:rPr>
                <a:t>	1.1.	Set </a:t>
              </a:r>
              <a:r>
                <a:rPr lang="en-US" altLang="en-US" sz="2000" i="1">
                  <a:latin typeface="Times New Roman" pitchFamily="18" charset="0"/>
                </a:rPr>
                <a:t>p</a:t>
              </a:r>
              <a:r>
                <a:rPr lang="en-US" altLang="en-US" sz="2000">
                  <a:latin typeface="Times New Roman" pitchFamily="18" charset="0"/>
                </a:rPr>
                <a:t> such that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is the least of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1.2.	If </a:t>
              </a:r>
              <a:r>
                <a:rPr lang="en-US" altLang="en-US" sz="2000" i="1">
                  <a:latin typeface="Times New Roman" pitchFamily="18" charset="0"/>
                </a:rPr>
                <a:t>p</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l</a:t>
              </a:r>
              <a:r>
                <a:rPr lang="en-US" altLang="en-US" sz="2000">
                  <a:latin typeface="Times New Roman" pitchFamily="18" charset="0"/>
                </a:rPr>
                <a:t>, swap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and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Terminate.</a:t>
              </a:r>
            </a:p>
          </p:txBody>
        </p:sp>
        <p:sp>
          <p:nvSpPr>
            <p:cNvPr id="39992" name="Text Box 1315"/>
            <p:cNvSpPr txBox="1">
              <a:spLocks noChangeArrowheads="1"/>
            </p:cNvSpPr>
            <p:nvPr/>
          </p:nvSpPr>
          <p:spPr bwMode="auto">
            <a:xfrm>
              <a:off x="1286" y="325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39993" name="Text Box 1316"/>
            <p:cNvSpPr txBox="1">
              <a:spLocks noChangeArrowheads="1"/>
            </p:cNvSpPr>
            <p:nvPr/>
          </p:nvSpPr>
          <p:spPr bwMode="auto">
            <a:xfrm>
              <a:off x="1046" y="3065"/>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39994" name="Text Box 1317"/>
            <p:cNvSpPr txBox="1">
              <a:spLocks noChangeArrowheads="1"/>
            </p:cNvSpPr>
            <p:nvPr/>
          </p:nvSpPr>
          <p:spPr bwMode="auto">
            <a:xfrm>
              <a:off x="1866" y="306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9995" name="Text Box 1318"/>
            <p:cNvSpPr txBox="1">
              <a:spLocks noChangeArrowheads="1"/>
            </p:cNvSpPr>
            <p:nvPr/>
          </p:nvSpPr>
          <p:spPr bwMode="auto">
            <a:xfrm>
              <a:off x="2294" y="306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9996" name="Text Box 1319"/>
            <p:cNvSpPr txBox="1">
              <a:spLocks noChangeArrowheads="1"/>
            </p:cNvSpPr>
            <p:nvPr/>
          </p:nvSpPr>
          <p:spPr bwMode="auto">
            <a:xfrm>
              <a:off x="2726" y="306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9997" name="Text Box 1320"/>
            <p:cNvSpPr txBox="1">
              <a:spLocks noChangeArrowheads="1"/>
            </p:cNvSpPr>
            <p:nvPr/>
          </p:nvSpPr>
          <p:spPr bwMode="auto">
            <a:xfrm>
              <a:off x="3158" y="306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39998" name="Text Box 1321"/>
            <p:cNvSpPr txBox="1">
              <a:spLocks noChangeArrowheads="1"/>
            </p:cNvSpPr>
            <p:nvPr/>
          </p:nvSpPr>
          <p:spPr bwMode="auto">
            <a:xfrm>
              <a:off x="3590" y="306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39999" name="Text Box 1322"/>
            <p:cNvSpPr txBox="1">
              <a:spLocks noChangeArrowheads="1"/>
            </p:cNvSpPr>
            <p:nvPr/>
          </p:nvSpPr>
          <p:spPr bwMode="auto">
            <a:xfrm>
              <a:off x="4790" y="3065"/>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0000" name="Text Box 1323"/>
            <p:cNvSpPr txBox="1">
              <a:spLocks noChangeArrowheads="1"/>
            </p:cNvSpPr>
            <p:nvPr/>
          </p:nvSpPr>
          <p:spPr bwMode="auto">
            <a:xfrm>
              <a:off x="1745" y="325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0001" name="Text Box 1324"/>
            <p:cNvSpPr txBox="1">
              <a:spLocks noChangeArrowheads="1"/>
            </p:cNvSpPr>
            <p:nvPr/>
          </p:nvSpPr>
          <p:spPr bwMode="auto">
            <a:xfrm>
              <a:off x="2177" y="325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0002" name="Text Box 1325"/>
            <p:cNvSpPr txBox="1">
              <a:spLocks noChangeArrowheads="1"/>
            </p:cNvSpPr>
            <p:nvPr/>
          </p:nvSpPr>
          <p:spPr bwMode="auto">
            <a:xfrm>
              <a:off x="2609" y="325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0003" name="Text Box 1326"/>
            <p:cNvSpPr txBox="1">
              <a:spLocks noChangeArrowheads="1"/>
            </p:cNvSpPr>
            <p:nvPr/>
          </p:nvSpPr>
          <p:spPr bwMode="auto">
            <a:xfrm>
              <a:off x="3041" y="325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0004" name="Text Box 1327"/>
            <p:cNvSpPr txBox="1">
              <a:spLocks noChangeArrowheads="1"/>
            </p:cNvSpPr>
            <p:nvPr/>
          </p:nvSpPr>
          <p:spPr bwMode="auto">
            <a:xfrm>
              <a:off x="3473" y="325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0005" name="Text Box 1328"/>
            <p:cNvSpPr txBox="1">
              <a:spLocks noChangeArrowheads="1"/>
            </p:cNvSpPr>
            <p:nvPr/>
          </p:nvSpPr>
          <p:spPr bwMode="auto">
            <a:xfrm>
              <a:off x="3905" y="325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0006" name="Text Box 1329"/>
            <p:cNvSpPr txBox="1">
              <a:spLocks noChangeArrowheads="1"/>
            </p:cNvSpPr>
            <p:nvPr/>
          </p:nvSpPr>
          <p:spPr bwMode="auto">
            <a:xfrm>
              <a:off x="1286" y="368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8</a:t>
              </a:r>
            </a:p>
          </p:txBody>
        </p:sp>
        <p:sp>
          <p:nvSpPr>
            <p:cNvPr id="40007" name="Text Box 1330"/>
            <p:cNvSpPr txBox="1">
              <a:spLocks noChangeArrowheads="1"/>
            </p:cNvSpPr>
            <p:nvPr/>
          </p:nvSpPr>
          <p:spPr bwMode="auto">
            <a:xfrm>
              <a:off x="1094" y="3257"/>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0008" name="Text Box 1331"/>
            <p:cNvSpPr txBox="1">
              <a:spLocks noChangeArrowheads="1"/>
            </p:cNvSpPr>
            <p:nvPr/>
          </p:nvSpPr>
          <p:spPr bwMode="auto">
            <a:xfrm>
              <a:off x="1094" y="3689"/>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40009" name="Text Box 1332"/>
            <p:cNvSpPr txBox="1">
              <a:spLocks noChangeArrowheads="1"/>
            </p:cNvSpPr>
            <p:nvPr/>
          </p:nvSpPr>
          <p:spPr bwMode="auto">
            <a:xfrm>
              <a:off x="4337" y="325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0010" name="Text Box 1333"/>
            <p:cNvSpPr txBox="1">
              <a:spLocks noChangeArrowheads="1"/>
            </p:cNvSpPr>
            <p:nvPr/>
          </p:nvSpPr>
          <p:spPr bwMode="auto">
            <a:xfrm>
              <a:off x="4769" y="3257"/>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0011" name="Text Box 1334"/>
            <p:cNvSpPr txBox="1">
              <a:spLocks noChangeArrowheads="1"/>
            </p:cNvSpPr>
            <p:nvPr/>
          </p:nvSpPr>
          <p:spPr bwMode="auto">
            <a:xfrm>
              <a:off x="4025" y="306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0012" name="Text Box 1335"/>
            <p:cNvSpPr txBox="1">
              <a:spLocks noChangeArrowheads="1"/>
            </p:cNvSpPr>
            <p:nvPr/>
          </p:nvSpPr>
          <p:spPr bwMode="auto">
            <a:xfrm>
              <a:off x="4460" y="3065"/>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grpSp>
      <p:grpSp>
        <p:nvGrpSpPr>
          <p:cNvPr id="28" name="Group 1361"/>
          <p:cNvGrpSpPr>
            <a:grpSpLocks/>
          </p:cNvGrpSpPr>
          <p:nvPr/>
        </p:nvGrpSpPr>
        <p:grpSpPr bwMode="auto">
          <a:xfrm>
            <a:off x="870384" y="2596356"/>
            <a:ext cx="7086600" cy="3429000"/>
            <a:chOff x="1206" y="1429"/>
            <a:chExt cx="4464" cy="2160"/>
          </a:xfrm>
        </p:grpSpPr>
        <p:sp>
          <p:nvSpPr>
            <p:cNvPr id="39967" name="Rectangle 1337"/>
            <p:cNvSpPr>
              <a:spLocks noChangeArrowheads="1"/>
            </p:cNvSpPr>
            <p:nvPr/>
          </p:nvSpPr>
          <p:spPr bwMode="auto">
            <a:xfrm>
              <a:off x="1206" y="1429"/>
              <a:ext cx="4464" cy="2160"/>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39968" name="Text Box 1338"/>
            <p:cNvSpPr txBox="1">
              <a:spLocks noChangeArrowheads="1"/>
            </p:cNvSpPr>
            <p:nvPr/>
          </p:nvSpPr>
          <p:spPr bwMode="auto">
            <a:xfrm>
              <a:off x="1254" y="1467"/>
              <a:ext cx="4128"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rPr>
                <a:t>1.	For </a:t>
              </a:r>
              <a:r>
                <a:rPr lang="en-US" altLang="en-US" sz="2000" i="1">
                  <a:latin typeface="Times New Roman" pitchFamily="18" charset="0"/>
                </a:rPr>
                <a:t>l</a:t>
              </a:r>
              <a:r>
                <a:rPr lang="en-US" altLang="en-US" sz="2000">
                  <a:latin typeface="Times New Roman" pitchFamily="18" charset="0"/>
                </a:rPr>
                <a:t> = </a:t>
              </a:r>
              <a:r>
                <a:rPr lang="en-US" altLang="en-US" sz="2000" i="1">
                  <a:latin typeface="Times New Roman" pitchFamily="18" charset="0"/>
                </a:rPr>
                <a:t>left</a:t>
              </a:r>
              <a:r>
                <a:rPr lang="en-US" altLang="en-US" sz="2000">
                  <a:latin typeface="Times New Roman" pitchFamily="18" charset="0"/>
                </a:rPr>
                <a:t>, …, </a:t>
              </a:r>
              <a:r>
                <a:rPr lang="en-US" altLang="en-US" sz="2000" i="1">
                  <a:latin typeface="Times New Roman" pitchFamily="18" charset="0"/>
                </a:rPr>
                <a:t>right</a:t>
              </a:r>
              <a:r>
                <a:rPr lang="en-US" altLang="en-US" sz="2000">
                  <a:latin typeface="Times New Roman" pitchFamily="18" charset="0"/>
                </a:rPr>
                <a:t>–1, repeat:</a:t>
              </a:r>
              <a:br>
                <a:rPr lang="en-US" altLang="en-US" sz="2000">
                  <a:latin typeface="Times New Roman" pitchFamily="18" charset="0"/>
                </a:rPr>
              </a:br>
              <a:r>
                <a:rPr lang="en-US" altLang="en-US" sz="2000">
                  <a:latin typeface="Times New Roman" pitchFamily="18" charset="0"/>
                </a:rPr>
                <a:t>	1.1.	Set </a:t>
              </a:r>
              <a:r>
                <a:rPr lang="en-US" altLang="en-US" sz="2000" i="1">
                  <a:latin typeface="Times New Roman" pitchFamily="18" charset="0"/>
                </a:rPr>
                <a:t>p</a:t>
              </a:r>
              <a:r>
                <a:rPr lang="en-US" altLang="en-US" sz="2000">
                  <a:latin typeface="Times New Roman" pitchFamily="18" charset="0"/>
                </a:rPr>
                <a:t> such that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is the least of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	1.2.	If </a:t>
              </a:r>
              <a:r>
                <a:rPr lang="en-US" altLang="en-US" sz="2000" i="1">
                  <a:latin typeface="Times New Roman" pitchFamily="18" charset="0"/>
                </a:rPr>
                <a:t>p</a:t>
              </a:r>
              <a:r>
                <a:rPr lang="en-US" altLang="en-US" sz="2000">
                  <a:latin typeface="Times New Roman" pitchFamily="18" charset="0"/>
                </a:rPr>
                <a:t> </a:t>
              </a:r>
              <a:r>
                <a:rPr lang="en-US" altLang="en-US" sz="2000">
                  <a:latin typeface="Times New Roman" pitchFamily="18" charset="0"/>
                  <a:sym typeface="Symbol" pitchFamily="18" charset="2"/>
                </a:rPr>
                <a:t></a:t>
              </a:r>
              <a:r>
                <a:rPr lang="en-US" altLang="en-US" sz="2000">
                  <a:latin typeface="Times New Roman" pitchFamily="18" charset="0"/>
                </a:rPr>
                <a:t> </a:t>
              </a:r>
              <a:r>
                <a:rPr lang="en-US" altLang="en-US" sz="2000" i="1">
                  <a:latin typeface="Times New Roman" pitchFamily="18" charset="0"/>
                </a:rPr>
                <a:t>l</a:t>
              </a:r>
              <a:r>
                <a:rPr lang="en-US" altLang="en-US" sz="2000">
                  <a:latin typeface="Times New Roman" pitchFamily="18" charset="0"/>
                </a:rPr>
                <a:t>, swap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p</a:t>
              </a:r>
              <a:r>
                <a:rPr lang="en-US" altLang="en-US" sz="2000">
                  <a:latin typeface="Times New Roman" pitchFamily="18" charset="0"/>
                </a:rPr>
                <a:t>] and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a:t>
              </a:r>
              <a:r>
                <a:rPr lang="en-US" altLang="en-US" sz="2000">
                  <a:latin typeface="Times New Roman" pitchFamily="18" charset="0"/>
                </a:rPr>
                <a:t>].</a:t>
              </a:r>
              <a:br>
                <a:rPr lang="en-US" altLang="en-US" sz="2000">
                  <a:latin typeface="Times New Roman" pitchFamily="18" charset="0"/>
                </a:rPr>
              </a:br>
              <a:r>
                <a:rPr lang="en-US" altLang="en-US" sz="2000">
                  <a:latin typeface="Times New Roman" pitchFamily="18" charset="0"/>
                </a:rPr>
                <a:t>2.	</a:t>
              </a:r>
              <a:r>
                <a:rPr lang="en-US" altLang="en-US" sz="2000">
                  <a:solidFill>
                    <a:srgbClr val="FF5050"/>
                  </a:solidFill>
                  <a:latin typeface="Times New Roman" pitchFamily="18" charset="0"/>
                </a:rPr>
                <a:t>Terminate.</a:t>
              </a:r>
            </a:p>
          </p:txBody>
        </p:sp>
        <p:sp>
          <p:nvSpPr>
            <p:cNvPr id="39969" name="Text Box 1339"/>
            <p:cNvSpPr txBox="1">
              <a:spLocks noChangeArrowheads="1"/>
            </p:cNvSpPr>
            <p:nvPr/>
          </p:nvSpPr>
          <p:spPr bwMode="auto">
            <a:xfrm>
              <a:off x="1494" y="2821"/>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39970" name="Text Box 1340"/>
            <p:cNvSpPr txBox="1">
              <a:spLocks noChangeArrowheads="1"/>
            </p:cNvSpPr>
            <p:nvPr/>
          </p:nvSpPr>
          <p:spPr bwMode="auto">
            <a:xfrm>
              <a:off x="1254" y="2629"/>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39971" name="Text Box 1341"/>
            <p:cNvSpPr txBox="1">
              <a:spLocks noChangeArrowheads="1"/>
            </p:cNvSpPr>
            <p:nvPr/>
          </p:nvSpPr>
          <p:spPr bwMode="auto">
            <a:xfrm>
              <a:off x="2074" y="262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39972" name="Text Box 1342"/>
            <p:cNvSpPr txBox="1">
              <a:spLocks noChangeArrowheads="1"/>
            </p:cNvSpPr>
            <p:nvPr/>
          </p:nvSpPr>
          <p:spPr bwMode="auto">
            <a:xfrm>
              <a:off x="2502" y="262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39973" name="Text Box 1343"/>
            <p:cNvSpPr txBox="1">
              <a:spLocks noChangeArrowheads="1"/>
            </p:cNvSpPr>
            <p:nvPr/>
          </p:nvSpPr>
          <p:spPr bwMode="auto">
            <a:xfrm>
              <a:off x="2934" y="262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39974" name="Text Box 1344"/>
            <p:cNvSpPr txBox="1">
              <a:spLocks noChangeArrowheads="1"/>
            </p:cNvSpPr>
            <p:nvPr/>
          </p:nvSpPr>
          <p:spPr bwMode="auto">
            <a:xfrm>
              <a:off x="3366" y="262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39975" name="Text Box 1345"/>
            <p:cNvSpPr txBox="1">
              <a:spLocks noChangeArrowheads="1"/>
            </p:cNvSpPr>
            <p:nvPr/>
          </p:nvSpPr>
          <p:spPr bwMode="auto">
            <a:xfrm>
              <a:off x="3798" y="262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39976" name="Text Box 1346"/>
            <p:cNvSpPr txBox="1">
              <a:spLocks noChangeArrowheads="1"/>
            </p:cNvSpPr>
            <p:nvPr/>
          </p:nvSpPr>
          <p:spPr bwMode="auto">
            <a:xfrm>
              <a:off x="4998" y="2629"/>
              <a:ext cx="6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39977" name="Text Box 1347"/>
            <p:cNvSpPr txBox="1">
              <a:spLocks noChangeArrowheads="1"/>
            </p:cNvSpPr>
            <p:nvPr/>
          </p:nvSpPr>
          <p:spPr bwMode="auto">
            <a:xfrm>
              <a:off x="1953" y="2821"/>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39978" name="Text Box 1348"/>
            <p:cNvSpPr txBox="1">
              <a:spLocks noChangeArrowheads="1"/>
            </p:cNvSpPr>
            <p:nvPr/>
          </p:nvSpPr>
          <p:spPr bwMode="auto">
            <a:xfrm>
              <a:off x="2385" y="2821"/>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39979" name="Text Box 1349"/>
            <p:cNvSpPr txBox="1">
              <a:spLocks noChangeArrowheads="1"/>
            </p:cNvSpPr>
            <p:nvPr/>
          </p:nvSpPr>
          <p:spPr bwMode="auto">
            <a:xfrm>
              <a:off x="2817" y="2821"/>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39980" name="Text Box 1350"/>
            <p:cNvSpPr txBox="1">
              <a:spLocks noChangeArrowheads="1"/>
            </p:cNvSpPr>
            <p:nvPr/>
          </p:nvSpPr>
          <p:spPr bwMode="auto">
            <a:xfrm>
              <a:off x="3249" y="2821"/>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39981" name="Text Box 1351"/>
            <p:cNvSpPr txBox="1">
              <a:spLocks noChangeArrowheads="1"/>
            </p:cNvSpPr>
            <p:nvPr/>
          </p:nvSpPr>
          <p:spPr bwMode="auto">
            <a:xfrm>
              <a:off x="3681" y="2821"/>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39982" name="Text Box 1352"/>
            <p:cNvSpPr txBox="1">
              <a:spLocks noChangeArrowheads="1"/>
            </p:cNvSpPr>
            <p:nvPr/>
          </p:nvSpPr>
          <p:spPr bwMode="auto">
            <a:xfrm>
              <a:off x="4113" y="2821"/>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39983" name="Text Box 1353"/>
            <p:cNvSpPr txBox="1">
              <a:spLocks noChangeArrowheads="1"/>
            </p:cNvSpPr>
            <p:nvPr/>
          </p:nvSpPr>
          <p:spPr bwMode="auto">
            <a:xfrm>
              <a:off x="1494" y="325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8</a:t>
              </a:r>
            </a:p>
          </p:txBody>
        </p:sp>
        <p:sp>
          <p:nvSpPr>
            <p:cNvPr id="39984" name="Text Box 1354"/>
            <p:cNvSpPr txBox="1">
              <a:spLocks noChangeArrowheads="1"/>
            </p:cNvSpPr>
            <p:nvPr/>
          </p:nvSpPr>
          <p:spPr bwMode="auto">
            <a:xfrm>
              <a:off x="1302" y="2821"/>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39985" name="Text Box 1355"/>
            <p:cNvSpPr txBox="1">
              <a:spLocks noChangeArrowheads="1"/>
            </p:cNvSpPr>
            <p:nvPr/>
          </p:nvSpPr>
          <p:spPr bwMode="auto">
            <a:xfrm>
              <a:off x="1302" y="3253"/>
              <a:ext cx="1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l</a:t>
              </a:r>
            </a:p>
          </p:txBody>
        </p:sp>
        <p:sp>
          <p:nvSpPr>
            <p:cNvPr id="39986" name="Text Box 1356"/>
            <p:cNvSpPr txBox="1">
              <a:spLocks noChangeArrowheads="1"/>
            </p:cNvSpPr>
            <p:nvPr/>
          </p:nvSpPr>
          <p:spPr bwMode="auto">
            <a:xfrm>
              <a:off x="4545" y="2821"/>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39987" name="Text Box 1357"/>
            <p:cNvSpPr txBox="1">
              <a:spLocks noChangeArrowheads="1"/>
            </p:cNvSpPr>
            <p:nvPr/>
          </p:nvSpPr>
          <p:spPr bwMode="auto">
            <a:xfrm>
              <a:off x="4977" y="282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39988" name="Text Box 1358"/>
            <p:cNvSpPr txBox="1">
              <a:spLocks noChangeArrowheads="1"/>
            </p:cNvSpPr>
            <p:nvPr/>
          </p:nvSpPr>
          <p:spPr bwMode="auto">
            <a:xfrm>
              <a:off x="4233" y="262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39989" name="Text Box 1359"/>
            <p:cNvSpPr txBox="1">
              <a:spLocks noChangeArrowheads="1"/>
            </p:cNvSpPr>
            <p:nvPr/>
          </p:nvSpPr>
          <p:spPr bwMode="auto">
            <a:xfrm>
              <a:off x="4668" y="2629"/>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grpSp>
      <p:sp>
        <p:nvSpPr>
          <p:cNvPr id="29" name="Slide Number Placeholder 28"/>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val="21437517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13"/>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14"/>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0"/>
                                          </p:stCondLst>
                                        </p:cTn>
                                        <p:tgtEl>
                                          <p:spTgt spid="15"/>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0"/>
                                          </p:stCondLst>
                                        </p:cTn>
                                        <p:tgtEl>
                                          <p:spTgt spid="16"/>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0"/>
                                          </p:stCondLst>
                                        </p:cTn>
                                        <p:tgtEl>
                                          <p:spTgt spid="17"/>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nodeType="clickEffect">
                                  <p:stCondLst>
                                    <p:cond delay="0"/>
                                  </p:stCondLst>
                                  <p:childTnLst>
                                    <p:set>
                                      <p:cBhvr>
                                        <p:cTn id="70" dur="1" fill="hold">
                                          <p:stCondLst>
                                            <p:cond delay="0"/>
                                          </p:stCondLst>
                                        </p:cTn>
                                        <p:tgtEl>
                                          <p:spTgt spid="18"/>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0"/>
                                          </p:stCondLst>
                                        </p:cTn>
                                        <p:tgtEl>
                                          <p:spTgt spid="19"/>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nodeType="clickEffect">
                                  <p:stCondLst>
                                    <p:cond delay="0"/>
                                  </p:stCondLst>
                                  <p:childTnLst>
                                    <p:set>
                                      <p:cBhvr>
                                        <p:cTn id="78" dur="1" fill="hold">
                                          <p:stCondLst>
                                            <p:cond delay="0"/>
                                          </p:stCondLst>
                                        </p:cTn>
                                        <p:tgtEl>
                                          <p:spTgt spid="20"/>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nodeType="clickEffect">
                                  <p:stCondLst>
                                    <p:cond delay="0"/>
                                  </p:stCondLst>
                                  <p:childTnLst>
                                    <p:set>
                                      <p:cBhvr>
                                        <p:cTn id="82" dur="1" fill="hold">
                                          <p:stCondLst>
                                            <p:cond delay="0"/>
                                          </p:stCondLst>
                                        </p:cTn>
                                        <p:tgtEl>
                                          <p:spTgt spid="21"/>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nodeType="clickEffect">
                                  <p:stCondLst>
                                    <p:cond delay="0"/>
                                  </p:stCondLst>
                                  <p:childTnLst>
                                    <p:set>
                                      <p:cBhvr>
                                        <p:cTn id="86" dur="1" fill="hold">
                                          <p:stCondLst>
                                            <p:cond delay="0"/>
                                          </p:stCondLst>
                                        </p:cTn>
                                        <p:tgtEl>
                                          <p:spTgt spid="22"/>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nodeType="clickEffect">
                                  <p:stCondLst>
                                    <p:cond delay="0"/>
                                  </p:stCondLst>
                                  <p:childTnLst>
                                    <p:set>
                                      <p:cBhvr>
                                        <p:cTn id="90" dur="1" fill="hold">
                                          <p:stCondLst>
                                            <p:cond delay="0"/>
                                          </p:stCondLst>
                                        </p:cTn>
                                        <p:tgtEl>
                                          <p:spTgt spid="23"/>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nodeType="clickEffect">
                                  <p:stCondLst>
                                    <p:cond delay="0"/>
                                  </p:stCondLst>
                                  <p:childTnLst>
                                    <p:set>
                                      <p:cBhvr>
                                        <p:cTn id="94" dur="1" fill="hold">
                                          <p:stCondLst>
                                            <p:cond delay="0"/>
                                          </p:stCondLst>
                                        </p:cTn>
                                        <p:tgtEl>
                                          <p:spTgt spid="24"/>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nodeType="clickEffect">
                                  <p:stCondLst>
                                    <p:cond delay="0"/>
                                  </p:stCondLst>
                                  <p:childTnLst>
                                    <p:set>
                                      <p:cBhvr>
                                        <p:cTn id="98" dur="1" fill="hold">
                                          <p:stCondLst>
                                            <p:cond delay="0"/>
                                          </p:stCondLst>
                                        </p:cTn>
                                        <p:tgtEl>
                                          <p:spTgt spid="25"/>
                                        </p:tgtEl>
                                        <p:attrNameLst>
                                          <p:attrName>style.visibility</p:attrName>
                                        </p:attrNameLst>
                                      </p:cBhvr>
                                      <p:to>
                                        <p:strVal val="visible"/>
                                      </p:to>
                                    </p:se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 presetClass="entr" presetSubtype="0" fill="hold" nodeType="clickEffect">
                                  <p:stCondLst>
                                    <p:cond delay="0"/>
                                  </p:stCondLst>
                                  <p:childTnLst>
                                    <p:set>
                                      <p:cBhvr>
                                        <p:cTn id="102" dur="1" fill="hold">
                                          <p:stCondLst>
                                            <p:cond delay="0"/>
                                          </p:stCondLst>
                                        </p:cTn>
                                        <p:tgtEl>
                                          <p:spTgt spid="26"/>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ntr" presetSubtype="0" fill="hold" nodeType="clickEffect">
                                  <p:stCondLst>
                                    <p:cond delay="0"/>
                                  </p:stCondLst>
                                  <p:childTnLst>
                                    <p:set>
                                      <p:cBhvr>
                                        <p:cTn id="106" dur="1" fill="hold">
                                          <p:stCondLst>
                                            <p:cond delay="0"/>
                                          </p:stCondLst>
                                        </p:cTn>
                                        <p:tgtEl>
                                          <p:spTgt spid="27"/>
                                        </p:tgtEl>
                                        <p:attrNameLst>
                                          <p:attrName>style.visibility</p:attrName>
                                        </p:attrNameLst>
                                      </p:cBhvr>
                                      <p:to>
                                        <p:strVal val="visible"/>
                                      </p:to>
                                    </p:se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1" presetClass="entr" presetSubtype="0" fill="hold" nodeType="clickEffect">
                                  <p:stCondLst>
                                    <p:cond delay="0"/>
                                  </p:stCondLst>
                                  <p:childTnLst>
                                    <p:set>
                                      <p:cBhvr>
                                        <p:cTn id="11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ltLang="en-US" sz="3200" dirty="0"/>
              <a:t>Selection sort </a:t>
            </a:r>
            <a:r>
              <a:rPr lang="en-US" altLang="en-US" sz="3200" i="1" dirty="0"/>
              <a:t>(4)</a:t>
            </a:r>
            <a:endParaRPr lang="en-GB" altLang="en-US" sz="3200" dirty="0"/>
          </a:p>
        </p:txBody>
      </p:sp>
      <p:sp>
        <p:nvSpPr>
          <p:cNvPr id="40963" name="Rectangle 3"/>
          <p:cNvSpPr>
            <a:spLocks noGrp="1" noChangeArrowheads="1"/>
          </p:cNvSpPr>
          <p:nvPr>
            <p:ph idx="1"/>
          </p:nvPr>
        </p:nvSpPr>
        <p:spPr>
          <a:xfrm>
            <a:off x="304800" y="1447800"/>
            <a:ext cx="8229600" cy="4343400"/>
          </a:xfrm>
          <a:noFill/>
        </p:spPr>
        <p:txBody>
          <a:bodyPr/>
          <a:lstStyle/>
          <a:p>
            <a:pPr eaLnBrk="1" hangingPunct="1">
              <a:tabLst>
                <a:tab pos="3225800" algn="l"/>
              </a:tabLst>
            </a:pPr>
            <a:r>
              <a:rPr lang="en-US" altLang="en-US"/>
              <a:t>Analysis (counting comparisons):</a:t>
            </a:r>
          </a:p>
          <a:p>
            <a:pPr eaLnBrk="1" hangingPunct="1">
              <a:spcBef>
                <a:spcPts val="900"/>
              </a:spcBef>
              <a:buFont typeface="Wingdings" pitchFamily="2" charset="2"/>
              <a:buNone/>
              <a:tabLst>
                <a:tab pos="3225800" algn="l"/>
              </a:tabLst>
            </a:pPr>
            <a:r>
              <a:rPr lang="en-US" altLang="en-US"/>
              <a:t>	Let </a:t>
            </a:r>
            <a:r>
              <a:rPr lang="en-US" altLang="en-US" i="1"/>
              <a:t>n</a:t>
            </a:r>
            <a:r>
              <a:rPr lang="en-US" altLang="en-US"/>
              <a:t> = </a:t>
            </a:r>
            <a:r>
              <a:rPr lang="en-US" altLang="en-US" i="1"/>
              <a:t>right</a:t>
            </a:r>
            <a:r>
              <a:rPr lang="en-US" altLang="en-US"/>
              <a:t>–</a:t>
            </a:r>
            <a:r>
              <a:rPr lang="en-US" altLang="en-US" i="1"/>
              <a:t>left</a:t>
            </a:r>
            <a:r>
              <a:rPr lang="en-US" altLang="en-US"/>
              <a:t>+1 be  length of  array to be sorted.</a:t>
            </a:r>
          </a:p>
          <a:p>
            <a:pPr eaLnBrk="1" hangingPunct="1">
              <a:spcBef>
                <a:spcPts val="900"/>
              </a:spcBef>
              <a:buFont typeface="Wingdings" pitchFamily="2" charset="2"/>
              <a:buNone/>
              <a:tabLst>
                <a:tab pos="3225800" algn="l"/>
              </a:tabLst>
            </a:pPr>
            <a:r>
              <a:rPr lang="en-US" altLang="en-US"/>
              <a:t>	Step 1.1 performs </a:t>
            </a:r>
            <a:r>
              <a:rPr lang="en-US" altLang="en-US" i="1"/>
              <a:t>right</a:t>
            </a:r>
            <a:r>
              <a:rPr lang="en-US" altLang="en-US"/>
              <a:t>–</a:t>
            </a:r>
            <a:r>
              <a:rPr lang="en-US" altLang="en-US" i="1"/>
              <a:t>l</a:t>
            </a:r>
            <a:r>
              <a:rPr lang="en-US" altLang="en-US"/>
              <a:t> comparisons.</a:t>
            </a:r>
            <a:br>
              <a:rPr lang="en-US" altLang="en-US"/>
            </a:br>
            <a:r>
              <a:rPr lang="en-US" altLang="en-US"/>
              <a:t>This is repeated with </a:t>
            </a:r>
            <a:r>
              <a:rPr lang="en-US" altLang="en-US" i="1"/>
              <a:t>l</a:t>
            </a:r>
            <a:r>
              <a:rPr lang="en-US" altLang="en-US"/>
              <a:t> = </a:t>
            </a:r>
            <a:r>
              <a:rPr lang="en-US" altLang="en-US" i="1"/>
              <a:t>left</a:t>
            </a:r>
            <a:r>
              <a:rPr lang="en-US" altLang="en-US"/>
              <a:t>, …, </a:t>
            </a:r>
            <a:r>
              <a:rPr lang="en-US" altLang="en-US" i="1"/>
              <a:t>right</a:t>
            </a:r>
            <a:r>
              <a:rPr lang="en-US" altLang="en-US"/>
              <a:t>–2, </a:t>
            </a:r>
            <a:r>
              <a:rPr lang="en-US" altLang="en-US" i="1"/>
              <a:t>right</a:t>
            </a:r>
            <a:r>
              <a:rPr lang="en-US" altLang="en-US"/>
              <a:t>–1.</a:t>
            </a:r>
          </a:p>
          <a:p>
            <a:pPr eaLnBrk="1" hangingPunct="1">
              <a:spcBef>
                <a:spcPts val="900"/>
              </a:spcBef>
              <a:buFont typeface="Wingdings" pitchFamily="2" charset="2"/>
              <a:buNone/>
              <a:tabLst>
                <a:tab pos="3225800" algn="l"/>
              </a:tabLst>
            </a:pPr>
            <a:r>
              <a:rPr lang="en-US" altLang="en-US"/>
              <a:t>	No. of comparisons	=  (</a:t>
            </a:r>
            <a:r>
              <a:rPr lang="en-US" altLang="en-US" i="1"/>
              <a:t>right</a:t>
            </a:r>
            <a:r>
              <a:rPr lang="en-US" altLang="en-US"/>
              <a:t>–</a:t>
            </a:r>
            <a:r>
              <a:rPr lang="en-US" altLang="en-US" i="1"/>
              <a:t>left</a:t>
            </a:r>
            <a:r>
              <a:rPr lang="en-US" altLang="en-US"/>
              <a:t>) + … + 2 + 1</a:t>
            </a:r>
            <a:br>
              <a:rPr lang="en-US" altLang="en-US"/>
            </a:br>
            <a:r>
              <a:rPr lang="en-US" altLang="en-US"/>
              <a:t>	=  (</a:t>
            </a:r>
            <a:r>
              <a:rPr lang="en-US" altLang="en-US" i="1"/>
              <a:t>n</a:t>
            </a:r>
            <a:r>
              <a:rPr lang="en-US" altLang="en-US"/>
              <a:t>–1) + … + 2 + 1</a:t>
            </a:r>
            <a:br>
              <a:rPr lang="en-US" altLang="en-US"/>
            </a:br>
            <a:r>
              <a:rPr lang="en-US" altLang="en-US"/>
              <a:t>	=  (</a:t>
            </a:r>
            <a:r>
              <a:rPr lang="en-US" altLang="en-US" i="1"/>
              <a:t>n</a:t>
            </a:r>
            <a:r>
              <a:rPr lang="en-US" altLang="en-US"/>
              <a:t>–1)</a:t>
            </a:r>
            <a:r>
              <a:rPr lang="en-US" altLang="en-US" i="1"/>
              <a:t>n</a:t>
            </a:r>
            <a:r>
              <a:rPr lang="en-US" altLang="en-US"/>
              <a:t>/2</a:t>
            </a:r>
            <a:br>
              <a:rPr lang="en-US" altLang="en-US"/>
            </a:br>
            <a:r>
              <a:rPr lang="en-US" altLang="en-US"/>
              <a:t>	=  </a:t>
            </a:r>
            <a:r>
              <a:rPr lang="en-US" altLang="en-US" i="1"/>
              <a:t>n</a:t>
            </a:r>
            <a:r>
              <a:rPr lang="en-US" altLang="en-US" baseline="30000"/>
              <a:t>2</a:t>
            </a:r>
            <a:r>
              <a:rPr lang="en-US" altLang="en-US"/>
              <a:t>/2 – </a:t>
            </a:r>
            <a:r>
              <a:rPr lang="en-US" altLang="en-US" i="1"/>
              <a:t>n</a:t>
            </a:r>
            <a:r>
              <a:rPr lang="en-US" altLang="en-US"/>
              <a:t>/2</a:t>
            </a:r>
            <a:br>
              <a:rPr lang="en-US" altLang="en-US"/>
            </a:br>
            <a:r>
              <a:rPr lang="en-US" altLang="en-US"/>
              <a:t>	</a:t>
            </a:r>
            <a:r>
              <a:rPr lang="en-US" altLang="en-US">
                <a:sym typeface="Symbol" pitchFamily="18" charset="2"/>
              </a:rPr>
              <a:t></a:t>
            </a:r>
            <a:r>
              <a:rPr lang="en-US" altLang="en-US"/>
              <a:t>  </a:t>
            </a:r>
            <a:r>
              <a:rPr lang="en-US" altLang="en-US" i="1"/>
              <a:t>n</a:t>
            </a:r>
            <a:r>
              <a:rPr lang="en-US" altLang="en-US" baseline="30000"/>
              <a:t>2</a:t>
            </a:r>
            <a:r>
              <a:rPr lang="en-US" altLang="en-US"/>
              <a:t>/2</a:t>
            </a:r>
          </a:p>
          <a:p>
            <a:pPr eaLnBrk="1" hangingPunct="1">
              <a:spcBef>
                <a:spcPts val="900"/>
              </a:spcBef>
              <a:buFont typeface="Wingdings" pitchFamily="2" charset="2"/>
              <a:buNone/>
              <a:tabLst>
                <a:tab pos="3225800" algn="l"/>
              </a:tabLst>
            </a:pPr>
            <a:r>
              <a:rPr lang="en-US" altLang="en-US"/>
              <a:t>	Time complexity is </a:t>
            </a:r>
            <a:r>
              <a:rPr lang="en-US" altLang="en-US" i="1"/>
              <a:t>O</a:t>
            </a:r>
            <a:r>
              <a:rPr lang="en-US" altLang="en-US"/>
              <a:t>(</a:t>
            </a:r>
            <a:r>
              <a:rPr lang="en-US" altLang="en-US" i="1"/>
              <a:t>n</a:t>
            </a:r>
            <a:r>
              <a:rPr lang="en-US" altLang="en-US" baseline="30000"/>
              <a:t>2</a:t>
            </a:r>
            <a:r>
              <a:rPr lang="en-US" altLang="en-US"/>
              <a:t>).</a:t>
            </a:r>
          </a:p>
        </p:txBody>
      </p:sp>
      <p:sp>
        <p:nvSpPr>
          <p:cNvPr id="2" name="Slide Number Placeholder 1"/>
          <p:cNvSpPr>
            <a:spLocks noGrp="1"/>
          </p:cNvSpPr>
          <p:nvPr>
            <p:ph type="sldNum" sz="quarter" idx="12"/>
          </p:nvPr>
        </p:nvSpPr>
        <p:spPr/>
        <p:txBody>
          <a:bodyPr/>
          <a:lstStyle/>
          <a:p>
            <a:fld id="{B6F15528-21DE-4FAA-801E-634DDDAF4B2B}" type="slidenum">
              <a:rPr lang="en-US" smtClean="0"/>
              <a:pPr/>
              <a:t>14</a:t>
            </a:fld>
            <a:endParaRPr lang="en-US"/>
          </a:p>
        </p:txBody>
      </p:sp>
      <p:sp>
        <p:nvSpPr>
          <p:cNvPr id="3" name="Rectangle 2"/>
          <p:cNvSpPr/>
          <p:nvPr/>
        </p:nvSpPr>
        <p:spPr>
          <a:xfrm>
            <a:off x="4114800" y="5181600"/>
            <a:ext cx="4876800" cy="1477328"/>
          </a:xfrm>
          <a:prstGeom prst="rect">
            <a:avLst/>
          </a:prstGeom>
          <a:ln>
            <a:solidFill>
              <a:schemeClr val="tx2"/>
            </a:solidFill>
          </a:ln>
        </p:spPr>
        <p:txBody>
          <a:bodyPr wrap="square">
            <a:spAutoFit/>
          </a:bodyPr>
          <a:lstStyle/>
          <a:p>
            <a:pPr>
              <a:spcBef>
                <a:spcPts val="1800"/>
              </a:spcBef>
              <a:buClrTx/>
              <a:buFontTx/>
              <a:buNone/>
            </a:pPr>
            <a:r>
              <a:rPr lang="en-US" altLang="en-US">
                <a:latin typeface="Times New Roman" pitchFamily="18" charset="0"/>
              </a:rPr>
              <a:t>1.	For </a:t>
            </a:r>
            <a:r>
              <a:rPr lang="en-US" altLang="en-US" i="1">
                <a:latin typeface="Times New Roman" pitchFamily="18" charset="0"/>
              </a:rPr>
              <a:t>l</a:t>
            </a:r>
            <a:r>
              <a:rPr lang="en-US" altLang="en-US">
                <a:latin typeface="Times New Roman" pitchFamily="18" charset="0"/>
              </a:rPr>
              <a:t> = </a:t>
            </a:r>
            <a:r>
              <a:rPr lang="en-US" altLang="en-US" i="1">
                <a:latin typeface="Times New Roman" pitchFamily="18" charset="0"/>
              </a:rPr>
              <a:t>left</a:t>
            </a:r>
            <a:r>
              <a:rPr lang="en-US" altLang="en-US">
                <a:latin typeface="Times New Roman" pitchFamily="18" charset="0"/>
              </a:rPr>
              <a:t>, …, </a:t>
            </a:r>
            <a:r>
              <a:rPr lang="en-US" altLang="en-US" i="1">
                <a:latin typeface="Times New Roman" pitchFamily="18" charset="0"/>
              </a:rPr>
              <a:t>right</a:t>
            </a:r>
            <a:r>
              <a:rPr lang="en-US" altLang="en-US">
                <a:latin typeface="Times New Roman" pitchFamily="18" charset="0"/>
              </a:rPr>
              <a:t>–1, repeat:</a:t>
            </a:r>
            <a:br>
              <a:rPr lang="en-US" altLang="en-US">
                <a:latin typeface="Times New Roman" pitchFamily="18" charset="0"/>
              </a:rPr>
            </a:br>
            <a:r>
              <a:rPr lang="en-US" altLang="en-US">
                <a:latin typeface="Times New Roman" pitchFamily="18" charset="0"/>
              </a:rPr>
              <a:t>	1.1.      Set </a:t>
            </a:r>
            <a:r>
              <a:rPr lang="en-US" altLang="en-US" i="1">
                <a:latin typeface="Times New Roman" pitchFamily="18" charset="0"/>
              </a:rPr>
              <a:t>p</a:t>
            </a:r>
            <a:r>
              <a:rPr lang="en-US" altLang="en-US">
                <a:latin typeface="Times New Roman" pitchFamily="18" charset="0"/>
              </a:rPr>
              <a:t> such that </a:t>
            </a:r>
            <a:r>
              <a:rPr lang="en-US" altLang="en-US" i="1">
                <a:latin typeface="Times New Roman" pitchFamily="18" charset="0"/>
              </a:rPr>
              <a:t>a</a:t>
            </a:r>
            <a:r>
              <a:rPr lang="en-US" altLang="en-US">
                <a:latin typeface="Times New Roman" pitchFamily="18" charset="0"/>
              </a:rPr>
              <a:t>[</a:t>
            </a:r>
            <a:r>
              <a:rPr lang="en-US" altLang="en-US" i="1">
                <a:latin typeface="Times New Roman" pitchFamily="18" charset="0"/>
              </a:rPr>
              <a:t>p</a:t>
            </a:r>
            <a:r>
              <a:rPr lang="en-US" altLang="en-US">
                <a:latin typeface="Times New Roman" pitchFamily="18" charset="0"/>
              </a:rPr>
              <a:t>] is the least     </a:t>
            </a:r>
            <a:br>
              <a:rPr lang="en-US" altLang="en-US">
                <a:latin typeface="Times New Roman" pitchFamily="18" charset="0"/>
              </a:rPr>
            </a:br>
            <a:r>
              <a:rPr lang="en-US" altLang="en-US">
                <a:latin typeface="Times New Roman" pitchFamily="18" charset="0"/>
              </a:rPr>
              <a:t>                            of </a:t>
            </a:r>
            <a:r>
              <a:rPr lang="en-US" altLang="en-US" i="1">
                <a:latin typeface="Times New Roman" pitchFamily="18" charset="0"/>
              </a:rPr>
              <a:t>a</a:t>
            </a:r>
            <a:r>
              <a:rPr lang="en-US" altLang="en-US">
                <a:latin typeface="Times New Roman" pitchFamily="18" charset="0"/>
              </a:rPr>
              <a:t>[</a:t>
            </a:r>
            <a:r>
              <a:rPr lang="en-US" altLang="en-US" i="1">
                <a:latin typeface="Times New Roman" pitchFamily="18" charset="0"/>
              </a:rPr>
              <a:t>l</a:t>
            </a:r>
            <a:r>
              <a:rPr lang="en-US" altLang="en-US">
                <a:latin typeface="Times New Roman" pitchFamily="18" charset="0"/>
              </a:rPr>
              <a:t>…</a:t>
            </a:r>
            <a:r>
              <a:rPr lang="en-US" altLang="en-US" i="1">
                <a:latin typeface="Times New Roman" pitchFamily="18" charset="0"/>
              </a:rPr>
              <a:t>right</a:t>
            </a:r>
            <a:r>
              <a:rPr lang="en-US" altLang="en-US">
                <a:latin typeface="Times New Roman" pitchFamily="18" charset="0"/>
              </a:rPr>
              <a:t>].</a:t>
            </a:r>
            <a:br>
              <a:rPr lang="en-US" altLang="en-US">
                <a:latin typeface="Times New Roman" pitchFamily="18" charset="0"/>
              </a:rPr>
            </a:br>
            <a:r>
              <a:rPr lang="en-US" altLang="en-US">
                <a:latin typeface="Times New Roman" pitchFamily="18" charset="0"/>
              </a:rPr>
              <a:t>	1.2.      If </a:t>
            </a:r>
            <a:r>
              <a:rPr lang="en-US" altLang="en-US" i="1">
                <a:latin typeface="Times New Roman" pitchFamily="18" charset="0"/>
              </a:rPr>
              <a:t>p</a:t>
            </a:r>
            <a:r>
              <a:rPr lang="en-US" altLang="en-US">
                <a:latin typeface="Times New Roman" pitchFamily="18" charset="0"/>
              </a:rPr>
              <a:t> </a:t>
            </a:r>
            <a:r>
              <a:rPr lang="en-US" altLang="en-US">
                <a:latin typeface="Times New Roman" pitchFamily="18" charset="0"/>
                <a:sym typeface="Symbol" pitchFamily="18" charset="2"/>
              </a:rPr>
              <a:t></a:t>
            </a:r>
            <a:r>
              <a:rPr lang="en-US" altLang="en-US">
                <a:latin typeface="Times New Roman" pitchFamily="18" charset="0"/>
              </a:rPr>
              <a:t> </a:t>
            </a:r>
            <a:r>
              <a:rPr lang="en-US" altLang="en-US" i="1">
                <a:latin typeface="Times New Roman" pitchFamily="18" charset="0"/>
              </a:rPr>
              <a:t>l</a:t>
            </a:r>
            <a:r>
              <a:rPr lang="en-US" altLang="en-US">
                <a:latin typeface="Times New Roman" pitchFamily="18" charset="0"/>
              </a:rPr>
              <a:t>, swap </a:t>
            </a:r>
            <a:r>
              <a:rPr lang="en-US" altLang="en-US" i="1">
                <a:latin typeface="Times New Roman" pitchFamily="18" charset="0"/>
              </a:rPr>
              <a:t>a</a:t>
            </a:r>
            <a:r>
              <a:rPr lang="en-US" altLang="en-US">
                <a:latin typeface="Times New Roman" pitchFamily="18" charset="0"/>
              </a:rPr>
              <a:t>[</a:t>
            </a:r>
            <a:r>
              <a:rPr lang="en-US" altLang="en-US" i="1">
                <a:latin typeface="Times New Roman" pitchFamily="18" charset="0"/>
              </a:rPr>
              <a:t>p</a:t>
            </a:r>
            <a:r>
              <a:rPr lang="en-US" altLang="en-US">
                <a:latin typeface="Times New Roman" pitchFamily="18" charset="0"/>
              </a:rPr>
              <a:t>] and </a:t>
            </a:r>
            <a:r>
              <a:rPr lang="en-US" altLang="en-US" i="1">
                <a:latin typeface="Times New Roman" pitchFamily="18" charset="0"/>
              </a:rPr>
              <a:t>a</a:t>
            </a:r>
            <a:r>
              <a:rPr lang="en-US" altLang="en-US">
                <a:latin typeface="Times New Roman" pitchFamily="18" charset="0"/>
              </a:rPr>
              <a:t>[</a:t>
            </a:r>
            <a:r>
              <a:rPr lang="en-US" altLang="en-US" i="1">
                <a:latin typeface="Times New Roman" pitchFamily="18" charset="0"/>
              </a:rPr>
              <a:t>l</a:t>
            </a:r>
            <a:r>
              <a:rPr lang="en-US" altLang="en-US">
                <a:latin typeface="Times New Roman" pitchFamily="18" charset="0"/>
              </a:rPr>
              <a:t>].</a:t>
            </a:r>
            <a:br>
              <a:rPr lang="en-US" altLang="en-US">
                <a:latin typeface="Times New Roman" pitchFamily="18" charset="0"/>
              </a:rPr>
            </a:br>
            <a:r>
              <a:rPr lang="en-US" altLang="en-US">
                <a:latin typeface="Times New Roman" pitchFamily="18" charset="0"/>
              </a:rPr>
              <a:t>2.	</a:t>
            </a:r>
            <a:r>
              <a:rPr lang="en-US" altLang="en-US">
                <a:solidFill>
                  <a:srgbClr val="FF5050"/>
                </a:solidFill>
                <a:latin typeface="Times New Roman" pitchFamily="18" charset="0"/>
              </a:rPr>
              <a:t>Terminate.</a:t>
            </a:r>
          </a:p>
        </p:txBody>
      </p:sp>
    </p:spTree>
    <p:extLst>
      <p:ext uri="{BB962C8B-B14F-4D97-AF65-F5344CB8AC3E}">
        <p14:creationId xmlns:p14="http://schemas.microsoft.com/office/powerpoint/2010/main" val="8104475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ltLang="en-US" sz="3200" dirty="0"/>
              <a:t>Selection sort </a:t>
            </a:r>
            <a:r>
              <a:rPr lang="en-US" altLang="en-US" sz="3200" i="1" dirty="0"/>
              <a:t>(5): implementation in Java</a:t>
            </a:r>
            <a:endParaRPr lang="en-GB" altLang="en-US" sz="3200" dirty="0"/>
          </a:p>
        </p:txBody>
      </p:sp>
      <p:sp>
        <p:nvSpPr>
          <p:cNvPr id="41987" name="Rectangle 3"/>
          <p:cNvSpPr>
            <a:spLocks noGrp="1" noChangeArrowheads="1"/>
          </p:cNvSpPr>
          <p:nvPr>
            <p:ph idx="1"/>
          </p:nvPr>
        </p:nvSpPr>
        <p:spPr>
          <a:xfrm>
            <a:off x="457200" y="1600200"/>
            <a:ext cx="8229600" cy="5105400"/>
          </a:xfrm>
          <a:noFill/>
          <a:ln>
            <a:solidFill>
              <a:schemeClr val="accent1">
                <a:lumMod val="75000"/>
              </a:schemeClr>
            </a:solidFill>
          </a:ln>
        </p:spPr>
        <p:txBody>
          <a:bodyPr>
            <a:noAutofit/>
          </a:bodyPr>
          <a:lstStyle/>
          <a:p>
            <a:pPr marL="0" indent="0">
              <a:buNone/>
            </a:pPr>
            <a:r>
              <a:rPr lang="en-US" sz="1800" b="1" dirty="0">
                <a:solidFill>
                  <a:srgbClr val="660066"/>
                </a:solidFill>
                <a:latin typeface="Courier New"/>
                <a:cs typeface="Courier New"/>
              </a:rPr>
              <a:t>public static </a:t>
            </a:r>
            <a:r>
              <a:rPr lang="en-US" sz="1800" b="1" dirty="0">
                <a:latin typeface="Courier New"/>
                <a:cs typeface="Courier New"/>
              </a:rPr>
              <a:t>&lt;E </a:t>
            </a:r>
            <a:r>
              <a:rPr lang="en-US" sz="1800" b="1" dirty="0">
                <a:solidFill>
                  <a:srgbClr val="660066"/>
                </a:solidFill>
                <a:latin typeface="Courier New"/>
                <a:cs typeface="Courier New"/>
              </a:rPr>
              <a:t>extends</a:t>
            </a:r>
            <a:r>
              <a:rPr lang="en-US" sz="1800" b="1" dirty="0">
                <a:latin typeface="Courier New"/>
                <a:cs typeface="Courier New"/>
              </a:rPr>
              <a:t> Comparable&lt;E&gt;&gt; </a:t>
            </a:r>
            <a:r>
              <a:rPr lang="en-US" sz="1800" b="1" dirty="0">
                <a:solidFill>
                  <a:srgbClr val="660066"/>
                </a:solidFill>
                <a:latin typeface="Courier New"/>
                <a:cs typeface="Courier New"/>
              </a:rPr>
              <a:t>void</a:t>
            </a:r>
            <a:r>
              <a:rPr lang="en-US" sz="1800" b="1" dirty="0">
                <a:latin typeface="Courier New"/>
                <a:cs typeface="Courier New"/>
              </a:rPr>
              <a:t> sort (E[] </a:t>
            </a:r>
            <a:r>
              <a:rPr lang="en-US" sz="1800" b="1" dirty="0">
                <a:solidFill>
                  <a:schemeClr val="accent3"/>
                </a:solidFill>
                <a:latin typeface="Courier New"/>
                <a:cs typeface="Courier New"/>
              </a:rPr>
              <a:t>a</a:t>
            </a:r>
            <a:r>
              <a:rPr lang="en-US" sz="1800" b="1" dirty="0">
                <a:latin typeface="Courier New"/>
                <a:cs typeface="Courier New"/>
              </a:rPr>
              <a:t>,</a:t>
            </a:r>
          </a:p>
          <a:p>
            <a:pPr marL="0" indent="0">
              <a:buNone/>
            </a:pPr>
            <a:r>
              <a:rPr lang="en-US" sz="1800" b="1" dirty="0">
                <a:latin typeface="Courier New"/>
                <a:cs typeface="Courier New"/>
              </a:rPr>
              <a:t>			</a:t>
            </a:r>
            <a:r>
              <a:rPr lang="en-US" sz="1800" b="1" dirty="0" err="1">
                <a:solidFill>
                  <a:srgbClr val="660066"/>
                </a:solidFill>
                <a:latin typeface="Courier New"/>
                <a:cs typeface="Courier New"/>
              </a:rPr>
              <a:t>int</a:t>
            </a:r>
            <a:r>
              <a:rPr lang="en-US" sz="1800" b="1" dirty="0">
                <a:latin typeface="Courier New"/>
                <a:cs typeface="Courier New"/>
              </a:rPr>
              <a:t> </a:t>
            </a:r>
            <a:r>
              <a:rPr lang="en-US" sz="1800" b="1" dirty="0">
                <a:solidFill>
                  <a:srgbClr val="726056"/>
                </a:solidFill>
                <a:latin typeface="Courier New"/>
                <a:cs typeface="Courier New"/>
              </a:rPr>
              <a:t>left</a:t>
            </a:r>
            <a:r>
              <a:rPr lang="en-US" sz="1800" b="1" dirty="0">
                <a:latin typeface="Courier New"/>
                <a:cs typeface="Courier New"/>
              </a:rPr>
              <a:t>, </a:t>
            </a:r>
            <a:r>
              <a:rPr lang="en-US" sz="1800" b="1" dirty="0" err="1">
                <a:solidFill>
                  <a:srgbClr val="660066"/>
                </a:solidFill>
                <a:latin typeface="Courier New"/>
                <a:cs typeface="Courier New"/>
              </a:rPr>
              <a:t>int</a:t>
            </a:r>
            <a:r>
              <a:rPr lang="en-US" sz="1800" b="1" dirty="0">
                <a:latin typeface="Courier New"/>
                <a:cs typeface="Courier New"/>
              </a:rPr>
              <a:t> </a:t>
            </a:r>
            <a:r>
              <a:rPr lang="en-US" sz="1800" b="1" dirty="0">
                <a:solidFill>
                  <a:srgbClr val="726056"/>
                </a:solidFill>
                <a:latin typeface="Courier New"/>
                <a:cs typeface="Courier New"/>
              </a:rPr>
              <a:t>right</a:t>
            </a:r>
            <a:r>
              <a:rPr lang="en-US" sz="1800" b="1" dirty="0">
                <a:latin typeface="Courier New"/>
                <a:cs typeface="Courier New"/>
              </a:rPr>
              <a:t>) {</a:t>
            </a:r>
          </a:p>
          <a:p>
            <a:pPr marL="0" indent="0">
              <a:buNone/>
            </a:pPr>
            <a:r>
              <a:rPr lang="en-US" sz="1800" b="1" dirty="0">
                <a:latin typeface="Courier New"/>
                <a:cs typeface="Courier New"/>
              </a:rPr>
              <a:t>	</a:t>
            </a:r>
            <a:r>
              <a:rPr lang="en-US" sz="1800" b="1" dirty="0">
                <a:solidFill>
                  <a:srgbClr val="008000"/>
                </a:solidFill>
                <a:latin typeface="Courier New"/>
                <a:cs typeface="Courier New"/>
              </a:rPr>
              <a:t>// Sort a[left-right] into ascending order</a:t>
            </a:r>
          </a:p>
          <a:p>
            <a:pPr marL="0" indent="0">
              <a:buNone/>
            </a:pPr>
            <a:r>
              <a:rPr lang="en-US" sz="1800" b="1" dirty="0">
                <a:latin typeface="Courier New"/>
                <a:cs typeface="Courier New"/>
              </a:rPr>
              <a:t>	</a:t>
            </a:r>
            <a:r>
              <a:rPr lang="en-US" sz="1800" b="1" dirty="0">
                <a:solidFill>
                  <a:srgbClr val="660066"/>
                </a:solidFill>
                <a:latin typeface="Courier New"/>
                <a:cs typeface="Courier New"/>
              </a:rPr>
              <a:t>for</a:t>
            </a:r>
            <a:r>
              <a:rPr lang="en-US" sz="1800" b="1" dirty="0">
                <a:latin typeface="Courier New"/>
                <a:cs typeface="Courier New"/>
              </a:rPr>
              <a:t> (</a:t>
            </a:r>
            <a:r>
              <a:rPr lang="en-US" sz="1800" b="1" dirty="0" err="1">
                <a:solidFill>
                  <a:srgbClr val="660066"/>
                </a:solidFill>
                <a:latin typeface="Courier New"/>
                <a:cs typeface="Courier New"/>
              </a:rPr>
              <a:t>int</a:t>
            </a:r>
            <a:r>
              <a:rPr lang="en-US" sz="1800" b="1" dirty="0">
                <a:latin typeface="Courier New"/>
                <a:cs typeface="Courier New"/>
              </a:rPr>
              <a:t> </a:t>
            </a:r>
            <a:r>
              <a:rPr lang="en-US" sz="1800" b="1" dirty="0">
                <a:solidFill>
                  <a:srgbClr val="726056"/>
                </a:solidFill>
                <a:latin typeface="Courier New"/>
                <a:cs typeface="Courier New"/>
              </a:rPr>
              <a:t>l</a:t>
            </a:r>
            <a:r>
              <a:rPr lang="en-US" sz="1800" b="1" dirty="0">
                <a:latin typeface="Courier New"/>
                <a:cs typeface="Courier New"/>
              </a:rPr>
              <a:t> = </a:t>
            </a:r>
            <a:r>
              <a:rPr lang="en-US" sz="1800" b="1" dirty="0">
                <a:solidFill>
                  <a:srgbClr val="726056"/>
                </a:solidFill>
                <a:latin typeface="Courier New"/>
                <a:cs typeface="Courier New"/>
              </a:rPr>
              <a:t>left</a:t>
            </a:r>
            <a:r>
              <a:rPr lang="en-US" sz="1800" b="1" dirty="0">
                <a:latin typeface="Courier New"/>
                <a:cs typeface="Courier New"/>
              </a:rPr>
              <a:t>; </a:t>
            </a:r>
            <a:r>
              <a:rPr lang="en-US" sz="1800" b="1" dirty="0">
                <a:solidFill>
                  <a:srgbClr val="726056"/>
                </a:solidFill>
                <a:latin typeface="Courier New"/>
                <a:cs typeface="Courier New"/>
              </a:rPr>
              <a:t>l</a:t>
            </a:r>
            <a:r>
              <a:rPr lang="en-US" sz="1800" b="1" dirty="0">
                <a:latin typeface="Courier New"/>
                <a:cs typeface="Courier New"/>
              </a:rPr>
              <a:t> &lt; </a:t>
            </a:r>
            <a:r>
              <a:rPr lang="en-US" sz="1800" b="1" dirty="0">
                <a:solidFill>
                  <a:srgbClr val="726056"/>
                </a:solidFill>
                <a:latin typeface="Courier New"/>
                <a:cs typeface="Courier New"/>
              </a:rPr>
              <a:t>right</a:t>
            </a:r>
            <a:r>
              <a:rPr lang="en-US" sz="1800" b="1" dirty="0">
                <a:latin typeface="Courier New"/>
                <a:cs typeface="Courier New"/>
              </a:rPr>
              <a:t>; </a:t>
            </a:r>
            <a:r>
              <a:rPr lang="en-US" sz="1800" b="1" dirty="0">
                <a:solidFill>
                  <a:srgbClr val="726056"/>
                </a:solidFill>
                <a:latin typeface="Courier New"/>
                <a:cs typeface="Courier New"/>
              </a:rPr>
              <a:t>l</a:t>
            </a:r>
            <a:r>
              <a:rPr lang="en-US" sz="1800" b="1" dirty="0">
                <a:latin typeface="Courier New"/>
                <a:cs typeface="Courier New"/>
              </a:rPr>
              <a:t>++) {</a:t>
            </a:r>
          </a:p>
          <a:p>
            <a:pPr marL="0" indent="0">
              <a:buNone/>
            </a:pPr>
            <a:r>
              <a:rPr lang="en-US" sz="1800" b="1" dirty="0">
                <a:latin typeface="Courier New"/>
                <a:cs typeface="Courier New"/>
              </a:rPr>
              <a:t>       </a:t>
            </a:r>
            <a:r>
              <a:rPr lang="en-US" sz="1800" b="1" dirty="0">
                <a:solidFill>
                  <a:srgbClr val="008000"/>
                </a:solidFill>
                <a:latin typeface="Courier New"/>
                <a:cs typeface="Courier New"/>
              </a:rPr>
              <a:t>// </a:t>
            </a:r>
            <a:r>
              <a:rPr lang="en-US" sz="1800" b="1" dirty="0" err="1">
                <a:solidFill>
                  <a:srgbClr val="008000"/>
                </a:solidFill>
                <a:latin typeface="Courier New"/>
                <a:cs typeface="Courier New"/>
              </a:rPr>
              <a:t>nb</a:t>
            </a:r>
            <a:r>
              <a:rPr lang="en-US" sz="1800" b="1" dirty="0">
                <a:solidFill>
                  <a:srgbClr val="008000"/>
                </a:solidFill>
                <a:latin typeface="Courier New"/>
                <a:cs typeface="Courier New"/>
              </a:rPr>
              <a:t> l is the letter, 1 is the number</a:t>
            </a:r>
          </a:p>
          <a:p>
            <a:pPr marL="0" indent="0">
              <a:buNone/>
            </a:pPr>
            <a:r>
              <a:rPr lang="mr-IN" sz="1800" b="1" dirty="0">
                <a:latin typeface="Courier New"/>
                <a:cs typeface="Courier New"/>
              </a:rPr>
              <a:t>	</a:t>
            </a:r>
            <a:r>
              <a:rPr lang="en-GB" sz="1800" b="1" dirty="0">
                <a:latin typeface="Courier New"/>
                <a:cs typeface="Courier New"/>
              </a:rPr>
              <a:t>   </a:t>
            </a:r>
            <a:r>
              <a:rPr lang="mr-IN" sz="1800" b="1" dirty="0">
                <a:solidFill>
                  <a:srgbClr val="660066"/>
                </a:solidFill>
                <a:latin typeface="Courier New"/>
                <a:cs typeface="Courier New"/>
              </a:rPr>
              <a:t>int</a:t>
            </a:r>
            <a:r>
              <a:rPr lang="mr-IN" sz="1800" b="1" dirty="0">
                <a:latin typeface="Courier New"/>
                <a:cs typeface="Courier New"/>
              </a:rPr>
              <a:t> </a:t>
            </a:r>
            <a:r>
              <a:rPr lang="mr-IN" sz="1800" b="1" dirty="0">
                <a:solidFill>
                  <a:srgbClr val="726056"/>
                </a:solidFill>
                <a:latin typeface="Courier New"/>
                <a:cs typeface="Courier New"/>
              </a:rPr>
              <a:t>p</a:t>
            </a:r>
            <a:r>
              <a:rPr lang="mr-IN" sz="1800" b="1" dirty="0">
                <a:latin typeface="Courier New"/>
                <a:cs typeface="Courier New"/>
              </a:rPr>
              <a:t> = l;</a:t>
            </a:r>
          </a:p>
          <a:p>
            <a:pPr marL="0" indent="0">
              <a:buNone/>
            </a:pPr>
            <a:r>
              <a:rPr lang="en-US" sz="1800" b="1" dirty="0">
                <a:latin typeface="Courier New"/>
                <a:cs typeface="Courier New"/>
              </a:rPr>
              <a:t>	   E </a:t>
            </a:r>
            <a:r>
              <a:rPr lang="en-US" sz="1800" b="1" dirty="0">
                <a:solidFill>
                  <a:srgbClr val="726056"/>
                </a:solidFill>
                <a:latin typeface="Courier New"/>
                <a:cs typeface="Courier New"/>
              </a:rPr>
              <a:t>least</a:t>
            </a:r>
            <a:r>
              <a:rPr lang="en-US" sz="1800" b="1" dirty="0">
                <a:latin typeface="Courier New"/>
                <a:cs typeface="Courier New"/>
              </a:rPr>
              <a:t> = </a:t>
            </a:r>
            <a:r>
              <a:rPr lang="en-US" sz="1800" b="1" dirty="0">
                <a:solidFill>
                  <a:srgbClr val="726056"/>
                </a:solidFill>
                <a:latin typeface="Courier New"/>
                <a:cs typeface="Courier New"/>
              </a:rPr>
              <a:t>a</a:t>
            </a:r>
            <a:r>
              <a:rPr lang="en-US" sz="1800" b="1" dirty="0">
                <a:latin typeface="Courier New"/>
                <a:cs typeface="Courier New"/>
              </a:rPr>
              <a:t>[</a:t>
            </a:r>
            <a:r>
              <a:rPr lang="en-US" sz="1800" b="1" dirty="0">
                <a:solidFill>
                  <a:srgbClr val="726056"/>
                </a:solidFill>
                <a:latin typeface="Courier New"/>
                <a:cs typeface="Courier New"/>
              </a:rPr>
              <a:t>p</a:t>
            </a:r>
            <a:r>
              <a:rPr lang="en-US" sz="1800" b="1" dirty="0">
                <a:latin typeface="Courier New"/>
                <a:cs typeface="Courier New"/>
              </a:rPr>
              <a:t>];</a:t>
            </a:r>
          </a:p>
          <a:p>
            <a:pPr marL="0" indent="0">
              <a:buNone/>
            </a:pPr>
            <a:r>
              <a:rPr lang="mr-IN" sz="1800" b="1" dirty="0">
                <a:latin typeface="Courier New"/>
                <a:cs typeface="Courier New"/>
              </a:rPr>
              <a:t>	</a:t>
            </a:r>
            <a:r>
              <a:rPr lang="en-GB" sz="1800" b="1" dirty="0">
                <a:latin typeface="Courier New"/>
                <a:cs typeface="Courier New"/>
              </a:rPr>
              <a:t>   </a:t>
            </a:r>
            <a:r>
              <a:rPr lang="mr-IN" sz="1800" b="1" dirty="0">
                <a:solidFill>
                  <a:srgbClr val="660066"/>
                </a:solidFill>
                <a:latin typeface="Courier New"/>
                <a:cs typeface="Courier New"/>
              </a:rPr>
              <a:t>for</a:t>
            </a:r>
            <a:r>
              <a:rPr lang="mr-IN" sz="1800" b="1" dirty="0">
                <a:latin typeface="Courier New"/>
                <a:cs typeface="Courier New"/>
              </a:rPr>
              <a:t> (</a:t>
            </a:r>
            <a:r>
              <a:rPr lang="mr-IN" sz="1800" b="1" dirty="0">
                <a:solidFill>
                  <a:srgbClr val="660066"/>
                </a:solidFill>
                <a:latin typeface="Courier New"/>
                <a:cs typeface="Courier New"/>
              </a:rPr>
              <a:t>int</a:t>
            </a:r>
            <a:r>
              <a:rPr lang="mr-IN" sz="1800" b="1" dirty="0">
                <a:latin typeface="Courier New"/>
                <a:cs typeface="Courier New"/>
              </a:rPr>
              <a:t> </a:t>
            </a:r>
            <a:r>
              <a:rPr lang="mr-IN" sz="1800" b="1" dirty="0">
                <a:solidFill>
                  <a:srgbClr val="726056"/>
                </a:solidFill>
                <a:latin typeface="Courier New"/>
                <a:cs typeface="Courier New"/>
              </a:rPr>
              <a:t>k</a:t>
            </a:r>
            <a:r>
              <a:rPr lang="mr-IN" sz="1800" b="1" dirty="0">
                <a:latin typeface="Courier New"/>
                <a:cs typeface="Courier New"/>
              </a:rPr>
              <a:t> = </a:t>
            </a:r>
            <a:r>
              <a:rPr lang="mr-IN" sz="1800" b="1" dirty="0">
                <a:solidFill>
                  <a:srgbClr val="726056"/>
                </a:solidFill>
                <a:latin typeface="Courier New"/>
                <a:cs typeface="Courier New"/>
              </a:rPr>
              <a:t>l</a:t>
            </a:r>
            <a:r>
              <a:rPr lang="mr-IN" sz="1800" b="1" dirty="0">
                <a:latin typeface="Courier New"/>
                <a:cs typeface="Courier New"/>
              </a:rPr>
              <a:t>+1; </a:t>
            </a:r>
            <a:r>
              <a:rPr lang="mr-IN" sz="1800" b="1" dirty="0">
                <a:solidFill>
                  <a:srgbClr val="726056"/>
                </a:solidFill>
                <a:latin typeface="Courier New"/>
                <a:cs typeface="Courier New"/>
              </a:rPr>
              <a:t>k</a:t>
            </a:r>
            <a:r>
              <a:rPr lang="mr-IN" sz="1800" b="1" dirty="0">
                <a:latin typeface="Courier New"/>
                <a:cs typeface="Courier New"/>
              </a:rPr>
              <a:t> &lt;= </a:t>
            </a:r>
            <a:r>
              <a:rPr lang="mr-IN" sz="1800" b="1" dirty="0">
                <a:solidFill>
                  <a:srgbClr val="726056"/>
                </a:solidFill>
                <a:latin typeface="Courier New"/>
                <a:cs typeface="Courier New"/>
              </a:rPr>
              <a:t>right</a:t>
            </a:r>
            <a:r>
              <a:rPr lang="mr-IN" sz="1800" b="1" dirty="0">
                <a:latin typeface="Courier New"/>
                <a:cs typeface="Courier New"/>
              </a:rPr>
              <a:t>; </a:t>
            </a:r>
            <a:r>
              <a:rPr lang="mr-IN" sz="1800" b="1" dirty="0">
                <a:solidFill>
                  <a:srgbClr val="726056"/>
                </a:solidFill>
                <a:latin typeface="Courier New"/>
                <a:cs typeface="Courier New"/>
              </a:rPr>
              <a:t>k</a:t>
            </a:r>
            <a:r>
              <a:rPr lang="mr-IN" sz="1800" b="1" dirty="0">
                <a:latin typeface="Courier New"/>
                <a:cs typeface="Courier New"/>
              </a:rPr>
              <a:t>++){</a:t>
            </a:r>
          </a:p>
          <a:p>
            <a:pPr marL="0" indent="0">
              <a:buNone/>
            </a:pPr>
            <a:r>
              <a:rPr lang="en-US" sz="1800" b="1" dirty="0">
                <a:latin typeface="Courier New"/>
                <a:cs typeface="Courier New"/>
              </a:rPr>
              <a:t>	      </a:t>
            </a:r>
            <a:r>
              <a:rPr lang="en-US" sz="1800" b="1" dirty="0" err="1">
                <a:solidFill>
                  <a:srgbClr val="660066"/>
                </a:solidFill>
                <a:latin typeface="Courier New"/>
                <a:cs typeface="Courier New"/>
              </a:rPr>
              <a:t>int</a:t>
            </a:r>
            <a:r>
              <a:rPr lang="en-US" sz="1800" b="1" dirty="0">
                <a:latin typeface="Courier New"/>
                <a:cs typeface="Courier New"/>
              </a:rPr>
              <a:t> </a:t>
            </a:r>
            <a:r>
              <a:rPr lang="en-US" sz="1800" b="1" dirty="0">
                <a:solidFill>
                  <a:srgbClr val="726056"/>
                </a:solidFill>
                <a:latin typeface="Courier New"/>
                <a:cs typeface="Courier New"/>
              </a:rPr>
              <a:t>comp</a:t>
            </a:r>
            <a:r>
              <a:rPr lang="en-US" sz="1800" b="1" dirty="0">
                <a:latin typeface="Courier New"/>
                <a:cs typeface="Courier New"/>
              </a:rPr>
              <a:t> = </a:t>
            </a:r>
            <a:r>
              <a:rPr lang="en-US" sz="1800" b="1" dirty="0">
                <a:solidFill>
                  <a:srgbClr val="726056"/>
                </a:solidFill>
                <a:latin typeface="Courier New"/>
                <a:cs typeface="Courier New"/>
              </a:rPr>
              <a:t>a</a:t>
            </a:r>
            <a:r>
              <a:rPr lang="en-US" sz="1800" b="1" dirty="0">
                <a:latin typeface="Courier New"/>
                <a:cs typeface="Courier New"/>
              </a:rPr>
              <a:t>[</a:t>
            </a:r>
            <a:r>
              <a:rPr lang="en-US" sz="1800" b="1" dirty="0">
                <a:solidFill>
                  <a:srgbClr val="726056"/>
                </a:solidFill>
                <a:latin typeface="Courier New"/>
                <a:cs typeface="Courier New"/>
              </a:rPr>
              <a:t>k</a:t>
            </a:r>
            <a:r>
              <a:rPr lang="en-US" sz="1800" b="1" dirty="0">
                <a:latin typeface="Courier New"/>
                <a:cs typeface="Courier New"/>
              </a:rPr>
              <a:t>].</a:t>
            </a:r>
            <a:r>
              <a:rPr lang="en-US" sz="1800" b="1" dirty="0" err="1">
                <a:latin typeface="Courier New"/>
                <a:cs typeface="Courier New"/>
              </a:rPr>
              <a:t>compareTo</a:t>
            </a:r>
            <a:r>
              <a:rPr lang="en-US" sz="1800" b="1" dirty="0">
                <a:latin typeface="Courier New"/>
                <a:cs typeface="Courier New"/>
              </a:rPr>
              <a:t>(</a:t>
            </a:r>
            <a:r>
              <a:rPr lang="en-US" sz="1800" b="1" dirty="0">
                <a:solidFill>
                  <a:srgbClr val="726056"/>
                </a:solidFill>
                <a:latin typeface="Courier New"/>
                <a:cs typeface="Courier New"/>
              </a:rPr>
              <a:t>least</a:t>
            </a:r>
            <a:r>
              <a:rPr lang="en-US" sz="1800" b="1" dirty="0">
                <a:latin typeface="Courier New"/>
                <a:cs typeface="Courier New"/>
              </a:rPr>
              <a:t>);</a:t>
            </a:r>
          </a:p>
          <a:p>
            <a:pPr marL="0" indent="0">
              <a:buNone/>
            </a:pPr>
            <a:r>
              <a:rPr lang="en-US" sz="1800" b="1" dirty="0">
                <a:latin typeface="Courier New"/>
                <a:cs typeface="Courier New"/>
              </a:rPr>
              <a:t>	      </a:t>
            </a:r>
            <a:r>
              <a:rPr lang="en-US" sz="1800" b="1" dirty="0">
                <a:solidFill>
                  <a:srgbClr val="660066"/>
                </a:solidFill>
                <a:latin typeface="Courier New"/>
                <a:cs typeface="Courier New"/>
              </a:rPr>
              <a:t>if</a:t>
            </a:r>
            <a:r>
              <a:rPr lang="en-US" sz="1800" b="1" dirty="0">
                <a:latin typeface="Courier New"/>
                <a:cs typeface="Courier New"/>
              </a:rPr>
              <a:t> (</a:t>
            </a:r>
            <a:r>
              <a:rPr lang="en-US" sz="1800" b="1" dirty="0">
                <a:solidFill>
                  <a:srgbClr val="726056"/>
                </a:solidFill>
                <a:latin typeface="Courier New"/>
                <a:cs typeface="Courier New"/>
              </a:rPr>
              <a:t>comp</a:t>
            </a:r>
            <a:r>
              <a:rPr lang="en-US" sz="1800" b="1" dirty="0">
                <a:latin typeface="Courier New"/>
                <a:cs typeface="Courier New"/>
              </a:rPr>
              <a:t> &lt; 0) {</a:t>
            </a:r>
            <a:r>
              <a:rPr lang="en-US" sz="1800" b="1" dirty="0">
                <a:solidFill>
                  <a:srgbClr val="726056"/>
                </a:solidFill>
                <a:latin typeface="Courier New"/>
                <a:cs typeface="Courier New"/>
              </a:rPr>
              <a:t>p</a:t>
            </a:r>
            <a:r>
              <a:rPr lang="en-US" sz="1800" b="1" dirty="0">
                <a:latin typeface="Courier New"/>
                <a:cs typeface="Courier New"/>
              </a:rPr>
              <a:t> = </a:t>
            </a:r>
            <a:r>
              <a:rPr lang="en-US" sz="1800" b="1" dirty="0">
                <a:solidFill>
                  <a:srgbClr val="726056"/>
                </a:solidFill>
                <a:latin typeface="Courier New"/>
                <a:cs typeface="Courier New"/>
              </a:rPr>
              <a:t>k</a:t>
            </a:r>
            <a:r>
              <a:rPr lang="en-US" sz="1800" b="1" dirty="0">
                <a:latin typeface="Courier New"/>
                <a:cs typeface="Courier New"/>
              </a:rPr>
              <a:t>; </a:t>
            </a:r>
            <a:r>
              <a:rPr lang="en-US" sz="1800" b="1" dirty="0">
                <a:solidFill>
                  <a:srgbClr val="726056"/>
                </a:solidFill>
                <a:latin typeface="Courier New"/>
                <a:cs typeface="Courier New"/>
              </a:rPr>
              <a:t>least</a:t>
            </a:r>
            <a:r>
              <a:rPr lang="en-US" sz="1800" b="1" dirty="0">
                <a:latin typeface="Courier New"/>
                <a:cs typeface="Courier New"/>
              </a:rPr>
              <a:t> = </a:t>
            </a:r>
            <a:r>
              <a:rPr lang="en-US" sz="1800" b="1" dirty="0">
                <a:solidFill>
                  <a:srgbClr val="726056"/>
                </a:solidFill>
                <a:latin typeface="Courier New"/>
                <a:cs typeface="Courier New"/>
              </a:rPr>
              <a:t>a</a:t>
            </a:r>
            <a:r>
              <a:rPr lang="en-US" sz="1800" b="1" dirty="0">
                <a:latin typeface="Courier New"/>
                <a:cs typeface="Courier New"/>
              </a:rPr>
              <a:t>[</a:t>
            </a:r>
            <a:r>
              <a:rPr lang="en-US" sz="1800" b="1" dirty="0">
                <a:solidFill>
                  <a:srgbClr val="726056"/>
                </a:solidFill>
                <a:latin typeface="Courier New"/>
                <a:cs typeface="Courier New"/>
              </a:rPr>
              <a:t>p</a:t>
            </a:r>
            <a:r>
              <a:rPr lang="en-US" sz="1800" b="1" dirty="0">
                <a:latin typeface="Courier New"/>
                <a:cs typeface="Courier New"/>
              </a:rPr>
              <a:t>];</a:t>
            </a:r>
          </a:p>
          <a:p>
            <a:pPr marL="0" indent="0">
              <a:buNone/>
            </a:pPr>
            <a:r>
              <a:rPr lang="en-US" sz="1800" b="1" dirty="0">
                <a:latin typeface="Courier New"/>
                <a:cs typeface="Courier New"/>
              </a:rPr>
              <a:t>	   }</a:t>
            </a:r>
          </a:p>
          <a:p>
            <a:pPr marL="0" indent="0">
              <a:buNone/>
            </a:pPr>
            <a:r>
              <a:rPr lang="mr-IN" sz="1800" b="1" dirty="0">
                <a:latin typeface="Courier New"/>
                <a:cs typeface="Courier New"/>
              </a:rPr>
              <a:t>	</a:t>
            </a:r>
            <a:r>
              <a:rPr lang="en-GB" sz="1800" b="1" dirty="0">
                <a:latin typeface="Courier New"/>
                <a:cs typeface="Courier New"/>
              </a:rPr>
              <a:t>   </a:t>
            </a:r>
            <a:r>
              <a:rPr lang="mr-IN" sz="1800" b="1" dirty="0">
                <a:solidFill>
                  <a:srgbClr val="660066"/>
                </a:solidFill>
                <a:latin typeface="Courier New"/>
                <a:cs typeface="Courier New"/>
              </a:rPr>
              <a:t>if</a:t>
            </a:r>
            <a:r>
              <a:rPr lang="mr-IN" sz="1800" b="1" dirty="0">
                <a:latin typeface="Courier New"/>
                <a:cs typeface="Courier New"/>
              </a:rPr>
              <a:t> (</a:t>
            </a:r>
            <a:r>
              <a:rPr lang="mr-IN" sz="1800" b="1" dirty="0">
                <a:solidFill>
                  <a:srgbClr val="726056"/>
                </a:solidFill>
                <a:latin typeface="Courier New"/>
                <a:cs typeface="Courier New"/>
              </a:rPr>
              <a:t>p</a:t>
            </a:r>
            <a:r>
              <a:rPr lang="mr-IN" sz="1800" b="1" dirty="0">
                <a:latin typeface="Courier New"/>
                <a:cs typeface="Courier New"/>
              </a:rPr>
              <a:t> != l) { </a:t>
            </a:r>
            <a:r>
              <a:rPr lang="mr-IN" sz="1800" b="1" dirty="0">
                <a:solidFill>
                  <a:srgbClr val="726056"/>
                </a:solidFill>
                <a:latin typeface="Courier New"/>
                <a:cs typeface="Courier New"/>
              </a:rPr>
              <a:t>a</a:t>
            </a:r>
            <a:r>
              <a:rPr lang="mr-IN" sz="1800" b="1" dirty="0">
                <a:latin typeface="Courier New"/>
                <a:cs typeface="Courier New"/>
              </a:rPr>
              <a:t>[</a:t>
            </a:r>
            <a:r>
              <a:rPr lang="mr-IN" sz="1800" b="1" dirty="0">
                <a:solidFill>
                  <a:srgbClr val="726056"/>
                </a:solidFill>
                <a:latin typeface="Courier New"/>
                <a:cs typeface="Courier New"/>
              </a:rPr>
              <a:t>p</a:t>
            </a:r>
            <a:r>
              <a:rPr lang="mr-IN" sz="1800" b="1" dirty="0">
                <a:latin typeface="Courier New"/>
                <a:cs typeface="Courier New"/>
              </a:rPr>
              <a:t>] = </a:t>
            </a:r>
            <a:r>
              <a:rPr lang="mr-IN" sz="1800" b="1" dirty="0">
                <a:solidFill>
                  <a:srgbClr val="726056"/>
                </a:solidFill>
                <a:latin typeface="Courier New"/>
                <a:cs typeface="Courier New"/>
              </a:rPr>
              <a:t>a</a:t>
            </a:r>
            <a:r>
              <a:rPr lang="mr-IN" sz="1800" b="1" dirty="0">
                <a:latin typeface="Courier New"/>
                <a:cs typeface="Courier New"/>
              </a:rPr>
              <a:t>[</a:t>
            </a:r>
            <a:r>
              <a:rPr lang="mr-IN" sz="1800" b="1" dirty="0">
                <a:solidFill>
                  <a:srgbClr val="726056"/>
                </a:solidFill>
                <a:latin typeface="Courier New"/>
                <a:cs typeface="Courier New"/>
              </a:rPr>
              <a:t>l</a:t>
            </a:r>
            <a:r>
              <a:rPr lang="mr-IN" sz="1800" b="1" dirty="0">
                <a:latin typeface="Courier New"/>
                <a:cs typeface="Courier New"/>
              </a:rPr>
              <a:t>]; </a:t>
            </a:r>
            <a:r>
              <a:rPr lang="mr-IN" sz="1800" b="1" dirty="0">
                <a:solidFill>
                  <a:srgbClr val="726056"/>
                </a:solidFill>
                <a:latin typeface="Courier New"/>
                <a:cs typeface="Courier New"/>
              </a:rPr>
              <a:t>a</a:t>
            </a:r>
            <a:r>
              <a:rPr lang="mr-IN" sz="1800" b="1" dirty="0">
                <a:latin typeface="Courier New"/>
                <a:cs typeface="Courier New"/>
              </a:rPr>
              <a:t>[</a:t>
            </a:r>
            <a:r>
              <a:rPr lang="mr-IN" sz="1800" b="1" dirty="0">
                <a:solidFill>
                  <a:srgbClr val="726056"/>
                </a:solidFill>
                <a:latin typeface="Courier New"/>
                <a:cs typeface="Courier New"/>
              </a:rPr>
              <a:t>l</a:t>
            </a:r>
            <a:r>
              <a:rPr lang="mr-IN" sz="1800" b="1" dirty="0">
                <a:latin typeface="Courier New"/>
                <a:cs typeface="Courier New"/>
              </a:rPr>
              <a:t>] = </a:t>
            </a:r>
            <a:r>
              <a:rPr lang="mr-IN" sz="1800" b="1" dirty="0">
                <a:solidFill>
                  <a:srgbClr val="726056"/>
                </a:solidFill>
                <a:latin typeface="Courier New"/>
                <a:cs typeface="Courier New"/>
              </a:rPr>
              <a:t>leas</a:t>
            </a:r>
            <a:r>
              <a:rPr lang="mr-IN" sz="1800" b="1" dirty="0">
                <a:latin typeface="Courier New"/>
                <a:cs typeface="Courier New"/>
              </a:rPr>
              <a:t>t; }</a:t>
            </a:r>
          </a:p>
          <a:p>
            <a:pPr marL="0" indent="0">
              <a:buNone/>
            </a:pPr>
            <a:r>
              <a:rPr lang="mr-IN" sz="1800" b="1" dirty="0">
                <a:latin typeface="Courier New"/>
                <a:cs typeface="Courier New"/>
              </a:rPr>
              <a:t>			</a:t>
            </a:r>
          </a:p>
          <a:p>
            <a:pPr marL="0" indent="0">
              <a:buNone/>
            </a:pPr>
            <a:r>
              <a:rPr lang="mr-IN" sz="1800" b="1" dirty="0">
                <a:latin typeface="Courier New"/>
                <a:cs typeface="Courier New"/>
              </a:rPr>
              <a:t>	}</a:t>
            </a:r>
          </a:p>
          <a:p>
            <a:pPr marL="0" indent="0">
              <a:buNone/>
            </a:pPr>
            <a:r>
              <a:rPr lang="mr-IN" sz="1800" b="1" dirty="0">
                <a:latin typeface="Courier New"/>
                <a:cs typeface="Courier New"/>
              </a:rPr>
              <a:t>}</a:t>
            </a:r>
            <a:endParaRPr lang="en-US" altLang="en-US" sz="1800" b="1" dirty="0">
              <a:latin typeface="Courier New"/>
              <a:cs typeface="Courier New"/>
            </a:endParaRPr>
          </a:p>
          <a:p>
            <a:pPr marL="0" indent="0">
              <a:lnSpc>
                <a:spcPct val="80000"/>
              </a:lnSpc>
              <a:buNone/>
              <a:tabLst>
                <a:tab pos="723900" algn="l"/>
                <a:tab pos="1079500" algn="l"/>
                <a:tab pos="1435100" algn="l"/>
                <a:tab pos="1790700" algn="l"/>
                <a:tab pos="2159000" algn="l"/>
              </a:tabLst>
            </a:pPr>
            <a:r>
              <a:rPr lang="en-US" altLang="en-US" sz="1800" b="1" dirty="0">
                <a:latin typeface="Courier New"/>
                <a:cs typeface="Courier New"/>
              </a:rPr>
              <a:t>	</a:t>
            </a:r>
          </a:p>
          <a:p>
            <a:pPr marL="0" indent="0">
              <a:lnSpc>
                <a:spcPct val="80000"/>
              </a:lnSpc>
              <a:buNone/>
              <a:tabLst>
                <a:tab pos="723900" algn="l"/>
                <a:tab pos="1079500" algn="l"/>
                <a:tab pos="1435100" algn="l"/>
                <a:tab pos="1790700" algn="l"/>
                <a:tab pos="2159000" algn="l"/>
              </a:tabLst>
            </a:pPr>
            <a:endParaRPr lang="en-US" altLang="en-US" sz="1800" b="1" dirty="0">
              <a:latin typeface="Courier New"/>
              <a:cs typeface="Courier New"/>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3905770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sz="3200" dirty="0">
                <a:cs typeface="Times New Roman" pitchFamily="18" charset="0"/>
              </a:rPr>
              <a:t>Aside: divide-and-conquer</a:t>
            </a:r>
            <a:endParaRPr lang="en-GB" altLang="en-US" sz="3200" dirty="0">
              <a:cs typeface="Times New Roman" pitchFamily="18" charset="0"/>
            </a:endParaRPr>
          </a:p>
        </p:txBody>
      </p:sp>
      <p:sp>
        <p:nvSpPr>
          <p:cNvPr id="43011" name="Rectangle 3"/>
          <p:cNvSpPr>
            <a:spLocks noGrp="1" noChangeArrowheads="1"/>
          </p:cNvSpPr>
          <p:nvPr>
            <p:ph idx="1"/>
          </p:nvPr>
        </p:nvSpPr>
        <p:spPr>
          <a:noFill/>
        </p:spPr>
        <p:txBody>
          <a:bodyPr/>
          <a:lstStyle/>
          <a:p>
            <a:pPr eaLnBrk="1" hangingPunct="1"/>
            <a:r>
              <a:rPr lang="en-US" altLang="en-US">
                <a:cs typeface="Times New Roman" pitchFamily="18" charset="0"/>
              </a:rPr>
              <a:t>The </a:t>
            </a:r>
            <a:r>
              <a:rPr lang="en-US" altLang="en-US" b="1">
                <a:cs typeface="Times New Roman" pitchFamily="18" charset="0"/>
              </a:rPr>
              <a:t>divide-and-conquer</a:t>
            </a:r>
            <a:r>
              <a:rPr lang="en-US" altLang="en-US">
                <a:cs typeface="Times New Roman" pitchFamily="18" charset="0"/>
              </a:rPr>
              <a:t> strategy is effective for solving many problems.</a:t>
            </a:r>
          </a:p>
          <a:p>
            <a:pPr eaLnBrk="1" hangingPunct="1"/>
            <a:r>
              <a:rPr lang="en-US" altLang="en-US">
                <a:cs typeface="Times New Roman" pitchFamily="18" charset="0"/>
              </a:rPr>
              <a:t>To solve a “hard” problem:</a:t>
            </a:r>
          </a:p>
          <a:p>
            <a:pPr lvl="1" eaLnBrk="1" hangingPunct="1"/>
            <a:r>
              <a:rPr lang="en-US" altLang="en-US">
                <a:cs typeface="Times New Roman" pitchFamily="18" charset="0"/>
              </a:rPr>
              <a:t>Break the problem down into two or more “easier” sub-problems.</a:t>
            </a:r>
          </a:p>
          <a:p>
            <a:pPr lvl="1" eaLnBrk="1" hangingPunct="1"/>
            <a:r>
              <a:rPr lang="en-US" altLang="en-US">
                <a:cs typeface="Times New Roman" pitchFamily="18" charset="0"/>
              </a:rPr>
              <a:t>Solve these sub-problems separately.</a:t>
            </a:r>
          </a:p>
          <a:p>
            <a:pPr lvl="1" eaLnBrk="1" hangingPunct="1"/>
            <a:r>
              <a:rPr lang="en-US" altLang="en-US">
                <a:cs typeface="Times New Roman" pitchFamily="18" charset="0"/>
              </a:rPr>
              <a:t>Combine their answers.</a:t>
            </a:r>
          </a:p>
          <a:p>
            <a:pPr eaLnBrk="1" hangingPunct="1"/>
            <a:r>
              <a:rPr lang="en-US" altLang="en-US">
                <a:cs typeface="Times New Roman" pitchFamily="18" charset="0"/>
              </a:rPr>
              <a:t>The divide-and-conquer strategy naturally suggests recursive algorithms.</a:t>
            </a:r>
          </a:p>
        </p:txBody>
      </p:sp>
      <p:sp>
        <p:nvSpPr>
          <p:cNvPr id="2" name="Slide Number Placeholder 1"/>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556133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US" altLang="en-US" sz="3200" dirty="0"/>
              <a:t>Merge-sort </a:t>
            </a:r>
            <a:r>
              <a:rPr lang="en-US" altLang="en-US" sz="3200" i="1" dirty="0"/>
              <a:t>(1)</a:t>
            </a:r>
            <a:endParaRPr lang="en-GB" altLang="en-US" sz="3200" dirty="0"/>
          </a:p>
        </p:txBody>
      </p:sp>
      <p:sp>
        <p:nvSpPr>
          <p:cNvPr id="44035" name="Rectangle 3"/>
          <p:cNvSpPr>
            <a:spLocks noGrp="1" noChangeArrowheads="1"/>
          </p:cNvSpPr>
          <p:nvPr>
            <p:ph idx="1"/>
          </p:nvPr>
        </p:nvSpPr>
        <p:spPr>
          <a:noFill/>
        </p:spPr>
        <p:txBody>
          <a:bodyPr/>
          <a:lstStyle/>
          <a:p>
            <a:pPr eaLnBrk="1" hangingPunct="1"/>
            <a:r>
              <a:rPr lang="en-US" altLang="en-US">
                <a:cs typeface="Times New Roman" pitchFamily="18" charset="0"/>
              </a:rPr>
              <a:t>Idea for sorting an array:</a:t>
            </a:r>
          </a:p>
          <a:p>
            <a:pPr lvl="1" eaLnBrk="1" hangingPunct="1"/>
            <a:r>
              <a:rPr lang="en-US" altLang="en-US">
                <a:cs typeface="Times New Roman" pitchFamily="18" charset="0"/>
              </a:rPr>
              <a:t>Divide the array into two subarrays of about equal length.</a:t>
            </a:r>
          </a:p>
          <a:p>
            <a:pPr lvl="1" eaLnBrk="1" hangingPunct="1"/>
            <a:r>
              <a:rPr lang="en-US" altLang="en-US">
                <a:cs typeface="Times New Roman" pitchFamily="18" charset="0"/>
              </a:rPr>
              <a:t>Sort the subarrays separately.</a:t>
            </a:r>
          </a:p>
          <a:p>
            <a:pPr lvl="1" eaLnBrk="1" hangingPunct="1"/>
            <a:r>
              <a:rPr lang="en-US" altLang="en-US">
                <a:cs typeface="Times New Roman" pitchFamily="18" charset="0"/>
              </a:rPr>
              <a:t>Merge the sorted subarrays.</a:t>
            </a:r>
          </a:p>
          <a:p>
            <a:pPr eaLnBrk="1" hangingPunct="1"/>
            <a:r>
              <a:rPr lang="en-US" altLang="en-US">
                <a:cs typeface="Times New Roman" pitchFamily="18" charset="0"/>
              </a:rPr>
              <a:t>This is an application of the divide-and-conquer strategy.</a:t>
            </a:r>
          </a:p>
        </p:txBody>
      </p:sp>
      <p:sp>
        <p:nvSpPr>
          <p:cNvPr id="2" name="Slide Number Placeholder 1"/>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36286873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altLang="en-US" sz="3200" dirty="0"/>
              <a:t>Merge-sort </a:t>
            </a:r>
            <a:r>
              <a:rPr lang="en-US" altLang="en-US" sz="3200" i="1" dirty="0"/>
              <a:t>(2)</a:t>
            </a:r>
            <a:endParaRPr lang="en-GB" altLang="en-US" sz="3200" dirty="0"/>
          </a:p>
        </p:txBody>
      </p:sp>
      <p:sp>
        <p:nvSpPr>
          <p:cNvPr id="45059" name="Rectangle 3"/>
          <p:cNvSpPr>
            <a:spLocks noGrp="1" noChangeArrowheads="1"/>
          </p:cNvSpPr>
          <p:nvPr>
            <p:ph idx="1"/>
          </p:nvPr>
        </p:nvSpPr>
        <p:spPr>
          <a:noFill/>
        </p:spPr>
        <p:txBody>
          <a:bodyPr/>
          <a:lstStyle/>
          <a:p>
            <a:pPr eaLnBrk="1" hangingPunct="1">
              <a:tabLst>
                <a:tab pos="723900" algn="l"/>
                <a:tab pos="1257300" algn="l"/>
              </a:tabLst>
            </a:pPr>
            <a:r>
              <a:rPr lang="en-US" altLang="en-US" b="1" dirty="0">
                <a:cs typeface="Times New Roman" pitchFamily="18" charset="0"/>
              </a:rPr>
              <a:t>Merge-sort algorithm</a:t>
            </a:r>
            <a:r>
              <a:rPr lang="en-US" altLang="en-US" dirty="0">
                <a:cs typeface="Times New Roman" pitchFamily="18" charset="0"/>
              </a:rPr>
              <a:t>:</a:t>
            </a:r>
          </a:p>
          <a:p>
            <a:pPr eaLnBrk="1" hangingPunct="1">
              <a:buClr>
                <a:schemeClr val="tx1"/>
              </a:buClr>
              <a:buFont typeface="Wingdings" pitchFamily="2" charset="2"/>
              <a:buNone/>
              <a:tabLst>
                <a:tab pos="723900" algn="l"/>
                <a:tab pos="1257300" algn="l"/>
              </a:tabLst>
            </a:pPr>
            <a:r>
              <a:rPr lang="en-US" altLang="en-US" sz="2000" dirty="0">
                <a:latin typeface="Times New Roman" pitchFamily="18" charset="0"/>
                <a:cs typeface="Times New Roman" pitchFamily="18" charset="0"/>
              </a:rPr>
              <a:t>	To sort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left</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right</a:t>
            </a:r>
            <a:r>
              <a:rPr lang="en-US" altLang="en-US" sz="2000" dirty="0">
                <a:latin typeface="Times New Roman" pitchFamily="18" charset="0"/>
                <a:cs typeface="Times New Roman" pitchFamily="18" charset="0"/>
              </a:rPr>
              <a:t>] into ascending order:</a:t>
            </a:r>
          </a:p>
          <a:p>
            <a:pPr eaLnBrk="1" hangingPunct="1">
              <a:spcBef>
                <a:spcPts val="900"/>
              </a:spcBef>
              <a:buClr>
                <a:schemeClr val="tx1"/>
              </a:buClr>
              <a:buFont typeface="Wingdings" pitchFamily="2" charset="2"/>
              <a:buNone/>
              <a:tabLst>
                <a:tab pos="723900" algn="l"/>
                <a:tab pos="1257300" algn="l"/>
              </a:tabLst>
            </a:pPr>
            <a:r>
              <a:rPr lang="en-US" altLang="en-US" sz="2000" dirty="0">
                <a:latin typeface="Times New Roman" pitchFamily="18" charset="0"/>
                <a:cs typeface="Times New Roman" pitchFamily="18" charset="0"/>
              </a:rPr>
              <a:t>	1.	If </a:t>
            </a:r>
            <a:r>
              <a:rPr lang="en-US" altLang="en-US" sz="2000" i="1" dirty="0">
                <a:latin typeface="Times New Roman" pitchFamily="18" charset="0"/>
                <a:cs typeface="Times New Roman" pitchFamily="18" charset="0"/>
              </a:rPr>
              <a:t>left </a:t>
            </a:r>
            <a:r>
              <a:rPr lang="en-US" altLang="en-US" sz="2000" dirty="0">
                <a:latin typeface="Times New Roman" pitchFamily="18" charset="0"/>
                <a:cs typeface="Times New Roman" pitchFamily="18" charset="0"/>
              </a:rPr>
              <a:t>&lt; </a:t>
            </a:r>
            <a:r>
              <a:rPr lang="en-US" altLang="en-US" sz="2000" i="1" dirty="0">
                <a:latin typeface="Times New Roman" pitchFamily="18" charset="0"/>
                <a:cs typeface="Times New Roman" pitchFamily="18" charset="0"/>
              </a:rPr>
              <a:t>right</a:t>
            </a:r>
            <a:r>
              <a:rPr lang="en-US" altLang="en-US" sz="2000" dirty="0">
                <a:latin typeface="Times New Roman" pitchFamily="18" charset="0"/>
                <a:cs typeface="Times New Roman" pitchFamily="18" charset="0"/>
              </a:rPr>
              <a:t>:</a:t>
            </a:r>
            <a:br>
              <a:rPr lang="en-US" altLang="en-US" sz="2000" dirty="0">
                <a:latin typeface="Times New Roman" pitchFamily="18" charset="0"/>
                <a:cs typeface="Times New Roman" pitchFamily="18" charset="0"/>
              </a:rPr>
            </a:br>
            <a:r>
              <a:rPr lang="en-US" altLang="en-US" sz="2000" dirty="0">
                <a:latin typeface="Times New Roman" pitchFamily="18" charset="0"/>
                <a:cs typeface="Times New Roman" pitchFamily="18" charset="0"/>
              </a:rPr>
              <a:t>	1.1.	Let </a:t>
            </a:r>
            <a:r>
              <a:rPr lang="en-US" altLang="en-US" sz="2000" i="1" dirty="0">
                <a:latin typeface="Times New Roman" pitchFamily="18" charset="0"/>
                <a:cs typeface="Times New Roman" pitchFamily="18" charset="0"/>
              </a:rPr>
              <a:t>m</a:t>
            </a:r>
            <a:r>
              <a:rPr lang="en-US" altLang="en-US" sz="2000" dirty="0">
                <a:latin typeface="Times New Roman" pitchFamily="18" charset="0"/>
                <a:cs typeface="Times New Roman" pitchFamily="18" charset="0"/>
              </a:rPr>
              <a:t> be an integer about midway between </a:t>
            </a:r>
            <a:r>
              <a:rPr lang="en-US" altLang="en-US" sz="2000" i="1" dirty="0">
                <a:latin typeface="Times New Roman" pitchFamily="18" charset="0"/>
                <a:cs typeface="Times New Roman" pitchFamily="18" charset="0"/>
              </a:rPr>
              <a:t>left</a:t>
            </a:r>
            <a:r>
              <a:rPr lang="en-US" altLang="en-US" sz="2000" dirty="0">
                <a:latin typeface="Times New Roman" pitchFamily="18" charset="0"/>
                <a:cs typeface="Times New Roman" pitchFamily="18" charset="0"/>
              </a:rPr>
              <a:t> and </a:t>
            </a:r>
            <a:br>
              <a:rPr lang="en-US" altLang="en-US" sz="2000" dirty="0">
                <a:latin typeface="Times New Roman" pitchFamily="18" charset="0"/>
                <a:cs typeface="Times New Roman" pitchFamily="18" charset="0"/>
              </a:rPr>
            </a:br>
            <a:r>
              <a:rPr lang="en-US" altLang="en-US" sz="2000" dirty="0">
                <a:latin typeface="Times New Roman" pitchFamily="18" charset="0"/>
                <a:cs typeface="Times New Roman" pitchFamily="18" charset="0"/>
              </a:rPr>
              <a:t>		</a:t>
            </a:r>
            <a:r>
              <a:rPr lang="en-US" altLang="en-US" sz="2000" i="1" dirty="0">
                <a:latin typeface="Times New Roman" pitchFamily="18" charset="0"/>
                <a:cs typeface="Times New Roman" pitchFamily="18" charset="0"/>
              </a:rPr>
              <a:t>right</a:t>
            </a:r>
            <a:r>
              <a:rPr lang="en-US" altLang="en-US" sz="2000" dirty="0">
                <a:latin typeface="Times New Roman" pitchFamily="18" charset="0"/>
                <a:cs typeface="Times New Roman" pitchFamily="18" charset="0"/>
              </a:rPr>
              <a:t>.</a:t>
            </a:r>
            <a:br>
              <a:rPr lang="en-US" altLang="en-US" sz="2000" dirty="0">
                <a:latin typeface="Times New Roman" pitchFamily="18" charset="0"/>
                <a:cs typeface="Times New Roman" pitchFamily="18" charset="0"/>
              </a:rPr>
            </a:br>
            <a:r>
              <a:rPr lang="en-US" altLang="en-US" sz="2000" dirty="0">
                <a:latin typeface="Times New Roman" pitchFamily="18" charset="0"/>
                <a:cs typeface="Times New Roman" pitchFamily="18" charset="0"/>
              </a:rPr>
              <a:t>	1.2.	Sort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left</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m</a:t>
            </a:r>
            <a:r>
              <a:rPr lang="en-US" altLang="en-US" sz="2000" dirty="0">
                <a:latin typeface="Times New Roman" pitchFamily="18" charset="0"/>
                <a:cs typeface="Times New Roman" pitchFamily="18" charset="0"/>
              </a:rPr>
              <a:t>] into ascending order.</a:t>
            </a:r>
            <a:br>
              <a:rPr lang="en-US" altLang="en-US" sz="2000" dirty="0">
                <a:latin typeface="Times New Roman" pitchFamily="18" charset="0"/>
                <a:cs typeface="Times New Roman" pitchFamily="18" charset="0"/>
              </a:rPr>
            </a:br>
            <a:r>
              <a:rPr lang="en-US" altLang="en-US" sz="2000" dirty="0">
                <a:latin typeface="Times New Roman" pitchFamily="18" charset="0"/>
                <a:cs typeface="Times New Roman" pitchFamily="18" charset="0"/>
              </a:rPr>
              <a:t>	1.3.	Sort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m</a:t>
            </a:r>
            <a:r>
              <a:rPr lang="en-US" altLang="en-US" sz="2000" dirty="0">
                <a:latin typeface="Times New Roman" pitchFamily="18" charset="0"/>
                <a:cs typeface="Times New Roman" pitchFamily="18" charset="0"/>
              </a:rPr>
              <a:t>+1…</a:t>
            </a:r>
            <a:r>
              <a:rPr lang="en-US" altLang="en-US" sz="2000" i="1" dirty="0">
                <a:latin typeface="Times New Roman" pitchFamily="18" charset="0"/>
                <a:cs typeface="Times New Roman" pitchFamily="18" charset="0"/>
              </a:rPr>
              <a:t>right</a:t>
            </a:r>
            <a:r>
              <a:rPr lang="en-US" altLang="en-US" sz="2000" dirty="0">
                <a:latin typeface="Times New Roman" pitchFamily="18" charset="0"/>
                <a:cs typeface="Times New Roman" pitchFamily="18" charset="0"/>
              </a:rPr>
              <a:t>] into ascending order.</a:t>
            </a:r>
            <a:br>
              <a:rPr lang="en-US" altLang="en-US" sz="2000" dirty="0">
                <a:latin typeface="Times New Roman" pitchFamily="18" charset="0"/>
                <a:cs typeface="Times New Roman" pitchFamily="18" charset="0"/>
              </a:rPr>
            </a:br>
            <a:r>
              <a:rPr lang="en-US" altLang="en-US" sz="2000" dirty="0">
                <a:latin typeface="Times New Roman" pitchFamily="18" charset="0"/>
                <a:cs typeface="Times New Roman" pitchFamily="18" charset="0"/>
              </a:rPr>
              <a:t>	1.4.	Merge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left</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m</a:t>
            </a:r>
            <a:r>
              <a:rPr lang="en-US" altLang="en-US" sz="2000" dirty="0">
                <a:latin typeface="Times New Roman" pitchFamily="18" charset="0"/>
                <a:cs typeface="Times New Roman" pitchFamily="18" charset="0"/>
              </a:rPr>
              <a:t>] and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m</a:t>
            </a:r>
            <a:r>
              <a:rPr lang="en-US" altLang="en-US" sz="2000" dirty="0">
                <a:latin typeface="Times New Roman" pitchFamily="18" charset="0"/>
                <a:cs typeface="Times New Roman" pitchFamily="18" charset="0"/>
              </a:rPr>
              <a:t>+1…</a:t>
            </a:r>
            <a:r>
              <a:rPr lang="en-US" altLang="en-US" sz="2000" i="1" dirty="0">
                <a:latin typeface="Times New Roman" pitchFamily="18" charset="0"/>
                <a:cs typeface="Times New Roman" pitchFamily="18" charset="0"/>
              </a:rPr>
              <a:t>right</a:t>
            </a:r>
            <a:r>
              <a:rPr lang="en-US" altLang="en-US" sz="2000" dirty="0">
                <a:latin typeface="Times New Roman" pitchFamily="18" charset="0"/>
                <a:cs typeface="Times New Roman" pitchFamily="18" charset="0"/>
              </a:rPr>
              <a:t>] into auxiliary </a:t>
            </a:r>
            <a:br>
              <a:rPr lang="en-US" altLang="en-US" sz="2000" dirty="0">
                <a:latin typeface="Times New Roman" pitchFamily="18" charset="0"/>
                <a:cs typeface="Times New Roman" pitchFamily="18" charset="0"/>
              </a:rPr>
            </a:br>
            <a:r>
              <a:rPr lang="en-US" altLang="en-US" sz="2000" dirty="0">
                <a:latin typeface="Times New Roman" pitchFamily="18" charset="0"/>
                <a:cs typeface="Times New Roman" pitchFamily="18" charset="0"/>
              </a:rPr>
              <a:t>		array </a:t>
            </a:r>
            <a:r>
              <a:rPr lang="en-US" altLang="en-US" sz="2000" i="1" dirty="0">
                <a:latin typeface="Times New Roman" pitchFamily="18" charset="0"/>
                <a:cs typeface="Times New Roman" pitchFamily="18" charset="0"/>
              </a:rPr>
              <a:t>b</a:t>
            </a:r>
            <a:r>
              <a:rPr lang="en-US" altLang="en-US" sz="2000" dirty="0">
                <a:latin typeface="Times New Roman" pitchFamily="18" charset="0"/>
                <a:cs typeface="Times New Roman" pitchFamily="18" charset="0"/>
              </a:rPr>
              <a:t>.</a:t>
            </a:r>
            <a:br>
              <a:rPr lang="en-US" altLang="en-US" sz="2000" dirty="0">
                <a:latin typeface="Times New Roman" pitchFamily="18" charset="0"/>
                <a:cs typeface="Times New Roman" pitchFamily="18" charset="0"/>
              </a:rPr>
            </a:br>
            <a:r>
              <a:rPr lang="en-US" altLang="en-US" sz="2000" dirty="0">
                <a:latin typeface="Times New Roman" pitchFamily="18" charset="0"/>
                <a:cs typeface="Times New Roman" pitchFamily="18" charset="0"/>
              </a:rPr>
              <a:t>	1.5.	Copy all elements of </a:t>
            </a:r>
            <a:r>
              <a:rPr lang="en-US" altLang="en-US" sz="2000" i="1" dirty="0">
                <a:latin typeface="Times New Roman" pitchFamily="18" charset="0"/>
                <a:cs typeface="Times New Roman" pitchFamily="18" charset="0"/>
              </a:rPr>
              <a:t>b</a:t>
            </a:r>
            <a:r>
              <a:rPr lang="en-US" altLang="en-US" sz="2000" dirty="0">
                <a:latin typeface="Times New Roman" pitchFamily="18" charset="0"/>
                <a:cs typeface="Times New Roman" pitchFamily="18" charset="0"/>
              </a:rPr>
              <a:t> into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left</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right</a:t>
            </a:r>
            <a:r>
              <a:rPr lang="en-US" altLang="en-US" sz="2000" dirty="0">
                <a:latin typeface="Times New Roman" pitchFamily="18" charset="0"/>
                <a:cs typeface="Times New Roman" pitchFamily="18" charset="0"/>
              </a:rPr>
              <a:t>].</a:t>
            </a:r>
            <a:br>
              <a:rPr lang="en-US" altLang="en-US" sz="2000" dirty="0">
                <a:latin typeface="Times New Roman" pitchFamily="18" charset="0"/>
                <a:cs typeface="Times New Roman" pitchFamily="18" charset="0"/>
              </a:rPr>
            </a:br>
            <a:r>
              <a:rPr lang="en-US" altLang="en-US" sz="2000" dirty="0">
                <a:latin typeface="Times New Roman" pitchFamily="18" charset="0"/>
                <a:cs typeface="Times New Roman" pitchFamily="18" charset="0"/>
              </a:rPr>
              <a:t>2.	Terminate.</a:t>
            </a:r>
          </a:p>
        </p:txBody>
      </p:sp>
      <p:sp>
        <p:nvSpPr>
          <p:cNvPr id="2" name="Slide Number Placeholder 1"/>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1481200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altLang="en-US" sz="3200" dirty="0"/>
              <a:t>Merge-sort </a:t>
            </a:r>
            <a:r>
              <a:rPr lang="en-US" altLang="en-US" sz="3200" i="1" dirty="0"/>
              <a:t>(3)</a:t>
            </a:r>
            <a:endParaRPr lang="en-GB" altLang="en-US" sz="3200" dirty="0"/>
          </a:p>
        </p:txBody>
      </p:sp>
      <p:sp>
        <p:nvSpPr>
          <p:cNvPr id="46083" name="Rectangle 3"/>
          <p:cNvSpPr>
            <a:spLocks noGrp="1" noChangeArrowheads="1"/>
          </p:cNvSpPr>
          <p:nvPr>
            <p:ph idx="1"/>
          </p:nvPr>
        </p:nvSpPr>
        <p:spPr>
          <a:xfrm>
            <a:off x="287700" y="1508125"/>
            <a:ext cx="7620000" cy="4800600"/>
          </a:xfrm>
          <a:noFill/>
        </p:spPr>
        <p:txBody>
          <a:bodyPr/>
          <a:lstStyle/>
          <a:p>
            <a:pPr eaLnBrk="1" hangingPunct="1"/>
            <a:r>
              <a:rPr lang="en-US" altLang="en-US" dirty="0">
                <a:cs typeface="Times New Roman" pitchFamily="18" charset="0"/>
              </a:rPr>
              <a:t>Animation (treating 1.2 and 1.3 as single steps):</a:t>
            </a:r>
          </a:p>
        </p:txBody>
      </p:sp>
      <p:grpSp>
        <p:nvGrpSpPr>
          <p:cNvPr id="2" name="Group 217"/>
          <p:cNvGrpSpPr>
            <a:grpSpLocks/>
          </p:cNvGrpSpPr>
          <p:nvPr/>
        </p:nvGrpSpPr>
        <p:grpSpPr bwMode="auto">
          <a:xfrm>
            <a:off x="300038" y="2193925"/>
            <a:ext cx="7772400" cy="4114800"/>
            <a:chOff x="567" y="731"/>
            <a:chExt cx="4896" cy="2592"/>
          </a:xfrm>
        </p:grpSpPr>
        <p:sp>
          <p:nvSpPr>
            <p:cNvPr id="46269" name="Rectangle 5"/>
            <p:cNvSpPr>
              <a:spLocks noChangeArrowheads="1"/>
            </p:cNvSpPr>
            <p:nvPr/>
          </p:nvSpPr>
          <p:spPr bwMode="auto">
            <a:xfrm>
              <a:off x="567" y="731"/>
              <a:ext cx="4896" cy="2592"/>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6270" name="Text Box 6"/>
            <p:cNvSpPr txBox="1">
              <a:spLocks noChangeArrowheads="1"/>
            </p:cNvSpPr>
            <p:nvPr/>
          </p:nvSpPr>
          <p:spPr bwMode="auto">
            <a:xfrm>
              <a:off x="615" y="769"/>
              <a:ext cx="4464" cy="1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cs typeface="Times New Roman" pitchFamily="18" charset="0"/>
                </a:rPr>
                <a:t>1.	If </a:t>
              </a:r>
              <a:r>
                <a:rPr lang="en-US" altLang="en-US" sz="2000" i="1">
                  <a:latin typeface="Times New Roman" pitchFamily="18" charset="0"/>
                  <a:cs typeface="Times New Roman" pitchFamily="18" charset="0"/>
                </a:rPr>
                <a:t>left </a:t>
              </a:r>
              <a:r>
                <a:rPr lang="en-US" altLang="en-US" sz="2000">
                  <a:latin typeface="Times New Roman" pitchFamily="18" charset="0"/>
                  <a:cs typeface="Times New Roman" pitchFamily="18" charset="0"/>
                </a:rPr>
                <a:t>&lt; </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1.1.	Let </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 be an integer about midway between </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 and </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1.2.	Sort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 into ascending order.</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1.3.	Sort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+1…</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 into ascending order.</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1.4.	Merge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 and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+1…</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 into auxiliary array </a:t>
              </a:r>
              <a:r>
                <a:rPr lang="en-US" altLang="en-US" sz="2000" i="1">
                  <a:latin typeface="Times New Roman" pitchFamily="18" charset="0"/>
                  <a:cs typeface="Times New Roman" pitchFamily="18" charset="0"/>
                </a:rPr>
                <a:t>b</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1.5.	Copy all elements of </a:t>
              </a:r>
              <a:r>
                <a:rPr lang="en-US" altLang="en-US" sz="2000" i="1">
                  <a:latin typeface="Times New Roman" pitchFamily="18" charset="0"/>
                  <a:cs typeface="Times New Roman" pitchFamily="18" charset="0"/>
                </a:rPr>
                <a:t>b</a:t>
              </a:r>
              <a:r>
                <a:rPr lang="en-US" altLang="en-US" sz="2000">
                  <a:latin typeface="Times New Roman" pitchFamily="18" charset="0"/>
                  <a:cs typeface="Times New Roman" pitchFamily="18" charset="0"/>
                </a:rPr>
                <a:t> into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2.	Terminate.</a:t>
              </a:r>
            </a:p>
          </p:txBody>
        </p:sp>
        <p:sp>
          <p:nvSpPr>
            <p:cNvPr id="46271" name="Text Box 7"/>
            <p:cNvSpPr txBox="1">
              <a:spLocks noChangeArrowheads="1"/>
            </p:cNvSpPr>
            <p:nvPr/>
          </p:nvSpPr>
          <p:spPr bwMode="auto">
            <a:xfrm>
              <a:off x="786" y="260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6272" name="Text Box 8"/>
            <p:cNvSpPr txBox="1">
              <a:spLocks noChangeArrowheads="1"/>
            </p:cNvSpPr>
            <p:nvPr/>
          </p:nvSpPr>
          <p:spPr bwMode="auto">
            <a:xfrm>
              <a:off x="642" y="2411"/>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6273" name="Text Box 9"/>
            <p:cNvSpPr txBox="1">
              <a:spLocks noChangeArrowheads="1"/>
            </p:cNvSpPr>
            <p:nvPr/>
          </p:nvSpPr>
          <p:spPr bwMode="auto">
            <a:xfrm>
              <a:off x="1360" y="2411"/>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6274" name="Text Box 10"/>
            <p:cNvSpPr txBox="1">
              <a:spLocks noChangeArrowheads="1"/>
            </p:cNvSpPr>
            <p:nvPr/>
          </p:nvSpPr>
          <p:spPr bwMode="auto">
            <a:xfrm>
              <a:off x="1788" y="2411"/>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6275" name="Text Box 11"/>
            <p:cNvSpPr txBox="1">
              <a:spLocks noChangeArrowheads="1"/>
            </p:cNvSpPr>
            <p:nvPr/>
          </p:nvSpPr>
          <p:spPr bwMode="auto">
            <a:xfrm>
              <a:off x="2220" y="2411"/>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6276" name="Text Box 12"/>
            <p:cNvSpPr txBox="1">
              <a:spLocks noChangeArrowheads="1"/>
            </p:cNvSpPr>
            <p:nvPr/>
          </p:nvSpPr>
          <p:spPr bwMode="auto">
            <a:xfrm>
              <a:off x="2652" y="2411"/>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6277" name="Text Box 13"/>
            <p:cNvSpPr txBox="1">
              <a:spLocks noChangeArrowheads="1"/>
            </p:cNvSpPr>
            <p:nvPr/>
          </p:nvSpPr>
          <p:spPr bwMode="auto">
            <a:xfrm>
              <a:off x="3084" y="2411"/>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6278" name="Text Box 14"/>
            <p:cNvSpPr txBox="1">
              <a:spLocks noChangeArrowheads="1"/>
            </p:cNvSpPr>
            <p:nvPr/>
          </p:nvSpPr>
          <p:spPr bwMode="auto">
            <a:xfrm>
              <a:off x="4284" y="2411"/>
              <a:ext cx="6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6279" name="Text Box 15"/>
            <p:cNvSpPr txBox="1">
              <a:spLocks noChangeArrowheads="1"/>
            </p:cNvSpPr>
            <p:nvPr/>
          </p:nvSpPr>
          <p:spPr bwMode="auto">
            <a:xfrm>
              <a:off x="1239" y="260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6280" name="Text Box 16"/>
            <p:cNvSpPr txBox="1">
              <a:spLocks noChangeArrowheads="1"/>
            </p:cNvSpPr>
            <p:nvPr/>
          </p:nvSpPr>
          <p:spPr bwMode="auto">
            <a:xfrm>
              <a:off x="1671" y="260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6281" name="Text Box 17"/>
            <p:cNvSpPr txBox="1">
              <a:spLocks noChangeArrowheads="1"/>
            </p:cNvSpPr>
            <p:nvPr/>
          </p:nvSpPr>
          <p:spPr bwMode="auto">
            <a:xfrm>
              <a:off x="2103" y="260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6282" name="Text Box 18"/>
            <p:cNvSpPr txBox="1">
              <a:spLocks noChangeArrowheads="1"/>
            </p:cNvSpPr>
            <p:nvPr/>
          </p:nvSpPr>
          <p:spPr bwMode="auto">
            <a:xfrm>
              <a:off x="2535" y="260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6283" name="Text Box 19"/>
            <p:cNvSpPr txBox="1">
              <a:spLocks noChangeArrowheads="1"/>
            </p:cNvSpPr>
            <p:nvPr/>
          </p:nvSpPr>
          <p:spPr bwMode="auto">
            <a:xfrm>
              <a:off x="2967" y="260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6284" name="Text Box 20"/>
            <p:cNvSpPr txBox="1">
              <a:spLocks noChangeArrowheads="1"/>
            </p:cNvSpPr>
            <p:nvPr/>
          </p:nvSpPr>
          <p:spPr bwMode="auto">
            <a:xfrm>
              <a:off x="3399" y="260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6285" name="Text Box 21"/>
            <p:cNvSpPr txBox="1">
              <a:spLocks noChangeArrowheads="1"/>
            </p:cNvSpPr>
            <p:nvPr/>
          </p:nvSpPr>
          <p:spPr bwMode="auto">
            <a:xfrm>
              <a:off x="594" y="2603"/>
              <a:ext cx="1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6286" name="Text Box 22"/>
            <p:cNvSpPr txBox="1">
              <a:spLocks noChangeArrowheads="1"/>
            </p:cNvSpPr>
            <p:nvPr/>
          </p:nvSpPr>
          <p:spPr bwMode="auto">
            <a:xfrm>
              <a:off x="3831" y="260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6287" name="Text Box 23"/>
            <p:cNvSpPr txBox="1">
              <a:spLocks noChangeArrowheads="1"/>
            </p:cNvSpPr>
            <p:nvPr/>
          </p:nvSpPr>
          <p:spPr bwMode="auto">
            <a:xfrm>
              <a:off x="4263" y="260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6288" name="Text Box 24"/>
            <p:cNvSpPr txBox="1">
              <a:spLocks noChangeArrowheads="1"/>
            </p:cNvSpPr>
            <p:nvPr/>
          </p:nvSpPr>
          <p:spPr bwMode="auto">
            <a:xfrm>
              <a:off x="3519" y="2411"/>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6289" name="Text Box 25"/>
            <p:cNvSpPr txBox="1">
              <a:spLocks noChangeArrowheads="1"/>
            </p:cNvSpPr>
            <p:nvPr/>
          </p:nvSpPr>
          <p:spPr bwMode="auto">
            <a:xfrm>
              <a:off x="3954" y="2411"/>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grpSp>
      <p:grpSp>
        <p:nvGrpSpPr>
          <p:cNvPr id="3" name="Group 216"/>
          <p:cNvGrpSpPr>
            <a:grpSpLocks/>
          </p:cNvGrpSpPr>
          <p:nvPr/>
        </p:nvGrpSpPr>
        <p:grpSpPr bwMode="auto">
          <a:xfrm>
            <a:off x="300038" y="2193925"/>
            <a:ext cx="7772400" cy="4114800"/>
            <a:chOff x="567" y="822"/>
            <a:chExt cx="4896" cy="2592"/>
          </a:xfrm>
        </p:grpSpPr>
        <p:sp>
          <p:nvSpPr>
            <p:cNvPr id="46248" name="Rectangle 27"/>
            <p:cNvSpPr>
              <a:spLocks noChangeArrowheads="1"/>
            </p:cNvSpPr>
            <p:nvPr/>
          </p:nvSpPr>
          <p:spPr bwMode="auto">
            <a:xfrm>
              <a:off x="567" y="822"/>
              <a:ext cx="4896" cy="2592"/>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6249" name="Text Box 28"/>
            <p:cNvSpPr txBox="1">
              <a:spLocks noChangeArrowheads="1"/>
            </p:cNvSpPr>
            <p:nvPr/>
          </p:nvSpPr>
          <p:spPr bwMode="auto">
            <a:xfrm>
              <a:off x="615" y="860"/>
              <a:ext cx="4464" cy="1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cs typeface="Times New Roman" pitchFamily="18" charset="0"/>
                </a:rPr>
                <a:t>1.	</a:t>
              </a:r>
              <a:r>
                <a:rPr lang="en-US" altLang="en-US" sz="2000">
                  <a:solidFill>
                    <a:srgbClr val="FF0000"/>
                  </a:solidFill>
                  <a:latin typeface="Times New Roman" pitchFamily="18" charset="0"/>
                  <a:cs typeface="Times New Roman" pitchFamily="18" charset="0"/>
                </a:rPr>
                <a:t>If </a:t>
              </a:r>
              <a:r>
                <a:rPr lang="en-US" altLang="en-US" sz="2000" i="1">
                  <a:solidFill>
                    <a:srgbClr val="FF0000"/>
                  </a:solidFill>
                  <a:latin typeface="Times New Roman" pitchFamily="18" charset="0"/>
                  <a:cs typeface="Times New Roman" pitchFamily="18" charset="0"/>
                </a:rPr>
                <a:t>left </a:t>
              </a:r>
              <a:r>
                <a:rPr lang="en-US" altLang="en-US" sz="2000">
                  <a:solidFill>
                    <a:srgbClr val="FF0000"/>
                  </a:solidFill>
                  <a:latin typeface="Times New Roman" pitchFamily="18" charset="0"/>
                  <a:cs typeface="Times New Roman" pitchFamily="18" charset="0"/>
                </a:rPr>
                <a:t>&lt; </a:t>
              </a:r>
              <a:r>
                <a:rPr lang="en-US" altLang="en-US" sz="2000" i="1">
                  <a:solidFill>
                    <a:srgbClr val="FF0000"/>
                  </a:solidFill>
                  <a:latin typeface="Times New Roman" pitchFamily="18" charset="0"/>
                  <a:cs typeface="Times New Roman" pitchFamily="18" charset="0"/>
                </a:rPr>
                <a:t>right</a:t>
              </a:r>
              <a:r>
                <a:rPr lang="en-US" altLang="en-US" sz="2000">
                  <a:solidFill>
                    <a:srgbClr val="FF0000"/>
                  </a:solidFill>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1.1.	Let </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 be an integer about midway between </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 and </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1.2.	Sort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 into ascending order.</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1.3.	Sort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+1…</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 into ascending order.</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1.4.	Merge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 and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+1…</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 into auxiliary array </a:t>
              </a:r>
              <a:r>
                <a:rPr lang="en-US" altLang="en-US" sz="2000" i="1">
                  <a:latin typeface="Times New Roman" pitchFamily="18" charset="0"/>
                  <a:cs typeface="Times New Roman" pitchFamily="18" charset="0"/>
                </a:rPr>
                <a:t>b</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1.5.	Copy all elements of </a:t>
              </a:r>
              <a:r>
                <a:rPr lang="en-US" altLang="en-US" sz="2000" i="1">
                  <a:latin typeface="Times New Roman" pitchFamily="18" charset="0"/>
                  <a:cs typeface="Times New Roman" pitchFamily="18" charset="0"/>
                </a:rPr>
                <a:t>b</a:t>
              </a:r>
              <a:r>
                <a:rPr lang="en-US" altLang="en-US" sz="2000">
                  <a:latin typeface="Times New Roman" pitchFamily="18" charset="0"/>
                  <a:cs typeface="Times New Roman" pitchFamily="18" charset="0"/>
                </a:rPr>
                <a:t> into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2.	Terminate.</a:t>
              </a:r>
            </a:p>
          </p:txBody>
        </p:sp>
        <p:sp>
          <p:nvSpPr>
            <p:cNvPr id="46250" name="Text Box 29"/>
            <p:cNvSpPr txBox="1">
              <a:spLocks noChangeArrowheads="1"/>
            </p:cNvSpPr>
            <p:nvPr/>
          </p:nvSpPr>
          <p:spPr bwMode="auto">
            <a:xfrm>
              <a:off x="786"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6251" name="Text Box 30"/>
            <p:cNvSpPr txBox="1">
              <a:spLocks noChangeArrowheads="1"/>
            </p:cNvSpPr>
            <p:nvPr/>
          </p:nvSpPr>
          <p:spPr bwMode="auto">
            <a:xfrm>
              <a:off x="642" y="2502"/>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6252" name="Text Box 31"/>
            <p:cNvSpPr txBox="1">
              <a:spLocks noChangeArrowheads="1"/>
            </p:cNvSpPr>
            <p:nvPr/>
          </p:nvSpPr>
          <p:spPr bwMode="auto">
            <a:xfrm>
              <a:off x="1360"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6253" name="Text Box 32"/>
            <p:cNvSpPr txBox="1">
              <a:spLocks noChangeArrowheads="1"/>
            </p:cNvSpPr>
            <p:nvPr/>
          </p:nvSpPr>
          <p:spPr bwMode="auto">
            <a:xfrm>
              <a:off x="1788"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6254" name="Text Box 33"/>
            <p:cNvSpPr txBox="1">
              <a:spLocks noChangeArrowheads="1"/>
            </p:cNvSpPr>
            <p:nvPr/>
          </p:nvSpPr>
          <p:spPr bwMode="auto">
            <a:xfrm>
              <a:off x="2220"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6255" name="Text Box 34"/>
            <p:cNvSpPr txBox="1">
              <a:spLocks noChangeArrowheads="1"/>
            </p:cNvSpPr>
            <p:nvPr/>
          </p:nvSpPr>
          <p:spPr bwMode="auto">
            <a:xfrm>
              <a:off x="2652"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6256" name="Text Box 35"/>
            <p:cNvSpPr txBox="1">
              <a:spLocks noChangeArrowheads="1"/>
            </p:cNvSpPr>
            <p:nvPr/>
          </p:nvSpPr>
          <p:spPr bwMode="auto">
            <a:xfrm>
              <a:off x="3084"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6257" name="Text Box 36"/>
            <p:cNvSpPr txBox="1">
              <a:spLocks noChangeArrowheads="1"/>
            </p:cNvSpPr>
            <p:nvPr/>
          </p:nvSpPr>
          <p:spPr bwMode="auto">
            <a:xfrm>
              <a:off x="4284" y="2502"/>
              <a:ext cx="6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6258" name="Text Box 37"/>
            <p:cNvSpPr txBox="1">
              <a:spLocks noChangeArrowheads="1"/>
            </p:cNvSpPr>
            <p:nvPr/>
          </p:nvSpPr>
          <p:spPr bwMode="auto">
            <a:xfrm>
              <a:off x="1239"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6259" name="Text Box 38"/>
            <p:cNvSpPr txBox="1">
              <a:spLocks noChangeArrowheads="1"/>
            </p:cNvSpPr>
            <p:nvPr/>
          </p:nvSpPr>
          <p:spPr bwMode="auto">
            <a:xfrm>
              <a:off x="1671"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6260" name="Text Box 39"/>
            <p:cNvSpPr txBox="1">
              <a:spLocks noChangeArrowheads="1"/>
            </p:cNvSpPr>
            <p:nvPr/>
          </p:nvSpPr>
          <p:spPr bwMode="auto">
            <a:xfrm>
              <a:off x="2103"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6261" name="Text Box 40"/>
            <p:cNvSpPr txBox="1">
              <a:spLocks noChangeArrowheads="1"/>
            </p:cNvSpPr>
            <p:nvPr/>
          </p:nvSpPr>
          <p:spPr bwMode="auto">
            <a:xfrm>
              <a:off x="2535"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6262" name="Text Box 41"/>
            <p:cNvSpPr txBox="1">
              <a:spLocks noChangeArrowheads="1"/>
            </p:cNvSpPr>
            <p:nvPr/>
          </p:nvSpPr>
          <p:spPr bwMode="auto">
            <a:xfrm>
              <a:off x="2967"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6263" name="Text Box 42"/>
            <p:cNvSpPr txBox="1">
              <a:spLocks noChangeArrowheads="1"/>
            </p:cNvSpPr>
            <p:nvPr/>
          </p:nvSpPr>
          <p:spPr bwMode="auto">
            <a:xfrm>
              <a:off x="3399"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6264" name="Text Box 43"/>
            <p:cNvSpPr txBox="1">
              <a:spLocks noChangeArrowheads="1"/>
            </p:cNvSpPr>
            <p:nvPr/>
          </p:nvSpPr>
          <p:spPr bwMode="auto">
            <a:xfrm>
              <a:off x="594" y="2694"/>
              <a:ext cx="1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6265" name="Text Box 44"/>
            <p:cNvSpPr txBox="1">
              <a:spLocks noChangeArrowheads="1"/>
            </p:cNvSpPr>
            <p:nvPr/>
          </p:nvSpPr>
          <p:spPr bwMode="auto">
            <a:xfrm>
              <a:off x="3831"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6266" name="Text Box 45"/>
            <p:cNvSpPr txBox="1">
              <a:spLocks noChangeArrowheads="1"/>
            </p:cNvSpPr>
            <p:nvPr/>
          </p:nvSpPr>
          <p:spPr bwMode="auto">
            <a:xfrm>
              <a:off x="4263"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6267" name="Text Box 46"/>
            <p:cNvSpPr txBox="1">
              <a:spLocks noChangeArrowheads="1"/>
            </p:cNvSpPr>
            <p:nvPr/>
          </p:nvSpPr>
          <p:spPr bwMode="auto">
            <a:xfrm>
              <a:off x="3519"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6268" name="Text Box 47"/>
            <p:cNvSpPr txBox="1">
              <a:spLocks noChangeArrowheads="1"/>
            </p:cNvSpPr>
            <p:nvPr/>
          </p:nvSpPr>
          <p:spPr bwMode="auto">
            <a:xfrm>
              <a:off x="3954"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grpSp>
      <p:grpSp>
        <p:nvGrpSpPr>
          <p:cNvPr id="4" name="Group 215"/>
          <p:cNvGrpSpPr>
            <a:grpSpLocks/>
          </p:cNvGrpSpPr>
          <p:nvPr/>
        </p:nvGrpSpPr>
        <p:grpSpPr bwMode="auto">
          <a:xfrm>
            <a:off x="300038" y="2193925"/>
            <a:ext cx="7772400" cy="4114800"/>
            <a:chOff x="567" y="822"/>
            <a:chExt cx="4896" cy="2592"/>
          </a:xfrm>
        </p:grpSpPr>
        <p:sp>
          <p:nvSpPr>
            <p:cNvPr id="46225" name="Rectangle 49"/>
            <p:cNvSpPr>
              <a:spLocks noChangeArrowheads="1"/>
            </p:cNvSpPr>
            <p:nvPr/>
          </p:nvSpPr>
          <p:spPr bwMode="auto">
            <a:xfrm>
              <a:off x="567" y="822"/>
              <a:ext cx="4896" cy="2592"/>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6226" name="Text Box 50"/>
            <p:cNvSpPr txBox="1">
              <a:spLocks noChangeArrowheads="1"/>
            </p:cNvSpPr>
            <p:nvPr/>
          </p:nvSpPr>
          <p:spPr bwMode="auto">
            <a:xfrm>
              <a:off x="615" y="860"/>
              <a:ext cx="4464" cy="1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cs typeface="Times New Roman" pitchFamily="18" charset="0"/>
                </a:rPr>
                <a:t>1.	If </a:t>
              </a:r>
              <a:r>
                <a:rPr lang="en-US" altLang="en-US" sz="2000" i="1">
                  <a:latin typeface="Times New Roman" pitchFamily="18" charset="0"/>
                  <a:cs typeface="Times New Roman" pitchFamily="18" charset="0"/>
                </a:rPr>
                <a:t>left </a:t>
              </a:r>
              <a:r>
                <a:rPr lang="en-US" altLang="en-US" sz="2000">
                  <a:latin typeface="Times New Roman" pitchFamily="18" charset="0"/>
                  <a:cs typeface="Times New Roman" pitchFamily="18" charset="0"/>
                </a:rPr>
                <a:t>&lt; </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1.1.	</a:t>
              </a:r>
              <a:r>
                <a:rPr lang="en-US" altLang="en-US" sz="2000">
                  <a:solidFill>
                    <a:srgbClr val="FF0000"/>
                  </a:solidFill>
                  <a:latin typeface="Times New Roman" pitchFamily="18" charset="0"/>
                  <a:cs typeface="Times New Roman" pitchFamily="18" charset="0"/>
                </a:rPr>
                <a:t>Let </a:t>
              </a:r>
              <a:r>
                <a:rPr lang="en-US" altLang="en-US" sz="2000" i="1">
                  <a:solidFill>
                    <a:srgbClr val="FF0000"/>
                  </a:solidFill>
                  <a:latin typeface="Times New Roman" pitchFamily="18" charset="0"/>
                  <a:cs typeface="Times New Roman" pitchFamily="18" charset="0"/>
                </a:rPr>
                <a:t>m</a:t>
              </a:r>
              <a:r>
                <a:rPr lang="en-US" altLang="en-US" sz="2000">
                  <a:solidFill>
                    <a:srgbClr val="FF0000"/>
                  </a:solidFill>
                  <a:latin typeface="Times New Roman" pitchFamily="18" charset="0"/>
                  <a:cs typeface="Times New Roman" pitchFamily="18" charset="0"/>
                </a:rPr>
                <a:t> be an integer about midway between </a:t>
              </a:r>
              <a:r>
                <a:rPr lang="en-US" altLang="en-US" sz="2000" i="1">
                  <a:solidFill>
                    <a:srgbClr val="FF0000"/>
                  </a:solidFill>
                  <a:latin typeface="Times New Roman" pitchFamily="18" charset="0"/>
                  <a:cs typeface="Times New Roman" pitchFamily="18" charset="0"/>
                </a:rPr>
                <a:t>left</a:t>
              </a:r>
              <a:r>
                <a:rPr lang="en-US" altLang="en-US" sz="2000">
                  <a:solidFill>
                    <a:srgbClr val="FF0000"/>
                  </a:solidFill>
                  <a:latin typeface="Times New Roman" pitchFamily="18" charset="0"/>
                  <a:cs typeface="Times New Roman" pitchFamily="18" charset="0"/>
                </a:rPr>
                <a:t> and </a:t>
              </a:r>
              <a:r>
                <a:rPr lang="en-US" altLang="en-US" sz="2000" i="1">
                  <a:solidFill>
                    <a:srgbClr val="FF0000"/>
                  </a:solidFill>
                  <a:latin typeface="Times New Roman" pitchFamily="18" charset="0"/>
                  <a:cs typeface="Times New Roman" pitchFamily="18" charset="0"/>
                </a:rPr>
                <a:t>right</a:t>
              </a:r>
              <a:r>
                <a:rPr lang="en-US" altLang="en-US" sz="2000">
                  <a:solidFill>
                    <a:srgbClr val="FF0000"/>
                  </a:solidFill>
                  <a:latin typeface="Times New Roman" pitchFamily="18" charset="0"/>
                  <a:cs typeface="Times New Roman" pitchFamily="18" charset="0"/>
                </a:rPr>
                <a:t>.</a:t>
              </a:r>
              <a:br>
                <a:rPr lang="en-US" altLang="en-US" sz="2000">
                  <a:solidFill>
                    <a:srgbClr val="FF0000"/>
                  </a:solidFill>
                  <a:latin typeface="Times New Roman" pitchFamily="18" charset="0"/>
                  <a:cs typeface="Times New Roman" pitchFamily="18" charset="0"/>
                </a:rPr>
              </a:br>
              <a:r>
                <a:rPr lang="en-US" altLang="en-US" sz="2000">
                  <a:latin typeface="Times New Roman" pitchFamily="18" charset="0"/>
                  <a:cs typeface="Times New Roman" pitchFamily="18" charset="0"/>
                </a:rPr>
                <a:t>	1.2.	Sort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 into ascending order.</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1.3.	Sort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+1…</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 into ascending order.</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1.4.	Merge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 and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+1…</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 into auxiliary array </a:t>
              </a:r>
              <a:r>
                <a:rPr lang="en-US" altLang="en-US" sz="2000" i="1">
                  <a:latin typeface="Times New Roman" pitchFamily="18" charset="0"/>
                  <a:cs typeface="Times New Roman" pitchFamily="18" charset="0"/>
                </a:rPr>
                <a:t>b</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1.5.	Copy all elements of </a:t>
              </a:r>
              <a:r>
                <a:rPr lang="en-US" altLang="en-US" sz="2000" i="1">
                  <a:latin typeface="Times New Roman" pitchFamily="18" charset="0"/>
                  <a:cs typeface="Times New Roman" pitchFamily="18" charset="0"/>
                </a:rPr>
                <a:t>b</a:t>
              </a:r>
              <a:r>
                <a:rPr lang="en-US" altLang="en-US" sz="2000">
                  <a:latin typeface="Times New Roman" pitchFamily="18" charset="0"/>
                  <a:cs typeface="Times New Roman" pitchFamily="18" charset="0"/>
                </a:rPr>
                <a:t> into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2.	Terminate.</a:t>
              </a:r>
            </a:p>
          </p:txBody>
        </p:sp>
        <p:sp>
          <p:nvSpPr>
            <p:cNvPr id="46227" name="Text Box 51"/>
            <p:cNvSpPr txBox="1">
              <a:spLocks noChangeArrowheads="1"/>
            </p:cNvSpPr>
            <p:nvPr/>
          </p:nvSpPr>
          <p:spPr bwMode="auto">
            <a:xfrm>
              <a:off x="786"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6228" name="Text Box 52"/>
            <p:cNvSpPr txBox="1">
              <a:spLocks noChangeArrowheads="1"/>
            </p:cNvSpPr>
            <p:nvPr/>
          </p:nvSpPr>
          <p:spPr bwMode="auto">
            <a:xfrm>
              <a:off x="642" y="2502"/>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6229" name="Text Box 53"/>
            <p:cNvSpPr txBox="1">
              <a:spLocks noChangeArrowheads="1"/>
            </p:cNvSpPr>
            <p:nvPr/>
          </p:nvSpPr>
          <p:spPr bwMode="auto">
            <a:xfrm>
              <a:off x="1360"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6230" name="Text Box 54"/>
            <p:cNvSpPr txBox="1">
              <a:spLocks noChangeArrowheads="1"/>
            </p:cNvSpPr>
            <p:nvPr/>
          </p:nvSpPr>
          <p:spPr bwMode="auto">
            <a:xfrm>
              <a:off x="1788"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6231" name="Text Box 55"/>
            <p:cNvSpPr txBox="1">
              <a:spLocks noChangeArrowheads="1"/>
            </p:cNvSpPr>
            <p:nvPr/>
          </p:nvSpPr>
          <p:spPr bwMode="auto">
            <a:xfrm>
              <a:off x="2220"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6232" name="Text Box 56"/>
            <p:cNvSpPr txBox="1">
              <a:spLocks noChangeArrowheads="1"/>
            </p:cNvSpPr>
            <p:nvPr/>
          </p:nvSpPr>
          <p:spPr bwMode="auto">
            <a:xfrm>
              <a:off x="2652"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6233" name="Text Box 57"/>
            <p:cNvSpPr txBox="1">
              <a:spLocks noChangeArrowheads="1"/>
            </p:cNvSpPr>
            <p:nvPr/>
          </p:nvSpPr>
          <p:spPr bwMode="auto">
            <a:xfrm>
              <a:off x="3084"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6234" name="Text Box 58"/>
            <p:cNvSpPr txBox="1">
              <a:spLocks noChangeArrowheads="1"/>
            </p:cNvSpPr>
            <p:nvPr/>
          </p:nvSpPr>
          <p:spPr bwMode="auto">
            <a:xfrm>
              <a:off x="4284" y="2502"/>
              <a:ext cx="6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6235" name="Text Box 59"/>
            <p:cNvSpPr txBox="1">
              <a:spLocks noChangeArrowheads="1"/>
            </p:cNvSpPr>
            <p:nvPr/>
          </p:nvSpPr>
          <p:spPr bwMode="auto">
            <a:xfrm>
              <a:off x="1239"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6236" name="Text Box 60"/>
            <p:cNvSpPr txBox="1">
              <a:spLocks noChangeArrowheads="1"/>
            </p:cNvSpPr>
            <p:nvPr/>
          </p:nvSpPr>
          <p:spPr bwMode="auto">
            <a:xfrm>
              <a:off x="1671"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6237" name="Text Box 61"/>
            <p:cNvSpPr txBox="1">
              <a:spLocks noChangeArrowheads="1"/>
            </p:cNvSpPr>
            <p:nvPr/>
          </p:nvSpPr>
          <p:spPr bwMode="auto">
            <a:xfrm>
              <a:off x="2103"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6238" name="Text Box 62"/>
            <p:cNvSpPr txBox="1">
              <a:spLocks noChangeArrowheads="1"/>
            </p:cNvSpPr>
            <p:nvPr/>
          </p:nvSpPr>
          <p:spPr bwMode="auto">
            <a:xfrm>
              <a:off x="2535"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6239" name="Text Box 63"/>
            <p:cNvSpPr txBox="1">
              <a:spLocks noChangeArrowheads="1"/>
            </p:cNvSpPr>
            <p:nvPr/>
          </p:nvSpPr>
          <p:spPr bwMode="auto">
            <a:xfrm>
              <a:off x="2967"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6240" name="Text Box 64"/>
            <p:cNvSpPr txBox="1">
              <a:spLocks noChangeArrowheads="1"/>
            </p:cNvSpPr>
            <p:nvPr/>
          </p:nvSpPr>
          <p:spPr bwMode="auto">
            <a:xfrm>
              <a:off x="3399"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6241" name="Text Box 65"/>
            <p:cNvSpPr txBox="1">
              <a:spLocks noChangeArrowheads="1"/>
            </p:cNvSpPr>
            <p:nvPr/>
          </p:nvSpPr>
          <p:spPr bwMode="auto">
            <a:xfrm>
              <a:off x="594" y="2694"/>
              <a:ext cx="1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6242" name="Text Box 66"/>
            <p:cNvSpPr txBox="1">
              <a:spLocks noChangeArrowheads="1"/>
            </p:cNvSpPr>
            <p:nvPr/>
          </p:nvSpPr>
          <p:spPr bwMode="auto">
            <a:xfrm>
              <a:off x="3831"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6243" name="Text Box 67"/>
            <p:cNvSpPr txBox="1">
              <a:spLocks noChangeArrowheads="1"/>
            </p:cNvSpPr>
            <p:nvPr/>
          </p:nvSpPr>
          <p:spPr bwMode="auto">
            <a:xfrm>
              <a:off x="4263"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6244" name="Text Box 68"/>
            <p:cNvSpPr txBox="1">
              <a:spLocks noChangeArrowheads="1"/>
            </p:cNvSpPr>
            <p:nvPr/>
          </p:nvSpPr>
          <p:spPr bwMode="auto">
            <a:xfrm>
              <a:off x="3519"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6245" name="Text Box 69"/>
            <p:cNvSpPr txBox="1">
              <a:spLocks noChangeArrowheads="1"/>
            </p:cNvSpPr>
            <p:nvPr/>
          </p:nvSpPr>
          <p:spPr bwMode="auto">
            <a:xfrm>
              <a:off x="3954"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46246" name="Text Box 70"/>
            <p:cNvSpPr txBox="1">
              <a:spLocks noChangeArrowheads="1"/>
            </p:cNvSpPr>
            <p:nvPr/>
          </p:nvSpPr>
          <p:spPr bwMode="auto">
            <a:xfrm>
              <a:off x="4956" y="312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4</a:t>
              </a:r>
            </a:p>
          </p:txBody>
        </p:sp>
        <p:sp>
          <p:nvSpPr>
            <p:cNvPr id="46247" name="Text Box 71"/>
            <p:cNvSpPr txBox="1">
              <a:spLocks noChangeArrowheads="1"/>
            </p:cNvSpPr>
            <p:nvPr/>
          </p:nvSpPr>
          <p:spPr bwMode="auto">
            <a:xfrm>
              <a:off x="4716" y="3126"/>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m</a:t>
              </a:r>
            </a:p>
          </p:txBody>
        </p:sp>
      </p:grpSp>
      <p:grpSp>
        <p:nvGrpSpPr>
          <p:cNvPr id="5" name="Group 214"/>
          <p:cNvGrpSpPr>
            <a:grpSpLocks/>
          </p:cNvGrpSpPr>
          <p:nvPr/>
        </p:nvGrpSpPr>
        <p:grpSpPr bwMode="auto">
          <a:xfrm>
            <a:off x="300038" y="2193925"/>
            <a:ext cx="7772400" cy="4114800"/>
            <a:chOff x="567" y="821"/>
            <a:chExt cx="4896" cy="2592"/>
          </a:xfrm>
        </p:grpSpPr>
        <p:sp>
          <p:nvSpPr>
            <p:cNvPr id="46202" name="Rectangle 73"/>
            <p:cNvSpPr>
              <a:spLocks noChangeArrowheads="1"/>
            </p:cNvSpPr>
            <p:nvPr/>
          </p:nvSpPr>
          <p:spPr bwMode="auto">
            <a:xfrm>
              <a:off x="567" y="821"/>
              <a:ext cx="4896" cy="2592"/>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6203" name="Text Box 74"/>
            <p:cNvSpPr txBox="1">
              <a:spLocks noChangeArrowheads="1"/>
            </p:cNvSpPr>
            <p:nvPr/>
          </p:nvSpPr>
          <p:spPr bwMode="auto">
            <a:xfrm>
              <a:off x="615" y="859"/>
              <a:ext cx="4464" cy="1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cs typeface="Times New Roman" pitchFamily="18" charset="0"/>
                </a:rPr>
                <a:t>1.	If </a:t>
              </a:r>
              <a:r>
                <a:rPr lang="en-US" altLang="en-US" sz="2000" i="1">
                  <a:latin typeface="Times New Roman" pitchFamily="18" charset="0"/>
                  <a:cs typeface="Times New Roman" pitchFamily="18" charset="0"/>
                </a:rPr>
                <a:t>left </a:t>
              </a:r>
              <a:r>
                <a:rPr lang="en-US" altLang="en-US" sz="2000">
                  <a:latin typeface="Times New Roman" pitchFamily="18" charset="0"/>
                  <a:cs typeface="Times New Roman" pitchFamily="18" charset="0"/>
                </a:rPr>
                <a:t>&lt; </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1.1.	Let </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 be an integer about midway between </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 and </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1.2.	</a:t>
              </a:r>
              <a:r>
                <a:rPr lang="en-US" altLang="en-US" sz="2000">
                  <a:solidFill>
                    <a:srgbClr val="FF0000"/>
                  </a:solidFill>
                  <a:latin typeface="Times New Roman" pitchFamily="18" charset="0"/>
                  <a:cs typeface="Times New Roman" pitchFamily="18" charset="0"/>
                </a:rPr>
                <a:t>Sort </a:t>
              </a:r>
              <a:r>
                <a:rPr lang="en-US" altLang="en-US" sz="2000" i="1">
                  <a:solidFill>
                    <a:srgbClr val="FF0000"/>
                  </a:solidFill>
                  <a:latin typeface="Times New Roman" pitchFamily="18" charset="0"/>
                  <a:cs typeface="Times New Roman" pitchFamily="18" charset="0"/>
                </a:rPr>
                <a:t>a</a:t>
              </a:r>
              <a:r>
                <a:rPr lang="en-US" altLang="en-US" sz="2000">
                  <a:solidFill>
                    <a:srgbClr val="FF0000"/>
                  </a:solidFill>
                  <a:latin typeface="Times New Roman" pitchFamily="18" charset="0"/>
                  <a:cs typeface="Times New Roman" pitchFamily="18" charset="0"/>
                </a:rPr>
                <a:t>[</a:t>
              </a:r>
              <a:r>
                <a:rPr lang="en-US" altLang="en-US" sz="2000" i="1">
                  <a:solidFill>
                    <a:srgbClr val="FF0000"/>
                  </a:solidFill>
                  <a:latin typeface="Times New Roman" pitchFamily="18" charset="0"/>
                  <a:cs typeface="Times New Roman" pitchFamily="18" charset="0"/>
                </a:rPr>
                <a:t>left</a:t>
              </a:r>
              <a:r>
                <a:rPr lang="en-US" altLang="en-US" sz="2000">
                  <a:solidFill>
                    <a:srgbClr val="FF0000"/>
                  </a:solidFill>
                  <a:latin typeface="Times New Roman" pitchFamily="18" charset="0"/>
                  <a:cs typeface="Times New Roman" pitchFamily="18" charset="0"/>
                </a:rPr>
                <a:t>…</a:t>
              </a:r>
              <a:r>
                <a:rPr lang="en-US" altLang="en-US" sz="2000" i="1">
                  <a:solidFill>
                    <a:srgbClr val="FF0000"/>
                  </a:solidFill>
                  <a:latin typeface="Times New Roman" pitchFamily="18" charset="0"/>
                  <a:cs typeface="Times New Roman" pitchFamily="18" charset="0"/>
                </a:rPr>
                <a:t>m</a:t>
              </a:r>
              <a:r>
                <a:rPr lang="en-US" altLang="en-US" sz="2000">
                  <a:solidFill>
                    <a:srgbClr val="FF0000"/>
                  </a:solidFill>
                  <a:latin typeface="Times New Roman" pitchFamily="18" charset="0"/>
                  <a:cs typeface="Times New Roman" pitchFamily="18" charset="0"/>
                </a:rPr>
                <a:t>] into ascending order.</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1.3.	Sort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+1…</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 into ascending order.</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1.4.	Merge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 and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+1…</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 into auxiliary array </a:t>
              </a:r>
              <a:r>
                <a:rPr lang="en-US" altLang="en-US" sz="2000" i="1">
                  <a:latin typeface="Times New Roman" pitchFamily="18" charset="0"/>
                  <a:cs typeface="Times New Roman" pitchFamily="18" charset="0"/>
                </a:rPr>
                <a:t>b</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1.5.	Copy all elements of </a:t>
              </a:r>
              <a:r>
                <a:rPr lang="en-US" altLang="en-US" sz="2000" i="1">
                  <a:latin typeface="Times New Roman" pitchFamily="18" charset="0"/>
                  <a:cs typeface="Times New Roman" pitchFamily="18" charset="0"/>
                </a:rPr>
                <a:t>b</a:t>
              </a:r>
              <a:r>
                <a:rPr lang="en-US" altLang="en-US" sz="2000">
                  <a:latin typeface="Times New Roman" pitchFamily="18" charset="0"/>
                  <a:cs typeface="Times New Roman" pitchFamily="18" charset="0"/>
                </a:rPr>
                <a:t> into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2.	Terminate.</a:t>
              </a:r>
            </a:p>
          </p:txBody>
        </p:sp>
        <p:sp>
          <p:nvSpPr>
            <p:cNvPr id="46204" name="Text Box 75"/>
            <p:cNvSpPr txBox="1">
              <a:spLocks noChangeArrowheads="1"/>
            </p:cNvSpPr>
            <p:nvPr/>
          </p:nvSpPr>
          <p:spPr bwMode="auto">
            <a:xfrm>
              <a:off x="786" y="269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6205" name="Text Box 76"/>
            <p:cNvSpPr txBox="1">
              <a:spLocks noChangeArrowheads="1"/>
            </p:cNvSpPr>
            <p:nvPr/>
          </p:nvSpPr>
          <p:spPr bwMode="auto">
            <a:xfrm>
              <a:off x="642" y="2501"/>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6206" name="Text Box 77"/>
            <p:cNvSpPr txBox="1">
              <a:spLocks noChangeArrowheads="1"/>
            </p:cNvSpPr>
            <p:nvPr/>
          </p:nvSpPr>
          <p:spPr bwMode="auto">
            <a:xfrm>
              <a:off x="1360" y="2501"/>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6207" name="Text Box 78"/>
            <p:cNvSpPr txBox="1">
              <a:spLocks noChangeArrowheads="1"/>
            </p:cNvSpPr>
            <p:nvPr/>
          </p:nvSpPr>
          <p:spPr bwMode="auto">
            <a:xfrm>
              <a:off x="1788" y="2501"/>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6208" name="Text Box 79"/>
            <p:cNvSpPr txBox="1">
              <a:spLocks noChangeArrowheads="1"/>
            </p:cNvSpPr>
            <p:nvPr/>
          </p:nvSpPr>
          <p:spPr bwMode="auto">
            <a:xfrm>
              <a:off x="2220" y="2501"/>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6209" name="Text Box 80"/>
            <p:cNvSpPr txBox="1">
              <a:spLocks noChangeArrowheads="1"/>
            </p:cNvSpPr>
            <p:nvPr/>
          </p:nvSpPr>
          <p:spPr bwMode="auto">
            <a:xfrm>
              <a:off x="2652" y="2501"/>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6210" name="Text Box 81"/>
            <p:cNvSpPr txBox="1">
              <a:spLocks noChangeArrowheads="1"/>
            </p:cNvSpPr>
            <p:nvPr/>
          </p:nvSpPr>
          <p:spPr bwMode="auto">
            <a:xfrm>
              <a:off x="3084" y="2501"/>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6211" name="Text Box 82"/>
            <p:cNvSpPr txBox="1">
              <a:spLocks noChangeArrowheads="1"/>
            </p:cNvSpPr>
            <p:nvPr/>
          </p:nvSpPr>
          <p:spPr bwMode="auto">
            <a:xfrm>
              <a:off x="4284" y="2501"/>
              <a:ext cx="6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6212" name="Text Box 83"/>
            <p:cNvSpPr txBox="1">
              <a:spLocks noChangeArrowheads="1"/>
            </p:cNvSpPr>
            <p:nvPr/>
          </p:nvSpPr>
          <p:spPr bwMode="auto">
            <a:xfrm>
              <a:off x="1239" y="269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6213" name="Text Box 84"/>
            <p:cNvSpPr txBox="1">
              <a:spLocks noChangeArrowheads="1"/>
            </p:cNvSpPr>
            <p:nvPr/>
          </p:nvSpPr>
          <p:spPr bwMode="auto">
            <a:xfrm>
              <a:off x="1671" y="269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6214" name="Text Box 85"/>
            <p:cNvSpPr txBox="1">
              <a:spLocks noChangeArrowheads="1"/>
            </p:cNvSpPr>
            <p:nvPr/>
          </p:nvSpPr>
          <p:spPr bwMode="auto">
            <a:xfrm>
              <a:off x="2103" y="269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6215" name="Text Box 86"/>
            <p:cNvSpPr txBox="1">
              <a:spLocks noChangeArrowheads="1"/>
            </p:cNvSpPr>
            <p:nvPr/>
          </p:nvSpPr>
          <p:spPr bwMode="auto">
            <a:xfrm>
              <a:off x="2535" y="269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6216" name="Text Box 87"/>
            <p:cNvSpPr txBox="1">
              <a:spLocks noChangeArrowheads="1"/>
            </p:cNvSpPr>
            <p:nvPr/>
          </p:nvSpPr>
          <p:spPr bwMode="auto">
            <a:xfrm>
              <a:off x="2967" y="269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6217" name="Text Box 88"/>
            <p:cNvSpPr txBox="1">
              <a:spLocks noChangeArrowheads="1"/>
            </p:cNvSpPr>
            <p:nvPr/>
          </p:nvSpPr>
          <p:spPr bwMode="auto">
            <a:xfrm>
              <a:off x="3399" y="269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6218" name="Text Box 89"/>
            <p:cNvSpPr txBox="1">
              <a:spLocks noChangeArrowheads="1"/>
            </p:cNvSpPr>
            <p:nvPr/>
          </p:nvSpPr>
          <p:spPr bwMode="auto">
            <a:xfrm>
              <a:off x="594" y="2693"/>
              <a:ext cx="1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6219" name="Text Box 90"/>
            <p:cNvSpPr txBox="1">
              <a:spLocks noChangeArrowheads="1"/>
            </p:cNvSpPr>
            <p:nvPr/>
          </p:nvSpPr>
          <p:spPr bwMode="auto">
            <a:xfrm>
              <a:off x="3831" y="269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6220" name="Text Box 91"/>
            <p:cNvSpPr txBox="1">
              <a:spLocks noChangeArrowheads="1"/>
            </p:cNvSpPr>
            <p:nvPr/>
          </p:nvSpPr>
          <p:spPr bwMode="auto">
            <a:xfrm>
              <a:off x="4263" y="2693"/>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6221" name="Text Box 92"/>
            <p:cNvSpPr txBox="1">
              <a:spLocks noChangeArrowheads="1"/>
            </p:cNvSpPr>
            <p:nvPr/>
          </p:nvSpPr>
          <p:spPr bwMode="auto">
            <a:xfrm>
              <a:off x="3519" y="2501"/>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6222" name="Text Box 93"/>
            <p:cNvSpPr txBox="1">
              <a:spLocks noChangeArrowheads="1"/>
            </p:cNvSpPr>
            <p:nvPr/>
          </p:nvSpPr>
          <p:spPr bwMode="auto">
            <a:xfrm>
              <a:off x="3954" y="2501"/>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46223" name="Text Box 94"/>
            <p:cNvSpPr txBox="1">
              <a:spLocks noChangeArrowheads="1"/>
            </p:cNvSpPr>
            <p:nvPr/>
          </p:nvSpPr>
          <p:spPr bwMode="auto">
            <a:xfrm>
              <a:off x="4956" y="3125"/>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4</a:t>
              </a:r>
            </a:p>
          </p:txBody>
        </p:sp>
        <p:sp>
          <p:nvSpPr>
            <p:cNvPr id="46224" name="Text Box 95"/>
            <p:cNvSpPr txBox="1">
              <a:spLocks noChangeArrowheads="1"/>
            </p:cNvSpPr>
            <p:nvPr/>
          </p:nvSpPr>
          <p:spPr bwMode="auto">
            <a:xfrm>
              <a:off x="4716" y="3125"/>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m</a:t>
              </a:r>
            </a:p>
          </p:txBody>
        </p:sp>
      </p:grpSp>
      <p:grpSp>
        <p:nvGrpSpPr>
          <p:cNvPr id="6" name="Group 213"/>
          <p:cNvGrpSpPr>
            <a:grpSpLocks/>
          </p:cNvGrpSpPr>
          <p:nvPr/>
        </p:nvGrpSpPr>
        <p:grpSpPr bwMode="auto">
          <a:xfrm>
            <a:off x="300038" y="2193925"/>
            <a:ext cx="7772400" cy="4114800"/>
            <a:chOff x="567" y="822"/>
            <a:chExt cx="4896" cy="2592"/>
          </a:xfrm>
        </p:grpSpPr>
        <p:sp>
          <p:nvSpPr>
            <p:cNvPr id="46179" name="Rectangle 97"/>
            <p:cNvSpPr>
              <a:spLocks noChangeArrowheads="1"/>
            </p:cNvSpPr>
            <p:nvPr/>
          </p:nvSpPr>
          <p:spPr bwMode="auto">
            <a:xfrm>
              <a:off x="567" y="822"/>
              <a:ext cx="4896" cy="2592"/>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6180" name="Text Box 98"/>
            <p:cNvSpPr txBox="1">
              <a:spLocks noChangeArrowheads="1"/>
            </p:cNvSpPr>
            <p:nvPr/>
          </p:nvSpPr>
          <p:spPr bwMode="auto">
            <a:xfrm>
              <a:off x="615" y="860"/>
              <a:ext cx="4464" cy="1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cs typeface="Times New Roman" pitchFamily="18" charset="0"/>
                </a:rPr>
                <a:t>1.	If </a:t>
              </a:r>
              <a:r>
                <a:rPr lang="en-US" altLang="en-US" sz="2000" i="1">
                  <a:latin typeface="Times New Roman" pitchFamily="18" charset="0"/>
                  <a:cs typeface="Times New Roman" pitchFamily="18" charset="0"/>
                </a:rPr>
                <a:t>left </a:t>
              </a:r>
              <a:r>
                <a:rPr lang="en-US" altLang="en-US" sz="2000">
                  <a:latin typeface="Times New Roman" pitchFamily="18" charset="0"/>
                  <a:cs typeface="Times New Roman" pitchFamily="18" charset="0"/>
                </a:rPr>
                <a:t>&lt; </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1.1.	Let </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 be an integer about midway between </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 and </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1.2.	Sort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 into ascending order.</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1.3.	</a:t>
              </a:r>
              <a:r>
                <a:rPr lang="en-US" altLang="en-US" sz="2000">
                  <a:solidFill>
                    <a:srgbClr val="FF0000"/>
                  </a:solidFill>
                  <a:latin typeface="Times New Roman" pitchFamily="18" charset="0"/>
                  <a:cs typeface="Times New Roman" pitchFamily="18" charset="0"/>
                </a:rPr>
                <a:t>Sort </a:t>
              </a:r>
              <a:r>
                <a:rPr lang="en-US" altLang="en-US" sz="2000" i="1">
                  <a:solidFill>
                    <a:srgbClr val="FF0000"/>
                  </a:solidFill>
                  <a:latin typeface="Times New Roman" pitchFamily="18" charset="0"/>
                  <a:cs typeface="Times New Roman" pitchFamily="18" charset="0"/>
                </a:rPr>
                <a:t>a</a:t>
              </a:r>
              <a:r>
                <a:rPr lang="en-US" altLang="en-US" sz="2000">
                  <a:solidFill>
                    <a:srgbClr val="FF0000"/>
                  </a:solidFill>
                  <a:latin typeface="Times New Roman" pitchFamily="18" charset="0"/>
                  <a:cs typeface="Times New Roman" pitchFamily="18" charset="0"/>
                </a:rPr>
                <a:t>[</a:t>
              </a:r>
              <a:r>
                <a:rPr lang="en-US" altLang="en-US" sz="2000" i="1">
                  <a:solidFill>
                    <a:srgbClr val="FF0000"/>
                  </a:solidFill>
                  <a:latin typeface="Times New Roman" pitchFamily="18" charset="0"/>
                  <a:cs typeface="Times New Roman" pitchFamily="18" charset="0"/>
                </a:rPr>
                <a:t>m</a:t>
              </a:r>
              <a:r>
                <a:rPr lang="en-US" altLang="en-US" sz="2000">
                  <a:solidFill>
                    <a:srgbClr val="FF0000"/>
                  </a:solidFill>
                  <a:latin typeface="Times New Roman" pitchFamily="18" charset="0"/>
                  <a:cs typeface="Times New Roman" pitchFamily="18" charset="0"/>
                </a:rPr>
                <a:t>+1…</a:t>
              </a:r>
              <a:r>
                <a:rPr lang="en-US" altLang="en-US" sz="2000" i="1">
                  <a:solidFill>
                    <a:srgbClr val="FF0000"/>
                  </a:solidFill>
                  <a:latin typeface="Times New Roman" pitchFamily="18" charset="0"/>
                  <a:cs typeface="Times New Roman" pitchFamily="18" charset="0"/>
                </a:rPr>
                <a:t>right</a:t>
              </a:r>
              <a:r>
                <a:rPr lang="en-US" altLang="en-US" sz="2000">
                  <a:solidFill>
                    <a:srgbClr val="FF0000"/>
                  </a:solidFill>
                  <a:latin typeface="Times New Roman" pitchFamily="18" charset="0"/>
                  <a:cs typeface="Times New Roman" pitchFamily="18" charset="0"/>
                </a:rPr>
                <a:t>] into ascending order.</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1.4.	Merge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 and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+1…</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 into auxiliary array </a:t>
              </a:r>
              <a:r>
                <a:rPr lang="en-US" altLang="en-US" sz="2000" i="1">
                  <a:latin typeface="Times New Roman" pitchFamily="18" charset="0"/>
                  <a:cs typeface="Times New Roman" pitchFamily="18" charset="0"/>
                </a:rPr>
                <a:t>b</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1.5.	Copy all elements of </a:t>
              </a:r>
              <a:r>
                <a:rPr lang="en-US" altLang="en-US" sz="2000" i="1">
                  <a:latin typeface="Times New Roman" pitchFamily="18" charset="0"/>
                  <a:cs typeface="Times New Roman" pitchFamily="18" charset="0"/>
                </a:rPr>
                <a:t>b</a:t>
              </a:r>
              <a:r>
                <a:rPr lang="en-US" altLang="en-US" sz="2000">
                  <a:latin typeface="Times New Roman" pitchFamily="18" charset="0"/>
                  <a:cs typeface="Times New Roman" pitchFamily="18" charset="0"/>
                </a:rPr>
                <a:t> into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2.	Terminate.</a:t>
              </a:r>
            </a:p>
          </p:txBody>
        </p:sp>
        <p:sp>
          <p:nvSpPr>
            <p:cNvPr id="46181" name="Text Box 99"/>
            <p:cNvSpPr txBox="1">
              <a:spLocks noChangeArrowheads="1"/>
            </p:cNvSpPr>
            <p:nvPr/>
          </p:nvSpPr>
          <p:spPr bwMode="auto">
            <a:xfrm>
              <a:off x="786"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6182" name="Text Box 100"/>
            <p:cNvSpPr txBox="1">
              <a:spLocks noChangeArrowheads="1"/>
            </p:cNvSpPr>
            <p:nvPr/>
          </p:nvSpPr>
          <p:spPr bwMode="auto">
            <a:xfrm>
              <a:off x="642" y="2502"/>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6183" name="Text Box 101"/>
            <p:cNvSpPr txBox="1">
              <a:spLocks noChangeArrowheads="1"/>
            </p:cNvSpPr>
            <p:nvPr/>
          </p:nvSpPr>
          <p:spPr bwMode="auto">
            <a:xfrm>
              <a:off x="1360"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6184" name="Text Box 102"/>
            <p:cNvSpPr txBox="1">
              <a:spLocks noChangeArrowheads="1"/>
            </p:cNvSpPr>
            <p:nvPr/>
          </p:nvSpPr>
          <p:spPr bwMode="auto">
            <a:xfrm>
              <a:off x="1788"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6185" name="Text Box 103"/>
            <p:cNvSpPr txBox="1">
              <a:spLocks noChangeArrowheads="1"/>
            </p:cNvSpPr>
            <p:nvPr/>
          </p:nvSpPr>
          <p:spPr bwMode="auto">
            <a:xfrm>
              <a:off x="2220"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6186" name="Text Box 104"/>
            <p:cNvSpPr txBox="1">
              <a:spLocks noChangeArrowheads="1"/>
            </p:cNvSpPr>
            <p:nvPr/>
          </p:nvSpPr>
          <p:spPr bwMode="auto">
            <a:xfrm>
              <a:off x="2652"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6187" name="Text Box 105"/>
            <p:cNvSpPr txBox="1">
              <a:spLocks noChangeArrowheads="1"/>
            </p:cNvSpPr>
            <p:nvPr/>
          </p:nvSpPr>
          <p:spPr bwMode="auto">
            <a:xfrm>
              <a:off x="3084"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6188" name="Text Box 106"/>
            <p:cNvSpPr txBox="1">
              <a:spLocks noChangeArrowheads="1"/>
            </p:cNvSpPr>
            <p:nvPr/>
          </p:nvSpPr>
          <p:spPr bwMode="auto">
            <a:xfrm>
              <a:off x="4284" y="2502"/>
              <a:ext cx="6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6189" name="Text Box 107"/>
            <p:cNvSpPr txBox="1">
              <a:spLocks noChangeArrowheads="1"/>
            </p:cNvSpPr>
            <p:nvPr/>
          </p:nvSpPr>
          <p:spPr bwMode="auto">
            <a:xfrm>
              <a:off x="1239"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6190" name="Text Box 108"/>
            <p:cNvSpPr txBox="1">
              <a:spLocks noChangeArrowheads="1"/>
            </p:cNvSpPr>
            <p:nvPr/>
          </p:nvSpPr>
          <p:spPr bwMode="auto">
            <a:xfrm>
              <a:off x="1671"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6191" name="Text Box 109"/>
            <p:cNvSpPr txBox="1">
              <a:spLocks noChangeArrowheads="1"/>
            </p:cNvSpPr>
            <p:nvPr/>
          </p:nvSpPr>
          <p:spPr bwMode="auto">
            <a:xfrm>
              <a:off x="2103"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6192" name="Text Box 110"/>
            <p:cNvSpPr txBox="1">
              <a:spLocks noChangeArrowheads="1"/>
            </p:cNvSpPr>
            <p:nvPr/>
          </p:nvSpPr>
          <p:spPr bwMode="auto">
            <a:xfrm>
              <a:off x="2535"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6193" name="Text Box 111"/>
            <p:cNvSpPr txBox="1">
              <a:spLocks noChangeArrowheads="1"/>
            </p:cNvSpPr>
            <p:nvPr/>
          </p:nvSpPr>
          <p:spPr bwMode="auto">
            <a:xfrm>
              <a:off x="2967"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6194" name="Text Box 112"/>
            <p:cNvSpPr txBox="1">
              <a:spLocks noChangeArrowheads="1"/>
            </p:cNvSpPr>
            <p:nvPr/>
          </p:nvSpPr>
          <p:spPr bwMode="auto">
            <a:xfrm>
              <a:off x="3399"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6195" name="Text Box 113"/>
            <p:cNvSpPr txBox="1">
              <a:spLocks noChangeArrowheads="1"/>
            </p:cNvSpPr>
            <p:nvPr/>
          </p:nvSpPr>
          <p:spPr bwMode="auto">
            <a:xfrm>
              <a:off x="594" y="2694"/>
              <a:ext cx="1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6196" name="Text Box 114"/>
            <p:cNvSpPr txBox="1">
              <a:spLocks noChangeArrowheads="1"/>
            </p:cNvSpPr>
            <p:nvPr/>
          </p:nvSpPr>
          <p:spPr bwMode="auto">
            <a:xfrm>
              <a:off x="3831"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6197" name="Text Box 115"/>
            <p:cNvSpPr txBox="1">
              <a:spLocks noChangeArrowheads="1"/>
            </p:cNvSpPr>
            <p:nvPr/>
          </p:nvSpPr>
          <p:spPr bwMode="auto">
            <a:xfrm>
              <a:off x="4263"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6198" name="Text Box 116"/>
            <p:cNvSpPr txBox="1">
              <a:spLocks noChangeArrowheads="1"/>
            </p:cNvSpPr>
            <p:nvPr/>
          </p:nvSpPr>
          <p:spPr bwMode="auto">
            <a:xfrm>
              <a:off x="3519"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6199" name="Text Box 117"/>
            <p:cNvSpPr txBox="1">
              <a:spLocks noChangeArrowheads="1"/>
            </p:cNvSpPr>
            <p:nvPr/>
          </p:nvSpPr>
          <p:spPr bwMode="auto">
            <a:xfrm>
              <a:off x="3954"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46200" name="Text Box 118"/>
            <p:cNvSpPr txBox="1">
              <a:spLocks noChangeArrowheads="1"/>
            </p:cNvSpPr>
            <p:nvPr/>
          </p:nvSpPr>
          <p:spPr bwMode="auto">
            <a:xfrm>
              <a:off x="4956" y="312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4</a:t>
              </a:r>
            </a:p>
          </p:txBody>
        </p:sp>
        <p:sp>
          <p:nvSpPr>
            <p:cNvPr id="46201" name="Text Box 119"/>
            <p:cNvSpPr txBox="1">
              <a:spLocks noChangeArrowheads="1"/>
            </p:cNvSpPr>
            <p:nvPr/>
          </p:nvSpPr>
          <p:spPr bwMode="auto">
            <a:xfrm>
              <a:off x="4716" y="3126"/>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m</a:t>
              </a:r>
            </a:p>
          </p:txBody>
        </p:sp>
      </p:grpSp>
      <p:grpSp>
        <p:nvGrpSpPr>
          <p:cNvPr id="7" name="Group 212"/>
          <p:cNvGrpSpPr>
            <a:grpSpLocks/>
          </p:cNvGrpSpPr>
          <p:nvPr/>
        </p:nvGrpSpPr>
        <p:grpSpPr bwMode="auto">
          <a:xfrm>
            <a:off x="300038" y="2193925"/>
            <a:ext cx="7772400" cy="4114800"/>
            <a:chOff x="567" y="822"/>
            <a:chExt cx="4896" cy="2592"/>
          </a:xfrm>
        </p:grpSpPr>
        <p:sp>
          <p:nvSpPr>
            <p:cNvPr id="46146" name="Rectangle 121"/>
            <p:cNvSpPr>
              <a:spLocks noChangeArrowheads="1"/>
            </p:cNvSpPr>
            <p:nvPr/>
          </p:nvSpPr>
          <p:spPr bwMode="auto">
            <a:xfrm>
              <a:off x="567" y="822"/>
              <a:ext cx="4896" cy="2592"/>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6147" name="Text Box 122"/>
            <p:cNvSpPr txBox="1">
              <a:spLocks noChangeArrowheads="1"/>
            </p:cNvSpPr>
            <p:nvPr/>
          </p:nvSpPr>
          <p:spPr bwMode="auto">
            <a:xfrm>
              <a:off x="615" y="860"/>
              <a:ext cx="4464" cy="1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cs typeface="Times New Roman" pitchFamily="18" charset="0"/>
                </a:rPr>
                <a:t>1.	If </a:t>
              </a:r>
              <a:r>
                <a:rPr lang="en-US" altLang="en-US" sz="2000" i="1">
                  <a:latin typeface="Times New Roman" pitchFamily="18" charset="0"/>
                  <a:cs typeface="Times New Roman" pitchFamily="18" charset="0"/>
                </a:rPr>
                <a:t>left </a:t>
              </a:r>
              <a:r>
                <a:rPr lang="en-US" altLang="en-US" sz="2000">
                  <a:latin typeface="Times New Roman" pitchFamily="18" charset="0"/>
                  <a:cs typeface="Times New Roman" pitchFamily="18" charset="0"/>
                </a:rPr>
                <a:t>&lt; </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1.1.	Let </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 be an integer about midway between </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 and </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1.2.	Sort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 into ascending order.</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1.3.	Sort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+1…</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 into ascending order.</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1.4.	</a:t>
              </a:r>
              <a:r>
                <a:rPr lang="en-US" altLang="en-US" sz="2000">
                  <a:solidFill>
                    <a:srgbClr val="FF0000"/>
                  </a:solidFill>
                  <a:latin typeface="Times New Roman" pitchFamily="18" charset="0"/>
                  <a:cs typeface="Times New Roman" pitchFamily="18" charset="0"/>
                </a:rPr>
                <a:t>Merge </a:t>
              </a:r>
              <a:r>
                <a:rPr lang="en-US" altLang="en-US" sz="2000" i="1">
                  <a:solidFill>
                    <a:srgbClr val="FF0000"/>
                  </a:solidFill>
                  <a:latin typeface="Times New Roman" pitchFamily="18" charset="0"/>
                  <a:cs typeface="Times New Roman" pitchFamily="18" charset="0"/>
                </a:rPr>
                <a:t>a</a:t>
              </a:r>
              <a:r>
                <a:rPr lang="en-US" altLang="en-US" sz="2000">
                  <a:solidFill>
                    <a:srgbClr val="FF0000"/>
                  </a:solidFill>
                  <a:latin typeface="Times New Roman" pitchFamily="18" charset="0"/>
                  <a:cs typeface="Times New Roman" pitchFamily="18" charset="0"/>
                </a:rPr>
                <a:t>[</a:t>
              </a:r>
              <a:r>
                <a:rPr lang="en-US" altLang="en-US" sz="2000" i="1">
                  <a:solidFill>
                    <a:srgbClr val="FF0000"/>
                  </a:solidFill>
                  <a:latin typeface="Times New Roman" pitchFamily="18" charset="0"/>
                  <a:cs typeface="Times New Roman" pitchFamily="18" charset="0"/>
                </a:rPr>
                <a:t>left</a:t>
              </a:r>
              <a:r>
                <a:rPr lang="en-US" altLang="en-US" sz="2000">
                  <a:solidFill>
                    <a:srgbClr val="FF0000"/>
                  </a:solidFill>
                  <a:latin typeface="Times New Roman" pitchFamily="18" charset="0"/>
                  <a:cs typeface="Times New Roman" pitchFamily="18" charset="0"/>
                </a:rPr>
                <a:t>…</a:t>
              </a:r>
              <a:r>
                <a:rPr lang="en-US" altLang="en-US" sz="2000" i="1">
                  <a:solidFill>
                    <a:srgbClr val="FF0000"/>
                  </a:solidFill>
                  <a:latin typeface="Times New Roman" pitchFamily="18" charset="0"/>
                  <a:cs typeface="Times New Roman" pitchFamily="18" charset="0"/>
                </a:rPr>
                <a:t>m</a:t>
              </a:r>
              <a:r>
                <a:rPr lang="en-US" altLang="en-US" sz="2000">
                  <a:solidFill>
                    <a:srgbClr val="FF0000"/>
                  </a:solidFill>
                  <a:latin typeface="Times New Roman" pitchFamily="18" charset="0"/>
                  <a:cs typeface="Times New Roman" pitchFamily="18" charset="0"/>
                </a:rPr>
                <a:t>] and </a:t>
              </a:r>
              <a:r>
                <a:rPr lang="en-US" altLang="en-US" sz="2000" i="1">
                  <a:solidFill>
                    <a:srgbClr val="FF0000"/>
                  </a:solidFill>
                  <a:latin typeface="Times New Roman" pitchFamily="18" charset="0"/>
                  <a:cs typeface="Times New Roman" pitchFamily="18" charset="0"/>
                </a:rPr>
                <a:t>a</a:t>
              </a:r>
              <a:r>
                <a:rPr lang="en-US" altLang="en-US" sz="2000">
                  <a:solidFill>
                    <a:srgbClr val="FF0000"/>
                  </a:solidFill>
                  <a:latin typeface="Times New Roman" pitchFamily="18" charset="0"/>
                  <a:cs typeface="Times New Roman" pitchFamily="18" charset="0"/>
                </a:rPr>
                <a:t>[</a:t>
              </a:r>
              <a:r>
                <a:rPr lang="en-US" altLang="en-US" sz="2000" i="1">
                  <a:solidFill>
                    <a:srgbClr val="FF0000"/>
                  </a:solidFill>
                  <a:latin typeface="Times New Roman" pitchFamily="18" charset="0"/>
                  <a:cs typeface="Times New Roman" pitchFamily="18" charset="0"/>
                </a:rPr>
                <a:t>m</a:t>
              </a:r>
              <a:r>
                <a:rPr lang="en-US" altLang="en-US" sz="2000">
                  <a:solidFill>
                    <a:srgbClr val="FF0000"/>
                  </a:solidFill>
                  <a:latin typeface="Times New Roman" pitchFamily="18" charset="0"/>
                  <a:cs typeface="Times New Roman" pitchFamily="18" charset="0"/>
                </a:rPr>
                <a:t>+1…</a:t>
              </a:r>
              <a:r>
                <a:rPr lang="en-US" altLang="en-US" sz="2000" i="1">
                  <a:solidFill>
                    <a:srgbClr val="FF0000"/>
                  </a:solidFill>
                  <a:latin typeface="Times New Roman" pitchFamily="18" charset="0"/>
                  <a:cs typeface="Times New Roman" pitchFamily="18" charset="0"/>
                </a:rPr>
                <a:t>right</a:t>
              </a:r>
              <a:r>
                <a:rPr lang="en-US" altLang="en-US" sz="2000">
                  <a:solidFill>
                    <a:srgbClr val="FF0000"/>
                  </a:solidFill>
                  <a:latin typeface="Times New Roman" pitchFamily="18" charset="0"/>
                  <a:cs typeface="Times New Roman" pitchFamily="18" charset="0"/>
                </a:rPr>
                <a:t>] into auxiliary array </a:t>
              </a:r>
              <a:r>
                <a:rPr lang="en-US" altLang="en-US" sz="2000" i="1">
                  <a:solidFill>
                    <a:srgbClr val="FF0000"/>
                  </a:solidFill>
                  <a:latin typeface="Times New Roman" pitchFamily="18" charset="0"/>
                  <a:cs typeface="Times New Roman" pitchFamily="18" charset="0"/>
                </a:rPr>
                <a:t>b</a:t>
              </a:r>
              <a:r>
                <a:rPr lang="en-US" altLang="en-US" sz="2000">
                  <a:solidFill>
                    <a:srgbClr val="FF0000"/>
                  </a:solidFill>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1.5.	Copy all elements of </a:t>
              </a:r>
              <a:r>
                <a:rPr lang="en-US" altLang="en-US" sz="2000" i="1">
                  <a:latin typeface="Times New Roman" pitchFamily="18" charset="0"/>
                  <a:cs typeface="Times New Roman" pitchFamily="18" charset="0"/>
                </a:rPr>
                <a:t>b</a:t>
              </a:r>
              <a:r>
                <a:rPr lang="en-US" altLang="en-US" sz="2000">
                  <a:latin typeface="Times New Roman" pitchFamily="18" charset="0"/>
                  <a:cs typeface="Times New Roman" pitchFamily="18" charset="0"/>
                </a:rPr>
                <a:t> into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2.	Terminate.</a:t>
              </a:r>
            </a:p>
          </p:txBody>
        </p:sp>
        <p:sp>
          <p:nvSpPr>
            <p:cNvPr id="46148" name="Text Box 123"/>
            <p:cNvSpPr txBox="1">
              <a:spLocks noChangeArrowheads="1"/>
            </p:cNvSpPr>
            <p:nvPr/>
          </p:nvSpPr>
          <p:spPr bwMode="auto">
            <a:xfrm>
              <a:off x="786"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6149" name="Text Box 124"/>
            <p:cNvSpPr txBox="1">
              <a:spLocks noChangeArrowheads="1"/>
            </p:cNvSpPr>
            <p:nvPr/>
          </p:nvSpPr>
          <p:spPr bwMode="auto">
            <a:xfrm>
              <a:off x="642" y="2502"/>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6150" name="Text Box 125"/>
            <p:cNvSpPr txBox="1">
              <a:spLocks noChangeArrowheads="1"/>
            </p:cNvSpPr>
            <p:nvPr/>
          </p:nvSpPr>
          <p:spPr bwMode="auto">
            <a:xfrm>
              <a:off x="1360"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6151" name="Text Box 126"/>
            <p:cNvSpPr txBox="1">
              <a:spLocks noChangeArrowheads="1"/>
            </p:cNvSpPr>
            <p:nvPr/>
          </p:nvSpPr>
          <p:spPr bwMode="auto">
            <a:xfrm>
              <a:off x="1788"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6152" name="Text Box 127"/>
            <p:cNvSpPr txBox="1">
              <a:spLocks noChangeArrowheads="1"/>
            </p:cNvSpPr>
            <p:nvPr/>
          </p:nvSpPr>
          <p:spPr bwMode="auto">
            <a:xfrm>
              <a:off x="2220"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6153" name="Text Box 128"/>
            <p:cNvSpPr txBox="1">
              <a:spLocks noChangeArrowheads="1"/>
            </p:cNvSpPr>
            <p:nvPr/>
          </p:nvSpPr>
          <p:spPr bwMode="auto">
            <a:xfrm>
              <a:off x="2652"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6154" name="Text Box 129"/>
            <p:cNvSpPr txBox="1">
              <a:spLocks noChangeArrowheads="1"/>
            </p:cNvSpPr>
            <p:nvPr/>
          </p:nvSpPr>
          <p:spPr bwMode="auto">
            <a:xfrm>
              <a:off x="3084"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6155" name="Text Box 130"/>
            <p:cNvSpPr txBox="1">
              <a:spLocks noChangeArrowheads="1"/>
            </p:cNvSpPr>
            <p:nvPr/>
          </p:nvSpPr>
          <p:spPr bwMode="auto">
            <a:xfrm>
              <a:off x="4284" y="2502"/>
              <a:ext cx="6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6156" name="Text Box 131"/>
            <p:cNvSpPr txBox="1">
              <a:spLocks noChangeArrowheads="1"/>
            </p:cNvSpPr>
            <p:nvPr/>
          </p:nvSpPr>
          <p:spPr bwMode="auto">
            <a:xfrm>
              <a:off x="1239"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6157" name="Text Box 132"/>
            <p:cNvSpPr txBox="1">
              <a:spLocks noChangeArrowheads="1"/>
            </p:cNvSpPr>
            <p:nvPr/>
          </p:nvSpPr>
          <p:spPr bwMode="auto">
            <a:xfrm>
              <a:off x="1671"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6158" name="Text Box 133"/>
            <p:cNvSpPr txBox="1">
              <a:spLocks noChangeArrowheads="1"/>
            </p:cNvSpPr>
            <p:nvPr/>
          </p:nvSpPr>
          <p:spPr bwMode="auto">
            <a:xfrm>
              <a:off x="2103"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6159" name="Text Box 134"/>
            <p:cNvSpPr txBox="1">
              <a:spLocks noChangeArrowheads="1"/>
            </p:cNvSpPr>
            <p:nvPr/>
          </p:nvSpPr>
          <p:spPr bwMode="auto">
            <a:xfrm>
              <a:off x="2535"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6160" name="Text Box 135"/>
            <p:cNvSpPr txBox="1">
              <a:spLocks noChangeArrowheads="1"/>
            </p:cNvSpPr>
            <p:nvPr/>
          </p:nvSpPr>
          <p:spPr bwMode="auto">
            <a:xfrm>
              <a:off x="2967"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6161" name="Text Box 136"/>
            <p:cNvSpPr txBox="1">
              <a:spLocks noChangeArrowheads="1"/>
            </p:cNvSpPr>
            <p:nvPr/>
          </p:nvSpPr>
          <p:spPr bwMode="auto">
            <a:xfrm>
              <a:off x="3399"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6162" name="Text Box 137"/>
            <p:cNvSpPr txBox="1">
              <a:spLocks noChangeArrowheads="1"/>
            </p:cNvSpPr>
            <p:nvPr/>
          </p:nvSpPr>
          <p:spPr bwMode="auto">
            <a:xfrm>
              <a:off x="594" y="2694"/>
              <a:ext cx="1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6163" name="Text Box 138"/>
            <p:cNvSpPr txBox="1">
              <a:spLocks noChangeArrowheads="1"/>
            </p:cNvSpPr>
            <p:nvPr/>
          </p:nvSpPr>
          <p:spPr bwMode="auto">
            <a:xfrm>
              <a:off x="3831"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6164" name="Text Box 139"/>
            <p:cNvSpPr txBox="1">
              <a:spLocks noChangeArrowheads="1"/>
            </p:cNvSpPr>
            <p:nvPr/>
          </p:nvSpPr>
          <p:spPr bwMode="auto">
            <a:xfrm>
              <a:off x="4263" y="269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6165" name="Text Box 140"/>
            <p:cNvSpPr txBox="1">
              <a:spLocks noChangeArrowheads="1"/>
            </p:cNvSpPr>
            <p:nvPr/>
          </p:nvSpPr>
          <p:spPr bwMode="auto">
            <a:xfrm>
              <a:off x="3519"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6166" name="Text Box 141"/>
            <p:cNvSpPr txBox="1">
              <a:spLocks noChangeArrowheads="1"/>
            </p:cNvSpPr>
            <p:nvPr/>
          </p:nvSpPr>
          <p:spPr bwMode="auto">
            <a:xfrm>
              <a:off x="3954"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46167" name="Text Box 142"/>
            <p:cNvSpPr txBox="1">
              <a:spLocks noChangeArrowheads="1"/>
            </p:cNvSpPr>
            <p:nvPr/>
          </p:nvSpPr>
          <p:spPr bwMode="auto">
            <a:xfrm>
              <a:off x="4956" y="312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4</a:t>
              </a:r>
            </a:p>
          </p:txBody>
        </p:sp>
        <p:sp>
          <p:nvSpPr>
            <p:cNvPr id="46168" name="Text Box 143"/>
            <p:cNvSpPr txBox="1">
              <a:spLocks noChangeArrowheads="1"/>
            </p:cNvSpPr>
            <p:nvPr/>
          </p:nvSpPr>
          <p:spPr bwMode="auto">
            <a:xfrm>
              <a:off x="4716" y="3126"/>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m</a:t>
              </a:r>
            </a:p>
          </p:txBody>
        </p:sp>
        <p:sp>
          <p:nvSpPr>
            <p:cNvPr id="46169" name="Text Box 144"/>
            <p:cNvSpPr txBox="1">
              <a:spLocks noChangeArrowheads="1"/>
            </p:cNvSpPr>
            <p:nvPr/>
          </p:nvSpPr>
          <p:spPr bwMode="auto">
            <a:xfrm>
              <a:off x="786" y="312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6170" name="Text Box 145"/>
            <p:cNvSpPr txBox="1">
              <a:spLocks noChangeArrowheads="1"/>
            </p:cNvSpPr>
            <p:nvPr/>
          </p:nvSpPr>
          <p:spPr bwMode="auto">
            <a:xfrm>
              <a:off x="1239" y="312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6171" name="Text Box 146"/>
            <p:cNvSpPr txBox="1">
              <a:spLocks noChangeArrowheads="1"/>
            </p:cNvSpPr>
            <p:nvPr/>
          </p:nvSpPr>
          <p:spPr bwMode="auto">
            <a:xfrm>
              <a:off x="1671" y="312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6172" name="Text Box 147"/>
            <p:cNvSpPr txBox="1">
              <a:spLocks noChangeArrowheads="1"/>
            </p:cNvSpPr>
            <p:nvPr/>
          </p:nvSpPr>
          <p:spPr bwMode="auto">
            <a:xfrm>
              <a:off x="2103" y="312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6173" name="Text Box 148"/>
            <p:cNvSpPr txBox="1">
              <a:spLocks noChangeArrowheads="1"/>
            </p:cNvSpPr>
            <p:nvPr/>
          </p:nvSpPr>
          <p:spPr bwMode="auto">
            <a:xfrm>
              <a:off x="2535" y="312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6174" name="Text Box 149"/>
            <p:cNvSpPr txBox="1">
              <a:spLocks noChangeArrowheads="1"/>
            </p:cNvSpPr>
            <p:nvPr/>
          </p:nvSpPr>
          <p:spPr bwMode="auto">
            <a:xfrm>
              <a:off x="2967" y="312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6175" name="Text Box 150"/>
            <p:cNvSpPr txBox="1">
              <a:spLocks noChangeArrowheads="1"/>
            </p:cNvSpPr>
            <p:nvPr/>
          </p:nvSpPr>
          <p:spPr bwMode="auto">
            <a:xfrm>
              <a:off x="3399" y="312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6176" name="Text Box 151"/>
            <p:cNvSpPr txBox="1">
              <a:spLocks noChangeArrowheads="1"/>
            </p:cNvSpPr>
            <p:nvPr/>
          </p:nvSpPr>
          <p:spPr bwMode="auto">
            <a:xfrm>
              <a:off x="594" y="3126"/>
              <a:ext cx="1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b</a:t>
              </a:r>
            </a:p>
          </p:txBody>
        </p:sp>
        <p:sp>
          <p:nvSpPr>
            <p:cNvPr id="46177" name="Text Box 152"/>
            <p:cNvSpPr txBox="1">
              <a:spLocks noChangeArrowheads="1"/>
            </p:cNvSpPr>
            <p:nvPr/>
          </p:nvSpPr>
          <p:spPr bwMode="auto">
            <a:xfrm>
              <a:off x="3831" y="312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6178" name="Text Box 153"/>
            <p:cNvSpPr txBox="1">
              <a:spLocks noChangeArrowheads="1"/>
            </p:cNvSpPr>
            <p:nvPr/>
          </p:nvSpPr>
          <p:spPr bwMode="auto">
            <a:xfrm>
              <a:off x="4263" y="312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grpSp>
      <p:grpSp>
        <p:nvGrpSpPr>
          <p:cNvPr id="8" name="Group 211"/>
          <p:cNvGrpSpPr>
            <a:grpSpLocks/>
          </p:cNvGrpSpPr>
          <p:nvPr/>
        </p:nvGrpSpPr>
        <p:grpSpPr bwMode="auto">
          <a:xfrm>
            <a:off x="300038" y="2193925"/>
            <a:ext cx="7772400" cy="4114800"/>
            <a:chOff x="567" y="822"/>
            <a:chExt cx="4896" cy="2592"/>
          </a:xfrm>
        </p:grpSpPr>
        <p:sp>
          <p:nvSpPr>
            <p:cNvPr id="46113" name="Rectangle 155"/>
            <p:cNvSpPr>
              <a:spLocks noChangeArrowheads="1"/>
            </p:cNvSpPr>
            <p:nvPr/>
          </p:nvSpPr>
          <p:spPr bwMode="auto">
            <a:xfrm>
              <a:off x="567" y="822"/>
              <a:ext cx="4896" cy="2592"/>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6114" name="Text Box 156"/>
            <p:cNvSpPr txBox="1">
              <a:spLocks noChangeArrowheads="1"/>
            </p:cNvSpPr>
            <p:nvPr/>
          </p:nvSpPr>
          <p:spPr bwMode="auto">
            <a:xfrm>
              <a:off x="615" y="860"/>
              <a:ext cx="4464" cy="1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cs typeface="Times New Roman" pitchFamily="18" charset="0"/>
                </a:rPr>
                <a:t>1.	If </a:t>
              </a:r>
              <a:r>
                <a:rPr lang="en-US" altLang="en-US" sz="2000" i="1">
                  <a:latin typeface="Times New Roman" pitchFamily="18" charset="0"/>
                  <a:cs typeface="Times New Roman" pitchFamily="18" charset="0"/>
                </a:rPr>
                <a:t>left </a:t>
              </a:r>
              <a:r>
                <a:rPr lang="en-US" altLang="en-US" sz="2000">
                  <a:latin typeface="Times New Roman" pitchFamily="18" charset="0"/>
                  <a:cs typeface="Times New Roman" pitchFamily="18" charset="0"/>
                </a:rPr>
                <a:t>&lt; </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1.1.	Let </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 be an integer about midway between </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 and </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1.2.	Sort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 into ascending order.</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1.3.	Sort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+1…</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 into ascending order.</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1.4.	Merge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 and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+1…</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 into auxiliary array </a:t>
              </a:r>
              <a:r>
                <a:rPr lang="en-US" altLang="en-US" sz="2000" i="1">
                  <a:latin typeface="Times New Roman" pitchFamily="18" charset="0"/>
                  <a:cs typeface="Times New Roman" pitchFamily="18" charset="0"/>
                </a:rPr>
                <a:t>b</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1.5.	</a:t>
              </a:r>
              <a:r>
                <a:rPr lang="en-US" altLang="en-US" sz="2000">
                  <a:solidFill>
                    <a:srgbClr val="FF0000"/>
                  </a:solidFill>
                  <a:latin typeface="Times New Roman" pitchFamily="18" charset="0"/>
                  <a:cs typeface="Times New Roman" pitchFamily="18" charset="0"/>
                </a:rPr>
                <a:t>Copy all elements of </a:t>
              </a:r>
              <a:r>
                <a:rPr lang="en-US" altLang="en-US" sz="2000" i="1">
                  <a:solidFill>
                    <a:srgbClr val="FF0000"/>
                  </a:solidFill>
                  <a:latin typeface="Times New Roman" pitchFamily="18" charset="0"/>
                  <a:cs typeface="Times New Roman" pitchFamily="18" charset="0"/>
                </a:rPr>
                <a:t>b</a:t>
              </a:r>
              <a:r>
                <a:rPr lang="en-US" altLang="en-US" sz="2000">
                  <a:solidFill>
                    <a:srgbClr val="FF0000"/>
                  </a:solidFill>
                  <a:latin typeface="Times New Roman" pitchFamily="18" charset="0"/>
                  <a:cs typeface="Times New Roman" pitchFamily="18" charset="0"/>
                </a:rPr>
                <a:t> into </a:t>
              </a:r>
              <a:r>
                <a:rPr lang="en-US" altLang="en-US" sz="2000" i="1">
                  <a:solidFill>
                    <a:srgbClr val="FF0000"/>
                  </a:solidFill>
                  <a:latin typeface="Times New Roman" pitchFamily="18" charset="0"/>
                  <a:cs typeface="Times New Roman" pitchFamily="18" charset="0"/>
                </a:rPr>
                <a:t>a</a:t>
              </a:r>
              <a:r>
                <a:rPr lang="en-US" altLang="en-US" sz="2000">
                  <a:solidFill>
                    <a:srgbClr val="FF0000"/>
                  </a:solidFill>
                  <a:latin typeface="Times New Roman" pitchFamily="18" charset="0"/>
                  <a:cs typeface="Times New Roman" pitchFamily="18" charset="0"/>
                </a:rPr>
                <a:t>[</a:t>
              </a:r>
              <a:r>
                <a:rPr lang="en-US" altLang="en-US" sz="2000" i="1">
                  <a:solidFill>
                    <a:srgbClr val="FF0000"/>
                  </a:solidFill>
                  <a:latin typeface="Times New Roman" pitchFamily="18" charset="0"/>
                  <a:cs typeface="Times New Roman" pitchFamily="18" charset="0"/>
                </a:rPr>
                <a:t>left</a:t>
              </a:r>
              <a:r>
                <a:rPr lang="en-US" altLang="en-US" sz="2000">
                  <a:solidFill>
                    <a:srgbClr val="FF0000"/>
                  </a:solidFill>
                  <a:latin typeface="Times New Roman" pitchFamily="18" charset="0"/>
                  <a:cs typeface="Times New Roman" pitchFamily="18" charset="0"/>
                </a:rPr>
                <a:t>…</a:t>
              </a:r>
              <a:r>
                <a:rPr lang="en-US" altLang="en-US" sz="2000" i="1">
                  <a:solidFill>
                    <a:srgbClr val="FF0000"/>
                  </a:solidFill>
                  <a:latin typeface="Times New Roman" pitchFamily="18" charset="0"/>
                  <a:cs typeface="Times New Roman" pitchFamily="18" charset="0"/>
                </a:rPr>
                <a:t>right</a:t>
              </a:r>
              <a:r>
                <a:rPr lang="en-US" altLang="en-US" sz="2000">
                  <a:solidFill>
                    <a:srgbClr val="FF0000"/>
                  </a:solidFill>
                  <a:latin typeface="Times New Roman" pitchFamily="18" charset="0"/>
                  <a:cs typeface="Times New Roman" pitchFamily="18" charset="0"/>
                </a:rPr>
                <a:t>].</a:t>
              </a:r>
              <a:br>
                <a:rPr lang="en-US" altLang="en-US" sz="2000">
                  <a:solidFill>
                    <a:srgbClr val="FF0000"/>
                  </a:solidFill>
                  <a:latin typeface="Times New Roman" pitchFamily="18" charset="0"/>
                  <a:cs typeface="Times New Roman" pitchFamily="18" charset="0"/>
                </a:rPr>
              </a:br>
              <a:r>
                <a:rPr lang="en-US" altLang="en-US" sz="2000">
                  <a:latin typeface="Times New Roman" pitchFamily="18" charset="0"/>
                  <a:cs typeface="Times New Roman" pitchFamily="18" charset="0"/>
                </a:rPr>
                <a:t>2.	Terminate.</a:t>
              </a:r>
            </a:p>
          </p:txBody>
        </p:sp>
        <p:sp>
          <p:nvSpPr>
            <p:cNvPr id="46115" name="Text Box 157"/>
            <p:cNvSpPr txBox="1">
              <a:spLocks noChangeArrowheads="1"/>
            </p:cNvSpPr>
            <p:nvPr/>
          </p:nvSpPr>
          <p:spPr bwMode="auto">
            <a:xfrm>
              <a:off x="642" y="2502"/>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6116" name="Text Box 158"/>
            <p:cNvSpPr txBox="1">
              <a:spLocks noChangeArrowheads="1"/>
            </p:cNvSpPr>
            <p:nvPr/>
          </p:nvSpPr>
          <p:spPr bwMode="auto">
            <a:xfrm>
              <a:off x="1360"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6117" name="Text Box 159"/>
            <p:cNvSpPr txBox="1">
              <a:spLocks noChangeArrowheads="1"/>
            </p:cNvSpPr>
            <p:nvPr/>
          </p:nvSpPr>
          <p:spPr bwMode="auto">
            <a:xfrm>
              <a:off x="1788"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6118" name="Text Box 160"/>
            <p:cNvSpPr txBox="1">
              <a:spLocks noChangeArrowheads="1"/>
            </p:cNvSpPr>
            <p:nvPr/>
          </p:nvSpPr>
          <p:spPr bwMode="auto">
            <a:xfrm>
              <a:off x="2220"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6119" name="Text Box 161"/>
            <p:cNvSpPr txBox="1">
              <a:spLocks noChangeArrowheads="1"/>
            </p:cNvSpPr>
            <p:nvPr/>
          </p:nvSpPr>
          <p:spPr bwMode="auto">
            <a:xfrm>
              <a:off x="2652"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6120" name="Text Box 162"/>
            <p:cNvSpPr txBox="1">
              <a:spLocks noChangeArrowheads="1"/>
            </p:cNvSpPr>
            <p:nvPr/>
          </p:nvSpPr>
          <p:spPr bwMode="auto">
            <a:xfrm>
              <a:off x="3084"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6121" name="Text Box 163"/>
            <p:cNvSpPr txBox="1">
              <a:spLocks noChangeArrowheads="1"/>
            </p:cNvSpPr>
            <p:nvPr/>
          </p:nvSpPr>
          <p:spPr bwMode="auto">
            <a:xfrm>
              <a:off x="4284" y="2502"/>
              <a:ext cx="6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6122" name="Text Box 164"/>
            <p:cNvSpPr txBox="1">
              <a:spLocks noChangeArrowheads="1"/>
            </p:cNvSpPr>
            <p:nvPr/>
          </p:nvSpPr>
          <p:spPr bwMode="auto">
            <a:xfrm>
              <a:off x="594" y="2694"/>
              <a:ext cx="1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6123" name="Text Box 165"/>
            <p:cNvSpPr txBox="1">
              <a:spLocks noChangeArrowheads="1"/>
            </p:cNvSpPr>
            <p:nvPr/>
          </p:nvSpPr>
          <p:spPr bwMode="auto">
            <a:xfrm>
              <a:off x="3519"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6124" name="Text Box 166"/>
            <p:cNvSpPr txBox="1">
              <a:spLocks noChangeArrowheads="1"/>
            </p:cNvSpPr>
            <p:nvPr/>
          </p:nvSpPr>
          <p:spPr bwMode="auto">
            <a:xfrm>
              <a:off x="3954" y="250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46125" name="Text Box 167"/>
            <p:cNvSpPr txBox="1">
              <a:spLocks noChangeArrowheads="1"/>
            </p:cNvSpPr>
            <p:nvPr/>
          </p:nvSpPr>
          <p:spPr bwMode="auto">
            <a:xfrm>
              <a:off x="4956" y="3126"/>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4</a:t>
              </a:r>
            </a:p>
          </p:txBody>
        </p:sp>
        <p:sp>
          <p:nvSpPr>
            <p:cNvPr id="46126" name="Text Box 168"/>
            <p:cNvSpPr txBox="1">
              <a:spLocks noChangeArrowheads="1"/>
            </p:cNvSpPr>
            <p:nvPr/>
          </p:nvSpPr>
          <p:spPr bwMode="auto">
            <a:xfrm>
              <a:off x="4716" y="3126"/>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m</a:t>
              </a:r>
            </a:p>
          </p:txBody>
        </p:sp>
        <p:sp>
          <p:nvSpPr>
            <p:cNvPr id="46127" name="Text Box 169"/>
            <p:cNvSpPr txBox="1">
              <a:spLocks noChangeArrowheads="1"/>
            </p:cNvSpPr>
            <p:nvPr/>
          </p:nvSpPr>
          <p:spPr bwMode="auto">
            <a:xfrm>
              <a:off x="786" y="312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6128" name="Text Box 170"/>
            <p:cNvSpPr txBox="1">
              <a:spLocks noChangeArrowheads="1"/>
            </p:cNvSpPr>
            <p:nvPr/>
          </p:nvSpPr>
          <p:spPr bwMode="auto">
            <a:xfrm>
              <a:off x="1239" y="312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6129" name="Text Box 171"/>
            <p:cNvSpPr txBox="1">
              <a:spLocks noChangeArrowheads="1"/>
            </p:cNvSpPr>
            <p:nvPr/>
          </p:nvSpPr>
          <p:spPr bwMode="auto">
            <a:xfrm>
              <a:off x="1671" y="312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6130" name="Text Box 172"/>
            <p:cNvSpPr txBox="1">
              <a:spLocks noChangeArrowheads="1"/>
            </p:cNvSpPr>
            <p:nvPr/>
          </p:nvSpPr>
          <p:spPr bwMode="auto">
            <a:xfrm>
              <a:off x="2103" y="312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6131" name="Text Box 173"/>
            <p:cNvSpPr txBox="1">
              <a:spLocks noChangeArrowheads="1"/>
            </p:cNvSpPr>
            <p:nvPr/>
          </p:nvSpPr>
          <p:spPr bwMode="auto">
            <a:xfrm>
              <a:off x="2535" y="312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6132" name="Text Box 174"/>
            <p:cNvSpPr txBox="1">
              <a:spLocks noChangeArrowheads="1"/>
            </p:cNvSpPr>
            <p:nvPr/>
          </p:nvSpPr>
          <p:spPr bwMode="auto">
            <a:xfrm>
              <a:off x="2967" y="312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6133" name="Text Box 175"/>
            <p:cNvSpPr txBox="1">
              <a:spLocks noChangeArrowheads="1"/>
            </p:cNvSpPr>
            <p:nvPr/>
          </p:nvSpPr>
          <p:spPr bwMode="auto">
            <a:xfrm>
              <a:off x="3399" y="312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6134" name="Text Box 176"/>
            <p:cNvSpPr txBox="1">
              <a:spLocks noChangeArrowheads="1"/>
            </p:cNvSpPr>
            <p:nvPr/>
          </p:nvSpPr>
          <p:spPr bwMode="auto">
            <a:xfrm>
              <a:off x="594" y="3126"/>
              <a:ext cx="1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b</a:t>
              </a:r>
            </a:p>
          </p:txBody>
        </p:sp>
        <p:sp>
          <p:nvSpPr>
            <p:cNvPr id="46135" name="Text Box 177"/>
            <p:cNvSpPr txBox="1">
              <a:spLocks noChangeArrowheads="1"/>
            </p:cNvSpPr>
            <p:nvPr/>
          </p:nvSpPr>
          <p:spPr bwMode="auto">
            <a:xfrm>
              <a:off x="3831" y="312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6136" name="Text Box 178"/>
            <p:cNvSpPr txBox="1">
              <a:spLocks noChangeArrowheads="1"/>
            </p:cNvSpPr>
            <p:nvPr/>
          </p:nvSpPr>
          <p:spPr bwMode="auto">
            <a:xfrm>
              <a:off x="4263" y="3126"/>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46137" name="Text Box 179"/>
            <p:cNvSpPr txBox="1">
              <a:spLocks noChangeArrowheads="1"/>
            </p:cNvSpPr>
            <p:nvPr/>
          </p:nvSpPr>
          <p:spPr bwMode="auto">
            <a:xfrm>
              <a:off x="786" y="269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46138" name="Text Box 180"/>
            <p:cNvSpPr txBox="1">
              <a:spLocks noChangeArrowheads="1"/>
            </p:cNvSpPr>
            <p:nvPr/>
          </p:nvSpPr>
          <p:spPr bwMode="auto">
            <a:xfrm>
              <a:off x="1239" y="269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46139" name="Text Box 181"/>
            <p:cNvSpPr txBox="1">
              <a:spLocks noChangeArrowheads="1"/>
            </p:cNvSpPr>
            <p:nvPr/>
          </p:nvSpPr>
          <p:spPr bwMode="auto">
            <a:xfrm>
              <a:off x="1671" y="269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6140" name="Text Box 182"/>
            <p:cNvSpPr txBox="1">
              <a:spLocks noChangeArrowheads="1"/>
            </p:cNvSpPr>
            <p:nvPr/>
          </p:nvSpPr>
          <p:spPr bwMode="auto">
            <a:xfrm>
              <a:off x="2103" y="269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6141" name="Text Box 183"/>
            <p:cNvSpPr txBox="1">
              <a:spLocks noChangeArrowheads="1"/>
            </p:cNvSpPr>
            <p:nvPr/>
          </p:nvSpPr>
          <p:spPr bwMode="auto">
            <a:xfrm>
              <a:off x="2535" y="269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6142" name="Text Box 184"/>
            <p:cNvSpPr txBox="1">
              <a:spLocks noChangeArrowheads="1"/>
            </p:cNvSpPr>
            <p:nvPr/>
          </p:nvSpPr>
          <p:spPr bwMode="auto">
            <a:xfrm>
              <a:off x="2967" y="269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6143" name="Text Box 185"/>
            <p:cNvSpPr txBox="1">
              <a:spLocks noChangeArrowheads="1"/>
            </p:cNvSpPr>
            <p:nvPr/>
          </p:nvSpPr>
          <p:spPr bwMode="auto">
            <a:xfrm>
              <a:off x="3399" y="269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6144" name="Text Box 186"/>
            <p:cNvSpPr txBox="1">
              <a:spLocks noChangeArrowheads="1"/>
            </p:cNvSpPr>
            <p:nvPr/>
          </p:nvSpPr>
          <p:spPr bwMode="auto">
            <a:xfrm>
              <a:off x="3831" y="269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6145" name="Text Box 187"/>
            <p:cNvSpPr txBox="1">
              <a:spLocks noChangeArrowheads="1"/>
            </p:cNvSpPr>
            <p:nvPr/>
          </p:nvSpPr>
          <p:spPr bwMode="auto">
            <a:xfrm>
              <a:off x="4263" y="2694"/>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grpSp>
      <p:grpSp>
        <p:nvGrpSpPr>
          <p:cNvPr id="9" name="Group 210"/>
          <p:cNvGrpSpPr>
            <a:grpSpLocks/>
          </p:cNvGrpSpPr>
          <p:nvPr/>
        </p:nvGrpSpPr>
        <p:grpSpPr bwMode="auto">
          <a:xfrm>
            <a:off x="300038" y="2193925"/>
            <a:ext cx="7772400" cy="4114800"/>
            <a:chOff x="567" y="815"/>
            <a:chExt cx="4896" cy="2592"/>
          </a:xfrm>
        </p:grpSpPr>
        <p:sp>
          <p:nvSpPr>
            <p:cNvPr id="46092" name="Rectangle 189"/>
            <p:cNvSpPr>
              <a:spLocks noChangeArrowheads="1"/>
            </p:cNvSpPr>
            <p:nvPr/>
          </p:nvSpPr>
          <p:spPr bwMode="auto">
            <a:xfrm>
              <a:off x="567" y="815"/>
              <a:ext cx="4896" cy="2592"/>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46093" name="Text Box 190"/>
            <p:cNvSpPr txBox="1">
              <a:spLocks noChangeArrowheads="1"/>
            </p:cNvSpPr>
            <p:nvPr/>
          </p:nvSpPr>
          <p:spPr bwMode="auto">
            <a:xfrm>
              <a:off x="615" y="853"/>
              <a:ext cx="4464" cy="1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cs typeface="Times New Roman" pitchFamily="18" charset="0"/>
                </a:rPr>
                <a:t>1.	If </a:t>
              </a:r>
              <a:r>
                <a:rPr lang="en-US" altLang="en-US" sz="2000" i="1">
                  <a:latin typeface="Times New Roman" pitchFamily="18" charset="0"/>
                  <a:cs typeface="Times New Roman" pitchFamily="18" charset="0"/>
                </a:rPr>
                <a:t>left </a:t>
              </a:r>
              <a:r>
                <a:rPr lang="en-US" altLang="en-US" sz="2000">
                  <a:latin typeface="Times New Roman" pitchFamily="18" charset="0"/>
                  <a:cs typeface="Times New Roman" pitchFamily="18" charset="0"/>
                </a:rPr>
                <a:t>&lt; </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1.1.	Let </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 be an integer about midway between </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 and </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1.2.	Sort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 into ascending order.</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1.3.	Sort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+1…</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 into ascending order.</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1.4.	Merge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 and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m</a:t>
              </a:r>
              <a:r>
                <a:rPr lang="en-US" altLang="en-US" sz="2000">
                  <a:latin typeface="Times New Roman" pitchFamily="18" charset="0"/>
                  <a:cs typeface="Times New Roman" pitchFamily="18" charset="0"/>
                </a:rPr>
                <a:t>+1…</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 into auxiliary array </a:t>
              </a:r>
              <a:r>
                <a:rPr lang="en-US" altLang="en-US" sz="2000" i="1">
                  <a:latin typeface="Times New Roman" pitchFamily="18" charset="0"/>
                  <a:cs typeface="Times New Roman" pitchFamily="18" charset="0"/>
                </a:rPr>
                <a:t>b</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1.5.	Copy all elements of </a:t>
              </a:r>
              <a:r>
                <a:rPr lang="en-US" altLang="en-US" sz="2000" i="1">
                  <a:latin typeface="Times New Roman" pitchFamily="18" charset="0"/>
                  <a:cs typeface="Times New Roman" pitchFamily="18" charset="0"/>
                </a:rPr>
                <a:t>b</a:t>
              </a:r>
              <a:r>
                <a:rPr lang="en-US" altLang="en-US" sz="2000">
                  <a:latin typeface="Times New Roman" pitchFamily="18" charset="0"/>
                  <a:cs typeface="Times New Roman" pitchFamily="18" charset="0"/>
                </a:rPr>
                <a:t> into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a:t>
              </a:r>
              <a:br>
                <a:rPr lang="en-US" altLang="en-US" sz="2000">
                  <a:solidFill>
                    <a:srgbClr val="FF0000"/>
                  </a:solidFill>
                  <a:latin typeface="Times New Roman" pitchFamily="18" charset="0"/>
                  <a:cs typeface="Times New Roman" pitchFamily="18" charset="0"/>
                </a:rPr>
              </a:br>
              <a:r>
                <a:rPr lang="en-US" altLang="en-US" sz="2000">
                  <a:latin typeface="Times New Roman" pitchFamily="18" charset="0"/>
                  <a:cs typeface="Times New Roman" pitchFamily="18" charset="0"/>
                </a:rPr>
                <a:t>2.	</a:t>
              </a:r>
              <a:r>
                <a:rPr lang="en-US" altLang="en-US" sz="2000">
                  <a:solidFill>
                    <a:srgbClr val="FF5050"/>
                  </a:solidFill>
                  <a:latin typeface="Times New Roman" pitchFamily="18" charset="0"/>
                  <a:cs typeface="Times New Roman" pitchFamily="18" charset="0"/>
                </a:rPr>
                <a:t>Terminate.</a:t>
              </a:r>
            </a:p>
          </p:txBody>
        </p:sp>
        <p:sp>
          <p:nvSpPr>
            <p:cNvPr id="46094" name="Text Box 191"/>
            <p:cNvSpPr txBox="1">
              <a:spLocks noChangeArrowheads="1"/>
            </p:cNvSpPr>
            <p:nvPr/>
          </p:nvSpPr>
          <p:spPr bwMode="auto">
            <a:xfrm>
              <a:off x="642" y="2495"/>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46095" name="Text Box 192"/>
            <p:cNvSpPr txBox="1">
              <a:spLocks noChangeArrowheads="1"/>
            </p:cNvSpPr>
            <p:nvPr/>
          </p:nvSpPr>
          <p:spPr bwMode="auto">
            <a:xfrm>
              <a:off x="1360" y="2495"/>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46096" name="Text Box 193"/>
            <p:cNvSpPr txBox="1">
              <a:spLocks noChangeArrowheads="1"/>
            </p:cNvSpPr>
            <p:nvPr/>
          </p:nvSpPr>
          <p:spPr bwMode="auto">
            <a:xfrm>
              <a:off x="1788" y="2495"/>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46097" name="Text Box 194"/>
            <p:cNvSpPr txBox="1">
              <a:spLocks noChangeArrowheads="1"/>
            </p:cNvSpPr>
            <p:nvPr/>
          </p:nvSpPr>
          <p:spPr bwMode="auto">
            <a:xfrm>
              <a:off x="2220" y="2495"/>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46098" name="Text Box 195"/>
            <p:cNvSpPr txBox="1">
              <a:spLocks noChangeArrowheads="1"/>
            </p:cNvSpPr>
            <p:nvPr/>
          </p:nvSpPr>
          <p:spPr bwMode="auto">
            <a:xfrm>
              <a:off x="2652" y="2495"/>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46099" name="Text Box 196"/>
            <p:cNvSpPr txBox="1">
              <a:spLocks noChangeArrowheads="1"/>
            </p:cNvSpPr>
            <p:nvPr/>
          </p:nvSpPr>
          <p:spPr bwMode="auto">
            <a:xfrm>
              <a:off x="3084" y="2495"/>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46100" name="Text Box 197"/>
            <p:cNvSpPr txBox="1">
              <a:spLocks noChangeArrowheads="1"/>
            </p:cNvSpPr>
            <p:nvPr/>
          </p:nvSpPr>
          <p:spPr bwMode="auto">
            <a:xfrm>
              <a:off x="4284" y="2495"/>
              <a:ext cx="6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46101" name="Text Box 198"/>
            <p:cNvSpPr txBox="1">
              <a:spLocks noChangeArrowheads="1"/>
            </p:cNvSpPr>
            <p:nvPr/>
          </p:nvSpPr>
          <p:spPr bwMode="auto">
            <a:xfrm>
              <a:off x="594" y="2687"/>
              <a:ext cx="1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46102" name="Text Box 199"/>
            <p:cNvSpPr txBox="1">
              <a:spLocks noChangeArrowheads="1"/>
            </p:cNvSpPr>
            <p:nvPr/>
          </p:nvSpPr>
          <p:spPr bwMode="auto">
            <a:xfrm>
              <a:off x="3519" y="2495"/>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46103" name="Text Box 200"/>
            <p:cNvSpPr txBox="1">
              <a:spLocks noChangeArrowheads="1"/>
            </p:cNvSpPr>
            <p:nvPr/>
          </p:nvSpPr>
          <p:spPr bwMode="auto">
            <a:xfrm>
              <a:off x="3954" y="2495"/>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46104" name="Text Box 201"/>
            <p:cNvSpPr txBox="1">
              <a:spLocks noChangeArrowheads="1"/>
            </p:cNvSpPr>
            <p:nvPr/>
          </p:nvSpPr>
          <p:spPr bwMode="auto">
            <a:xfrm>
              <a:off x="786" y="2687"/>
              <a:ext cx="453" cy="227"/>
            </a:xfrm>
            <a:prstGeom prst="rect">
              <a:avLst/>
            </a:prstGeom>
            <a:solidFill>
              <a:srgbClr val="00B0F0"/>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dirty="0">
                  <a:latin typeface="Times New Roman" pitchFamily="18" charset="0"/>
                </a:rPr>
                <a:t>cat</a:t>
              </a:r>
            </a:p>
          </p:txBody>
        </p:sp>
        <p:sp>
          <p:nvSpPr>
            <p:cNvPr id="46105" name="Text Box 202"/>
            <p:cNvSpPr txBox="1">
              <a:spLocks noChangeArrowheads="1"/>
            </p:cNvSpPr>
            <p:nvPr/>
          </p:nvSpPr>
          <p:spPr bwMode="auto">
            <a:xfrm>
              <a:off x="1239" y="2687"/>
              <a:ext cx="453" cy="227"/>
            </a:xfrm>
            <a:prstGeom prst="rect">
              <a:avLst/>
            </a:prstGeom>
            <a:solidFill>
              <a:srgbClr val="00B0F0"/>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dirty="0">
                  <a:latin typeface="Times New Roman" pitchFamily="18" charset="0"/>
                </a:rPr>
                <a:t>cow</a:t>
              </a:r>
            </a:p>
          </p:txBody>
        </p:sp>
        <p:sp>
          <p:nvSpPr>
            <p:cNvPr id="46106" name="Text Box 203"/>
            <p:cNvSpPr txBox="1">
              <a:spLocks noChangeArrowheads="1"/>
            </p:cNvSpPr>
            <p:nvPr/>
          </p:nvSpPr>
          <p:spPr bwMode="auto">
            <a:xfrm>
              <a:off x="1671" y="2687"/>
              <a:ext cx="453" cy="227"/>
            </a:xfrm>
            <a:prstGeom prst="rect">
              <a:avLst/>
            </a:prstGeom>
            <a:solidFill>
              <a:srgbClr val="00B0F0"/>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46107" name="Text Box 204"/>
            <p:cNvSpPr txBox="1">
              <a:spLocks noChangeArrowheads="1"/>
            </p:cNvSpPr>
            <p:nvPr/>
          </p:nvSpPr>
          <p:spPr bwMode="auto">
            <a:xfrm>
              <a:off x="2103" y="2687"/>
              <a:ext cx="453" cy="227"/>
            </a:xfrm>
            <a:prstGeom prst="rect">
              <a:avLst/>
            </a:prstGeom>
            <a:solidFill>
              <a:srgbClr val="00B0F0"/>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46108" name="Text Box 205"/>
            <p:cNvSpPr txBox="1">
              <a:spLocks noChangeArrowheads="1"/>
            </p:cNvSpPr>
            <p:nvPr/>
          </p:nvSpPr>
          <p:spPr bwMode="auto">
            <a:xfrm>
              <a:off x="2535" y="2687"/>
              <a:ext cx="453" cy="227"/>
            </a:xfrm>
            <a:prstGeom prst="rect">
              <a:avLst/>
            </a:prstGeom>
            <a:solidFill>
              <a:srgbClr val="00B0F0"/>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46109" name="Text Box 206"/>
            <p:cNvSpPr txBox="1">
              <a:spLocks noChangeArrowheads="1"/>
            </p:cNvSpPr>
            <p:nvPr/>
          </p:nvSpPr>
          <p:spPr bwMode="auto">
            <a:xfrm>
              <a:off x="2967" y="2687"/>
              <a:ext cx="453" cy="227"/>
            </a:xfrm>
            <a:prstGeom prst="rect">
              <a:avLst/>
            </a:prstGeom>
            <a:solidFill>
              <a:srgbClr val="00B0F0"/>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46110" name="Text Box 207"/>
            <p:cNvSpPr txBox="1">
              <a:spLocks noChangeArrowheads="1"/>
            </p:cNvSpPr>
            <p:nvPr/>
          </p:nvSpPr>
          <p:spPr bwMode="auto">
            <a:xfrm>
              <a:off x="3399" y="2687"/>
              <a:ext cx="453" cy="227"/>
            </a:xfrm>
            <a:prstGeom prst="rect">
              <a:avLst/>
            </a:prstGeom>
            <a:solidFill>
              <a:srgbClr val="00B0F0"/>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46111" name="Text Box 208"/>
            <p:cNvSpPr txBox="1">
              <a:spLocks noChangeArrowheads="1"/>
            </p:cNvSpPr>
            <p:nvPr/>
          </p:nvSpPr>
          <p:spPr bwMode="auto">
            <a:xfrm>
              <a:off x="3831" y="2687"/>
              <a:ext cx="453" cy="227"/>
            </a:xfrm>
            <a:prstGeom prst="rect">
              <a:avLst/>
            </a:prstGeom>
            <a:solidFill>
              <a:srgbClr val="00B0F0"/>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46112" name="Text Box 209"/>
            <p:cNvSpPr txBox="1">
              <a:spLocks noChangeArrowheads="1"/>
            </p:cNvSpPr>
            <p:nvPr/>
          </p:nvSpPr>
          <p:spPr bwMode="auto">
            <a:xfrm>
              <a:off x="4263" y="2687"/>
              <a:ext cx="453" cy="227"/>
            </a:xfrm>
            <a:prstGeom prst="rect">
              <a:avLst/>
            </a:prstGeom>
            <a:solidFill>
              <a:srgbClr val="00B0F0"/>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dirty="0">
                  <a:latin typeface="Times New Roman" pitchFamily="18" charset="0"/>
                </a:rPr>
                <a:t>tiger</a:t>
              </a:r>
            </a:p>
          </p:txBody>
        </p:sp>
      </p:grpSp>
      <p:sp>
        <p:nvSpPr>
          <p:cNvPr id="10" name="Slide Number Placeholder 9"/>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41768646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US" altLang="en-US" sz="3200" dirty="0"/>
              <a:t>Merge-sort </a:t>
            </a:r>
            <a:r>
              <a:rPr lang="en-US" altLang="en-US" sz="3200" i="1" dirty="0"/>
              <a:t>(4)</a:t>
            </a:r>
            <a:endParaRPr lang="en-GB" altLang="en-US" sz="3200" dirty="0"/>
          </a:p>
        </p:txBody>
      </p:sp>
      <p:sp>
        <p:nvSpPr>
          <p:cNvPr id="47107" name="Rectangle 3"/>
          <p:cNvSpPr>
            <a:spLocks noGrp="1" noChangeArrowheads="1"/>
          </p:cNvSpPr>
          <p:nvPr>
            <p:ph idx="1"/>
          </p:nvPr>
        </p:nvSpPr>
        <p:spPr>
          <a:noFill/>
        </p:spPr>
        <p:txBody>
          <a:bodyPr/>
          <a:lstStyle/>
          <a:p>
            <a:pPr>
              <a:lnSpc>
                <a:spcPct val="90000"/>
              </a:lnSpc>
            </a:pPr>
            <a:r>
              <a:rPr lang="en-US" altLang="en-US" dirty="0">
                <a:cs typeface="Times New Roman" pitchFamily="18" charset="0"/>
              </a:rPr>
              <a:t> For implementation see Moodle.</a:t>
            </a:r>
          </a:p>
          <a:p>
            <a:pPr marL="0" indent="0">
              <a:lnSpc>
                <a:spcPct val="90000"/>
              </a:lnSpc>
              <a:buNone/>
            </a:pPr>
            <a:endParaRPr lang="en-US" altLang="en-US" dirty="0">
              <a:cs typeface="Times New Roman" pitchFamily="18" charset="0"/>
            </a:endParaRPr>
          </a:p>
          <a:p>
            <a:pPr eaLnBrk="1" hangingPunct="1">
              <a:lnSpc>
                <a:spcPct val="90000"/>
              </a:lnSpc>
            </a:pPr>
            <a:r>
              <a:rPr lang="en-US" altLang="en-US" dirty="0">
                <a:cs typeface="Times New Roman" pitchFamily="18" charset="0"/>
              </a:rPr>
              <a:t>Analysis (counting comparisons):</a:t>
            </a:r>
          </a:p>
          <a:p>
            <a:pPr eaLnBrk="1" hangingPunct="1">
              <a:lnSpc>
                <a:spcPct val="90000"/>
              </a:lnSpc>
              <a:spcBef>
                <a:spcPts val="900"/>
              </a:spcBef>
              <a:buClr>
                <a:schemeClr val="tx1"/>
              </a:buClr>
              <a:buFont typeface="Wingdings" pitchFamily="2" charset="2"/>
              <a:buNone/>
            </a:pPr>
            <a:r>
              <a:rPr lang="en-US" altLang="en-US" dirty="0">
                <a:cs typeface="Times New Roman" pitchFamily="18" charset="0"/>
              </a:rPr>
              <a:t>	Let </a:t>
            </a:r>
            <a:r>
              <a:rPr lang="en-US" altLang="en-US" i="1" dirty="0">
                <a:cs typeface="Times New Roman" pitchFamily="18" charset="0"/>
              </a:rPr>
              <a:t>n</a:t>
            </a:r>
            <a:r>
              <a:rPr lang="en-US" altLang="en-US" dirty="0">
                <a:cs typeface="Times New Roman" pitchFamily="18" charset="0"/>
              </a:rPr>
              <a:t> = </a:t>
            </a:r>
            <a:r>
              <a:rPr lang="en-US" altLang="en-US" i="1" dirty="0">
                <a:cs typeface="Times New Roman" pitchFamily="18" charset="0"/>
              </a:rPr>
              <a:t>right</a:t>
            </a:r>
            <a:r>
              <a:rPr lang="en-US" altLang="en-US" dirty="0">
                <a:cs typeface="Times New Roman" pitchFamily="18" charset="0"/>
              </a:rPr>
              <a:t>–</a:t>
            </a:r>
            <a:r>
              <a:rPr lang="en-US" altLang="en-US" i="1" dirty="0">
                <a:cs typeface="Times New Roman" pitchFamily="18" charset="0"/>
              </a:rPr>
              <a:t>left</a:t>
            </a:r>
            <a:r>
              <a:rPr lang="en-US" altLang="en-US" dirty="0">
                <a:cs typeface="Times New Roman" pitchFamily="18" charset="0"/>
              </a:rPr>
              <a:t>+1 be the length of the array to be sorted.</a:t>
            </a:r>
          </a:p>
          <a:p>
            <a:pPr eaLnBrk="1" hangingPunct="1">
              <a:lnSpc>
                <a:spcPct val="90000"/>
              </a:lnSpc>
              <a:spcBef>
                <a:spcPts val="900"/>
              </a:spcBef>
              <a:buClr>
                <a:schemeClr val="tx1"/>
              </a:buClr>
              <a:buFont typeface="Wingdings" pitchFamily="2" charset="2"/>
              <a:buNone/>
            </a:pPr>
            <a:r>
              <a:rPr lang="en-US" altLang="en-US" dirty="0">
                <a:cs typeface="Times New Roman" pitchFamily="18" charset="0"/>
              </a:rPr>
              <a:t>	Let the total no. of comparisons required to sort a (sub)array of length </a:t>
            </a:r>
            <a:r>
              <a:rPr lang="en-US" altLang="en-US" i="1" dirty="0">
                <a:cs typeface="Times New Roman" pitchFamily="18" charset="0"/>
              </a:rPr>
              <a:t>m</a:t>
            </a:r>
            <a:r>
              <a:rPr lang="en-US" altLang="en-US" dirty="0">
                <a:cs typeface="Times New Roman" pitchFamily="18" charset="0"/>
              </a:rPr>
              <a:t> be </a:t>
            </a:r>
            <a:r>
              <a:rPr lang="en-US" altLang="en-US" i="1" dirty="0">
                <a:cs typeface="Times New Roman" pitchFamily="18" charset="0"/>
              </a:rPr>
              <a:t>comps</a:t>
            </a:r>
            <a:r>
              <a:rPr lang="en-US" altLang="en-US" dirty="0">
                <a:cs typeface="Times New Roman" pitchFamily="18" charset="0"/>
              </a:rPr>
              <a:t>(</a:t>
            </a:r>
            <a:r>
              <a:rPr lang="en-US" altLang="en-US" i="1" dirty="0">
                <a:cs typeface="Times New Roman" pitchFamily="18" charset="0"/>
              </a:rPr>
              <a:t>m</a:t>
            </a:r>
            <a:r>
              <a:rPr lang="en-US" altLang="en-US" dirty="0">
                <a:cs typeface="Times New Roman" pitchFamily="18" charset="0"/>
              </a:rPr>
              <a:t>).</a:t>
            </a:r>
          </a:p>
          <a:p>
            <a:pPr eaLnBrk="1" hangingPunct="1">
              <a:lnSpc>
                <a:spcPct val="90000"/>
              </a:lnSpc>
              <a:spcBef>
                <a:spcPts val="900"/>
              </a:spcBef>
              <a:buClr>
                <a:schemeClr val="tx1"/>
              </a:buClr>
              <a:buFont typeface="Wingdings" pitchFamily="2" charset="2"/>
              <a:buNone/>
            </a:pPr>
            <a:r>
              <a:rPr lang="en-US" altLang="en-US" dirty="0">
                <a:cs typeface="Times New Roman" pitchFamily="18" charset="0"/>
              </a:rPr>
              <a:t>	Step 1.2 takes about </a:t>
            </a:r>
            <a:r>
              <a:rPr lang="en-US" altLang="en-US" i="1" dirty="0">
                <a:cs typeface="Times New Roman" pitchFamily="18" charset="0"/>
              </a:rPr>
              <a:t>comps</a:t>
            </a:r>
            <a:r>
              <a:rPr lang="en-US" altLang="en-US" dirty="0">
                <a:cs typeface="Times New Roman" pitchFamily="18" charset="0"/>
              </a:rPr>
              <a:t>(</a:t>
            </a:r>
            <a:r>
              <a:rPr lang="en-US" altLang="en-US" i="1" dirty="0">
                <a:cs typeface="Times New Roman" pitchFamily="18" charset="0"/>
              </a:rPr>
              <a:t>n</a:t>
            </a:r>
            <a:r>
              <a:rPr lang="en-US" altLang="en-US" dirty="0">
                <a:cs typeface="Times New Roman" pitchFamily="18" charset="0"/>
              </a:rPr>
              <a:t>/2) comparisons to sort the left </a:t>
            </a:r>
            <a:r>
              <a:rPr lang="en-US" altLang="en-US" dirty="0" err="1">
                <a:cs typeface="Times New Roman" pitchFamily="18" charset="0"/>
              </a:rPr>
              <a:t>subarray</a:t>
            </a:r>
            <a:r>
              <a:rPr lang="en-US" altLang="en-US" dirty="0">
                <a:cs typeface="Times New Roman" pitchFamily="18" charset="0"/>
              </a:rPr>
              <a:t>, since the </a:t>
            </a:r>
            <a:r>
              <a:rPr lang="en-US" altLang="en-US" dirty="0" err="1">
                <a:cs typeface="Times New Roman" pitchFamily="18" charset="0"/>
              </a:rPr>
              <a:t>subarray’s</a:t>
            </a:r>
            <a:r>
              <a:rPr lang="en-US" altLang="en-US" dirty="0">
                <a:cs typeface="Times New Roman" pitchFamily="18" charset="0"/>
              </a:rPr>
              <a:t> length is about </a:t>
            </a:r>
            <a:r>
              <a:rPr lang="en-US" altLang="en-US" i="1" dirty="0">
                <a:cs typeface="Times New Roman" pitchFamily="18" charset="0"/>
              </a:rPr>
              <a:t>n</a:t>
            </a:r>
            <a:r>
              <a:rPr lang="en-US" altLang="en-US" dirty="0">
                <a:cs typeface="Times New Roman" pitchFamily="18" charset="0"/>
              </a:rPr>
              <a:t>/2.</a:t>
            </a:r>
          </a:p>
          <a:p>
            <a:pPr eaLnBrk="1" hangingPunct="1">
              <a:lnSpc>
                <a:spcPct val="90000"/>
              </a:lnSpc>
              <a:spcBef>
                <a:spcPts val="900"/>
              </a:spcBef>
              <a:buClr>
                <a:schemeClr val="tx1"/>
              </a:buClr>
              <a:buFont typeface="Wingdings" pitchFamily="2" charset="2"/>
              <a:buNone/>
            </a:pPr>
            <a:r>
              <a:rPr lang="en-US" altLang="en-US" dirty="0">
                <a:cs typeface="Times New Roman" pitchFamily="18" charset="0"/>
              </a:rPr>
              <a:t>	Step 1.3 takes about </a:t>
            </a:r>
            <a:r>
              <a:rPr lang="en-US" altLang="en-US" i="1" dirty="0">
                <a:cs typeface="Times New Roman" pitchFamily="18" charset="0"/>
              </a:rPr>
              <a:t>comps</a:t>
            </a:r>
            <a:r>
              <a:rPr lang="en-US" altLang="en-US" dirty="0">
                <a:cs typeface="Times New Roman" pitchFamily="18" charset="0"/>
              </a:rPr>
              <a:t>(</a:t>
            </a:r>
            <a:r>
              <a:rPr lang="en-US" altLang="en-US" i="1" dirty="0">
                <a:cs typeface="Times New Roman" pitchFamily="18" charset="0"/>
              </a:rPr>
              <a:t>n</a:t>
            </a:r>
            <a:r>
              <a:rPr lang="en-US" altLang="en-US" dirty="0">
                <a:cs typeface="Times New Roman" pitchFamily="18" charset="0"/>
              </a:rPr>
              <a:t>/2) comparisons to sort the right </a:t>
            </a:r>
            <a:r>
              <a:rPr lang="en-US" altLang="en-US" dirty="0" err="1">
                <a:cs typeface="Times New Roman" pitchFamily="18" charset="0"/>
              </a:rPr>
              <a:t>subarray</a:t>
            </a:r>
            <a:r>
              <a:rPr lang="en-US" altLang="en-US" dirty="0">
                <a:cs typeface="Times New Roman" pitchFamily="18" charset="0"/>
              </a:rPr>
              <a:t>, similarly.</a:t>
            </a:r>
          </a:p>
          <a:p>
            <a:pPr eaLnBrk="1" hangingPunct="1">
              <a:lnSpc>
                <a:spcPct val="90000"/>
              </a:lnSpc>
              <a:spcBef>
                <a:spcPts val="900"/>
              </a:spcBef>
              <a:buClr>
                <a:schemeClr val="tx1"/>
              </a:buClr>
              <a:buFont typeface="Wingdings" pitchFamily="2" charset="2"/>
              <a:buNone/>
            </a:pPr>
            <a:r>
              <a:rPr lang="en-US" altLang="en-US" dirty="0">
                <a:cs typeface="Times New Roman" pitchFamily="18" charset="0"/>
              </a:rPr>
              <a:t>	Step 1.4 takes about </a:t>
            </a:r>
            <a:r>
              <a:rPr lang="en-US" altLang="en-US" i="1" dirty="0">
                <a:cs typeface="Times New Roman" pitchFamily="18" charset="0"/>
              </a:rPr>
              <a:t>n</a:t>
            </a:r>
            <a:r>
              <a:rPr lang="en-US" altLang="en-US" dirty="0">
                <a:cs typeface="Times New Roman" pitchFamily="18" charset="0"/>
              </a:rPr>
              <a:t>–1 comparisons to merge the </a:t>
            </a:r>
            <a:r>
              <a:rPr lang="en-US" altLang="en-US" dirty="0" err="1">
                <a:cs typeface="Times New Roman" pitchFamily="18" charset="0"/>
              </a:rPr>
              <a:t>subarrays</a:t>
            </a:r>
            <a:r>
              <a:rPr lang="en-US" altLang="en-US" dirty="0">
                <a:cs typeface="Times New Roman" pitchFamily="18" charset="0"/>
              </a:rPr>
              <a:t>.</a:t>
            </a:r>
          </a:p>
        </p:txBody>
      </p:sp>
      <p:sp>
        <p:nvSpPr>
          <p:cNvPr id="2" name="Slide Number Placeholder 1"/>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30647670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ltLang="en-US" sz="3200" dirty="0"/>
              <a:t>Merge-sort </a:t>
            </a:r>
            <a:r>
              <a:rPr lang="en-US" altLang="en-US" sz="3200" i="1" dirty="0"/>
              <a:t>(5)</a:t>
            </a:r>
            <a:endParaRPr lang="en-GB" altLang="en-US" sz="3200" dirty="0"/>
          </a:p>
        </p:txBody>
      </p:sp>
      <p:sp>
        <p:nvSpPr>
          <p:cNvPr id="48131" name="Rectangle 3"/>
          <p:cNvSpPr>
            <a:spLocks noGrp="1" noChangeArrowheads="1"/>
          </p:cNvSpPr>
          <p:nvPr>
            <p:ph idx="1"/>
          </p:nvPr>
        </p:nvSpPr>
        <p:spPr>
          <a:noFill/>
        </p:spPr>
        <p:txBody>
          <a:bodyPr/>
          <a:lstStyle/>
          <a:p>
            <a:pPr eaLnBrk="1" hangingPunct="1">
              <a:tabLst>
                <a:tab pos="723900" algn="l"/>
                <a:tab pos="5562600" algn="l"/>
              </a:tabLst>
            </a:pPr>
            <a:r>
              <a:rPr lang="en-US" altLang="en-US" dirty="0">
                <a:cs typeface="Times New Roman" pitchFamily="18" charset="0"/>
              </a:rPr>
              <a:t>Analysis </a:t>
            </a:r>
            <a:r>
              <a:rPr lang="en-US" altLang="en-US" i="1" dirty="0">
                <a:cs typeface="Times New Roman" pitchFamily="18" charset="0"/>
              </a:rPr>
              <a:t>(continued)</a:t>
            </a:r>
            <a:r>
              <a:rPr lang="en-US" altLang="en-US" dirty="0">
                <a:cs typeface="Times New Roman" pitchFamily="18" charset="0"/>
              </a:rPr>
              <a:t>:</a:t>
            </a:r>
          </a:p>
          <a:p>
            <a:pPr eaLnBrk="1" hangingPunct="1">
              <a:spcBef>
                <a:spcPts val="900"/>
              </a:spcBef>
              <a:buClr>
                <a:schemeClr val="tx1"/>
              </a:buClr>
              <a:buFont typeface="Wingdings" pitchFamily="2" charset="2"/>
              <a:buNone/>
              <a:tabLst>
                <a:tab pos="723900" algn="l"/>
                <a:tab pos="5562600" algn="l"/>
              </a:tabLst>
            </a:pPr>
            <a:r>
              <a:rPr lang="en-US" altLang="en-US" dirty="0">
                <a:cs typeface="Times New Roman" pitchFamily="18" charset="0"/>
              </a:rPr>
              <a:t>	Therefore:</a:t>
            </a:r>
            <a:br>
              <a:rPr lang="en-US" altLang="en-US" dirty="0">
                <a:cs typeface="Times New Roman" pitchFamily="18" charset="0"/>
              </a:rPr>
            </a:br>
            <a:r>
              <a:rPr lang="en-US" altLang="en-US" i="1" dirty="0">
                <a:cs typeface="Times New Roman" pitchFamily="18" charset="0"/>
              </a:rPr>
              <a:t>	comps</a:t>
            </a:r>
            <a:r>
              <a:rPr lang="en-US" altLang="en-US" dirty="0">
                <a:cs typeface="Times New Roman" pitchFamily="18" charset="0"/>
              </a:rPr>
              <a:t>(</a:t>
            </a:r>
            <a:r>
              <a:rPr lang="en-US" altLang="en-US" i="1" dirty="0">
                <a:cs typeface="Times New Roman" pitchFamily="18" charset="0"/>
              </a:rPr>
              <a:t>n</a:t>
            </a:r>
            <a:r>
              <a:rPr lang="en-US" altLang="en-US" dirty="0">
                <a:cs typeface="Times New Roman" pitchFamily="18" charset="0"/>
              </a:rPr>
              <a:t>)  </a:t>
            </a:r>
            <a:r>
              <a:rPr lang="en-US" altLang="en-US" dirty="0">
                <a:latin typeface="Symbol" pitchFamily="18" charset="2"/>
                <a:cs typeface="Times New Roman" pitchFamily="18" charset="0"/>
                <a:sym typeface="Symbol" pitchFamily="18" charset="2"/>
              </a:rPr>
              <a:t></a:t>
            </a:r>
            <a:r>
              <a:rPr lang="en-US" altLang="en-US" dirty="0">
                <a:cs typeface="Times New Roman" pitchFamily="18" charset="0"/>
              </a:rPr>
              <a:t>  2 </a:t>
            </a:r>
            <a:r>
              <a:rPr lang="en-US" altLang="en-US" i="1" dirty="0">
                <a:cs typeface="Times New Roman" pitchFamily="18" charset="0"/>
              </a:rPr>
              <a:t>comps</a:t>
            </a:r>
            <a:r>
              <a:rPr lang="en-US" altLang="en-US" dirty="0">
                <a:cs typeface="Times New Roman" pitchFamily="18" charset="0"/>
              </a:rPr>
              <a:t>(</a:t>
            </a:r>
            <a:r>
              <a:rPr lang="en-US" altLang="en-US" i="1" dirty="0">
                <a:cs typeface="Times New Roman" pitchFamily="18" charset="0"/>
              </a:rPr>
              <a:t>n</a:t>
            </a:r>
            <a:r>
              <a:rPr lang="en-US" altLang="en-US" dirty="0">
                <a:cs typeface="Times New Roman" pitchFamily="18" charset="0"/>
              </a:rPr>
              <a:t>/2) + </a:t>
            </a:r>
            <a:r>
              <a:rPr lang="en-US" altLang="en-US" i="1" dirty="0">
                <a:cs typeface="Times New Roman" pitchFamily="18" charset="0"/>
              </a:rPr>
              <a:t>n</a:t>
            </a:r>
            <a:r>
              <a:rPr lang="en-US" altLang="en-US" dirty="0">
                <a:cs typeface="Times New Roman" pitchFamily="18" charset="0"/>
              </a:rPr>
              <a:t> – 1	if </a:t>
            </a:r>
            <a:r>
              <a:rPr lang="en-US" altLang="en-US" i="1" dirty="0">
                <a:cs typeface="Times New Roman" pitchFamily="18" charset="0"/>
              </a:rPr>
              <a:t>n</a:t>
            </a:r>
            <a:r>
              <a:rPr lang="en-US" altLang="en-US" dirty="0">
                <a:cs typeface="Times New Roman" pitchFamily="18" charset="0"/>
              </a:rPr>
              <a:t> &gt; 1</a:t>
            </a:r>
            <a:br>
              <a:rPr lang="en-US" altLang="en-US" dirty="0">
                <a:cs typeface="Times New Roman" pitchFamily="18" charset="0"/>
              </a:rPr>
            </a:br>
            <a:r>
              <a:rPr lang="en-US" altLang="en-US" i="1" dirty="0">
                <a:cs typeface="Times New Roman" pitchFamily="18" charset="0"/>
              </a:rPr>
              <a:t>	comps</a:t>
            </a:r>
            <a:r>
              <a:rPr lang="en-US" altLang="en-US" dirty="0">
                <a:cs typeface="Times New Roman" pitchFamily="18" charset="0"/>
              </a:rPr>
              <a:t>(</a:t>
            </a:r>
            <a:r>
              <a:rPr lang="en-US" altLang="en-US" i="1" dirty="0">
                <a:cs typeface="Times New Roman" pitchFamily="18" charset="0"/>
              </a:rPr>
              <a:t>n</a:t>
            </a:r>
            <a:r>
              <a:rPr lang="en-US" altLang="en-US" dirty="0">
                <a:cs typeface="Times New Roman" pitchFamily="18" charset="0"/>
              </a:rPr>
              <a:t>)  =  0	if </a:t>
            </a:r>
            <a:r>
              <a:rPr lang="en-US" altLang="en-US" i="1" dirty="0">
                <a:cs typeface="Times New Roman" pitchFamily="18" charset="0"/>
              </a:rPr>
              <a:t>n</a:t>
            </a:r>
            <a:r>
              <a:rPr lang="en-US" altLang="en-US" dirty="0">
                <a:cs typeface="Times New Roman" pitchFamily="18" charset="0"/>
              </a:rPr>
              <a:t> </a:t>
            </a:r>
            <a:r>
              <a:rPr lang="en-US" altLang="en-US" dirty="0">
                <a:latin typeface="Symbol" pitchFamily="18" charset="2"/>
                <a:cs typeface="Times New Roman" pitchFamily="18" charset="0"/>
                <a:sym typeface="Symbol" pitchFamily="18" charset="2"/>
              </a:rPr>
              <a:t></a:t>
            </a:r>
            <a:r>
              <a:rPr lang="en-US" altLang="en-US" dirty="0">
                <a:cs typeface="Times New Roman" pitchFamily="18" charset="0"/>
              </a:rPr>
              <a:t> 1</a:t>
            </a:r>
          </a:p>
          <a:p>
            <a:pPr eaLnBrk="1" hangingPunct="1">
              <a:spcBef>
                <a:spcPts val="900"/>
              </a:spcBef>
              <a:buClr>
                <a:schemeClr val="tx1"/>
              </a:buClr>
              <a:buFont typeface="Wingdings" pitchFamily="2" charset="2"/>
              <a:buNone/>
              <a:tabLst>
                <a:tab pos="723900" algn="l"/>
                <a:tab pos="5562600" algn="l"/>
              </a:tabLst>
            </a:pPr>
            <a:r>
              <a:rPr lang="en-US" altLang="en-US" dirty="0">
                <a:cs typeface="Times New Roman" pitchFamily="18" charset="0"/>
              </a:rPr>
              <a:t>	Solution:</a:t>
            </a:r>
            <a:br>
              <a:rPr lang="en-US" altLang="en-US" dirty="0">
                <a:cs typeface="Times New Roman" pitchFamily="18" charset="0"/>
              </a:rPr>
            </a:br>
            <a:r>
              <a:rPr lang="en-US" altLang="en-US" dirty="0">
                <a:cs typeface="Times New Roman" pitchFamily="18" charset="0"/>
              </a:rPr>
              <a:t>	</a:t>
            </a:r>
            <a:r>
              <a:rPr lang="en-US" altLang="en-US" i="1" dirty="0">
                <a:cs typeface="Times New Roman" pitchFamily="18" charset="0"/>
              </a:rPr>
              <a:t>comps</a:t>
            </a:r>
            <a:r>
              <a:rPr lang="en-US" altLang="en-US" dirty="0">
                <a:cs typeface="Times New Roman" pitchFamily="18" charset="0"/>
              </a:rPr>
              <a:t>(</a:t>
            </a:r>
            <a:r>
              <a:rPr lang="en-US" altLang="en-US" i="1" dirty="0">
                <a:cs typeface="Times New Roman" pitchFamily="18" charset="0"/>
              </a:rPr>
              <a:t>n</a:t>
            </a:r>
            <a:r>
              <a:rPr lang="en-US" altLang="en-US" dirty="0">
                <a:cs typeface="Times New Roman" pitchFamily="18" charset="0"/>
              </a:rPr>
              <a:t>)  </a:t>
            </a:r>
            <a:r>
              <a:rPr lang="en-US" altLang="en-US" dirty="0">
                <a:latin typeface="Symbol" pitchFamily="18" charset="2"/>
                <a:cs typeface="Times New Roman" pitchFamily="18" charset="0"/>
                <a:sym typeface="Symbol" pitchFamily="18" charset="2"/>
              </a:rPr>
              <a:t></a:t>
            </a:r>
            <a:r>
              <a:rPr lang="en-US" altLang="en-US" dirty="0">
                <a:cs typeface="Times New Roman" pitchFamily="18" charset="0"/>
              </a:rPr>
              <a:t>  </a:t>
            </a:r>
            <a:r>
              <a:rPr lang="en-US" altLang="en-US" i="1" dirty="0">
                <a:cs typeface="Times New Roman" pitchFamily="18" charset="0"/>
              </a:rPr>
              <a:t>n</a:t>
            </a:r>
            <a:r>
              <a:rPr lang="en-US" altLang="en-US" dirty="0">
                <a:cs typeface="Times New Roman" pitchFamily="18" charset="0"/>
              </a:rPr>
              <a:t> log</a:t>
            </a:r>
            <a:r>
              <a:rPr lang="en-US" altLang="en-US" baseline="-25000" dirty="0">
                <a:cs typeface="Times New Roman" pitchFamily="18" charset="0"/>
              </a:rPr>
              <a:t>2</a:t>
            </a:r>
            <a:r>
              <a:rPr lang="en-US" altLang="en-US" i="1" dirty="0">
                <a:cs typeface="Times New Roman" pitchFamily="18" charset="0"/>
              </a:rPr>
              <a:t>n</a:t>
            </a:r>
            <a:endParaRPr lang="en-US" altLang="en-US" dirty="0">
              <a:cs typeface="Times New Roman" pitchFamily="18" charset="0"/>
            </a:endParaRPr>
          </a:p>
          <a:p>
            <a:pPr eaLnBrk="1" hangingPunct="1">
              <a:spcBef>
                <a:spcPts val="900"/>
              </a:spcBef>
              <a:buClr>
                <a:schemeClr val="tx1"/>
              </a:buClr>
              <a:buFont typeface="Wingdings" pitchFamily="2" charset="2"/>
              <a:buNone/>
              <a:tabLst>
                <a:tab pos="723900" algn="l"/>
                <a:tab pos="5562600" algn="l"/>
              </a:tabLst>
            </a:pPr>
            <a:r>
              <a:rPr lang="en-US" altLang="en-US" dirty="0">
                <a:cs typeface="Times New Roman" pitchFamily="18" charset="0"/>
              </a:rPr>
              <a:t>	</a:t>
            </a:r>
            <a:r>
              <a:rPr lang="en-US" altLang="en-US" dirty="0">
                <a:solidFill>
                  <a:srgbClr val="D2533C"/>
                </a:solidFill>
                <a:cs typeface="Times New Roman" pitchFamily="18" charset="0"/>
              </a:rPr>
              <a:t>Time complexity </a:t>
            </a:r>
            <a:r>
              <a:rPr lang="en-US" altLang="en-US" dirty="0">
                <a:cs typeface="Times New Roman" pitchFamily="18" charset="0"/>
              </a:rPr>
              <a:t>is </a:t>
            </a:r>
            <a:r>
              <a:rPr lang="en-US" altLang="en-US" i="1" dirty="0">
                <a:cs typeface="Times New Roman" pitchFamily="18" charset="0"/>
              </a:rPr>
              <a:t>O</a:t>
            </a:r>
            <a:r>
              <a:rPr lang="en-US" altLang="en-US" dirty="0">
                <a:cs typeface="Times New Roman" pitchFamily="18" charset="0"/>
              </a:rPr>
              <a:t>(</a:t>
            </a:r>
            <a:r>
              <a:rPr lang="en-US" altLang="en-US" i="1" dirty="0">
                <a:cs typeface="Times New Roman" pitchFamily="18" charset="0"/>
              </a:rPr>
              <a:t>n</a:t>
            </a:r>
            <a:r>
              <a:rPr lang="en-US" altLang="en-US" dirty="0">
                <a:cs typeface="Times New Roman" pitchFamily="18" charset="0"/>
              </a:rPr>
              <a:t> log </a:t>
            </a:r>
            <a:r>
              <a:rPr lang="en-US" altLang="en-US" i="1" dirty="0">
                <a:cs typeface="Times New Roman" pitchFamily="18" charset="0"/>
              </a:rPr>
              <a:t>n</a:t>
            </a:r>
            <a:r>
              <a:rPr lang="en-US" altLang="en-US" dirty="0">
                <a:cs typeface="Times New Roman" pitchFamily="18" charset="0"/>
              </a:rPr>
              <a:t>) (see next slide).</a:t>
            </a:r>
          </a:p>
          <a:p>
            <a:pPr eaLnBrk="1" hangingPunct="1">
              <a:buClr>
                <a:schemeClr val="tx1"/>
              </a:buClr>
              <a:tabLst>
                <a:tab pos="723900" algn="l"/>
                <a:tab pos="5562600" algn="l"/>
              </a:tabLst>
            </a:pPr>
            <a:r>
              <a:rPr lang="en-US" altLang="en-US" dirty="0">
                <a:solidFill>
                  <a:schemeClr val="tx2"/>
                </a:solidFill>
                <a:cs typeface="Times New Roman" pitchFamily="18" charset="0"/>
              </a:rPr>
              <a:t>Space complexity </a:t>
            </a:r>
            <a:r>
              <a:rPr lang="en-US" altLang="en-US" dirty="0">
                <a:cs typeface="Times New Roman" pitchFamily="18" charset="0"/>
              </a:rPr>
              <a:t>is </a:t>
            </a:r>
            <a:r>
              <a:rPr lang="en-US" altLang="en-US" i="1" dirty="0">
                <a:cs typeface="Times New Roman" pitchFamily="18" charset="0"/>
              </a:rPr>
              <a:t>O</a:t>
            </a:r>
            <a:r>
              <a:rPr lang="en-US" altLang="en-US" dirty="0">
                <a:cs typeface="Times New Roman" pitchFamily="18" charset="0"/>
              </a:rPr>
              <a:t>(</a:t>
            </a:r>
            <a:r>
              <a:rPr lang="en-US" altLang="en-US" i="1" dirty="0">
                <a:cs typeface="Times New Roman" pitchFamily="18" charset="0"/>
              </a:rPr>
              <a:t>n</a:t>
            </a:r>
            <a:r>
              <a:rPr lang="en-US" altLang="en-US" dirty="0">
                <a:cs typeface="Times New Roman" pitchFamily="18" charset="0"/>
              </a:rPr>
              <a:t>), since step 1.4 needs an auxiliary array of length </a:t>
            </a:r>
            <a:r>
              <a:rPr lang="en-US" altLang="en-US" i="1" dirty="0">
                <a:cs typeface="Times New Roman" pitchFamily="18" charset="0"/>
              </a:rPr>
              <a:t>n</a:t>
            </a:r>
            <a:r>
              <a:rPr lang="en-US" altLang="en-US" dirty="0">
                <a:cs typeface="Times New Roman" pitchFamily="18" charset="0"/>
              </a:rPr>
              <a:t>.</a:t>
            </a:r>
          </a:p>
        </p:txBody>
      </p:sp>
      <p:sp>
        <p:nvSpPr>
          <p:cNvPr id="2" name="Slide Number Placeholder 1"/>
          <p:cNvSpPr>
            <a:spLocks noGrp="1"/>
          </p:cNvSpPr>
          <p:nvPr>
            <p:ph type="sldNum" sz="quarter" idx="12"/>
          </p:nvPr>
        </p:nvSpPr>
        <p:spPr/>
        <p:txBody>
          <a:bodyPr/>
          <a:lstStyle/>
          <a:p>
            <a:fld id="{B6F15528-21DE-4FAA-801E-634DDDAF4B2B}" type="slidenum">
              <a:rPr lang="en-US" smtClean="0"/>
              <a:pPr/>
              <a:t>21</a:t>
            </a:fld>
            <a:endParaRPr lang="en-US"/>
          </a:p>
        </p:txBody>
      </p:sp>
      <p:sp>
        <p:nvSpPr>
          <p:cNvPr id="5" name="Rectangle 3">
            <a:extLst>
              <a:ext uri="{FF2B5EF4-FFF2-40B4-BE49-F238E27FC236}">
                <a16:creationId xmlns:a16="http://schemas.microsoft.com/office/drawing/2014/main" id="{92441CF9-2380-2048-89E5-2CFA54B445CA}"/>
              </a:ext>
            </a:extLst>
          </p:cNvPr>
          <p:cNvSpPr txBox="1">
            <a:spLocks noChangeArrowheads="1"/>
          </p:cNvSpPr>
          <p:nvPr/>
        </p:nvSpPr>
        <p:spPr>
          <a:xfrm>
            <a:off x="445477" y="5931525"/>
            <a:ext cx="8229600" cy="786150"/>
          </a:xfrm>
          <a:prstGeom prst="rect">
            <a:avLst/>
          </a:prstGeom>
          <a:solidFill>
            <a:srgbClr val="FFFF00"/>
          </a:solidFill>
        </p:spPr>
        <p:txBody>
          <a:bodyPr vert="horz" lIns="91440" tIns="45720" rIns="91440" bIns="45720" rtlCol="0">
            <a:normAutofit lnSpcReduction="1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a:tabLst>
                <a:tab pos="723900" algn="l"/>
                <a:tab pos="5562600" algn="l"/>
              </a:tabLst>
            </a:pPr>
            <a:r>
              <a:rPr lang="en-US" altLang="en-US" dirty="0">
                <a:cs typeface="Times New Roman" pitchFamily="18" charset="0"/>
              </a:rPr>
              <a:t>Omit next two slides if you don’t want to see the proof – it is not examinable!!</a:t>
            </a:r>
          </a:p>
        </p:txBody>
      </p:sp>
    </p:spTree>
    <p:extLst>
      <p:ext uri="{BB962C8B-B14F-4D97-AF65-F5344CB8AC3E}">
        <p14:creationId xmlns:p14="http://schemas.microsoft.com/office/powerpoint/2010/main" val="2748169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dirty="0"/>
              <a:t>Proof that merge-sort has complexity O(</a:t>
            </a:r>
            <a:r>
              <a:rPr lang="en-GB" sz="3200" dirty="0" err="1"/>
              <a:t>nlogn</a:t>
            </a:r>
            <a:r>
              <a:rPr lang="en-GB" sz="3200" dirty="0"/>
              <a:t>)</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22</a:t>
            </a:fld>
            <a:endParaRPr lang="en-US"/>
          </a:p>
        </p:txBody>
      </p:sp>
      <p:sp>
        <p:nvSpPr>
          <p:cNvPr id="4" name="TextBox 3"/>
          <p:cNvSpPr txBox="1"/>
          <p:nvPr/>
        </p:nvSpPr>
        <p:spPr>
          <a:xfrm>
            <a:off x="381000" y="1225689"/>
            <a:ext cx="8001000" cy="5632311"/>
          </a:xfrm>
          <a:prstGeom prst="rect">
            <a:avLst/>
          </a:prstGeom>
          <a:noFill/>
        </p:spPr>
        <p:txBody>
          <a:bodyPr wrap="square" rtlCol="0">
            <a:spAutoFit/>
          </a:bodyPr>
          <a:lstStyle/>
          <a:p>
            <a:r>
              <a:rPr lang="en-GB" dirty="0"/>
              <a:t>Use c(n) to denote comps(n) and assume that n=2</a:t>
            </a:r>
            <a:r>
              <a:rPr lang="en-GB" baseline="30000" dirty="0"/>
              <a:t>m </a:t>
            </a:r>
            <a:r>
              <a:rPr lang="en-GB" dirty="0"/>
              <a:t>(and so m=log n)</a:t>
            </a:r>
          </a:p>
          <a:p>
            <a:endParaRPr lang="en-GB" dirty="0"/>
          </a:p>
          <a:p>
            <a:r>
              <a:rPr lang="en-GB" dirty="0"/>
              <a:t>c(n) = 2c(n/2) + n – 1                                          (1)</a:t>
            </a:r>
          </a:p>
          <a:p>
            <a:endParaRPr lang="en-GB" dirty="0"/>
          </a:p>
          <a:p>
            <a:r>
              <a:rPr lang="en-GB" dirty="0"/>
              <a:t>Apply equation (1) to n/2 to get:</a:t>
            </a:r>
          </a:p>
          <a:p>
            <a:r>
              <a:rPr lang="en-GB" dirty="0"/>
              <a:t>c(n/2) = 2c(n/4) + n/2 -1</a:t>
            </a:r>
          </a:p>
          <a:p>
            <a:endParaRPr lang="en-GB" dirty="0"/>
          </a:p>
          <a:p>
            <a:r>
              <a:rPr lang="en-GB" dirty="0"/>
              <a:t>Substitute this for c(n/2) into equation (1) to get:</a:t>
            </a:r>
          </a:p>
          <a:p>
            <a:r>
              <a:rPr lang="en-GB" dirty="0"/>
              <a:t>c(n) = 2(2(c(n/4) +n/2 -1)) + n -1</a:t>
            </a:r>
          </a:p>
          <a:p>
            <a:r>
              <a:rPr lang="en-GB" dirty="0"/>
              <a:t>so</a:t>
            </a:r>
          </a:p>
          <a:p>
            <a:r>
              <a:rPr lang="en-GB" dirty="0"/>
              <a:t>c(n) = 4c(n/4) + 2n -3                                       (2)</a:t>
            </a:r>
          </a:p>
          <a:p>
            <a:endParaRPr lang="en-GB" dirty="0"/>
          </a:p>
          <a:p>
            <a:r>
              <a:rPr lang="en-GB" dirty="0"/>
              <a:t>Similarly, applying equation (1) to n/4 we get</a:t>
            </a:r>
          </a:p>
          <a:p>
            <a:r>
              <a:rPr lang="en-GB" dirty="0"/>
              <a:t>c(n/4) = 2c(n/8) + n/4 -1</a:t>
            </a:r>
          </a:p>
          <a:p>
            <a:endParaRPr lang="en-GB" dirty="0"/>
          </a:p>
          <a:p>
            <a:r>
              <a:rPr lang="en-GB" dirty="0"/>
              <a:t>Substituting this into equation (2) we get:</a:t>
            </a:r>
          </a:p>
          <a:p>
            <a:r>
              <a:rPr lang="en-GB" dirty="0"/>
              <a:t>c(n) = 8c(n/8) +3n – 7                                        (3)</a:t>
            </a:r>
          </a:p>
          <a:p>
            <a:endParaRPr lang="en-GB" dirty="0"/>
          </a:p>
          <a:p>
            <a:r>
              <a:rPr lang="en-GB" dirty="0"/>
              <a:t>(PTO)</a:t>
            </a:r>
          </a:p>
          <a:p>
            <a:endParaRPr lang="en-GB" dirty="0"/>
          </a:p>
        </p:txBody>
      </p:sp>
    </p:spTree>
    <p:extLst>
      <p:ext uri="{BB962C8B-B14F-4D97-AF65-F5344CB8AC3E}">
        <p14:creationId xmlns:p14="http://schemas.microsoft.com/office/powerpoint/2010/main" val="37198325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229600" cy="533400"/>
          </a:xfrm>
        </p:spPr>
        <p:txBody>
          <a:bodyPr>
            <a:normAutofit fontScale="90000"/>
          </a:bodyPr>
          <a:lstStyle/>
          <a:p>
            <a:r>
              <a:rPr lang="en-GB" sz="3200" dirty="0"/>
              <a:t>Proof continued</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23</a:t>
            </a:fld>
            <a:endParaRPr lang="en-US"/>
          </a:p>
        </p:txBody>
      </p:sp>
      <p:sp>
        <p:nvSpPr>
          <p:cNvPr id="4" name="TextBox 3"/>
          <p:cNvSpPr txBox="1"/>
          <p:nvPr/>
        </p:nvSpPr>
        <p:spPr>
          <a:xfrm>
            <a:off x="228600" y="762000"/>
            <a:ext cx="8001000" cy="6063198"/>
          </a:xfrm>
          <a:prstGeom prst="rect">
            <a:avLst/>
          </a:prstGeom>
          <a:noFill/>
        </p:spPr>
        <p:txBody>
          <a:bodyPr wrap="square" rtlCol="0">
            <a:spAutoFit/>
          </a:bodyPr>
          <a:lstStyle/>
          <a:p>
            <a:r>
              <a:rPr lang="en-GB" dirty="0"/>
              <a:t>The equations form a pattern, we can continue on with equation (4) etc. as follows:</a:t>
            </a:r>
          </a:p>
          <a:p>
            <a:endParaRPr lang="en-GB" dirty="0"/>
          </a:p>
          <a:p>
            <a:r>
              <a:rPr lang="en-GB" dirty="0"/>
              <a:t>c(n) = 2c(n/2) + n – 1                                          (1)</a:t>
            </a:r>
          </a:p>
          <a:p>
            <a:endParaRPr lang="en-GB" dirty="0"/>
          </a:p>
          <a:p>
            <a:r>
              <a:rPr lang="en-GB" dirty="0"/>
              <a:t>c(n) = 4c(n/4) + 2n -3                                          (2)</a:t>
            </a:r>
          </a:p>
          <a:p>
            <a:endParaRPr lang="en-GB" dirty="0"/>
          </a:p>
          <a:p>
            <a:r>
              <a:rPr lang="en-GB" dirty="0"/>
              <a:t>c(n) = 8c(n/8) +3n – 7                                          (3)</a:t>
            </a:r>
          </a:p>
          <a:p>
            <a:endParaRPr lang="en-GB" dirty="0"/>
          </a:p>
          <a:p>
            <a:r>
              <a:rPr lang="en-GB" dirty="0"/>
              <a:t>c(n) = 16c(n/16) +4n – 15                                    (4)</a:t>
            </a:r>
          </a:p>
          <a:p>
            <a:endParaRPr lang="en-GB" dirty="0"/>
          </a:p>
          <a:p>
            <a:r>
              <a:rPr lang="en-GB" dirty="0"/>
              <a:t>c(n) = 32c(n/32) + 5n – 31                                   (5)</a:t>
            </a:r>
          </a:p>
          <a:p>
            <a:r>
              <a:rPr lang="en-GB" sz="3200" dirty="0"/>
              <a:t>.</a:t>
            </a:r>
            <a:br>
              <a:rPr lang="en-GB" sz="3200" dirty="0"/>
            </a:br>
            <a:r>
              <a:rPr lang="en-GB" sz="3200" dirty="0"/>
              <a:t>.</a:t>
            </a:r>
          </a:p>
          <a:p>
            <a:r>
              <a:rPr lang="en-GB" dirty="0"/>
              <a:t>c(n) = 2</a:t>
            </a:r>
            <a:r>
              <a:rPr lang="en-GB" baseline="30000" dirty="0"/>
              <a:t>m</a:t>
            </a:r>
            <a:r>
              <a:rPr lang="en-GB" dirty="0"/>
              <a:t>c(n/2</a:t>
            </a:r>
            <a:r>
              <a:rPr lang="en-GB" baseline="30000" dirty="0"/>
              <a:t>m</a:t>
            </a:r>
            <a:r>
              <a:rPr lang="en-GB" dirty="0"/>
              <a:t>) + </a:t>
            </a:r>
            <a:r>
              <a:rPr lang="en-GB" dirty="0" err="1"/>
              <a:t>mn</a:t>
            </a:r>
            <a:r>
              <a:rPr lang="en-GB" dirty="0"/>
              <a:t> – (2</a:t>
            </a:r>
            <a:r>
              <a:rPr lang="en-GB" baseline="30000" dirty="0"/>
              <a:t>m</a:t>
            </a:r>
            <a:r>
              <a:rPr lang="en-GB" dirty="0"/>
              <a:t>-1)                             (m)    </a:t>
            </a:r>
          </a:p>
          <a:p>
            <a:endParaRPr lang="en-GB" dirty="0"/>
          </a:p>
          <a:p>
            <a:r>
              <a:rPr lang="en-GB" dirty="0"/>
              <a:t>Since 2</a:t>
            </a:r>
            <a:r>
              <a:rPr lang="en-GB" baseline="30000" dirty="0"/>
              <a:t>m</a:t>
            </a:r>
            <a:r>
              <a:rPr lang="en-GB" dirty="0"/>
              <a:t>=n, m=log n, we get</a:t>
            </a:r>
          </a:p>
          <a:p>
            <a:r>
              <a:rPr lang="en-GB" dirty="0"/>
              <a:t>c(n) = </a:t>
            </a:r>
            <a:r>
              <a:rPr lang="en-GB" dirty="0" err="1"/>
              <a:t>nc</a:t>
            </a:r>
            <a:r>
              <a:rPr lang="en-GB" dirty="0"/>
              <a:t>(1) + </a:t>
            </a:r>
            <a:r>
              <a:rPr lang="en-GB" dirty="0" err="1"/>
              <a:t>nlog</a:t>
            </a:r>
            <a:r>
              <a:rPr lang="en-GB" dirty="0"/>
              <a:t> n –n +1</a:t>
            </a:r>
          </a:p>
          <a:p>
            <a:r>
              <a:rPr lang="en-GB" dirty="0"/>
              <a:t>And as c(1)=0,</a:t>
            </a:r>
          </a:p>
          <a:p>
            <a:r>
              <a:rPr lang="en-GB" dirty="0"/>
              <a:t>c(n) = </a:t>
            </a:r>
            <a:r>
              <a:rPr lang="en-GB" dirty="0" err="1"/>
              <a:t>nlogn</a:t>
            </a:r>
            <a:r>
              <a:rPr lang="en-GB" dirty="0"/>
              <a:t> –n + 1 = O(</a:t>
            </a:r>
            <a:r>
              <a:rPr lang="en-GB" dirty="0" err="1"/>
              <a:t>nlogn</a:t>
            </a:r>
            <a:r>
              <a:rPr lang="en-GB" dirty="0"/>
              <a:t>)                                </a:t>
            </a:r>
          </a:p>
        </p:txBody>
      </p:sp>
    </p:spTree>
    <p:extLst>
      <p:ext uri="{BB962C8B-B14F-4D97-AF65-F5344CB8AC3E}">
        <p14:creationId xmlns:p14="http://schemas.microsoft.com/office/powerpoint/2010/main" val="35443416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r>
              <a:rPr lang="en-US" altLang="en-US" sz="3200" dirty="0"/>
              <a:t>Quick-sort </a:t>
            </a:r>
            <a:r>
              <a:rPr lang="en-US" altLang="en-US" sz="3200" i="1" dirty="0"/>
              <a:t>(1)</a:t>
            </a:r>
            <a:endParaRPr lang="en-GB" altLang="en-US" sz="3200" dirty="0"/>
          </a:p>
        </p:txBody>
      </p:sp>
      <p:sp>
        <p:nvSpPr>
          <p:cNvPr id="49155" name="Rectangle 3"/>
          <p:cNvSpPr>
            <a:spLocks noGrp="1" noChangeArrowheads="1"/>
          </p:cNvSpPr>
          <p:nvPr>
            <p:ph idx="1"/>
          </p:nvPr>
        </p:nvSpPr>
        <p:spPr>
          <a:noFill/>
        </p:spPr>
        <p:txBody>
          <a:bodyPr/>
          <a:lstStyle/>
          <a:p>
            <a:pPr eaLnBrk="1" hangingPunct="1">
              <a:lnSpc>
                <a:spcPct val="90000"/>
              </a:lnSpc>
            </a:pPr>
            <a:r>
              <a:rPr lang="en-US" altLang="en-US">
                <a:cs typeface="Times New Roman" pitchFamily="18" charset="0"/>
              </a:rPr>
              <a:t>Idea: Choose any element (called the </a:t>
            </a:r>
            <a:r>
              <a:rPr lang="en-US" altLang="en-US" b="1">
                <a:cs typeface="Times New Roman" pitchFamily="18" charset="0"/>
              </a:rPr>
              <a:t>pivot</a:t>
            </a:r>
            <a:r>
              <a:rPr lang="en-US" altLang="en-US">
                <a:cs typeface="Times New Roman" pitchFamily="18" charset="0"/>
              </a:rPr>
              <a:t>). Then </a:t>
            </a:r>
            <a:r>
              <a:rPr lang="en-US" altLang="en-US" b="1">
                <a:cs typeface="Times New Roman" pitchFamily="18" charset="0"/>
              </a:rPr>
              <a:t>partition</a:t>
            </a:r>
            <a:r>
              <a:rPr lang="en-US" altLang="en-US">
                <a:cs typeface="Times New Roman" pitchFamily="18" charset="0"/>
              </a:rPr>
              <a:t> the array into three subarrays such that:</a:t>
            </a:r>
          </a:p>
          <a:p>
            <a:pPr lvl="1" eaLnBrk="1" hangingPunct="1">
              <a:lnSpc>
                <a:spcPct val="90000"/>
              </a:lnSpc>
            </a:pPr>
            <a:r>
              <a:rPr lang="en-US" altLang="en-US">
                <a:cs typeface="Times New Roman" pitchFamily="18" charset="0"/>
              </a:rPr>
              <a:t>the left subarray contains only elements less than (or equal to) the pivot;</a:t>
            </a:r>
          </a:p>
          <a:p>
            <a:pPr lvl="1" eaLnBrk="1" hangingPunct="1">
              <a:lnSpc>
                <a:spcPct val="90000"/>
              </a:lnSpc>
            </a:pPr>
            <a:r>
              <a:rPr lang="en-US" altLang="en-US">
                <a:cs typeface="Times New Roman" pitchFamily="18" charset="0"/>
              </a:rPr>
              <a:t>the middle subarray contains only the pivot;</a:t>
            </a:r>
          </a:p>
          <a:p>
            <a:pPr lvl="1" eaLnBrk="1" hangingPunct="1">
              <a:lnSpc>
                <a:spcPct val="90000"/>
              </a:lnSpc>
            </a:pPr>
            <a:r>
              <a:rPr lang="en-US" altLang="en-US">
                <a:cs typeface="Times New Roman" pitchFamily="18" charset="0"/>
              </a:rPr>
              <a:t>the right subarray contains only elements greater than (or equal to) the pivot.</a:t>
            </a:r>
          </a:p>
          <a:p>
            <a:pPr eaLnBrk="1" hangingPunct="1">
              <a:lnSpc>
                <a:spcPct val="90000"/>
              </a:lnSpc>
              <a:spcBef>
                <a:spcPts val="900"/>
              </a:spcBef>
              <a:buClr>
                <a:schemeClr val="tx1"/>
              </a:buClr>
              <a:buFont typeface="Wingdings" pitchFamily="2" charset="2"/>
              <a:buNone/>
            </a:pPr>
            <a:r>
              <a:rPr lang="en-US" altLang="en-US">
                <a:cs typeface="Times New Roman" pitchFamily="18" charset="0"/>
              </a:rPr>
              <a:t>	Finally sort the left subarray and the right subarray separately.</a:t>
            </a:r>
          </a:p>
          <a:p>
            <a:pPr eaLnBrk="1" hangingPunct="1">
              <a:lnSpc>
                <a:spcPct val="90000"/>
              </a:lnSpc>
              <a:buClr>
                <a:schemeClr val="tx1"/>
              </a:buClr>
            </a:pPr>
            <a:r>
              <a:rPr lang="en-US" altLang="en-US">
                <a:cs typeface="Times New Roman" pitchFamily="18" charset="0"/>
              </a:rPr>
              <a:t>This is another application of the divide-and-conquer strategy.</a:t>
            </a:r>
          </a:p>
        </p:txBody>
      </p:sp>
      <p:sp>
        <p:nvSpPr>
          <p:cNvPr id="2" name="Slide Number Placeholder 1"/>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13330855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altLang="en-US" sz="3200" dirty="0"/>
              <a:t>Quick-sort </a:t>
            </a:r>
            <a:r>
              <a:rPr lang="en-US" altLang="en-US" sz="3200" i="1" dirty="0"/>
              <a:t>(2)</a:t>
            </a:r>
            <a:endParaRPr lang="en-GB" altLang="en-US" sz="3200" dirty="0"/>
          </a:p>
        </p:txBody>
      </p:sp>
      <p:sp>
        <p:nvSpPr>
          <p:cNvPr id="50179" name="Rectangle 3"/>
          <p:cNvSpPr>
            <a:spLocks noGrp="1" noChangeArrowheads="1"/>
          </p:cNvSpPr>
          <p:nvPr>
            <p:ph idx="1"/>
          </p:nvPr>
        </p:nvSpPr>
        <p:spPr>
          <a:noFill/>
        </p:spPr>
        <p:txBody>
          <a:bodyPr/>
          <a:lstStyle/>
          <a:p>
            <a:pPr eaLnBrk="1" hangingPunct="1">
              <a:tabLst>
                <a:tab pos="723900" algn="l"/>
                <a:tab pos="1257300" algn="l"/>
              </a:tabLst>
            </a:pPr>
            <a:r>
              <a:rPr lang="en-US" altLang="en-US" b="1" dirty="0">
                <a:cs typeface="Times New Roman" pitchFamily="18" charset="0"/>
              </a:rPr>
              <a:t>Quick-sort algorithm</a:t>
            </a:r>
            <a:r>
              <a:rPr lang="en-US" altLang="en-US" dirty="0">
                <a:cs typeface="Times New Roman" pitchFamily="18" charset="0"/>
              </a:rPr>
              <a:t>:</a:t>
            </a:r>
          </a:p>
          <a:p>
            <a:pPr eaLnBrk="1" hangingPunct="1">
              <a:buClr>
                <a:schemeClr val="tx1"/>
              </a:buClr>
              <a:buFont typeface="Wingdings" pitchFamily="2" charset="2"/>
              <a:buNone/>
              <a:tabLst>
                <a:tab pos="723900" algn="l"/>
                <a:tab pos="1257300" algn="l"/>
              </a:tabLst>
            </a:pPr>
            <a:r>
              <a:rPr lang="en-US" altLang="en-US" sz="2000" dirty="0">
                <a:latin typeface="Times New Roman" pitchFamily="18" charset="0"/>
                <a:cs typeface="Times New Roman" pitchFamily="18" charset="0"/>
              </a:rPr>
              <a:t>	To sort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left</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right</a:t>
            </a:r>
            <a:r>
              <a:rPr lang="en-US" altLang="en-US" sz="2000" dirty="0">
                <a:latin typeface="Times New Roman" pitchFamily="18" charset="0"/>
                <a:cs typeface="Times New Roman" pitchFamily="18" charset="0"/>
              </a:rPr>
              <a:t>] into ascending order:</a:t>
            </a:r>
          </a:p>
          <a:p>
            <a:pPr eaLnBrk="1" hangingPunct="1">
              <a:spcBef>
                <a:spcPts val="900"/>
              </a:spcBef>
              <a:buClr>
                <a:schemeClr val="tx1"/>
              </a:buClr>
              <a:buFont typeface="Wingdings" pitchFamily="2" charset="2"/>
              <a:buNone/>
              <a:tabLst>
                <a:tab pos="723900" algn="l"/>
                <a:tab pos="1257300" algn="l"/>
              </a:tabLst>
            </a:pPr>
            <a:r>
              <a:rPr lang="en-US" altLang="en-US" sz="2000" dirty="0">
                <a:latin typeface="Times New Roman" pitchFamily="18" charset="0"/>
                <a:cs typeface="Times New Roman" pitchFamily="18" charset="0"/>
              </a:rPr>
              <a:t>	1.	If </a:t>
            </a:r>
            <a:r>
              <a:rPr lang="en-US" altLang="en-US" sz="2000" i="1" dirty="0">
                <a:latin typeface="Times New Roman" pitchFamily="18" charset="0"/>
                <a:cs typeface="Times New Roman" pitchFamily="18" charset="0"/>
              </a:rPr>
              <a:t>left</a:t>
            </a:r>
            <a:r>
              <a:rPr lang="en-US" altLang="en-US" sz="2000" dirty="0">
                <a:latin typeface="Times New Roman" pitchFamily="18" charset="0"/>
                <a:cs typeface="Times New Roman" pitchFamily="18" charset="0"/>
              </a:rPr>
              <a:t> &lt; </a:t>
            </a:r>
            <a:r>
              <a:rPr lang="en-US" altLang="en-US" sz="2000" i="1" dirty="0">
                <a:latin typeface="Times New Roman" pitchFamily="18" charset="0"/>
                <a:cs typeface="Times New Roman" pitchFamily="18" charset="0"/>
              </a:rPr>
              <a:t>right</a:t>
            </a:r>
            <a:r>
              <a:rPr lang="en-US" altLang="en-US" sz="2000" dirty="0">
                <a:latin typeface="Times New Roman" pitchFamily="18" charset="0"/>
                <a:cs typeface="Times New Roman" pitchFamily="18" charset="0"/>
              </a:rPr>
              <a:t>:</a:t>
            </a:r>
            <a:br>
              <a:rPr lang="en-US" altLang="en-US" sz="2000" dirty="0">
                <a:latin typeface="Times New Roman" pitchFamily="18" charset="0"/>
                <a:cs typeface="Times New Roman" pitchFamily="18" charset="0"/>
              </a:rPr>
            </a:br>
            <a:r>
              <a:rPr lang="en-US" altLang="en-US" sz="2000" dirty="0">
                <a:latin typeface="Times New Roman" pitchFamily="18" charset="0"/>
                <a:cs typeface="Times New Roman" pitchFamily="18" charset="0"/>
              </a:rPr>
              <a:t>	1.1.	Partition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left</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right</a:t>
            </a:r>
            <a:r>
              <a:rPr lang="en-US" altLang="en-US" sz="2000" dirty="0">
                <a:latin typeface="Times New Roman" pitchFamily="18" charset="0"/>
                <a:cs typeface="Times New Roman" pitchFamily="18" charset="0"/>
              </a:rPr>
              <a:t>] such that </a:t>
            </a:r>
            <a:br>
              <a:rPr lang="en-US" altLang="en-US" sz="2000" dirty="0">
                <a:latin typeface="Times New Roman" pitchFamily="18" charset="0"/>
                <a:cs typeface="Times New Roman" pitchFamily="18" charset="0"/>
              </a:rPr>
            </a:br>
            <a:r>
              <a:rPr lang="en-US" altLang="en-US" sz="2000" dirty="0">
                <a:latin typeface="Times New Roman" pitchFamily="18" charset="0"/>
                <a:cs typeface="Times New Roman" pitchFamily="18" charset="0"/>
              </a:rPr>
              <a:t>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left</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p</a:t>
            </a:r>
            <a:r>
              <a:rPr lang="en-US" altLang="en-US" sz="2000" dirty="0">
                <a:latin typeface="Times New Roman" pitchFamily="18" charset="0"/>
                <a:cs typeface="Times New Roman" pitchFamily="18" charset="0"/>
              </a:rPr>
              <a:t>–1] are all less than or equal to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p</a:t>
            </a:r>
            <a:r>
              <a:rPr lang="en-US" altLang="en-US" sz="2000" dirty="0">
                <a:latin typeface="Times New Roman" pitchFamily="18" charset="0"/>
                <a:cs typeface="Times New Roman" pitchFamily="18" charset="0"/>
              </a:rPr>
              <a:t>], and </a:t>
            </a:r>
            <a:br>
              <a:rPr lang="en-US" altLang="en-US" sz="2000" dirty="0">
                <a:latin typeface="Times New Roman" pitchFamily="18" charset="0"/>
                <a:cs typeface="Times New Roman" pitchFamily="18" charset="0"/>
              </a:rPr>
            </a:br>
            <a:r>
              <a:rPr lang="en-US" altLang="en-US" sz="2000" dirty="0">
                <a:latin typeface="Times New Roman" pitchFamily="18" charset="0"/>
                <a:cs typeface="Times New Roman" pitchFamily="18" charset="0"/>
              </a:rPr>
              <a:t>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p</a:t>
            </a:r>
            <a:r>
              <a:rPr lang="en-US" altLang="en-US" sz="2000" dirty="0">
                <a:latin typeface="Times New Roman" pitchFamily="18" charset="0"/>
                <a:cs typeface="Times New Roman" pitchFamily="18" charset="0"/>
              </a:rPr>
              <a:t>+1…</a:t>
            </a:r>
            <a:r>
              <a:rPr lang="en-US" altLang="en-US" sz="2000" i="1" dirty="0">
                <a:latin typeface="Times New Roman" pitchFamily="18" charset="0"/>
                <a:cs typeface="Times New Roman" pitchFamily="18" charset="0"/>
              </a:rPr>
              <a:t>right</a:t>
            </a:r>
            <a:r>
              <a:rPr lang="en-US" altLang="en-US" sz="2000" dirty="0">
                <a:latin typeface="Times New Roman" pitchFamily="18" charset="0"/>
                <a:cs typeface="Times New Roman" pitchFamily="18" charset="0"/>
              </a:rPr>
              <a:t>] are all greater than or equal to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p</a:t>
            </a:r>
            <a:r>
              <a:rPr lang="en-US" altLang="en-US" sz="2000" dirty="0">
                <a:latin typeface="Times New Roman" pitchFamily="18" charset="0"/>
                <a:cs typeface="Times New Roman" pitchFamily="18" charset="0"/>
              </a:rPr>
              <a:t>].</a:t>
            </a:r>
            <a:br>
              <a:rPr lang="en-US" altLang="en-US" sz="2000" dirty="0">
                <a:latin typeface="Times New Roman" pitchFamily="18" charset="0"/>
                <a:cs typeface="Times New Roman" pitchFamily="18" charset="0"/>
              </a:rPr>
            </a:br>
            <a:r>
              <a:rPr lang="en-US" altLang="en-US" sz="2000" dirty="0">
                <a:latin typeface="Times New Roman" pitchFamily="18" charset="0"/>
                <a:cs typeface="Times New Roman" pitchFamily="18" charset="0"/>
              </a:rPr>
              <a:t>	1.2.	Sort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left</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p</a:t>
            </a:r>
            <a:r>
              <a:rPr lang="en-US" altLang="en-US" sz="2000" dirty="0">
                <a:latin typeface="Times New Roman" pitchFamily="18" charset="0"/>
                <a:cs typeface="Times New Roman" pitchFamily="18" charset="0"/>
              </a:rPr>
              <a:t>–1] into ascending order.</a:t>
            </a:r>
            <a:br>
              <a:rPr lang="en-US" altLang="en-US" sz="2000" dirty="0">
                <a:latin typeface="Times New Roman" pitchFamily="18" charset="0"/>
                <a:cs typeface="Times New Roman" pitchFamily="18" charset="0"/>
              </a:rPr>
            </a:br>
            <a:r>
              <a:rPr lang="en-US" altLang="en-US" sz="2000" dirty="0">
                <a:latin typeface="Times New Roman" pitchFamily="18" charset="0"/>
                <a:cs typeface="Times New Roman" pitchFamily="18" charset="0"/>
              </a:rPr>
              <a:t>	1.3.	Sort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p</a:t>
            </a:r>
            <a:r>
              <a:rPr lang="en-US" altLang="en-US" sz="2000" dirty="0">
                <a:latin typeface="Times New Roman" pitchFamily="18" charset="0"/>
                <a:cs typeface="Times New Roman" pitchFamily="18" charset="0"/>
              </a:rPr>
              <a:t>+1…</a:t>
            </a:r>
            <a:r>
              <a:rPr lang="en-US" altLang="en-US" sz="2000" i="1" dirty="0">
                <a:latin typeface="Times New Roman" pitchFamily="18" charset="0"/>
                <a:cs typeface="Times New Roman" pitchFamily="18" charset="0"/>
              </a:rPr>
              <a:t>right</a:t>
            </a:r>
            <a:r>
              <a:rPr lang="en-US" altLang="en-US" sz="2000" dirty="0">
                <a:latin typeface="Times New Roman" pitchFamily="18" charset="0"/>
                <a:cs typeface="Times New Roman" pitchFamily="18" charset="0"/>
              </a:rPr>
              <a:t>] into ascending order.</a:t>
            </a:r>
            <a:br>
              <a:rPr lang="en-US" altLang="en-US" sz="2000" dirty="0">
                <a:latin typeface="Times New Roman" pitchFamily="18" charset="0"/>
                <a:cs typeface="Times New Roman" pitchFamily="18" charset="0"/>
              </a:rPr>
            </a:br>
            <a:r>
              <a:rPr lang="en-US" altLang="en-US" sz="2000" dirty="0">
                <a:latin typeface="Times New Roman" pitchFamily="18" charset="0"/>
                <a:cs typeface="Times New Roman" pitchFamily="18" charset="0"/>
              </a:rPr>
              <a:t>2.	Terminate.</a:t>
            </a:r>
          </a:p>
        </p:txBody>
      </p:sp>
      <p:sp>
        <p:nvSpPr>
          <p:cNvPr id="455684" name="AutoShape 4"/>
          <p:cNvSpPr>
            <a:spLocks/>
          </p:cNvSpPr>
          <p:nvPr/>
        </p:nvSpPr>
        <p:spPr bwMode="auto">
          <a:xfrm>
            <a:off x="7620000" y="3581400"/>
            <a:ext cx="936625" cy="755650"/>
          </a:xfrm>
          <a:prstGeom prst="callout1">
            <a:avLst>
              <a:gd name="adj1" fmla="val 15125"/>
              <a:gd name="adj2" fmla="val -8134"/>
              <a:gd name="adj3" fmla="val -29412"/>
              <a:gd name="adj4" fmla="val -63389"/>
            </a:avLst>
          </a:prstGeom>
          <a:noFill/>
          <a:ln w="9525">
            <a:solidFill>
              <a:schemeClr val="accent1"/>
            </a:solidFill>
            <a:prstDash val="dash"/>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lnSpc>
                <a:spcPts val="1800"/>
              </a:lnSpc>
              <a:spcBef>
                <a:spcPct val="0"/>
              </a:spcBef>
              <a:buClrTx/>
              <a:buFontTx/>
              <a:buNone/>
            </a:pPr>
            <a:r>
              <a:rPr lang="en-US" altLang="en-US" sz="1800" i="1" dirty="0">
                <a:solidFill>
                  <a:schemeClr val="accent1">
                    <a:lumMod val="50000"/>
                  </a:schemeClr>
                </a:solidFill>
              </a:rPr>
              <a:t>a</a:t>
            </a:r>
            <a:r>
              <a:rPr lang="en-US" altLang="en-US" sz="1800" dirty="0">
                <a:solidFill>
                  <a:schemeClr val="accent1">
                    <a:lumMod val="50000"/>
                  </a:schemeClr>
                </a:solidFill>
              </a:rPr>
              <a:t>[</a:t>
            </a:r>
            <a:r>
              <a:rPr lang="en-US" altLang="en-US" sz="1800" i="1" dirty="0">
                <a:solidFill>
                  <a:schemeClr val="accent1">
                    <a:lumMod val="50000"/>
                  </a:schemeClr>
                </a:solidFill>
              </a:rPr>
              <a:t>p</a:t>
            </a:r>
            <a:r>
              <a:rPr lang="en-US" altLang="en-US" sz="1800" dirty="0">
                <a:solidFill>
                  <a:schemeClr val="accent1">
                    <a:lumMod val="50000"/>
                  </a:schemeClr>
                </a:solidFill>
              </a:rPr>
              <a:t>] now contains the pivot</a:t>
            </a:r>
          </a:p>
        </p:txBody>
      </p:sp>
      <p:sp>
        <p:nvSpPr>
          <p:cNvPr id="2" name="Slide Number Placeholder 1"/>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41644998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56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568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ltLang="en-US" sz="3200" dirty="0"/>
              <a:t>Quick-sort </a:t>
            </a:r>
            <a:r>
              <a:rPr lang="en-US" altLang="en-US" sz="3200" i="1" dirty="0"/>
              <a:t>(3)</a:t>
            </a:r>
            <a:endParaRPr lang="en-GB" altLang="en-US" sz="3200" dirty="0"/>
          </a:p>
        </p:txBody>
      </p:sp>
      <p:sp>
        <p:nvSpPr>
          <p:cNvPr id="51203" name="Rectangle 3"/>
          <p:cNvSpPr>
            <a:spLocks noGrp="1" noChangeArrowheads="1"/>
          </p:cNvSpPr>
          <p:nvPr>
            <p:ph idx="1"/>
          </p:nvPr>
        </p:nvSpPr>
        <p:spPr>
          <a:xfrm>
            <a:off x="333375" y="1358901"/>
            <a:ext cx="7620000" cy="4800600"/>
          </a:xfrm>
          <a:noFill/>
        </p:spPr>
        <p:txBody>
          <a:bodyPr/>
          <a:lstStyle/>
          <a:p>
            <a:pPr eaLnBrk="1" hangingPunct="1"/>
            <a:r>
              <a:rPr lang="en-US" altLang="en-US" dirty="0"/>
              <a:t>Invariants:</a:t>
            </a:r>
          </a:p>
        </p:txBody>
      </p:sp>
      <p:grpSp>
        <p:nvGrpSpPr>
          <p:cNvPr id="2" name="Group 84"/>
          <p:cNvGrpSpPr>
            <a:grpSpLocks/>
          </p:cNvGrpSpPr>
          <p:nvPr/>
        </p:nvGrpSpPr>
        <p:grpSpPr bwMode="auto">
          <a:xfrm>
            <a:off x="642938" y="2024063"/>
            <a:ext cx="6519862" cy="1295400"/>
            <a:chOff x="1381" y="1371"/>
            <a:chExt cx="4107" cy="816"/>
          </a:xfrm>
        </p:grpSpPr>
        <p:sp>
          <p:nvSpPr>
            <p:cNvPr id="51255" name="Rectangle 5"/>
            <p:cNvSpPr>
              <a:spLocks noChangeArrowheads="1"/>
            </p:cNvSpPr>
            <p:nvPr/>
          </p:nvSpPr>
          <p:spPr bwMode="auto">
            <a:xfrm>
              <a:off x="1381" y="1488"/>
              <a:ext cx="388"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nSpc>
                  <a:spcPts val="1800"/>
                </a:lnSpc>
                <a:spcBef>
                  <a:spcPct val="0"/>
                </a:spcBef>
                <a:buClrTx/>
                <a:buFontTx/>
                <a:buNone/>
              </a:pPr>
              <a:r>
                <a:rPr lang="en-US" altLang="en-US" sz="2000">
                  <a:solidFill>
                    <a:srgbClr val="000000"/>
                  </a:solidFill>
                </a:rPr>
                <a:t>After step 1.1:</a:t>
              </a:r>
              <a:endParaRPr lang="en-US" altLang="en-US" sz="2000"/>
            </a:p>
          </p:txBody>
        </p:sp>
        <p:sp>
          <p:nvSpPr>
            <p:cNvPr id="51256" name="Rectangle 6"/>
            <p:cNvSpPr>
              <a:spLocks noChangeArrowheads="1"/>
            </p:cNvSpPr>
            <p:nvPr/>
          </p:nvSpPr>
          <p:spPr bwMode="auto">
            <a:xfrm>
              <a:off x="3981" y="1371"/>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p</a:t>
              </a:r>
              <a:r>
                <a:rPr lang="en-US" altLang="en-US" sz="1800">
                  <a:solidFill>
                    <a:srgbClr val="000000"/>
                  </a:solidFill>
                </a:rPr>
                <a:t>+1</a:t>
              </a:r>
            </a:p>
          </p:txBody>
        </p:sp>
        <p:sp>
          <p:nvSpPr>
            <p:cNvPr id="51257" name="Rectangle 7"/>
            <p:cNvSpPr>
              <a:spLocks noChangeArrowheads="1"/>
            </p:cNvSpPr>
            <p:nvPr/>
          </p:nvSpPr>
          <p:spPr bwMode="auto">
            <a:xfrm>
              <a:off x="1879" y="1564"/>
              <a:ext cx="206"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1258" name="Rectangle 8"/>
            <p:cNvSpPr>
              <a:spLocks noChangeArrowheads="1"/>
            </p:cNvSpPr>
            <p:nvPr/>
          </p:nvSpPr>
          <p:spPr bwMode="auto">
            <a:xfrm>
              <a:off x="1938" y="1589"/>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rgbClr val="000000"/>
                  </a:solidFill>
                </a:rPr>
                <a:t>a</a:t>
              </a:r>
              <a:endParaRPr lang="en-US" altLang="en-US" sz="1800"/>
            </a:p>
          </p:txBody>
        </p:sp>
        <p:sp>
          <p:nvSpPr>
            <p:cNvPr id="51259" name="Rectangle 9"/>
            <p:cNvSpPr>
              <a:spLocks noChangeArrowheads="1"/>
            </p:cNvSpPr>
            <p:nvPr/>
          </p:nvSpPr>
          <p:spPr bwMode="auto">
            <a:xfrm>
              <a:off x="2085" y="1554"/>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1260" name="Rectangle 10"/>
            <p:cNvSpPr>
              <a:spLocks noChangeArrowheads="1"/>
            </p:cNvSpPr>
            <p:nvPr/>
          </p:nvSpPr>
          <p:spPr bwMode="auto">
            <a:xfrm>
              <a:off x="2555" y="1554"/>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1261" name="Rectangle 11"/>
            <p:cNvSpPr>
              <a:spLocks noChangeArrowheads="1"/>
            </p:cNvSpPr>
            <p:nvPr/>
          </p:nvSpPr>
          <p:spPr bwMode="auto">
            <a:xfrm>
              <a:off x="3035" y="1554"/>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1262" name="Rectangle 12"/>
            <p:cNvSpPr>
              <a:spLocks noChangeArrowheads="1"/>
            </p:cNvSpPr>
            <p:nvPr/>
          </p:nvSpPr>
          <p:spPr bwMode="auto">
            <a:xfrm>
              <a:off x="3515" y="1554"/>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1263" name="Rectangle 13"/>
            <p:cNvSpPr>
              <a:spLocks noChangeArrowheads="1"/>
            </p:cNvSpPr>
            <p:nvPr/>
          </p:nvSpPr>
          <p:spPr bwMode="auto">
            <a:xfrm>
              <a:off x="3515" y="1371"/>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p</a:t>
              </a:r>
              <a:endParaRPr lang="en-US" altLang="en-US" sz="1800">
                <a:solidFill>
                  <a:srgbClr val="000000"/>
                </a:solidFill>
              </a:endParaRPr>
            </a:p>
          </p:txBody>
        </p:sp>
        <p:sp>
          <p:nvSpPr>
            <p:cNvPr id="51264" name="Rectangle 14"/>
            <p:cNvSpPr>
              <a:spLocks noChangeArrowheads="1"/>
            </p:cNvSpPr>
            <p:nvPr/>
          </p:nvSpPr>
          <p:spPr bwMode="auto">
            <a:xfrm>
              <a:off x="2085" y="1381"/>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left</a:t>
              </a:r>
              <a:endParaRPr lang="en-US" altLang="en-US" sz="1800">
                <a:solidFill>
                  <a:srgbClr val="000000"/>
                </a:solidFill>
              </a:endParaRPr>
            </a:p>
          </p:txBody>
        </p:sp>
        <p:sp>
          <p:nvSpPr>
            <p:cNvPr id="51265" name="Rectangle 15"/>
            <p:cNvSpPr>
              <a:spLocks noChangeArrowheads="1"/>
            </p:cNvSpPr>
            <p:nvPr/>
          </p:nvSpPr>
          <p:spPr bwMode="auto">
            <a:xfrm>
              <a:off x="3035" y="1381"/>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p</a:t>
              </a:r>
              <a:r>
                <a:rPr lang="en-US" altLang="en-US" sz="1800">
                  <a:solidFill>
                    <a:srgbClr val="000000"/>
                  </a:solidFill>
                  <a:cs typeface="Times New Roman" pitchFamily="18" charset="0"/>
                </a:rPr>
                <a:t>–</a:t>
              </a:r>
              <a:r>
                <a:rPr lang="en-US" altLang="en-US" sz="1800">
                  <a:solidFill>
                    <a:srgbClr val="000000"/>
                  </a:solidFill>
                </a:rPr>
                <a:t>1</a:t>
              </a:r>
            </a:p>
          </p:txBody>
        </p:sp>
        <p:sp>
          <p:nvSpPr>
            <p:cNvPr id="51266" name="Freeform 16"/>
            <p:cNvSpPr>
              <a:spLocks/>
            </p:cNvSpPr>
            <p:nvPr/>
          </p:nvSpPr>
          <p:spPr bwMode="auto">
            <a:xfrm>
              <a:off x="2699" y="1515"/>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p>
          </p:txBody>
        </p:sp>
        <p:sp>
          <p:nvSpPr>
            <p:cNvPr id="51267" name="Rectangle 17"/>
            <p:cNvSpPr>
              <a:spLocks noChangeArrowheads="1"/>
            </p:cNvSpPr>
            <p:nvPr/>
          </p:nvSpPr>
          <p:spPr bwMode="auto">
            <a:xfrm>
              <a:off x="4989" y="1371"/>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right</a:t>
              </a:r>
              <a:endParaRPr lang="en-US" altLang="en-US" sz="1800">
                <a:solidFill>
                  <a:srgbClr val="000000"/>
                </a:solidFill>
              </a:endParaRPr>
            </a:p>
          </p:txBody>
        </p:sp>
        <p:grpSp>
          <p:nvGrpSpPr>
            <p:cNvPr id="51268" name="Group 18"/>
            <p:cNvGrpSpPr>
              <a:grpSpLocks/>
            </p:cNvGrpSpPr>
            <p:nvPr/>
          </p:nvGrpSpPr>
          <p:grpSpPr bwMode="auto">
            <a:xfrm>
              <a:off x="4011" y="1554"/>
              <a:ext cx="1477" cy="228"/>
              <a:chOff x="3486" y="1479"/>
              <a:chExt cx="1477" cy="228"/>
            </a:xfrm>
          </p:grpSpPr>
          <p:sp>
            <p:nvSpPr>
              <p:cNvPr id="51275" name="Rectangle 19"/>
              <p:cNvSpPr>
                <a:spLocks noChangeArrowheads="1"/>
              </p:cNvSpPr>
              <p:nvPr/>
            </p:nvSpPr>
            <p:spPr bwMode="auto">
              <a:xfrm>
                <a:off x="3984" y="1479"/>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1276" name="Rectangle 20"/>
              <p:cNvSpPr>
                <a:spLocks noChangeArrowheads="1"/>
              </p:cNvSpPr>
              <p:nvPr/>
            </p:nvSpPr>
            <p:spPr bwMode="auto">
              <a:xfrm>
                <a:off x="4464" y="1479"/>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1277" name="Rectangle 21"/>
              <p:cNvSpPr>
                <a:spLocks noChangeArrowheads="1"/>
              </p:cNvSpPr>
              <p:nvPr/>
            </p:nvSpPr>
            <p:spPr bwMode="auto">
              <a:xfrm>
                <a:off x="3486" y="1480"/>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grpSp>
        <p:sp>
          <p:nvSpPr>
            <p:cNvPr id="51269" name="Freeform 22"/>
            <p:cNvSpPr>
              <a:spLocks/>
            </p:cNvSpPr>
            <p:nvPr/>
          </p:nvSpPr>
          <p:spPr bwMode="auto">
            <a:xfrm>
              <a:off x="4653" y="1515"/>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p>
          </p:txBody>
        </p:sp>
        <p:sp>
          <p:nvSpPr>
            <p:cNvPr id="51270" name="Freeform 45"/>
            <p:cNvSpPr>
              <a:spLocks/>
            </p:cNvSpPr>
            <p:nvPr/>
          </p:nvSpPr>
          <p:spPr bwMode="auto">
            <a:xfrm>
              <a:off x="2109" y="1797"/>
              <a:ext cx="1383" cy="91"/>
            </a:xfrm>
            <a:custGeom>
              <a:avLst/>
              <a:gdLst>
                <a:gd name="T0" fmla="*/ 0 w 1513"/>
                <a:gd name="T1" fmla="*/ 0 h 126"/>
                <a:gd name="T2" fmla="*/ 1 w 1513"/>
                <a:gd name="T3" fmla="*/ 4 h 126"/>
                <a:gd name="T4" fmla="*/ 6 w 1513"/>
                <a:gd name="T5" fmla="*/ 7 h 126"/>
                <a:gd name="T6" fmla="*/ 15 w 1513"/>
                <a:gd name="T7" fmla="*/ 9 h 126"/>
                <a:gd name="T8" fmla="*/ 26 w 1513"/>
                <a:gd name="T9" fmla="*/ 12 h 126"/>
                <a:gd name="T10" fmla="*/ 37 w 1513"/>
                <a:gd name="T11" fmla="*/ 14 h 126"/>
                <a:gd name="T12" fmla="*/ 53 w 1513"/>
                <a:gd name="T13" fmla="*/ 16 h 126"/>
                <a:gd name="T14" fmla="*/ 69 w 1513"/>
                <a:gd name="T15" fmla="*/ 16 h 126"/>
                <a:gd name="T16" fmla="*/ 87 w 1513"/>
                <a:gd name="T17" fmla="*/ 17 h 126"/>
                <a:gd name="T18" fmla="*/ 441 w 1513"/>
                <a:gd name="T19" fmla="*/ 17 h 126"/>
                <a:gd name="T20" fmla="*/ 458 w 1513"/>
                <a:gd name="T21" fmla="*/ 17 h 126"/>
                <a:gd name="T22" fmla="*/ 474 w 1513"/>
                <a:gd name="T23" fmla="*/ 18 h 126"/>
                <a:gd name="T24" fmla="*/ 490 w 1513"/>
                <a:gd name="T25" fmla="*/ 20 h 126"/>
                <a:gd name="T26" fmla="*/ 501 w 1513"/>
                <a:gd name="T27" fmla="*/ 22 h 126"/>
                <a:gd name="T28" fmla="*/ 512 w 1513"/>
                <a:gd name="T29" fmla="*/ 25 h 126"/>
                <a:gd name="T30" fmla="*/ 520 w 1513"/>
                <a:gd name="T31" fmla="*/ 27 h 126"/>
                <a:gd name="T32" fmla="*/ 527 w 1513"/>
                <a:gd name="T33" fmla="*/ 31 h 126"/>
                <a:gd name="T34" fmla="*/ 527 w 1513"/>
                <a:gd name="T35" fmla="*/ 35 h 126"/>
                <a:gd name="T36" fmla="*/ 529 w 1513"/>
                <a:gd name="T37" fmla="*/ 31 h 126"/>
                <a:gd name="T38" fmla="*/ 535 w 1513"/>
                <a:gd name="T39" fmla="*/ 27 h 126"/>
                <a:gd name="T40" fmla="*/ 542 w 1513"/>
                <a:gd name="T41" fmla="*/ 25 h 126"/>
                <a:gd name="T42" fmla="*/ 554 w 1513"/>
                <a:gd name="T43" fmla="*/ 22 h 126"/>
                <a:gd name="T44" fmla="*/ 565 w 1513"/>
                <a:gd name="T45" fmla="*/ 20 h 126"/>
                <a:gd name="T46" fmla="*/ 581 w 1513"/>
                <a:gd name="T47" fmla="*/ 18 h 126"/>
                <a:gd name="T48" fmla="*/ 598 w 1513"/>
                <a:gd name="T49" fmla="*/ 17 h 126"/>
                <a:gd name="T50" fmla="*/ 615 w 1513"/>
                <a:gd name="T51" fmla="*/ 17 h 126"/>
                <a:gd name="T52" fmla="*/ 968 w 1513"/>
                <a:gd name="T53" fmla="*/ 17 h 126"/>
                <a:gd name="T54" fmla="*/ 986 w 1513"/>
                <a:gd name="T55" fmla="*/ 16 h 126"/>
                <a:gd name="T56" fmla="*/ 1002 w 1513"/>
                <a:gd name="T57" fmla="*/ 16 h 126"/>
                <a:gd name="T58" fmla="*/ 1017 w 1513"/>
                <a:gd name="T59" fmla="*/ 14 h 126"/>
                <a:gd name="T60" fmla="*/ 1030 w 1513"/>
                <a:gd name="T61" fmla="*/ 12 h 126"/>
                <a:gd name="T62" fmla="*/ 1042 w 1513"/>
                <a:gd name="T63" fmla="*/ 9 h 126"/>
                <a:gd name="T64" fmla="*/ 1049 w 1513"/>
                <a:gd name="T65" fmla="*/ 7 h 126"/>
                <a:gd name="T66" fmla="*/ 1055 w 1513"/>
                <a:gd name="T67" fmla="*/ 4 h 126"/>
                <a:gd name="T68" fmla="*/ 1056 w 1513"/>
                <a:gd name="T69" fmla="*/ 0 h 12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13"/>
                <a:gd name="T106" fmla="*/ 0 h 126"/>
                <a:gd name="T107" fmla="*/ 1513 w 1513"/>
                <a:gd name="T108" fmla="*/ 126 h 12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13" h="126">
                  <a:moveTo>
                    <a:pt x="0" y="0"/>
                  </a:moveTo>
                  <a:lnTo>
                    <a:pt x="1" y="12"/>
                  </a:lnTo>
                  <a:lnTo>
                    <a:pt x="10" y="25"/>
                  </a:lnTo>
                  <a:lnTo>
                    <a:pt x="21" y="34"/>
                  </a:lnTo>
                  <a:lnTo>
                    <a:pt x="37" y="44"/>
                  </a:lnTo>
                  <a:lnTo>
                    <a:pt x="54" y="51"/>
                  </a:lnTo>
                  <a:lnTo>
                    <a:pt x="76" y="57"/>
                  </a:lnTo>
                  <a:lnTo>
                    <a:pt x="100" y="60"/>
                  </a:lnTo>
                  <a:lnTo>
                    <a:pt x="125" y="62"/>
                  </a:lnTo>
                  <a:lnTo>
                    <a:pt x="630" y="62"/>
                  </a:lnTo>
                  <a:lnTo>
                    <a:pt x="655" y="64"/>
                  </a:lnTo>
                  <a:lnTo>
                    <a:pt x="679" y="67"/>
                  </a:lnTo>
                  <a:lnTo>
                    <a:pt x="701" y="72"/>
                  </a:lnTo>
                  <a:lnTo>
                    <a:pt x="718" y="81"/>
                  </a:lnTo>
                  <a:lnTo>
                    <a:pt x="734" y="90"/>
                  </a:lnTo>
                  <a:lnTo>
                    <a:pt x="745" y="101"/>
                  </a:lnTo>
                  <a:lnTo>
                    <a:pt x="754" y="113"/>
                  </a:lnTo>
                  <a:lnTo>
                    <a:pt x="755" y="126"/>
                  </a:lnTo>
                  <a:lnTo>
                    <a:pt x="757" y="113"/>
                  </a:lnTo>
                  <a:lnTo>
                    <a:pt x="766" y="101"/>
                  </a:lnTo>
                  <a:lnTo>
                    <a:pt x="777" y="90"/>
                  </a:lnTo>
                  <a:lnTo>
                    <a:pt x="793" y="81"/>
                  </a:lnTo>
                  <a:lnTo>
                    <a:pt x="810" y="72"/>
                  </a:lnTo>
                  <a:lnTo>
                    <a:pt x="832" y="67"/>
                  </a:lnTo>
                  <a:lnTo>
                    <a:pt x="856" y="64"/>
                  </a:lnTo>
                  <a:lnTo>
                    <a:pt x="881" y="62"/>
                  </a:lnTo>
                  <a:lnTo>
                    <a:pt x="1386" y="62"/>
                  </a:lnTo>
                  <a:lnTo>
                    <a:pt x="1412" y="60"/>
                  </a:lnTo>
                  <a:lnTo>
                    <a:pt x="1435" y="57"/>
                  </a:lnTo>
                  <a:lnTo>
                    <a:pt x="1457" y="51"/>
                  </a:lnTo>
                  <a:lnTo>
                    <a:pt x="1476" y="44"/>
                  </a:lnTo>
                  <a:lnTo>
                    <a:pt x="1492" y="34"/>
                  </a:lnTo>
                  <a:lnTo>
                    <a:pt x="1503" y="25"/>
                  </a:lnTo>
                  <a:lnTo>
                    <a:pt x="1511" y="12"/>
                  </a:lnTo>
                  <a:lnTo>
                    <a:pt x="1513" y="0"/>
                  </a:lnTo>
                </a:path>
              </a:pathLst>
            </a:custGeom>
            <a:noFill/>
            <a:ln w="17526" cap="flat">
              <a:solidFill>
                <a:schemeClr val="accent1">
                  <a:lumMod val="75000"/>
                </a:schemeClr>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1271" name="Rectangle 46"/>
            <p:cNvSpPr>
              <a:spLocks noChangeArrowheads="1"/>
            </p:cNvSpPr>
            <p:nvPr/>
          </p:nvSpPr>
          <p:spPr bwMode="auto">
            <a:xfrm>
              <a:off x="2109" y="1899"/>
              <a:ext cx="1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lnSpc>
                  <a:spcPts val="1800"/>
                </a:lnSpc>
                <a:spcBef>
                  <a:spcPct val="0"/>
                </a:spcBef>
                <a:buClrTx/>
                <a:buFontTx/>
                <a:buNone/>
              </a:pPr>
              <a:r>
                <a:rPr lang="en-US" altLang="en-US" sz="1800" dirty="0">
                  <a:solidFill>
                    <a:schemeClr val="accent1">
                      <a:lumMod val="50000"/>
                    </a:schemeClr>
                  </a:solidFill>
                </a:rPr>
                <a:t>less than or equal to pivot (unsorted) </a:t>
              </a:r>
            </a:p>
          </p:txBody>
        </p:sp>
        <p:sp>
          <p:nvSpPr>
            <p:cNvPr id="51272" name="Freeform 47"/>
            <p:cNvSpPr>
              <a:spLocks/>
            </p:cNvSpPr>
            <p:nvPr/>
          </p:nvSpPr>
          <p:spPr bwMode="auto">
            <a:xfrm>
              <a:off x="4029" y="1803"/>
              <a:ext cx="1440" cy="91"/>
            </a:xfrm>
            <a:custGeom>
              <a:avLst/>
              <a:gdLst>
                <a:gd name="T0" fmla="*/ 0 w 1513"/>
                <a:gd name="T1" fmla="*/ 0 h 126"/>
                <a:gd name="T2" fmla="*/ 2 w 1513"/>
                <a:gd name="T3" fmla="*/ 4 h 126"/>
                <a:gd name="T4" fmla="*/ 10 w 1513"/>
                <a:gd name="T5" fmla="*/ 7 h 126"/>
                <a:gd name="T6" fmla="*/ 17 w 1513"/>
                <a:gd name="T7" fmla="*/ 9 h 126"/>
                <a:gd name="T8" fmla="*/ 30 w 1513"/>
                <a:gd name="T9" fmla="*/ 12 h 126"/>
                <a:gd name="T10" fmla="*/ 45 w 1513"/>
                <a:gd name="T11" fmla="*/ 14 h 126"/>
                <a:gd name="T12" fmla="*/ 63 w 1513"/>
                <a:gd name="T13" fmla="*/ 16 h 126"/>
                <a:gd name="T14" fmla="*/ 83 w 1513"/>
                <a:gd name="T15" fmla="*/ 16 h 126"/>
                <a:gd name="T16" fmla="*/ 103 w 1513"/>
                <a:gd name="T17" fmla="*/ 17 h 126"/>
                <a:gd name="T18" fmla="*/ 517 w 1513"/>
                <a:gd name="T19" fmla="*/ 17 h 126"/>
                <a:gd name="T20" fmla="*/ 539 w 1513"/>
                <a:gd name="T21" fmla="*/ 17 h 126"/>
                <a:gd name="T22" fmla="*/ 558 w 1513"/>
                <a:gd name="T23" fmla="*/ 18 h 126"/>
                <a:gd name="T24" fmla="*/ 575 w 1513"/>
                <a:gd name="T25" fmla="*/ 20 h 126"/>
                <a:gd name="T26" fmla="*/ 591 w 1513"/>
                <a:gd name="T27" fmla="*/ 22 h 126"/>
                <a:gd name="T28" fmla="*/ 603 w 1513"/>
                <a:gd name="T29" fmla="*/ 25 h 126"/>
                <a:gd name="T30" fmla="*/ 613 w 1513"/>
                <a:gd name="T31" fmla="*/ 27 h 126"/>
                <a:gd name="T32" fmla="*/ 621 w 1513"/>
                <a:gd name="T33" fmla="*/ 31 h 126"/>
                <a:gd name="T34" fmla="*/ 621 w 1513"/>
                <a:gd name="T35" fmla="*/ 35 h 126"/>
                <a:gd name="T36" fmla="*/ 622 w 1513"/>
                <a:gd name="T37" fmla="*/ 31 h 126"/>
                <a:gd name="T38" fmla="*/ 630 w 1513"/>
                <a:gd name="T39" fmla="*/ 27 h 126"/>
                <a:gd name="T40" fmla="*/ 639 w 1513"/>
                <a:gd name="T41" fmla="*/ 25 h 126"/>
                <a:gd name="T42" fmla="*/ 652 w 1513"/>
                <a:gd name="T43" fmla="*/ 22 h 126"/>
                <a:gd name="T44" fmla="*/ 666 w 1513"/>
                <a:gd name="T45" fmla="*/ 20 h 126"/>
                <a:gd name="T46" fmla="*/ 685 w 1513"/>
                <a:gd name="T47" fmla="*/ 18 h 126"/>
                <a:gd name="T48" fmla="*/ 704 w 1513"/>
                <a:gd name="T49" fmla="*/ 17 h 126"/>
                <a:gd name="T50" fmla="*/ 723 w 1513"/>
                <a:gd name="T51" fmla="*/ 17 h 126"/>
                <a:gd name="T52" fmla="*/ 1138 w 1513"/>
                <a:gd name="T53" fmla="*/ 17 h 126"/>
                <a:gd name="T54" fmla="*/ 1158 w 1513"/>
                <a:gd name="T55" fmla="*/ 16 h 126"/>
                <a:gd name="T56" fmla="*/ 1179 w 1513"/>
                <a:gd name="T57" fmla="*/ 16 h 126"/>
                <a:gd name="T58" fmla="*/ 1196 w 1513"/>
                <a:gd name="T59" fmla="*/ 14 h 126"/>
                <a:gd name="T60" fmla="*/ 1211 w 1513"/>
                <a:gd name="T61" fmla="*/ 12 h 126"/>
                <a:gd name="T62" fmla="*/ 1224 w 1513"/>
                <a:gd name="T63" fmla="*/ 9 h 126"/>
                <a:gd name="T64" fmla="*/ 1233 w 1513"/>
                <a:gd name="T65" fmla="*/ 7 h 126"/>
                <a:gd name="T66" fmla="*/ 1241 w 1513"/>
                <a:gd name="T67" fmla="*/ 4 h 126"/>
                <a:gd name="T68" fmla="*/ 1242 w 1513"/>
                <a:gd name="T69" fmla="*/ 0 h 12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13"/>
                <a:gd name="T106" fmla="*/ 0 h 126"/>
                <a:gd name="T107" fmla="*/ 1513 w 1513"/>
                <a:gd name="T108" fmla="*/ 126 h 12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13" h="126">
                  <a:moveTo>
                    <a:pt x="0" y="0"/>
                  </a:moveTo>
                  <a:lnTo>
                    <a:pt x="2" y="12"/>
                  </a:lnTo>
                  <a:lnTo>
                    <a:pt x="10" y="25"/>
                  </a:lnTo>
                  <a:lnTo>
                    <a:pt x="21" y="34"/>
                  </a:lnTo>
                  <a:lnTo>
                    <a:pt x="37" y="44"/>
                  </a:lnTo>
                  <a:lnTo>
                    <a:pt x="55" y="51"/>
                  </a:lnTo>
                  <a:lnTo>
                    <a:pt x="76" y="57"/>
                  </a:lnTo>
                  <a:lnTo>
                    <a:pt x="101" y="60"/>
                  </a:lnTo>
                  <a:lnTo>
                    <a:pt x="125" y="62"/>
                  </a:lnTo>
                  <a:lnTo>
                    <a:pt x="630" y="62"/>
                  </a:lnTo>
                  <a:lnTo>
                    <a:pt x="657" y="64"/>
                  </a:lnTo>
                  <a:lnTo>
                    <a:pt x="680" y="67"/>
                  </a:lnTo>
                  <a:lnTo>
                    <a:pt x="701" y="72"/>
                  </a:lnTo>
                  <a:lnTo>
                    <a:pt x="720" y="81"/>
                  </a:lnTo>
                  <a:lnTo>
                    <a:pt x="736" y="90"/>
                  </a:lnTo>
                  <a:lnTo>
                    <a:pt x="747" y="101"/>
                  </a:lnTo>
                  <a:lnTo>
                    <a:pt x="756" y="113"/>
                  </a:lnTo>
                  <a:lnTo>
                    <a:pt x="757" y="126"/>
                  </a:lnTo>
                  <a:lnTo>
                    <a:pt x="759" y="113"/>
                  </a:lnTo>
                  <a:lnTo>
                    <a:pt x="768" y="101"/>
                  </a:lnTo>
                  <a:lnTo>
                    <a:pt x="779" y="90"/>
                  </a:lnTo>
                  <a:lnTo>
                    <a:pt x="795" y="81"/>
                  </a:lnTo>
                  <a:lnTo>
                    <a:pt x="812" y="72"/>
                  </a:lnTo>
                  <a:lnTo>
                    <a:pt x="834" y="67"/>
                  </a:lnTo>
                  <a:lnTo>
                    <a:pt x="858" y="64"/>
                  </a:lnTo>
                  <a:lnTo>
                    <a:pt x="883" y="62"/>
                  </a:lnTo>
                  <a:lnTo>
                    <a:pt x="1388" y="62"/>
                  </a:lnTo>
                  <a:lnTo>
                    <a:pt x="1412" y="60"/>
                  </a:lnTo>
                  <a:lnTo>
                    <a:pt x="1437" y="57"/>
                  </a:lnTo>
                  <a:lnTo>
                    <a:pt x="1458" y="51"/>
                  </a:lnTo>
                  <a:lnTo>
                    <a:pt x="1476" y="44"/>
                  </a:lnTo>
                  <a:lnTo>
                    <a:pt x="1492" y="34"/>
                  </a:lnTo>
                  <a:lnTo>
                    <a:pt x="1503" y="25"/>
                  </a:lnTo>
                  <a:lnTo>
                    <a:pt x="1512" y="12"/>
                  </a:lnTo>
                  <a:lnTo>
                    <a:pt x="1513" y="0"/>
                  </a:lnTo>
                </a:path>
              </a:pathLst>
            </a:custGeom>
            <a:noFill/>
            <a:ln w="17526" cap="flat">
              <a:solidFill>
                <a:schemeClr val="accent1">
                  <a:lumMod val="75000"/>
                </a:schemeClr>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1273" name="Rectangle 48"/>
            <p:cNvSpPr>
              <a:spLocks noChangeArrowheads="1"/>
            </p:cNvSpPr>
            <p:nvPr/>
          </p:nvSpPr>
          <p:spPr bwMode="auto">
            <a:xfrm>
              <a:off x="3609" y="1899"/>
              <a:ext cx="30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lnSpc>
                  <a:spcPts val="1800"/>
                </a:lnSpc>
                <a:spcBef>
                  <a:spcPct val="0"/>
                </a:spcBef>
                <a:buClrTx/>
                <a:buFontTx/>
                <a:buNone/>
              </a:pPr>
              <a:r>
                <a:rPr lang="en-US" altLang="en-US" sz="1800">
                  <a:solidFill>
                    <a:schemeClr val="accent1">
                      <a:lumMod val="50000"/>
                    </a:schemeClr>
                  </a:solidFill>
                </a:rPr>
                <a:t>pivot</a:t>
              </a:r>
            </a:p>
          </p:txBody>
        </p:sp>
        <p:sp>
          <p:nvSpPr>
            <p:cNvPr id="51274" name="Rectangle 49"/>
            <p:cNvSpPr>
              <a:spLocks noChangeArrowheads="1"/>
            </p:cNvSpPr>
            <p:nvPr/>
          </p:nvSpPr>
          <p:spPr bwMode="auto">
            <a:xfrm>
              <a:off x="4029" y="1899"/>
              <a:ext cx="13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lnSpc>
                  <a:spcPts val="1800"/>
                </a:lnSpc>
                <a:spcBef>
                  <a:spcPct val="0"/>
                </a:spcBef>
                <a:buClrTx/>
                <a:buFontTx/>
                <a:buNone/>
              </a:pPr>
              <a:r>
                <a:rPr lang="en-US" altLang="en-US" sz="1800">
                  <a:solidFill>
                    <a:schemeClr val="accent1">
                      <a:lumMod val="50000"/>
                    </a:schemeClr>
                  </a:solidFill>
                </a:rPr>
                <a:t>greater than or equal to pivot (unsorted) </a:t>
              </a:r>
            </a:p>
          </p:txBody>
        </p:sp>
      </p:grpSp>
      <p:grpSp>
        <p:nvGrpSpPr>
          <p:cNvPr id="4" name="Group 85"/>
          <p:cNvGrpSpPr>
            <a:grpSpLocks/>
          </p:cNvGrpSpPr>
          <p:nvPr/>
        </p:nvGrpSpPr>
        <p:grpSpPr bwMode="auto">
          <a:xfrm>
            <a:off x="689770" y="3502893"/>
            <a:ext cx="6519862" cy="1295400"/>
            <a:chOff x="1381" y="2251"/>
            <a:chExt cx="4107" cy="816"/>
          </a:xfrm>
        </p:grpSpPr>
        <p:sp>
          <p:nvSpPr>
            <p:cNvPr id="51231" name="Rectangle 24"/>
            <p:cNvSpPr>
              <a:spLocks noChangeArrowheads="1"/>
            </p:cNvSpPr>
            <p:nvPr/>
          </p:nvSpPr>
          <p:spPr bwMode="auto">
            <a:xfrm>
              <a:off x="3661" y="2479"/>
              <a:ext cx="338" cy="17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1232" name="Rectangle 25"/>
            <p:cNvSpPr>
              <a:spLocks noChangeArrowheads="1"/>
            </p:cNvSpPr>
            <p:nvPr/>
          </p:nvSpPr>
          <p:spPr bwMode="auto">
            <a:xfrm>
              <a:off x="3963" y="2486"/>
              <a:ext cx="34" cy="163"/>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700" i="1">
                  <a:solidFill>
                    <a:srgbClr val="000000"/>
                  </a:solidFill>
                  <a:latin typeface="Times New Roman" pitchFamily="18" charset="0"/>
                </a:rPr>
                <a:t> </a:t>
              </a:r>
              <a:endParaRPr lang="en-US" altLang="en-US">
                <a:latin typeface="Courier New" pitchFamily="49" charset="0"/>
              </a:endParaRPr>
            </a:p>
          </p:txBody>
        </p:sp>
        <p:sp>
          <p:nvSpPr>
            <p:cNvPr id="51233" name="Rectangle 26"/>
            <p:cNvSpPr>
              <a:spLocks noChangeArrowheads="1"/>
            </p:cNvSpPr>
            <p:nvPr/>
          </p:nvSpPr>
          <p:spPr bwMode="auto">
            <a:xfrm>
              <a:off x="1381" y="2368"/>
              <a:ext cx="388"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nSpc>
                  <a:spcPts val="1800"/>
                </a:lnSpc>
                <a:spcBef>
                  <a:spcPct val="0"/>
                </a:spcBef>
                <a:buClrTx/>
                <a:buFontTx/>
                <a:buNone/>
              </a:pPr>
              <a:r>
                <a:rPr lang="en-US" altLang="en-US" sz="2000">
                  <a:solidFill>
                    <a:srgbClr val="000000"/>
                  </a:solidFill>
                </a:rPr>
                <a:t>After step 1.2:</a:t>
              </a:r>
              <a:endParaRPr lang="en-US" altLang="en-US" sz="2000"/>
            </a:p>
          </p:txBody>
        </p:sp>
        <p:sp>
          <p:nvSpPr>
            <p:cNvPr id="51234" name="Rectangle 27"/>
            <p:cNvSpPr>
              <a:spLocks noChangeArrowheads="1"/>
            </p:cNvSpPr>
            <p:nvPr/>
          </p:nvSpPr>
          <p:spPr bwMode="auto">
            <a:xfrm>
              <a:off x="3981" y="2251"/>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p</a:t>
              </a:r>
              <a:r>
                <a:rPr lang="en-US" altLang="en-US" sz="1800">
                  <a:solidFill>
                    <a:srgbClr val="000000"/>
                  </a:solidFill>
                </a:rPr>
                <a:t>+1</a:t>
              </a:r>
            </a:p>
          </p:txBody>
        </p:sp>
        <p:sp>
          <p:nvSpPr>
            <p:cNvPr id="51235" name="Rectangle 28"/>
            <p:cNvSpPr>
              <a:spLocks noChangeArrowheads="1"/>
            </p:cNvSpPr>
            <p:nvPr/>
          </p:nvSpPr>
          <p:spPr bwMode="auto">
            <a:xfrm>
              <a:off x="1879" y="2444"/>
              <a:ext cx="206"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1236" name="Rectangle 29"/>
            <p:cNvSpPr>
              <a:spLocks noChangeArrowheads="1"/>
            </p:cNvSpPr>
            <p:nvPr/>
          </p:nvSpPr>
          <p:spPr bwMode="auto">
            <a:xfrm>
              <a:off x="1938" y="2469"/>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rgbClr val="000000"/>
                  </a:solidFill>
                </a:rPr>
                <a:t>a</a:t>
              </a:r>
              <a:endParaRPr lang="en-US" altLang="en-US" sz="1800"/>
            </a:p>
          </p:txBody>
        </p:sp>
        <p:sp>
          <p:nvSpPr>
            <p:cNvPr id="51237" name="Rectangle 30"/>
            <p:cNvSpPr>
              <a:spLocks noChangeArrowheads="1"/>
            </p:cNvSpPr>
            <p:nvPr/>
          </p:nvSpPr>
          <p:spPr bwMode="auto">
            <a:xfrm>
              <a:off x="2085" y="2434"/>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1238" name="Rectangle 31"/>
            <p:cNvSpPr>
              <a:spLocks noChangeArrowheads="1"/>
            </p:cNvSpPr>
            <p:nvPr/>
          </p:nvSpPr>
          <p:spPr bwMode="auto">
            <a:xfrm>
              <a:off x="2555" y="2434"/>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1239" name="Rectangle 32"/>
            <p:cNvSpPr>
              <a:spLocks noChangeArrowheads="1"/>
            </p:cNvSpPr>
            <p:nvPr/>
          </p:nvSpPr>
          <p:spPr bwMode="auto">
            <a:xfrm>
              <a:off x="3035" y="2434"/>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1240" name="Rectangle 33"/>
            <p:cNvSpPr>
              <a:spLocks noChangeArrowheads="1"/>
            </p:cNvSpPr>
            <p:nvPr/>
          </p:nvSpPr>
          <p:spPr bwMode="auto">
            <a:xfrm>
              <a:off x="3515" y="2434"/>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1241" name="Rectangle 34"/>
            <p:cNvSpPr>
              <a:spLocks noChangeArrowheads="1"/>
            </p:cNvSpPr>
            <p:nvPr/>
          </p:nvSpPr>
          <p:spPr bwMode="auto">
            <a:xfrm>
              <a:off x="3515" y="2251"/>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p</a:t>
              </a:r>
              <a:endParaRPr lang="en-US" altLang="en-US" sz="1800">
                <a:solidFill>
                  <a:srgbClr val="000000"/>
                </a:solidFill>
              </a:endParaRPr>
            </a:p>
          </p:txBody>
        </p:sp>
        <p:sp>
          <p:nvSpPr>
            <p:cNvPr id="51242" name="Rectangle 35"/>
            <p:cNvSpPr>
              <a:spLocks noChangeArrowheads="1"/>
            </p:cNvSpPr>
            <p:nvPr/>
          </p:nvSpPr>
          <p:spPr bwMode="auto">
            <a:xfrm>
              <a:off x="2085" y="2261"/>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left</a:t>
              </a:r>
              <a:endParaRPr lang="en-US" altLang="en-US" sz="1800">
                <a:solidFill>
                  <a:srgbClr val="000000"/>
                </a:solidFill>
              </a:endParaRPr>
            </a:p>
          </p:txBody>
        </p:sp>
        <p:sp>
          <p:nvSpPr>
            <p:cNvPr id="51243" name="Rectangle 36"/>
            <p:cNvSpPr>
              <a:spLocks noChangeArrowheads="1"/>
            </p:cNvSpPr>
            <p:nvPr/>
          </p:nvSpPr>
          <p:spPr bwMode="auto">
            <a:xfrm>
              <a:off x="3035" y="2261"/>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p</a:t>
              </a:r>
              <a:r>
                <a:rPr lang="en-US" altLang="en-US" sz="1800">
                  <a:solidFill>
                    <a:srgbClr val="000000"/>
                  </a:solidFill>
                  <a:cs typeface="Times New Roman" pitchFamily="18" charset="0"/>
                </a:rPr>
                <a:t>–</a:t>
              </a:r>
              <a:r>
                <a:rPr lang="en-US" altLang="en-US" sz="1800">
                  <a:solidFill>
                    <a:srgbClr val="000000"/>
                  </a:solidFill>
                </a:rPr>
                <a:t>1</a:t>
              </a:r>
            </a:p>
          </p:txBody>
        </p:sp>
        <p:sp>
          <p:nvSpPr>
            <p:cNvPr id="51244" name="Freeform 37"/>
            <p:cNvSpPr>
              <a:spLocks/>
            </p:cNvSpPr>
            <p:nvPr/>
          </p:nvSpPr>
          <p:spPr bwMode="auto">
            <a:xfrm>
              <a:off x="2699" y="2395"/>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p>
          </p:txBody>
        </p:sp>
        <p:sp>
          <p:nvSpPr>
            <p:cNvPr id="51245" name="Rectangle 38"/>
            <p:cNvSpPr>
              <a:spLocks noChangeArrowheads="1"/>
            </p:cNvSpPr>
            <p:nvPr/>
          </p:nvSpPr>
          <p:spPr bwMode="auto">
            <a:xfrm>
              <a:off x="4989" y="2251"/>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right</a:t>
              </a:r>
              <a:endParaRPr lang="en-US" altLang="en-US" sz="1800">
                <a:solidFill>
                  <a:srgbClr val="000000"/>
                </a:solidFill>
              </a:endParaRPr>
            </a:p>
          </p:txBody>
        </p:sp>
        <p:sp>
          <p:nvSpPr>
            <p:cNvPr id="51246" name="Rectangle 40"/>
            <p:cNvSpPr>
              <a:spLocks noChangeArrowheads="1"/>
            </p:cNvSpPr>
            <p:nvPr/>
          </p:nvSpPr>
          <p:spPr bwMode="auto">
            <a:xfrm>
              <a:off x="4509" y="2434"/>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1247" name="Rectangle 41"/>
            <p:cNvSpPr>
              <a:spLocks noChangeArrowheads="1"/>
            </p:cNvSpPr>
            <p:nvPr/>
          </p:nvSpPr>
          <p:spPr bwMode="auto">
            <a:xfrm>
              <a:off x="4989" y="2434"/>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1248" name="Rectangle 42"/>
            <p:cNvSpPr>
              <a:spLocks noChangeArrowheads="1"/>
            </p:cNvSpPr>
            <p:nvPr/>
          </p:nvSpPr>
          <p:spPr bwMode="auto">
            <a:xfrm>
              <a:off x="4011" y="2435"/>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1249" name="Freeform 43"/>
            <p:cNvSpPr>
              <a:spLocks/>
            </p:cNvSpPr>
            <p:nvPr/>
          </p:nvSpPr>
          <p:spPr bwMode="auto">
            <a:xfrm>
              <a:off x="4653" y="2395"/>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p>
          </p:txBody>
        </p:sp>
        <p:sp>
          <p:nvSpPr>
            <p:cNvPr id="51250" name="Freeform 51"/>
            <p:cNvSpPr>
              <a:spLocks/>
            </p:cNvSpPr>
            <p:nvPr/>
          </p:nvSpPr>
          <p:spPr bwMode="auto">
            <a:xfrm>
              <a:off x="2109" y="2687"/>
              <a:ext cx="1383" cy="91"/>
            </a:xfrm>
            <a:custGeom>
              <a:avLst/>
              <a:gdLst>
                <a:gd name="T0" fmla="*/ 0 w 1513"/>
                <a:gd name="T1" fmla="*/ 0 h 126"/>
                <a:gd name="T2" fmla="*/ 1 w 1513"/>
                <a:gd name="T3" fmla="*/ 4 h 126"/>
                <a:gd name="T4" fmla="*/ 6 w 1513"/>
                <a:gd name="T5" fmla="*/ 7 h 126"/>
                <a:gd name="T6" fmla="*/ 15 w 1513"/>
                <a:gd name="T7" fmla="*/ 9 h 126"/>
                <a:gd name="T8" fmla="*/ 26 w 1513"/>
                <a:gd name="T9" fmla="*/ 12 h 126"/>
                <a:gd name="T10" fmla="*/ 37 w 1513"/>
                <a:gd name="T11" fmla="*/ 14 h 126"/>
                <a:gd name="T12" fmla="*/ 53 w 1513"/>
                <a:gd name="T13" fmla="*/ 16 h 126"/>
                <a:gd name="T14" fmla="*/ 69 w 1513"/>
                <a:gd name="T15" fmla="*/ 16 h 126"/>
                <a:gd name="T16" fmla="*/ 87 w 1513"/>
                <a:gd name="T17" fmla="*/ 17 h 126"/>
                <a:gd name="T18" fmla="*/ 441 w 1513"/>
                <a:gd name="T19" fmla="*/ 17 h 126"/>
                <a:gd name="T20" fmla="*/ 458 w 1513"/>
                <a:gd name="T21" fmla="*/ 17 h 126"/>
                <a:gd name="T22" fmla="*/ 474 w 1513"/>
                <a:gd name="T23" fmla="*/ 18 h 126"/>
                <a:gd name="T24" fmla="*/ 490 w 1513"/>
                <a:gd name="T25" fmla="*/ 20 h 126"/>
                <a:gd name="T26" fmla="*/ 501 w 1513"/>
                <a:gd name="T27" fmla="*/ 22 h 126"/>
                <a:gd name="T28" fmla="*/ 512 w 1513"/>
                <a:gd name="T29" fmla="*/ 25 h 126"/>
                <a:gd name="T30" fmla="*/ 520 w 1513"/>
                <a:gd name="T31" fmla="*/ 27 h 126"/>
                <a:gd name="T32" fmla="*/ 527 w 1513"/>
                <a:gd name="T33" fmla="*/ 31 h 126"/>
                <a:gd name="T34" fmla="*/ 527 w 1513"/>
                <a:gd name="T35" fmla="*/ 35 h 126"/>
                <a:gd name="T36" fmla="*/ 529 w 1513"/>
                <a:gd name="T37" fmla="*/ 31 h 126"/>
                <a:gd name="T38" fmla="*/ 535 w 1513"/>
                <a:gd name="T39" fmla="*/ 27 h 126"/>
                <a:gd name="T40" fmla="*/ 542 w 1513"/>
                <a:gd name="T41" fmla="*/ 25 h 126"/>
                <a:gd name="T42" fmla="*/ 554 w 1513"/>
                <a:gd name="T43" fmla="*/ 22 h 126"/>
                <a:gd name="T44" fmla="*/ 565 w 1513"/>
                <a:gd name="T45" fmla="*/ 20 h 126"/>
                <a:gd name="T46" fmla="*/ 581 w 1513"/>
                <a:gd name="T47" fmla="*/ 18 h 126"/>
                <a:gd name="T48" fmla="*/ 598 w 1513"/>
                <a:gd name="T49" fmla="*/ 17 h 126"/>
                <a:gd name="T50" fmla="*/ 615 w 1513"/>
                <a:gd name="T51" fmla="*/ 17 h 126"/>
                <a:gd name="T52" fmla="*/ 968 w 1513"/>
                <a:gd name="T53" fmla="*/ 17 h 126"/>
                <a:gd name="T54" fmla="*/ 986 w 1513"/>
                <a:gd name="T55" fmla="*/ 16 h 126"/>
                <a:gd name="T56" fmla="*/ 1002 w 1513"/>
                <a:gd name="T57" fmla="*/ 16 h 126"/>
                <a:gd name="T58" fmla="*/ 1017 w 1513"/>
                <a:gd name="T59" fmla="*/ 14 h 126"/>
                <a:gd name="T60" fmla="*/ 1030 w 1513"/>
                <a:gd name="T61" fmla="*/ 12 h 126"/>
                <a:gd name="T62" fmla="*/ 1042 w 1513"/>
                <a:gd name="T63" fmla="*/ 9 h 126"/>
                <a:gd name="T64" fmla="*/ 1049 w 1513"/>
                <a:gd name="T65" fmla="*/ 7 h 126"/>
                <a:gd name="T66" fmla="*/ 1055 w 1513"/>
                <a:gd name="T67" fmla="*/ 4 h 126"/>
                <a:gd name="T68" fmla="*/ 1056 w 1513"/>
                <a:gd name="T69" fmla="*/ 0 h 12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13"/>
                <a:gd name="T106" fmla="*/ 0 h 126"/>
                <a:gd name="T107" fmla="*/ 1513 w 1513"/>
                <a:gd name="T108" fmla="*/ 126 h 12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13" h="126">
                  <a:moveTo>
                    <a:pt x="0" y="0"/>
                  </a:moveTo>
                  <a:lnTo>
                    <a:pt x="1" y="12"/>
                  </a:lnTo>
                  <a:lnTo>
                    <a:pt x="10" y="25"/>
                  </a:lnTo>
                  <a:lnTo>
                    <a:pt x="21" y="34"/>
                  </a:lnTo>
                  <a:lnTo>
                    <a:pt x="37" y="44"/>
                  </a:lnTo>
                  <a:lnTo>
                    <a:pt x="54" y="51"/>
                  </a:lnTo>
                  <a:lnTo>
                    <a:pt x="76" y="57"/>
                  </a:lnTo>
                  <a:lnTo>
                    <a:pt x="100" y="60"/>
                  </a:lnTo>
                  <a:lnTo>
                    <a:pt x="125" y="62"/>
                  </a:lnTo>
                  <a:lnTo>
                    <a:pt x="630" y="62"/>
                  </a:lnTo>
                  <a:lnTo>
                    <a:pt x="655" y="64"/>
                  </a:lnTo>
                  <a:lnTo>
                    <a:pt x="679" y="67"/>
                  </a:lnTo>
                  <a:lnTo>
                    <a:pt x="701" y="72"/>
                  </a:lnTo>
                  <a:lnTo>
                    <a:pt x="718" y="81"/>
                  </a:lnTo>
                  <a:lnTo>
                    <a:pt x="734" y="90"/>
                  </a:lnTo>
                  <a:lnTo>
                    <a:pt x="745" y="101"/>
                  </a:lnTo>
                  <a:lnTo>
                    <a:pt x="754" y="113"/>
                  </a:lnTo>
                  <a:lnTo>
                    <a:pt x="755" y="126"/>
                  </a:lnTo>
                  <a:lnTo>
                    <a:pt x="757" y="113"/>
                  </a:lnTo>
                  <a:lnTo>
                    <a:pt x="766" y="101"/>
                  </a:lnTo>
                  <a:lnTo>
                    <a:pt x="777" y="90"/>
                  </a:lnTo>
                  <a:lnTo>
                    <a:pt x="793" y="81"/>
                  </a:lnTo>
                  <a:lnTo>
                    <a:pt x="810" y="72"/>
                  </a:lnTo>
                  <a:lnTo>
                    <a:pt x="832" y="67"/>
                  </a:lnTo>
                  <a:lnTo>
                    <a:pt x="856" y="64"/>
                  </a:lnTo>
                  <a:lnTo>
                    <a:pt x="881" y="62"/>
                  </a:lnTo>
                  <a:lnTo>
                    <a:pt x="1386" y="62"/>
                  </a:lnTo>
                  <a:lnTo>
                    <a:pt x="1412" y="60"/>
                  </a:lnTo>
                  <a:lnTo>
                    <a:pt x="1435" y="57"/>
                  </a:lnTo>
                  <a:lnTo>
                    <a:pt x="1457" y="51"/>
                  </a:lnTo>
                  <a:lnTo>
                    <a:pt x="1476" y="44"/>
                  </a:lnTo>
                  <a:lnTo>
                    <a:pt x="1492" y="34"/>
                  </a:lnTo>
                  <a:lnTo>
                    <a:pt x="1503" y="25"/>
                  </a:lnTo>
                  <a:lnTo>
                    <a:pt x="1511" y="12"/>
                  </a:lnTo>
                  <a:lnTo>
                    <a:pt x="1513" y="0"/>
                  </a:lnTo>
                </a:path>
              </a:pathLst>
            </a:custGeom>
            <a:noFill/>
            <a:ln w="17526" cap="flat">
              <a:solidFill>
                <a:schemeClr val="accent1">
                  <a:lumMod val="75000"/>
                </a:schemeClr>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1251" name="Rectangle 52"/>
            <p:cNvSpPr>
              <a:spLocks noChangeArrowheads="1"/>
            </p:cNvSpPr>
            <p:nvPr/>
          </p:nvSpPr>
          <p:spPr bwMode="auto">
            <a:xfrm>
              <a:off x="2109" y="2779"/>
              <a:ext cx="1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lnSpc>
                  <a:spcPts val="1800"/>
                </a:lnSpc>
                <a:spcBef>
                  <a:spcPct val="0"/>
                </a:spcBef>
                <a:buClrTx/>
                <a:buFontTx/>
                <a:buNone/>
              </a:pPr>
              <a:r>
                <a:rPr lang="en-US" altLang="en-US" sz="1800" dirty="0">
                  <a:solidFill>
                    <a:schemeClr val="accent1">
                      <a:lumMod val="50000"/>
                    </a:schemeClr>
                  </a:solidFill>
                </a:rPr>
                <a:t>less than or equal to pivot (sorted) </a:t>
              </a:r>
            </a:p>
          </p:txBody>
        </p:sp>
        <p:sp>
          <p:nvSpPr>
            <p:cNvPr id="51252" name="Freeform 53"/>
            <p:cNvSpPr>
              <a:spLocks/>
            </p:cNvSpPr>
            <p:nvPr/>
          </p:nvSpPr>
          <p:spPr bwMode="auto">
            <a:xfrm>
              <a:off x="4029" y="2683"/>
              <a:ext cx="1440" cy="91"/>
            </a:xfrm>
            <a:custGeom>
              <a:avLst/>
              <a:gdLst>
                <a:gd name="T0" fmla="*/ 0 w 1513"/>
                <a:gd name="T1" fmla="*/ 0 h 126"/>
                <a:gd name="T2" fmla="*/ 2 w 1513"/>
                <a:gd name="T3" fmla="*/ 4 h 126"/>
                <a:gd name="T4" fmla="*/ 10 w 1513"/>
                <a:gd name="T5" fmla="*/ 7 h 126"/>
                <a:gd name="T6" fmla="*/ 17 w 1513"/>
                <a:gd name="T7" fmla="*/ 9 h 126"/>
                <a:gd name="T8" fmla="*/ 30 w 1513"/>
                <a:gd name="T9" fmla="*/ 12 h 126"/>
                <a:gd name="T10" fmla="*/ 45 w 1513"/>
                <a:gd name="T11" fmla="*/ 14 h 126"/>
                <a:gd name="T12" fmla="*/ 63 w 1513"/>
                <a:gd name="T13" fmla="*/ 16 h 126"/>
                <a:gd name="T14" fmla="*/ 83 w 1513"/>
                <a:gd name="T15" fmla="*/ 16 h 126"/>
                <a:gd name="T16" fmla="*/ 103 w 1513"/>
                <a:gd name="T17" fmla="*/ 17 h 126"/>
                <a:gd name="T18" fmla="*/ 517 w 1513"/>
                <a:gd name="T19" fmla="*/ 17 h 126"/>
                <a:gd name="T20" fmla="*/ 539 w 1513"/>
                <a:gd name="T21" fmla="*/ 17 h 126"/>
                <a:gd name="T22" fmla="*/ 558 w 1513"/>
                <a:gd name="T23" fmla="*/ 18 h 126"/>
                <a:gd name="T24" fmla="*/ 575 w 1513"/>
                <a:gd name="T25" fmla="*/ 20 h 126"/>
                <a:gd name="T26" fmla="*/ 591 w 1513"/>
                <a:gd name="T27" fmla="*/ 22 h 126"/>
                <a:gd name="T28" fmla="*/ 603 w 1513"/>
                <a:gd name="T29" fmla="*/ 25 h 126"/>
                <a:gd name="T30" fmla="*/ 613 w 1513"/>
                <a:gd name="T31" fmla="*/ 27 h 126"/>
                <a:gd name="T32" fmla="*/ 621 w 1513"/>
                <a:gd name="T33" fmla="*/ 31 h 126"/>
                <a:gd name="T34" fmla="*/ 621 w 1513"/>
                <a:gd name="T35" fmla="*/ 35 h 126"/>
                <a:gd name="T36" fmla="*/ 622 w 1513"/>
                <a:gd name="T37" fmla="*/ 31 h 126"/>
                <a:gd name="T38" fmla="*/ 630 w 1513"/>
                <a:gd name="T39" fmla="*/ 27 h 126"/>
                <a:gd name="T40" fmla="*/ 639 w 1513"/>
                <a:gd name="T41" fmla="*/ 25 h 126"/>
                <a:gd name="T42" fmla="*/ 652 w 1513"/>
                <a:gd name="T43" fmla="*/ 22 h 126"/>
                <a:gd name="T44" fmla="*/ 666 w 1513"/>
                <a:gd name="T45" fmla="*/ 20 h 126"/>
                <a:gd name="T46" fmla="*/ 685 w 1513"/>
                <a:gd name="T47" fmla="*/ 18 h 126"/>
                <a:gd name="T48" fmla="*/ 704 w 1513"/>
                <a:gd name="T49" fmla="*/ 17 h 126"/>
                <a:gd name="T50" fmla="*/ 723 w 1513"/>
                <a:gd name="T51" fmla="*/ 17 h 126"/>
                <a:gd name="T52" fmla="*/ 1138 w 1513"/>
                <a:gd name="T53" fmla="*/ 17 h 126"/>
                <a:gd name="T54" fmla="*/ 1158 w 1513"/>
                <a:gd name="T55" fmla="*/ 16 h 126"/>
                <a:gd name="T56" fmla="*/ 1179 w 1513"/>
                <a:gd name="T57" fmla="*/ 16 h 126"/>
                <a:gd name="T58" fmla="*/ 1196 w 1513"/>
                <a:gd name="T59" fmla="*/ 14 h 126"/>
                <a:gd name="T60" fmla="*/ 1211 w 1513"/>
                <a:gd name="T61" fmla="*/ 12 h 126"/>
                <a:gd name="T62" fmla="*/ 1224 w 1513"/>
                <a:gd name="T63" fmla="*/ 9 h 126"/>
                <a:gd name="T64" fmla="*/ 1233 w 1513"/>
                <a:gd name="T65" fmla="*/ 7 h 126"/>
                <a:gd name="T66" fmla="*/ 1241 w 1513"/>
                <a:gd name="T67" fmla="*/ 4 h 126"/>
                <a:gd name="T68" fmla="*/ 1242 w 1513"/>
                <a:gd name="T69" fmla="*/ 0 h 12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13"/>
                <a:gd name="T106" fmla="*/ 0 h 126"/>
                <a:gd name="T107" fmla="*/ 1513 w 1513"/>
                <a:gd name="T108" fmla="*/ 126 h 12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13" h="126">
                  <a:moveTo>
                    <a:pt x="0" y="0"/>
                  </a:moveTo>
                  <a:lnTo>
                    <a:pt x="2" y="12"/>
                  </a:lnTo>
                  <a:lnTo>
                    <a:pt x="10" y="25"/>
                  </a:lnTo>
                  <a:lnTo>
                    <a:pt x="21" y="34"/>
                  </a:lnTo>
                  <a:lnTo>
                    <a:pt x="37" y="44"/>
                  </a:lnTo>
                  <a:lnTo>
                    <a:pt x="55" y="51"/>
                  </a:lnTo>
                  <a:lnTo>
                    <a:pt x="76" y="57"/>
                  </a:lnTo>
                  <a:lnTo>
                    <a:pt x="101" y="60"/>
                  </a:lnTo>
                  <a:lnTo>
                    <a:pt x="125" y="62"/>
                  </a:lnTo>
                  <a:lnTo>
                    <a:pt x="630" y="62"/>
                  </a:lnTo>
                  <a:lnTo>
                    <a:pt x="657" y="64"/>
                  </a:lnTo>
                  <a:lnTo>
                    <a:pt x="680" y="67"/>
                  </a:lnTo>
                  <a:lnTo>
                    <a:pt x="701" y="72"/>
                  </a:lnTo>
                  <a:lnTo>
                    <a:pt x="720" y="81"/>
                  </a:lnTo>
                  <a:lnTo>
                    <a:pt x="736" y="90"/>
                  </a:lnTo>
                  <a:lnTo>
                    <a:pt x="747" y="101"/>
                  </a:lnTo>
                  <a:lnTo>
                    <a:pt x="756" y="113"/>
                  </a:lnTo>
                  <a:lnTo>
                    <a:pt x="757" y="126"/>
                  </a:lnTo>
                  <a:lnTo>
                    <a:pt x="759" y="113"/>
                  </a:lnTo>
                  <a:lnTo>
                    <a:pt x="768" y="101"/>
                  </a:lnTo>
                  <a:lnTo>
                    <a:pt x="779" y="90"/>
                  </a:lnTo>
                  <a:lnTo>
                    <a:pt x="795" y="81"/>
                  </a:lnTo>
                  <a:lnTo>
                    <a:pt x="812" y="72"/>
                  </a:lnTo>
                  <a:lnTo>
                    <a:pt x="834" y="67"/>
                  </a:lnTo>
                  <a:lnTo>
                    <a:pt x="858" y="64"/>
                  </a:lnTo>
                  <a:lnTo>
                    <a:pt x="883" y="62"/>
                  </a:lnTo>
                  <a:lnTo>
                    <a:pt x="1388" y="62"/>
                  </a:lnTo>
                  <a:lnTo>
                    <a:pt x="1412" y="60"/>
                  </a:lnTo>
                  <a:lnTo>
                    <a:pt x="1437" y="57"/>
                  </a:lnTo>
                  <a:lnTo>
                    <a:pt x="1458" y="51"/>
                  </a:lnTo>
                  <a:lnTo>
                    <a:pt x="1476" y="44"/>
                  </a:lnTo>
                  <a:lnTo>
                    <a:pt x="1492" y="34"/>
                  </a:lnTo>
                  <a:lnTo>
                    <a:pt x="1503" y="25"/>
                  </a:lnTo>
                  <a:lnTo>
                    <a:pt x="1512" y="12"/>
                  </a:lnTo>
                  <a:lnTo>
                    <a:pt x="1513" y="0"/>
                  </a:lnTo>
                </a:path>
              </a:pathLst>
            </a:custGeom>
            <a:noFill/>
            <a:ln w="17526" cap="flat">
              <a:solidFill>
                <a:schemeClr val="accent1">
                  <a:lumMod val="75000"/>
                </a:schemeClr>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1253" name="Rectangle 54"/>
            <p:cNvSpPr>
              <a:spLocks noChangeArrowheads="1"/>
            </p:cNvSpPr>
            <p:nvPr/>
          </p:nvSpPr>
          <p:spPr bwMode="auto">
            <a:xfrm>
              <a:off x="3609" y="2779"/>
              <a:ext cx="30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lnSpc>
                  <a:spcPts val="1800"/>
                </a:lnSpc>
                <a:spcBef>
                  <a:spcPct val="0"/>
                </a:spcBef>
                <a:buClrTx/>
                <a:buFontTx/>
                <a:buNone/>
              </a:pPr>
              <a:r>
                <a:rPr lang="en-US" altLang="en-US" sz="1800">
                  <a:solidFill>
                    <a:schemeClr val="accent1">
                      <a:lumMod val="50000"/>
                    </a:schemeClr>
                  </a:solidFill>
                </a:rPr>
                <a:t>pivot</a:t>
              </a:r>
            </a:p>
          </p:txBody>
        </p:sp>
        <p:sp>
          <p:nvSpPr>
            <p:cNvPr id="51254" name="Rectangle 55"/>
            <p:cNvSpPr>
              <a:spLocks noChangeArrowheads="1"/>
            </p:cNvSpPr>
            <p:nvPr/>
          </p:nvSpPr>
          <p:spPr bwMode="auto">
            <a:xfrm>
              <a:off x="4029" y="2779"/>
              <a:ext cx="13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lnSpc>
                  <a:spcPts val="1800"/>
                </a:lnSpc>
                <a:spcBef>
                  <a:spcPct val="0"/>
                </a:spcBef>
                <a:buClrTx/>
                <a:buFontTx/>
                <a:buNone/>
              </a:pPr>
              <a:r>
                <a:rPr lang="en-US" altLang="en-US" sz="1800">
                  <a:solidFill>
                    <a:schemeClr val="accent1">
                      <a:lumMod val="50000"/>
                    </a:schemeClr>
                  </a:solidFill>
                </a:rPr>
                <a:t>greater than or equal to pivot (unsorted) </a:t>
              </a:r>
            </a:p>
          </p:txBody>
        </p:sp>
      </p:grpSp>
      <p:grpSp>
        <p:nvGrpSpPr>
          <p:cNvPr id="5" name="Group 86"/>
          <p:cNvGrpSpPr>
            <a:grpSpLocks/>
          </p:cNvGrpSpPr>
          <p:nvPr/>
        </p:nvGrpSpPr>
        <p:grpSpPr bwMode="auto">
          <a:xfrm>
            <a:off x="656793" y="5022851"/>
            <a:ext cx="6519862" cy="1295400"/>
            <a:chOff x="1383" y="3181"/>
            <a:chExt cx="4107" cy="816"/>
          </a:xfrm>
        </p:grpSpPr>
        <p:sp>
          <p:nvSpPr>
            <p:cNvPr id="51207" name="Rectangle 59"/>
            <p:cNvSpPr>
              <a:spLocks noChangeArrowheads="1"/>
            </p:cNvSpPr>
            <p:nvPr/>
          </p:nvSpPr>
          <p:spPr bwMode="auto">
            <a:xfrm>
              <a:off x="3663" y="3409"/>
              <a:ext cx="338" cy="17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1208" name="Rectangle 60"/>
            <p:cNvSpPr>
              <a:spLocks noChangeArrowheads="1"/>
            </p:cNvSpPr>
            <p:nvPr/>
          </p:nvSpPr>
          <p:spPr bwMode="auto">
            <a:xfrm>
              <a:off x="3965" y="3416"/>
              <a:ext cx="34" cy="163"/>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700" i="1">
                  <a:solidFill>
                    <a:srgbClr val="000000"/>
                  </a:solidFill>
                  <a:latin typeface="Times New Roman" pitchFamily="18" charset="0"/>
                </a:rPr>
                <a:t> </a:t>
              </a:r>
              <a:endParaRPr lang="en-US" altLang="en-US">
                <a:latin typeface="Courier New" pitchFamily="49" charset="0"/>
              </a:endParaRPr>
            </a:p>
          </p:txBody>
        </p:sp>
        <p:sp>
          <p:nvSpPr>
            <p:cNvPr id="51209" name="Rectangle 61"/>
            <p:cNvSpPr>
              <a:spLocks noChangeArrowheads="1"/>
            </p:cNvSpPr>
            <p:nvPr/>
          </p:nvSpPr>
          <p:spPr bwMode="auto">
            <a:xfrm>
              <a:off x="1383" y="3298"/>
              <a:ext cx="388"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nSpc>
                  <a:spcPts val="1800"/>
                </a:lnSpc>
                <a:spcBef>
                  <a:spcPct val="0"/>
                </a:spcBef>
                <a:buClrTx/>
                <a:buFontTx/>
                <a:buNone/>
              </a:pPr>
              <a:r>
                <a:rPr lang="en-US" altLang="en-US" sz="2000">
                  <a:solidFill>
                    <a:srgbClr val="000000"/>
                  </a:solidFill>
                </a:rPr>
                <a:t>After step 1.3:</a:t>
              </a:r>
              <a:endParaRPr lang="en-US" altLang="en-US" sz="2000"/>
            </a:p>
          </p:txBody>
        </p:sp>
        <p:sp>
          <p:nvSpPr>
            <p:cNvPr id="51210" name="Rectangle 62"/>
            <p:cNvSpPr>
              <a:spLocks noChangeArrowheads="1"/>
            </p:cNvSpPr>
            <p:nvPr/>
          </p:nvSpPr>
          <p:spPr bwMode="auto">
            <a:xfrm>
              <a:off x="3983" y="3181"/>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p</a:t>
              </a:r>
              <a:r>
                <a:rPr lang="en-US" altLang="en-US" sz="1800">
                  <a:solidFill>
                    <a:srgbClr val="000000"/>
                  </a:solidFill>
                </a:rPr>
                <a:t>+1</a:t>
              </a:r>
            </a:p>
          </p:txBody>
        </p:sp>
        <p:sp>
          <p:nvSpPr>
            <p:cNvPr id="51211" name="Rectangle 63"/>
            <p:cNvSpPr>
              <a:spLocks noChangeArrowheads="1"/>
            </p:cNvSpPr>
            <p:nvPr/>
          </p:nvSpPr>
          <p:spPr bwMode="auto">
            <a:xfrm>
              <a:off x="1881" y="3374"/>
              <a:ext cx="206"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1212" name="Rectangle 64"/>
            <p:cNvSpPr>
              <a:spLocks noChangeArrowheads="1"/>
            </p:cNvSpPr>
            <p:nvPr/>
          </p:nvSpPr>
          <p:spPr bwMode="auto">
            <a:xfrm>
              <a:off x="1940" y="3399"/>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rgbClr val="000000"/>
                  </a:solidFill>
                </a:rPr>
                <a:t>a</a:t>
              </a:r>
              <a:endParaRPr lang="en-US" altLang="en-US" sz="1800"/>
            </a:p>
          </p:txBody>
        </p:sp>
        <p:sp>
          <p:nvSpPr>
            <p:cNvPr id="51213" name="Rectangle 65"/>
            <p:cNvSpPr>
              <a:spLocks noChangeArrowheads="1"/>
            </p:cNvSpPr>
            <p:nvPr/>
          </p:nvSpPr>
          <p:spPr bwMode="auto">
            <a:xfrm>
              <a:off x="2087" y="3364"/>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1214" name="Rectangle 66"/>
            <p:cNvSpPr>
              <a:spLocks noChangeArrowheads="1"/>
            </p:cNvSpPr>
            <p:nvPr/>
          </p:nvSpPr>
          <p:spPr bwMode="auto">
            <a:xfrm>
              <a:off x="2557" y="3364"/>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1215" name="Rectangle 67"/>
            <p:cNvSpPr>
              <a:spLocks noChangeArrowheads="1"/>
            </p:cNvSpPr>
            <p:nvPr/>
          </p:nvSpPr>
          <p:spPr bwMode="auto">
            <a:xfrm>
              <a:off x="3037" y="3364"/>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1216" name="Rectangle 68"/>
            <p:cNvSpPr>
              <a:spLocks noChangeArrowheads="1"/>
            </p:cNvSpPr>
            <p:nvPr/>
          </p:nvSpPr>
          <p:spPr bwMode="auto">
            <a:xfrm>
              <a:off x="3517" y="3364"/>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1217" name="Rectangle 69"/>
            <p:cNvSpPr>
              <a:spLocks noChangeArrowheads="1"/>
            </p:cNvSpPr>
            <p:nvPr/>
          </p:nvSpPr>
          <p:spPr bwMode="auto">
            <a:xfrm>
              <a:off x="3517" y="3181"/>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p</a:t>
              </a:r>
              <a:endParaRPr lang="en-US" altLang="en-US" sz="1800">
                <a:solidFill>
                  <a:srgbClr val="000000"/>
                </a:solidFill>
              </a:endParaRPr>
            </a:p>
          </p:txBody>
        </p:sp>
        <p:sp>
          <p:nvSpPr>
            <p:cNvPr id="51218" name="Rectangle 70"/>
            <p:cNvSpPr>
              <a:spLocks noChangeArrowheads="1"/>
            </p:cNvSpPr>
            <p:nvPr/>
          </p:nvSpPr>
          <p:spPr bwMode="auto">
            <a:xfrm>
              <a:off x="2087" y="3191"/>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left</a:t>
              </a:r>
              <a:endParaRPr lang="en-US" altLang="en-US" sz="1800">
                <a:solidFill>
                  <a:srgbClr val="000000"/>
                </a:solidFill>
              </a:endParaRPr>
            </a:p>
          </p:txBody>
        </p:sp>
        <p:sp>
          <p:nvSpPr>
            <p:cNvPr id="51219" name="Rectangle 71"/>
            <p:cNvSpPr>
              <a:spLocks noChangeArrowheads="1"/>
            </p:cNvSpPr>
            <p:nvPr/>
          </p:nvSpPr>
          <p:spPr bwMode="auto">
            <a:xfrm>
              <a:off x="3037" y="3191"/>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p</a:t>
              </a:r>
              <a:r>
                <a:rPr lang="en-US" altLang="en-US" sz="1800">
                  <a:solidFill>
                    <a:srgbClr val="000000"/>
                  </a:solidFill>
                  <a:cs typeface="Times New Roman" pitchFamily="18" charset="0"/>
                </a:rPr>
                <a:t>–</a:t>
              </a:r>
              <a:r>
                <a:rPr lang="en-US" altLang="en-US" sz="1800">
                  <a:solidFill>
                    <a:srgbClr val="000000"/>
                  </a:solidFill>
                </a:rPr>
                <a:t>1</a:t>
              </a:r>
            </a:p>
          </p:txBody>
        </p:sp>
        <p:sp>
          <p:nvSpPr>
            <p:cNvPr id="51220" name="Freeform 72"/>
            <p:cNvSpPr>
              <a:spLocks/>
            </p:cNvSpPr>
            <p:nvPr/>
          </p:nvSpPr>
          <p:spPr bwMode="auto">
            <a:xfrm>
              <a:off x="2701" y="3325"/>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p>
          </p:txBody>
        </p:sp>
        <p:sp>
          <p:nvSpPr>
            <p:cNvPr id="51221" name="Rectangle 73"/>
            <p:cNvSpPr>
              <a:spLocks noChangeArrowheads="1"/>
            </p:cNvSpPr>
            <p:nvPr/>
          </p:nvSpPr>
          <p:spPr bwMode="auto">
            <a:xfrm>
              <a:off x="4991" y="3181"/>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right</a:t>
              </a:r>
              <a:endParaRPr lang="en-US" altLang="en-US" sz="1800">
                <a:solidFill>
                  <a:srgbClr val="000000"/>
                </a:solidFill>
              </a:endParaRPr>
            </a:p>
          </p:txBody>
        </p:sp>
        <p:sp>
          <p:nvSpPr>
            <p:cNvPr id="51222" name="Rectangle 75"/>
            <p:cNvSpPr>
              <a:spLocks noChangeArrowheads="1"/>
            </p:cNvSpPr>
            <p:nvPr/>
          </p:nvSpPr>
          <p:spPr bwMode="auto">
            <a:xfrm>
              <a:off x="4511" y="3364"/>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1223" name="Rectangle 76"/>
            <p:cNvSpPr>
              <a:spLocks noChangeArrowheads="1"/>
            </p:cNvSpPr>
            <p:nvPr/>
          </p:nvSpPr>
          <p:spPr bwMode="auto">
            <a:xfrm>
              <a:off x="4991" y="3364"/>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1224" name="Rectangle 77"/>
            <p:cNvSpPr>
              <a:spLocks noChangeArrowheads="1"/>
            </p:cNvSpPr>
            <p:nvPr/>
          </p:nvSpPr>
          <p:spPr bwMode="auto">
            <a:xfrm>
              <a:off x="4013" y="3365"/>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1225" name="Freeform 78"/>
            <p:cNvSpPr>
              <a:spLocks/>
            </p:cNvSpPr>
            <p:nvPr/>
          </p:nvSpPr>
          <p:spPr bwMode="auto">
            <a:xfrm>
              <a:off x="4655" y="3325"/>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p>
          </p:txBody>
        </p:sp>
        <p:sp>
          <p:nvSpPr>
            <p:cNvPr id="51226" name="Freeform 79"/>
            <p:cNvSpPr>
              <a:spLocks/>
            </p:cNvSpPr>
            <p:nvPr/>
          </p:nvSpPr>
          <p:spPr bwMode="auto">
            <a:xfrm>
              <a:off x="2111" y="3617"/>
              <a:ext cx="1383" cy="91"/>
            </a:xfrm>
            <a:custGeom>
              <a:avLst/>
              <a:gdLst>
                <a:gd name="T0" fmla="*/ 0 w 1513"/>
                <a:gd name="T1" fmla="*/ 0 h 126"/>
                <a:gd name="T2" fmla="*/ 1 w 1513"/>
                <a:gd name="T3" fmla="*/ 4 h 126"/>
                <a:gd name="T4" fmla="*/ 6 w 1513"/>
                <a:gd name="T5" fmla="*/ 7 h 126"/>
                <a:gd name="T6" fmla="*/ 15 w 1513"/>
                <a:gd name="T7" fmla="*/ 9 h 126"/>
                <a:gd name="T8" fmla="*/ 26 w 1513"/>
                <a:gd name="T9" fmla="*/ 12 h 126"/>
                <a:gd name="T10" fmla="*/ 37 w 1513"/>
                <a:gd name="T11" fmla="*/ 14 h 126"/>
                <a:gd name="T12" fmla="*/ 53 w 1513"/>
                <a:gd name="T13" fmla="*/ 16 h 126"/>
                <a:gd name="T14" fmla="*/ 69 w 1513"/>
                <a:gd name="T15" fmla="*/ 16 h 126"/>
                <a:gd name="T16" fmla="*/ 87 w 1513"/>
                <a:gd name="T17" fmla="*/ 17 h 126"/>
                <a:gd name="T18" fmla="*/ 441 w 1513"/>
                <a:gd name="T19" fmla="*/ 17 h 126"/>
                <a:gd name="T20" fmla="*/ 458 w 1513"/>
                <a:gd name="T21" fmla="*/ 17 h 126"/>
                <a:gd name="T22" fmla="*/ 474 w 1513"/>
                <a:gd name="T23" fmla="*/ 18 h 126"/>
                <a:gd name="T24" fmla="*/ 490 w 1513"/>
                <a:gd name="T25" fmla="*/ 20 h 126"/>
                <a:gd name="T26" fmla="*/ 501 w 1513"/>
                <a:gd name="T27" fmla="*/ 22 h 126"/>
                <a:gd name="T28" fmla="*/ 512 w 1513"/>
                <a:gd name="T29" fmla="*/ 25 h 126"/>
                <a:gd name="T30" fmla="*/ 520 w 1513"/>
                <a:gd name="T31" fmla="*/ 27 h 126"/>
                <a:gd name="T32" fmla="*/ 527 w 1513"/>
                <a:gd name="T33" fmla="*/ 31 h 126"/>
                <a:gd name="T34" fmla="*/ 527 w 1513"/>
                <a:gd name="T35" fmla="*/ 35 h 126"/>
                <a:gd name="T36" fmla="*/ 529 w 1513"/>
                <a:gd name="T37" fmla="*/ 31 h 126"/>
                <a:gd name="T38" fmla="*/ 535 w 1513"/>
                <a:gd name="T39" fmla="*/ 27 h 126"/>
                <a:gd name="T40" fmla="*/ 542 w 1513"/>
                <a:gd name="T41" fmla="*/ 25 h 126"/>
                <a:gd name="T42" fmla="*/ 554 w 1513"/>
                <a:gd name="T43" fmla="*/ 22 h 126"/>
                <a:gd name="T44" fmla="*/ 565 w 1513"/>
                <a:gd name="T45" fmla="*/ 20 h 126"/>
                <a:gd name="T46" fmla="*/ 581 w 1513"/>
                <a:gd name="T47" fmla="*/ 18 h 126"/>
                <a:gd name="T48" fmla="*/ 598 w 1513"/>
                <a:gd name="T49" fmla="*/ 17 h 126"/>
                <a:gd name="T50" fmla="*/ 615 w 1513"/>
                <a:gd name="T51" fmla="*/ 17 h 126"/>
                <a:gd name="T52" fmla="*/ 968 w 1513"/>
                <a:gd name="T53" fmla="*/ 17 h 126"/>
                <a:gd name="T54" fmla="*/ 986 w 1513"/>
                <a:gd name="T55" fmla="*/ 16 h 126"/>
                <a:gd name="T56" fmla="*/ 1002 w 1513"/>
                <a:gd name="T57" fmla="*/ 16 h 126"/>
                <a:gd name="T58" fmla="*/ 1017 w 1513"/>
                <a:gd name="T59" fmla="*/ 14 h 126"/>
                <a:gd name="T60" fmla="*/ 1030 w 1513"/>
                <a:gd name="T61" fmla="*/ 12 h 126"/>
                <a:gd name="T62" fmla="*/ 1042 w 1513"/>
                <a:gd name="T63" fmla="*/ 9 h 126"/>
                <a:gd name="T64" fmla="*/ 1049 w 1513"/>
                <a:gd name="T65" fmla="*/ 7 h 126"/>
                <a:gd name="T66" fmla="*/ 1055 w 1513"/>
                <a:gd name="T67" fmla="*/ 4 h 126"/>
                <a:gd name="T68" fmla="*/ 1056 w 1513"/>
                <a:gd name="T69" fmla="*/ 0 h 12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13"/>
                <a:gd name="T106" fmla="*/ 0 h 126"/>
                <a:gd name="T107" fmla="*/ 1513 w 1513"/>
                <a:gd name="T108" fmla="*/ 126 h 12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13" h="126">
                  <a:moveTo>
                    <a:pt x="0" y="0"/>
                  </a:moveTo>
                  <a:lnTo>
                    <a:pt x="1" y="12"/>
                  </a:lnTo>
                  <a:lnTo>
                    <a:pt x="10" y="25"/>
                  </a:lnTo>
                  <a:lnTo>
                    <a:pt x="21" y="34"/>
                  </a:lnTo>
                  <a:lnTo>
                    <a:pt x="37" y="44"/>
                  </a:lnTo>
                  <a:lnTo>
                    <a:pt x="54" y="51"/>
                  </a:lnTo>
                  <a:lnTo>
                    <a:pt x="76" y="57"/>
                  </a:lnTo>
                  <a:lnTo>
                    <a:pt x="100" y="60"/>
                  </a:lnTo>
                  <a:lnTo>
                    <a:pt x="125" y="62"/>
                  </a:lnTo>
                  <a:lnTo>
                    <a:pt x="630" y="62"/>
                  </a:lnTo>
                  <a:lnTo>
                    <a:pt x="655" y="64"/>
                  </a:lnTo>
                  <a:lnTo>
                    <a:pt x="679" y="67"/>
                  </a:lnTo>
                  <a:lnTo>
                    <a:pt x="701" y="72"/>
                  </a:lnTo>
                  <a:lnTo>
                    <a:pt x="718" y="81"/>
                  </a:lnTo>
                  <a:lnTo>
                    <a:pt x="734" y="90"/>
                  </a:lnTo>
                  <a:lnTo>
                    <a:pt x="745" y="101"/>
                  </a:lnTo>
                  <a:lnTo>
                    <a:pt x="754" y="113"/>
                  </a:lnTo>
                  <a:lnTo>
                    <a:pt x="755" y="126"/>
                  </a:lnTo>
                  <a:lnTo>
                    <a:pt x="757" y="113"/>
                  </a:lnTo>
                  <a:lnTo>
                    <a:pt x="766" y="101"/>
                  </a:lnTo>
                  <a:lnTo>
                    <a:pt x="777" y="90"/>
                  </a:lnTo>
                  <a:lnTo>
                    <a:pt x="793" y="81"/>
                  </a:lnTo>
                  <a:lnTo>
                    <a:pt x="810" y="72"/>
                  </a:lnTo>
                  <a:lnTo>
                    <a:pt x="832" y="67"/>
                  </a:lnTo>
                  <a:lnTo>
                    <a:pt x="856" y="64"/>
                  </a:lnTo>
                  <a:lnTo>
                    <a:pt x="881" y="62"/>
                  </a:lnTo>
                  <a:lnTo>
                    <a:pt x="1386" y="62"/>
                  </a:lnTo>
                  <a:lnTo>
                    <a:pt x="1412" y="60"/>
                  </a:lnTo>
                  <a:lnTo>
                    <a:pt x="1435" y="57"/>
                  </a:lnTo>
                  <a:lnTo>
                    <a:pt x="1457" y="51"/>
                  </a:lnTo>
                  <a:lnTo>
                    <a:pt x="1476" y="44"/>
                  </a:lnTo>
                  <a:lnTo>
                    <a:pt x="1492" y="34"/>
                  </a:lnTo>
                  <a:lnTo>
                    <a:pt x="1503" y="25"/>
                  </a:lnTo>
                  <a:lnTo>
                    <a:pt x="1511" y="12"/>
                  </a:lnTo>
                  <a:lnTo>
                    <a:pt x="1513" y="0"/>
                  </a:lnTo>
                </a:path>
              </a:pathLst>
            </a:custGeom>
            <a:noFill/>
            <a:ln w="17526" cap="flat">
              <a:solidFill>
                <a:schemeClr val="accent1">
                  <a:lumMod val="75000"/>
                </a:schemeClr>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1227" name="Rectangle 80"/>
            <p:cNvSpPr>
              <a:spLocks noChangeArrowheads="1"/>
            </p:cNvSpPr>
            <p:nvPr/>
          </p:nvSpPr>
          <p:spPr bwMode="auto">
            <a:xfrm>
              <a:off x="2111" y="3709"/>
              <a:ext cx="1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lnSpc>
                  <a:spcPts val="1800"/>
                </a:lnSpc>
                <a:spcBef>
                  <a:spcPct val="0"/>
                </a:spcBef>
                <a:buClrTx/>
                <a:buFontTx/>
                <a:buNone/>
              </a:pPr>
              <a:r>
                <a:rPr lang="en-US" altLang="en-US" sz="1800" dirty="0">
                  <a:solidFill>
                    <a:schemeClr val="accent1">
                      <a:lumMod val="50000"/>
                    </a:schemeClr>
                  </a:solidFill>
                </a:rPr>
                <a:t>less than or equal to pivot (sorted) </a:t>
              </a:r>
            </a:p>
          </p:txBody>
        </p:sp>
        <p:sp>
          <p:nvSpPr>
            <p:cNvPr id="51228" name="Freeform 81"/>
            <p:cNvSpPr>
              <a:spLocks/>
            </p:cNvSpPr>
            <p:nvPr/>
          </p:nvSpPr>
          <p:spPr bwMode="auto">
            <a:xfrm>
              <a:off x="4031" y="3613"/>
              <a:ext cx="1440" cy="91"/>
            </a:xfrm>
            <a:custGeom>
              <a:avLst/>
              <a:gdLst>
                <a:gd name="T0" fmla="*/ 0 w 1513"/>
                <a:gd name="T1" fmla="*/ 0 h 126"/>
                <a:gd name="T2" fmla="*/ 2 w 1513"/>
                <a:gd name="T3" fmla="*/ 4 h 126"/>
                <a:gd name="T4" fmla="*/ 10 w 1513"/>
                <a:gd name="T5" fmla="*/ 7 h 126"/>
                <a:gd name="T6" fmla="*/ 17 w 1513"/>
                <a:gd name="T7" fmla="*/ 9 h 126"/>
                <a:gd name="T8" fmla="*/ 30 w 1513"/>
                <a:gd name="T9" fmla="*/ 12 h 126"/>
                <a:gd name="T10" fmla="*/ 45 w 1513"/>
                <a:gd name="T11" fmla="*/ 14 h 126"/>
                <a:gd name="T12" fmla="*/ 63 w 1513"/>
                <a:gd name="T13" fmla="*/ 16 h 126"/>
                <a:gd name="T14" fmla="*/ 83 w 1513"/>
                <a:gd name="T15" fmla="*/ 16 h 126"/>
                <a:gd name="T16" fmla="*/ 103 w 1513"/>
                <a:gd name="T17" fmla="*/ 17 h 126"/>
                <a:gd name="T18" fmla="*/ 517 w 1513"/>
                <a:gd name="T19" fmla="*/ 17 h 126"/>
                <a:gd name="T20" fmla="*/ 539 w 1513"/>
                <a:gd name="T21" fmla="*/ 17 h 126"/>
                <a:gd name="T22" fmla="*/ 558 w 1513"/>
                <a:gd name="T23" fmla="*/ 18 h 126"/>
                <a:gd name="T24" fmla="*/ 575 w 1513"/>
                <a:gd name="T25" fmla="*/ 20 h 126"/>
                <a:gd name="T26" fmla="*/ 591 w 1513"/>
                <a:gd name="T27" fmla="*/ 22 h 126"/>
                <a:gd name="T28" fmla="*/ 603 w 1513"/>
                <a:gd name="T29" fmla="*/ 25 h 126"/>
                <a:gd name="T30" fmla="*/ 613 w 1513"/>
                <a:gd name="T31" fmla="*/ 27 h 126"/>
                <a:gd name="T32" fmla="*/ 621 w 1513"/>
                <a:gd name="T33" fmla="*/ 31 h 126"/>
                <a:gd name="T34" fmla="*/ 621 w 1513"/>
                <a:gd name="T35" fmla="*/ 35 h 126"/>
                <a:gd name="T36" fmla="*/ 622 w 1513"/>
                <a:gd name="T37" fmla="*/ 31 h 126"/>
                <a:gd name="T38" fmla="*/ 630 w 1513"/>
                <a:gd name="T39" fmla="*/ 27 h 126"/>
                <a:gd name="T40" fmla="*/ 639 w 1513"/>
                <a:gd name="T41" fmla="*/ 25 h 126"/>
                <a:gd name="T42" fmla="*/ 652 w 1513"/>
                <a:gd name="T43" fmla="*/ 22 h 126"/>
                <a:gd name="T44" fmla="*/ 666 w 1513"/>
                <a:gd name="T45" fmla="*/ 20 h 126"/>
                <a:gd name="T46" fmla="*/ 685 w 1513"/>
                <a:gd name="T47" fmla="*/ 18 h 126"/>
                <a:gd name="T48" fmla="*/ 704 w 1513"/>
                <a:gd name="T49" fmla="*/ 17 h 126"/>
                <a:gd name="T50" fmla="*/ 723 w 1513"/>
                <a:gd name="T51" fmla="*/ 17 h 126"/>
                <a:gd name="T52" fmla="*/ 1138 w 1513"/>
                <a:gd name="T53" fmla="*/ 17 h 126"/>
                <a:gd name="T54" fmla="*/ 1158 w 1513"/>
                <a:gd name="T55" fmla="*/ 16 h 126"/>
                <a:gd name="T56" fmla="*/ 1179 w 1513"/>
                <a:gd name="T57" fmla="*/ 16 h 126"/>
                <a:gd name="T58" fmla="*/ 1196 w 1513"/>
                <a:gd name="T59" fmla="*/ 14 h 126"/>
                <a:gd name="T60" fmla="*/ 1211 w 1513"/>
                <a:gd name="T61" fmla="*/ 12 h 126"/>
                <a:gd name="T62" fmla="*/ 1224 w 1513"/>
                <a:gd name="T63" fmla="*/ 9 h 126"/>
                <a:gd name="T64" fmla="*/ 1233 w 1513"/>
                <a:gd name="T65" fmla="*/ 7 h 126"/>
                <a:gd name="T66" fmla="*/ 1241 w 1513"/>
                <a:gd name="T67" fmla="*/ 4 h 126"/>
                <a:gd name="T68" fmla="*/ 1242 w 1513"/>
                <a:gd name="T69" fmla="*/ 0 h 12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13"/>
                <a:gd name="T106" fmla="*/ 0 h 126"/>
                <a:gd name="T107" fmla="*/ 1513 w 1513"/>
                <a:gd name="T108" fmla="*/ 126 h 12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13" h="126">
                  <a:moveTo>
                    <a:pt x="0" y="0"/>
                  </a:moveTo>
                  <a:lnTo>
                    <a:pt x="2" y="12"/>
                  </a:lnTo>
                  <a:lnTo>
                    <a:pt x="10" y="25"/>
                  </a:lnTo>
                  <a:lnTo>
                    <a:pt x="21" y="34"/>
                  </a:lnTo>
                  <a:lnTo>
                    <a:pt x="37" y="44"/>
                  </a:lnTo>
                  <a:lnTo>
                    <a:pt x="55" y="51"/>
                  </a:lnTo>
                  <a:lnTo>
                    <a:pt x="76" y="57"/>
                  </a:lnTo>
                  <a:lnTo>
                    <a:pt x="101" y="60"/>
                  </a:lnTo>
                  <a:lnTo>
                    <a:pt x="125" y="62"/>
                  </a:lnTo>
                  <a:lnTo>
                    <a:pt x="630" y="62"/>
                  </a:lnTo>
                  <a:lnTo>
                    <a:pt x="657" y="64"/>
                  </a:lnTo>
                  <a:lnTo>
                    <a:pt x="680" y="67"/>
                  </a:lnTo>
                  <a:lnTo>
                    <a:pt x="701" y="72"/>
                  </a:lnTo>
                  <a:lnTo>
                    <a:pt x="720" y="81"/>
                  </a:lnTo>
                  <a:lnTo>
                    <a:pt x="736" y="90"/>
                  </a:lnTo>
                  <a:lnTo>
                    <a:pt x="747" y="101"/>
                  </a:lnTo>
                  <a:lnTo>
                    <a:pt x="756" y="113"/>
                  </a:lnTo>
                  <a:lnTo>
                    <a:pt x="757" y="126"/>
                  </a:lnTo>
                  <a:lnTo>
                    <a:pt x="759" y="113"/>
                  </a:lnTo>
                  <a:lnTo>
                    <a:pt x="768" y="101"/>
                  </a:lnTo>
                  <a:lnTo>
                    <a:pt x="779" y="90"/>
                  </a:lnTo>
                  <a:lnTo>
                    <a:pt x="795" y="81"/>
                  </a:lnTo>
                  <a:lnTo>
                    <a:pt x="812" y="72"/>
                  </a:lnTo>
                  <a:lnTo>
                    <a:pt x="834" y="67"/>
                  </a:lnTo>
                  <a:lnTo>
                    <a:pt x="858" y="64"/>
                  </a:lnTo>
                  <a:lnTo>
                    <a:pt x="883" y="62"/>
                  </a:lnTo>
                  <a:lnTo>
                    <a:pt x="1388" y="62"/>
                  </a:lnTo>
                  <a:lnTo>
                    <a:pt x="1412" y="60"/>
                  </a:lnTo>
                  <a:lnTo>
                    <a:pt x="1437" y="57"/>
                  </a:lnTo>
                  <a:lnTo>
                    <a:pt x="1458" y="51"/>
                  </a:lnTo>
                  <a:lnTo>
                    <a:pt x="1476" y="44"/>
                  </a:lnTo>
                  <a:lnTo>
                    <a:pt x="1492" y="34"/>
                  </a:lnTo>
                  <a:lnTo>
                    <a:pt x="1503" y="25"/>
                  </a:lnTo>
                  <a:lnTo>
                    <a:pt x="1512" y="12"/>
                  </a:lnTo>
                  <a:lnTo>
                    <a:pt x="1513" y="0"/>
                  </a:lnTo>
                </a:path>
              </a:pathLst>
            </a:custGeom>
            <a:noFill/>
            <a:ln w="17526" cap="flat">
              <a:solidFill>
                <a:schemeClr val="accent1">
                  <a:lumMod val="75000"/>
                </a:schemeClr>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1229" name="Rectangle 82"/>
            <p:cNvSpPr>
              <a:spLocks noChangeArrowheads="1"/>
            </p:cNvSpPr>
            <p:nvPr/>
          </p:nvSpPr>
          <p:spPr bwMode="auto">
            <a:xfrm>
              <a:off x="3611" y="3709"/>
              <a:ext cx="30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lnSpc>
                  <a:spcPts val="1800"/>
                </a:lnSpc>
                <a:spcBef>
                  <a:spcPct val="0"/>
                </a:spcBef>
                <a:buClrTx/>
                <a:buFontTx/>
                <a:buNone/>
              </a:pPr>
              <a:r>
                <a:rPr lang="en-US" altLang="en-US" sz="1800">
                  <a:solidFill>
                    <a:schemeClr val="accent1">
                      <a:lumMod val="50000"/>
                    </a:schemeClr>
                  </a:solidFill>
                </a:rPr>
                <a:t>pivot</a:t>
              </a:r>
            </a:p>
          </p:txBody>
        </p:sp>
        <p:sp>
          <p:nvSpPr>
            <p:cNvPr id="51230" name="Rectangle 83"/>
            <p:cNvSpPr>
              <a:spLocks noChangeArrowheads="1"/>
            </p:cNvSpPr>
            <p:nvPr/>
          </p:nvSpPr>
          <p:spPr bwMode="auto">
            <a:xfrm>
              <a:off x="4031" y="3709"/>
              <a:ext cx="13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lnSpc>
                  <a:spcPts val="1800"/>
                </a:lnSpc>
                <a:spcBef>
                  <a:spcPct val="0"/>
                </a:spcBef>
                <a:buClrTx/>
                <a:buFontTx/>
                <a:buNone/>
              </a:pPr>
              <a:r>
                <a:rPr lang="en-US" altLang="en-US" sz="1800" dirty="0">
                  <a:solidFill>
                    <a:schemeClr val="accent1">
                      <a:lumMod val="50000"/>
                    </a:schemeClr>
                  </a:solidFill>
                </a:rPr>
                <a:t>greater than or equal to pivot (sorted) </a:t>
              </a:r>
            </a:p>
          </p:txBody>
        </p:sp>
      </p:grpSp>
      <p:sp>
        <p:nvSpPr>
          <p:cNvPr id="3" name="Slide Number Placeholder 2"/>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17733158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en-US" altLang="en-US" sz="3200" dirty="0"/>
              <a:t>Quick-sort </a:t>
            </a:r>
            <a:r>
              <a:rPr lang="en-US" altLang="en-US" sz="3200" i="1" dirty="0"/>
              <a:t>(4)</a:t>
            </a:r>
            <a:endParaRPr lang="en-GB" altLang="en-US" sz="3200" dirty="0"/>
          </a:p>
        </p:txBody>
      </p:sp>
      <p:sp>
        <p:nvSpPr>
          <p:cNvPr id="52227" name="Rectangle 3"/>
          <p:cNvSpPr>
            <a:spLocks noGrp="1" noChangeArrowheads="1"/>
          </p:cNvSpPr>
          <p:nvPr>
            <p:ph idx="1"/>
          </p:nvPr>
        </p:nvSpPr>
        <p:spPr>
          <a:xfrm>
            <a:off x="385764" y="1419802"/>
            <a:ext cx="7620000" cy="4800600"/>
          </a:xfrm>
          <a:noFill/>
        </p:spPr>
        <p:txBody>
          <a:bodyPr/>
          <a:lstStyle/>
          <a:p>
            <a:pPr eaLnBrk="1" hangingPunct="1"/>
            <a:r>
              <a:rPr lang="en-US" altLang="en-US" dirty="0"/>
              <a:t>Animation:</a:t>
            </a:r>
          </a:p>
        </p:txBody>
      </p:sp>
      <p:grpSp>
        <p:nvGrpSpPr>
          <p:cNvPr id="2" name="Group 149"/>
          <p:cNvGrpSpPr>
            <a:grpSpLocks/>
          </p:cNvGrpSpPr>
          <p:nvPr/>
        </p:nvGrpSpPr>
        <p:grpSpPr bwMode="auto">
          <a:xfrm>
            <a:off x="578645" y="2193925"/>
            <a:ext cx="6934200" cy="4114800"/>
            <a:chOff x="1247" y="1412"/>
            <a:chExt cx="4368" cy="2592"/>
          </a:xfrm>
        </p:grpSpPr>
        <p:sp>
          <p:nvSpPr>
            <p:cNvPr id="52346" name="Rectangle 5"/>
            <p:cNvSpPr>
              <a:spLocks noChangeArrowheads="1"/>
            </p:cNvSpPr>
            <p:nvPr/>
          </p:nvSpPr>
          <p:spPr bwMode="auto">
            <a:xfrm>
              <a:off x="1247" y="1412"/>
              <a:ext cx="4368" cy="2592"/>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2347" name="Text Box 6"/>
            <p:cNvSpPr txBox="1">
              <a:spLocks noChangeArrowheads="1"/>
            </p:cNvSpPr>
            <p:nvPr/>
          </p:nvSpPr>
          <p:spPr bwMode="auto">
            <a:xfrm>
              <a:off x="1295" y="1450"/>
              <a:ext cx="3888" cy="1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cs typeface="Times New Roman" pitchFamily="18" charset="0"/>
                </a:rPr>
                <a:t>1.	If </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 &lt; </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1.1.	Partition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 such that </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p</a:t>
              </a:r>
              <a:r>
                <a:rPr lang="en-US" altLang="en-US" sz="2000">
                  <a:latin typeface="Times New Roman" pitchFamily="18" charset="0"/>
                  <a:cs typeface="Times New Roman" pitchFamily="18" charset="0"/>
                </a:rPr>
                <a:t>–1] are all less than or equal to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p</a:t>
              </a:r>
              <a:r>
                <a:rPr lang="en-US" altLang="en-US" sz="2000">
                  <a:latin typeface="Times New Roman" pitchFamily="18" charset="0"/>
                  <a:cs typeface="Times New Roman" pitchFamily="18" charset="0"/>
                </a:rPr>
                <a:t>], and </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p</a:t>
              </a:r>
              <a:r>
                <a:rPr lang="en-US" altLang="en-US" sz="2000">
                  <a:latin typeface="Times New Roman" pitchFamily="18" charset="0"/>
                  <a:cs typeface="Times New Roman" pitchFamily="18" charset="0"/>
                </a:rPr>
                <a:t>+1…</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 are all greater than or equal to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p</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1.2.	Sort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p</a:t>
              </a:r>
              <a:r>
                <a:rPr lang="en-US" altLang="en-US" sz="2000">
                  <a:latin typeface="Times New Roman" pitchFamily="18" charset="0"/>
                  <a:cs typeface="Times New Roman" pitchFamily="18" charset="0"/>
                </a:rPr>
                <a:t>–1] into ascending order.</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1.3.	Sort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p</a:t>
              </a:r>
              <a:r>
                <a:rPr lang="en-US" altLang="en-US" sz="2000">
                  <a:latin typeface="Times New Roman" pitchFamily="18" charset="0"/>
                  <a:cs typeface="Times New Roman" pitchFamily="18" charset="0"/>
                </a:rPr>
                <a:t>+1…</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 into ascending order.</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2.	Terminate.</a:t>
              </a:r>
            </a:p>
          </p:txBody>
        </p:sp>
        <p:sp>
          <p:nvSpPr>
            <p:cNvPr id="52348" name="Text Box 7"/>
            <p:cNvSpPr txBox="1">
              <a:spLocks noChangeArrowheads="1"/>
            </p:cNvSpPr>
            <p:nvPr/>
          </p:nvSpPr>
          <p:spPr bwMode="auto">
            <a:xfrm>
              <a:off x="1466" y="328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52349" name="Text Box 8"/>
            <p:cNvSpPr txBox="1">
              <a:spLocks noChangeArrowheads="1"/>
            </p:cNvSpPr>
            <p:nvPr/>
          </p:nvSpPr>
          <p:spPr bwMode="auto">
            <a:xfrm>
              <a:off x="1322" y="3092"/>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52350" name="Text Box 9"/>
            <p:cNvSpPr txBox="1">
              <a:spLocks noChangeArrowheads="1"/>
            </p:cNvSpPr>
            <p:nvPr/>
          </p:nvSpPr>
          <p:spPr bwMode="auto">
            <a:xfrm>
              <a:off x="2040" y="309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52351" name="Text Box 10"/>
            <p:cNvSpPr txBox="1">
              <a:spLocks noChangeArrowheads="1"/>
            </p:cNvSpPr>
            <p:nvPr/>
          </p:nvSpPr>
          <p:spPr bwMode="auto">
            <a:xfrm>
              <a:off x="2468" y="309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52352" name="Text Box 11"/>
            <p:cNvSpPr txBox="1">
              <a:spLocks noChangeArrowheads="1"/>
            </p:cNvSpPr>
            <p:nvPr/>
          </p:nvSpPr>
          <p:spPr bwMode="auto">
            <a:xfrm>
              <a:off x="2900" y="309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52353" name="Text Box 12"/>
            <p:cNvSpPr txBox="1">
              <a:spLocks noChangeArrowheads="1"/>
            </p:cNvSpPr>
            <p:nvPr/>
          </p:nvSpPr>
          <p:spPr bwMode="auto">
            <a:xfrm>
              <a:off x="3332" y="309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52354" name="Text Box 13"/>
            <p:cNvSpPr txBox="1">
              <a:spLocks noChangeArrowheads="1"/>
            </p:cNvSpPr>
            <p:nvPr/>
          </p:nvSpPr>
          <p:spPr bwMode="auto">
            <a:xfrm>
              <a:off x="3764" y="309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52355" name="Text Box 14"/>
            <p:cNvSpPr txBox="1">
              <a:spLocks noChangeArrowheads="1"/>
            </p:cNvSpPr>
            <p:nvPr/>
          </p:nvSpPr>
          <p:spPr bwMode="auto">
            <a:xfrm>
              <a:off x="4964" y="3092"/>
              <a:ext cx="6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52356" name="Text Box 15"/>
            <p:cNvSpPr txBox="1">
              <a:spLocks noChangeArrowheads="1"/>
            </p:cNvSpPr>
            <p:nvPr/>
          </p:nvSpPr>
          <p:spPr bwMode="auto">
            <a:xfrm>
              <a:off x="1919" y="328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52357" name="Text Box 16"/>
            <p:cNvSpPr txBox="1">
              <a:spLocks noChangeArrowheads="1"/>
            </p:cNvSpPr>
            <p:nvPr/>
          </p:nvSpPr>
          <p:spPr bwMode="auto">
            <a:xfrm>
              <a:off x="2351" y="328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52358" name="Text Box 17"/>
            <p:cNvSpPr txBox="1">
              <a:spLocks noChangeArrowheads="1"/>
            </p:cNvSpPr>
            <p:nvPr/>
          </p:nvSpPr>
          <p:spPr bwMode="auto">
            <a:xfrm>
              <a:off x="2783" y="328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52359" name="Text Box 18"/>
            <p:cNvSpPr txBox="1">
              <a:spLocks noChangeArrowheads="1"/>
            </p:cNvSpPr>
            <p:nvPr/>
          </p:nvSpPr>
          <p:spPr bwMode="auto">
            <a:xfrm>
              <a:off x="3215" y="328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52360" name="Text Box 19"/>
            <p:cNvSpPr txBox="1">
              <a:spLocks noChangeArrowheads="1"/>
            </p:cNvSpPr>
            <p:nvPr/>
          </p:nvSpPr>
          <p:spPr bwMode="auto">
            <a:xfrm>
              <a:off x="3647" y="328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52361" name="Text Box 20"/>
            <p:cNvSpPr txBox="1">
              <a:spLocks noChangeArrowheads="1"/>
            </p:cNvSpPr>
            <p:nvPr/>
          </p:nvSpPr>
          <p:spPr bwMode="auto">
            <a:xfrm>
              <a:off x="4079" y="328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52362" name="Text Box 21"/>
            <p:cNvSpPr txBox="1">
              <a:spLocks noChangeArrowheads="1"/>
            </p:cNvSpPr>
            <p:nvPr/>
          </p:nvSpPr>
          <p:spPr bwMode="auto">
            <a:xfrm>
              <a:off x="1274" y="3284"/>
              <a:ext cx="1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52363" name="Text Box 22"/>
            <p:cNvSpPr txBox="1">
              <a:spLocks noChangeArrowheads="1"/>
            </p:cNvSpPr>
            <p:nvPr/>
          </p:nvSpPr>
          <p:spPr bwMode="auto">
            <a:xfrm>
              <a:off x="4511" y="328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52364" name="Text Box 23"/>
            <p:cNvSpPr txBox="1">
              <a:spLocks noChangeArrowheads="1"/>
            </p:cNvSpPr>
            <p:nvPr/>
          </p:nvSpPr>
          <p:spPr bwMode="auto">
            <a:xfrm>
              <a:off x="4943" y="3284"/>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52365" name="Text Box 24"/>
            <p:cNvSpPr txBox="1">
              <a:spLocks noChangeArrowheads="1"/>
            </p:cNvSpPr>
            <p:nvPr/>
          </p:nvSpPr>
          <p:spPr bwMode="auto">
            <a:xfrm>
              <a:off x="4199" y="309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52366" name="Text Box 25"/>
            <p:cNvSpPr txBox="1">
              <a:spLocks noChangeArrowheads="1"/>
            </p:cNvSpPr>
            <p:nvPr/>
          </p:nvSpPr>
          <p:spPr bwMode="auto">
            <a:xfrm>
              <a:off x="4634" y="3092"/>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grpSp>
      <p:grpSp>
        <p:nvGrpSpPr>
          <p:cNvPr id="3" name="Group 148"/>
          <p:cNvGrpSpPr>
            <a:grpSpLocks/>
          </p:cNvGrpSpPr>
          <p:nvPr/>
        </p:nvGrpSpPr>
        <p:grpSpPr bwMode="auto">
          <a:xfrm>
            <a:off x="578645" y="2193925"/>
            <a:ext cx="6934200" cy="4114800"/>
            <a:chOff x="1247" y="1496"/>
            <a:chExt cx="4368" cy="2592"/>
          </a:xfrm>
        </p:grpSpPr>
        <p:sp>
          <p:nvSpPr>
            <p:cNvPr id="52325" name="Rectangle 27"/>
            <p:cNvSpPr>
              <a:spLocks noChangeArrowheads="1"/>
            </p:cNvSpPr>
            <p:nvPr/>
          </p:nvSpPr>
          <p:spPr bwMode="auto">
            <a:xfrm>
              <a:off x="1247" y="1496"/>
              <a:ext cx="4368" cy="2592"/>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2326" name="Text Box 28"/>
            <p:cNvSpPr txBox="1">
              <a:spLocks noChangeArrowheads="1"/>
            </p:cNvSpPr>
            <p:nvPr/>
          </p:nvSpPr>
          <p:spPr bwMode="auto">
            <a:xfrm>
              <a:off x="1295" y="1534"/>
              <a:ext cx="3888" cy="1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cs typeface="Times New Roman" pitchFamily="18" charset="0"/>
                </a:rPr>
                <a:t>1.	</a:t>
              </a:r>
              <a:r>
                <a:rPr lang="en-US" altLang="en-US" sz="2000">
                  <a:solidFill>
                    <a:srgbClr val="FF0000"/>
                  </a:solidFill>
                  <a:latin typeface="Times New Roman" pitchFamily="18" charset="0"/>
                  <a:cs typeface="Times New Roman" pitchFamily="18" charset="0"/>
                </a:rPr>
                <a:t>If </a:t>
              </a:r>
              <a:r>
                <a:rPr lang="en-US" altLang="en-US" sz="2000" i="1">
                  <a:solidFill>
                    <a:srgbClr val="FF0000"/>
                  </a:solidFill>
                  <a:latin typeface="Times New Roman" pitchFamily="18" charset="0"/>
                  <a:cs typeface="Times New Roman" pitchFamily="18" charset="0"/>
                </a:rPr>
                <a:t>left</a:t>
              </a:r>
              <a:r>
                <a:rPr lang="en-US" altLang="en-US" sz="2000">
                  <a:solidFill>
                    <a:srgbClr val="FF0000"/>
                  </a:solidFill>
                  <a:latin typeface="Times New Roman" pitchFamily="18" charset="0"/>
                  <a:cs typeface="Times New Roman" pitchFamily="18" charset="0"/>
                </a:rPr>
                <a:t> &lt; </a:t>
              </a:r>
              <a:r>
                <a:rPr lang="en-US" altLang="en-US" sz="2000" i="1">
                  <a:solidFill>
                    <a:srgbClr val="FF0000"/>
                  </a:solidFill>
                  <a:latin typeface="Times New Roman" pitchFamily="18" charset="0"/>
                  <a:cs typeface="Times New Roman" pitchFamily="18" charset="0"/>
                </a:rPr>
                <a:t>right</a:t>
              </a:r>
              <a:r>
                <a:rPr lang="en-US" altLang="en-US" sz="2000">
                  <a:solidFill>
                    <a:srgbClr val="FF0000"/>
                  </a:solidFill>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1.1.	Partition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 such that </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p</a:t>
              </a:r>
              <a:r>
                <a:rPr lang="en-US" altLang="en-US" sz="2000">
                  <a:latin typeface="Times New Roman" pitchFamily="18" charset="0"/>
                  <a:cs typeface="Times New Roman" pitchFamily="18" charset="0"/>
                </a:rPr>
                <a:t>–1] are all less than or equal to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p</a:t>
              </a:r>
              <a:r>
                <a:rPr lang="en-US" altLang="en-US" sz="2000">
                  <a:latin typeface="Times New Roman" pitchFamily="18" charset="0"/>
                  <a:cs typeface="Times New Roman" pitchFamily="18" charset="0"/>
                </a:rPr>
                <a:t>], and </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p</a:t>
              </a:r>
              <a:r>
                <a:rPr lang="en-US" altLang="en-US" sz="2000">
                  <a:latin typeface="Times New Roman" pitchFamily="18" charset="0"/>
                  <a:cs typeface="Times New Roman" pitchFamily="18" charset="0"/>
                </a:rPr>
                <a:t>+1…</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 are all greater than or equal to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p</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1.2.	Sort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p</a:t>
              </a:r>
              <a:r>
                <a:rPr lang="en-US" altLang="en-US" sz="2000">
                  <a:latin typeface="Times New Roman" pitchFamily="18" charset="0"/>
                  <a:cs typeface="Times New Roman" pitchFamily="18" charset="0"/>
                </a:rPr>
                <a:t>–1] into ascending order.</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1.3.	Sort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p</a:t>
              </a:r>
              <a:r>
                <a:rPr lang="en-US" altLang="en-US" sz="2000">
                  <a:latin typeface="Times New Roman" pitchFamily="18" charset="0"/>
                  <a:cs typeface="Times New Roman" pitchFamily="18" charset="0"/>
                </a:rPr>
                <a:t>+1…</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 into ascending order.</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2.	Terminate.</a:t>
              </a:r>
            </a:p>
          </p:txBody>
        </p:sp>
        <p:sp>
          <p:nvSpPr>
            <p:cNvPr id="52327" name="Text Box 29"/>
            <p:cNvSpPr txBox="1">
              <a:spLocks noChangeArrowheads="1"/>
            </p:cNvSpPr>
            <p:nvPr/>
          </p:nvSpPr>
          <p:spPr bwMode="auto">
            <a:xfrm>
              <a:off x="1466" y="336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52328" name="Text Box 30"/>
            <p:cNvSpPr txBox="1">
              <a:spLocks noChangeArrowheads="1"/>
            </p:cNvSpPr>
            <p:nvPr/>
          </p:nvSpPr>
          <p:spPr bwMode="auto">
            <a:xfrm>
              <a:off x="1322" y="3176"/>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52329" name="Text Box 31"/>
            <p:cNvSpPr txBox="1">
              <a:spLocks noChangeArrowheads="1"/>
            </p:cNvSpPr>
            <p:nvPr/>
          </p:nvSpPr>
          <p:spPr bwMode="auto">
            <a:xfrm>
              <a:off x="2040" y="3176"/>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52330" name="Text Box 32"/>
            <p:cNvSpPr txBox="1">
              <a:spLocks noChangeArrowheads="1"/>
            </p:cNvSpPr>
            <p:nvPr/>
          </p:nvSpPr>
          <p:spPr bwMode="auto">
            <a:xfrm>
              <a:off x="2468" y="3176"/>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52331" name="Text Box 33"/>
            <p:cNvSpPr txBox="1">
              <a:spLocks noChangeArrowheads="1"/>
            </p:cNvSpPr>
            <p:nvPr/>
          </p:nvSpPr>
          <p:spPr bwMode="auto">
            <a:xfrm>
              <a:off x="2900" y="3176"/>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52332" name="Text Box 34"/>
            <p:cNvSpPr txBox="1">
              <a:spLocks noChangeArrowheads="1"/>
            </p:cNvSpPr>
            <p:nvPr/>
          </p:nvSpPr>
          <p:spPr bwMode="auto">
            <a:xfrm>
              <a:off x="3332" y="3176"/>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52333" name="Text Box 35"/>
            <p:cNvSpPr txBox="1">
              <a:spLocks noChangeArrowheads="1"/>
            </p:cNvSpPr>
            <p:nvPr/>
          </p:nvSpPr>
          <p:spPr bwMode="auto">
            <a:xfrm>
              <a:off x="3764" y="3176"/>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52334" name="Text Box 36"/>
            <p:cNvSpPr txBox="1">
              <a:spLocks noChangeArrowheads="1"/>
            </p:cNvSpPr>
            <p:nvPr/>
          </p:nvSpPr>
          <p:spPr bwMode="auto">
            <a:xfrm>
              <a:off x="4964" y="3176"/>
              <a:ext cx="6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52335" name="Text Box 37"/>
            <p:cNvSpPr txBox="1">
              <a:spLocks noChangeArrowheads="1"/>
            </p:cNvSpPr>
            <p:nvPr/>
          </p:nvSpPr>
          <p:spPr bwMode="auto">
            <a:xfrm>
              <a:off x="1919" y="336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52336" name="Text Box 38"/>
            <p:cNvSpPr txBox="1">
              <a:spLocks noChangeArrowheads="1"/>
            </p:cNvSpPr>
            <p:nvPr/>
          </p:nvSpPr>
          <p:spPr bwMode="auto">
            <a:xfrm>
              <a:off x="2351" y="336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52337" name="Text Box 39"/>
            <p:cNvSpPr txBox="1">
              <a:spLocks noChangeArrowheads="1"/>
            </p:cNvSpPr>
            <p:nvPr/>
          </p:nvSpPr>
          <p:spPr bwMode="auto">
            <a:xfrm>
              <a:off x="2783" y="336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52338" name="Text Box 40"/>
            <p:cNvSpPr txBox="1">
              <a:spLocks noChangeArrowheads="1"/>
            </p:cNvSpPr>
            <p:nvPr/>
          </p:nvSpPr>
          <p:spPr bwMode="auto">
            <a:xfrm>
              <a:off x="3215" y="336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52339" name="Text Box 41"/>
            <p:cNvSpPr txBox="1">
              <a:spLocks noChangeArrowheads="1"/>
            </p:cNvSpPr>
            <p:nvPr/>
          </p:nvSpPr>
          <p:spPr bwMode="auto">
            <a:xfrm>
              <a:off x="3647" y="336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52340" name="Text Box 42"/>
            <p:cNvSpPr txBox="1">
              <a:spLocks noChangeArrowheads="1"/>
            </p:cNvSpPr>
            <p:nvPr/>
          </p:nvSpPr>
          <p:spPr bwMode="auto">
            <a:xfrm>
              <a:off x="4079" y="336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52341" name="Text Box 43"/>
            <p:cNvSpPr txBox="1">
              <a:spLocks noChangeArrowheads="1"/>
            </p:cNvSpPr>
            <p:nvPr/>
          </p:nvSpPr>
          <p:spPr bwMode="auto">
            <a:xfrm>
              <a:off x="1274" y="3368"/>
              <a:ext cx="1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52342" name="Text Box 44"/>
            <p:cNvSpPr txBox="1">
              <a:spLocks noChangeArrowheads="1"/>
            </p:cNvSpPr>
            <p:nvPr/>
          </p:nvSpPr>
          <p:spPr bwMode="auto">
            <a:xfrm>
              <a:off x="4511" y="336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52343" name="Text Box 45"/>
            <p:cNvSpPr txBox="1">
              <a:spLocks noChangeArrowheads="1"/>
            </p:cNvSpPr>
            <p:nvPr/>
          </p:nvSpPr>
          <p:spPr bwMode="auto">
            <a:xfrm>
              <a:off x="4943" y="3368"/>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52344" name="Text Box 46"/>
            <p:cNvSpPr txBox="1">
              <a:spLocks noChangeArrowheads="1"/>
            </p:cNvSpPr>
            <p:nvPr/>
          </p:nvSpPr>
          <p:spPr bwMode="auto">
            <a:xfrm>
              <a:off x="4199" y="3176"/>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52345" name="Text Box 47"/>
            <p:cNvSpPr txBox="1">
              <a:spLocks noChangeArrowheads="1"/>
            </p:cNvSpPr>
            <p:nvPr/>
          </p:nvSpPr>
          <p:spPr bwMode="auto">
            <a:xfrm>
              <a:off x="4634" y="3176"/>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grpSp>
      <p:grpSp>
        <p:nvGrpSpPr>
          <p:cNvPr id="4" name="Group 150"/>
          <p:cNvGrpSpPr>
            <a:grpSpLocks/>
          </p:cNvGrpSpPr>
          <p:nvPr/>
        </p:nvGrpSpPr>
        <p:grpSpPr bwMode="auto">
          <a:xfrm>
            <a:off x="578645" y="2193925"/>
            <a:ext cx="6934200" cy="4114800"/>
            <a:chOff x="1066" y="1587"/>
            <a:chExt cx="4368" cy="2592"/>
          </a:xfrm>
        </p:grpSpPr>
        <p:sp>
          <p:nvSpPr>
            <p:cNvPr id="52302" name="Rectangle 49"/>
            <p:cNvSpPr>
              <a:spLocks noChangeArrowheads="1"/>
            </p:cNvSpPr>
            <p:nvPr/>
          </p:nvSpPr>
          <p:spPr bwMode="auto">
            <a:xfrm>
              <a:off x="1066" y="1587"/>
              <a:ext cx="4368" cy="2592"/>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2303" name="Text Box 50"/>
            <p:cNvSpPr txBox="1">
              <a:spLocks noChangeArrowheads="1"/>
            </p:cNvSpPr>
            <p:nvPr/>
          </p:nvSpPr>
          <p:spPr bwMode="auto">
            <a:xfrm>
              <a:off x="1114" y="1625"/>
              <a:ext cx="3888" cy="1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cs typeface="Times New Roman" pitchFamily="18" charset="0"/>
                </a:rPr>
                <a:t>1.	If </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 &lt; </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1.1.	</a:t>
              </a:r>
              <a:r>
                <a:rPr lang="en-US" altLang="en-US" sz="2000">
                  <a:solidFill>
                    <a:srgbClr val="FF0000"/>
                  </a:solidFill>
                  <a:latin typeface="Times New Roman" pitchFamily="18" charset="0"/>
                  <a:cs typeface="Times New Roman" pitchFamily="18" charset="0"/>
                </a:rPr>
                <a:t>Partition </a:t>
              </a:r>
              <a:r>
                <a:rPr lang="en-US" altLang="en-US" sz="2000" i="1">
                  <a:solidFill>
                    <a:srgbClr val="FF0000"/>
                  </a:solidFill>
                  <a:latin typeface="Times New Roman" pitchFamily="18" charset="0"/>
                  <a:cs typeface="Times New Roman" pitchFamily="18" charset="0"/>
                </a:rPr>
                <a:t>a</a:t>
              </a:r>
              <a:r>
                <a:rPr lang="en-US" altLang="en-US" sz="2000">
                  <a:solidFill>
                    <a:srgbClr val="FF0000"/>
                  </a:solidFill>
                  <a:latin typeface="Times New Roman" pitchFamily="18" charset="0"/>
                  <a:cs typeface="Times New Roman" pitchFamily="18" charset="0"/>
                </a:rPr>
                <a:t>[</a:t>
              </a:r>
              <a:r>
                <a:rPr lang="en-US" altLang="en-US" sz="2000" i="1">
                  <a:solidFill>
                    <a:srgbClr val="FF0000"/>
                  </a:solidFill>
                  <a:latin typeface="Times New Roman" pitchFamily="18" charset="0"/>
                  <a:cs typeface="Times New Roman" pitchFamily="18" charset="0"/>
                </a:rPr>
                <a:t>left</a:t>
              </a:r>
              <a:r>
                <a:rPr lang="en-US" altLang="en-US" sz="2000">
                  <a:solidFill>
                    <a:srgbClr val="FF0000"/>
                  </a:solidFill>
                  <a:latin typeface="Times New Roman" pitchFamily="18" charset="0"/>
                  <a:cs typeface="Times New Roman" pitchFamily="18" charset="0"/>
                </a:rPr>
                <a:t>…</a:t>
              </a:r>
              <a:r>
                <a:rPr lang="en-US" altLang="en-US" sz="2000" i="1">
                  <a:solidFill>
                    <a:srgbClr val="FF0000"/>
                  </a:solidFill>
                  <a:latin typeface="Times New Roman" pitchFamily="18" charset="0"/>
                  <a:cs typeface="Times New Roman" pitchFamily="18" charset="0"/>
                </a:rPr>
                <a:t>right</a:t>
              </a:r>
              <a:r>
                <a:rPr lang="en-US" altLang="en-US" sz="2000">
                  <a:solidFill>
                    <a:srgbClr val="FF0000"/>
                  </a:solidFill>
                  <a:latin typeface="Times New Roman" pitchFamily="18" charset="0"/>
                  <a:cs typeface="Times New Roman" pitchFamily="18" charset="0"/>
                </a:rPr>
                <a:t>] such that </a:t>
              </a:r>
              <a:br>
                <a:rPr lang="en-US" altLang="en-US" sz="2000">
                  <a:solidFill>
                    <a:srgbClr val="FF0000"/>
                  </a:solidFill>
                  <a:latin typeface="Times New Roman" pitchFamily="18" charset="0"/>
                  <a:cs typeface="Times New Roman" pitchFamily="18" charset="0"/>
                </a:rPr>
              </a:br>
              <a:r>
                <a:rPr lang="en-US" altLang="en-US" sz="2000">
                  <a:solidFill>
                    <a:srgbClr val="FF0000"/>
                  </a:solidFill>
                  <a:latin typeface="Times New Roman" pitchFamily="18" charset="0"/>
                  <a:cs typeface="Times New Roman" pitchFamily="18" charset="0"/>
                </a:rPr>
                <a:t>		</a:t>
              </a:r>
              <a:r>
                <a:rPr lang="en-US" altLang="en-US" sz="2000" i="1">
                  <a:solidFill>
                    <a:srgbClr val="FF0000"/>
                  </a:solidFill>
                  <a:latin typeface="Times New Roman" pitchFamily="18" charset="0"/>
                  <a:cs typeface="Times New Roman" pitchFamily="18" charset="0"/>
                </a:rPr>
                <a:t>a</a:t>
              </a:r>
              <a:r>
                <a:rPr lang="en-US" altLang="en-US" sz="2000">
                  <a:solidFill>
                    <a:srgbClr val="FF0000"/>
                  </a:solidFill>
                  <a:latin typeface="Times New Roman" pitchFamily="18" charset="0"/>
                  <a:cs typeface="Times New Roman" pitchFamily="18" charset="0"/>
                </a:rPr>
                <a:t>[</a:t>
              </a:r>
              <a:r>
                <a:rPr lang="en-US" altLang="en-US" sz="2000" i="1">
                  <a:solidFill>
                    <a:srgbClr val="FF0000"/>
                  </a:solidFill>
                  <a:latin typeface="Times New Roman" pitchFamily="18" charset="0"/>
                  <a:cs typeface="Times New Roman" pitchFamily="18" charset="0"/>
                </a:rPr>
                <a:t>left</a:t>
              </a:r>
              <a:r>
                <a:rPr lang="en-US" altLang="en-US" sz="2000">
                  <a:solidFill>
                    <a:srgbClr val="FF0000"/>
                  </a:solidFill>
                  <a:latin typeface="Times New Roman" pitchFamily="18" charset="0"/>
                  <a:cs typeface="Times New Roman" pitchFamily="18" charset="0"/>
                </a:rPr>
                <a:t>…</a:t>
              </a:r>
              <a:r>
                <a:rPr lang="en-US" altLang="en-US" sz="2000" i="1">
                  <a:solidFill>
                    <a:srgbClr val="FF0000"/>
                  </a:solidFill>
                  <a:latin typeface="Times New Roman" pitchFamily="18" charset="0"/>
                  <a:cs typeface="Times New Roman" pitchFamily="18" charset="0"/>
                </a:rPr>
                <a:t>p</a:t>
              </a:r>
              <a:r>
                <a:rPr lang="en-US" altLang="en-US" sz="2000">
                  <a:solidFill>
                    <a:srgbClr val="FF0000"/>
                  </a:solidFill>
                  <a:latin typeface="Times New Roman" pitchFamily="18" charset="0"/>
                  <a:cs typeface="Times New Roman" pitchFamily="18" charset="0"/>
                </a:rPr>
                <a:t>–1] are all less than or equal to </a:t>
              </a:r>
              <a:r>
                <a:rPr lang="en-US" altLang="en-US" sz="2000" i="1">
                  <a:solidFill>
                    <a:srgbClr val="FF0000"/>
                  </a:solidFill>
                  <a:latin typeface="Times New Roman" pitchFamily="18" charset="0"/>
                  <a:cs typeface="Times New Roman" pitchFamily="18" charset="0"/>
                </a:rPr>
                <a:t>a</a:t>
              </a:r>
              <a:r>
                <a:rPr lang="en-US" altLang="en-US" sz="2000">
                  <a:solidFill>
                    <a:srgbClr val="FF0000"/>
                  </a:solidFill>
                  <a:latin typeface="Times New Roman" pitchFamily="18" charset="0"/>
                  <a:cs typeface="Times New Roman" pitchFamily="18" charset="0"/>
                </a:rPr>
                <a:t>[</a:t>
              </a:r>
              <a:r>
                <a:rPr lang="en-US" altLang="en-US" sz="2000" i="1">
                  <a:solidFill>
                    <a:srgbClr val="FF0000"/>
                  </a:solidFill>
                  <a:latin typeface="Times New Roman" pitchFamily="18" charset="0"/>
                  <a:cs typeface="Times New Roman" pitchFamily="18" charset="0"/>
                </a:rPr>
                <a:t>p</a:t>
              </a:r>
              <a:r>
                <a:rPr lang="en-US" altLang="en-US" sz="2000">
                  <a:solidFill>
                    <a:srgbClr val="FF0000"/>
                  </a:solidFill>
                  <a:latin typeface="Times New Roman" pitchFamily="18" charset="0"/>
                  <a:cs typeface="Times New Roman" pitchFamily="18" charset="0"/>
                </a:rPr>
                <a:t>], and </a:t>
              </a:r>
              <a:br>
                <a:rPr lang="en-US" altLang="en-US" sz="2000">
                  <a:solidFill>
                    <a:srgbClr val="FF0000"/>
                  </a:solidFill>
                  <a:latin typeface="Times New Roman" pitchFamily="18" charset="0"/>
                  <a:cs typeface="Times New Roman" pitchFamily="18" charset="0"/>
                </a:rPr>
              </a:br>
              <a:r>
                <a:rPr lang="en-US" altLang="en-US" sz="2000">
                  <a:solidFill>
                    <a:srgbClr val="FF0000"/>
                  </a:solidFill>
                  <a:latin typeface="Times New Roman" pitchFamily="18" charset="0"/>
                  <a:cs typeface="Times New Roman" pitchFamily="18" charset="0"/>
                </a:rPr>
                <a:t>		</a:t>
              </a:r>
              <a:r>
                <a:rPr lang="en-US" altLang="en-US" sz="2000" i="1">
                  <a:solidFill>
                    <a:srgbClr val="FF0000"/>
                  </a:solidFill>
                  <a:latin typeface="Times New Roman" pitchFamily="18" charset="0"/>
                  <a:cs typeface="Times New Roman" pitchFamily="18" charset="0"/>
                </a:rPr>
                <a:t>a</a:t>
              </a:r>
              <a:r>
                <a:rPr lang="en-US" altLang="en-US" sz="2000">
                  <a:solidFill>
                    <a:srgbClr val="FF0000"/>
                  </a:solidFill>
                  <a:latin typeface="Times New Roman" pitchFamily="18" charset="0"/>
                  <a:cs typeface="Times New Roman" pitchFamily="18" charset="0"/>
                </a:rPr>
                <a:t>[</a:t>
              </a:r>
              <a:r>
                <a:rPr lang="en-US" altLang="en-US" sz="2000" i="1">
                  <a:solidFill>
                    <a:srgbClr val="FF0000"/>
                  </a:solidFill>
                  <a:latin typeface="Times New Roman" pitchFamily="18" charset="0"/>
                  <a:cs typeface="Times New Roman" pitchFamily="18" charset="0"/>
                </a:rPr>
                <a:t>p</a:t>
              </a:r>
              <a:r>
                <a:rPr lang="en-US" altLang="en-US" sz="2000">
                  <a:solidFill>
                    <a:srgbClr val="FF0000"/>
                  </a:solidFill>
                  <a:latin typeface="Times New Roman" pitchFamily="18" charset="0"/>
                  <a:cs typeface="Times New Roman" pitchFamily="18" charset="0"/>
                </a:rPr>
                <a:t>+1…</a:t>
              </a:r>
              <a:r>
                <a:rPr lang="en-US" altLang="en-US" sz="2000" i="1">
                  <a:solidFill>
                    <a:srgbClr val="FF0000"/>
                  </a:solidFill>
                  <a:latin typeface="Times New Roman" pitchFamily="18" charset="0"/>
                  <a:cs typeface="Times New Roman" pitchFamily="18" charset="0"/>
                </a:rPr>
                <a:t>right</a:t>
              </a:r>
              <a:r>
                <a:rPr lang="en-US" altLang="en-US" sz="2000">
                  <a:solidFill>
                    <a:srgbClr val="FF0000"/>
                  </a:solidFill>
                  <a:latin typeface="Times New Roman" pitchFamily="18" charset="0"/>
                  <a:cs typeface="Times New Roman" pitchFamily="18" charset="0"/>
                </a:rPr>
                <a:t>] are all greater than or equal to </a:t>
              </a:r>
              <a:r>
                <a:rPr lang="en-US" altLang="en-US" sz="2000" i="1">
                  <a:solidFill>
                    <a:srgbClr val="FF0000"/>
                  </a:solidFill>
                  <a:latin typeface="Times New Roman" pitchFamily="18" charset="0"/>
                  <a:cs typeface="Times New Roman" pitchFamily="18" charset="0"/>
                </a:rPr>
                <a:t>a</a:t>
              </a:r>
              <a:r>
                <a:rPr lang="en-US" altLang="en-US" sz="2000">
                  <a:solidFill>
                    <a:srgbClr val="FF0000"/>
                  </a:solidFill>
                  <a:latin typeface="Times New Roman" pitchFamily="18" charset="0"/>
                  <a:cs typeface="Times New Roman" pitchFamily="18" charset="0"/>
                </a:rPr>
                <a:t>[</a:t>
              </a:r>
              <a:r>
                <a:rPr lang="en-US" altLang="en-US" sz="2000" i="1">
                  <a:solidFill>
                    <a:srgbClr val="FF0000"/>
                  </a:solidFill>
                  <a:latin typeface="Times New Roman" pitchFamily="18" charset="0"/>
                  <a:cs typeface="Times New Roman" pitchFamily="18" charset="0"/>
                </a:rPr>
                <a:t>p</a:t>
              </a:r>
              <a:r>
                <a:rPr lang="en-US" altLang="en-US" sz="2000">
                  <a:solidFill>
                    <a:srgbClr val="FF0000"/>
                  </a:solidFill>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1.2.	Sort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p</a:t>
              </a:r>
              <a:r>
                <a:rPr lang="en-US" altLang="en-US" sz="2000">
                  <a:latin typeface="Times New Roman" pitchFamily="18" charset="0"/>
                  <a:cs typeface="Times New Roman" pitchFamily="18" charset="0"/>
                </a:rPr>
                <a:t>–1] into ascending order.</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1.3.	Sort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p</a:t>
              </a:r>
              <a:r>
                <a:rPr lang="en-US" altLang="en-US" sz="2000">
                  <a:latin typeface="Times New Roman" pitchFamily="18" charset="0"/>
                  <a:cs typeface="Times New Roman" pitchFamily="18" charset="0"/>
                </a:rPr>
                <a:t>+1…</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 into ascending order.</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2.	Terminate.</a:t>
              </a:r>
            </a:p>
          </p:txBody>
        </p:sp>
        <p:sp>
          <p:nvSpPr>
            <p:cNvPr id="52304" name="Text Box 51"/>
            <p:cNvSpPr txBox="1">
              <a:spLocks noChangeArrowheads="1"/>
            </p:cNvSpPr>
            <p:nvPr/>
          </p:nvSpPr>
          <p:spPr bwMode="auto">
            <a:xfrm>
              <a:off x="1285" y="345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52305" name="Text Box 52"/>
            <p:cNvSpPr txBox="1">
              <a:spLocks noChangeArrowheads="1"/>
            </p:cNvSpPr>
            <p:nvPr/>
          </p:nvSpPr>
          <p:spPr bwMode="auto">
            <a:xfrm>
              <a:off x="1141" y="3267"/>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52306" name="Text Box 53"/>
            <p:cNvSpPr txBox="1">
              <a:spLocks noChangeArrowheads="1"/>
            </p:cNvSpPr>
            <p:nvPr/>
          </p:nvSpPr>
          <p:spPr bwMode="auto">
            <a:xfrm>
              <a:off x="1859" y="3267"/>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52307" name="Text Box 54"/>
            <p:cNvSpPr txBox="1">
              <a:spLocks noChangeArrowheads="1"/>
            </p:cNvSpPr>
            <p:nvPr/>
          </p:nvSpPr>
          <p:spPr bwMode="auto">
            <a:xfrm>
              <a:off x="2287" y="3267"/>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52308" name="Text Box 55"/>
            <p:cNvSpPr txBox="1">
              <a:spLocks noChangeArrowheads="1"/>
            </p:cNvSpPr>
            <p:nvPr/>
          </p:nvSpPr>
          <p:spPr bwMode="auto">
            <a:xfrm>
              <a:off x="2719" y="3267"/>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52309" name="Text Box 56"/>
            <p:cNvSpPr txBox="1">
              <a:spLocks noChangeArrowheads="1"/>
            </p:cNvSpPr>
            <p:nvPr/>
          </p:nvSpPr>
          <p:spPr bwMode="auto">
            <a:xfrm>
              <a:off x="3151" y="3267"/>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52310" name="Text Box 57"/>
            <p:cNvSpPr txBox="1">
              <a:spLocks noChangeArrowheads="1"/>
            </p:cNvSpPr>
            <p:nvPr/>
          </p:nvSpPr>
          <p:spPr bwMode="auto">
            <a:xfrm>
              <a:off x="3583" y="3267"/>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52311" name="Text Box 58"/>
            <p:cNvSpPr txBox="1">
              <a:spLocks noChangeArrowheads="1"/>
            </p:cNvSpPr>
            <p:nvPr/>
          </p:nvSpPr>
          <p:spPr bwMode="auto">
            <a:xfrm>
              <a:off x="4783" y="3267"/>
              <a:ext cx="6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52312" name="Text Box 59"/>
            <p:cNvSpPr txBox="1">
              <a:spLocks noChangeArrowheads="1"/>
            </p:cNvSpPr>
            <p:nvPr/>
          </p:nvSpPr>
          <p:spPr bwMode="auto">
            <a:xfrm>
              <a:off x="1738" y="345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52313" name="Text Box 60"/>
            <p:cNvSpPr txBox="1">
              <a:spLocks noChangeArrowheads="1"/>
            </p:cNvSpPr>
            <p:nvPr/>
          </p:nvSpPr>
          <p:spPr bwMode="auto">
            <a:xfrm>
              <a:off x="2170" y="345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52314" name="Text Box 61"/>
            <p:cNvSpPr txBox="1">
              <a:spLocks noChangeArrowheads="1"/>
            </p:cNvSpPr>
            <p:nvPr/>
          </p:nvSpPr>
          <p:spPr bwMode="auto">
            <a:xfrm>
              <a:off x="2602" y="3459"/>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52315" name="Text Box 62"/>
            <p:cNvSpPr txBox="1">
              <a:spLocks noChangeArrowheads="1"/>
            </p:cNvSpPr>
            <p:nvPr/>
          </p:nvSpPr>
          <p:spPr bwMode="auto">
            <a:xfrm>
              <a:off x="3034" y="345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52316" name="Text Box 63"/>
            <p:cNvSpPr txBox="1">
              <a:spLocks noChangeArrowheads="1"/>
            </p:cNvSpPr>
            <p:nvPr/>
          </p:nvSpPr>
          <p:spPr bwMode="auto">
            <a:xfrm>
              <a:off x="3466" y="345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52317" name="Text Box 64"/>
            <p:cNvSpPr txBox="1">
              <a:spLocks noChangeArrowheads="1"/>
            </p:cNvSpPr>
            <p:nvPr/>
          </p:nvSpPr>
          <p:spPr bwMode="auto">
            <a:xfrm>
              <a:off x="3898" y="345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52318" name="Text Box 65"/>
            <p:cNvSpPr txBox="1">
              <a:spLocks noChangeArrowheads="1"/>
            </p:cNvSpPr>
            <p:nvPr/>
          </p:nvSpPr>
          <p:spPr bwMode="auto">
            <a:xfrm>
              <a:off x="1093" y="3459"/>
              <a:ext cx="1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52319" name="Text Box 66"/>
            <p:cNvSpPr txBox="1">
              <a:spLocks noChangeArrowheads="1"/>
            </p:cNvSpPr>
            <p:nvPr/>
          </p:nvSpPr>
          <p:spPr bwMode="auto">
            <a:xfrm>
              <a:off x="4330" y="345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52320" name="Text Box 67"/>
            <p:cNvSpPr txBox="1">
              <a:spLocks noChangeArrowheads="1"/>
            </p:cNvSpPr>
            <p:nvPr/>
          </p:nvSpPr>
          <p:spPr bwMode="auto">
            <a:xfrm>
              <a:off x="4762" y="345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52321" name="Text Box 68"/>
            <p:cNvSpPr txBox="1">
              <a:spLocks noChangeArrowheads="1"/>
            </p:cNvSpPr>
            <p:nvPr/>
          </p:nvSpPr>
          <p:spPr bwMode="auto">
            <a:xfrm>
              <a:off x="4018" y="3267"/>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52322" name="Text Box 69"/>
            <p:cNvSpPr txBox="1">
              <a:spLocks noChangeArrowheads="1"/>
            </p:cNvSpPr>
            <p:nvPr/>
          </p:nvSpPr>
          <p:spPr bwMode="auto">
            <a:xfrm>
              <a:off x="4453" y="3267"/>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52323" name="Text Box 70"/>
            <p:cNvSpPr txBox="1">
              <a:spLocks noChangeArrowheads="1"/>
            </p:cNvSpPr>
            <p:nvPr/>
          </p:nvSpPr>
          <p:spPr bwMode="auto">
            <a:xfrm>
              <a:off x="4762" y="3891"/>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3</a:t>
              </a:r>
            </a:p>
          </p:txBody>
        </p:sp>
        <p:sp>
          <p:nvSpPr>
            <p:cNvPr id="52324" name="Text Box 71"/>
            <p:cNvSpPr txBox="1">
              <a:spLocks noChangeArrowheads="1"/>
            </p:cNvSpPr>
            <p:nvPr/>
          </p:nvSpPr>
          <p:spPr bwMode="auto">
            <a:xfrm>
              <a:off x="4522" y="3891"/>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p</a:t>
              </a:r>
            </a:p>
          </p:txBody>
        </p:sp>
      </p:grpSp>
      <p:grpSp>
        <p:nvGrpSpPr>
          <p:cNvPr id="5" name="Group 151"/>
          <p:cNvGrpSpPr>
            <a:grpSpLocks/>
          </p:cNvGrpSpPr>
          <p:nvPr/>
        </p:nvGrpSpPr>
        <p:grpSpPr bwMode="auto">
          <a:xfrm>
            <a:off x="578645" y="2193925"/>
            <a:ext cx="6934200" cy="4114800"/>
            <a:chOff x="213" y="1678"/>
            <a:chExt cx="4368" cy="2592"/>
          </a:xfrm>
        </p:grpSpPr>
        <p:sp>
          <p:nvSpPr>
            <p:cNvPr id="52279" name="Rectangle 73"/>
            <p:cNvSpPr>
              <a:spLocks noChangeArrowheads="1"/>
            </p:cNvSpPr>
            <p:nvPr/>
          </p:nvSpPr>
          <p:spPr bwMode="auto">
            <a:xfrm>
              <a:off x="213" y="1678"/>
              <a:ext cx="4368" cy="2592"/>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2280" name="Text Box 74"/>
            <p:cNvSpPr txBox="1">
              <a:spLocks noChangeArrowheads="1"/>
            </p:cNvSpPr>
            <p:nvPr/>
          </p:nvSpPr>
          <p:spPr bwMode="auto">
            <a:xfrm>
              <a:off x="261" y="1716"/>
              <a:ext cx="3888" cy="1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cs typeface="Times New Roman" pitchFamily="18" charset="0"/>
                </a:rPr>
                <a:t>1.	If </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 &lt; </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1.1.	Partition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 such that </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p</a:t>
              </a:r>
              <a:r>
                <a:rPr lang="en-US" altLang="en-US" sz="2000">
                  <a:latin typeface="Times New Roman" pitchFamily="18" charset="0"/>
                  <a:cs typeface="Times New Roman" pitchFamily="18" charset="0"/>
                </a:rPr>
                <a:t>–1] are all less than or equal to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p</a:t>
              </a:r>
              <a:r>
                <a:rPr lang="en-US" altLang="en-US" sz="2000">
                  <a:latin typeface="Times New Roman" pitchFamily="18" charset="0"/>
                  <a:cs typeface="Times New Roman" pitchFamily="18" charset="0"/>
                </a:rPr>
                <a:t>], and </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p</a:t>
              </a:r>
              <a:r>
                <a:rPr lang="en-US" altLang="en-US" sz="2000">
                  <a:latin typeface="Times New Roman" pitchFamily="18" charset="0"/>
                  <a:cs typeface="Times New Roman" pitchFamily="18" charset="0"/>
                </a:rPr>
                <a:t>+1…</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 are all greater than or equal to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p</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1.2.	</a:t>
              </a:r>
              <a:r>
                <a:rPr lang="en-US" altLang="en-US" sz="2000">
                  <a:solidFill>
                    <a:srgbClr val="FF0000"/>
                  </a:solidFill>
                  <a:latin typeface="Times New Roman" pitchFamily="18" charset="0"/>
                  <a:cs typeface="Times New Roman" pitchFamily="18" charset="0"/>
                </a:rPr>
                <a:t>Sort </a:t>
              </a:r>
              <a:r>
                <a:rPr lang="en-US" altLang="en-US" sz="2000" i="1">
                  <a:solidFill>
                    <a:srgbClr val="FF0000"/>
                  </a:solidFill>
                  <a:latin typeface="Times New Roman" pitchFamily="18" charset="0"/>
                  <a:cs typeface="Times New Roman" pitchFamily="18" charset="0"/>
                </a:rPr>
                <a:t>a</a:t>
              </a:r>
              <a:r>
                <a:rPr lang="en-US" altLang="en-US" sz="2000">
                  <a:solidFill>
                    <a:srgbClr val="FF0000"/>
                  </a:solidFill>
                  <a:latin typeface="Times New Roman" pitchFamily="18" charset="0"/>
                  <a:cs typeface="Times New Roman" pitchFamily="18" charset="0"/>
                </a:rPr>
                <a:t>[</a:t>
              </a:r>
              <a:r>
                <a:rPr lang="en-US" altLang="en-US" sz="2000" i="1">
                  <a:solidFill>
                    <a:srgbClr val="FF0000"/>
                  </a:solidFill>
                  <a:latin typeface="Times New Roman" pitchFamily="18" charset="0"/>
                  <a:cs typeface="Times New Roman" pitchFamily="18" charset="0"/>
                </a:rPr>
                <a:t>left</a:t>
              </a:r>
              <a:r>
                <a:rPr lang="en-US" altLang="en-US" sz="2000">
                  <a:solidFill>
                    <a:srgbClr val="FF0000"/>
                  </a:solidFill>
                  <a:latin typeface="Times New Roman" pitchFamily="18" charset="0"/>
                  <a:cs typeface="Times New Roman" pitchFamily="18" charset="0"/>
                </a:rPr>
                <a:t>…</a:t>
              </a:r>
              <a:r>
                <a:rPr lang="en-US" altLang="en-US" sz="2000" i="1">
                  <a:solidFill>
                    <a:srgbClr val="FF0000"/>
                  </a:solidFill>
                  <a:latin typeface="Times New Roman" pitchFamily="18" charset="0"/>
                  <a:cs typeface="Times New Roman" pitchFamily="18" charset="0"/>
                </a:rPr>
                <a:t>p</a:t>
              </a:r>
              <a:r>
                <a:rPr lang="en-US" altLang="en-US" sz="2000">
                  <a:solidFill>
                    <a:srgbClr val="FF0000"/>
                  </a:solidFill>
                  <a:latin typeface="Times New Roman" pitchFamily="18" charset="0"/>
                  <a:cs typeface="Times New Roman" pitchFamily="18" charset="0"/>
                </a:rPr>
                <a:t>–1] into ascending order.</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1.3.	Sort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p</a:t>
              </a:r>
              <a:r>
                <a:rPr lang="en-US" altLang="en-US" sz="2000">
                  <a:latin typeface="Times New Roman" pitchFamily="18" charset="0"/>
                  <a:cs typeface="Times New Roman" pitchFamily="18" charset="0"/>
                </a:rPr>
                <a:t>+1…</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 into ascending order.</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2.	Terminate.</a:t>
              </a:r>
            </a:p>
          </p:txBody>
        </p:sp>
        <p:sp>
          <p:nvSpPr>
            <p:cNvPr id="52281" name="Text Box 75"/>
            <p:cNvSpPr txBox="1">
              <a:spLocks noChangeArrowheads="1"/>
            </p:cNvSpPr>
            <p:nvPr/>
          </p:nvSpPr>
          <p:spPr bwMode="auto">
            <a:xfrm>
              <a:off x="432" y="3550"/>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52282" name="Text Box 76"/>
            <p:cNvSpPr txBox="1">
              <a:spLocks noChangeArrowheads="1"/>
            </p:cNvSpPr>
            <p:nvPr/>
          </p:nvSpPr>
          <p:spPr bwMode="auto">
            <a:xfrm>
              <a:off x="288" y="3358"/>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52283" name="Text Box 77"/>
            <p:cNvSpPr txBox="1">
              <a:spLocks noChangeArrowheads="1"/>
            </p:cNvSpPr>
            <p:nvPr/>
          </p:nvSpPr>
          <p:spPr bwMode="auto">
            <a:xfrm>
              <a:off x="1006" y="3358"/>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52284" name="Text Box 78"/>
            <p:cNvSpPr txBox="1">
              <a:spLocks noChangeArrowheads="1"/>
            </p:cNvSpPr>
            <p:nvPr/>
          </p:nvSpPr>
          <p:spPr bwMode="auto">
            <a:xfrm>
              <a:off x="1434" y="3358"/>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52285" name="Text Box 79"/>
            <p:cNvSpPr txBox="1">
              <a:spLocks noChangeArrowheads="1"/>
            </p:cNvSpPr>
            <p:nvPr/>
          </p:nvSpPr>
          <p:spPr bwMode="auto">
            <a:xfrm>
              <a:off x="1866" y="3358"/>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52286" name="Text Box 80"/>
            <p:cNvSpPr txBox="1">
              <a:spLocks noChangeArrowheads="1"/>
            </p:cNvSpPr>
            <p:nvPr/>
          </p:nvSpPr>
          <p:spPr bwMode="auto">
            <a:xfrm>
              <a:off x="2298" y="3358"/>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52287" name="Text Box 81"/>
            <p:cNvSpPr txBox="1">
              <a:spLocks noChangeArrowheads="1"/>
            </p:cNvSpPr>
            <p:nvPr/>
          </p:nvSpPr>
          <p:spPr bwMode="auto">
            <a:xfrm>
              <a:off x="2730" y="3358"/>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52288" name="Text Box 82"/>
            <p:cNvSpPr txBox="1">
              <a:spLocks noChangeArrowheads="1"/>
            </p:cNvSpPr>
            <p:nvPr/>
          </p:nvSpPr>
          <p:spPr bwMode="auto">
            <a:xfrm>
              <a:off x="3930" y="3358"/>
              <a:ext cx="6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52289" name="Text Box 83"/>
            <p:cNvSpPr txBox="1">
              <a:spLocks noChangeArrowheads="1"/>
            </p:cNvSpPr>
            <p:nvPr/>
          </p:nvSpPr>
          <p:spPr bwMode="auto">
            <a:xfrm>
              <a:off x="885" y="3550"/>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52290" name="Text Box 84"/>
            <p:cNvSpPr txBox="1">
              <a:spLocks noChangeArrowheads="1"/>
            </p:cNvSpPr>
            <p:nvPr/>
          </p:nvSpPr>
          <p:spPr bwMode="auto">
            <a:xfrm>
              <a:off x="1317" y="3550"/>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52291" name="Text Box 85"/>
            <p:cNvSpPr txBox="1">
              <a:spLocks noChangeArrowheads="1"/>
            </p:cNvSpPr>
            <p:nvPr/>
          </p:nvSpPr>
          <p:spPr bwMode="auto">
            <a:xfrm>
              <a:off x="1749" y="3550"/>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52292" name="Text Box 86"/>
            <p:cNvSpPr txBox="1">
              <a:spLocks noChangeArrowheads="1"/>
            </p:cNvSpPr>
            <p:nvPr/>
          </p:nvSpPr>
          <p:spPr bwMode="auto">
            <a:xfrm>
              <a:off x="2181" y="355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52293" name="Text Box 87"/>
            <p:cNvSpPr txBox="1">
              <a:spLocks noChangeArrowheads="1"/>
            </p:cNvSpPr>
            <p:nvPr/>
          </p:nvSpPr>
          <p:spPr bwMode="auto">
            <a:xfrm>
              <a:off x="2613" y="355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52294" name="Text Box 88"/>
            <p:cNvSpPr txBox="1">
              <a:spLocks noChangeArrowheads="1"/>
            </p:cNvSpPr>
            <p:nvPr/>
          </p:nvSpPr>
          <p:spPr bwMode="auto">
            <a:xfrm>
              <a:off x="3045" y="355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52295" name="Text Box 89"/>
            <p:cNvSpPr txBox="1">
              <a:spLocks noChangeArrowheads="1"/>
            </p:cNvSpPr>
            <p:nvPr/>
          </p:nvSpPr>
          <p:spPr bwMode="auto">
            <a:xfrm>
              <a:off x="240" y="3550"/>
              <a:ext cx="1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52296" name="Text Box 90"/>
            <p:cNvSpPr txBox="1">
              <a:spLocks noChangeArrowheads="1"/>
            </p:cNvSpPr>
            <p:nvPr/>
          </p:nvSpPr>
          <p:spPr bwMode="auto">
            <a:xfrm>
              <a:off x="3477" y="355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52297" name="Text Box 91"/>
            <p:cNvSpPr txBox="1">
              <a:spLocks noChangeArrowheads="1"/>
            </p:cNvSpPr>
            <p:nvPr/>
          </p:nvSpPr>
          <p:spPr bwMode="auto">
            <a:xfrm>
              <a:off x="3909" y="3550"/>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52298" name="Text Box 92"/>
            <p:cNvSpPr txBox="1">
              <a:spLocks noChangeArrowheads="1"/>
            </p:cNvSpPr>
            <p:nvPr/>
          </p:nvSpPr>
          <p:spPr bwMode="auto">
            <a:xfrm>
              <a:off x="3165" y="3358"/>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52299" name="Text Box 93"/>
            <p:cNvSpPr txBox="1">
              <a:spLocks noChangeArrowheads="1"/>
            </p:cNvSpPr>
            <p:nvPr/>
          </p:nvSpPr>
          <p:spPr bwMode="auto">
            <a:xfrm>
              <a:off x="3600" y="3358"/>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52300" name="Text Box 94"/>
            <p:cNvSpPr txBox="1">
              <a:spLocks noChangeArrowheads="1"/>
            </p:cNvSpPr>
            <p:nvPr/>
          </p:nvSpPr>
          <p:spPr bwMode="auto">
            <a:xfrm>
              <a:off x="3909" y="3982"/>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3</a:t>
              </a:r>
            </a:p>
          </p:txBody>
        </p:sp>
        <p:sp>
          <p:nvSpPr>
            <p:cNvPr id="52301" name="Text Box 95"/>
            <p:cNvSpPr txBox="1">
              <a:spLocks noChangeArrowheads="1"/>
            </p:cNvSpPr>
            <p:nvPr/>
          </p:nvSpPr>
          <p:spPr bwMode="auto">
            <a:xfrm>
              <a:off x="3669" y="3982"/>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p</a:t>
              </a:r>
            </a:p>
          </p:txBody>
        </p:sp>
      </p:grpSp>
      <p:grpSp>
        <p:nvGrpSpPr>
          <p:cNvPr id="6" name="Group 145"/>
          <p:cNvGrpSpPr>
            <a:grpSpLocks/>
          </p:cNvGrpSpPr>
          <p:nvPr/>
        </p:nvGrpSpPr>
        <p:grpSpPr bwMode="auto">
          <a:xfrm>
            <a:off x="578645" y="2193925"/>
            <a:ext cx="6934200" cy="4114800"/>
            <a:chOff x="1247" y="1495"/>
            <a:chExt cx="4368" cy="2592"/>
          </a:xfrm>
        </p:grpSpPr>
        <p:sp>
          <p:nvSpPr>
            <p:cNvPr id="52256" name="Rectangle 97"/>
            <p:cNvSpPr>
              <a:spLocks noChangeArrowheads="1"/>
            </p:cNvSpPr>
            <p:nvPr/>
          </p:nvSpPr>
          <p:spPr bwMode="auto">
            <a:xfrm>
              <a:off x="1247" y="1495"/>
              <a:ext cx="4368" cy="2592"/>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2257" name="Text Box 98"/>
            <p:cNvSpPr txBox="1">
              <a:spLocks noChangeArrowheads="1"/>
            </p:cNvSpPr>
            <p:nvPr/>
          </p:nvSpPr>
          <p:spPr bwMode="auto">
            <a:xfrm>
              <a:off x="1295" y="1533"/>
              <a:ext cx="3888" cy="1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a:latin typeface="Times New Roman" pitchFamily="18" charset="0"/>
                </a:rPr>
                <a:t>To sort </a:t>
              </a:r>
              <a:r>
                <a:rPr lang="en-US" altLang="en-US" sz="2000" i="1">
                  <a:latin typeface="Times New Roman" pitchFamily="18" charset="0"/>
                </a:rPr>
                <a:t>a</a:t>
              </a:r>
              <a:r>
                <a:rPr lang="en-US" altLang="en-US" sz="2000">
                  <a:latin typeface="Times New Roman" pitchFamily="18" charset="0"/>
                </a:rPr>
                <a:t>[</a:t>
              </a:r>
              <a:r>
                <a:rPr lang="en-US" altLang="en-US" sz="2000" i="1">
                  <a:latin typeface="Times New Roman" pitchFamily="18" charset="0"/>
                </a:rPr>
                <a:t>left</a:t>
              </a:r>
              <a:r>
                <a:rPr lang="en-US" altLang="en-US" sz="2000">
                  <a:latin typeface="Times New Roman" pitchFamily="18" charset="0"/>
                </a:rPr>
                <a:t>…</a:t>
              </a:r>
              <a:r>
                <a:rPr lang="en-US" altLang="en-US" sz="2000" i="1">
                  <a:latin typeface="Times New Roman" pitchFamily="18" charset="0"/>
                </a:rPr>
                <a:t>right</a:t>
              </a:r>
              <a:r>
                <a:rPr lang="en-US" altLang="en-US" sz="2000">
                  <a:latin typeface="Times New Roman" pitchFamily="18" charset="0"/>
                </a:rPr>
                <a:t>] into ascending order:</a:t>
              </a:r>
              <a:br>
                <a:rPr lang="en-US" altLang="en-US" sz="2000">
                  <a:latin typeface="Times New Roman" pitchFamily="18" charset="0"/>
                </a:rPr>
              </a:br>
              <a:r>
                <a:rPr lang="en-US" altLang="en-US" sz="2000">
                  <a:latin typeface="Times New Roman" pitchFamily="18" charset="0"/>
                  <a:cs typeface="Times New Roman" pitchFamily="18" charset="0"/>
                </a:rPr>
                <a:t>1.	If </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 &lt; </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1.1.	Partition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 such that </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p</a:t>
              </a:r>
              <a:r>
                <a:rPr lang="en-US" altLang="en-US" sz="2000">
                  <a:latin typeface="Times New Roman" pitchFamily="18" charset="0"/>
                  <a:cs typeface="Times New Roman" pitchFamily="18" charset="0"/>
                </a:rPr>
                <a:t>–1] are all less than or equal to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p</a:t>
              </a:r>
              <a:r>
                <a:rPr lang="en-US" altLang="en-US" sz="2000">
                  <a:latin typeface="Times New Roman" pitchFamily="18" charset="0"/>
                  <a:cs typeface="Times New Roman" pitchFamily="18" charset="0"/>
                </a:rPr>
                <a:t>], and </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p</a:t>
              </a:r>
              <a:r>
                <a:rPr lang="en-US" altLang="en-US" sz="2000">
                  <a:latin typeface="Times New Roman" pitchFamily="18" charset="0"/>
                  <a:cs typeface="Times New Roman" pitchFamily="18" charset="0"/>
                </a:rPr>
                <a:t>+1…</a:t>
              </a:r>
              <a:r>
                <a:rPr lang="en-US" altLang="en-US" sz="2000" i="1">
                  <a:latin typeface="Times New Roman" pitchFamily="18" charset="0"/>
                  <a:cs typeface="Times New Roman" pitchFamily="18" charset="0"/>
                </a:rPr>
                <a:t>right</a:t>
              </a:r>
              <a:r>
                <a:rPr lang="en-US" altLang="en-US" sz="2000">
                  <a:latin typeface="Times New Roman" pitchFamily="18" charset="0"/>
                  <a:cs typeface="Times New Roman" pitchFamily="18" charset="0"/>
                </a:rPr>
                <a:t>] are all greater than or equal to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p</a:t>
              </a:r>
              <a:r>
                <a:rPr lang="en-US" altLang="en-US" sz="2000">
                  <a:latin typeface="Times New Roman" pitchFamily="18" charset="0"/>
                  <a:cs typeface="Times New Roman" pitchFamily="18" charset="0"/>
                </a:rPr>
                <a:t>].</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1.2.	Sort </a:t>
              </a:r>
              <a:r>
                <a:rPr lang="en-US" altLang="en-US" sz="2000" i="1">
                  <a:latin typeface="Times New Roman" pitchFamily="18" charset="0"/>
                  <a:cs typeface="Times New Roman" pitchFamily="18" charset="0"/>
                </a:rPr>
                <a:t>a</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left</a:t>
              </a:r>
              <a:r>
                <a:rPr lang="en-US" altLang="en-US" sz="2000">
                  <a:latin typeface="Times New Roman" pitchFamily="18" charset="0"/>
                  <a:cs typeface="Times New Roman" pitchFamily="18" charset="0"/>
                </a:rPr>
                <a:t>…</a:t>
              </a:r>
              <a:r>
                <a:rPr lang="en-US" altLang="en-US" sz="2000" i="1">
                  <a:latin typeface="Times New Roman" pitchFamily="18" charset="0"/>
                  <a:cs typeface="Times New Roman" pitchFamily="18" charset="0"/>
                </a:rPr>
                <a:t>p</a:t>
              </a:r>
              <a:r>
                <a:rPr lang="en-US" altLang="en-US" sz="2000">
                  <a:latin typeface="Times New Roman" pitchFamily="18" charset="0"/>
                  <a:cs typeface="Times New Roman" pitchFamily="18" charset="0"/>
                </a:rPr>
                <a:t>–1] into ascending order.</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	1.3.	</a:t>
              </a:r>
              <a:r>
                <a:rPr lang="en-US" altLang="en-US" sz="2000">
                  <a:solidFill>
                    <a:srgbClr val="FF0000"/>
                  </a:solidFill>
                  <a:latin typeface="Times New Roman" pitchFamily="18" charset="0"/>
                  <a:cs typeface="Times New Roman" pitchFamily="18" charset="0"/>
                </a:rPr>
                <a:t>Sort </a:t>
              </a:r>
              <a:r>
                <a:rPr lang="en-US" altLang="en-US" sz="2000" i="1">
                  <a:solidFill>
                    <a:srgbClr val="FF0000"/>
                  </a:solidFill>
                  <a:latin typeface="Times New Roman" pitchFamily="18" charset="0"/>
                  <a:cs typeface="Times New Roman" pitchFamily="18" charset="0"/>
                </a:rPr>
                <a:t>a</a:t>
              </a:r>
              <a:r>
                <a:rPr lang="en-US" altLang="en-US" sz="2000">
                  <a:solidFill>
                    <a:srgbClr val="FF0000"/>
                  </a:solidFill>
                  <a:latin typeface="Times New Roman" pitchFamily="18" charset="0"/>
                  <a:cs typeface="Times New Roman" pitchFamily="18" charset="0"/>
                </a:rPr>
                <a:t>[</a:t>
              </a:r>
              <a:r>
                <a:rPr lang="en-US" altLang="en-US" sz="2000" i="1">
                  <a:solidFill>
                    <a:srgbClr val="FF0000"/>
                  </a:solidFill>
                  <a:latin typeface="Times New Roman" pitchFamily="18" charset="0"/>
                  <a:cs typeface="Times New Roman" pitchFamily="18" charset="0"/>
                </a:rPr>
                <a:t>p</a:t>
              </a:r>
              <a:r>
                <a:rPr lang="en-US" altLang="en-US" sz="2000">
                  <a:solidFill>
                    <a:srgbClr val="FF0000"/>
                  </a:solidFill>
                  <a:latin typeface="Times New Roman" pitchFamily="18" charset="0"/>
                  <a:cs typeface="Times New Roman" pitchFamily="18" charset="0"/>
                </a:rPr>
                <a:t>+1…</a:t>
              </a:r>
              <a:r>
                <a:rPr lang="en-US" altLang="en-US" sz="2000" i="1">
                  <a:solidFill>
                    <a:srgbClr val="FF0000"/>
                  </a:solidFill>
                  <a:latin typeface="Times New Roman" pitchFamily="18" charset="0"/>
                  <a:cs typeface="Times New Roman" pitchFamily="18" charset="0"/>
                </a:rPr>
                <a:t>right</a:t>
              </a:r>
              <a:r>
                <a:rPr lang="en-US" altLang="en-US" sz="2000">
                  <a:solidFill>
                    <a:srgbClr val="FF0000"/>
                  </a:solidFill>
                  <a:latin typeface="Times New Roman" pitchFamily="18" charset="0"/>
                  <a:cs typeface="Times New Roman" pitchFamily="18" charset="0"/>
                </a:rPr>
                <a:t>] into ascending order.</a:t>
              </a:r>
              <a:br>
                <a:rPr lang="en-US" altLang="en-US" sz="2000">
                  <a:latin typeface="Times New Roman" pitchFamily="18" charset="0"/>
                  <a:cs typeface="Times New Roman" pitchFamily="18" charset="0"/>
                </a:rPr>
              </a:br>
              <a:r>
                <a:rPr lang="en-US" altLang="en-US" sz="2000">
                  <a:latin typeface="Times New Roman" pitchFamily="18" charset="0"/>
                  <a:cs typeface="Times New Roman" pitchFamily="18" charset="0"/>
                </a:rPr>
                <a:t>2.	Terminate.</a:t>
              </a:r>
            </a:p>
          </p:txBody>
        </p:sp>
        <p:sp>
          <p:nvSpPr>
            <p:cNvPr id="52258" name="Text Box 99"/>
            <p:cNvSpPr txBox="1">
              <a:spLocks noChangeArrowheads="1"/>
            </p:cNvSpPr>
            <p:nvPr/>
          </p:nvSpPr>
          <p:spPr bwMode="auto">
            <a:xfrm>
              <a:off x="1466" y="336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cat</a:t>
              </a:r>
            </a:p>
          </p:txBody>
        </p:sp>
        <p:sp>
          <p:nvSpPr>
            <p:cNvPr id="52259" name="Text Box 100"/>
            <p:cNvSpPr txBox="1">
              <a:spLocks noChangeArrowheads="1"/>
            </p:cNvSpPr>
            <p:nvPr/>
          </p:nvSpPr>
          <p:spPr bwMode="auto">
            <a:xfrm>
              <a:off x="1322" y="3175"/>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52260" name="Text Box 101"/>
            <p:cNvSpPr txBox="1">
              <a:spLocks noChangeArrowheads="1"/>
            </p:cNvSpPr>
            <p:nvPr/>
          </p:nvSpPr>
          <p:spPr bwMode="auto">
            <a:xfrm>
              <a:off x="2040" y="3175"/>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52261" name="Text Box 102"/>
            <p:cNvSpPr txBox="1">
              <a:spLocks noChangeArrowheads="1"/>
            </p:cNvSpPr>
            <p:nvPr/>
          </p:nvSpPr>
          <p:spPr bwMode="auto">
            <a:xfrm>
              <a:off x="2468" y="3175"/>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52262" name="Text Box 103"/>
            <p:cNvSpPr txBox="1">
              <a:spLocks noChangeArrowheads="1"/>
            </p:cNvSpPr>
            <p:nvPr/>
          </p:nvSpPr>
          <p:spPr bwMode="auto">
            <a:xfrm>
              <a:off x="2900" y="3175"/>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52263" name="Text Box 104"/>
            <p:cNvSpPr txBox="1">
              <a:spLocks noChangeArrowheads="1"/>
            </p:cNvSpPr>
            <p:nvPr/>
          </p:nvSpPr>
          <p:spPr bwMode="auto">
            <a:xfrm>
              <a:off x="3332" y="3175"/>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52264" name="Text Box 105"/>
            <p:cNvSpPr txBox="1">
              <a:spLocks noChangeArrowheads="1"/>
            </p:cNvSpPr>
            <p:nvPr/>
          </p:nvSpPr>
          <p:spPr bwMode="auto">
            <a:xfrm>
              <a:off x="3764" y="3175"/>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52265" name="Text Box 106"/>
            <p:cNvSpPr txBox="1">
              <a:spLocks noChangeArrowheads="1"/>
            </p:cNvSpPr>
            <p:nvPr/>
          </p:nvSpPr>
          <p:spPr bwMode="auto">
            <a:xfrm>
              <a:off x="4964" y="3175"/>
              <a:ext cx="6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52266" name="Text Box 107"/>
            <p:cNvSpPr txBox="1">
              <a:spLocks noChangeArrowheads="1"/>
            </p:cNvSpPr>
            <p:nvPr/>
          </p:nvSpPr>
          <p:spPr bwMode="auto">
            <a:xfrm>
              <a:off x="1919" y="336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cow</a:t>
              </a:r>
            </a:p>
          </p:txBody>
        </p:sp>
        <p:sp>
          <p:nvSpPr>
            <p:cNvPr id="52267" name="Text Box 108"/>
            <p:cNvSpPr txBox="1">
              <a:spLocks noChangeArrowheads="1"/>
            </p:cNvSpPr>
            <p:nvPr/>
          </p:nvSpPr>
          <p:spPr bwMode="auto">
            <a:xfrm>
              <a:off x="2351" y="336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52268" name="Text Box 109"/>
            <p:cNvSpPr txBox="1">
              <a:spLocks noChangeArrowheads="1"/>
            </p:cNvSpPr>
            <p:nvPr/>
          </p:nvSpPr>
          <p:spPr bwMode="auto">
            <a:xfrm>
              <a:off x="2783" y="336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52269" name="Text Box 110"/>
            <p:cNvSpPr txBox="1">
              <a:spLocks noChangeArrowheads="1"/>
            </p:cNvSpPr>
            <p:nvPr/>
          </p:nvSpPr>
          <p:spPr bwMode="auto">
            <a:xfrm>
              <a:off x="3215" y="336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52270" name="Text Box 111"/>
            <p:cNvSpPr txBox="1">
              <a:spLocks noChangeArrowheads="1"/>
            </p:cNvSpPr>
            <p:nvPr/>
          </p:nvSpPr>
          <p:spPr bwMode="auto">
            <a:xfrm>
              <a:off x="3647" y="336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52271" name="Text Box 112"/>
            <p:cNvSpPr txBox="1">
              <a:spLocks noChangeArrowheads="1"/>
            </p:cNvSpPr>
            <p:nvPr/>
          </p:nvSpPr>
          <p:spPr bwMode="auto">
            <a:xfrm>
              <a:off x="4079" y="336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52272" name="Text Box 113"/>
            <p:cNvSpPr txBox="1">
              <a:spLocks noChangeArrowheads="1"/>
            </p:cNvSpPr>
            <p:nvPr/>
          </p:nvSpPr>
          <p:spPr bwMode="auto">
            <a:xfrm>
              <a:off x="1274" y="3367"/>
              <a:ext cx="1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52273" name="Text Box 114"/>
            <p:cNvSpPr txBox="1">
              <a:spLocks noChangeArrowheads="1"/>
            </p:cNvSpPr>
            <p:nvPr/>
          </p:nvSpPr>
          <p:spPr bwMode="auto">
            <a:xfrm>
              <a:off x="4511" y="336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52274" name="Text Box 115"/>
            <p:cNvSpPr txBox="1">
              <a:spLocks noChangeArrowheads="1"/>
            </p:cNvSpPr>
            <p:nvPr/>
          </p:nvSpPr>
          <p:spPr bwMode="auto">
            <a:xfrm>
              <a:off x="4943" y="3367"/>
              <a:ext cx="453" cy="227"/>
            </a:xfrm>
            <a:prstGeom prst="rect">
              <a:avLst/>
            </a:prstGeom>
            <a:solidFill>
              <a:schemeClr val="hlink"/>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52275" name="Text Box 116"/>
            <p:cNvSpPr txBox="1">
              <a:spLocks noChangeArrowheads="1"/>
            </p:cNvSpPr>
            <p:nvPr/>
          </p:nvSpPr>
          <p:spPr bwMode="auto">
            <a:xfrm>
              <a:off x="4199" y="3175"/>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52276" name="Text Box 117"/>
            <p:cNvSpPr txBox="1">
              <a:spLocks noChangeArrowheads="1"/>
            </p:cNvSpPr>
            <p:nvPr/>
          </p:nvSpPr>
          <p:spPr bwMode="auto">
            <a:xfrm>
              <a:off x="4634" y="3175"/>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sp>
          <p:nvSpPr>
            <p:cNvPr id="52277" name="Text Box 118"/>
            <p:cNvSpPr txBox="1">
              <a:spLocks noChangeArrowheads="1"/>
            </p:cNvSpPr>
            <p:nvPr/>
          </p:nvSpPr>
          <p:spPr bwMode="auto">
            <a:xfrm>
              <a:off x="4943" y="3799"/>
              <a:ext cx="453" cy="227"/>
            </a:xfrm>
            <a:prstGeom prst="rect">
              <a:avLst/>
            </a:prstGeom>
            <a:solidFill>
              <a:srgbClr val="CCFF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3</a:t>
              </a:r>
            </a:p>
          </p:txBody>
        </p:sp>
        <p:sp>
          <p:nvSpPr>
            <p:cNvPr id="52278" name="Text Box 119"/>
            <p:cNvSpPr txBox="1">
              <a:spLocks noChangeArrowheads="1"/>
            </p:cNvSpPr>
            <p:nvPr/>
          </p:nvSpPr>
          <p:spPr bwMode="auto">
            <a:xfrm>
              <a:off x="4703" y="3799"/>
              <a:ext cx="19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p</a:t>
              </a:r>
            </a:p>
          </p:txBody>
        </p:sp>
      </p:grpSp>
      <p:grpSp>
        <p:nvGrpSpPr>
          <p:cNvPr id="7" name="Group 143"/>
          <p:cNvGrpSpPr>
            <a:grpSpLocks/>
          </p:cNvGrpSpPr>
          <p:nvPr/>
        </p:nvGrpSpPr>
        <p:grpSpPr bwMode="auto">
          <a:xfrm>
            <a:off x="578645" y="2193925"/>
            <a:ext cx="6934200" cy="4114800"/>
            <a:chOff x="1247" y="1496"/>
            <a:chExt cx="4368" cy="2592"/>
          </a:xfrm>
        </p:grpSpPr>
        <p:sp>
          <p:nvSpPr>
            <p:cNvPr id="52235" name="Rectangle 121"/>
            <p:cNvSpPr>
              <a:spLocks noChangeArrowheads="1"/>
            </p:cNvSpPr>
            <p:nvPr/>
          </p:nvSpPr>
          <p:spPr bwMode="auto">
            <a:xfrm>
              <a:off x="1247" y="1496"/>
              <a:ext cx="4368" cy="2592"/>
            </a:xfrm>
            <a:prstGeom prst="rect">
              <a:avLst/>
            </a:prstGeom>
            <a:solidFill>
              <a:schemeClr val="bg1"/>
            </a:solidFill>
            <a:ln w="9525">
              <a:solidFill>
                <a:schemeClr val="tx1"/>
              </a:solidFill>
              <a:miter lim="800000"/>
              <a:headEnd/>
              <a:tailEnd/>
            </a:ln>
          </p:spPr>
          <p:txBody>
            <a:bodyPr wrap="none" anchor="ct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2236" name="Text Box 122"/>
            <p:cNvSpPr txBox="1">
              <a:spLocks noChangeArrowheads="1"/>
            </p:cNvSpPr>
            <p:nvPr/>
          </p:nvSpPr>
          <p:spPr bwMode="auto">
            <a:xfrm>
              <a:off x="1295" y="1534"/>
              <a:ext cx="3888" cy="1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tabLst>
                  <a:tab pos="381000" algn="l"/>
                  <a:tab pos="952500" algn="l"/>
                  <a:tab pos="1714500" algn="l"/>
                </a:tabLst>
                <a:defRPr sz="2400">
                  <a:solidFill>
                    <a:schemeClr val="tx1"/>
                  </a:solidFill>
                  <a:latin typeface="Arial" charset="0"/>
                </a:defRPr>
              </a:lvl1pPr>
              <a:lvl2pPr marL="742950" indent="-285750" eaLnBrk="0" hangingPunct="0">
                <a:spcBef>
                  <a:spcPct val="50000"/>
                </a:spcBef>
                <a:buClr>
                  <a:schemeClr val="bg2"/>
                </a:buClr>
                <a:buChar char="–"/>
                <a:tabLst>
                  <a:tab pos="381000" algn="l"/>
                  <a:tab pos="952500" algn="l"/>
                  <a:tab pos="1714500" algn="l"/>
                </a:tabLst>
                <a:defRPr sz="2000">
                  <a:solidFill>
                    <a:schemeClr val="tx1"/>
                  </a:solidFill>
                  <a:latin typeface="Arial" charset="0"/>
                </a:defRPr>
              </a:lvl2pPr>
              <a:lvl3pPr marL="1143000" indent="-228600" eaLnBrk="0" hangingPunct="0">
                <a:spcBef>
                  <a:spcPct val="50000"/>
                </a:spcBef>
                <a:buClr>
                  <a:schemeClr val="bg2"/>
                </a:buClr>
                <a:buChar char="•"/>
                <a:tabLst>
                  <a:tab pos="381000" algn="l"/>
                  <a:tab pos="952500" algn="l"/>
                  <a:tab pos="1714500" algn="l"/>
                </a:tabLst>
                <a:defRPr>
                  <a:solidFill>
                    <a:schemeClr val="tx1"/>
                  </a:solidFill>
                  <a:latin typeface="Arial" charset="0"/>
                </a:defRPr>
              </a:lvl3pPr>
              <a:lvl4pPr marL="16002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4pPr>
              <a:lvl5pPr marL="2057400" indent="-228600" eaLnBrk="0" hangingPunct="0">
                <a:spcBef>
                  <a:spcPct val="50000"/>
                </a:spcBef>
                <a:buClr>
                  <a:schemeClr val="bg2"/>
                </a:buClr>
                <a:buChar char="»"/>
                <a:tabLst>
                  <a:tab pos="381000" algn="l"/>
                  <a:tab pos="952500" algn="l"/>
                  <a:tab pos="1714500" algn="l"/>
                </a:tabLst>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tabLst>
                  <a:tab pos="381000" algn="l"/>
                  <a:tab pos="952500" algn="l"/>
                  <a:tab pos="1714500" algn="l"/>
                </a:tabLst>
                <a:defRPr sz="1600">
                  <a:solidFill>
                    <a:schemeClr val="tx1"/>
                  </a:solidFill>
                  <a:latin typeface="Arial" charset="0"/>
                </a:defRPr>
              </a:lvl9pPr>
            </a:lstStyle>
            <a:p>
              <a:pPr>
                <a:spcBef>
                  <a:spcPts val="1800"/>
                </a:spcBef>
                <a:buClrTx/>
                <a:buFontTx/>
                <a:buNone/>
              </a:pPr>
              <a:r>
                <a:rPr lang="en-US" altLang="en-US" sz="2000" dirty="0">
                  <a:latin typeface="Times New Roman" pitchFamily="18" charset="0"/>
                </a:rPr>
                <a:t>To sort </a:t>
              </a:r>
              <a:r>
                <a:rPr lang="en-US" altLang="en-US" sz="2000" i="1" dirty="0">
                  <a:latin typeface="Times New Roman" pitchFamily="18" charset="0"/>
                </a:rPr>
                <a:t>a</a:t>
              </a:r>
              <a:r>
                <a:rPr lang="en-US" altLang="en-US" sz="2000" dirty="0">
                  <a:latin typeface="Times New Roman" pitchFamily="18" charset="0"/>
                </a:rPr>
                <a:t>[</a:t>
              </a:r>
              <a:r>
                <a:rPr lang="en-US" altLang="en-US" sz="2000" i="1" dirty="0">
                  <a:latin typeface="Times New Roman" pitchFamily="18" charset="0"/>
                </a:rPr>
                <a:t>left</a:t>
              </a:r>
              <a:r>
                <a:rPr lang="en-US" altLang="en-US" sz="2000" dirty="0">
                  <a:latin typeface="Times New Roman" pitchFamily="18" charset="0"/>
                </a:rPr>
                <a:t>…</a:t>
              </a:r>
              <a:r>
                <a:rPr lang="en-US" altLang="en-US" sz="2000" i="1" dirty="0">
                  <a:latin typeface="Times New Roman" pitchFamily="18" charset="0"/>
                </a:rPr>
                <a:t>right</a:t>
              </a:r>
              <a:r>
                <a:rPr lang="en-US" altLang="en-US" sz="2000" dirty="0">
                  <a:latin typeface="Times New Roman" pitchFamily="18" charset="0"/>
                </a:rPr>
                <a:t>] into ascending order:</a:t>
              </a:r>
              <a:br>
                <a:rPr lang="en-US" altLang="en-US" sz="2000" dirty="0">
                  <a:latin typeface="Times New Roman" pitchFamily="18" charset="0"/>
                </a:rPr>
              </a:br>
              <a:r>
                <a:rPr lang="en-US" altLang="en-US" sz="2000" dirty="0">
                  <a:latin typeface="Times New Roman" pitchFamily="18" charset="0"/>
                  <a:cs typeface="Times New Roman" pitchFamily="18" charset="0"/>
                </a:rPr>
                <a:t>1.	If </a:t>
              </a:r>
              <a:r>
                <a:rPr lang="en-US" altLang="en-US" sz="2000" i="1" dirty="0">
                  <a:latin typeface="Times New Roman" pitchFamily="18" charset="0"/>
                  <a:cs typeface="Times New Roman" pitchFamily="18" charset="0"/>
                </a:rPr>
                <a:t>left</a:t>
              </a:r>
              <a:r>
                <a:rPr lang="en-US" altLang="en-US" sz="2000" dirty="0">
                  <a:latin typeface="Times New Roman" pitchFamily="18" charset="0"/>
                  <a:cs typeface="Times New Roman" pitchFamily="18" charset="0"/>
                </a:rPr>
                <a:t> &lt; </a:t>
              </a:r>
              <a:r>
                <a:rPr lang="en-US" altLang="en-US" sz="2000" i="1" dirty="0">
                  <a:latin typeface="Times New Roman" pitchFamily="18" charset="0"/>
                  <a:cs typeface="Times New Roman" pitchFamily="18" charset="0"/>
                </a:rPr>
                <a:t>right</a:t>
              </a:r>
              <a:r>
                <a:rPr lang="en-US" altLang="en-US" sz="2000" dirty="0">
                  <a:latin typeface="Times New Roman" pitchFamily="18" charset="0"/>
                  <a:cs typeface="Times New Roman" pitchFamily="18" charset="0"/>
                </a:rPr>
                <a:t>:</a:t>
              </a:r>
              <a:br>
                <a:rPr lang="en-US" altLang="en-US" sz="2000" dirty="0">
                  <a:latin typeface="Times New Roman" pitchFamily="18" charset="0"/>
                  <a:cs typeface="Times New Roman" pitchFamily="18" charset="0"/>
                </a:rPr>
              </a:br>
              <a:r>
                <a:rPr lang="en-US" altLang="en-US" sz="2000" dirty="0">
                  <a:latin typeface="Times New Roman" pitchFamily="18" charset="0"/>
                  <a:cs typeface="Times New Roman" pitchFamily="18" charset="0"/>
                </a:rPr>
                <a:t>	1.1.	Partition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left</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right</a:t>
              </a:r>
              <a:r>
                <a:rPr lang="en-US" altLang="en-US" sz="2000" dirty="0">
                  <a:latin typeface="Times New Roman" pitchFamily="18" charset="0"/>
                  <a:cs typeface="Times New Roman" pitchFamily="18" charset="0"/>
                </a:rPr>
                <a:t>] such that </a:t>
              </a:r>
              <a:br>
                <a:rPr lang="en-US" altLang="en-US" sz="2000" dirty="0">
                  <a:latin typeface="Times New Roman" pitchFamily="18" charset="0"/>
                  <a:cs typeface="Times New Roman" pitchFamily="18" charset="0"/>
                </a:rPr>
              </a:br>
              <a:r>
                <a:rPr lang="en-US" altLang="en-US" sz="2000" dirty="0">
                  <a:latin typeface="Times New Roman" pitchFamily="18" charset="0"/>
                  <a:cs typeface="Times New Roman" pitchFamily="18" charset="0"/>
                </a:rPr>
                <a:t>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left</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p</a:t>
              </a:r>
              <a:r>
                <a:rPr lang="en-US" altLang="en-US" sz="2000" dirty="0">
                  <a:latin typeface="Times New Roman" pitchFamily="18" charset="0"/>
                  <a:cs typeface="Times New Roman" pitchFamily="18" charset="0"/>
                </a:rPr>
                <a:t>–1] are all less than or equal to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p</a:t>
              </a:r>
              <a:r>
                <a:rPr lang="en-US" altLang="en-US" sz="2000" dirty="0">
                  <a:latin typeface="Times New Roman" pitchFamily="18" charset="0"/>
                  <a:cs typeface="Times New Roman" pitchFamily="18" charset="0"/>
                </a:rPr>
                <a:t>], and </a:t>
              </a:r>
              <a:br>
                <a:rPr lang="en-US" altLang="en-US" sz="2000" dirty="0">
                  <a:latin typeface="Times New Roman" pitchFamily="18" charset="0"/>
                  <a:cs typeface="Times New Roman" pitchFamily="18" charset="0"/>
                </a:rPr>
              </a:br>
              <a:r>
                <a:rPr lang="en-US" altLang="en-US" sz="2000" dirty="0">
                  <a:latin typeface="Times New Roman" pitchFamily="18" charset="0"/>
                  <a:cs typeface="Times New Roman" pitchFamily="18" charset="0"/>
                </a:rPr>
                <a:t>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p</a:t>
              </a:r>
              <a:r>
                <a:rPr lang="en-US" altLang="en-US" sz="2000" dirty="0">
                  <a:latin typeface="Times New Roman" pitchFamily="18" charset="0"/>
                  <a:cs typeface="Times New Roman" pitchFamily="18" charset="0"/>
                </a:rPr>
                <a:t>+1…</a:t>
              </a:r>
              <a:r>
                <a:rPr lang="en-US" altLang="en-US" sz="2000" i="1" dirty="0">
                  <a:latin typeface="Times New Roman" pitchFamily="18" charset="0"/>
                  <a:cs typeface="Times New Roman" pitchFamily="18" charset="0"/>
                </a:rPr>
                <a:t>right</a:t>
              </a:r>
              <a:r>
                <a:rPr lang="en-US" altLang="en-US" sz="2000" dirty="0">
                  <a:latin typeface="Times New Roman" pitchFamily="18" charset="0"/>
                  <a:cs typeface="Times New Roman" pitchFamily="18" charset="0"/>
                </a:rPr>
                <a:t>] are all greater than or equal to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p</a:t>
              </a:r>
              <a:r>
                <a:rPr lang="en-US" altLang="en-US" sz="2000" dirty="0">
                  <a:latin typeface="Times New Roman" pitchFamily="18" charset="0"/>
                  <a:cs typeface="Times New Roman" pitchFamily="18" charset="0"/>
                </a:rPr>
                <a:t>].</a:t>
              </a:r>
              <a:br>
                <a:rPr lang="en-US" altLang="en-US" sz="2000" dirty="0">
                  <a:latin typeface="Times New Roman" pitchFamily="18" charset="0"/>
                  <a:cs typeface="Times New Roman" pitchFamily="18" charset="0"/>
                </a:rPr>
              </a:br>
              <a:r>
                <a:rPr lang="en-US" altLang="en-US" sz="2000" dirty="0">
                  <a:latin typeface="Times New Roman" pitchFamily="18" charset="0"/>
                  <a:cs typeface="Times New Roman" pitchFamily="18" charset="0"/>
                </a:rPr>
                <a:t>	1.2.	Sort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left</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p</a:t>
              </a:r>
              <a:r>
                <a:rPr lang="en-US" altLang="en-US" sz="2000" dirty="0">
                  <a:latin typeface="Times New Roman" pitchFamily="18" charset="0"/>
                  <a:cs typeface="Times New Roman" pitchFamily="18" charset="0"/>
                </a:rPr>
                <a:t>–1] into ascending order.</a:t>
              </a:r>
              <a:br>
                <a:rPr lang="en-US" altLang="en-US" sz="2000" dirty="0">
                  <a:latin typeface="Times New Roman" pitchFamily="18" charset="0"/>
                  <a:cs typeface="Times New Roman" pitchFamily="18" charset="0"/>
                </a:rPr>
              </a:br>
              <a:r>
                <a:rPr lang="en-US" altLang="en-US" sz="2000" dirty="0">
                  <a:latin typeface="Times New Roman" pitchFamily="18" charset="0"/>
                  <a:cs typeface="Times New Roman" pitchFamily="18" charset="0"/>
                </a:rPr>
                <a:t>	1.3.	Sort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p</a:t>
              </a:r>
              <a:r>
                <a:rPr lang="en-US" altLang="en-US" sz="2000" dirty="0">
                  <a:latin typeface="Times New Roman" pitchFamily="18" charset="0"/>
                  <a:cs typeface="Times New Roman" pitchFamily="18" charset="0"/>
                </a:rPr>
                <a:t>+1…</a:t>
              </a:r>
              <a:r>
                <a:rPr lang="en-US" altLang="en-US" sz="2000" i="1" dirty="0">
                  <a:latin typeface="Times New Roman" pitchFamily="18" charset="0"/>
                  <a:cs typeface="Times New Roman" pitchFamily="18" charset="0"/>
                </a:rPr>
                <a:t>right</a:t>
              </a:r>
              <a:r>
                <a:rPr lang="en-US" altLang="en-US" sz="2000" dirty="0">
                  <a:latin typeface="Times New Roman" pitchFamily="18" charset="0"/>
                  <a:cs typeface="Times New Roman" pitchFamily="18" charset="0"/>
                </a:rPr>
                <a:t>] into ascending order.</a:t>
              </a:r>
              <a:br>
                <a:rPr lang="en-US" altLang="en-US" sz="2000" dirty="0">
                  <a:latin typeface="Times New Roman" pitchFamily="18" charset="0"/>
                  <a:cs typeface="Times New Roman" pitchFamily="18" charset="0"/>
                </a:rPr>
              </a:br>
              <a:r>
                <a:rPr lang="en-US" altLang="en-US" sz="2000" dirty="0">
                  <a:latin typeface="Times New Roman" pitchFamily="18" charset="0"/>
                  <a:cs typeface="Times New Roman" pitchFamily="18" charset="0"/>
                </a:rPr>
                <a:t>2.	</a:t>
              </a:r>
              <a:r>
                <a:rPr lang="en-US" altLang="en-US" sz="2000" dirty="0">
                  <a:solidFill>
                    <a:srgbClr val="FF5050"/>
                  </a:solidFill>
                  <a:latin typeface="Times New Roman" pitchFamily="18" charset="0"/>
                  <a:cs typeface="Times New Roman" pitchFamily="18" charset="0"/>
                </a:rPr>
                <a:t>Terminate.</a:t>
              </a:r>
            </a:p>
          </p:txBody>
        </p:sp>
        <p:sp>
          <p:nvSpPr>
            <p:cNvPr id="52237" name="Text Box 123"/>
            <p:cNvSpPr txBox="1">
              <a:spLocks noChangeArrowheads="1"/>
            </p:cNvSpPr>
            <p:nvPr/>
          </p:nvSpPr>
          <p:spPr bwMode="auto">
            <a:xfrm>
              <a:off x="1466" y="3368"/>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dirty="0">
                  <a:latin typeface="Times New Roman" pitchFamily="18" charset="0"/>
                </a:rPr>
                <a:t>cat</a:t>
              </a:r>
            </a:p>
          </p:txBody>
        </p:sp>
        <p:sp>
          <p:nvSpPr>
            <p:cNvPr id="52238" name="Text Box 124"/>
            <p:cNvSpPr txBox="1">
              <a:spLocks noChangeArrowheads="1"/>
            </p:cNvSpPr>
            <p:nvPr/>
          </p:nvSpPr>
          <p:spPr bwMode="auto">
            <a:xfrm>
              <a:off x="1322" y="3176"/>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latin typeface="Times New Roman" pitchFamily="18" charset="0"/>
                </a:rPr>
                <a:t>left </a:t>
              </a:r>
              <a:r>
                <a:rPr lang="en-US" altLang="en-US" sz="1800">
                  <a:latin typeface="Times New Roman" pitchFamily="18" charset="0"/>
                </a:rPr>
                <a:t>= 0</a:t>
              </a:r>
            </a:p>
          </p:txBody>
        </p:sp>
        <p:sp>
          <p:nvSpPr>
            <p:cNvPr id="52239" name="Text Box 125"/>
            <p:cNvSpPr txBox="1">
              <a:spLocks noChangeArrowheads="1"/>
            </p:cNvSpPr>
            <p:nvPr/>
          </p:nvSpPr>
          <p:spPr bwMode="auto">
            <a:xfrm>
              <a:off x="2040" y="3176"/>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1</a:t>
              </a:r>
            </a:p>
          </p:txBody>
        </p:sp>
        <p:sp>
          <p:nvSpPr>
            <p:cNvPr id="52240" name="Text Box 126"/>
            <p:cNvSpPr txBox="1">
              <a:spLocks noChangeArrowheads="1"/>
            </p:cNvSpPr>
            <p:nvPr/>
          </p:nvSpPr>
          <p:spPr bwMode="auto">
            <a:xfrm>
              <a:off x="2468" y="3176"/>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2</a:t>
              </a:r>
            </a:p>
          </p:txBody>
        </p:sp>
        <p:sp>
          <p:nvSpPr>
            <p:cNvPr id="52241" name="Text Box 127"/>
            <p:cNvSpPr txBox="1">
              <a:spLocks noChangeArrowheads="1"/>
            </p:cNvSpPr>
            <p:nvPr/>
          </p:nvSpPr>
          <p:spPr bwMode="auto">
            <a:xfrm>
              <a:off x="2900" y="3176"/>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3</a:t>
              </a:r>
            </a:p>
          </p:txBody>
        </p:sp>
        <p:sp>
          <p:nvSpPr>
            <p:cNvPr id="52242" name="Text Box 128"/>
            <p:cNvSpPr txBox="1">
              <a:spLocks noChangeArrowheads="1"/>
            </p:cNvSpPr>
            <p:nvPr/>
          </p:nvSpPr>
          <p:spPr bwMode="auto">
            <a:xfrm>
              <a:off x="3332" y="3176"/>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4</a:t>
              </a:r>
            </a:p>
          </p:txBody>
        </p:sp>
        <p:sp>
          <p:nvSpPr>
            <p:cNvPr id="52243" name="Text Box 129"/>
            <p:cNvSpPr txBox="1">
              <a:spLocks noChangeArrowheads="1"/>
            </p:cNvSpPr>
            <p:nvPr/>
          </p:nvSpPr>
          <p:spPr bwMode="auto">
            <a:xfrm>
              <a:off x="3764" y="3176"/>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5</a:t>
              </a:r>
            </a:p>
          </p:txBody>
        </p:sp>
        <p:sp>
          <p:nvSpPr>
            <p:cNvPr id="52244" name="Text Box 130"/>
            <p:cNvSpPr txBox="1">
              <a:spLocks noChangeArrowheads="1"/>
            </p:cNvSpPr>
            <p:nvPr/>
          </p:nvSpPr>
          <p:spPr bwMode="auto">
            <a:xfrm>
              <a:off x="4964" y="3176"/>
              <a:ext cx="62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8 = </a:t>
              </a:r>
              <a:r>
                <a:rPr lang="en-US" altLang="en-US" sz="1800" i="1">
                  <a:latin typeface="Times New Roman" pitchFamily="18" charset="0"/>
                </a:rPr>
                <a:t>right</a:t>
              </a:r>
              <a:endParaRPr lang="en-US" altLang="en-US" sz="1800">
                <a:latin typeface="Times New Roman" pitchFamily="18" charset="0"/>
              </a:endParaRPr>
            </a:p>
          </p:txBody>
        </p:sp>
        <p:sp>
          <p:nvSpPr>
            <p:cNvPr id="52245" name="Text Box 131"/>
            <p:cNvSpPr txBox="1">
              <a:spLocks noChangeArrowheads="1"/>
            </p:cNvSpPr>
            <p:nvPr/>
          </p:nvSpPr>
          <p:spPr bwMode="auto">
            <a:xfrm>
              <a:off x="1919" y="3368"/>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dirty="0">
                  <a:latin typeface="Times New Roman" pitchFamily="18" charset="0"/>
                </a:rPr>
                <a:t>cow</a:t>
              </a:r>
            </a:p>
          </p:txBody>
        </p:sp>
        <p:sp>
          <p:nvSpPr>
            <p:cNvPr id="52246" name="Text Box 132"/>
            <p:cNvSpPr txBox="1">
              <a:spLocks noChangeArrowheads="1"/>
            </p:cNvSpPr>
            <p:nvPr/>
          </p:nvSpPr>
          <p:spPr bwMode="auto">
            <a:xfrm>
              <a:off x="2351" y="3368"/>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dog</a:t>
              </a:r>
            </a:p>
          </p:txBody>
        </p:sp>
        <p:sp>
          <p:nvSpPr>
            <p:cNvPr id="52247" name="Text Box 133"/>
            <p:cNvSpPr txBox="1">
              <a:spLocks noChangeArrowheads="1"/>
            </p:cNvSpPr>
            <p:nvPr/>
          </p:nvSpPr>
          <p:spPr bwMode="auto">
            <a:xfrm>
              <a:off x="2783" y="3368"/>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fox</a:t>
              </a:r>
            </a:p>
          </p:txBody>
        </p:sp>
        <p:sp>
          <p:nvSpPr>
            <p:cNvPr id="52248" name="Text Box 134"/>
            <p:cNvSpPr txBox="1">
              <a:spLocks noChangeArrowheads="1"/>
            </p:cNvSpPr>
            <p:nvPr/>
          </p:nvSpPr>
          <p:spPr bwMode="auto">
            <a:xfrm>
              <a:off x="3215" y="3368"/>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goat</a:t>
              </a:r>
            </a:p>
          </p:txBody>
        </p:sp>
        <p:sp>
          <p:nvSpPr>
            <p:cNvPr id="52249" name="Text Box 135"/>
            <p:cNvSpPr txBox="1">
              <a:spLocks noChangeArrowheads="1"/>
            </p:cNvSpPr>
            <p:nvPr/>
          </p:nvSpPr>
          <p:spPr bwMode="auto">
            <a:xfrm>
              <a:off x="3647" y="3368"/>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lion</a:t>
              </a:r>
            </a:p>
          </p:txBody>
        </p:sp>
        <p:sp>
          <p:nvSpPr>
            <p:cNvPr id="52250" name="Text Box 136"/>
            <p:cNvSpPr txBox="1">
              <a:spLocks noChangeArrowheads="1"/>
            </p:cNvSpPr>
            <p:nvPr/>
          </p:nvSpPr>
          <p:spPr bwMode="auto">
            <a:xfrm>
              <a:off x="4079" y="3368"/>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pig</a:t>
              </a:r>
            </a:p>
          </p:txBody>
        </p:sp>
        <p:sp>
          <p:nvSpPr>
            <p:cNvPr id="52251" name="Text Box 137"/>
            <p:cNvSpPr txBox="1">
              <a:spLocks noChangeArrowheads="1"/>
            </p:cNvSpPr>
            <p:nvPr/>
          </p:nvSpPr>
          <p:spPr bwMode="auto">
            <a:xfrm>
              <a:off x="1274" y="3368"/>
              <a:ext cx="14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r">
                <a:spcBef>
                  <a:spcPct val="0"/>
                </a:spcBef>
                <a:buClrTx/>
                <a:buFontTx/>
                <a:buNone/>
              </a:pPr>
              <a:r>
                <a:rPr lang="en-US" altLang="en-US" sz="2000" i="1">
                  <a:latin typeface="Times New Roman" pitchFamily="18" charset="0"/>
                </a:rPr>
                <a:t>a</a:t>
              </a:r>
            </a:p>
          </p:txBody>
        </p:sp>
        <p:sp>
          <p:nvSpPr>
            <p:cNvPr id="52252" name="Text Box 138"/>
            <p:cNvSpPr txBox="1">
              <a:spLocks noChangeArrowheads="1"/>
            </p:cNvSpPr>
            <p:nvPr/>
          </p:nvSpPr>
          <p:spPr bwMode="auto">
            <a:xfrm>
              <a:off x="4511" y="3368"/>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rat</a:t>
              </a:r>
            </a:p>
          </p:txBody>
        </p:sp>
        <p:sp>
          <p:nvSpPr>
            <p:cNvPr id="52253" name="Text Box 139"/>
            <p:cNvSpPr txBox="1">
              <a:spLocks noChangeArrowheads="1"/>
            </p:cNvSpPr>
            <p:nvPr/>
          </p:nvSpPr>
          <p:spPr bwMode="auto">
            <a:xfrm>
              <a:off x="4943" y="3368"/>
              <a:ext cx="453" cy="227"/>
            </a:xfrm>
            <a:prstGeom prst="rect">
              <a:avLst/>
            </a:prstGeom>
            <a:solidFill>
              <a:srgbClr val="0099FF"/>
            </a:solidFill>
            <a:ln w="9525">
              <a:solidFill>
                <a:schemeClr val="tx1"/>
              </a:solidFill>
              <a:miter lim="800000"/>
              <a:headEnd/>
              <a:tailEnd/>
            </a:ln>
          </p:spPr>
          <p:txBody>
            <a:bodyPr wrap="none" lIns="45720" tIns="36576" rIns="45720" bIns="36576"/>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2000">
                  <a:latin typeface="Times New Roman" pitchFamily="18" charset="0"/>
                </a:rPr>
                <a:t>tiger</a:t>
              </a:r>
            </a:p>
          </p:txBody>
        </p:sp>
        <p:sp>
          <p:nvSpPr>
            <p:cNvPr id="52254" name="Text Box 140"/>
            <p:cNvSpPr txBox="1">
              <a:spLocks noChangeArrowheads="1"/>
            </p:cNvSpPr>
            <p:nvPr/>
          </p:nvSpPr>
          <p:spPr bwMode="auto">
            <a:xfrm>
              <a:off x="4199" y="3176"/>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6</a:t>
              </a:r>
            </a:p>
          </p:txBody>
        </p:sp>
        <p:sp>
          <p:nvSpPr>
            <p:cNvPr id="52255" name="Text Box 141"/>
            <p:cNvSpPr txBox="1">
              <a:spLocks noChangeArrowheads="1"/>
            </p:cNvSpPr>
            <p:nvPr/>
          </p:nvSpPr>
          <p:spPr bwMode="auto">
            <a:xfrm>
              <a:off x="4634" y="3176"/>
              <a:ext cx="18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a:latin typeface="Times New Roman" pitchFamily="18" charset="0"/>
                </a:rPr>
                <a:t>7</a:t>
              </a:r>
            </a:p>
          </p:txBody>
        </p:sp>
      </p:grpSp>
      <p:sp>
        <p:nvSpPr>
          <p:cNvPr id="457870" name="AutoShape 142"/>
          <p:cNvSpPr>
            <a:spLocks/>
          </p:cNvSpPr>
          <p:nvPr/>
        </p:nvSpPr>
        <p:spPr bwMode="auto">
          <a:xfrm>
            <a:off x="3733007" y="1412875"/>
            <a:ext cx="3852863" cy="684213"/>
          </a:xfrm>
          <a:prstGeom prst="callout1">
            <a:avLst>
              <a:gd name="adj1" fmla="val 16704"/>
              <a:gd name="adj2" fmla="val -1977"/>
              <a:gd name="adj3" fmla="val 222736"/>
              <a:gd name="adj4" fmla="val -31727"/>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lnSpc>
                <a:spcPts val="1800"/>
              </a:lnSpc>
              <a:spcBef>
                <a:spcPct val="0"/>
              </a:spcBef>
              <a:buClrTx/>
              <a:buFontTx/>
              <a:buNone/>
            </a:pPr>
            <a:r>
              <a:rPr lang="en-US" altLang="en-US" sz="1800" dirty="0">
                <a:solidFill>
                  <a:schemeClr val="accent1">
                    <a:lumMod val="50000"/>
                  </a:schemeClr>
                </a:solidFill>
              </a:rPr>
              <a:t>Assume this takes </a:t>
            </a:r>
            <a:r>
              <a:rPr lang="en-US" altLang="en-US" sz="1800" i="1" dirty="0">
                <a:solidFill>
                  <a:schemeClr val="accent1">
                    <a:lumMod val="50000"/>
                  </a:schemeClr>
                </a:solidFill>
              </a:rPr>
              <a:t>a</a:t>
            </a:r>
            <a:r>
              <a:rPr lang="en-US" altLang="en-US" sz="1800" dirty="0">
                <a:solidFill>
                  <a:schemeClr val="accent1">
                    <a:lumMod val="50000"/>
                  </a:schemeClr>
                </a:solidFill>
              </a:rPr>
              <a:t>[</a:t>
            </a:r>
            <a:r>
              <a:rPr lang="en-US" altLang="en-US" sz="1800" i="1" dirty="0">
                <a:solidFill>
                  <a:schemeClr val="accent1">
                    <a:lumMod val="50000"/>
                  </a:schemeClr>
                </a:solidFill>
              </a:rPr>
              <a:t>left</a:t>
            </a:r>
            <a:r>
              <a:rPr lang="en-US" altLang="en-US" sz="1800" dirty="0">
                <a:solidFill>
                  <a:schemeClr val="accent1">
                    <a:lumMod val="50000"/>
                  </a:schemeClr>
                </a:solidFill>
              </a:rPr>
              <a:t>] as the pivot, and doesn’t reorder the elements put into the left or right </a:t>
            </a:r>
            <a:r>
              <a:rPr lang="en-US" altLang="en-US" sz="1800" dirty="0" err="1">
                <a:solidFill>
                  <a:schemeClr val="accent1">
                    <a:lumMod val="50000"/>
                  </a:schemeClr>
                </a:solidFill>
              </a:rPr>
              <a:t>subarray</a:t>
            </a:r>
            <a:r>
              <a:rPr lang="en-US" altLang="en-US" sz="1800" dirty="0">
                <a:solidFill>
                  <a:schemeClr val="accent1">
                    <a:lumMod val="50000"/>
                  </a:schemeClr>
                </a:solidFill>
              </a:rPr>
              <a:t>.</a:t>
            </a:r>
          </a:p>
        </p:txBody>
      </p:sp>
      <p:sp>
        <p:nvSpPr>
          <p:cNvPr id="8" name="Slide Number Placeholder 7"/>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4847478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787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87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Freeform 50"/>
          <p:cNvSpPr/>
          <p:nvPr/>
        </p:nvSpPr>
        <p:spPr>
          <a:xfrm>
            <a:off x="139396" y="2000250"/>
            <a:ext cx="9033179" cy="2614613"/>
          </a:xfrm>
          <a:custGeom>
            <a:avLst/>
            <a:gdLst>
              <a:gd name="connsiteX0" fmla="*/ 3479 w 9033179"/>
              <a:gd name="connsiteY0" fmla="*/ 1457325 h 2614613"/>
              <a:gd name="connsiteX1" fmla="*/ 17767 w 9033179"/>
              <a:gd name="connsiteY1" fmla="*/ 1214438 h 2614613"/>
              <a:gd name="connsiteX2" fmla="*/ 46342 w 9033179"/>
              <a:gd name="connsiteY2" fmla="*/ 1171575 h 2614613"/>
              <a:gd name="connsiteX3" fmla="*/ 132067 w 9033179"/>
              <a:gd name="connsiteY3" fmla="*/ 1114425 h 2614613"/>
              <a:gd name="connsiteX4" fmla="*/ 160642 w 9033179"/>
              <a:gd name="connsiteY4" fmla="*/ 1071563 h 2614613"/>
              <a:gd name="connsiteX5" fmla="*/ 203504 w 9033179"/>
              <a:gd name="connsiteY5" fmla="*/ 1057275 h 2614613"/>
              <a:gd name="connsiteX6" fmla="*/ 289229 w 9033179"/>
              <a:gd name="connsiteY6" fmla="*/ 1014413 h 2614613"/>
              <a:gd name="connsiteX7" fmla="*/ 332092 w 9033179"/>
              <a:gd name="connsiteY7" fmla="*/ 985838 h 2614613"/>
              <a:gd name="connsiteX8" fmla="*/ 489254 w 9033179"/>
              <a:gd name="connsiteY8" fmla="*/ 957263 h 2614613"/>
              <a:gd name="connsiteX9" fmla="*/ 546404 w 9033179"/>
              <a:gd name="connsiteY9" fmla="*/ 942975 h 2614613"/>
              <a:gd name="connsiteX10" fmla="*/ 1589392 w 9033179"/>
              <a:gd name="connsiteY10" fmla="*/ 928688 h 2614613"/>
              <a:gd name="connsiteX11" fmla="*/ 2575229 w 9033179"/>
              <a:gd name="connsiteY11" fmla="*/ 942975 h 2614613"/>
              <a:gd name="connsiteX12" fmla="*/ 2660954 w 9033179"/>
              <a:gd name="connsiteY12" fmla="*/ 957263 h 2614613"/>
              <a:gd name="connsiteX13" fmla="*/ 3132442 w 9033179"/>
              <a:gd name="connsiteY13" fmla="*/ 942975 h 2614613"/>
              <a:gd name="connsiteX14" fmla="*/ 3246742 w 9033179"/>
              <a:gd name="connsiteY14" fmla="*/ 914400 h 2614613"/>
              <a:gd name="connsiteX15" fmla="*/ 3289604 w 9033179"/>
              <a:gd name="connsiteY15" fmla="*/ 885825 h 2614613"/>
              <a:gd name="connsiteX16" fmla="*/ 3375329 w 9033179"/>
              <a:gd name="connsiteY16" fmla="*/ 814388 h 2614613"/>
              <a:gd name="connsiteX17" fmla="*/ 3403904 w 9033179"/>
              <a:gd name="connsiteY17" fmla="*/ 771525 h 2614613"/>
              <a:gd name="connsiteX18" fmla="*/ 3446767 w 9033179"/>
              <a:gd name="connsiteY18" fmla="*/ 685800 h 2614613"/>
              <a:gd name="connsiteX19" fmla="*/ 3503917 w 9033179"/>
              <a:gd name="connsiteY19" fmla="*/ 557213 h 2614613"/>
              <a:gd name="connsiteX20" fmla="*/ 3546779 w 9033179"/>
              <a:gd name="connsiteY20" fmla="*/ 471488 h 2614613"/>
              <a:gd name="connsiteX21" fmla="*/ 3589642 w 9033179"/>
              <a:gd name="connsiteY21" fmla="*/ 385763 h 2614613"/>
              <a:gd name="connsiteX22" fmla="*/ 3661079 w 9033179"/>
              <a:gd name="connsiteY22" fmla="*/ 257175 h 2614613"/>
              <a:gd name="connsiteX23" fmla="*/ 3703942 w 9033179"/>
              <a:gd name="connsiteY23" fmla="*/ 171450 h 2614613"/>
              <a:gd name="connsiteX24" fmla="*/ 3746804 w 9033179"/>
              <a:gd name="connsiteY24" fmla="*/ 157163 h 2614613"/>
              <a:gd name="connsiteX25" fmla="*/ 3775379 w 9033179"/>
              <a:gd name="connsiteY25" fmla="*/ 114300 h 2614613"/>
              <a:gd name="connsiteX26" fmla="*/ 3861104 w 9033179"/>
              <a:gd name="connsiteY26" fmla="*/ 85725 h 2614613"/>
              <a:gd name="connsiteX27" fmla="*/ 3903967 w 9033179"/>
              <a:gd name="connsiteY27" fmla="*/ 71438 h 2614613"/>
              <a:gd name="connsiteX28" fmla="*/ 3946829 w 9033179"/>
              <a:gd name="connsiteY28" fmla="*/ 57150 h 2614613"/>
              <a:gd name="connsiteX29" fmla="*/ 4003979 w 9033179"/>
              <a:gd name="connsiteY29" fmla="*/ 42863 h 2614613"/>
              <a:gd name="connsiteX30" fmla="*/ 4146854 w 9033179"/>
              <a:gd name="connsiteY30" fmla="*/ 0 h 2614613"/>
              <a:gd name="connsiteX31" fmla="*/ 4389742 w 9033179"/>
              <a:gd name="connsiteY31" fmla="*/ 42863 h 2614613"/>
              <a:gd name="connsiteX32" fmla="*/ 4432604 w 9033179"/>
              <a:gd name="connsiteY32" fmla="*/ 57150 h 2614613"/>
              <a:gd name="connsiteX33" fmla="*/ 4475467 w 9033179"/>
              <a:gd name="connsiteY33" fmla="*/ 71438 h 2614613"/>
              <a:gd name="connsiteX34" fmla="*/ 4546904 w 9033179"/>
              <a:gd name="connsiteY34" fmla="*/ 214313 h 2614613"/>
              <a:gd name="connsiteX35" fmla="*/ 4546904 w 9033179"/>
              <a:gd name="connsiteY35" fmla="*/ 971550 h 2614613"/>
              <a:gd name="connsiteX36" fmla="*/ 4518329 w 9033179"/>
              <a:gd name="connsiteY36" fmla="*/ 1143000 h 2614613"/>
              <a:gd name="connsiteX37" fmla="*/ 4518329 w 9033179"/>
              <a:gd name="connsiteY37" fmla="*/ 1600200 h 2614613"/>
              <a:gd name="connsiteX38" fmla="*/ 4532617 w 9033179"/>
              <a:gd name="connsiteY38" fmla="*/ 1643063 h 2614613"/>
              <a:gd name="connsiteX39" fmla="*/ 4604054 w 9033179"/>
              <a:gd name="connsiteY39" fmla="*/ 1714500 h 2614613"/>
              <a:gd name="connsiteX40" fmla="*/ 4689779 w 9033179"/>
              <a:gd name="connsiteY40" fmla="*/ 1743075 h 2614613"/>
              <a:gd name="connsiteX41" fmla="*/ 4746929 w 9033179"/>
              <a:gd name="connsiteY41" fmla="*/ 1771650 h 2614613"/>
              <a:gd name="connsiteX42" fmla="*/ 4789792 w 9033179"/>
              <a:gd name="connsiteY42" fmla="*/ 1800225 h 2614613"/>
              <a:gd name="connsiteX43" fmla="*/ 4946954 w 9033179"/>
              <a:gd name="connsiteY43" fmla="*/ 1828800 h 2614613"/>
              <a:gd name="connsiteX44" fmla="*/ 5246992 w 9033179"/>
              <a:gd name="connsiteY44" fmla="*/ 1843088 h 2614613"/>
              <a:gd name="connsiteX45" fmla="*/ 5461304 w 9033179"/>
              <a:gd name="connsiteY45" fmla="*/ 1885950 h 2614613"/>
              <a:gd name="connsiteX46" fmla="*/ 5504167 w 9033179"/>
              <a:gd name="connsiteY46" fmla="*/ 1900238 h 2614613"/>
              <a:gd name="connsiteX47" fmla="*/ 5547029 w 9033179"/>
              <a:gd name="connsiteY47" fmla="*/ 1928813 h 2614613"/>
              <a:gd name="connsiteX48" fmla="*/ 5704192 w 9033179"/>
              <a:gd name="connsiteY48" fmla="*/ 1943100 h 2614613"/>
              <a:gd name="connsiteX49" fmla="*/ 5847067 w 9033179"/>
              <a:gd name="connsiteY49" fmla="*/ 1985963 h 2614613"/>
              <a:gd name="connsiteX50" fmla="*/ 5889929 w 9033179"/>
              <a:gd name="connsiteY50" fmla="*/ 2000250 h 2614613"/>
              <a:gd name="connsiteX51" fmla="*/ 6247117 w 9033179"/>
              <a:gd name="connsiteY51" fmla="*/ 1985963 h 2614613"/>
              <a:gd name="connsiteX52" fmla="*/ 6289979 w 9033179"/>
              <a:gd name="connsiteY52" fmla="*/ 1971675 h 2614613"/>
              <a:gd name="connsiteX53" fmla="*/ 6318554 w 9033179"/>
              <a:gd name="connsiteY53" fmla="*/ 1928813 h 2614613"/>
              <a:gd name="connsiteX54" fmla="*/ 6361417 w 9033179"/>
              <a:gd name="connsiteY54" fmla="*/ 1885950 h 2614613"/>
              <a:gd name="connsiteX55" fmla="*/ 6375704 w 9033179"/>
              <a:gd name="connsiteY55" fmla="*/ 1557338 h 2614613"/>
              <a:gd name="connsiteX56" fmla="*/ 6361417 w 9033179"/>
              <a:gd name="connsiteY56" fmla="*/ 1500188 h 2614613"/>
              <a:gd name="connsiteX57" fmla="*/ 6332842 w 9033179"/>
              <a:gd name="connsiteY57" fmla="*/ 1357313 h 2614613"/>
              <a:gd name="connsiteX58" fmla="*/ 6347129 w 9033179"/>
              <a:gd name="connsiteY58" fmla="*/ 1085850 h 2614613"/>
              <a:gd name="connsiteX59" fmla="*/ 6418567 w 9033179"/>
              <a:gd name="connsiteY59" fmla="*/ 1014413 h 2614613"/>
              <a:gd name="connsiteX60" fmla="*/ 6504292 w 9033179"/>
              <a:gd name="connsiteY60" fmla="*/ 985838 h 2614613"/>
              <a:gd name="connsiteX61" fmla="*/ 6590017 w 9033179"/>
              <a:gd name="connsiteY61" fmla="*/ 957263 h 2614613"/>
              <a:gd name="connsiteX62" fmla="*/ 6690029 w 9033179"/>
              <a:gd name="connsiteY62" fmla="*/ 942975 h 2614613"/>
              <a:gd name="connsiteX63" fmla="*/ 6861479 w 9033179"/>
              <a:gd name="connsiteY63" fmla="*/ 928688 h 2614613"/>
              <a:gd name="connsiteX64" fmla="*/ 7090079 w 9033179"/>
              <a:gd name="connsiteY64" fmla="*/ 942975 h 2614613"/>
              <a:gd name="connsiteX65" fmla="*/ 7132942 w 9033179"/>
              <a:gd name="connsiteY65" fmla="*/ 957263 h 2614613"/>
              <a:gd name="connsiteX66" fmla="*/ 7218667 w 9033179"/>
              <a:gd name="connsiteY66" fmla="*/ 1014413 h 2614613"/>
              <a:gd name="connsiteX67" fmla="*/ 7275817 w 9033179"/>
              <a:gd name="connsiteY67" fmla="*/ 1143000 h 2614613"/>
              <a:gd name="connsiteX68" fmla="*/ 7290104 w 9033179"/>
              <a:gd name="connsiteY68" fmla="*/ 1185863 h 2614613"/>
              <a:gd name="connsiteX69" fmla="*/ 7304392 w 9033179"/>
              <a:gd name="connsiteY69" fmla="*/ 1228725 h 2614613"/>
              <a:gd name="connsiteX70" fmla="*/ 7318679 w 9033179"/>
              <a:gd name="connsiteY70" fmla="*/ 1671638 h 2614613"/>
              <a:gd name="connsiteX71" fmla="*/ 7475842 w 9033179"/>
              <a:gd name="connsiteY71" fmla="*/ 1743075 h 2614613"/>
              <a:gd name="connsiteX72" fmla="*/ 7518704 w 9033179"/>
              <a:gd name="connsiteY72" fmla="*/ 1757363 h 2614613"/>
              <a:gd name="connsiteX73" fmla="*/ 8261654 w 9033179"/>
              <a:gd name="connsiteY73" fmla="*/ 1728788 h 2614613"/>
              <a:gd name="connsiteX74" fmla="*/ 8690279 w 9033179"/>
              <a:gd name="connsiteY74" fmla="*/ 1743075 h 2614613"/>
              <a:gd name="connsiteX75" fmla="*/ 8776004 w 9033179"/>
              <a:gd name="connsiteY75" fmla="*/ 1771650 h 2614613"/>
              <a:gd name="connsiteX76" fmla="*/ 8847442 w 9033179"/>
              <a:gd name="connsiteY76" fmla="*/ 1828800 h 2614613"/>
              <a:gd name="connsiteX77" fmla="*/ 8890304 w 9033179"/>
              <a:gd name="connsiteY77" fmla="*/ 1857375 h 2614613"/>
              <a:gd name="connsiteX78" fmla="*/ 8933167 w 9033179"/>
              <a:gd name="connsiteY78" fmla="*/ 1871663 h 2614613"/>
              <a:gd name="connsiteX79" fmla="*/ 9004604 w 9033179"/>
              <a:gd name="connsiteY79" fmla="*/ 1957388 h 2614613"/>
              <a:gd name="connsiteX80" fmla="*/ 9033179 w 9033179"/>
              <a:gd name="connsiteY80" fmla="*/ 2043113 h 2614613"/>
              <a:gd name="connsiteX81" fmla="*/ 9018892 w 9033179"/>
              <a:gd name="connsiteY81" fmla="*/ 2271713 h 2614613"/>
              <a:gd name="connsiteX82" fmla="*/ 8990317 w 9033179"/>
              <a:gd name="connsiteY82" fmla="*/ 2314575 h 2614613"/>
              <a:gd name="connsiteX83" fmla="*/ 8904592 w 9033179"/>
              <a:gd name="connsiteY83" fmla="*/ 2400300 h 2614613"/>
              <a:gd name="connsiteX84" fmla="*/ 8861729 w 9033179"/>
              <a:gd name="connsiteY84" fmla="*/ 2443163 h 2614613"/>
              <a:gd name="connsiteX85" fmla="*/ 8818867 w 9033179"/>
              <a:gd name="connsiteY85" fmla="*/ 2457450 h 2614613"/>
              <a:gd name="connsiteX86" fmla="*/ 8733142 w 9033179"/>
              <a:gd name="connsiteY86" fmla="*/ 2514600 h 2614613"/>
              <a:gd name="connsiteX87" fmla="*/ 8561692 w 9033179"/>
              <a:gd name="connsiteY87" fmla="*/ 2571750 h 2614613"/>
              <a:gd name="connsiteX88" fmla="*/ 8475967 w 9033179"/>
              <a:gd name="connsiteY88" fmla="*/ 2600325 h 2614613"/>
              <a:gd name="connsiteX89" fmla="*/ 8361667 w 9033179"/>
              <a:gd name="connsiteY89" fmla="*/ 2614613 h 2614613"/>
              <a:gd name="connsiteX90" fmla="*/ 7947329 w 9033179"/>
              <a:gd name="connsiteY90" fmla="*/ 2600325 h 2614613"/>
              <a:gd name="connsiteX91" fmla="*/ 7875892 w 9033179"/>
              <a:gd name="connsiteY91" fmla="*/ 2586038 h 2614613"/>
              <a:gd name="connsiteX92" fmla="*/ 7733017 w 9033179"/>
              <a:gd name="connsiteY92" fmla="*/ 2543175 h 2614613"/>
              <a:gd name="connsiteX93" fmla="*/ 7633004 w 9033179"/>
              <a:gd name="connsiteY93" fmla="*/ 2514600 h 2614613"/>
              <a:gd name="connsiteX94" fmla="*/ 7604429 w 9033179"/>
              <a:gd name="connsiteY94" fmla="*/ 2471738 h 2614613"/>
              <a:gd name="connsiteX95" fmla="*/ 7518704 w 9033179"/>
              <a:gd name="connsiteY95" fmla="*/ 2386013 h 2614613"/>
              <a:gd name="connsiteX96" fmla="*/ 7475842 w 9033179"/>
              <a:gd name="connsiteY96" fmla="*/ 2257425 h 2614613"/>
              <a:gd name="connsiteX97" fmla="*/ 7447267 w 9033179"/>
              <a:gd name="connsiteY97" fmla="*/ 2171700 h 2614613"/>
              <a:gd name="connsiteX98" fmla="*/ 7418692 w 9033179"/>
              <a:gd name="connsiteY98" fmla="*/ 2071688 h 2614613"/>
              <a:gd name="connsiteX99" fmla="*/ 7404404 w 9033179"/>
              <a:gd name="connsiteY99" fmla="*/ 1928813 h 2614613"/>
              <a:gd name="connsiteX100" fmla="*/ 7390117 w 9033179"/>
              <a:gd name="connsiteY100" fmla="*/ 1885950 h 2614613"/>
              <a:gd name="connsiteX101" fmla="*/ 7347254 w 9033179"/>
              <a:gd name="connsiteY101" fmla="*/ 1871663 h 2614613"/>
              <a:gd name="connsiteX102" fmla="*/ 7261529 w 9033179"/>
              <a:gd name="connsiteY102" fmla="*/ 1814513 h 2614613"/>
              <a:gd name="connsiteX103" fmla="*/ 7218667 w 9033179"/>
              <a:gd name="connsiteY103" fmla="*/ 1785938 h 2614613"/>
              <a:gd name="connsiteX104" fmla="*/ 7190092 w 9033179"/>
              <a:gd name="connsiteY104" fmla="*/ 1743075 h 2614613"/>
              <a:gd name="connsiteX105" fmla="*/ 7147229 w 9033179"/>
              <a:gd name="connsiteY105" fmla="*/ 1728788 h 2614613"/>
              <a:gd name="connsiteX106" fmla="*/ 7104367 w 9033179"/>
              <a:gd name="connsiteY106" fmla="*/ 1700213 h 2614613"/>
              <a:gd name="connsiteX107" fmla="*/ 7061504 w 9033179"/>
              <a:gd name="connsiteY107" fmla="*/ 1685925 h 2614613"/>
              <a:gd name="connsiteX108" fmla="*/ 6975779 w 9033179"/>
              <a:gd name="connsiteY108" fmla="*/ 1643063 h 2614613"/>
              <a:gd name="connsiteX109" fmla="*/ 6675742 w 9033179"/>
              <a:gd name="connsiteY109" fmla="*/ 1671638 h 2614613"/>
              <a:gd name="connsiteX110" fmla="*/ 6632879 w 9033179"/>
              <a:gd name="connsiteY110" fmla="*/ 1700213 h 2614613"/>
              <a:gd name="connsiteX111" fmla="*/ 6590017 w 9033179"/>
              <a:gd name="connsiteY111" fmla="*/ 1785938 h 2614613"/>
              <a:gd name="connsiteX112" fmla="*/ 6561442 w 9033179"/>
              <a:gd name="connsiteY112" fmla="*/ 1871663 h 2614613"/>
              <a:gd name="connsiteX113" fmla="*/ 6547154 w 9033179"/>
              <a:gd name="connsiteY113" fmla="*/ 1914525 h 2614613"/>
              <a:gd name="connsiteX114" fmla="*/ 6532867 w 9033179"/>
              <a:gd name="connsiteY114" fmla="*/ 1957388 h 2614613"/>
              <a:gd name="connsiteX115" fmla="*/ 6490004 w 9033179"/>
              <a:gd name="connsiteY115" fmla="*/ 1985963 h 2614613"/>
              <a:gd name="connsiteX116" fmla="*/ 6447142 w 9033179"/>
              <a:gd name="connsiteY116" fmla="*/ 2028825 h 2614613"/>
              <a:gd name="connsiteX117" fmla="*/ 6404279 w 9033179"/>
              <a:gd name="connsiteY117" fmla="*/ 2043113 h 2614613"/>
              <a:gd name="connsiteX118" fmla="*/ 6318554 w 9033179"/>
              <a:gd name="connsiteY118" fmla="*/ 2085975 h 2614613"/>
              <a:gd name="connsiteX119" fmla="*/ 6218542 w 9033179"/>
              <a:gd name="connsiteY119" fmla="*/ 2143125 h 2614613"/>
              <a:gd name="connsiteX120" fmla="*/ 6132817 w 9033179"/>
              <a:gd name="connsiteY120" fmla="*/ 2171700 h 2614613"/>
              <a:gd name="connsiteX121" fmla="*/ 6089954 w 9033179"/>
              <a:gd name="connsiteY121" fmla="*/ 2185988 h 2614613"/>
              <a:gd name="connsiteX122" fmla="*/ 6047092 w 9033179"/>
              <a:gd name="connsiteY122" fmla="*/ 2214563 h 2614613"/>
              <a:gd name="connsiteX123" fmla="*/ 5989942 w 9033179"/>
              <a:gd name="connsiteY123" fmla="*/ 2228850 h 2614613"/>
              <a:gd name="connsiteX124" fmla="*/ 5847067 w 9033179"/>
              <a:gd name="connsiteY124" fmla="*/ 2257425 h 2614613"/>
              <a:gd name="connsiteX125" fmla="*/ 5718479 w 9033179"/>
              <a:gd name="connsiteY125" fmla="*/ 2286000 h 2614613"/>
              <a:gd name="connsiteX126" fmla="*/ 5547029 w 9033179"/>
              <a:gd name="connsiteY126" fmla="*/ 2300288 h 2614613"/>
              <a:gd name="connsiteX127" fmla="*/ 5447017 w 9033179"/>
              <a:gd name="connsiteY127" fmla="*/ 2314575 h 2614613"/>
              <a:gd name="connsiteX128" fmla="*/ 5032679 w 9033179"/>
              <a:gd name="connsiteY128" fmla="*/ 2328863 h 2614613"/>
              <a:gd name="connsiteX129" fmla="*/ 4932667 w 9033179"/>
              <a:gd name="connsiteY129" fmla="*/ 2343150 h 2614613"/>
              <a:gd name="connsiteX130" fmla="*/ 4118279 w 9033179"/>
              <a:gd name="connsiteY130" fmla="*/ 2343150 h 2614613"/>
              <a:gd name="connsiteX131" fmla="*/ 4018267 w 9033179"/>
              <a:gd name="connsiteY131" fmla="*/ 2243138 h 2614613"/>
              <a:gd name="connsiteX132" fmla="*/ 3989692 w 9033179"/>
              <a:gd name="connsiteY132" fmla="*/ 2200275 h 2614613"/>
              <a:gd name="connsiteX133" fmla="*/ 3961117 w 9033179"/>
              <a:gd name="connsiteY133" fmla="*/ 2114550 h 2614613"/>
              <a:gd name="connsiteX134" fmla="*/ 3932542 w 9033179"/>
              <a:gd name="connsiteY134" fmla="*/ 2071688 h 2614613"/>
              <a:gd name="connsiteX135" fmla="*/ 3889679 w 9033179"/>
              <a:gd name="connsiteY135" fmla="*/ 1985963 h 2614613"/>
              <a:gd name="connsiteX136" fmla="*/ 3861104 w 9033179"/>
              <a:gd name="connsiteY136" fmla="*/ 1900238 h 2614613"/>
              <a:gd name="connsiteX137" fmla="*/ 3846817 w 9033179"/>
              <a:gd name="connsiteY137" fmla="*/ 1857375 h 2614613"/>
              <a:gd name="connsiteX138" fmla="*/ 3861104 w 9033179"/>
              <a:gd name="connsiteY138" fmla="*/ 1614488 h 2614613"/>
              <a:gd name="connsiteX139" fmla="*/ 3903967 w 9033179"/>
              <a:gd name="connsiteY139" fmla="*/ 1471613 h 2614613"/>
              <a:gd name="connsiteX140" fmla="*/ 3918254 w 9033179"/>
              <a:gd name="connsiteY140" fmla="*/ 1428750 h 2614613"/>
              <a:gd name="connsiteX141" fmla="*/ 3946829 w 9033179"/>
              <a:gd name="connsiteY141" fmla="*/ 1385888 h 2614613"/>
              <a:gd name="connsiteX142" fmla="*/ 3975404 w 9033179"/>
              <a:gd name="connsiteY142" fmla="*/ 1300163 h 2614613"/>
              <a:gd name="connsiteX143" fmla="*/ 4032554 w 9033179"/>
              <a:gd name="connsiteY143" fmla="*/ 1171575 h 2614613"/>
              <a:gd name="connsiteX144" fmla="*/ 4046842 w 9033179"/>
              <a:gd name="connsiteY144" fmla="*/ 1128713 h 2614613"/>
              <a:gd name="connsiteX145" fmla="*/ 4061129 w 9033179"/>
              <a:gd name="connsiteY145" fmla="*/ 1085850 h 2614613"/>
              <a:gd name="connsiteX146" fmla="*/ 4046842 w 9033179"/>
              <a:gd name="connsiteY146" fmla="*/ 800100 h 2614613"/>
              <a:gd name="connsiteX147" fmla="*/ 4003979 w 9033179"/>
              <a:gd name="connsiteY147" fmla="*/ 757238 h 2614613"/>
              <a:gd name="connsiteX148" fmla="*/ 3918254 w 9033179"/>
              <a:gd name="connsiteY148" fmla="*/ 714375 h 2614613"/>
              <a:gd name="connsiteX149" fmla="*/ 3746804 w 9033179"/>
              <a:gd name="connsiteY149" fmla="*/ 728663 h 2614613"/>
              <a:gd name="connsiteX150" fmla="*/ 3718229 w 9033179"/>
              <a:gd name="connsiteY150" fmla="*/ 771525 h 2614613"/>
              <a:gd name="connsiteX151" fmla="*/ 3689654 w 9033179"/>
              <a:gd name="connsiteY151" fmla="*/ 857250 h 2614613"/>
              <a:gd name="connsiteX152" fmla="*/ 3675367 w 9033179"/>
              <a:gd name="connsiteY152" fmla="*/ 900113 h 2614613"/>
              <a:gd name="connsiteX153" fmla="*/ 3646792 w 9033179"/>
              <a:gd name="connsiteY153" fmla="*/ 1128713 h 2614613"/>
              <a:gd name="connsiteX154" fmla="*/ 3632504 w 9033179"/>
              <a:gd name="connsiteY154" fmla="*/ 1185863 h 2614613"/>
              <a:gd name="connsiteX155" fmla="*/ 3603929 w 9033179"/>
              <a:gd name="connsiteY155" fmla="*/ 1314450 h 2614613"/>
              <a:gd name="connsiteX156" fmla="*/ 3546779 w 9033179"/>
              <a:gd name="connsiteY156" fmla="*/ 1400175 h 2614613"/>
              <a:gd name="connsiteX157" fmla="*/ 3403904 w 9033179"/>
              <a:gd name="connsiteY157" fmla="*/ 1485900 h 2614613"/>
              <a:gd name="connsiteX158" fmla="*/ 3232454 w 9033179"/>
              <a:gd name="connsiteY158" fmla="*/ 1528763 h 2614613"/>
              <a:gd name="connsiteX159" fmla="*/ 3089579 w 9033179"/>
              <a:gd name="connsiteY159" fmla="*/ 1543050 h 2614613"/>
              <a:gd name="connsiteX160" fmla="*/ 2603804 w 9033179"/>
              <a:gd name="connsiteY160" fmla="*/ 1557338 h 2614613"/>
              <a:gd name="connsiteX161" fmla="*/ 2403779 w 9033179"/>
              <a:gd name="connsiteY161" fmla="*/ 1585913 h 2614613"/>
              <a:gd name="connsiteX162" fmla="*/ 2303767 w 9033179"/>
              <a:gd name="connsiteY162" fmla="*/ 1600200 h 2614613"/>
              <a:gd name="connsiteX163" fmla="*/ 2189467 w 9033179"/>
              <a:gd name="connsiteY163" fmla="*/ 1628775 h 2614613"/>
              <a:gd name="connsiteX164" fmla="*/ 1960867 w 9033179"/>
              <a:gd name="connsiteY164" fmla="*/ 1657350 h 2614613"/>
              <a:gd name="connsiteX165" fmla="*/ 460679 w 9033179"/>
              <a:gd name="connsiteY165" fmla="*/ 1643063 h 2614613"/>
              <a:gd name="connsiteX166" fmla="*/ 417817 w 9033179"/>
              <a:gd name="connsiteY166" fmla="*/ 1628775 h 2614613"/>
              <a:gd name="connsiteX167" fmla="*/ 332092 w 9033179"/>
              <a:gd name="connsiteY167" fmla="*/ 1585913 h 2614613"/>
              <a:gd name="connsiteX168" fmla="*/ 289229 w 9033179"/>
              <a:gd name="connsiteY168" fmla="*/ 1543050 h 2614613"/>
              <a:gd name="connsiteX169" fmla="*/ 203504 w 9033179"/>
              <a:gd name="connsiteY169" fmla="*/ 1514475 h 2614613"/>
              <a:gd name="connsiteX170" fmla="*/ 117779 w 9033179"/>
              <a:gd name="connsiteY170" fmla="*/ 1485900 h 2614613"/>
              <a:gd name="connsiteX171" fmla="*/ 74917 w 9033179"/>
              <a:gd name="connsiteY171" fmla="*/ 1471613 h 2614613"/>
              <a:gd name="connsiteX172" fmla="*/ 3479 w 9033179"/>
              <a:gd name="connsiteY172" fmla="*/ 1457325 h 2614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Lst>
            <a:rect l="l" t="t" r="r" b="b"/>
            <a:pathLst>
              <a:path w="9033179" h="2614613">
                <a:moveTo>
                  <a:pt x="3479" y="1457325"/>
                </a:moveTo>
                <a:cubicBezTo>
                  <a:pt x="-6046" y="1414463"/>
                  <a:pt x="5736" y="1294643"/>
                  <a:pt x="17767" y="1214438"/>
                </a:cubicBezTo>
                <a:cubicBezTo>
                  <a:pt x="20314" y="1197456"/>
                  <a:pt x="33419" y="1182883"/>
                  <a:pt x="46342" y="1171575"/>
                </a:cubicBezTo>
                <a:cubicBezTo>
                  <a:pt x="72188" y="1148960"/>
                  <a:pt x="132067" y="1114425"/>
                  <a:pt x="132067" y="1114425"/>
                </a:cubicBezTo>
                <a:cubicBezTo>
                  <a:pt x="141592" y="1100138"/>
                  <a:pt x="147234" y="1082290"/>
                  <a:pt x="160642" y="1071563"/>
                </a:cubicBezTo>
                <a:cubicBezTo>
                  <a:pt x="172402" y="1062155"/>
                  <a:pt x="190034" y="1064010"/>
                  <a:pt x="203504" y="1057275"/>
                </a:cubicBezTo>
                <a:cubicBezTo>
                  <a:pt x="314283" y="1001885"/>
                  <a:pt x="181502" y="1050321"/>
                  <a:pt x="289229" y="1014413"/>
                </a:cubicBezTo>
                <a:cubicBezTo>
                  <a:pt x="303517" y="1004888"/>
                  <a:pt x="316309" y="992602"/>
                  <a:pt x="332092" y="985838"/>
                </a:cubicBezTo>
                <a:cubicBezTo>
                  <a:pt x="367912" y="970486"/>
                  <a:pt x="462411" y="962144"/>
                  <a:pt x="489254" y="957263"/>
                </a:cubicBezTo>
                <a:cubicBezTo>
                  <a:pt x="508574" y="953750"/>
                  <a:pt x="526774" y="943485"/>
                  <a:pt x="546404" y="942975"/>
                </a:cubicBezTo>
                <a:cubicBezTo>
                  <a:pt x="893982" y="933947"/>
                  <a:pt x="1241729" y="933450"/>
                  <a:pt x="1589392" y="928688"/>
                </a:cubicBezTo>
                <a:lnTo>
                  <a:pt x="2575229" y="942975"/>
                </a:lnTo>
                <a:cubicBezTo>
                  <a:pt x="2604188" y="943747"/>
                  <a:pt x="2631985" y="957263"/>
                  <a:pt x="2660954" y="957263"/>
                </a:cubicBezTo>
                <a:cubicBezTo>
                  <a:pt x="2818189" y="957263"/>
                  <a:pt x="2975279" y="947738"/>
                  <a:pt x="3132442" y="942975"/>
                </a:cubicBezTo>
                <a:cubicBezTo>
                  <a:pt x="3170542" y="933450"/>
                  <a:pt x="3214065" y="936185"/>
                  <a:pt x="3246742" y="914400"/>
                </a:cubicBezTo>
                <a:cubicBezTo>
                  <a:pt x="3261029" y="904875"/>
                  <a:pt x="3276413" y="896818"/>
                  <a:pt x="3289604" y="885825"/>
                </a:cubicBezTo>
                <a:cubicBezTo>
                  <a:pt x="3399613" y="794152"/>
                  <a:pt x="3268911" y="885334"/>
                  <a:pt x="3375329" y="814388"/>
                </a:cubicBezTo>
                <a:cubicBezTo>
                  <a:pt x="3384854" y="800100"/>
                  <a:pt x="3396225" y="786884"/>
                  <a:pt x="3403904" y="771525"/>
                </a:cubicBezTo>
                <a:cubicBezTo>
                  <a:pt x="3463058" y="653219"/>
                  <a:pt x="3364874" y="808641"/>
                  <a:pt x="3446767" y="685800"/>
                </a:cubicBezTo>
                <a:cubicBezTo>
                  <a:pt x="3480772" y="583785"/>
                  <a:pt x="3458634" y="625137"/>
                  <a:pt x="3503917" y="557213"/>
                </a:cubicBezTo>
                <a:cubicBezTo>
                  <a:pt x="3539826" y="449482"/>
                  <a:pt x="3491389" y="582268"/>
                  <a:pt x="3546779" y="471488"/>
                </a:cubicBezTo>
                <a:cubicBezTo>
                  <a:pt x="3605932" y="353183"/>
                  <a:pt x="3507751" y="508598"/>
                  <a:pt x="3589642" y="385763"/>
                </a:cubicBezTo>
                <a:cubicBezTo>
                  <a:pt x="3624607" y="280869"/>
                  <a:pt x="3596919" y="321337"/>
                  <a:pt x="3661079" y="257175"/>
                </a:cubicBezTo>
                <a:cubicBezTo>
                  <a:pt x="3670491" y="228940"/>
                  <a:pt x="3678764" y="191592"/>
                  <a:pt x="3703942" y="171450"/>
                </a:cubicBezTo>
                <a:cubicBezTo>
                  <a:pt x="3715702" y="162042"/>
                  <a:pt x="3732517" y="161925"/>
                  <a:pt x="3746804" y="157163"/>
                </a:cubicBezTo>
                <a:cubicBezTo>
                  <a:pt x="3756329" y="142875"/>
                  <a:pt x="3760818" y="123401"/>
                  <a:pt x="3775379" y="114300"/>
                </a:cubicBezTo>
                <a:cubicBezTo>
                  <a:pt x="3800921" y="98336"/>
                  <a:pt x="3832529" y="95250"/>
                  <a:pt x="3861104" y="85725"/>
                </a:cubicBezTo>
                <a:lnTo>
                  <a:pt x="3903967" y="71438"/>
                </a:lnTo>
                <a:cubicBezTo>
                  <a:pt x="3918254" y="66676"/>
                  <a:pt x="3932218" y="60803"/>
                  <a:pt x="3946829" y="57150"/>
                </a:cubicBezTo>
                <a:cubicBezTo>
                  <a:pt x="3965879" y="52388"/>
                  <a:pt x="3985171" y="48505"/>
                  <a:pt x="4003979" y="42863"/>
                </a:cubicBezTo>
                <a:cubicBezTo>
                  <a:pt x="4177926" y="-9321"/>
                  <a:pt x="4015113" y="32936"/>
                  <a:pt x="4146854" y="0"/>
                </a:cubicBezTo>
                <a:cubicBezTo>
                  <a:pt x="4334017" y="17015"/>
                  <a:pt x="4254111" y="-2347"/>
                  <a:pt x="4389742" y="42863"/>
                </a:cubicBezTo>
                <a:lnTo>
                  <a:pt x="4432604" y="57150"/>
                </a:lnTo>
                <a:lnTo>
                  <a:pt x="4475467" y="71438"/>
                </a:lnTo>
                <a:cubicBezTo>
                  <a:pt x="4543509" y="173501"/>
                  <a:pt x="4524288" y="123845"/>
                  <a:pt x="4546904" y="214313"/>
                </a:cubicBezTo>
                <a:cubicBezTo>
                  <a:pt x="4573675" y="562317"/>
                  <a:pt x="4569291" y="423078"/>
                  <a:pt x="4546904" y="971550"/>
                </a:cubicBezTo>
                <a:cubicBezTo>
                  <a:pt x="4542452" y="1080612"/>
                  <a:pt x="4542240" y="1071271"/>
                  <a:pt x="4518329" y="1143000"/>
                </a:cubicBezTo>
                <a:cubicBezTo>
                  <a:pt x="4485691" y="1338836"/>
                  <a:pt x="4494289" y="1251618"/>
                  <a:pt x="4518329" y="1600200"/>
                </a:cubicBezTo>
                <a:cubicBezTo>
                  <a:pt x="4519365" y="1615225"/>
                  <a:pt x="4525882" y="1629592"/>
                  <a:pt x="4532617" y="1643063"/>
                </a:cubicBezTo>
                <a:cubicBezTo>
                  <a:pt x="4550306" y="1678441"/>
                  <a:pt x="4567316" y="1698172"/>
                  <a:pt x="4604054" y="1714500"/>
                </a:cubicBezTo>
                <a:cubicBezTo>
                  <a:pt x="4631579" y="1726733"/>
                  <a:pt x="4662838" y="1729605"/>
                  <a:pt x="4689779" y="1743075"/>
                </a:cubicBezTo>
                <a:cubicBezTo>
                  <a:pt x="4708829" y="1752600"/>
                  <a:pt x="4728437" y="1761083"/>
                  <a:pt x="4746929" y="1771650"/>
                </a:cubicBezTo>
                <a:cubicBezTo>
                  <a:pt x="4761838" y="1780169"/>
                  <a:pt x="4774009" y="1793461"/>
                  <a:pt x="4789792" y="1800225"/>
                </a:cubicBezTo>
                <a:cubicBezTo>
                  <a:pt x="4820775" y="1813503"/>
                  <a:pt x="4928408" y="1827475"/>
                  <a:pt x="4946954" y="1828800"/>
                </a:cubicBezTo>
                <a:cubicBezTo>
                  <a:pt x="5046826" y="1835934"/>
                  <a:pt x="5146979" y="1838325"/>
                  <a:pt x="5246992" y="1843088"/>
                </a:cubicBezTo>
                <a:cubicBezTo>
                  <a:pt x="5405513" y="1860701"/>
                  <a:pt x="5334667" y="1843737"/>
                  <a:pt x="5461304" y="1885950"/>
                </a:cubicBezTo>
                <a:cubicBezTo>
                  <a:pt x="5475592" y="1890713"/>
                  <a:pt x="5491636" y="1891884"/>
                  <a:pt x="5504167" y="1900238"/>
                </a:cubicBezTo>
                <a:cubicBezTo>
                  <a:pt x="5518454" y="1909763"/>
                  <a:pt x="5530239" y="1925215"/>
                  <a:pt x="5547029" y="1928813"/>
                </a:cubicBezTo>
                <a:cubicBezTo>
                  <a:pt x="5598465" y="1939835"/>
                  <a:pt x="5651804" y="1938338"/>
                  <a:pt x="5704192" y="1943100"/>
                </a:cubicBezTo>
                <a:cubicBezTo>
                  <a:pt x="5790565" y="1964694"/>
                  <a:pt x="5742710" y="1951178"/>
                  <a:pt x="5847067" y="1985963"/>
                </a:cubicBezTo>
                <a:lnTo>
                  <a:pt x="5889929" y="2000250"/>
                </a:lnTo>
                <a:cubicBezTo>
                  <a:pt x="6008992" y="1995488"/>
                  <a:pt x="6128262" y="1994453"/>
                  <a:pt x="6247117" y="1985963"/>
                </a:cubicBezTo>
                <a:cubicBezTo>
                  <a:pt x="6262139" y="1984890"/>
                  <a:pt x="6278219" y="1981083"/>
                  <a:pt x="6289979" y="1971675"/>
                </a:cubicBezTo>
                <a:cubicBezTo>
                  <a:pt x="6303387" y="1960948"/>
                  <a:pt x="6307561" y="1942004"/>
                  <a:pt x="6318554" y="1928813"/>
                </a:cubicBezTo>
                <a:cubicBezTo>
                  <a:pt x="6331489" y="1913291"/>
                  <a:pt x="6347129" y="1900238"/>
                  <a:pt x="6361417" y="1885950"/>
                </a:cubicBezTo>
                <a:cubicBezTo>
                  <a:pt x="6412768" y="1731898"/>
                  <a:pt x="6399491" y="1807103"/>
                  <a:pt x="6375704" y="1557338"/>
                </a:cubicBezTo>
                <a:cubicBezTo>
                  <a:pt x="6373842" y="1537790"/>
                  <a:pt x="6365531" y="1519388"/>
                  <a:pt x="6361417" y="1500188"/>
                </a:cubicBezTo>
                <a:cubicBezTo>
                  <a:pt x="6351241" y="1452698"/>
                  <a:pt x="6332842" y="1357313"/>
                  <a:pt x="6332842" y="1357313"/>
                </a:cubicBezTo>
                <a:cubicBezTo>
                  <a:pt x="6337604" y="1266825"/>
                  <a:pt x="6334886" y="1175632"/>
                  <a:pt x="6347129" y="1085850"/>
                </a:cubicBezTo>
                <a:cubicBezTo>
                  <a:pt x="6351123" y="1056558"/>
                  <a:pt x="6395523" y="1024655"/>
                  <a:pt x="6418567" y="1014413"/>
                </a:cubicBezTo>
                <a:cubicBezTo>
                  <a:pt x="6446092" y="1002180"/>
                  <a:pt x="6475717" y="995363"/>
                  <a:pt x="6504292" y="985838"/>
                </a:cubicBezTo>
                <a:lnTo>
                  <a:pt x="6590017" y="957263"/>
                </a:lnTo>
                <a:cubicBezTo>
                  <a:pt x="6623354" y="952500"/>
                  <a:pt x="6656538" y="946500"/>
                  <a:pt x="6690029" y="942975"/>
                </a:cubicBezTo>
                <a:cubicBezTo>
                  <a:pt x="6747062" y="936972"/>
                  <a:pt x="6804329" y="933450"/>
                  <a:pt x="6861479" y="928688"/>
                </a:cubicBezTo>
                <a:cubicBezTo>
                  <a:pt x="6937679" y="933450"/>
                  <a:pt x="7014150" y="934982"/>
                  <a:pt x="7090079" y="942975"/>
                </a:cubicBezTo>
                <a:cubicBezTo>
                  <a:pt x="7105057" y="944552"/>
                  <a:pt x="7119777" y="949949"/>
                  <a:pt x="7132942" y="957263"/>
                </a:cubicBezTo>
                <a:cubicBezTo>
                  <a:pt x="7162963" y="973941"/>
                  <a:pt x="7218667" y="1014413"/>
                  <a:pt x="7218667" y="1014413"/>
                </a:cubicBezTo>
                <a:cubicBezTo>
                  <a:pt x="7263949" y="1082336"/>
                  <a:pt x="7241813" y="1040986"/>
                  <a:pt x="7275817" y="1143000"/>
                </a:cubicBezTo>
                <a:lnTo>
                  <a:pt x="7290104" y="1185863"/>
                </a:lnTo>
                <a:lnTo>
                  <a:pt x="7304392" y="1228725"/>
                </a:lnTo>
                <a:cubicBezTo>
                  <a:pt x="7309154" y="1376363"/>
                  <a:pt x="7289710" y="1526792"/>
                  <a:pt x="7318679" y="1671638"/>
                </a:cubicBezTo>
                <a:cubicBezTo>
                  <a:pt x="7329536" y="1725924"/>
                  <a:pt x="7437956" y="1733603"/>
                  <a:pt x="7475842" y="1743075"/>
                </a:cubicBezTo>
                <a:cubicBezTo>
                  <a:pt x="7490453" y="1746728"/>
                  <a:pt x="7504417" y="1752600"/>
                  <a:pt x="7518704" y="1757363"/>
                </a:cubicBezTo>
                <a:cubicBezTo>
                  <a:pt x="7823767" y="1726856"/>
                  <a:pt x="7767987" y="1728788"/>
                  <a:pt x="8261654" y="1728788"/>
                </a:cubicBezTo>
                <a:cubicBezTo>
                  <a:pt x="8404608" y="1728788"/>
                  <a:pt x="8547404" y="1738313"/>
                  <a:pt x="8690279" y="1743075"/>
                </a:cubicBezTo>
                <a:cubicBezTo>
                  <a:pt x="8718854" y="1752600"/>
                  <a:pt x="8759296" y="1746588"/>
                  <a:pt x="8776004" y="1771650"/>
                </a:cubicBezTo>
                <a:cubicBezTo>
                  <a:pt x="8812933" y="1827044"/>
                  <a:pt x="8788289" y="1809083"/>
                  <a:pt x="8847442" y="1828800"/>
                </a:cubicBezTo>
                <a:cubicBezTo>
                  <a:pt x="8861729" y="1838325"/>
                  <a:pt x="8874946" y="1849696"/>
                  <a:pt x="8890304" y="1857375"/>
                </a:cubicBezTo>
                <a:cubicBezTo>
                  <a:pt x="8903775" y="1864110"/>
                  <a:pt x="8920636" y="1863309"/>
                  <a:pt x="8933167" y="1871663"/>
                </a:cubicBezTo>
                <a:cubicBezTo>
                  <a:pt x="8954418" y="1885830"/>
                  <a:pt x="8993506" y="1932418"/>
                  <a:pt x="9004604" y="1957388"/>
                </a:cubicBezTo>
                <a:cubicBezTo>
                  <a:pt x="9016837" y="1984913"/>
                  <a:pt x="9033179" y="2043113"/>
                  <a:pt x="9033179" y="2043113"/>
                </a:cubicBezTo>
                <a:cubicBezTo>
                  <a:pt x="9028417" y="2119313"/>
                  <a:pt x="9030799" y="2196299"/>
                  <a:pt x="9018892" y="2271713"/>
                </a:cubicBezTo>
                <a:cubicBezTo>
                  <a:pt x="9016214" y="2288674"/>
                  <a:pt x="9001725" y="2301741"/>
                  <a:pt x="8990317" y="2314575"/>
                </a:cubicBezTo>
                <a:cubicBezTo>
                  <a:pt x="8963469" y="2344779"/>
                  <a:pt x="8933167" y="2371725"/>
                  <a:pt x="8904592" y="2400300"/>
                </a:cubicBezTo>
                <a:cubicBezTo>
                  <a:pt x="8890304" y="2414588"/>
                  <a:pt x="8880898" y="2436773"/>
                  <a:pt x="8861729" y="2443163"/>
                </a:cubicBezTo>
                <a:lnTo>
                  <a:pt x="8818867" y="2457450"/>
                </a:lnTo>
                <a:cubicBezTo>
                  <a:pt x="8790292" y="2476500"/>
                  <a:pt x="8765723" y="2503740"/>
                  <a:pt x="8733142" y="2514600"/>
                </a:cubicBezTo>
                <a:lnTo>
                  <a:pt x="8561692" y="2571750"/>
                </a:lnTo>
                <a:lnTo>
                  <a:pt x="8475967" y="2600325"/>
                </a:lnTo>
                <a:lnTo>
                  <a:pt x="8361667" y="2614613"/>
                </a:lnTo>
                <a:cubicBezTo>
                  <a:pt x="8223554" y="2609850"/>
                  <a:pt x="8085285" y="2608440"/>
                  <a:pt x="7947329" y="2600325"/>
                </a:cubicBezTo>
                <a:cubicBezTo>
                  <a:pt x="7923087" y="2598899"/>
                  <a:pt x="7899598" y="2591306"/>
                  <a:pt x="7875892" y="2586038"/>
                </a:cubicBezTo>
                <a:cubicBezTo>
                  <a:pt x="7671763" y="2540676"/>
                  <a:pt x="8018002" y="2614419"/>
                  <a:pt x="7733017" y="2543175"/>
                </a:cubicBezTo>
                <a:cubicBezTo>
                  <a:pt x="7661256" y="2525235"/>
                  <a:pt x="7694496" y="2535098"/>
                  <a:pt x="7633004" y="2514600"/>
                </a:cubicBezTo>
                <a:cubicBezTo>
                  <a:pt x="7623479" y="2500313"/>
                  <a:pt x="7616571" y="2483880"/>
                  <a:pt x="7604429" y="2471738"/>
                </a:cubicBezTo>
                <a:cubicBezTo>
                  <a:pt x="7498099" y="2365408"/>
                  <a:pt x="7586046" y="2487025"/>
                  <a:pt x="7518704" y="2386013"/>
                </a:cubicBezTo>
                <a:lnTo>
                  <a:pt x="7475842" y="2257425"/>
                </a:lnTo>
                <a:lnTo>
                  <a:pt x="7447267" y="2171700"/>
                </a:lnTo>
                <a:cubicBezTo>
                  <a:pt x="7429326" y="2099940"/>
                  <a:pt x="7439188" y="2133179"/>
                  <a:pt x="7418692" y="2071688"/>
                </a:cubicBezTo>
                <a:cubicBezTo>
                  <a:pt x="7413929" y="2024063"/>
                  <a:pt x="7411682" y="1976119"/>
                  <a:pt x="7404404" y="1928813"/>
                </a:cubicBezTo>
                <a:cubicBezTo>
                  <a:pt x="7402114" y="1913928"/>
                  <a:pt x="7400766" y="1896599"/>
                  <a:pt x="7390117" y="1885950"/>
                </a:cubicBezTo>
                <a:cubicBezTo>
                  <a:pt x="7379468" y="1875301"/>
                  <a:pt x="7361542" y="1876425"/>
                  <a:pt x="7347254" y="1871663"/>
                </a:cubicBezTo>
                <a:lnTo>
                  <a:pt x="7261529" y="1814513"/>
                </a:lnTo>
                <a:lnTo>
                  <a:pt x="7218667" y="1785938"/>
                </a:lnTo>
                <a:cubicBezTo>
                  <a:pt x="7209142" y="1771650"/>
                  <a:pt x="7203501" y="1753802"/>
                  <a:pt x="7190092" y="1743075"/>
                </a:cubicBezTo>
                <a:cubicBezTo>
                  <a:pt x="7178332" y="1733667"/>
                  <a:pt x="7160700" y="1735523"/>
                  <a:pt x="7147229" y="1728788"/>
                </a:cubicBezTo>
                <a:cubicBezTo>
                  <a:pt x="7131870" y="1721109"/>
                  <a:pt x="7119725" y="1707892"/>
                  <a:pt x="7104367" y="1700213"/>
                </a:cubicBezTo>
                <a:cubicBezTo>
                  <a:pt x="7090896" y="1693478"/>
                  <a:pt x="7074975" y="1692660"/>
                  <a:pt x="7061504" y="1685925"/>
                </a:cubicBezTo>
                <a:cubicBezTo>
                  <a:pt x="6950724" y="1630535"/>
                  <a:pt x="7083510" y="1678972"/>
                  <a:pt x="6975779" y="1643063"/>
                </a:cubicBezTo>
                <a:cubicBezTo>
                  <a:pt x="6969308" y="1643422"/>
                  <a:pt x="6753441" y="1632788"/>
                  <a:pt x="6675742" y="1671638"/>
                </a:cubicBezTo>
                <a:cubicBezTo>
                  <a:pt x="6660383" y="1679317"/>
                  <a:pt x="6647167" y="1690688"/>
                  <a:pt x="6632879" y="1700213"/>
                </a:cubicBezTo>
                <a:cubicBezTo>
                  <a:pt x="6580777" y="1856523"/>
                  <a:pt x="6663871" y="1619766"/>
                  <a:pt x="6590017" y="1785938"/>
                </a:cubicBezTo>
                <a:cubicBezTo>
                  <a:pt x="6577784" y="1813463"/>
                  <a:pt x="6570967" y="1843088"/>
                  <a:pt x="6561442" y="1871663"/>
                </a:cubicBezTo>
                <a:lnTo>
                  <a:pt x="6547154" y="1914525"/>
                </a:lnTo>
                <a:cubicBezTo>
                  <a:pt x="6542391" y="1928813"/>
                  <a:pt x="6545398" y="1949034"/>
                  <a:pt x="6532867" y="1957388"/>
                </a:cubicBezTo>
                <a:cubicBezTo>
                  <a:pt x="6518579" y="1966913"/>
                  <a:pt x="6503196" y="1974970"/>
                  <a:pt x="6490004" y="1985963"/>
                </a:cubicBezTo>
                <a:cubicBezTo>
                  <a:pt x="6474482" y="1998898"/>
                  <a:pt x="6463954" y="2017617"/>
                  <a:pt x="6447142" y="2028825"/>
                </a:cubicBezTo>
                <a:cubicBezTo>
                  <a:pt x="6434611" y="2037179"/>
                  <a:pt x="6417750" y="2036378"/>
                  <a:pt x="6404279" y="2043113"/>
                </a:cubicBezTo>
                <a:cubicBezTo>
                  <a:pt x="6293499" y="2098503"/>
                  <a:pt x="6426285" y="2050066"/>
                  <a:pt x="6318554" y="2085975"/>
                </a:cubicBezTo>
                <a:cubicBezTo>
                  <a:pt x="6279892" y="2111750"/>
                  <a:pt x="6263861" y="2124998"/>
                  <a:pt x="6218542" y="2143125"/>
                </a:cubicBezTo>
                <a:cubicBezTo>
                  <a:pt x="6190576" y="2154312"/>
                  <a:pt x="6161392" y="2162175"/>
                  <a:pt x="6132817" y="2171700"/>
                </a:cubicBezTo>
                <a:cubicBezTo>
                  <a:pt x="6118529" y="2176463"/>
                  <a:pt x="6102485" y="2177634"/>
                  <a:pt x="6089954" y="2185988"/>
                </a:cubicBezTo>
                <a:cubicBezTo>
                  <a:pt x="6075667" y="2195513"/>
                  <a:pt x="6062875" y="2207799"/>
                  <a:pt x="6047092" y="2214563"/>
                </a:cubicBezTo>
                <a:cubicBezTo>
                  <a:pt x="6029043" y="2222298"/>
                  <a:pt x="6008823" y="2223456"/>
                  <a:pt x="5989942" y="2228850"/>
                </a:cubicBezTo>
                <a:cubicBezTo>
                  <a:pt x="5861560" y="2265530"/>
                  <a:pt x="6081775" y="2214751"/>
                  <a:pt x="5847067" y="2257425"/>
                </a:cubicBezTo>
                <a:cubicBezTo>
                  <a:pt x="5774698" y="2270583"/>
                  <a:pt x="5798858" y="2276544"/>
                  <a:pt x="5718479" y="2286000"/>
                </a:cubicBezTo>
                <a:cubicBezTo>
                  <a:pt x="5661524" y="2292701"/>
                  <a:pt x="5604062" y="2294285"/>
                  <a:pt x="5547029" y="2300288"/>
                </a:cubicBezTo>
                <a:cubicBezTo>
                  <a:pt x="5513538" y="2303813"/>
                  <a:pt x="5480641" y="2312707"/>
                  <a:pt x="5447017" y="2314575"/>
                </a:cubicBezTo>
                <a:cubicBezTo>
                  <a:pt x="5309035" y="2322241"/>
                  <a:pt x="5170792" y="2324100"/>
                  <a:pt x="5032679" y="2328863"/>
                </a:cubicBezTo>
                <a:cubicBezTo>
                  <a:pt x="4999342" y="2333625"/>
                  <a:pt x="4966257" y="2340751"/>
                  <a:pt x="4932667" y="2343150"/>
                </a:cubicBezTo>
                <a:cubicBezTo>
                  <a:pt x="4574425" y="2368739"/>
                  <a:pt x="4538945" y="2354836"/>
                  <a:pt x="4118279" y="2343150"/>
                </a:cubicBezTo>
                <a:cubicBezTo>
                  <a:pt x="4042837" y="2318003"/>
                  <a:pt x="4083771" y="2341394"/>
                  <a:pt x="4018267" y="2243138"/>
                </a:cubicBezTo>
                <a:cubicBezTo>
                  <a:pt x="4008742" y="2228850"/>
                  <a:pt x="3995122" y="2216565"/>
                  <a:pt x="3989692" y="2200275"/>
                </a:cubicBezTo>
                <a:cubicBezTo>
                  <a:pt x="3980167" y="2171700"/>
                  <a:pt x="3977825" y="2139612"/>
                  <a:pt x="3961117" y="2114550"/>
                </a:cubicBezTo>
                <a:cubicBezTo>
                  <a:pt x="3951592" y="2100263"/>
                  <a:pt x="3940221" y="2087046"/>
                  <a:pt x="3932542" y="2071688"/>
                </a:cubicBezTo>
                <a:cubicBezTo>
                  <a:pt x="3873389" y="1953383"/>
                  <a:pt x="3971570" y="2108798"/>
                  <a:pt x="3889679" y="1985963"/>
                </a:cubicBezTo>
                <a:lnTo>
                  <a:pt x="3861104" y="1900238"/>
                </a:lnTo>
                <a:lnTo>
                  <a:pt x="3846817" y="1857375"/>
                </a:lnTo>
                <a:cubicBezTo>
                  <a:pt x="3851579" y="1776413"/>
                  <a:pt x="3853415" y="1695225"/>
                  <a:pt x="3861104" y="1614488"/>
                </a:cubicBezTo>
                <a:cubicBezTo>
                  <a:pt x="3863983" y="1584261"/>
                  <a:pt x="3897890" y="1489845"/>
                  <a:pt x="3903967" y="1471613"/>
                </a:cubicBezTo>
                <a:cubicBezTo>
                  <a:pt x="3908729" y="1457325"/>
                  <a:pt x="3909900" y="1441281"/>
                  <a:pt x="3918254" y="1428750"/>
                </a:cubicBezTo>
                <a:cubicBezTo>
                  <a:pt x="3927779" y="1414463"/>
                  <a:pt x="3939855" y="1401579"/>
                  <a:pt x="3946829" y="1385888"/>
                </a:cubicBezTo>
                <a:cubicBezTo>
                  <a:pt x="3959062" y="1358363"/>
                  <a:pt x="3958696" y="1325225"/>
                  <a:pt x="3975404" y="1300163"/>
                </a:cubicBezTo>
                <a:cubicBezTo>
                  <a:pt x="4020687" y="1232237"/>
                  <a:pt x="3998548" y="1273592"/>
                  <a:pt x="4032554" y="1171575"/>
                </a:cubicBezTo>
                <a:lnTo>
                  <a:pt x="4046842" y="1128713"/>
                </a:lnTo>
                <a:lnTo>
                  <a:pt x="4061129" y="1085850"/>
                </a:lnTo>
                <a:cubicBezTo>
                  <a:pt x="4056367" y="990600"/>
                  <a:pt x="4063183" y="894059"/>
                  <a:pt x="4046842" y="800100"/>
                </a:cubicBezTo>
                <a:cubicBezTo>
                  <a:pt x="4043380" y="780193"/>
                  <a:pt x="4019501" y="770173"/>
                  <a:pt x="4003979" y="757238"/>
                </a:cubicBezTo>
                <a:cubicBezTo>
                  <a:pt x="3967049" y="726463"/>
                  <a:pt x="3961213" y="728695"/>
                  <a:pt x="3918254" y="714375"/>
                </a:cubicBezTo>
                <a:cubicBezTo>
                  <a:pt x="3861104" y="719138"/>
                  <a:pt x="3801946" y="712908"/>
                  <a:pt x="3746804" y="728663"/>
                </a:cubicBezTo>
                <a:cubicBezTo>
                  <a:pt x="3730293" y="733380"/>
                  <a:pt x="3725203" y="755834"/>
                  <a:pt x="3718229" y="771525"/>
                </a:cubicBezTo>
                <a:cubicBezTo>
                  <a:pt x="3705996" y="799050"/>
                  <a:pt x="3699179" y="828675"/>
                  <a:pt x="3689654" y="857250"/>
                </a:cubicBezTo>
                <a:lnTo>
                  <a:pt x="3675367" y="900113"/>
                </a:lnTo>
                <a:cubicBezTo>
                  <a:pt x="3668551" y="961450"/>
                  <a:pt x="3658439" y="1064657"/>
                  <a:pt x="3646792" y="1128713"/>
                </a:cubicBezTo>
                <a:cubicBezTo>
                  <a:pt x="3643279" y="1148033"/>
                  <a:pt x="3636355" y="1166608"/>
                  <a:pt x="3632504" y="1185863"/>
                </a:cubicBezTo>
                <a:cubicBezTo>
                  <a:pt x="3627415" y="1211310"/>
                  <a:pt x="3621310" y="1283165"/>
                  <a:pt x="3603929" y="1314450"/>
                </a:cubicBezTo>
                <a:cubicBezTo>
                  <a:pt x="3587250" y="1344471"/>
                  <a:pt x="3575354" y="1381125"/>
                  <a:pt x="3546779" y="1400175"/>
                </a:cubicBezTo>
                <a:cubicBezTo>
                  <a:pt x="3496463" y="1433719"/>
                  <a:pt x="3458821" y="1463933"/>
                  <a:pt x="3403904" y="1485900"/>
                </a:cubicBezTo>
                <a:cubicBezTo>
                  <a:pt x="3336329" y="1512930"/>
                  <a:pt x="3304002" y="1519819"/>
                  <a:pt x="3232454" y="1528763"/>
                </a:cubicBezTo>
                <a:cubicBezTo>
                  <a:pt x="3184961" y="1534700"/>
                  <a:pt x="3137392" y="1540877"/>
                  <a:pt x="3089579" y="1543050"/>
                </a:cubicBezTo>
                <a:cubicBezTo>
                  <a:pt x="2927751" y="1550406"/>
                  <a:pt x="2765729" y="1552575"/>
                  <a:pt x="2603804" y="1557338"/>
                </a:cubicBezTo>
                <a:cubicBezTo>
                  <a:pt x="2387930" y="1584321"/>
                  <a:pt x="2582325" y="1558444"/>
                  <a:pt x="2403779" y="1585913"/>
                </a:cubicBezTo>
                <a:cubicBezTo>
                  <a:pt x="2370495" y="1591034"/>
                  <a:pt x="2336789" y="1593596"/>
                  <a:pt x="2303767" y="1600200"/>
                </a:cubicBezTo>
                <a:cubicBezTo>
                  <a:pt x="2265257" y="1607902"/>
                  <a:pt x="2228436" y="1623904"/>
                  <a:pt x="2189467" y="1628775"/>
                </a:cubicBezTo>
                <a:lnTo>
                  <a:pt x="1960867" y="1657350"/>
                </a:lnTo>
                <a:lnTo>
                  <a:pt x="460679" y="1643063"/>
                </a:lnTo>
                <a:cubicBezTo>
                  <a:pt x="445621" y="1642784"/>
                  <a:pt x="431287" y="1635510"/>
                  <a:pt x="417817" y="1628775"/>
                </a:cubicBezTo>
                <a:cubicBezTo>
                  <a:pt x="307038" y="1573385"/>
                  <a:pt x="439819" y="1621821"/>
                  <a:pt x="332092" y="1585913"/>
                </a:cubicBezTo>
                <a:cubicBezTo>
                  <a:pt x="317804" y="1571625"/>
                  <a:pt x="306892" y="1552863"/>
                  <a:pt x="289229" y="1543050"/>
                </a:cubicBezTo>
                <a:cubicBezTo>
                  <a:pt x="262899" y="1528422"/>
                  <a:pt x="232079" y="1524000"/>
                  <a:pt x="203504" y="1514475"/>
                </a:cubicBezTo>
                <a:lnTo>
                  <a:pt x="117779" y="1485900"/>
                </a:lnTo>
                <a:cubicBezTo>
                  <a:pt x="103492" y="1481138"/>
                  <a:pt x="89527" y="1475266"/>
                  <a:pt x="74917" y="1471613"/>
                </a:cubicBezTo>
                <a:cubicBezTo>
                  <a:pt x="13147" y="1456170"/>
                  <a:pt x="13004" y="1500187"/>
                  <a:pt x="3479" y="1457325"/>
                </a:cubicBezTo>
                <a:close/>
              </a:path>
            </a:pathLst>
          </a:custGeom>
          <a:solidFill>
            <a:schemeClr val="tx2">
              <a:lumMod val="20000"/>
              <a:lumOff val="8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198120" y="381000"/>
            <a:ext cx="8229600" cy="457200"/>
          </a:xfrm>
        </p:spPr>
        <p:txBody>
          <a:bodyPr>
            <a:normAutofit fontScale="90000"/>
          </a:bodyPr>
          <a:lstStyle/>
          <a:p>
            <a:r>
              <a:rPr lang="en-GB" sz="3200" dirty="0"/>
              <a:t>In full</a:t>
            </a:r>
          </a:p>
        </p:txBody>
      </p:sp>
      <p:sp>
        <p:nvSpPr>
          <p:cNvPr id="3" name="Slide Number Placeholder 2"/>
          <p:cNvSpPr>
            <a:spLocks noGrp="1"/>
          </p:cNvSpPr>
          <p:nvPr>
            <p:ph type="sldNum" sz="quarter" idx="12"/>
          </p:nvPr>
        </p:nvSpPr>
        <p:spPr/>
        <p:txBody>
          <a:bodyPr/>
          <a:lstStyle/>
          <a:p>
            <a:fld id="{B6F15528-21DE-4FAA-801E-634DDDAF4B2B}" type="slidenum">
              <a:rPr lang="en-US" smtClean="0"/>
              <a:pPr/>
              <a:t>28</a:t>
            </a:fld>
            <a:endParaRPr lang="en-US"/>
          </a:p>
        </p:txBody>
      </p:sp>
      <p:graphicFrame>
        <p:nvGraphicFramePr>
          <p:cNvPr id="4" name="Table 3"/>
          <p:cNvGraphicFramePr>
            <a:graphicFrameLocks noGrp="1"/>
          </p:cNvGraphicFramePr>
          <p:nvPr>
            <p:extLst>
              <p:ext uri="{D42A27DB-BD31-4B8C-83A1-F6EECF244321}">
                <p14:modId xmlns:p14="http://schemas.microsoft.com/office/powerpoint/2010/main" val="1313834018"/>
              </p:ext>
            </p:extLst>
          </p:nvPr>
        </p:nvGraphicFramePr>
        <p:xfrm>
          <a:off x="1752600" y="914400"/>
          <a:ext cx="5638797" cy="370840"/>
        </p:xfrm>
        <a:graphic>
          <a:graphicData uri="http://schemas.openxmlformats.org/drawingml/2006/table">
            <a:tbl>
              <a:tblPr firstRow="1" bandRow="1">
                <a:tableStyleId>{5C22544A-7EE6-4342-B048-85BDC9FD1C3A}</a:tableStyleId>
              </a:tblPr>
              <a:tblGrid>
                <a:gridCol w="626533">
                  <a:extLst>
                    <a:ext uri="{9D8B030D-6E8A-4147-A177-3AD203B41FA5}">
                      <a16:colId xmlns:a16="http://schemas.microsoft.com/office/drawing/2014/main" val="20000"/>
                    </a:ext>
                  </a:extLst>
                </a:gridCol>
                <a:gridCol w="626533">
                  <a:extLst>
                    <a:ext uri="{9D8B030D-6E8A-4147-A177-3AD203B41FA5}">
                      <a16:colId xmlns:a16="http://schemas.microsoft.com/office/drawing/2014/main" val="20001"/>
                    </a:ext>
                  </a:extLst>
                </a:gridCol>
                <a:gridCol w="626533">
                  <a:extLst>
                    <a:ext uri="{9D8B030D-6E8A-4147-A177-3AD203B41FA5}">
                      <a16:colId xmlns:a16="http://schemas.microsoft.com/office/drawing/2014/main" val="20002"/>
                    </a:ext>
                  </a:extLst>
                </a:gridCol>
                <a:gridCol w="626533">
                  <a:extLst>
                    <a:ext uri="{9D8B030D-6E8A-4147-A177-3AD203B41FA5}">
                      <a16:colId xmlns:a16="http://schemas.microsoft.com/office/drawing/2014/main" val="20003"/>
                    </a:ext>
                  </a:extLst>
                </a:gridCol>
                <a:gridCol w="626533">
                  <a:extLst>
                    <a:ext uri="{9D8B030D-6E8A-4147-A177-3AD203B41FA5}">
                      <a16:colId xmlns:a16="http://schemas.microsoft.com/office/drawing/2014/main" val="20004"/>
                    </a:ext>
                  </a:extLst>
                </a:gridCol>
                <a:gridCol w="626533">
                  <a:extLst>
                    <a:ext uri="{9D8B030D-6E8A-4147-A177-3AD203B41FA5}">
                      <a16:colId xmlns:a16="http://schemas.microsoft.com/office/drawing/2014/main" val="20005"/>
                    </a:ext>
                  </a:extLst>
                </a:gridCol>
                <a:gridCol w="626533">
                  <a:extLst>
                    <a:ext uri="{9D8B030D-6E8A-4147-A177-3AD203B41FA5}">
                      <a16:colId xmlns:a16="http://schemas.microsoft.com/office/drawing/2014/main" val="20006"/>
                    </a:ext>
                  </a:extLst>
                </a:gridCol>
                <a:gridCol w="626533">
                  <a:extLst>
                    <a:ext uri="{9D8B030D-6E8A-4147-A177-3AD203B41FA5}">
                      <a16:colId xmlns:a16="http://schemas.microsoft.com/office/drawing/2014/main" val="20007"/>
                    </a:ext>
                  </a:extLst>
                </a:gridCol>
                <a:gridCol w="626533">
                  <a:extLst>
                    <a:ext uri="{9D8B030D-6E8A-4147-A177-3AD203B41FA5}">
                      <a16:colId xmlns:a16="http://schemas.microsoft.com/office/drawing/2014/main" val="20008"/>
                    </a:ext>
                  </a:extLst>
                </a:gridCol>
              </a:tblGrid>
              <a:tr h="370840">
                <a:tc>
                  <a:txBody>
                    <a:bodyPr/>
                    <a:lstStyle/>
                    <a:p>
                      <a:r>
                        <a:rPr lang="en-GB" sz="1600" dirty="0">
                          <a:solidFill>
                            <a:schemeClr val="tx1"/>
                          </a:solidFill>
                        </a:rPr>
                        <a:t>fox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600" dirty="0">
                          <a:solidFill>
                            <a:schemeClr val="tx1"/>
                          </a:solidFill>
                        </a:rPr>
                        <a:t>cow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600" dirty="0">
                          <a:solidFill>
                            <a:schemeClr val="tx1"/>
                          </a:solidFill>
                        </a:rPr>
                        <a:t>pig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600" dirty="0">
                          <a:solidFill>
                            <a:schemeClr val="tx1"/>
                          </a:solidFill>
                        </a:rPr>
                        <a:t>cat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600" dirty="0">
                          <a:solidFill>
                            <a:schemeClr val="tx1"/>
                          </a:solidFill>
                        </a:rPr>
                        <a:t>rat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600" dirty="0">
                          <a:solidFill>
                            <a:schemeClr val="tx1"/>
                          </a:solidFill>
                        </a:rPr>
                        <a:t>lion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600" dirty="0">
                          <a:solidFill>
                            <a:schemeClr val="tx1"/>
                          </a:solidFill>
                        </a:rPr>
                        <a:t>tiger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600" dirty="0">
                          <a:solidFill>
                            <a:schemeClr val="tx1"/>
                          </a:solidFill>
                        </a:rPr>
                        <a:t>goat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600" dirty="0">
                          <a:solidFill>
                            <a:schemeClr val="tx1"/>
                          </a:solidFill>
                        </a:rPr>
                        <a:t>dog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733574035"/>
              </p:ext>
            </p:extLst>
          </p:nvPr>
        </p:nvGraphicFramePr>
        <p:xfrm>
          <a:off x="5066793" y="2106168"/>
          <a:ext cx="3132665" cy="335280"/>
        </p:xfrm>
        <a:graphic>
          <a:graphicData uri="http://schemas.openxmlformats.org/drawingml/2006/table">
            <a:tbl>
              <a:tblPr firstRow="1" bandRow="1">
                <a:tableStyleId>{5C22544A-7EE6-4342-B048-85BDC9FD1C3A}</a:tableStyleId>
              </a:tblPr>
              <a:tblGrid>
                <a:gridCol w="626533">
                  <a:extLst>
                    <a:ext uri="{9D8B030D-6E8A-4147-A177-3AD203B41FA5}">
                      <a16:colId xmlns:a16="http://schemas.microsoft.com/office/drawing/2014/main" val="20000"/>
                    </a:ext>
                  </a:extLst>
                </a:gridCol>
                <a:gridCol w="626533">
                  <a:extLst>
                    <a:ext uri="{9D8B030D-6E8A-4147-A177-3AD203B41FA5}">
                      <a16:colId xmlns:a16="http://schemas.microsoft.com/office/drawing/2014/main" val="20001"/>
                    </a:ext>
                  </a:extLst>
                </a:gridCol>
                <a:gridCol w="626533">
                  <a:extLst>
                    <a:ext uri="{9D8B030D-6E8A-4147-A177-3AD203B41FA5}">
                      <a16:colId xmlns:a16="http://schemas.microsoft.com/office/drawing/2014/main" val="20002"/>
                    </a:ext>
                  </a:extLst>
                </a:gridCol>
                <a:gridCol w="626533">
                  <a:extLst>
                    <a:ext uri="{9D8B030D-6E8A-4147-A177-3AD203B41FA5}">
                      <a16:colId xmlns:a16="http://schemas.microsoft.com/office/drawing/2014/main" val="20003"/>
                    </a:ext>
                  </a:extLst>
                </a:gridCol>
                <a:gridCol w="626533">
                  <a:extLst>
                    <a:ext uri="{9D8B030D-6E8A-4147-A177-3AD203B41FA5}">
                      <a16:colId xmlns:a16="http://schemas.microsoft.com/office/drawing/2014/main" val="20004"/>
                    </a:ext>
                  </a:extLst>
                </a:gridCol>
              </a:tblGrid>
              <a:tr h="142240">
                <a:tc>
                  <a:txBody>
                    <a:bodyPr/>
                    <a:lstStyle/>
                    <a:p>
                      <a:r>
                        <a:rPr lang="en-GB" sz="1600" dirty="0">
                          <a:solidFill>
                            <a:schemeClr val="tx1"/>
                          </a:solidFill>
                        </a:rPr>
                        <a:t>pig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600" dirty="0">
                          <a:solidFill>
                            <a:schemeClr val="tx1"/>
                          </a:solidFill>
                        </a:rPr>
                        <a:t>rat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600" dirty="0">
                          <a:solidFill>
                            <a:schemeClr val="tx1"/>
                          </a:solidFill>
                        </a:rPr>
                        <a:t>lion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600" dirty="0">
                          <a:solidFill>
                            <a:schemeClr val="tx1"/>
                          </a:solidFill>
                        </a:rPr>
                        <a:t>tiger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600" dirty="0">
                          <a:solidFill>
                            <a:schemeClr val="tx1"/>
                          </a:solidFill>
                        </a:rPr>
                        <a:t>goat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234848561"/>
              </p:ext>
            </p:extLst>
          </p:nvPr>
        </p:nvGraphicFramePr>
        <p:xfrm>
          <a:off x="1143000" y="2133600"/>
          <a:ext cx="1879599" cy="335280"/>
        </p:xfrm>
        <a:graphic>
          <a:graphicData uri="http://schemas.openxmlformats.org/drawingml/2006/table">
            <a:tbl>
              <a:tblPr firstRow="1" bandRow="1">
                <a:tableStyleId>{5C22544A-7EE6-4342-B048-85BDC9FD1C3A}</a:tableStyleId>
              </a:tblPr>
              <a:tblGrid>
                <a:gridCol w="626533">
                  <a:extLst>
                    <a:ext uri="{9D8B030D-6E8A-4147-A177-3AD203B41FA5}">
                      <a16:colId xmlns:a16="http://schemas.microsoft.com/office/drawing/2014/main" val="20000"/>
                    </a:ext>
                  </a:extLst>
                </a:gridCol>
                <a:gridCol w="626533">
                  <a:extLst>
                    <a:ext uri="{9D8B030D-6E8A-4147-A177-3AD203B41FA5}">
                      <a16:colId xmlns:a16="http://schemas.microsoft.com/office/drawing/2014/main" val="20001"/>
                    </a:ext>
                  </a:extLst>
                </a:gridCol>
                <a:gridCol w="626533">
                  <a:extLst>
                    <a:ext uri="{9D8B030D-6E8A-4147-A177-3AD203B41FA5}">
                      <a16:colId xmlns:a16="http://schemas.microsoft.com/office/drawing/2014/main" val="20002"/>
                    </a:ext>
                  </a:extLst>
                </a:gridCol>
              </a:tblGrid>
              <a:tr h="142240">
                <a:tc>
                  <a:txBody>
                    <a:bodyPr/>
                    <a:lstStyle/>
                    <a:p>
                      <a:r>
                        <a:rPr lang="en-GB" sz="1600" dirty="0">
                          <a:solidFill>
                            <a:schemeClr val="tx1"/>
                          </a:solidFill>
                        </a:rPr>
                        <a:t>cow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600" dirty="0">
                          <a:solidFill>
                            <a:schemeClr val="tx1"/>
                          </a:solidFill>
                        </a:rPr>
                        <a:t>cat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600" dirty="0">
                          <a:solidFill>
                            <a:schemeClr val="tx1"/>
                          </a:solidFill>
                        </a:rPr>
                        <a:t>dog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481821545"/>
              </p:ext>
            </p:extLst>
          </p:nvPr>
        </p:nvGraphicFramePr>
        <p:xfrm>
          <a:off x="3984413" y="2133600"/>
          <a:ext cx="626533" cy="335280"/>
        </p:xfrm>
        <a:graphic>
          <a:graphicData uri="http://schemas.openxmlformats.org/drawingml/2006/table">
            <a:tbl>
              <a:tblPr firstRow="1" bandRow="1">
                <a:tableStyleId>{5C22544A-7EE6-4342-B048-85BDC9FD1C3A}</a:tableStyleId>
              </a:tblPr>
              <a:tblGrid>
                <a:gridCol w="626533">
                  <a:extLst>
                    <a:ext uri="{9D8B030D-6E8A-4147-A177-3AD203B41FA5}">
                      <a16:colId xmlns:a16="http://schemas.microsoft.com/office/drawing/2014/main" val="20000"/>
                    </a:ext>
                  </a:extLst>
                </a:gridCol>
              </a:tblGrid>
              <a:tr h="142240">
                <a:tc>
                  <a:txBody>
                    <a:bodyPr/>
                    <a:lstStyle/>
                    <a:p>
                      <a:r>
                        <a:rPr lang="en-GB" sz="1600" dirty="0">
                          <a:solidFill>
                            <a:schemeClr val="tx1"/>
                          </a:solidFill>
                        </a:rPr>
                        <a:t>fox</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441666514"/>
              </p:ext>
            </p:extLst>
          </p:nvPr>
        </p:nvGraphicFramePr>
        <p:xfrm>
          <a:off x="2895600" y="3017520"/>
          <a:ext cx="626533" cy="335280"/>
        </p:xfrm>
        <a:graphic>
          <a:graphicData uri="http://schemas.openxmlformats.org/drawingml/2006/table">
            <a:tbl>
              <a:tblPr firstRow="1" bandRow="1">
                <a:tableStyleId>{5C22544A-7EE6-4342-B048-85BDC9FD1C3A}</a:tableStyleId>
              </a:tblPr>
              <a:tblGrid>
                <a:gridCol w="626533">
                  <a:extLst>
                    <a:ext uri="{9D8B030D-6E8A-4147-A177-3AD203B41FA5}">
                      <a16:colId xmlns:a16="http://schemas.microsoft.com/office/drawing/2014/main" val="20000"/>
                    </a:ext>
                  </a:extLst>
                </a:gridCol>
              </a:tblGrid>
              <a:tr h="259080">
                <a:tc>
                  <a:txBody>
                    <a:bodyPr/>
                    <a:lstStyle/>
                    <a:p>
                      <a:r>
                        <a:rPr lang="en-GB" sz="1600" dirty="0">
                          <a:solidFill>
                            <a:schemeClr val="tx1"/>
                          </a:solidFill>
                        </a:rPr>
                        <a:t>dog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633962676"/>
              </p:ext>
            </p:extLst>
          </p:nvPr>
        </p:nvGraphicFramePr>
        <p:xfrm>
          <a:off x="1776984" y="3005328"/>
          <a:ext cx="626533" cy="335280"/>
        </p:xfrm>
        <a:graphic>
          <a:graphicData uri="http://schemas.openxmlformats.org/drawingml/2006/table">
            <a:tbl>
              <a:tblPr firstRow="1" bandRow="1">
                <a:tableStyleId>{5C22544A-7EE6-4342-B048-85BDC9FD1C3A}</a:tableStyleId>
              </a:tblPr>
              <a:tblGrid>
                <a:gridCol w="626533">
                  <a:extLst>
                    <a:ext uri="{9D8B030D-6E8A-4147-A177-3AD203B41FA5}">
                      <a16:colId xmlns:a16="http://schemas.microsoft.com/office/drawing/2014/main" val="20000"/>
                    </a:ext>
                  </a:extLst>
                </a:gridCol>
              </a:tblGrid>
              <a:tr h="335280">
                <a:tc>
                  <a:txBody>
                    <a:bodyPr/>
                    <a:lstStyle/>
                    <a:p>
                      <a:r>
                        <a:rPr lang="en-GB" sz="1600" dirty="0">
                          <a:solidFill>
                            <a:schemeClr val="tx1"/>
                          </a:solidFill>
                        </a:rPr>
                        <a:t>cow</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160593845"/>
              </p:ext>
            </p:extLst>
          </p:nvPr>
        </p:nvGraphicFramePr>
        <p:xfrm>
          <a:off x="457200" y="3011424"/>
          <a:ext cx="626533" cy="335280"/>
        </p:xfrm>
        <a:graphic>
          <a:graphicData uri="http://schemas.openxmlformats.org/drawingml/2006/table">
            <a:tbl>
              <a:tblPr firstRow="1" bandRow="1">
                <a:tableStyleId>{5C22544A-7EE6-4342-B048-85BDC9FD1C3A}</a:tableStyleId>
              </a:tblPr>
              <a:tblGrid>
                <a:gridCol w="626533">
                  <a:extLst>
                    <a:ext uri="{9D8B030D-6E8A-4147-A177-3AD203B41FA5}">
                      <a16:colId xmlns:a16="http://schemas.microsoft.com/office/drawing/2014/main" val="20000"/>
                    </a:ext>
                  </a:extLst>
                </a:gridCol>
              </a:tblGrid>
              <a:tr h="142240">
                <a:tc>
                  <a:txBody>
                    <a:bodyPr/>
                    <a:lstStyle/>
                    <a:p>
                      <a:r>
                        <a:rPr lang="en-GB" sz="1600" dirty="0">
                          <a:solidFill>
                            <a:schemeClr val="tx1"/>
                          </a:solidFill>
                        </a:rPr>
                        <a:t>cat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1" name="Rectangle 10"/>
          <p:cNvSpPr/>
          <p:nvPr/>
        </p:nvSpPr>
        <p:spPr>
          <a:xfrm>
            <a:off x="3924300" y="2133600"/>
            <a:ext cx="685800" cy="304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p:cNvSpPr/>
          <p:nvPr/>
        </p:nvSpPr>
        <p:spPr>
          <a:xfrm>
            <a:off x="1752600" y="3035808"/>
            <a:ext cx="685800" cy="304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13" name="Table 12"/>
          <p:cNvGraphicFramePr>
            <a:graphicFrameLocks noGrp="1"/>
          </p:cNvGraphicFramePr>
          <p:nvPr>
            <p:extLst>
              <p:ext uri="{D42A27DB-BD31-4B8C-83A1-F6EECF244321}">
                <p14:modId xmlns:p14="http://schemas.microsoft.com/office/powerpoint/2010/main" val="3674756196"/>
              </p:ext>
            </p:extLst>
          </p:nvPr>
        </p:nvGraphicFramePr>
        <p:xfrm>
          <a:off x="4783667" y="3005328"/>
          <a:ext cx="1253066" cy="335280"/>
        </p:xfrm>
        <a:graphic>
          <a:graphicData uri="http://schemas.openxmlformats.org/drawingml/2006/table">
            <a:tbl>
              <a:tblPr firstRow="1" bandRow="1">
                <a:tableStyleId>{5C22544A-7EE6-4342-B048-85BDC9FD1C3A}</a:tableStyleId>
              </a:tblPr>
              <a:tblGrid>
                <a:gridCol w="626533">
                  <a:extLst>
                    <a:ext uri="{9D8B030D-6E8A-4147-A177-3AD203B41FA5}">
                      <a16:colId xmlns:a16="http://schemas.microsoft.com/office/drawing/2014/main" val="20000"/>
                    </a:ext>
                  </a:extLst>
                </a:gridCol>
                <a:gridCol w="626533">
                  <a:extLst>
                    <a:ext uri="{9D8B030D-6E8A-4147-A177-3AD203B41FA5}">
                      <a16:colId xmlns:a16="http://schemas.microsoft.com/office/drawing/2014/main" val="20001"/>
                    </a:ext>
                  </a:extLst>
                </a:gridCol>
              </a:tblGrid>
              <a:tr h="142240">
                <a:tc>
                  <a:txBody>
                    <a:bodyPr/>
                    <a:lstStyle/>
                    <a:p>
                      <a:r>
                        <a:rPr lang="en-GB" sz="1600" dirty="0">
                          <a:solidFill>
                            <a:schemeClr val="tx1"/>
                          </a:solidFill>
                        </a:rPr>
                        <a:t>lion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600" dirty="0">
                          <a:solidFill>
                            <a:schemeClr val="tx1"/>
                          </a:solidFill>
                        </a:rPr>
                        <a:t>goat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4102363902"/>
              </p:ext>
            </p:extLst>
          </p:nvPr>
        </p:nvGraphicFramePr>
        <p:xfrm>
          <a:off x="6574367" y="3023616"/>
          <a:ext cx="626533" cy="335280"/>
        </p:xfrm>
        <a:graphic>
          <a:graphicData uri="http://schemas.openxmlformats.org/drawingml/2006/table">
            <a:tbl>
              <a:tblPr firstRow="1" bandRow="1">
                <a:tableStyleId>{5C22544A-7EE6-4342-B048-85BDC9FD1C3A}</a:tableStyleId>
              </a:tblPr>
              <a:tblGrid>
                <a:gridCol w="626533">
                  <a:extLst>
                    <a:ext uri="{9D8B030D-6E8A-4147-A177-3AD203B41FA5}">
                      <a16:colId xmlns:a16="http://schemas.microsoft.com/office/drawing/2014/main" val="20000"/>
                    </a:ext>
                  </a:extLst>
                </a:gridCol>
              </a:tblGrid>
              <a:tr h="259080">
                <a:tc>
                  <a:txBody>
                    <a:bodyPr/>
                    <a:lstStyle/>
                    <a:p>
                      <a:r>
                        <a:rPr lang="en-GB" sz="1600" dirty="0">
                          <a:solidFill>
                            <a:schemeClr val="tx1"/>
                          </a:solidFill>
                        </a:rPr>
                        <a:t>pig</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15" name="Rectangle 14"/>
          <p:cNvSpPr/>
          <p:nvPr/>
        </p:nvSpPr>
        <p:spPr>
          <a:xfrm>
            <a:off x="6515100" y="3023616"/>
            <a:ext cx="685800" cy="304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16" name="Table 15"/>
          <p:cNvGraphicFramePr>
            <a:graphicFrameLocks noGrp="1"/>
          </p:cNvGraphicFramePr>
          <p:nvPr>
            <p:extLst>
              <p:ext uri="{D42A27DB-BD31-4B8C-83A1-F6EECF244321}">
                <p14:modId xmlns:p14="http://schemas.microsoft.com/office/powerpoint/2010/main" val="3119274134"/>
              </p:ext>
            </p:extLst>
          </p:nvPr>
        </p:nvGraphicFramePr>
        <p:xfrm>
          <a:off x="7391400" y="2997708"/>
          <a:ext cx="1253066" cy="342900"/>
        </p:xfrm>
        <a:graphic>
          <a:graphicData uri="http://schemas.openxmlformats.org/drawingml/2006/table">
            <a:tbl>
              <a:tblPr firstRow="1" bandRow="1">
                <a:tableStyleId>{5C22544A-7EE6-4342-B048-85BDC9FD1C3A}</a:tableStyleId>
              </a:tblPr>
              <a:tblGrid>
                <a:gridCol w="626533">
                  <a:extLst>
                    <a:ext uri="{9D8B030D-6E8A-4147-A177-3AD203B41FA5}">
                      <a16:colId xmlns:a16="http://schemas.microsoft.com/office/drawing/2014/main" val="20000"/>
                    </a:ext>
                  </a:extLst>
                </a:gridCol>
                <a:gridCol w="626533">
                  <a:extLst>
                    <a:ext uri="{9D8B030D-6E8A-4147-A177-3AD203B41FA5}">
                      <a16:colId xmlns:a16="http://schemas.microsoft.com/office/drawing/2014/main" val="20001"/>
                    </a:ext>
                  </a:extLst>
                </a:gridCol>
              </a:tblGrid>
              <a:tr h="342900">
                <a:tc>
                  <a:txBody>
                    <a:bodyPr/>
                    <a:lstStyle/>
                    <a:p>
                      <a:r>
                        <a:rPr lang="en-GB" sz="1600" dirty="0">
                          <a:solidFill>
                            <a:schemeClr val="tx1"/>
                          </a:solidFill>
                        </a:rPr>
                        <a:t>rat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600" dirty="0">
                          <a:solidFill>
                            <a:schemeClr val="tx1"/>
                          </a:solidFill>
                        </a:rPr>
                        <a:t>tiger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7" name="Rectangle 16"/>
          <p:cNvSpPr/>
          <p:nvPr/>
        </p:nvSpPr>
        <p:spPr>
          <a:xfrm>
            <a:off x="5178552" y="3898392"/>
            <a:ext cx="685800" cy="304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19" name="Table 18"/>
          <p:cNvGraphicFramePr>
            <a:graphicFrameLocks noGrp="1"/>
          </p:cNvGraphicFramePr>
          <p:nvPr>
            <p:extLst>
              <p:ext uri="{D42A27DB-BD31-4B8C-83A1-F6EECF244321}">
                <p14:modId xmlns:p14="http://schemas.microsoft.com/office/powerpoint/2010/main" val="3704562402"/>
              </p:ext>
            </p:extLst>
          </p:nvPr>
        </p:nvGraphicFramePr>
        <p:xfrm>
          <a:off x="5272871" y="3874008"/>
          <a:ext cx="626533" cy="335280"/>
        </p:xfrm>
        <a:graphic>
          <a:graphicData uri="http://schemas.openxmlformats.org/drawingml/2006/table">
            <a:tbl>
              <a:tblPr firstRow="1" bandRow="1">
                <a:tableStyleId>{5C22544A-7EE6-4342-B048-85BDC9FD1C3A}</a:tableStyleId>
              </a:tblPr>
              <a:tblGrid>
                <a:gridCol w="626533">
                  <a:extLst>
                    <a:ext uri="{9D8B030D-6E8A-4147-A177-3AD203B41FA5}">
                      <a16:colId xmlns:a16="http://schemas.microsoft.com/office/drawing/2014/main" val="20000"/>
                    </a:ext>
                  </a:extLst>
                </a:gridCol>
              </a:tblGrid>
              <a:tr h="259080">
                <a:tc>
                  <a:txBody>
                    <a:bodyPr/>
                    <a:lstStyle/>
                    <a:p>
                      <a:r>
                        <a:rPr lang="en-GB" sz="1600" dirty="0">
                          <a:solidFill>
                            <a:schemeClr val="tx1"/>
                          </a:solidFill>
                        </a:rPr>
                        <a:t>lion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3197789197"/>
              </p:ext>
            </p:extLst>
          </p:nvPr>
        </p:nvGraphicFramePr>
        <p:xfrm>
          <a:off x="4419600" y="3886200"/>
          <a:ext cx="626533" cy="335280"/>
        </p:xfrm>
        <a:graphic>
          <a:graphicData uri="http://schemas.openxmlformats.org/drawingml/2006/table">
            <a:tbl>
              <a:tblPr firstRow="1" bandRow="1">
                <a:tableStyleId>{5C22544A-7EE6-4342-B048-85BDC9FD1C3A}</a:tableStyleId>
              </a:tblPr>
              <a:tblGrid>
                <a:gridCol w="626533">
                  <a:extLst>
                    <a:ext uri="{9D8B030D-6E8A-4147-A177-3AD203B41FA5}">
                      <a16:colId xmlns:a16="http://schemas.microsoft.com/office/drawing/2014/main" val="20000"/>
                    </a:ext>
                  </a:extLst>
                </a:gridCol>
              </a:tblGrid>
              <a:tr h="259080">
                <a:tc>
                  <a:txBody>
                    <a:bodyPr/>
                    <a:lstStyle/>
                    <a:p>
                      <a:r>
                        <a:rPr lang="en-GB" sz="1600" dirty="0">
                          <a:solidFill>
                            <a:schemeClr val="tx1"/>
                          </a:solidFill>
                        </a:rPr>
                        <a:t>goat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2262171654"/>
              </p:ext>
            </p:extLst>
          </p:nvPr>
        </p:nvGraphicFramePr>
        <p:xfrm>
          <a:off x="7834715" y="3864864"/>
          <a:ext cx="626533" cy="335280"/>
        </p:xfrm>
        <a:graphic>
          <a:graphicData uri="http://schemas.openxmlformats.org/drawingml/2006/table">
            <a:tbl>
              <a:tblPr firstRow="1" bandRow="1">
                <a:tableStyleId>{5C22544A-7EE6-4342-B048-85BDC9FD1C3A}</a:tableStyleId>
              </a:tblPr>
              <a:tblGrid>
                <a:gridCol w="626533">
                  <a:extLst>
                    <a:ext uri="{9D8B030D-6E8A-4147-A177-3AD203B41FA5}">
                      <a16:colId xmlns:a16="http://schemas.microsoft.com/office/drawing/2014/main" val="20000"/>
                    </a:ext>
                  </a:extLst>
                </a:gridCol>
              </a:tblGrid>
              <a:tr h="313944">
                <a:tc>
                  <a:txBody>
                    <a:bodyPr/>
                    <a:lstStyle/>
                    <a:p>
                      <a:r>
                        <a:rPr lang="en-GB" sz="1600" dirty="0">
                          <a:solidFill>
                            <a:schemeClr val="tx1"/>
                          </a:solidFill>
                        </a:rPr>
                        <a:t>rat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sp>
        <p:nvSpPr>
          <p:cNvPr id="22" name="Rectangle 21"/>
          <p:cNvSpPr/>
          <p:nvPr/>
        </p:nvSpPr>
        <p:spPr>
          <a:xfrm>
            <a:off x="7714488" y="3886200"/>
            <a:ext cx="685800" cy="304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aphicFrame>
        <p:nvGraphicFramePr>
          <p:cNvPr id="23" name="Table 22"/>
          <p:cNvGraphicFramePr>
            <a:graphicFrameLocks noGrp="1"/>
          </p:cNvGraphicFramePr>
          <p:nvPr>
            <p:extLst>
              <p:ext uri="{D42A27DB-BD31-4B8C-83A1-F6EECF244321}">
                <p14:modId xmlns:p14="http://schemas.microsoft.com/office/powerpoint/2010/main" val="197040202"/>
              </p:ext>
            </p:extLst>
          </p:nvPr>
        </p:nvGraphicFramePr>
        <p:xfrm>
          <a:off x="8458200" y="3874008"/>
          <a:ext cx="626533" cy="335280"/>
        </p:xfrm>
        <a:graphic>
          <a:graphicData uri="http://schemas.openxmlformats.org/drawingml/2006/table">
            <a:tbl>
              <a:tblPr firstRow="1" bandRow="1">
                <a:tableStyleId>{5C22544A-7EE6-4342-B048-85BDC9FD1C3A}</a:tableStyleId>
              </a:tblPr>
              <a:tblGrid>
                <a:gridCol w="626533">
                  <a:extLst>
                    <a:ext uri="{9D8B030D-6E8A-4147-A177-3AD203B41FA5}">
                      <a16:colId xmlns:a16="http://schemas.microsoft.com/office/drawing/2014/main" val="20000"/>
                    </a:ext>
                  </a:extLst>
                </a:gridCol>
              </a:tblGrid>
              <a:tr h="259080">
                <a:tc>
                  <a:txBody>
                    <a:bodyPr/>
                    <a:lstStyle/>
                    <a:p>
                      <a:r>
                        <a:rPr lang="en-GB" sz="1600" dirty="0">
                          <a:solidFill>
                            <a:schemeClr val="tx1"/>
                          </a:solidFill>
                        </a:rPr>
                        <a:t>tiger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cxnSp>
        <p:nvCxnSpPr>
          <p:cNvPr id="25" name="Straight Arrow Connector 24"/>
          <p:cNvCxnSpPr/>
          <p:nvPr/>
        </p:nvCxnSpPr>
        <p:spPr>
          <a:xfrm flipH="1">
            <a:off x="2286000" y="1295400"/>
            <a:ext cx="1981200" cy="7620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4294632" y="1295400"/>
            <a:ext cx="0" cy="7620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4297680" y="1295400"/>
            <a:ext cx="2560320" cy="7620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a:off x="2048256" y="2484120"/>
            <a:ext cx="4572" cy="53949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flipH="1">
            <a:off x="850392" y="2471928"/>
            <a:ext cx="1196340" cy="4572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2040636" y="2471928"/>
            <a:ext cx="1196340" cy="4572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flipH="1">
            <a:off x="5753100" y="2438400"/>
            <a:ext cx="1196340" cy="4572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H="1">
            <a:off x="6943344" y="2429256"/>
            <a:ext cx="4572" cy="53949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a:off x="6966204" y="2438400"/>
            <a:ext cx="1196340" cy="45720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endCxn id="20" idx="0"/>
          </p:cNvCxnSpPr>
          <p:nvPr/>
        </p:nvCxnSpPr>
        <p:spPr>
          <a:xfrm flipH="1">
            <a:off x="4732866" y="3355848"/>
            <a:ext cx="677334" cy="53035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flipH="1">
            <a:off x="5410200" y="3326892"/>
            <a:ext cx="4572" cy="53949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a:off x="5412486" y="3355848"/>
            <a:ext cx="759714" cy="51054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flipH="1">
            <a:off x="7348050" y="3349752"/>
            <a:ext cx="677334" cy="53035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H="1">
            <a:off x="8014716" y="3364992"/>
            <a:ext cx="4572" cy="53949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a:off x="8015478" y="3325368"/>
            <a:ext cx="759714" cy="51054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457200" y="5486400"/>
            <a:ext cx="8153400" cy="830997"/>
          </a:xfrm>
          <a:prstGeom prst="rect">
            <a:avLst/>
          </a:prstGeom>
          <a:noFill/>
        </p:spPr>
        <p:txBody>
          <a:bodyPr wrap="square" rtlCol="0">
            <a:spAutoFit/>
          </a:bodyPr>
          <a:lstStyle/>
          <a:p>
            <a:r>
              <a:rPr lang="en-GB" sz="2400" dirty="0"/>
              <a:t>Would in fact take place in position (i.e. inside the original array)</a:t>
            </a:r>
          </a:p>
        </p:txBody>
      </p:sp>
    </p:spTree>
    <p:extLst>
      <p:ext uri="{BB962C8B-B14F-4D97-AF65-F5344CB8AC3E}">
        <p14:creationId xmlns:p14="http://schemas.microsoft.com/office/powerpoint/2010/main" val="1206832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5"/>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2"/>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1"/>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8"/>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23"/>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5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51"/>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11" grpId="0" animBg="1"/>
      <p:bldP spid="12" grpId="0" animBg="1"/>
      <p:bldP spid="15" grpId="0" animBg="1"/>
      <p:bldP spid="17" grpId="0" animBg="1"/>
      <p:bldP spid="22" grpId="0" animBg="1"/>
      <p:bldP spid="5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en-US" altLang="en-US" sz="3200" dirty="0"/>
              <a:t>Quick-sort </a:t>
            </a:r>
            <a:r>
              <a:rPr lang="en-US" altLang="en-US" sz="3200" i="1" dirty="0"/>
              <a:t>(5)</a:t>
            </a:r>
            <a:endParaRPr lang="en-GB" altLang="en-US" sz="3200" dirty="0"/>
          </a:p>
        </p:txBody>
      </p:sp>
      <p:sp>
        <p:nvSpPr>
          <p:cNvPr id="53251" name="Rectangle 3"/>
          <p:cNvSpPr>
            <a:spLocks noGrp="1" noChangeArrowheads="1"/>
          </p:cNvSpPr>
          <p:nvPr>
            <p:ph idx="1"/>
          </p:nvPr>
        </p:nvSpPr>
        <p:spPr>
          <a:xfrm>
            <a:off x="304800" y="1676400"/>
            <a:ext cx="7620000" cy="4800600"/>
          </a:xfrm>
          <a:noFill/>
        </p:spPr>
        <p:txBody>
          <a:bodyPr/>
          <a:lstStyle/>
          <a:p>
            <a:pPr eaLnBrk="1" hangingPunct="1"/>
            <a:r>
              <a:rPr lang="en-US" altLang="en-US" dirty="0">
                <a:cs typeface="Times New Roman" pitchFamily="18" charset="0"/>
              </a:rPr>
              <a:t>Analysis (counting comparisons):</a:t>
            </a:r>
          </a:p>
          <a:p>
            <a:pPr eaLnBrk="1" hangingPunct="1">
              <a:spcBef>
                <a:spcPts val="900"/>
              </a:spcBef>
              <a:buClr>
                <a:schemeClr val="tx1"/>
              </a:buClr>
              <a:buFont typeface="Wingdings" pitchFamily="2" charset="2"/>
              <a:buNone/>
            </a:pPr>
            <a:r>
              <a:rPr lang="en-US" altLang="en-US" dirty="0">
                <a:cs typeface="Times New Roman" pitchFamily="18" charset="0"/>
              </a:rPr>
              <a:t>	Let </a:t>
            </a:r>
            <a:r>
              <a:rPr lang="en-US" altLang="en-US" i="1" dirty="0">
                <a:cs typeface="Times New Roman" pitchFamily="18" charset="0"/>
              </a:rPr>
              <a:t>n</a:t>
            </a:r>
            <a:r>
              <a:rPr lang="en-US" altLang="en-US" dirty="0">
                <a:cs typeface="Times New Roman" pitchFamily="18" charset="0"/>
              </a:rPr>
              <a:t> be the length of the (sub)array to be sorted.</a:t>
            </a:r>
          </a:p>
          <a:p>
            <a:pPr eaLnBrk="1" hangingPunct="1">
              <a:spcBef>
                <a:spcPts val="900"/>
              </a:spcBef>
              <a:buClr>
                <a:schemeClr val="tx1"/>
              </a:buClr>
              <a:buFont typeface="Wingdings" pitchFamily="2" charset="2"/>
              <a:buNone/>
            </a:pPr>
            <a:r>
              <a:rPr lang="en-US" altLang="en-US" dirty="0">
                <a:cs typeface="Times New Roman" pitchFamily="18" charset="0"/>
              </a:rPr>
              <a:t>	Let the total no. of comparisons required to sort a (sub)array of length </a:t>
            </a:r>
            <a:r>
              <a:rPr lang="en-US" altLang="en-US" i="1" dirty="0">
                <a:cs typeface="Times New Roman" pitchFamily="18" charset="0"/>
              </a:rPr>
              <a:t>m</a:t>
            </a:r>
            <a:r>
              <a:rPr lang="en-US" altLang="en-US" dirty="0">
                <a:cs typeface="Times New Roman" pitchFamily="18" charset="0"/>
              </a:rPr>
              <a:t> be </a:t>
            </a:r>
            <a:r>
              <a:rPr lang="en-US" altLang="en-US" i="1" dirty="0">
                <a:cs typeface="Times New Roman" pitchFamily="18" charset="0"/>
              </a:rPr>
              <a:t>comps</a:t>
            </a:r>
            <a:r>
              <a:rPr lang="en-US" altLang="en-US" dirty="0">
                <a:cs typeface="Times New Roman" pitchFamily="18" charset="0"/>
              </a:rPr>
              <a:t>(</a:t>
            </a:r>
            <a:r>
              <a:rPr lang="en-US" altLang="en-US" i="1" dirty="0">
                <a:cs typeface="Times New Roman" pitchFamily="18" charset="0"/>
              </a:rPr>
              <a:t>m</a:t>
            </a:r>
            <a:r>
              <a:rPr lang="en-US" altLang="en-US" dirty="0">
                <a:cs typeface="Times New Roman" pitchFamily="18" charset="0"/>
              </a:rPr>
              <a:t>).</a:t>
            </a:r>
          </a:p>
          <a:p>
            <a:pPr eaLnBrk="1" hangingPunct="1">
              <a:spcBef>
                <a:spcPts val="900"/>
              </a:spcBef>
              <a:buClr>
                <a:schemeClr val="tx1"/>
              </a:buClr>
              <a:buFont typeface="Wingdings" pitchFamily="2" charset="2"/>
              <a:buNone/>
            </a:pPr>
            <a:r>
              <a:rPr lang="en-US" altLang="en-US" dirty="0">
                <a:cs typeface="Times New Roman" pitchFamily="18" charset="0"/>
              </a:rPr>
              <a:t>	Assume that step 1.1 takes about </a:t>
            </a:r>
            <a:r>
              <a:rPr lang="en-US" altLang="en-US" i="1" dirty="0">
                <a:cs typeface="Times New Roman" pitchFamily="18" charset="0"/>
              </a:rPr>
              <a:t>n</a:t>
            </a:r>
            <a:r>
              <a:rPr lang="en-US" altLang="en-US" dirty="0">
                <a:cs typeface="Times New Roman" pitchFamily="18" charset="0"/>
              </a:rPr>
              <a:t>–1 comparisons to partition the array. (It’s </a:t>
            </a:r>
            <a:r>
              <a:rPr lang="en-US" altLang="en-US" i="1" dirty="0">
                <a:cs typeface="Times New Roman" pitchFamily="18" charset="0"/>
              </a:rPr>
              <a:t>not</a:t>
            </a:r>
            <a:r>
              <a:rPr lang="en-US" altLang="en-US" dirty="0">
                <a:cs typeface="Times New Roman" pitchFamily="18" charset="0"/>
              </a:rPr>
              <a:t> a sort!)</a:t>
            </a:r>
          </a:p>
        </p:txBody>
      </p:sp>
      <p:sp>
        <p:nvSpPr>
          <p:cNvPr id="2" name="Slide Number Placeholder 1"/>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18981088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en-US" altLang="en-US" sz="3200" dirty="0"/>
              <a:t>Quick-sort </a:t>
            </a:r>
            <a:r>
              <a:rPr lang="en-US" altLang="en-US" sz="3200" i="1" dirty="0"/>
              <a:t>(6)</a:t>
            </a:r>
            <a:endParaRPr lang="en-GB" altLang="en-US" sz="3200" dirty="0"/>
          </a:p>
        </p:txBody>
      </p:sp>
      <p:sp>
        <p:nvSpPr>
          <p:cNvPr id="54275" name="Rectangle 3"/>
          <p:cNvSpPr>
            <a:spLocks noGrp="1" noChangeArrowheads="1"/>
          </p:cNvSpPr>
          <p:nvPr>
            <p:ph idx="1"/>
          </p:nvPr>
        </p:nvSpPr>
        <p:spPr>
          <a:xfrm>
            <a:off x="381000" y="1600200"/>
            <a:ext cx="7620000" cy="4800600"/>
          </a:xfrm>
          <a:noFill/>
        </p:spPr>
        <p:txBody>
          <a:bodyPr/>
          <a:lstStyle/>
          <a:p>
            <a:pPr eaLnBrk="1" hangingPunct="1">
              <a:buClr>
                <a:schemeClr val="tx1"/>
              </a:buClr>
              <a:tabLst>
                <a:tab pos="723900" algn="l"/>
                <a:tab pos="5562600" algn="l"/>
              </a:tabLst>
            </a:pPr>
            <a:r>
              <a:rPr lang="en-US" altLang="en-US" dirty="0">
                <a:cs typeface="Times New Roman" pitchFamily="18" charset="0"/>
              </a:rPr>
              <a:t>In the </a:t>
            </a:r>
            <a:r>
              <a:rPr lang="en-US" altLang="en-US" b="1" dirty="0">
                <a:cs typeface="Times New Roman" pitchFamily="18" charset="0"/>
              </a:rPr>
              <a:t>best case</a:t>
            </a:r>
            <a:r>
              <a:rPr lang="en-US" altLang="en-US" dirty="0">
                <a:cs typeface="Times New Roman" pitchFamily="18" charset="0"/>
              </a:rPr>
              <a:t>, the pivot always turns out to be the median element. So the left and right </a:t>
            </a:r>
            <a:r>
              <a:rPr lang="en-US" altLang="en-US" dirty="0" err="1">
                <a:cs typeface="Times New Roman" pitchFamily="18" charset="0"/>
              </a:rPr>
              <a:t>subarrays</a:t>
            </a:r>
            <a:r>
              <a:rPr lang="en-US" altLang="en-US" dirty="0">
                <a:cs typeface="Times New Roman" pitchFamily="18" charset="0"/>
              </a:rPr>
              <a:t> both have length about </a:t>
            </a:r>
            <a:r>
              <a:rPr lang="en-US" altLang="en-US" i="1" dirty="0">
                <a:cs typeface="Times New Roman" pitchFamily="18" charset="0"/>
              </a:rPr>
              <a:t>n</a:t>
            </a:r>
            <a:r>
              <a:rPr lang="en-US" altLang="en-US" dirty="0">
                <a:cs typeface="Times New Roman" pitchFamily="18" charset="0"/>
              </a:rPr>
              <a:t>/2. Steps 1.2 and 1.3 perform about </a:t>
            </a:r>
            <a:r>
              <a:rPr lang="en-US" altLang="en-US" i="1" dirty="0">
                <a:cs typeface="Times New Roman" pitchFamily="18" charset="0"/>
              </a:rPr>
              <a:t>comps</a:t>
            </a:r>
            <a:r>
              <a:rPr lang="en-US" altLang="en-US" dirty="0">
                <a:cs typeface="Times New Roman" pitchFamily="18" charset="0"/>
              </a:rPr>
              <a:t>(</a:t>
            </a:r>
            <a:r>
              <a:rPr lang="en-US" altLang="en-US" i="1" dirty="0">
                <a:cs typeface="Times New Roman" pitchFamily="18" charset="0"/>
              </a:rPr>
              <a:t>n</a:t>
            </a:r>
            <a:r>
              <a:rPr lang="en-US" altLang="en-US" dirty="0">
                <a:cs typeface="Times New Roman" pitchFamily="18" charset="0"/>
              </a:rPr>
              <a:t>/2) comparisons each.</a:t>
            </a:r>
          </a:p>
          <a:p>
            <a:pPr eaLnBrk="1" hangingPunct="1">
              <a:spcBef>
                <a:spcPts val="900"/>
              </a:spcBef>
              <a:buClr>
                <a:schemeClr val="tx1"/>
              </a:buClr>
              <a:buFont typeface="Wingdings" pitchFamily="2" charset="2"/>
              <a:buNone/>
              <a:tabLst>
                <a:tab pos="723900" algn="l"/>
                <a:tab pos="5562600" algn="l"/>
              </a:tabLst>
            </a:pPr>
            <a:r>
              <a:rPr lang="en-US" altLang="en-US" dirty="0">
                <a:cs typeface="Times New Roman" pitchFamily="18" charset="0"/>
              </a:rPr>
              <a:t>	Therefore:</a:t>
            </a:r>
            <a:br>
              <a:rPr lang="en-US" altLang="en-US" dirty="0">
                <a:cs typeface="Times New Roman" pitchFamily="18" charset="0"/>
              </a:rPr>
            </a:br>
            <a:r>
              <a:rPr lang="en-US" altLang="en-US" dirty="0">
                <a:cs typeface="Times New Roman" pitchFamily="18" charset="0"/>
              </a:rPr>
              <a:t>	</a:t>
            </a:r>
            <a:r>
              <a:rPr lang="en-US" altLang="en-US" i="1" dirty="0">
                <a:cs typeface="Times New Roman" pitchFamily="18" charset="0"/>
              </a:rPr>
              <a:t>comps</a:t>
            </a:r>
            <a:r>
              <a:rPr lang="en-US" altLang="en-US" dirty="0">
                <a:cs typeface="Times New Roman" pitchFamily="18" charset="0"/>
              </a:rPr>
              <a:t>(</a:t>
            </a:r>
            <a:r>
              <a:rPr lang="en-US" altLang="en-US" i="1" dirty="0">
                <a:cs typeface="Times New Roman" pitchFamily="18" charset="0"/>
              </a:rPr>
              <a:t>n</a:t>
            </a:r>
            <a:r>
              <a:rPr lang="en-US" altLang="en-US" dirty="0">
                <a:cs typeface="Times New Roman" pitchFamily="18" charset="0"/>
              </a:rPr>
              <a:t>)  </a:t>
            </a:r>
            <a:r>
              <a:rPr lang="en-US" altLang="en-US" dirty="0">
                <a:latin typeface="Symbol" pitchFamily="18" charset="2"/>
                <a:cs typeface="Times New Roman" pitchFamily="18" charset="0"/>
                <a:sym typeface="Symbol" pitchFamily="18" charset="2"/>
              </a:rPr>
              <a:t></a:t>
            </a:r>
            <a:r>
              <a:rPr lang="en-US" altLang="en-US" dirty="0">
                <a:cs typeface="Times New Roman" pitchFamily="18" charset="0"/>
              </a:rPr>
              <a:t>  2 </a:t>
            </a:r>
            <a:r>
              <a:rPr lang="en-US" altLang="en-US" i="1" dirty="0">
                <a:cs typeface="Times New Roman" pitchFamily="18" charset="0"/>
              </a:rPr>
              <a:t>comps</a:t>
            </a:r>
            <a:r>
              <a:rPr lang="en-US" altLang="en-US" dirty="0">
                <a:cs typeface="Times New Roman" pitchFamily="18" charset="0"/>
              </a:rPr>
              <a:t>(</a:t>
            </a:r>
            <a:r>
              <a:rPr lang="en-US" altLang="en-US" i="1" dirty="0">
                <a:cs typeface="Times New Roman" pitchFamily="18" charset="0"/>
              </a:rPr>
              <a:t>n</a:t>
            </a:r>
            <a:r>
              <a:rPr lang="en-US" altLang="en-US" dirty="0">
                <a:cs typeface="Times New Roman" pitchFamily="18" charset="0"/>
              </a:rPr>
              <a:t>/2) + </a:t>
            </a:r>
            <a:r>
              <a:rPr lang="en-US" altLang="en-US" i="1" dirty="0">
                <a:cs typeface="Times New Roman" pitchFamily="18" charset="0"/>
              </a:rPr>
              <a:t>n</a:t>
            </a:r>
            <a:r>
              <a:rPr lang="en-US" altLang="en-US" dirty="0">
                <a:cs typeface="Times New Roman" pitchFamily="18" charset="0"/>
              </a:rPr>
              <a:t> – 1	if </a:t>
            </a:r>
            <a:r>
              <a:rPr lang="en-US" altLang="en-US" i="1" dirty="0">
                <a:cs typeface="Times New Roman" pitchFamily="18" charset="0"/>
              </a:rPr>
              <a:t>n</a:t>
            </a:r>
            <a:r>
              <a:rPr lang="en-US" altLang="en-US" dirty="0">
                <a:cs typeface="Times New Roman" pitchFamily="18" charset="0"/>
              </a:rPr>
              <a:t> &gt; 1</a:t>
            </a:r>
            <a:br>
              <a:rPr lang="en-US" altLang="en-US" dirty="0">
                <a:cs typeface="Times New Roman" pitchFamily="18" charset="0"/>
              </a:rPr>
            </a:br>
            <a:r>
              <a:rPr lang="en-US" altLang="en-US" dirty="0">
                <a:cs typeface="Times New Roman" pitchFamily="18" charset="0"/>
              </a:rPr>
              <a:t>	</a:t>
            </a:r>
            <a:r>
              <a:rPr lang="en-US" altLang="en-US" i="1" dirty="0">
                <a:cs typeface="Times New Roman" pitchFamily="18" charset="0"/>
              </a:rPr>
              <a:t>comps</a:t>
            </a:r>
            <a:r>
              <a:rPr lang="en-US" altLang="en-US" dirty="0">
                <a:cs typeface="Times New Roman" pitchFamily="18" charset="0"/>
              </a:rPr>
              <a:t>(</a:t>
            </a:r>
            <a:r>
              <a:rPr lang="en-US" altLang="en-US" i="1" dirty="0">
                <a:cs typeface="Times New Roman" pitchFamily="18" charset="0"/>
              </a:rPr>
              <a:t>n</a:t>
            </a:r>
            <a:r>
              <a:rPr lang="en-US" altLang="en-US" dirty="0">
                <a:cs typeface="Times New Roman" pitchFamily="18" charset="0"/>
              </a:rPr>
              <a:t>)  =  0	if </a:t>
            </a:r>
            <a:r>
              <a:rPr lang="en-US" altLang="en-US" i="1" dirty="0">
                <a:cs typeface="Times New Roman" pitchFamily="18" charset="0"/>
              </a:rPr>
              <a:t>n</a:t>
            </a:r>
            <a:r>
              <a:rPr lang="en-US" altLang="en-US" dirty="0">
                <a:cs typeface="Times New Roman" pitchFamily="18" charset="0"/>
              </a:rPr>
              <a:t> </a:t>
            </a:r>
            <a:r>
              <a:rPr lang="en-US" altLang="en-US" dirty="0">
                <a:latin typeface="Symbol" pitchFamily="18" charset="2"/>
                <a:cs typeface="Times New Roman" pitchFamily="18" charset="0"/>
                <a:sym typeface="Symbol" pitchFamily="18" charset="2"/>
              </a:rPr>
              <a:t></a:t>
            </a:r>
            <a:r>
              <a:rPr lang="en-US" altLang="en-US" dirty="0">
                <a:cs typeface="Times New Roman" pitchFamily="18" charset="0"/>
              </a:rPr>
              <a:t> 1</a:t>
            </a:r>
          </a:p>
          <a:p>
            <a:pPr eaLnBrk="1" hangingPunct="1">
              <a:spcBef>
                <a:spcPts val="900"/>
              </a:spcBef>
              <a:buClr>
                <a:schemeClr val="tx1"/>
              </a:buClr>
              <a:buFont typeface="Wingdings" pitchFamily="2" charset="2"/>
              <a:buNone/>
              <a:tabLst>
                <a:tab pos="723900" algn="l"/>
                <a:tab pos="5562600" algn="l"/>
              </a:tabLst>
            </a:pPr>
            <a:r>
              <a:rPr lang="en-US" altLang="en-US" dirty="0">
                <a:cs typeface="Times New Roman" pitchFamily="18" charset="0"/>
              </a:rPr>
              <a:t>	Solution:</a:t>
            </a:r>
            <a:br>
              <a:rPr lang="en-US" altLang="en-US" dirty="0">
                <a:cs typeface="Times New Roman" pitchFamily="18" charset="0"/>
              </a:rPr>
            </a:br>
            <a:r>
              <a:rPr lang="en-US" altLang="en-US" dirty="0">
                <a:cs typeface="Times New Roman" pitchFamily="18" charset="0"/>
              </a:rPr>
              <a:t>	</a:t>
            </a:r>
            <a:r>
              <a:rPr lang="en-US" altLang="en-US" i="1" dirty="0">
                <a:cs typeface="Times New Roman" pitchFamily="18" charset="0"/>
              </a:rPr>
              <a:t>comps</a:t>
            </a:r>
            <a:r>
              <a:rPr lang="en-US" altLang="en-US" dirty="0">
                <a:cs typeface="Times New Roman" pitchFamily="18" charset="0"/>
              </a:rPr>
              <a:t>(</a:t>
            </a:r>
            <a:r>
              <a:rPr lang="en-US" altLang="en-US" i="1" dirty="0">
                <a:cs typeface="Times New Roman" pitchFamily="18" charset="0"/>
              </a:rPr>
              <a:t>n</a:t>
            </a:r>
            <a:r>
              <a:rPr lang="en-US" altLang="en-US" dirty="0">
                <a:cs typeface="Times New Roman" pitchFamily="18" charset="0"/>
              </a:rPr>
              <a:t>)  </a:t>
            </a:r>
            <a:r>
              <a:rPr lang="en-US" altLang="en-US" dirty="0">
                <a:latin typeface="Symbol" pitchFamily="18" charset="2"/>
                <a:cs typeface="Times New Roman" pitchFamily="18" charset="0"/>
                <a:sym typeface="Symbol" pitchFamily="18" charset="2"/>
              </a:rPr>
              <a:t></a:t>
            </a:r>
            <a:r>
              <a:rPr lang="en-US" altLang="en-US" dirty="0">
                <a:cs typeface="Times New Roman" pitchFamily="18" charset="0"/>
              </a:rPr>
              <a:t>  </a:t>
            </a:r>
            <a:r>
              <a:rPr lang="en-US" altLang="en-US" i="1" dirty="0">
                <a:cs typeface="Times New Roman" pitchFamily="18" charset="0"/>
              </a:rPr>
              <a:t>n</a:t>
            </a:r>
            <a:r>
              <a:rPr lang="en-US" altLang="en-US" dirty="0">
                <a:cs typeface="Times New Roman" pitchFamily="18" charset="0"/>
              </a:rPr>
              <a:t> log</a:t>
            </a:r>
            <a:r>
              <a:rPr lang="en-US" altLang="en-US" baseline="-25000" dirty="0">
                <a:cs typeface="Times New Roman" pitchFamily="18" charset="0"/>
              </a:rPr>
              <a:t>2</a:t>
            </a:r>
            <a:r>
              <a:rPr lang="en-US" altLang="en-US" i="1" dirty="0">
                <a:cs typeface="Times New Roman" pitchFamily="18" charset="0"/>
              </a:rPr>
              <a:t>n</a:t>
            </a:r>
            <a:endParaRPr lang="en-US" altLang="en-US" dirty="0">
              <a:cs typeface="Times New Roman" pitchFamily="18" charset="0"/>
            </a:endParaRPr>
          </a:p>
          <a:p>
            <a:pPr eaLnBrk="1" hangingPunct="1">
              <a:spcBef>
                <a:spcPts val="900"/>
              </a:spcBef>
              <a:buClr>
                <a:schemeClr val="tx1"/>
              </a:buClr>
              <a:buFont typeface="Wingdings" pitchFamily="2" charset="2"/>
              <a:buNone/>
              <a:tabLst>
                <a:tab pos="723900" algn="l"/>
                <a:tab pos="5562600" algn="l"/>
              </a:tabLst>
            </a:pPr>
            <a:r>
              <a:rPr lang="en-US" altLang="en-US" dirty="0">
                <a:cs typeface="Times New Roman" pitchFamily="18" charset="0"/>
              </a:rPr>
              <a:t>	Best-case time complexity is </a:t>
            </a:r>
            <a:r>
              <a:rPr lang="en-US" altLang="en-US" i="1" dirty="0">
                <a:cs typeface="Times New Roman" pitchFamily="18" charset="0"/>
              </a:rPr>
              <a:t>O</a:t>
            </a:r>
            <a:r>
              <a:rPr lang="en-US" altLang="en-US" dirty="0">
                <a:cs typeface="Times New Roman" pitchFamily="18" charset="0"/>
              </a:rPr>
              <a:t>(</a:t>
            </a:r>
            <a:r>
              <a:rPr lang="en-US" altLang="en-US" i="1" dirty="0">
                <a:cs typeface="Times New Roman" pitchFamily="18" charset="0"/>
              </a:rPr>
              <a:t>n</a:t>
            </a:r>
            <a:r>
              <a:rPr lang="en-US" altLang="en-US" dirty="0">
                <a:cs typeface="Times New Roman" pitchFamily="18" charset="0"/>
              </a:rPr>
              <a:t> log </a:t>
            </a:r>
            <a:r>
              <a:rPr lang="en-US" altLang="en-US" i="1" dirty="0">
                <a:cs typeface="Times New Roman" pitchFamily="18" charset="0"/>
              </a:rPr>
              <a:t>n</a:t>
            </a:r>
            <a:r>
              <a:rPr lang="en-US" altLang="en-US" dirty="0">
                <a:cs typeface="Times New Roman" pitchFamily="18" charset="0"/>
              </a:rPr>
              <a:t>).</a:t>
            </a:r>
          </a:p>
        </p:txBody>
      </p:sp>
      <p:sp>
        <p:nvSpPr>
          <p:cNvPr id="2" name="Slide Number Placeholder 1"/>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27862330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en-US" altLang="en-US" sz="3200" dirty="0"/>
              <a:t>Quick-sort </a:t>
            </a:r>
            <a:r>
              <a:rPr lang="en-US" altLang="en-US" sz="3200" i="1" dirty="0"/>
              <a:t>(7)</a:t>
            </a:r>
            <a:endParaRPr lang="en-GB" altLang="en-US" sz="3200" dirty="0"/>
          </a:p>
        </p:txBody>
      </p:sp>
      <p:sp>
        <p:nvSpPr>
          <p:cNvPr id="55299" name="Rectangle 3"/>
          <p:cNvSpPr>
            <a:spLocks noGrp="1" noChangeArrowheads="1"/>
          </p:cNvSpPr>
          <p:nvPr>
            <p:ph idx="1"/>
          </p:nvPr>
        </p:nvSpPr>
        <p:spPr>
          <a:xfrm>
            <a:off x="468923" y="1286500"/>
            <a:ext cx="7237412" cy="4645025"/>
          </a:xfrm>
          <a:noFill/>
        </p:spPr>
        <p:txBody>
          <a:bodyPr/>
          <a:lstStyle/>
          <a:p>
            <a:pPr eaLnBrk="1" hangingPunct="1">
              <a:lnSpc>
                <a:spcPct val="90000"/>
              </a:lnSpc>
              <a:buClr>
                <a:schemeClr val="tx1"/>
              </a:buClr>
              <a:tabLst>
                <a:tab pos="723900" algn="l"/>
                <a:tab pos="5384800" algn="l"/>
              </a:tabLst>
            </a:pPr>
            <a:r>
              <a:rPr lang="en-US" altLang="en-US" dirty="0">
                <a:cs typeface="Times New Roman" pitchFamily="18" charset="0"/>
              </a:rPr>
              <a:t>In the </a:t>
            </a:r>
            <a:r>
              <a:rPr lang="en-US" altLang="en-US" b="1" dirty="0">
                <a:cs typeface="Times New Roman" pitchFamily="18" charset="0"/>
              </a:rPr>
              <a:t>worst case</a:t>
            </a:r>
            <a:r>
              <a:rPr lang="en-US" altLang="en-US" dirty="0">
                <a:cs typeface="Times New Roman" pitchFamily="18" charset="0"/>
              </a:rPr>
              <a:t>, the pivot always turns out to be the smallest element. So the right </a:t>
            </a:r>
            <a:r>
              <a:rPr lang="en-US" altLang="en-US" dirty="0" err="1">
                <a:cs typeface="Times New Roman" pitchFamily="18" charset="0"/>
              </a:rPr>
              <a:t>subarray</a:t>
            </a:r>
            <a:r>
              <a:rPr lang="en-US" altLang="en-US" dirty="0">
                <a:cs typeface="Times New Roman" pitchFamily="18" charset="0"/>
              </a:rPr>
              <a:t> has length </a:t>
            </a:r>
            <a:r>
              <a:rPr lang="en-US" altLang="en-US" i="1" dirty="0">
                <a:cs typeface="Times New Roman" pitchFamily="18" charset="0"/>
              </a:rPr>
              <a:t>n</a:t>
            </a:r>
            <a:r>
              <a:rPr lang="en-US" altLang="en-US" dirty="0">
                <a:cs typeface="Times New Roman" pitchFamily="18" charset="0"/>
              </a:rPr>
              <a:t>–1 whilst the left </a:t>
            </a:r>
            <a:r>
              <a:rPr lang="en-US" altLang="en-US" dirty="0" err="1">
                <a:cs typeface="Times New Roman" pitchFamily="18" charset="0"/>
              </a:rPr>
              <a:t>subarray</a:t>
            </a:r>
            <a:r>
              <a:rPr lang="en-US" altLang="en-US" dirty="0">
                <a:cs typeface="Times New Roman" pitchFamily="18" charset="0"/>
              </a:rPr>
              <a:t> is empty. Step 1.3 performs </a:t>
            </a:r>
            <a:r>
              <a:rPr lang="en-US" altLang="en-US" i="1" dirty="0">
                <a:cs typeface="Times New Roman" pitchFamily="18" charset="0"/>
              </a:rPr>
              <a:t>comps</a:t>
            </a:r>
            <a:r>
              <a:rPr lang="en-US" altLang="en-US" dirty="0">
                <a:cs typeface="Times New Roman" pitchFamily="18" charset="0"/>
              </a:rPr>
              <a:t>(</a:t>
            </a:r>
            <a:r>
              <a:rPr lang="en-US" altLang="en-US" i="1" dirty="0">
                <a:cs typeface="Times New Roman" pitchFamily="18" charset="0"/>
              </a:rPr>
              <a:t>n</a:t>
            </a:r>
            <a:r>
              <a:rPr lang="en-US" altLang="en-US" dirty="0">
                <a:cs typeface="Times New Roman" pitchFamily="18" charset="0"/>
              </a:rPr>
              <a:t>–1) comparisons, but step 1.2 does nothing at all.</a:t>
            </a:r>
          </a:p>
          <a:p>
            <a:pPr eaLnBrk="1" hangingPunct="1">
              <a:lnSpc>
                <a:spcPct val="90000"/>
              </a:lnSpc>
              <a:spcBef>
                <a:spcPts val="900"/>
              </a:spcBef>
              <a:buClr>
                <a:schemeClr val="tx1"/>
              </a:buClr>
              <a:buFont typeface="Wingdings" pitchFamily="2" charset="2"/>
              <a:buNone/>
              <a:tabLst>
                <a:tab pos="723900" algn="l"/>
                <a:tab pos="5384800" algn="l"/>
              </a:tabLst>
            </a:pPr>
            <a:r>
              <a:rPr lang="en-US" altLang="en-US" dirty="0">
                <a:cs typeface="Times New Roman" pitchFamily="18" charset="0"/>
              </a:rPr>
              <a:t>	Therefore:</a:t>
            </a:r>
            <a:br>
              <a:rPr lang="en-US" altLang="en-US" dirty="0">
                <a:cs typeface="Times New Roman" pitchFamily="18" charset="0"/>
              </a:rPr>
            </a:br>
            <a:r>
              <a:rPr lang="en-US" altLang="en-US" dirty="0">
                <a:cs typeface="Times New Roman" pitchFamily="18" charset="0"/>
              </a:rPr>
              <a:t>	</a:t>
            </a:r>
            <a:r>
              <a:rPr lang="en-US" altLang="en-US" i="1" dirty="0">
                <a:cs typeface="Times New Roman" pitchFamily="18" charset="0"/>
              </a:rPr>
              <a:t>comps</a:t>
            </a:r>
            <a:r>
              <a:rPr lang="en-US" altLang="en-US" dirty="0">
                <a:cs typeface="Times New Roman" pitchFamily="18" charset="0"/>
              </a:rPr>
              <a:t>(</a:t>
            </a:r>
            <a:r>
              <a:rPr lang="en-US" altLang="en-US" i="1" dirty="0">
                <a:cs typeface="Times New Roman" pitchFamily="18" charset="0"/>
              </a:rPr>
              <a:t>n</a:t>
            </a:r>
            <a:r>
              <a:rPr lang="en-US" altLang="en-US" dirty="0">
                <a:cs typeface="Times New Roman" pitchFamily="18" charset="0"/>
              </a:rPr>
              <a:t>)  </a:t>
            </a:r>
            <a:r>
              <a:rPr lang="en-US" altLang="en-US" dirty="0">
                <a:latin typeface="Symbol" pitchFamily="18" charset="2"/>
                <a:cs typeface="Times New Roman" pitchFamily="18" charset="0"/>
                <a:sym typeface="Symbol" pitchFamily="18" charset="2"/>
              </a:rPr>
              <a:t></a:t>
            </a:r>
            <a:r>
              <a:rPr lang="en-US" altLang="en-US" dirty="0">
                <a:cs typeface="Times New Roman" pitchFamily="18" charset="0"/>
              </a:rPr>
              <a:t>  </a:t>
            </a:r>
            <a:r>
              <a:rPr lang="en-US" altLang="en-US" i="1" dirty="0">
                <a:cs typeface="Times New Roman" pitchFamily="18" charset="0"/>
              </a:rPr>
              <a:t>comps</a:t>
            </a:r>
            <a:r>
              <a:rPr lang="en-US" altLang="en-US" dirty="0">
                <a:cs typeface="Times New Roman" pitchFamily="18" charset="0"/>
              </a:rPr>
              <a:t>(</a:t>
            </a:r>
            <a:r>
              <a:rPr lang="en-US" altLang="en-US" i="1" dirty="0">
                <a:cs typeface="Times New Roman" pitchFamily="18" charset="0"/>
              </a:rPr>
              <a:t>n</a:t>
            </a:r>
            <a:r>
              <a:rPr lang="en-US" altLang="en-US" dirty="0">
                <a:cs typeface="Times New Roman" pitchFamily="18" charset="0"/>
              </a:rPr>
              <a:t>–1) + </a:t>
            </a:r>
            <a:r>
              <a:rPr lang="en-US" altLang="en-US" i="1" dirty="0">
                <a:cs typeface="Times New Roman" pitchFamily="18" charset="0"/>
              </a:rPr>
              <a:t>n</a:t>
            </a:r>
            <a:r>
              <a:rPr lang="en-US" altLang="en-US" dirty="0">
                <a:cs typeface="Times New Roman" pitchFamily="18" charset="0"/>
              </a:rPr>
              <a:t> – 1	if </a:t>
            </a:r>
            <a:r>
              <a:rPr lang="en-US" altLang="en-US" i="1" dirty="0">
                <a:cs typeface="Times New Roman" pitchFamily="18" charset="0"/>
              </a:rPr>
              <a:t>n</a:t>
            </a:r>
            <a:r>
              <a:rPr lang="en-US" altLang="en-US" dirty="0">
                <a:cs typeface="Times New Roman" pitchFamily="18" charset="0"/>
              </a:rPr>
              <a:t> &gt; 1</a:t>
            </a:r>
            <a:br>
              <a:rPr lang="en-US" altLang="en-US" dirty="0">
                <a:cs typeface="Times New Roman" pitchFamily="18" charset="0"/>
              </a:rPr>
            </a:br>
            <a:r>
              <a:rPr lang="en-US" altLang="en-US" dirty="0">
                <a:cs typeface="Times New Roman" pitchFamily="18" charset="0"/>
              </a:rPr>
              <a:t>	</a:t>
            </a:r>
            <a:r>
              <a:rPr lang="en-US" altLang="en-US" i="1" dirty="0">
                <a:cs typeface="Times New Roman" pitchFamily="18" charset="0"/>
              </a:rPr>
              <a:t>comps</a:t>
            </a:r>
            <a:r>
              <a:rPr lang="en-US" altLang="en-US" dirty="0">
                <a:cs typeface="Times New Roman" pitchFamily="18" charset="0"/>
              </a:rPr>
              <a:t>(</a:t>
            </a:r>
            <a:r>
              <a:rPr lang="en-US" altLang="en-US" i="1" dirty="0">
                <a:cs typeface="Times New Roman" pitchFamily="18" charset="0"/>
              </a:rPr>
              <a:t>n</a:t>
            </a:r>
            <a:r>
              <a:rPr lang="en-US" altLang="en-US" dirty="0">
                <a:cs typeface="Times New Roman" pitchFamily="18" charset="0"/>
              </a:rPr>
              <a:t>)  =  0	if </a:t>
            </a:r>
            <a:r>
              <a:rPr lang="en-US" altLang="en-US" i="1" dirty="0">
                <a:cs typeface="Times New Roman" pitchFamily="18" charset="0"/>
              </a:rPr>
              <a:t>n</a:t>
            </a:r>
            <a:r>
              <a:rPr lang="en-US" altLang="en-US" dirty="0">
                <a:cs typeface="Times New Roman" pitchFamily="18" charset="0"/>
              </a:rPr>
              <a:t> </a:t>
            </a:r>
            <a:r>
              <a:rPr lang="en-US" altLang="en-US" dirty="0">
                <a:latin typeface="Symbol" pitchFamily="18" charset="2"/>
                <a:cs typeface="Times New Roman" pitchFamily="18" charset="0"/>
                <a:sym typeface="Symbol" pitchFamily="18" charset="2"/>
              </a:rPr>
              <a:t></a:t>
            </a:r>
            <a:r>
              <a:rPr lang="en-US" altLang="en-US" dirty="0">
                <a:cs typeface="Times New Roman" pitchFamily="18" charset="0"/>
              </a:rPr>
              <a:t> 1</a:t>
            </a:r>
          </a:p>
          <a:p>
            <a:pPr eaLnBrk="1" hangingPunct="1">
              <a:lnSpc>
                <a:spcPct val="90000"/>
              </a:lnSpc>
              <a:spcBef>
                <a:spcPts val="900"/>
              </a:spcBef>
              <a:buClr>
                <a:schemeClr val="tx1"/>
              </a:buClr>
              <a:buFont typeface="Wingdings" pitchFamily="2" charset="2"/>
              <a:buNone/>
              <a:tabLst>
                <a:tab pos="723900" algn="l"/>
                <a:tab pos="5384800" algn="l"/>
              </a:tabLst>
            </a:pPr>
            <a:r>
              <a:rPr lang="en-US" altLang="en-US" dirty="0">
                <a:cs typeface="Times New Roman" pitchFamily="18" charset="0"/>
              </a:rPr>
              <a:t>	Solution:</a:t>
            </a:r>
            <a:br>
              <a:rPr lang="en-US" altLang="en-US" dirty="0">
                <a:cs typeface="Times New Roman" pitchFamily="18" charset="0"/>
              </a:rPr>
            </a:br>
            <a:r>
              <a:rPr lang="en-US" altLang="en-US" dirty="0">
                <a:cs typeface="Times New Roman" pitchFamily="18" charset="0"/>
              </a:rPr>
              <a:t>	</a:t>
            </a:r>
            <a:r>
              <a:rPr lang="en-US" altLang="en-US" i="1" dirty="0">
                <a:cs typeface="Times New Roman" pitchFamily="18" charset="0"/>
              </a:rPr>
              <a:t>comps</a:t>
            </a:r>
            <a:r>
              <a:rPr lang="en-US" altLang="en-US" dirty="0">
                <a:cs typeface="Times New Roman" pitchFamily="18" charset="0"/>
              </a:rPr>
              <a:t>(</a:t>
            </a:r>
            <a:r>
              <a:rPr lang="en-US" altLang="en-US" i="1" dirty="0">
                <a:cs typeface="Times New Roman" pitchFamily="18" charset="0"/>
              </a:rPr>
              <a:t>n</a:t>
            </a:r>
            <a:r>
              <a:rPr lang="en-US" altLang="en-US" dirty="0">
                <a:cs typeface="Times New Roman" pitchFamily="18" charset="0"/>
              </a:rPr>
              <a:t>)  </a:t>
            </a:r>
            <a:r>
              <a:rPr lang="en-US" altLang="en-US" dirty="0">
                <a:latin typeface="Symbol" pitchFamily="18" charset="2"/>
                <a:cs typeface="Times New Roman" pitchFamily="18" charset="0"/>
                <a:sym typeface="Symbol" pitchFamily="18" charset="2"/>
              </a:rPr>
              <a:t></a:t>
            </a:r>
            <a:r>
              <a:rPr lang="en-US" altLang="en-US" dirty="0">
                <a:cs typeface="Times New Roman" pitchFamily="18" charset="0"/>
              </a:rPr>
              <a:t>  (</a:t>
            </a:r>
            <a:r>
              <a:rPr lang="en-US" altLang="en-US" i="1" dirty="0">
                <a:cs typeface="Times New Roman" pitchFamily="18" charset="0"/>
              </a:rPr>
              <a:t>n</a:t>
            </a:r>
            <a:r>
              <a:rPr lang="en-US" altLang="en-US" baseline="30000" dirty="0">
                <a:cs typeface="Times New Roman" pitchFamily="18" charset="0"/>
              </a:rPr>
              <a:t>2</a:t>
            </a:r>
            <a:r>
              <a:rPr lang="en-US" altLang="en-US" dirty="0">
                <a:cs typeface="Times New Roman" pitchFamily="18" charset="0"/>
              </a:rPr>
              <a:t> – </a:t>
            </a:r>
            <a:r>
              <a:rPr lang="en-US" altLang="en-US" i="1" dirty="0">
                <a:cs typeface="Times New Roman" pitchFamily="18" charset="0"/>
              </a:rPr>
              <a:t>n</a:t>
            </a:r>
            <a:r>
              <a:rPr lang="en-US" altLang="en-US" dirty="0">
                <a:cs typeface="Times New Roman" pitchFamily="18" charset="0"/>
              </a:rPr>
              <a:t>)/2  </a:t>
            </a:r>
            <a:r>
              <a:rPr lang="en-US" altLang="en-US" dirty="0">
                <a:latin typeface="Symbol" pitchFamily="18" charset="2"/>
                <a:cs typeface="Times New Roman" pitchFamily="18" charset="0"/>
                <a:sym typeface="Symbol" pitchFamily="18" charset="2"/>
              </a:rPr>
              <a:t></a:t>
            </a:r>
            <a:r>
              <a:rPr lang="en-US" altLang="en-US" dirty="0">
                <a:cs typeface="Times New Roman" pitchFamily="18" charset="0"/>
              </a:rPr>
              <a:t>  </a:t>
            </a:r>
            <a:r>
              <a:rPr lang="en-US" altLang="en-US" i="1" dirty="0">
                <a:cs typeface="Times New Roman" pitchFamily="18" charset="0"/>
              </a:rPr>
              <a:t>n</a:t>
            </a:r>
            <a:r>
              <a:rPr lang="en-US" altLang="en-US" baseline="30000" dirty="0">
                <a:cs typeface="Times New Roman" pitchFamily="18" charset="0"/>
              </a:rPr>
              <a:t>2</a:t>
            </a:r>
            <a:r>
              <a:rPr lang="en-US" altLang="en-US" dirty="0">
                <a:cs typeface="Times New Roman" pitchFamily="18" charset="0"/>
              </a:rPr>
              <a:t>/2</a:t>
            </a:r>
          </a:p>
          <a:p>
            <a:pPr eaLnBrk="1" hangingPunct="1">
              <a:lnSpc>
                <a:spcPct val="90000"/>
              </a:lnSpc>
              <a:spcBef>
                <a:spcPts val="900"/>
              </a:spcBef>
              <a:buClr>
                <a:schemeClr val="tx1"/>
              </a:buClr>
              <a:buFont typeface="Wingdings" pitchFamily="2" charset="2"/>
              <a:buNone/>
              <a:tabLst>
                <a:tab pos="723900" algn="l"/>
                <a:tab pos="5384800" algn="l"/>
              </a:tabLst>
            </a:pPr>
            <a:r>
              <a:rPr lang="en-US" altLang="en-US" dirty="0">
                <a:cs typeface="Times New Roman" pitchFamily="18" charset="0"/>
              </a:rPr>
              <a:t>	Worst-case time complexity is </a:t>
            </a:r>
            <a:r>
              <a:rPr lang="en-US" altLang="en-US" i="1" dirty="0">
                <a:cs typeface="Times New Roman" pitchFamily="18" charset="0"/>
              </a:rPr>
              <a:t>O</a:t>
            </a:r>
            <a:r>
              <a:rPr lang="en-US" altLang="en-US" dirty="0">
                <a:cs typeface="Times New Roman" pitchFamily="18" charset="0"/>
              </a:rPr>
              <a:t>(</a:t>
            </a:r>
            <a:r>
              <a:rPr lang="en-US" altLang="en-US" i="1" dirty="0">
                <a:cs typeface="Times New Roman" pitchFamily="18" charset="0"/>
              </a:rPr>
              <a:t>n</a:t>
            </a:r>
            <a:r>
              <a:rPr lang="en-US" altLang="en-US" baseline="30000" dirty="0">
                <a:cs typeface="Times New Roman" pitchFamily="18" charset="0"/>
              </a:rPr>
              <a:t>2</a:t>
            </a:r>
            <a:r>
              <a:rPr lang="en-US" altLang="en-US" dirty="0">
                <a:cs typeface="Times New Roman" pitchFamily="18" charset="0"/>
              </a:rPr>
              <a:t>).</a:t>
            </a:r>
          </a:p>
          <a:p>
            <a:pPr eaLnBrk="1" hangingPunct="1">
              <a:lnSpc>
                <a:spcPct val="90000"/>
              </a:lnSpc>
              <a:buClr>
                <a:schemeClr val="tx1"/>
              </a:buClr>
              <a:tabLst>
                <a:tab pos="723900" algn="l"/>
                <a:tab pos="5384800" algn="l"/>
              </a:tabLst>
            </a:pPr>
            <a:r>
              <a:rPr lang="en-US" altLang="en-US" dirty="0">
                <a:cs typeface="Times New Roman" pitchFamily="18" charset="0"/>
              </a:rPr>
              <a:t>This case arises if the array is already sorted!</a:t>
            </a:r>
          </a:p>
        </p:txBody>
      </p:sp>
      <p:sp>
        <p:nvSpPr>
          <p:cNvPr id="2" name="Slide Number Placeholder 1"/>
          <p:cNvSpPr>
            <a:spLocks noGrp="1"/>
          </p:cNvSpPr>
          <p:nvPr>
            <p:ph type="sldNum" sz="quarter" idx="12"/>
          </p:nvPr>
        </p:nvSpPr>
        <p:spPr/>
        <p:txBody>
          <a:bodyPr/>
          <a:lstStyle/>
          <a:p>
            <a:fld id="{B6F15528-21DE-4FAA-801E-634DDDAF4B2B}" type="slidenum">
              <a:rPr lang="en-US" smtClean="0"/>
              <a:pPr/>
              <a:t>31</a:t>
            </a:fld>
            <a:endParaRPr lang="en-US"/>
          </a:p>
        </p:txBody>
      </p:sp>
      <p:sp>
        <p:nvSpPr>
          <p:cNvPr id="5" name="Rectangle 3">
            <a:extLst>
              <a:ext uri="{FF2B5EF4-FFF2-40B4-BE49-F238E27FC236}">
                <a16:creationId xmlns:a16="http://schemas.microsoft.com/office/drawing/2014/main" id="{CCB7D109-CC4C-B44D-80E8-110BE374CF28}"/>
              </a:ext>
            </a:extLst>
          </p:cNvPr>
          <p:cNvSpPr txBox="1">
            <a:spLocks noChangeArrowheads="1"/>
          </p:cNvSpPr>
          <p:nvPr/>
        </p:nvSpPr>
        <p:spPr>
          <a:xfrm>
            <a:off x="445477" y="5931525"/>
            <a:ext cx="8229600" cy="786150"/>
          </a:xfrm>
          <a:prstGeom prst="rect">
            <a:avLst/>
          </a:prstGeom>
          <a:solidFill>
            <a:srgbClr val="FFFF00"/>
          </a:solidFill>
        </p:spPr>
        <p:txBody>
          <a:bodyPr vert="horz" lIns="91440" tIns="45720" rIns="91440" bIns="45720" rtlCol="0">
            <a:normAutofit lnSpcReduction="10000"/>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a:tabLst>
                <a:tab pos="723900" algn="l"/>
                <a:tab pos="5562600" algn="l"/>
              </a:tabLst>
            </a:pPr>
            <a:r>
              <a:rPr lang="en-US" altLang="en-US" dirty="0">
                <a:cs typeface="Times New Roman" pitchFamily="18" charset="0"/>
              </a:rPr>
              <a:t>Omit next two slides if you don’t want to see the proof – it is not examinable!!</a:t>
            </a:r>
          </a:p>
        </p:txBody>
      </p:sp>
    </p:spTree>
    <p:extLst>
      <p:ext uri="{BB962C8B-B14F-4D97-AF65-F5344CB8AC3E}">
        <p14:creationId xmlns:p14="http://schemas.microsoft.com/office/powerpoint/2010/main" val="38255657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 y="245975"/>
            <a:ext cx="8534400" cy="990600"/>
          </a:xfrm>
        </p:spPr>
        <p:txBody>
          <a:bodyPr>
            <a:normAutofit fontScale="90000"/>
          </a:bodyPr>
          <a:lstStyle/>
          <a:p>
            <a:r>
              <a:rPr lang="en-GB" sz="3200" dirty="0"/>
              <a:t>Proof that quick-sort has worst case complexity </a:t>
            </a:r>
            <a:r>
              <a:rPr lang="en-GB" sz="3200"/>
              <a:t>O(n</a:t>
            </a:r>
            <a:r>
              <a:rPr lang="en-GB" sz="3200" baseline="30000"/>
              <a:t>2</a:t>
            </a:r>
            <a:r>
              <a:rPr lang="en-GB" sz="3200"/>
              <a:t>)</a:t>
            </a:r>
            <a:br>
              <a:rPr lang="en-GB" sz="3200"/>
            </a:br>
            <a:r>
              <a:rPr lang="en-GB" sz="3200"/>
              <a:t>For interest only.</a:t>
            </a:r>
            <a:endParaRPr lang="en-GB" sz="3200"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32</a:t>
            </a:fld>
            <a:endParaRPr lang="en-US"/>
          </a:p>
        </p:txBody>
      </p:sp>
      <p:sp>
        <p:nvSpPr>
          <p:cNvPr id="4" name="TextBox 3"/>
          <p:cNvSpPr txBox="1"/>
          <p:nvPr/>
        </p:nvSpPr>
        <p:spPr>
          <a:xfrm>
            <a:off x="152400" y="1297492"/>
            <a:ext cx="8001000" cy="5078313"/>
          </a:xfrm>
          <a:prstGeom prst="rect">
            <a:avLst/>
          </a:prstGeom>
          <a:noFill/>
        </p:spPr>
        <p:txBody>
          <a:bodyPr wrap="square" rtlCol="0">
            <a:spAutoFit/>
          </a:bodyPr>
          <a:lstStyle/>
          <a:p>
            <a:r>
              <a:rPr lang="en-GB" dirty="0"/>
              <a:t>Use c(n) to denote comps(n)</a:t>
            </a:r>
          </a:p>
          <a:p>
            <a:endParaRPr lang="en-GB" dirty="0"/>
          </a:p>
          <a:p>
            <a:r>
              <a:rPr lang="en-GB" dirty="0"/>
              <a:t>c(n) = c(n-1) + n – 1                                          (1)</a:t>
            </a:r>
          </a:p>
          <a:p>
            <a:endParaRPr lang="en-GB" dirty="0"/>
          </a:p>
          <a:p>
            <a:r>
              <a:rPr lang="en-GB" dirty="0"/>
              <a:t>Apply equation (1) to n-1 to get:</a:t>
            </a:r>
          </a:p>
          <a:p>
            <a:r>
              <a:rPr lang="en-GB" dirty="0"/>
              <a:t>c(n-1) = c(n-2) + (n-1) -1</a:t>
            </a:r>
          </a:p>
          <a:p>
            <a:endParaRPr lang="en-GB" dirty="0"/>
          </a:p>
          <a:p>
            <a:r>
              <a:rPr lang="en-GB" dirty="0"/>
              <a:t>so</a:t>
            </a:r>
          </a:p>
          <a:p>
            <a:r>
              <a:rPr lang="en-GB" dirty="0"/>
              <a:t>c(n) = c(n-2) + n + (n-1) -2                                       (2)</a:t>
            </a:r>
          </a:p>
          <a:p>
            <a:endParaRPr lang="en-GB" dirty="0"/>
          </a:p>
          <a:p>
            <a:r>
              <a:rPr lang="en-GB" dirty="0"/>
              <a:t>Similarly, applying equation (1) to n-2 we get</a:t>
            </a:r>
          </a:p>
          <a:p>
            <a:r>
              <a:rPr lang="en-GB" dirty="0"/>
              <a:t>c(n-2) = c(n-3) + (n-2) -1</a:t>
            </a:r>
          </a:p>
          <a:p>
            <a:endParaRPr lang="en-GB" dirty="0"/>
          </a:p>
          <a:p>
            <a:r>
              <a:rPr lang="en-GB" dirty="0"/>
              <a:t>so</a:t>
            </a:r>
          </a:p>
          <a:p>
            <a:r>
              <a:rPr lang="en-GB" dirty="0"/>
              <a:t>c(n) = c(n-3) +(n+(n-1)+(n-2)+(n-3)) -2                                        (3)</a:t>
            </a:r>
          </a:p>
          <a:p>
            <a:endParaRPr lang="en-GB" dirty="0"/>
          </a:p>
          <a:p>
            <a:r>
              <a:rPr lang="en-GB" dirty="0"/>
              <a:t>(PTO)</a:t>
            </a:r>
          </a:p>
          <a:p>
            <a:endParaRPr lang="en-GB" dirty="0"/>
          </a:p>
        </p:txBody>
      </p:sp>
    </p:spTree>
    <p:extLst>
      <p:ext uri="{BB962C8B-B14F-4D97-AF65-F5344CB8AC3E}">
        <p14:creationId xmlns:p14="http://schemas.microsoft.com/office/powerpoint/2010/main" val="34742394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 y="245975"/>
            <a:ext cx="8534400" cy="990600"/>
          </a:xfrm>
        </p:spPr>
        <p:txBody>
          <a:bodyPr>
            <a:normAutofit fontScale="90000"/>
          </a:bodyPr>
          <a:lstStyle/>
          <a:p>
            <a:r>
              <a:rPr lang="en-GB" sz="3200" dirty="0"/>
              <a:t>Proof that quick-sort has worst case complexity O(n</a:t>
            </a:r>
            <a:r>
              <a:rPr lang="en-GB" sz="3200" baseline="30000" dirty="0"/>
              <a:t>2</a:t>
            </a:r>
            <a:r>
              <a:rPr lang="en-GB" sz="3200" dirty="0"/>
              <a:t>)</a:t>
            </a:r>
            <a:br>
              <a:rPr lang="en-GB" sz="3200" dirty="0"/>
            </a:br>
            <a:r>
              <a:rPr lang="en-GB" sz="3200" dirty="0"/>
              <a:t>contd.</a:t>
            </a:r>
          </a:p>
        </p:txBody>
      </p:sp>
      <p:sp>
        <p:nvSpPr>
          <p:cNvPr id="3" name="Slide Number Placeholder 2"/>
          <p:cNvSpPr>
            <a:spLocks noGrp="1"/>
          </p:cNvSpPr>
          <p:nvPr>
            <p:ph type="sldNum" sz="quarter" idx="12"/>
          </p:nvPr>
        </p:nvSpPr>
        <p:spPr/>
        <p:txBody>
          <a:bodyPr/>
          <a:lstStyle/>
          <a:p>
            <a:fld id="{B6F15528-21DE-4FAA-801E-634DDDAF4B2B}" type="slidenum">
              <a:rPr lang="en-US" smtClean="0"/>
              <a:pPr/>
              <a:t>33</a:t>
            </a:fld>
            <a:endParaRPr lang="en-US"/>
          </a:p>
        </p:txBody>
      </p:sp>
      <p:sp>
        <p:nvSpPr>
          <p:cNvPr id="4" name="TextBox 3"/>
          <p:cNvSpPr txBox="1"/>
          <p:nvPr/>
        </p:nvSpPr>
        <p:spPr>
          <a:xfrm>
            <a:off x="381000" y="1225689"/>
            <a:ext cx="8001000" cy="5509200"/>
          </a:xfrm>
          <a:prstGeom prst="rect">
            <a:avLst/>
          </a:prstGeom>
          <a:noFill/>
        </p:spPr>
        <p:txBody>
          <a:bodyPr wrap="square" rtlCol="0">
            <a:spAutoFit/>
          </a:bodyPr>
          <a:lstStyle/>
          <a:p>
            <a:r>
              <a:rPr lang="en-GB" dirty="0"/>
              <a:t>Continuing in this way we get:</a:t>
            </a:r>
          </a:p>
          <a:p>
            <a:endParaRPr lang="en-GB" dirty="0"/>
          </a:p>
          <a:p>
            <a:r>
              <a:rPr lang="en-GB" dirty="0"/>
              <a:t>c(n) = c(n-1) + n – 1                                          (1)</a:t>
            </a:r>
          </a:p>
          <a:p>
            <a:endParaRPr lang="en-GB" dirty="0"/>
          </a:p>
          <a:p>
            <a:r>
              <a:rPr lang="en-GB" dirty="0"/>
              <a:t>c(n) = c(n-2) + n + (n-1) -2                                (2)</a:t>
            </a:r>
          </a:p>
          <a:p>
            <a:endParaRPr lang="en-GB" dirty="0"/>
          </a:p>
          <a:p>
            <a:r>
              <a:rPr lang="en-GB" dirty="0"/>
              <a:t>c(n) = c(n-3) +(n+(n-2)+(n-3)) -3                       (3)</a:t>
            </a:r>
          </a:p>
          <a:p>
            <a:r>
              <a:rPr lang="en-GB" sz="3200" dirty="0"/>
              <a:t>.</a:t>
            </a:r>
            <a:br>
              <a:rPr lang="en-GB" sz="3200" dirty="0"/>
            </a:br>
            <a:r>
              <a:rPr lang="en-GB" sz="3200" dirty="0"/>
              <a:t>.</a:t>
            </a:r>
          </a:p>
          <a:p>
            <a:r>
              <a:rPr lang="en-GB" dirty="0"/>
              <a:t>c(n) = c(n-(n-1)) + (n+(n-2) + … + (n-(n-2)) –(n-1)                           (n-1)   </a:t>
            </a:r>
          </a:p>
          <a:p>
            <a:r>
              <a:rPr lang="en-GB" dirty="0"/>
              <a:t>i.e.</a:t>
            </a:r>
          </a:p>
          <a:p>
            <a:r>
              <a:rPr lang="en-GB" dirty="0"/>
              <a:t>c(n) = c(1) + (2+3+ … + n) –n+1</a:t>
            </a:r>
          </a:p>
          <a:p>
            <a:r>
              <a:rPr lang="en-GB" dirty="0"/>
              <a:t>       = c(1) + (1+2+…+(n-1))</a:t>
            </a:r>
          </a:p>
          <a:p>
            <a:r>
              <a:rPr lang="en-GB" dirty="0"/>
              <a:t>       = 0 + n(n-1)/2</a:t>
            </a:r>
          </a:p>
          <a:p>
            <a:r>
              <a:rPr lang="en-GB" dirty="0"/>
              <a:t>       = O(n</a:t>
            </a:r>
            <a:r>
              <a:rPr lang="en-GB" baseline="30000" dirty="0"/>
              <a:t>2</a:t>
            </a:r>
            <a:r>
              <a:rPr lang="en-GB" dirty="0"/>
              <a:t>)</a:t>
            </a:r>
          </a:p>
          <a:p>
            <a:endParaRPr lang="en-GB" dirty="0"/>
          </a:p>
          <a:p>
            <a:endParaRPr lang="en-GB" dirty="0"/>
          </a:p>
          <a:p>
            <a:endParaRPr lang="en-GB" dirty="0"/>
          </a:p>
        </p:txBody>
      </p:sp>
    </p:spTree>
    <p:extLst>
      <p:ext uri="{BB962C8B-B14F-4D97-AF65-F5344CB8AC3E}">
        <p14:creationId xmlns:p14="http://schemas.microsoft.com/office/powerpoint/2010/main" val="27234115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US" altLang="en-US" sz="3200" dirty="0"/>
              <a:t>Quick-sort </a:t>
            </a:r>
            <a:r>
              <a:rPr lang="en-US" altLang="en-US" sz="3200" i="1" dirty="0"/>
              <a:t>(8) </a:t>
            </a:r>
            <a:r>
              <a:rPr lang="mr-IN" altLang="en-US" sz="3200" i="1" dirty="0"/>
              <a:t>–</a:t>
            </a:r>
            <a:r>
              <a:rPr lang="en-US" altLang="en-US" sz="3200" i="1" dirty="0"/>
              <a:t> Java implementation</a:t>
            </a:r>
            <a:endParaRPr lang="en-GB" altLang="en-US" sz="3200" dirty="0"/>
          </a:p>
        </p:txBody>
      </p:sp>
      <p:sp>
        <p:nvSpPr>
          <p:cNvPr id="56323" name="Rectangle 3"/>
          <p:cNvSpPr>
            <a:spLocks noGrp="1" noChangeArrowheads="1"/>
          </p:cNvSpPr>
          <p:nvPr>
            <p:ph idx="1"/>
          </p:nvPr>
        </p:nvSpPr>
        <p:spPr>
          <a:xfrm>
            <a:off x="381000" y="1600200"/>
            <a:ext cx="8610600" cy="4267200"/>
          </a:xfrm>
          <a:noFill/>
          <a:ln>
            <a:solidFill>
              <a:schemeClr val="accent1">
                <a:lumMod val="75000"/>
              </a:schemeClr>
            </a:solidFill>
          </a:ln>
        </p:spPr>
        <p:txBody>
          <a:bodyPr>
            <a:normAutofit fontScale="92500" lnSpcReduction="10000"/>
          </a:bodyPr>
          <a:lstStyle/>
          <a:p>
            <a:pPr marL="0" indent="0">
              <a:buNone/>
            </a:pPr>
            <a:r>
              <a:rPr lang="en-US" sz="2000" b="1" dirty="0">
                <a:solidFill>
                  <a:srgbClr val="660066"/>
                </a:solidFill>
                <a:latin typeface="Courier New"/>
                <a:cs typeface="Courier New"/>
              </a:rPr>
              <a:t>public static </a:t>
            </a:r>
            <a:r>
              <a:rPr lang="en-US" sz="2000" b="1" dirty="0">
                <a:latin typeface="Courier New"/>
                <a:cs typeface="Courier New"/>
              </a:rPr>
              <a:t>&lt;E extends Comparable&lt;E&gt;&gt; </a:t>
            </a:r>
            <a:r>
              <a:rPr lang="en-US" sz="2000" b="1" dirty="0">
                <a:solidFill>
                  <a:srgbClr val="660066"/>
                </a:solidFill>
                <a:latin typeface="Courier New"/>
                <a:cs typeface="Courier New"/>
              </a:rPr>
              <a:t>void</a:t>
            </a:r>
            <a:r>
              <a:rPr lang="en-US" sz="2000" b="1" dirty="0">
                <a:latin typeface="Courier New"/>
                <a:cs typeface="Courier New"/>
              </a:rPr>
              <a:t> </a:t>
            </a:r>
            <a:r>
              <a:rPr lang="en-US" sz="2000" b="1" dirty="0" err="1">
                <a:latin typeface="Courier New"/>
                <a:cs typeface="Courier New"/>
              </a:rPr>
              <a:t>quickSort</a:t>
            </a:r>
            <a:r>
              <a:rPr lang="en-US" sz="2000" b="1" dirty="0">
                <a:latin typeface="Courier New"/>
                <a:cs typeface="Courier New"/>
              </a:rPr>
              <a:t>(</a:t>
            </a:r>
          </a:p>
          <a:p>
            <a:pPr marL="0" indent="0">
              <a:buNone/>
            </a:pPr>
            <a:r>
              <a:rPr lang="en-US" sz="2000" b="1" dirty="0">
                <a:latin typeface="Courier New"/>
                <a:cs typeface="Courier New"/>
              </a:rPr>
              <a:t>			E[] </a:t>
            </a:r>
            <a:r>
              <a:rPr lang="en-US" sz="2000" b="1" dirty="0">
                <a:solidFill>
                  <a:srgbClr val="726056"/>
                </a:solidFill>
                <a:latin typeface="Courier New"/>
                <a:cs typeface="Courier New"/>
              </a:rPr>
              <a:t>a</a:t>
            </a:r>
            <a:r>
              <a:rPr lang="en-US" sz="2000" b="1" dirty="0">
                <a:latin typeface="Courier New"/>
                <a:cs typeface="Courier New"/>
              </a:rPr>
              <a:t>, </a:t>
            </a:r>
            <a:r>
              <a:rPr lang="en-US" sz="2000" b="1" dirty="0" err="1">
                <a:solidFill>
                  <a:srgbClr val="660066"/>
                </a:solidFill>
                <a:latin typeface="Courier New"/>
                <a:cs typeface="Courier New"/>
              </a:rPr>
              <a:t>int</a:t>
            </a:r>
            <a:r>
              <a:rPr lang="en-US" sz="2000" b="1" dirty="0">
                <a:latin typeface="Courier New"/>
                <a:cs typeface="Courier New"/>
              </a:rPr>
              <a:t> </a:t>
            </a:r>
            <a:r>
              <a:rPr lang="en-US" sz="2000" b="1" dirty="0">
                <a:solidFill>
                  <a:srgbClr val="726056"/>
                </a:solidFill>
                <a:latin typeface="Courier New"/>
                <a:cs typeface="Courier New"/>
              </a:rPr>
              <a:t>left</a:t>
            </a:r>
            <a:r>
              <a:rPr lang="en-US" sz="2000" b="1" dirty="0">
                <a:latin typeface="Courier New"/>
                <a:cs typeface="Courier New"/>
              </a:rPr>
              <a:t>, </a:t>
            </a:r>
            <a:r>
              <a:rPr lang="en-US" sz="2000" b="1" dirty="0" err="1">
                <a:solidFill>
                  <a:srgbClr val="660066"/>
                </a:solidFill>
                <a:latin typeface="Courier New"/>
                <a:cs typeface="Courier New"/>
              </a:rPr>
              <a:t>int</a:t>
            </a:r>
            <a:r>
              <a:rPr lang="en-US" sz="2000" b="1" dirty="0">
                <a:latin typeface="Courier New"/>
                <a:cs typeface="Courier New"/>
              </a:rPr>
              <a:t> </a:t>
            </a:r>
            <a:r>
              <a:rPr lang="en-US" sz="2000" b="1" dirty="0">
                <a:solidFill>
                  <a:srgbClr val="726056"/>
                </a:solidFill>
                <a:latin typeface="Courier New"/>
                <a:cs typeface="Courier New"/>
              </a:rPr>
              <a:t>right</a:t>
            </a:r>
            <a:r>
              <a:rPr lang="en-US" sz="2000" b="1" dirty="0">
                <a:latin typeface="Courier New"/>
                <a:cs typeface="Courier New"/>
              </a:rPr>
              <a:t>)</a:t>
            </a:r>
          </a:p>
          <a:p>
            <a:pPr marL="0" indent="0">
              <a:buNone/>
            </a:pPr>
            <a:r>
              <a:rPr lang="en-US" sz="2000" b="1" dirty="0">
                <a:latin typeface="Courier New"/>
                <a:cs typeface="Courier New"/>
              </a:rPr>
              <a:t>{</a:t>
            </a:r>
          </a:p>
          <a:p>
            <a:pPr marL="0" indent="0">
              <a:buNone/>
            </a:pPr>
            <a:r>
              <a:rPr lang="en-US" sz="2000" b="1" dirty="0">
                <a:latin typeface="Courier New"/>
                <a:cs typeface="Courier New"/>
              </a:rPr>
              <a:t>    </a:t>
            </a:r>
            <a:r>
              <a:rPr lang="en-US" sz="2000" b="1" dirty="0">
                <a:solidFill>
                  <a:srgbClr val="660066"/>
                </a:solidFill>
                <a:latin typeface="Courier New"/>
                <a:cs typeface="Courier New"/>
              </a:rPr>
              <a:t>if</a:t>
            </a:r>
            <a:r>
              <a:rPr lang="en-US" sz="2000" b="1" dirty="0">
                <a:latin typeface="Courier New"/>
                <a:cs typeface="Courier New"/>
              </a:rPr>
              <a:t>(</a:t>
            </a:r>
            <a:r>
              <a:rPr lang="en-US" sz="2000" b="1" dirty="0">
                <a:solidFill>
                  <a:srgbClr val="726056"/>
                </a:solidFill>
                <a:latin typeface="Courier New"/>
                <a:cs typeface="Courier New"/>
              </a:rPr>
              <a:t>left</a:t>
            </a:r>
            <a:r>
              <a:rPr lang="en-US" sz="2000" b="1" dirty="0">
                <a:latin typeface="Courier New"/>
                <a:cs typeface="Courier New"/>
              </a:rPr>
              <a:t>&lt;</a:t>
            </a:r>
            <a:r>
              <a:rPr lang="en-US" sz="2000" b="1" dirty="0">
                <a:solidFill>
                  <a:srgbClr val="726056"/>
                </a:solidFill>
                <a:latin typeface="Courier New"/>
                <a:cs typeface="Courier New"/>
              </a:rPr>
              <a:t>right</a:t>
            </a:r>
            <a:r>
              <a:rPr lang="en-US" sz="2000" b="1" dirty="0">
                <a:latin typeface="Courier New"/>
                <a:cs typeface="Courier New"/>
              </a:rPr>
              <a:t>){</a:t>
            </a:r>
          </a:p>
          <a:p>
            <a:pPr marL="0" indent="0">
              <a:buNone/>
            </a:pPr>
            <a:r>
              <a:rPr lang="en-US" sz="2000" b="1" dirty="0">
                <a:latin typeface="Courier New"/>
                <a:cs typeface="Courier New"/>
              </a:rPr>
              <a:t>	 </a:t>
            </a:r>
            <a:r>
              <a:rPr lang="en-US" sz="2000" b="1" dirty="0" err="1">
                <a:solidFill>
                  <a:srgbClr val="660066"/>
                </a:solidFill>
                <a:latin typeface="Courier New"/>
                <a:cs typeface="Courier New"/>
              </a:rPr>
              <a:t>int</a:t>
            </a:r>
            <a:r>
              <a:rPr lang="en-US" sz="2000" b="1" dirty="0">
                <a:latin typeface="Courier New"/>
                <a:cs typeface="Courier New"/>
              </a:rPr>
              <a:t> </a:t>
            </a:r>
            <a:r>
              <a:rPr lang="en-US" sz="2000" b="1" dirty="0">
                <a:solidFill>
                  <a:schemeClr val="accent3"/>
                </a:solidFill>
                <a:latin typeface="Courier New"/>
                <a:cs typeface="Courier New"/>
              </a:rPr>
              <a:t>p</a:t>
            </a:r>
            <a:r>
              <a:rPr lang="en-US" sz="2000" b="1" dirty="0">
                <a:latin typeface="Courier New"/>
                <a:cs typeface="Courier New"/>
              </a:rPr>
              <a:t>=</a:t>
            </a:r>
            <a:r>
              <a:rPr lang="en-US" sz="2000" b="1" i="1" dirty="0">
                <a:latin typeface="Courier New"/>
                <a:cs typeface="Courier New"/>
              </a:rPr>
              <a:t>partition(</a:t>
            </a:r>
            <a:r>
              <a:rPr lang="en-US" sz="2000" b="1" i="1" dirty="0" err="1">
                <a:solidFill>
                  <a:srgbClr val="726056"/>
                </a:solidFill>
                <a:latin typeface="Courier New"/>
                <a:cs typeface="Courier New"/>
              </a:rPr>
              <a:t>a</a:t>
            </a:r>
            <a:r>
              <a:rPr lang="en-US" sz="2000" b="1" i="1" dirty="0" err="1">
                <a:latin typeface="Courier New"/>
                <a:cs typeface="Courier New"/>
              </a:rPr>
              <a:t>,</a:t>
            </a:r>
            <a:r>
              <a:rPr lang="en-US" sz="2000" b="1" i="1" dirty="0" err="1">
                <a:solidFill>
                  <a:srgbClr val="726056"/>
                </a:solidFill>
                <a:latin typeface="Courier New"/>
                <a:cs typeface="Courier New"/>
              </a:rPr>
              <a:t>left</a:t>
            </a:r>
            <a:r>
              <a:rPr lang="en-US" sz="2000" b="1" i="1" dirty="0" err="1">
                <a:latin typeface="Courier New"/>
                <a:cs typeface="Courier New"/>
              </a:rPr>
              <a:t>,</a:t>
            </a:r>
            <a:r>
              <a:rPr lang="en-US" sz="2000" b="1" i="1" dirty="0" err="1">
                <a:solidFill>
                  <a:srgbClr val="726056"/>
                </a:solidFill>
                <a:latin typeface="Courier New"/>
                <a:cs typeface="Courier New"/>
              </a:rPr>
              <a:t>right</a:t>
            </a:r>
            <a:r>
              <a:rPr lang="en-US" sz="2000" b="1" i="1" dirty="0">
                <a:latin typeface="Courier New"/>
                <a:cs typeface="Courier New"/>
              </a:rPr>
              <a:t>);</a:t>
            </a:r>
          </a:p>
          <a:p>
            <a:pPr marL="0" indent="0">
              <a:buNone/>
            </a:pPr>
            <a:r>
              <a:rPr lang="en-US" sz="2000" b="1" i="1" dirty="0">
                <a:latin typeface="Courier New"/>
                <a:cs typeface="Courier New"/>
              </a:rPr>
              <a:t>        </a:t>
            </a:r>
            <a:r>
              <a:rPr lang="en-US" sz="2000" b="1" i="1" dirty="0">
                <a:solidFill>
                  <a:srgbClr val="008000"/>
                </a:solidFill>
                <a:latin typeface="Courier New"/>
                <a:cs typeface="Courier New"/>
              </a:rPr>
              <a:t>// assumes we have a partition algorithm that </a:t>
            </a:r>
          </a:p>
          <a:p>
            <a:pPr marL="0" indent="0">
              <a:buNone/>
            </a:pPr>
            <a:r>
              <a:rPr lang="en-US" sz="2000" b="1" i="1" dirty="0">
                <a:solidFill>
                  <a:srgbClr val="008000"/>
                </a:solidFill>
                <a:latin typeface="Courier New"/>
                <a:cs typeface="Courier New"/>
              </a:rPr>
              <a:t>        // selects pivot, does the partitioning, and </a:t>
            </a:r>
          </a:p>
          <a:p>
            <a:pPr marL="0" indent="0">
              <a:buNone/>
            </a:pPr>
            <a:r>
              <a:rPr lang="en-US" sz="2000" b="1" i="1" dirty="0">
                <a:solidFill>
                  <a:srgbClr val="008000"/>
                </a:solidFill>
                <a:latin typeface="Courier New"/>
                <a:cs typeface="Courier New"/>
              </a:rPr>
              <a:t>        // p is final position of pivot</a:t>
            </a:r>
          </a:p>
          <a:p>
            <a:pPr marL="0" indent="0">
              <a:buNone/>
            </a:pPr>
            <a:r>
              <a:rPr lang="en-US" sz="2000" b="1" dirty="0">
                <a:latin typeface="Courier New"/>
                <a:cs typeface="Courier New"/>
              </a:rPr>
              <a:t>	 </a:t>
            </a:r>
            <a:r>
              <a:rPr lang="en-US" sz="2000" b="1" i="1" dirty="0" err="1">
                <a:latin typeface="Courier New"/>
                <a:cs typeface="Courier New"/>
              </a:rPr>
              <a:t>quickSort</a:t>
            </a:r>
            <a:r>
              <a:rPr lang="en-US" sz="2000" b="1" i="1" dirty="0">
                <a:latin typeface="Courier New"/>
                <a:cs typeface="Courier New"/>
              </a:rPr>
              <a:t>(</a:t>
            </a:r>
            <a:r>
              <a:rPr lang="en-US" sz="2000" b="1" i="1" dirty="0">
                <a:solidFill>
                  <a:schemeClr val="accent3"/>
                </a:solidFill>
                <a:latin typeface="Courier New"/>
                <a:cs typeface="Courier New"/>
              </a:rPr>
              <a:t>a</a:t>
            </a:r>
            <a:r>
              <a:rPr lang="en-US" sz="2000" b="1" i="1" dirty="0">
                <a:latin typeface="Courier New"/>
                <a:cs typeface="Courier New"/>
              </a:rPr>
              <a:t>,</a:t>
            </a:r>
            <a:r>
              <a:rPr lang="en-US" sz="2000" b="1" i="1" dirty="0">
                <a:solidFill>
                  <a:srgbClr val="726056"/>
                </a:solidFill>
                <a:latin typeface="Courier New"/>
                <a:cs typeface="Courier New"/>
              </a:rPr>
              <a:t>left</a:t>
            </a:r>
            <a:r>
              <a:rPr lang="en-US" sz="2000" b="1" i="1" dirty="0">
                <a:latin typeface="Courier New"/>
                <a:cs typeface="Courier New"/>
              </a:rPr>
              <a:t>,</a:t>
            </a:r>
            <a:r>
              <a:rPr lang="en-US" sz="2000" b="1" i="1" dirty="0">
                <a:solidFill>
                  <a:srgbClr val="726056"/>
                </a:solidFill>
                <a:latin typeface="Courier New"/>
                <a:cs typeface="Courier New"/>
              </a:rPr>
              <a:t>p-1</a:t>
            </a:r>
            <a:r>
              <a:rPr lang="en-US" sz="2000" b="1" i="1" dirty="0">
                <a:latin typeface="Courier New"/>
                <a:cs typeface="Courier New"/>
              </a:rPr>
              <a:t>);</a:t>
            </a:r>
          </a:p>
          <a:p>
            <a:pPr marL="0" indent="0">
              <a:buNone/>
            </a:pPr>
            <a:r>
              <a:rPr lang="en-US" sz="2000" b="1" dirty="0">
                <a:latin typeface="Courier New"/>
                <a:cs typeface="Courier New"/>
              </a:rPr>
              <a:t>	 </a:t>
            </a:r>
            <a:r>
              <a:rPr lang="en-US" sz="2000" b="1" i="1" dirty="0" err="1">
                <a:latin typeface="Courier New"/>
                <a:cs typeface="Courier New"/>
              </a:rPr>
              <a:t>quickSort</a:t>
            </a:r>
            <a:r>
              <a:rPr lang="en-US" sz="2000" b="1" i="1" dirty="0">
                <a:latin typeface="Courier New"/>
                <a:cs typeface="Courier New"/>
              </a:rPr>
              <a:t>(</a:t>
            </a:r>
            <a:r>
              <a:rPr lang="en-US" sz="2000" b="1" i="1" dirty="0">
                <a:solidFill>
                  <a:srgbClr val="726056"/>
                </a:solidFill>
                <a:latin typeface="Courier New"/>
                <a:cs typeface="Courier New"/>
              </a:rPr>
              <a:t>a</a:t>
            </a:r>
            <a:r>
              <a:rPr lang="en-US" sz="2000" b="1" i="1" dirty="0">
                <a:latin typeface="Courier New"/>
                <a:cs typeface="Courier New"/>
              </a:rPr>
              <a:t>,</a:t>
            </a:r>
            <a:r>
              <a:rPr lang="en-US" sz="2000" b="1" i="1" dirty="0">
                <a:solidFill>
                  <a:srgbClr val="726056"/>
                </a:solidFill>
                <a:latin typeface="Courier New"/>
                <a:cs typeface="Courier New"/>
              </a:rPr>
              <a:t>p+1</a:t>
            </a:r>
            <a:r>
              <a:rPr lang="en-US" sz="2000" b="1" i="1" dirty="0">
                <a:latin typeface="Courier New"/>
                <a:cs typeface="Courier New"/>
              </a:rPr>
              <a:t>,</a:t>
            </a:r>
            <a:r>
              <a:rPr lang="en-US" sz="2000" b="1" i="1" dirty="0">
                <a:solidFill>
                  <a:srgbClr val="726056"/>
                </a:solidFill>
                <a:latin typeface="Courier New"/>
                <a:cs typeface="Courier New"/>
              </a:rPr>
              <a:t>right</a:t>
            </a:r>
            <a:r>
              <a:rPr lang="en-US" sz="2000" b="1" i="1" dirty="0">
                <a:latin typeface="Courier New"/>
                <a:cs typeface="Courier New"/>
              </a:rPr>
              <a:t>);</a:t>
            </a:r>
          </a:p>
          <a:p>
            <a:pPr marL="0" indent="0">
              <a:buNone/>
            </a:pPr>
            <a:r>
              <a:rPr lang="en-GB" sz="2000" b="1" dirty="0">
                <a:latin typeface="Courier New"/>
                <a:cs typeface="Courier New"/>
              </a:rPr>
              <a:t>    </a:t>
            </a:r>
            <a:r>
              <a:rPr lang="mr-IN" sz="2000" b="1" dirty="0">
                <a:latin typeface="Courier New"/>
                <a:cs typeface="Courier New"/>
              </a:rPr>
              <a:t>}</a:t>
            </a:r>
          </a:p>
          <a:p>
            <a:pPr marL="0" indent="0">
              <a:buNone/>
            </a:pPr>
            <a:r>
              <a:rPr lang="mr-IN" sz="2000" b="1" dirty="0">
                <a:latin typeface="Courier New"/>
                <a:cs typeface="Courier New"/>
              </a:rPr>
              <a:t>	</a:t>
            </a:r>
            <a:endParaRPr lang="en-GB" sz="2000" b="1" dirty="0">
              <a:latin typeface="Courier New"/>
              <a:cs typeface="Courier New"/>
            </a:endParaRPr>
          </a:p>
          <a:p>
            <a:pPr marL="0" indent="0">
              <a:buNone/>
            </a:pPr>
            <a:r>
              <a:rPr lang="mr-IN" sz="2000" b="1" dirty="0">
                <a:latin typeface="Courier New"/>
                <a:cs typeface="Courier New"/>
              </a:rPr>
              <a:t>}</a:t>
            </a:r>
            <a:endParaRPr lang="en-US" altLang="en-US" sz="2000" b="1" dirty="0">
              <a:latin typeface="Courier New"/>
              <a:cs typeface="Courier New"/>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34</a:t>
            </a:fld>
            <a:endParaRPr lang="en-US"/>
          </a:p>
        </p:txBody>
      </p:sp>
      <p:sp>
        <p:nvSpPr>
          <p:cNvPr id="3" name="TextBox 2"/>
          <p:cNvSpPr txBox="1"/>
          <p:nvPr/>
        </p:nvSpPr>
        <p:spPr>
          <a:xfrm>
            <a:off x="5638800" y="5029200"/>
            <a:ext cx="3124200" cy="584776"/>
          </a:xfrm>
          <a:prstGeom prst="rect">
            <a:avLst/>
          </a:prstGeom>
          <a:noFill/>
          <a:ln>
            <a:solidFill>
              <a:schemeClr val="accent1">
                <a:lumMod val="75000"/>
              </a:schemeClr>
            </a:solidFill>
          </a:ln>
        </p:spPr>
        <p:txBody>
          <a:bodyPr wrap="square" rtlCol="0">
            <a:spAutoFit/>
          </a:bodyPr>
          <a:lstStyle/>
          <a:p>
            <a:r>
              <a:rPr lang="en-GB" sz="1600" dirty="0">
                <a:solidFill>
                  <a:schemeClr val="accent1">
                    <a:lumMod val="75000"/>
                  </a:schemeClr>
                </a:solidFill>
              </a:rPr>
              <a:t>Will see how this is done in later slides.</a:t>
            </a:r>
          </a:p>
        </p:txBody>
      </p:sp>
      <p:cxnSp>
        <p:nvCxnSpPr>
          <p:cNvPr id="5" name="Straight Arrow Connector 4"/>
          <p:cNvCxnSpPr/>
          <p:nvPr/>
        </p:nvCxnSpPr>
        <p:spPr>
          <a:xfrm flipH="1" flipV="1">
            <a:off x="6400800" y="3886200"/>
            <a:ext cx="533400" cy="1143000"/>
          </a:xfrm>
          <a:prstGeom prst="straightConnector1">
            <a:avLst/>
          </a:prstGeom>
          <a:ln>
            <a:prstDash val="dash"/>
            <a:tailEnd type="arrow"/>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295400" y="6019800"/>
            <a:ext cx="5334000" cy="400110"/>
          </a:xfrm>
          <a:prstGeom prst="rect">
            <a:avLst/>
          </a:prstGeom>
          <a:noFill/>
          <a:ln>
            <a:solidFill>
              <a:schemeClr val="tx2"/>
            </a:solidFill>
          </a:ln>
        </p:spPr>
        <p:txBody>
          <a:bodyPr wrap="square" rtlCol="0">
            <a:spAutoFit/>
          </a:bodyPr>
          <a:lstStyle/>
          <a:p>
            <a:r>
              <a:rPr lang="en-GB" sz="2000" dirty="0"/>
              <a:t>See complete implementation on Moodle</a:t>
            </a:r>
          </a:p>
        </p:txBody>
      </p:sp>
    </p:spTree>
    <p:extLst>
      <p:ext uri="{BB962C8B-B14F-4D97-AF65-F5344CB8AC3E}">
        <p14:creationId xmlns:p14="http://schemas.microsoft.com/office/powerpoint/2010/main" val="7346883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en-US" altLang="en-US" sz="3200" dirty="0">
                <a:cs typeface="Times New Roman" pitchFamily="18" charset="0"/>
              </a:rPr>
              <a:t>Quick-sort partitioning </a:t>
            </a:r>
            <a:r>
              <a:rPr lang="en-US" altLang="en-US" sz="3200" i="1" dirty="0">
                <a:cs typeface="Times New Roman" pitchFamily="18" charset="0"/>
              </a:rPr>
              <a:t>(1)</a:t>
            </a:r>
            <a:endParaRPr lang="en-GB" altLang="en-US" sz="3200" i="1" dirty="0">
              <a:cs typeface="Times New Roman" pitchFamily="18" charset="0"/>
            </a:endParaRPr>
          </a:p>
        </p:txBody>
      </p:sp>
      <p:sp>
        <p:nvSpPr>
          <p:cNvPr id="57347" name="Rectangle 3"/>
          <p:cNvSpPr>
            <a:spLocks noGrp="1" noChangeArrowheads="1"/>
          </p:cNvSpPr>
          <p:nvPr>
            <p:ph idx="1"/>
          </p:nvPr>
        </p:nvSpPr>
        <p:spPr>
          <a:xfrm>
            <a:off x="381000" y="1600200"/>
            <a:ext cx="7620000" cy="4800600"/>
          </a:xfrm>
          <a:noFill/>
        </p:spPr>
        <p:txBody>
          <a:bodyPr/>
          <a:lstStyle/>
          <a:p>
            <a:pPr eaLnBrk="1" hangingPunct="1">
              <a:tabLst>
                <a:tab pos="723900" algn="l"/>
                <a:tab pos="1257300" algn="l"/>
                <a:tab pos="1968500" algn="l"/>
              </a:tabLst>
            </a:pPr>
            <a:r>
              <a:rPr lang="en-US" altLang="en-US" b="1" dirty="0">
                <a:cs typeface="Times New Roman" pitchFamily="18" charset="0"/>
              </a:rPr>
              <a:t>Quick-sort partitioning algorithm</a:t>
            </a:r>
            <a:r>
              <a:rPr lang="en-US" altLang="en-US" dirty="0">
                <a:cs typeface="Times New Roman" pitchFamily="18" charset="0"/>
              </a:rPr>
              <a:t>:</a:t>
            </a:r>
          </a:p>
          <a:p>
            <a:pPr eaLnBrk="1" hangingPunct="1">
              <a:buClr>
                <a:schemeClr val="tx1"/>
              </a:buClr>
              <a:buFont typeface="Wingdings" pitchFamily="2" charset="2"/>
              <a:buNone/>
              <a:tabLst>
                <a:tab pos="723900" algn="l"/>
                <a:tab pos="1257300" algn="l"/>
                <a:tab pos="1968500" algn="l"/>
              </a:tabLst>
            </a:pPr>
            <a:r>
              <a:rPr lang="en-US" altLang="en-US" sz="2000" dirty="0">
                <a:latin typeface="Times New Roman" pitchFamily="18" charset="0"/>
                <a:cs typeface="Times New Roman" pitchFamily="18" charset="0"/>
              </a:rPr>
              <a:t>	To partition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left</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right</a:t>
            </a:r>
            <a:r>
              <a:rPr lang="en-US" altLang="en-US" sz="2000" dirty="0">
                <a:latin typeface="Times New Roman" pitchFamily="18" charset="0"/>
                <a:cs typeface="Times New Roman" pitchFamily="18" charset="0"/>
              </a:rPr>
              <a:t>] such that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left</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p</a:t>
            </a:r>
            <a:r>
              <a:rPr lang="en-US" altLang="en-US" sz="2000" dirty="0">
                <a:latin typeface="Times New Roman" pitchFamily="18" charset="0"/>
                <a:cs typeface="Times New Roman" pitchFamily="18" charset="0"/>
              </a:rPr>
              <a:t>–1] are all less than or equal to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p</a:t>
            </a:r>
            <a:r>
              <a:rPr lang="en-US" altLang="en-US" sz="2000" dirty="0">
                <a:latin typeface="Times New Roman" pitchFamily="18" charset="0"/>
                <a:cs typeface="Times New Roman" pitchFamily="18" charset="0"/>
              </a:rPr>
              <a:t>], and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p</a:t>
            </a:r>
            <a:r>
              <a:rPr lang="en-US" altLang="en-US" sz="2000" dirty="0">
                <a:latin typeface="Times New Roman" pitchFamily="18" charset="0"/>
                <a:cs typeface="Times New Roman" pitchFamily="18" charset="0"/>
              </a:rPr>
              <a:t>+1…</a:t>
            </a:r>
            <a:r>
              <a:rPr lang="en-US" altLang="en-US" sz="2000" i="1" dirty="0">
                <a:latin typeface="Times New Roman" pitchFamily="18" charset="0"/>
                <a:cs typeface="Times New Roman" pitchFamily="18" charset="0"/>
              </a:rPr>
              <a:t>right</a:t>
            </a:r>
            <a:r>
              <a:rPr lang="en-US" altLang="en-US" sz="2000" dirty="0">
                <a:latin typeface="Times New Roman" pitchFamily="18" charset="0"/>
                <a:cs typeface="Times New Roman" pitchFamily="18" charset="0"/>
              </a:rPr>
              <a:t>] are all greater than or equal to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p</a:t>
            </a:r>
            <a:r>
              <a:rPr lang="en-US" altLang="en-US" sz="2000" dirty="0">
                <a:latin typeface="Times New Roman" pitchFamily="18" charset="0"/>
                <a:cs typeface="Times New Roman" pitchFamily="18" charset="0"/>
              </a:rPr>
              <a:t>]:</a:t>
            </a:r>
          </a:p>
          <a:p>
            <a:pPr eaLnBrk="1" hangingPunct="1">
              <a:spcBef>
                <a:spcPts val="900"/>
              </a:spcBef>
              <a:buClr>
                <a:schemeClr val="tx1"/>
              </a:buClr>
              <a:buFont typeface="Wingdings" pitchFamily="2" charset="2"/>
              <a:buNone/>
              <a:tabLst>
                <a:tab pos="723900" algn="l"/>
                <a:tab pos="1257300" algn="l"/>
                <a:tab pos="1968500" algn="l"/>
              </a:tabLst>
            </a:pPr>
            <a:r>
              <a:rPr lang="en-US" altLang="en-US" sz="2000" dirty="0">
                <a:latin typeface="Times New Roman" pitchFamily="18" charset="0"/>
                <a:cs typeface="Times New Roman" pitchFamily="18" charset="0"/>
              </a:rPr>
              <a:t>	1.	Let </a:t>
            </a:r>
            <a:r>
              <a:rPr lang="en-US" altLang="en-US" sz="2000" i="1" dirty="0">
                <a:latin typeface="Times New Roman" pitchFamily="18" charset="0"/>
                <a:cs typeface="Times New Roman" pitchFamily="18" charset="0"/>
              </a:rPr>
              <a:t>pivot</a:t>
            </a:r>
            <a:r>
              <a:rPr lang="en-US" altLang="en-US" sz="2000" dirty="0">
                <a:latin typeface="Times New Roman" pitchFamily="18" charset="0"/>
                <a:cs typeface="Times New Roman" pitchFamily="18" charset="0"/>
              </a:rPr>
              <a:t> be the element in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left</a:t>
            </a:r>
            <a:r>
              <a:rPr lang="en-US" altLang="en-US" sz="2000" dirty="0">
                <a:latin typeface="Times New Roman" pitchFamily="18" charset="0"/>
                <a:cs typeface="Times New Roman" pitchFamily="18" charset="0"/>
              </a:rPr>
              <a:t>], and set </a:t>
            </a:r>
            <a:r>
              <a:rPr lang="en-US" altLang="en-US" sz="2000" i="1" dirty="0">
                <a:latin typeface="Times New Roman" pitchFamily="18" charset="0"/>
                <a:cs typeface="Times New Roman" pitchFamily="18" charset="0"/>
              </a:rPr>
              <a:t>p</a:t>
            </a:r>
            <a:r>
              <a:rPr lang="en-US" altLang="en-US" sz="2000" dirty="0">
                <a:latin typeface="Times New Roman" pitchFamily="18" charset="0"/>
                <a:cs typeface="Times New Roman" pitchFamily="18" charset="0"/>
              </a:rPr>
              <a:t> = </a:t>
            </a:r>
            <a:r>
              <a:rPr lang="en-US" altLang="en-US" sz="2000" i="1" dirty="0">
                <a:latin typeface="Times New Roman" pitchFamily="18" charset="0"/>
                <a:cs typeface="Times New Roman" pitchFamily="18" charset="0"/>
              </a:rPr>
              <a:t>left</a:t>
            </a:r>
            <a:r>
              <a:rPr lang="en-US" altLang="en-US" sz="2000" dirty="0">
                <a:latin typeface="Times New Roman" pitchFamily="18" charset="0"/>
                <a:cs typeface="Times New Roman" pitchFamily="18" charset="0"/>
              </a:rPr>
              <a:t>.</a:t>
            </a:r>
            <a:br>
              <a:rPr lang="en-US" altLang="en-US" sz="2000" dirty="0">
                <a:latin typeface="Times New Roman" pitchFamily="18" charset="0"/>
                <a:cs typeface="Times New Roman" pitchFamily="18" charset="0"/>
              </a:rPr>
            </a:br>
            <a:r>
              <a:rPr lang="en-US" altLang="en-US" sz="2000" dirty="0">
                <a:latin typeface="Times New Roman" pitchFamily="18" charset="0"/>
                <a:cs typeface="Times New Roman" pitchFamily="18" charset="0"/>
              </a:rPr>
              <a:t>2.	For </a:t>
            </a:r>
            <a:r>
              <a:rPr lang="en-US" altLang="en-US" sz="2000" i="1" dirty="0">
                <a:latin typeface="Times New Roman" pitchFamily="18" charset="0"/>
                <a:cs typeface="Times New Roman" pitchFamily="18" charset="0"/>
              </a:rPr>
              <a:t>r</a:t>
            </a:r>
            <a:r>
              <a:rPr lang="en-US" altLang="en-US" sz="2000" dirty="0">
                <a:latin typeface="Times New Roman" pitchFamily="18" charset="0"/>
                <a:cs typeface="Times New Roman" pitchFamily="18" charset="0"/>
              </a:rPr>
              <a:t> = </a:t>
            </a:r>
            <a:r>
              <a:rPr lang="en-US" altLang="en-US" sz="2000" i="1" dirty="0">
                <a:latin typeface="Times New Roman" pitchFamily="18" charset="0"/>
                <a:cs typeface="Times New Roman" pitchFamily="18" charset="0"/>
              </a:rPr>
              <a:t>left</a:t>
            </a:r>
            <a:r>
              <a:rPr lang="en-US" altLang="en-US" sz="2000" dirty="0">
                <a:latin typeface="Times New Roman" pitchFamily="18" charset="0"/>
                <a:cs typeface="Times New Roman" pitchFamily="18" charset="0"/>
              </a:rPr>
              <a:t>+1, …, </a:t>
            </a:r>
            <a:r>
              <a:rPr lang="en-US" altLang="en-US" sz="2000" i="1" dirty="0">
                <a:latin typeface="Times New Roman" pitchFamily="18" charset="0"/>
                <a:cs typeface="Times New Roman" pitchFamily="18" charset="0"/>
              </a:rPr>
              <a:t>right</a:t>
            </a:r>
            <a:r>
              <a:rPr lang="en-US" altLang="en-US" sz="2000" dirty="0">
                <a:latin typeface="Times New Roman" pitchFamily="18" charset="0"/>
                <a:cs typeface="Times New Roman" pitchFamily="18" charset="0"/>
              </a:rPr>
              <a:t>, repeat:</a:t>
            </a:r>
            <a:br>
              <a:rPr lang="en-US" altLang="en-US" sz="2000" dirty="0">
                <a:latin typeface="Times New Roman" pitchFamily="18" charset="0"/>
                <a:cs typeface="Times New Roman" pitchFamily="18" charset="0"/>
              </a:rPr>
            </a:br>
            <a:r>
              <a:rPr lang="en-US" altLang="en-US" sz="2000" dirty="0">
                <a:latin typeface="Times New Roman" pitchFamily="18" charset="0"/>
                <a:cs typeface="Times New Roman" pitchFamily="18" charset="0"/>
              </a:rPr>
              <a:t>	2.1.	If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r</a:t>
            </a:r>
            <a:r>
              <a:rPr lang="en-US" altLang="en-US" sz="2000" dirty="0">
                <a:latin typeface="Times New Roman" pitchFamily="18" charset="0"/>
                <a:cs typeface="Times New Roman" pitchFamily="18" charset="0"/>
              </a:rPr>
              <a:t>] is less than </a:t>
            </a:r>
            <a:r>
              <a:rPr lang="en-US" altLang="en-US" sz="2000" i="1" dirty="0">
                <a:latin typeface="Times New Roman" pitchFamily="18" charset="0"/>
                <a:cs typeface="Times New Roman" pitchFamily="18" charset="0"/>
              </a:rPr>
              <a:t>pivot</a:t>
            </a:r>
            <a:r>
              <a:rPr lang="en-US" altLang="en-US" sz="2000" dirty="0">
                <a:latin typeface="Times New Roman" pitchFamily="18" charset="0"/>
                <a:cs typeface="Times New Roman" pitchFamily="18" charset="0"/>
              </a:rPr>
              <a:t>:</a:t>
            </a:r>
            <a:br>
              <a:rPr lang="en-US" altLang="en-US" sz="2000" dirty="0">
                <a:latin typeface="Times New Roman" pitchFamily="18" charset="0"/>
                <a:cs typeface="Times New Roman" pitchFamily="18" charset="0"/>
              </a:rPr>
            </a:br>
            <a:r>
              <a:rPr lang="en-US" altLang="en-US" sz="2000" dirty="0">
                <a:latin typeface="Times New Roman" pitchFamily="18" charset="0"/>
                <a:cs typeface="Times New Roman" pitchFamily="18" charset="0"/>
              </a:rPr>
              <a:t>		2.1.1.	Copy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r</a:t>
            </a:r>
            <a:r>
              <a:rPr lang="en-US" altLang="en-US" sz="2000" dirty="0">
                <a:latin typeface="Times New Roman" pitchFamily="18" charset="0"/>
                <a:cs typeface="Times New Roman" pitchFamily="18" charset="0"/>
              </a:rPr>
              <a:t>] into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p</a:t>
            </a:r>
            <a:r>
              <a:rPr lang="en-US" altLang="en-US" sz="2000" dirty="0">
                <a:latin typeface="Times New Roman" pitchFamily="18" charset="0"/>
                <a:cs typeface="Times New Roman" pitchFamily="18" charset="0"/>
              </a:rPr>
              <a:t>],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p</a:t>
            </a:r>
            <a:r>
              <a:rPr lang="en-US" altLang="en-US" sz="2000" dirty="0">
                <a:latin typeface="Times New Roman" pitchFamily="18" charset="0"/>
                <a:cs typeface="Times New Roman" pitchFamily="18" charset="0"/>
              </a:rPr>
              <a:t>+1] into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r</a:t>
            </a:r>
            <a:r>
              <a:rPr lang="en-US" altLang="en-US" sz="2000" dirty="0">
                <a:latin typeface="Times New Roman" pitchFamily="18" charset="0"/>
                <a:cs typeface="Times New Roman" pitchFamily="18" charset="0"/>
              </a:rPr>
              <a:t>], </a:t>
            </a:r>
            <a:br>
              <a:rPr lang="en-US" altLang="en-US" sz="2000" dirty="0">
                <a:latin typeface="Times New Roman" pitchFamily="18" charset="0"/>
                <a:cs typeface="Times New Roman" pitchFamily="18" charset="0"/>
              </a:rPr>
            </a:br>
            <a:r>
              <a:rPr lang="en-US" altLang="en-US" sz="2000" dirty="0">
                <a:latin typeface="Times New Roman" pitchFamily="18" charset="0"/>
                <a:cs typeface="Times New Roman" pitchFamily="18" charset="0"/>
              </a:rPr>
              <a:t>			and </a:t>
            </a:r>
            <a:r>
              <a:rPr lang="en-US" altLang="en-US" sz="2000" i="1" dirty="0">
                <a:latin typeface="Times New Roman" pitchFamily="18" charset="0"/>
                <a:cs typeface="Times New Roman" pitchFamily="18" charset="0"/>
              </a:rPr>
              <a:t>pivot</a:t>
            </a:r>
            <a:r>
              <a:rPr lang="en-US" altLang="en-US" sz="2000" dirty="0">
                <a:latin typeface="Times New Roman" pitchFamily="18" charset="0"/>
                <a:cs typeface="Times New Roman" pitchFamily="18" charset="0"/>
              </a:rPr>
              <a:t> into </a:t>
            </a:r>
            <a:r>
              <a:rPr lang="en-US" altLang="en-US" sz="2000" i="1" dirty="0">
                <a:latin typeface="Times New Roman" pitchFamily="18" charset="0"/>
                <a:cs typeface="Times New Roman" pitchFamily="18" charset="0"/>
              </a:rPr>
              <a:t>a</a:t>
            </a:r>
            <a:r>
              <a:rPr lang="en-US" altLang="en-US" sz="2000" dirty="0">
                <a:latin typeface="Times New Roman" pitchFamily="18" charset="0"/>
                <a:cs typeface="Times New Roman" pitchFamily="18" charset="0"/>
              </a:rPr>
              <a:t>[</a:t>
            </a:r>
            <a:r>
              <a:rPr lang="en-US" altLang="en-US" sz="2000" i="1" dirty="0">
                <a:latin typeface="Times New Roman" pitchFamily="18" charset="0"/>
                <a:cs typeface="Times New Roman" pitchFamily="18" charset="0"/>
              </a:rPr>
              <a:t>p</a:t>
            </a:r>
            <a:r>
              <a:rPr lang="en-US" altLang="en-US" sz="2000" dirty="0">
                <a:latin typeface="Times New Roman" pitchFamily="18" charset="0"/>
                <a:cs typeface="Times New Roman" pitchFamily="18" charset="0"/>
              </a:rPr>
              <a:t>+1].</a:t>
            </a:r>
            <a:br>
              <a:rPr lang="en-US" altLang="en-US" sz="2000" dirty="0">
                <a:latin typeface="Times New Roman" pitchFamily="18" charset="0"/>
                <a:cs typeface="Times New Roman" pitchFamily="18" charset="0"/>
              </a:rPr>
            </a:br>
            <a:r>
              <a:rPr lang="en-US" altLang="en-US" sz="2000" dirty="0">
                <a:latin typeface="Times New Roman" pitchFamily="18" charset="0"/>
                <a:cs typeface="Times New Roman" pitchFamily="18" charset="0"/>
              </a:rPr>
              <a:t>		2.1.2.	Increment </a:t>
            </a:r>
            <a:r>
              <a:rPr lang="en-US" altLang="en-US" sz="2000" i="1" dirty="0">
                <a:latin typeface="Times New Roman" pitchFamily="18" charset="0"/>
                <a:cs typeface="Times New Roman" pitchFamily="18" charset="0"/>
              </a:rPr>
              <a:t>p</a:t>
            </a:r>
            <a:r>
              <a:rPr lang="en-US" altLang="en-US" sz="2000" dirty="0">
                <a:latin typeface="Times New Roman" pitchFamily="18" charset="0"/>
                <a:cs typeface="Times New Roman" pitchFamily="18" charset="0"/>
              </a:rPr>
              <a:t>. </a:t>
            </a:r>
            <a:br>
              <a:rPr lang="en-US" altLang="en-US" sz="2000" dirty="0">
                <a:latin typeface="Times New Roman" pitchFamily="18" charset="0"/>
                <a:cs typeface="Times New Roman" pitchFamily="18" charset="0"/>
              </a:rPr>
            </a:br>
            <a:r>
              <a:rPr lang="en-US" altLang="en-US" sz="2000" dirty="0">
                <a:latin typeface="Times New Roman" pitchFamily="18" charset="0"/>
                <a:cs typeface="Times New Roman" pitchFamily="18" charset="0"/>
              </a:rPr>
              <a:t>3.	Terminate yielding </a:t>
            </a:r>
            <a:r>
              <a:rPr lang="en-US" altLang="en-US" sz="2000" i="1" dirty="0">
                <a:latin typeface="Times New Roman" pitchFamily="18" charset="0"/>
                <a:cs typeface="Times New Roman" pitchFamily="18" charset="0"/>
              </a:rPr>
              <a:t>p</a:t>
            </a:r>
            <a:r>
              <a:rPr lang="en-US" altLang="en-US" sz="2000" dirty="0">
                <a:latin typeface="Times New Roman" pitchFamily="18" charset="0"/>
                <a:cs typeface="Times New Roman" pitchFamily="18" charset="0"/>
              </a:rPr>
              <a:t>.</a:t>
            </a:r>
          </a:p>
        </p:txBody>
      </p:sp>
      <p:sp>
        <p:nvSpPr>
          <p:cNvPr id="2" name="Slide Number Placeholder 1"/>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34130382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US" altLang="en-US" sz="3200" dirty="0">
                <a:cs typeface="Times New Roman" pitchFamily="18" charset="0"/>
              </a:rPr>
              <a:t>Quick-sort partitioning </a:t>
            </a:r>
            <a:r>
              <a:rPr lang="en-US" altLang="en-US" sz="3200" i="1" dirty="0">
                <a:cs typeface="Times New Roman" pitchFamily="18" charset="0"/>
              </a:rPr>
              <a:t>(2)</a:t>
            </a:r>
            <a:endParaRPr lang="en-GB" altLang="en-US" sz="3200" i="1" dirty="0">
              <a:cs typeface="Times New Roman" pitchFamily="18" charset="0"/>
            </a:endParaRPr>
          </a:p>
        </p:txBody>
      </p:sp>
      <p:sp>
        <p:nvSpPr>
          <p:cNvPr id="58371" name="Rectangle 3"/>
          <p:cNvSpPr>
            <a:spLocks noGrp="1" noChangeArrowheads="1"/>
          </p:cNvSpPr>
          <p:nvPr>
            <p:ph idx="1"/>
          </p:nvPr>
        </p:nvSpPr>
        <p:spPr>
          <a:noFill/>
        </p:spPr>
        <p:txBody>
          <a:bodyPr/>
          <a:lstStyle/>
          <a:p>
            <a:pPr eaLnBrk="1" hangingPunct="1"/>
            <a:r>
              <a:rPr lang="en-US" altLang="en-US" dirty="0"/>
              <a:t>Loop invariant:</a:t>
            </a:r>
          </a:p>
        </p:txBody>
      </p:sp>
      <p:grpSp>
        <p:nvGrpSpPr>
          <p:cNvPr id="2" name="Group 50"/>
          <p:cNvGrpSpPr>
            <a:grpSpLocks/>
          </p:cNvGrpSpPr>
          <p:nvPr/>
        </p:nvGrpSpPr>
        <p:grpSpPr bwMode="auto">
          <a:xfrm>
            <a:off x="346366" y="2270125"/>
            <a:ext cx="7921625" cy="1393825"/>
            <a:chOff x="725" y="1418"/>
            <a:chExt cx="4990" cy="878"/>
          </a:xfrm>
        </p:grpSpPr>
        <p:grpSp>
          <p:nvGrpSpPr>
            <p:cNvPr id="58374" name="Group 47"/>
            <p:cNvGrpSpPr>
              <a:grpSpLocks/>
            </p:cNvGrpSpPr>
            <p:nvPr/>
          </p:nvGrpSpPr>
          <p:grpSpPr bwMode="auto">
            <a:xfrm>
              <a:off x="893" y="1898"/>
              <a:ext cx="1392" cy="398"/>
              <a:chOff x="893" y="1898"/>
              <a:chExt cx="1392" cy="398"/>
            </a:xfrm>
          </p:grpSpPr>
          <p:sp>
            <p:nvSpPr>
              <p:cNvPr id="58403" name="Freeform 5"/>
              <p:cNvSpPr>
                <a:spLocks/>
              </p:cNvSpPr>
              <p:nvPr/>
            </p:nvSpPr>
            <p:spPr bwMode="auto">
              <a:xfrm>
                <a:off x="893" y="1898"/>
                <a:ext cx="1392" cy="91"/>
              </a:xfrm>
              <a:custGeom>
                <a:avLst/>
                <a:gdLst>
                  <a:gd name="T0" fmla="*/ 0 w 1513"/>
                  <a:gd name="T1" fmla="*/ 0 h 126"/>
                  <a:gd name="T2" fmla="*/ 1 w 1513"/>
                  <a:gd name="T3" fmla="*/ 4 h 126"/>
                  <a:gd name="T4" fmla="*/ 6 w 1513"/>
                  <a:gd name="T5" fmla="*/ 7 h 126"/>
                  <a:gd name="T6" fmla="*/ 15 w 1513"/>
                  <a:gd name="T7" fmla="*/ 9 h 126"/>
                  <a:gd name="T8" fmla="*/ 27 w 1513"/>
                  <a:gd name="T9" fmla="*/ 12 h 126"/>
                  <a:gd name="T10" fmla="*/ 39 w 1513"/>
                  <a:gd name="T11" fmla="*/ 14 h 126"/>
                  <a:gd name="T12" fmla="*/ 54 w 1513"/>
                  <a:gd name="T13" fmla="*/ 16 h 126"/>
                  <a:gd name="T14" fmla="*/ 72 w 1513"/>
                  <a:gd name="T15" fmla="*/ 16 h 126"/>
                  <a:gd name="T16" fmla="*/ 90 w 1513"/>
                  <a:gd name="T17" fmla="*/ 17 h 126"/>
                  <a:gd name="T18" fmla="*/ 452 w 1513"/>
                  <a:gd name="T19" fmla="*/ 17 h 126"/>
                  <a:gd name="T20" fmla="*/ 470 w 1513"/>
                  <a:gd name="T21" fmla="*/ 17 h 126"/>
                  <a:gd name="T22" fmla="*/ 487 w 1513"/>
                  <a:gd name="T23" fmla="*/ 18 h 126"/>
                  <a:gd name="T24" fmla="*/ 502 w 1513"/>
                  <a:gd name="T25" fmla="*/ 20 h 126"/>
                  <a:gd name="T26" fmla="*/ 514 w 1513"/>
                  <a:gd name="T27" fmla="*/ 22 h 126"/>
                  <a:gd name="T28" fmla="*/ 525 w 1513"/>
                  <a:gd name="T29" fmla="*/ 25 h 126"/>
                  <a:gd name="T30" fmla="*/ 534 w 1513"/>
                  <a:gd name="T31" fmla="*/ 27 h 126"/>
                  <a:gd name="T32" fmla="*/ 540 w 1513"/>
                  <a:gd name="T33" fmla="*/ 31 h 126"/>
                  <a:gd name="T34" fmla="*/ 541 w 1513"/>
                  <a:gd name="T35" fmla="*/ 35 h 126"/>
                  <a:gd name="T36" fmla="*/ 542 w 1513"/>
                  <a:gd name="T37" fmla="*/ 31 h 126"/>
                  <a:gd name="T38" fmla="*/ 549 w 1513"/>
                  <a:gd name="T39" fmla="*/ 27 h 126"/>
                  <a:gd name="T40" fmla="*/ 557 w 1513"/>
                  <a:gd name="T41" fmla="*/ 25 h 126"/>
                  <a:gd name="T42" fmla="*/ 569 w 1513"/>
                  <a:gd name="T43" fmla="*/ 22 h 126"/>
                  <a:gd name="T44" fmla="*/ 580 w 1513"/>
                  <a:gd name="T45" fmla="*/ 20 h 126"/>
                  <a:gd name="T46" fmla="*/ 596 w 1513"/>
                  <a:gd name="T47" fmla="*/ 18 h 126"/>
                  <a:gd name="T48" fmla="*/ 614 w 1513"/>
                  <a:gd name="T49" fmla="*/ 17 h 126"/>
                  <a:gd name="T50" fmla="*/ 631 w 1513"/>
                  <a:gd name="T51" fmla="*/ 17 h 126"/>
                  <a:gd name="T52" fmla="*/ 993 w 1513"/>
                  <a:gd name="T53" fmla="*/ 17 h 126"/>
                  <a:gd name="T54" fmla="*/ 1011 w 1513"/>
                  <a:gd name="T55" fmla="*/ 16 h 126"/>
                  <a:gd name="T56" fmla="*/ 1028 w 1513"/>
                  <a:gd name="T57" fmla="*/ 16 h 126"/>
                  <a:gd name="T58" fmla="*/ 1043 w 1513"/>
                  <a:gd name="T59" fmla="*/ 14 h 126"/>
                  <a:gd name="T60" fmla="*/ 1057 w 1513"/>
                  <a:gd name="T61" fmla="*/ 12 h 126"/>
                  <a:gd name="T62" fmla="*/ 1069 w 1513"/>
                  <a:gd name="T63" fmla="*/ 9 h 126"/>
                  <a:gd name="T64" fmla="*/ 1076 w 1513"/>
                  <a:gd name="T65" fmla="*/ 7 h 126"/>
                  <a:gd name="T66" fmla="*/ 1083 w 1513"/>
                  <a:gd name="T67" fmla="*/ 4 h 126"/>
                  <a:gd name="T68" fmla="*/ 1085 w 1513"/>
                  <a:gd name="T69" fmla="*/ 0 h 12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13"/>
                  <a:gd name="T106" fmla="*/ 0 h 126"/>
                  <a:gd name="T107" fmla="*/ 1513 w 1513"/>
                  <a:gd name="T108" fmla="*/ 126 h 12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13" h="126">
                    <a:moveTo>
                      <a:pt x="0" y="0"/>
                    </a:moveTo>
                    <a:lnTo>
                      <a:pt x="1" y="12"/>
                    </a:lnTo>
                    <a:lnTo>
                      <a:pt x="10" y="25"/>
                    </a:lnTo>
                    <a:lnTo>
                      <a:pt x="21" y="34"/>
                    </a:lnTo>
                    <a:lnTo>
                      <a:pt x="37" y="44"/>
                    </a:lnTo>
                    <a:lnTo>
                      <a:pt x="54" y="51"/>
                    </a:lnTo>
                    <a:lnTo>
                      <a:pt x="76" y="57"/>
                    </a:lnTo>
                    <a:lnTo>
                      <a:pt x="100" y="60"/>
                    </a:lnTo>
                    <a:lnTo>
                      <a:pt x="125" y="62"/>
                    </a:lnTo>
                    <a:lnTo>
                      <a:pt x="630" y="62"/>
                    </a:lnTo>
                    <a:lnTo>
                      <a:pt x="655" y="64"/>
                    </a:lnTo>
                    <a:lnTo>
                      <a:pt x="679" y="67"/>
                    </a:lnTo>
                    <a:lnTo>
                      <a:pt x="701" y="72"/>
                    </a:lnTo>
                    <a:lnTo>
                      <a:pt x="718" y="81"/>
                    </a:lnTo>
                    <a:lnTo>
                      <a:pt x="734" y="90"/>
                    </a:lnTo>
                    <a:lnTo>
                      <a:pt x="745" y="101"/>
                    </a:lnTo>
                    <a:lnTo>
                      <a:pt x="754" y="113"/>
                    </a:lnTo>
                    <a:lnTo>
                      <a:pt x="755" y="126"/>
                    </a:lnTo>
                    <a:lnTo>
                      <a:pt x="757" y="113"/>
                    </a:lnTo>
                    <a:lnTo>
                      <a:pt x="766" y="101"/>
                    </a:lnTo>
                    <a:lnTo>
                      <a:pt x="777" y="90"/>
                    </a:lnTo>
                    <a:lnTo>
                      <a:pt x="793" y="81"/>
                    </a:lnTo>
                    <a:lnTo>
                      <a:pt x="810" y="72"/>
                    </a:lnTo>
                    <a:lnTo>
                      <a:pt x="832" y="67"/>
                    </a:lnTo>
                    <a:lnTo>
                      <a:pt x="856" y="64"/>
                    </a:lnTo>
                    <a:lnTo>
                      <a:pt x="881" y="62"/>
                    </a:lnTo>
                    <a:lnTo>
                      <a:pt x="1386" y="62"/>
                    </a:lnTo>
                    <a:lnTo>
                      <a:pt x="1412" y="60"/>
                    </a:lnTo>
                    <a:lnTo>
                      <a:pt x="1435" y="57"/>
                    </a:lnTo>
                    <a:lnTo>
                      <a:pt x="1457" y="51"/>
                    </a:lnTo>
                    <a:lnTo>
                      <a:pt x="1476" y="44"/>
                    </a:lnTo>
                    <a:lnTo>
                      <a:pt x="1492" y="34"/>
                    </a:lnTo>
                    <a:lnTo>
                      <a:pt x="1503" y="25"/>
                    </a:lnTo>
                    <a:lnTo>
                      <a:pt x="1511" y="12"/>
                    </a:lnTo>
                    <a:lnTo>
                      <a:pt x="1513" y="0"/>
                    </a:lnTo>
                  </a:path>
                </a:pathLst>
              </a:custGeom>
              <a:noFill/>
              <a:ln w="17526" cap="flat">
                <a:solidFill>
                  <a:schemeClr val="accent1">
                    <a:lumMod val="75000"/>
                  </a:schemeClr>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8404" name="Rectangle 7"/>
              <p:cNvSpPr>
                <a:spLocks noChangeArrowheads="1"/>
              </p:cNvSpPr>
              <p:nvPr/>
            </p:nvSpPr>
            <p:spPr bwMode="auto">
              <a:xfrm>
                <a:off x="941" y="2008"/>
                <a:ext cx="12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lnSpc>
                    <a:spcPts val="1800"/>
                  </a:lnSpc>
                  <a:spcBef>
                    <a:spcPct val="0"/>
                  </a:spcBef>
                  <a:buClrTx/>
                  <a:buFontTx/>
                  <a:buNone/>
                </a:pPr>
                <a:r>
                  <a:rPr lang="en-US" altLang="en-US" sz="1800">
                    <a:solidFill>
                      <a:schemeClr val="accent1">
                        <a:lumMod val="50000"/>
                      </a:schemeClr>
                    </a:solidFill>
                  </a:rPr>
                  <a:t>less than or equal to pivot (unsorted) </a:t>
                </a:r>
              </a:p>
            </p:txBody>
          </p:sp>
        </p:grpSp>
        <p:grpSp>
          <p:nvGrpSpPr>
            <p:cNvPr id="58375" name="Group 48"/>
            <p:cNvGrpSpPr>
              <a:grpSpLocks/>
            </p:cNvGrpSpPr>
            <p:nvPr/>
          </p:nvGrpSpPr>
          <p:grpSpPr bwMode="auto">
            <a:xfrm>
              <a:off x="2811" y="1898"/>
              <a:ext cx="1394" cy="398"/>
              <a:chOff x="2811" y="1898"/>
              <a:chExt cx="1394" cy="398"/>
            </a:xfrm>
          </p:grpSpPr>
          <p:sp>
            <p:nvSpPr>
              <p:cNvPr id="58401" name="Freeform 12"/>
              <p:cNvSpPr>
                <a:spLocks/>
              </p:cNvSpPr>
              <p:nvPr/>
            </p:nvSpPr>
            <p:spPr bwMode="auto">
              <a:xfrm>
                <a:off x="2813" y="1898"/>
                <a:ext cx="1392" cy="91"/>
              </a:xfrm>
              <a:custGeom>
                <a:avLst/>
                <a:gdLst>
                  <a:gd name="T0" fmla="*/ 0 w 1513"/>
                  <a:gd name="T1" fmla="*/ 0 h 126"/>
                  <a:gd name="T2" fmla="*/ 1 w 1513"/>
                  <a:gd name="T3" fmla="*/ 4 h 126"/>
                  <a:gd name="T4" fmla="*/ 6 w 1513"/>
                  <a:gd name="T5" fmla="*/ 7 h 126"/>
                  <a:gd name="T6" fmla="*/ 15 w 1513"/>
                  <a:gd name="T7" fmla="*/ 9 h 126"/>
                  <a:gd name="T8" fmla="*/ 27 w 1513"/>
                  <a:gd name="T9" fmla="*/ 12 h 126"/>
                  <a:gd name="T10" fmla="*/ 39 w 1513"/>
                  <a:gd name="T11" fmla="*/ 14 h 126"/>
                  <a:gd name="T12" fmla="*/ 54 w 1513"/>
                  <a:gd name="T13" fmla="*/ 16 h 126"/>
                  <a:gd name="T14" fmla="*/ 72 w 1513"/>
                  <a:gd name="T15" fmla="*/ 16 h 126"/>
                  <a:gd name="T16" fmla="*/ 90 w 1513"/>
                  <a:gd name="T17" fmla="*/ 17 h 126"/>
                  <a:gd name="T18" fmla="*/ 452 w 1513"/>
                  <a:gd name="T19" fmla="*/ 17 h 126"/>
                  <a:gd name="T20" fmla="*/ 470 w 1513"/>
                  <a:gd name="T21" fmla="*/ 17 h 126"/>
                  <a:gd name="T22" fmla="*/ 487 w 1513"/>
                  <a:gd name="T23" fmla="*/ 18 h 126"/>
                  <a:gd name="T24" fmla="*/ 502 w 1513"/>
                  <a:gd name="T25" fmla="*/ 20 h 126"/>
                  <a:gd name="T26" fmla="*/ 514 w 1513"/>
                  <a:gd name="T27" fmla="*/ 22 h 126"/>
                  <a:gd name="T28" fmla="*/ 525 w 1513"/>
                  <a:gd name="T29" fmla="*/ 25 h 126"/>
                  <a:gd name="T30" fmla="*/ 534 w 1513"/>
                  <a:gd name="T31" fmla="*/ 27 h 126"/>
                  <a:gd name="T32" fmla="*/ 540 w 1513"/>
                  <a:gd name="T33" fmla="*/ 31 h 126"/>
                  <a:gd name="T34" fmla="*/ 541 w 1513"/>
                  <a:gd name="T35" fmla="*/ 35 h 126"/>
                  <a:gd name="T36" fmla="*/ 542 w 1513"/>
                  <a:gd name="T37" fmla="*/ 31 h 126"/>
                  <a:gd name="T38" fmla="*/ 549 w 1513"/>
                  <a:gd name="T39" fmla="*/ 27 h 126"/>
                  <a:gd name="T40" fmla="*/ 557 w 1513"/>
                  <a:gd name="T41" fmla="*/ 25 h 126"/>
                  <a:gd name="T42" fmla="*/ 569 w 1513"/>
                  <a:gd name="T43" fmla="*/ 22 h 126"/>
                  <a:gd name="T44" fmla="*/ 580 w 1513"/>
                  <a:gd name="T45" fmla="*/ 20 h 126"/>
                  <a:gd name="T46" fmla="*/ 596 w 1513"/>
                  <a:gd name="T47" fmla="*/ 18 h 126"/>
                  <a:gd name="T48" fmla="*/ 614 w 1513"/>
                  <a:gd name="T49" fmla="*/ 17 h 126"/>
                  <a:gd name="T50" fmla="*/ 631 w 1513"/>
                  <a:gd name="T51" fmla="*/ 17 h 126"/>
                  <a:gd name="T52" fmla="*/ 993 w 1513"/>
                  <a:gd name="T53" fmla="*/ 17 h 126"/>
                  <a:gd name="T54" fmla="*/ 1011 w 1513"/>
                  <a:gd name="T55" fmla="*/ 16 h 126"/>
                  <a:gd name="T56" fmla="*/ 1028 w 1513"/>
                  <a:gd name="T57" fmla="*/ 16 h 126"/>
                  <a:gd name="T58" fmla="*/ 1043 w 1513"/>
                  <a:gd name="T59" fmla="*/ 14 h 126"/>
                  <a:gd name="T60" fmla="*/ 1057 w 1513"/>
                  <a:gd name="T61" fmla="*/ 12 h 126"/>
                  <a:gd name="T62" fmla="*/ 1069 w 1513"/>
                  <a:gd name="T63" fmla="*/ 9 h 126"/>
                  <a:gd name="T64" fmla="*/ 1076 w 1513"/>
                  <a:gd name="T65" fmla="*/ 7 h 126"/>
                  <a:gd name="T66" fmla="*/ 1083 w 1513"/>
                  <a:gd name="T67" fmla="*/ 4 h 126"/>
                  <a:gd name="T68" fmla="*/ 1085 w 1513"/>
                  <a:gd name="T69" fmla="*/ 0 h 12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13"/>
                  <a:gd name="T106" fmla="*/ 0 h 126"/>
                  <a:gd name="T107" fmla="*/ 1513 w 1513"/>
                  <a:gd name="T108" fmla="*/ 126 h 12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13" h="126">
                    <a:moveTo>
                      <a:pt x="0" y="0"/>
                    </a:moveTo>
                    <a:lnTo>
                      <a:pt x="1" y="12"/>
                    </a:lnTo>
                    <a:lnTo>
                      <a:pt x="10" y="25"/>
                    </a:lnTo>
                    <a:lnTo>
                      <a:pt x="21" y="34"/>
                    </a:lnTo>
                    <a:lnTo>
                      <a:pt x="37" y="44"/>
                    </a:lnTo>
                    <a:lnTo>
                      <a:pt x="54" y="51"/>
                    </a:lnTo>
                    <a:lnTo>
                      <a:pt x="76" y="57"/>
                    </a:lnTo>
                    <a:lnTo>
                      <a:pt x="100" y="60"/>
                    </a:lnTo>
                    <a:lnTo>
                      <a:pt x="125" y="62"/>
                    </a:lnTo>
                    <a:lnTo>
                      <a:pt x="630" y="62"/>
                    </a:lnTo>
                    <a:lnTo>
                      <a:pt x="655" y="64"/>
                    </a:lnTo>
                    <a:lnTo>
                      <a:pt x="679" y="67"/>
                    </a:lnTo>
                    <a:lnTo>
                      <a:pt x="701" y="72"/>
                    </a:lnTo>
                    <a:lnTo>
                      <a:pt x="718" y="81"/>
                    </a:lnTo>
                    <a:lnTo>
                      <a:pt x="734" y="90"/>
                    </a:lnTo>
                    <a:lnTo>
                      <a:pt x="745" y="101"/>
                    </a:lnTo>
                    <a:lnTo>
                      <a:pt x="754" y="113"/>
                    </a:lnTo>
                    <a:lnTo>
                      <a:pt x="755" y="126"/>
                    </a:lnTo>
                    <a:lnTo>
                      <a:pt x="757" y="113"/>
                    </a:lnTo>
                    <a:lnTo>
                      <a:pt x="766" y="101"/>
                    </a:lnTo>
                    <a:lnTo>
                      <a:pt x="777" y="90"/>
                    </a:lnTo>
                    <a:lnTo>
                      <a:pt x="793" y="81"/>
                    </a:lnTo>
                    <a:lnTo>
                      <a:pt x="810" y="72"/>
                    </a:lnTo>
                    <a:lnTo>
                      <a:pt x="832" y="67"/>
                    </a:lnTo>
                    <a:lnTo>
                      <a:pt x="856" y="64"/>
                    </a:lnTo>
                    <a:lnTo>
                      <a:pt x="881" y="62"/>
                    </a:lnTo>
                    <a:lnTo>
                      <a:pt x="1386" y="62"/>
                    </a:lnTo>
                    <a:lnTo>
                      <a:pt x="1412" y="60"/>
                    </a:lnTo>
                    <a:lnTo>
                      <a:pt x="1435" y="57"/>
                    </a:lnTo>
                    <a:lnTo>
                      <a:pt x="1457" y="51"/>
                    </a:lnTo>
                    <a:lnTo>
                      <a:pt x="1476" y="44"/>
                    </a:lnTo>
                    <a:lnTo>
                      <a:pt x="1492" y="34"/>
                    </a:lnTo>
                    <a:lnTo>
                      <a:pt x="1503" y="25"/>
                    </a:lnTo>
                    <a:lnTo>
                      <a:pt x="1511" y="12"/>
                    </a:lnTo>
                    <a:lnTo>
                      <a:pt x="1513" y="0"/>
                    </a:lnTo>
                  </a:path>
                </a:pathLst>
              </a:custGeom>
              <a:noFill/>
              <a:ln w="17526" cap="flat">
                <a:solidFill>
                  <a:schemeClr val="accent1">
                    <a:lumMod val="75000"/>
                  </a:schemeClr>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8402" name="Rectangle 14"/>
              <p:cNvSpPr>
                <a:spLocks noChangeArrowheads="1"/>
              </p:cNvSpPr>
              <p:nvPr/>
            </p:nvSpPr>
            <p:spPr bwMode="auto">
              <a:xfrm>
                <a:off x="2811" y="2008"/>
                <a:ext cx="134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lnSpc>
                    <a:spcPts val="1800"/>
                  </a:lnSpc>
                  <a:spcBef>
                    <a:spcPct val="0"/>
                  </a:spcBef>
                  <a:buClrTx/>
                  <a:buFontTx/>
                  <a:buNone/>
                </a:pPr>
                <a:r>
                  <a:rPr lang="en-US" altLang="en-US" sz="1800">
                    <a:solidFill>
                      <a:schemeClr val="accent1">
                        <a:lumMod val="50000"/>
                      </a:schemeClr>
                    </a:solidFill>
                  </a:rPr>
                  <a:t>greater than or equal to pivot (unsorted) </a:t>
                </a:r>
              </a:p>
            </p:txBody>
          </p:sp>
        </p:grpSp>
        <p:grpSp>
          <p:nvGrpSpPr>
            <p:cNvPr id="58376" name="Group 49"/>
            <p:cNvGrpSpPr>
              <a:grpSpLocks/>
            </p:cNvGrpSpPr>
            <p:nvPr/>
          </p:nvGrpSpPr>
          <p:grpSpPr bwMode="auto">
            <a:xfrm>
              <a:off x="4279" y="1898"/>
              <a:ext cx="1414" cy="254"/>
              <a:chOff x="4279" y="1898"/>
              <a:chExt cx="1414" cy="254"/>
            </a:xfrm>
          </p:grpSpPr>
          <p:sp>
            <p:nvSpPr>
              <p:cNvPr id="58399" name="Freeform 17"/>
              <p:cNvSpPr>
                <a:spLocks/>
              </p:cNvSpPr>
              <p:nvPr/>
            </p:nvSpPr>
            <p:spPr bwMode="auto">
              <a:xfrm>
                <a:off x="4279" y="1898"/>
                <a:ext cx="1414" cy="91"/>
              </a:xfrm>
              <a:custGeom>
                <a:avLst/>
                <a:gdLst>
                  <a:gd name="T0" fmla="*/ 0 w 1513"/>
                  <a:gd name="T1" fmla="*/ 0 h 126"/>
                  <a:gd name="T2" fmla="*/ 1 w 1513"/>
                  <a:gd name="T3" fmla="*/ 4 h 126"/>
                  <a:gd name="T4" fmla="*/ 7 w 1513"/>
                  <a:gd name="T5" fmla="*/ 7 h 126"/>
                  <a:gd name="T6" fmla="*/ 17 w 1513"/>
                  <a:gd name="T7" fmla="*/ 9 h 126"/>
                  <a:gd name="T8" fmla="*/ 29 w 1513"/>
                  <a:gd name="T9" fmla="*/ 12 h 126"/>
                  <a:gd name="T10" fmla="*/ 41 w 1513"/>
                  <a:gd name="T11" fmla="*/ 14 h 126"/>
                  <a:gd name="T12" fmla="*/ 58 w 1513"/>
                  <a:gd name="T13" fmla="*/ 16 h 126"/>
                  <a:gd name="T14" fmla="*/ 76 w 1513"/>
                  <a:gd name="T15" fmla="*/ 16 h 126"/>
                  <a:gd name="T16" fmla="*/ 95 w 1513"/>
                  <a:gd name="T17" fmla="*/ 17 h 126"/>
                  <a:gd name="T18" fmla="*/ 480 w 1513"/>
                  <a:gd name="T19" fmla="*/ 17 h 126"/>
                  <a:gd name="T20" fmla="*/ 500 w 1513"/>
                  <a:gd name="T21" fmla="*/ 17 h 126"/>
                  <a:gd name="T22" fmla="*/ 518 w 1513"/>
                  <a:gd name="T23" fmla="*/ 18 h 126"/>
                  <a:gd name="T24" fmla="*/ 535 w 1513"/>
                  <a:gd name="T25" fmla="*/ 20 h 126"/>
                  <a:gd name="T26" fmla="*/ 548 w 1513"/>
                  <a:gd name="T27" fmla="*/ 22 h 126"/>
                  <a:gd name="T28" fmla="*/ 560 w 1513"/>
                  <a:gd name="T29" fmla="*/ 25 h 126"/>
                  <a:gd name="T30" fmla="*/ 567 w 1513"/>
                  <a:gd name="T31" fmla="*/ 27 h 126"/>
                  <a:gd name="T32" fmla="*/ 576 w 1513"/>
                  <a:gd name="T33" fmla="*/ 31 h 126"/>
                  <a:gd name="T34" fmla="*/ 577 w 1513"/>
                  <a:gd name="T35" fmla="*/ 35 h 126"/>
                  <a:gd name="T36" fmla="*/ 578 w 1513"/>
                  <a:gd name="T37" fmla="*/ 31 h 126"/>
                  <a:gd name="T38" fmla="*/ 584 w 1513"/>
                  <a:gd name="T39" fmla="*/ 27 h 126"/>
                  <a:gd name="T40" fmla="*/ 593 w 1513"/>
                  <a:gd name="T41" fmla="*/ 25 h 126"/>
                  <a:gd name="T42" fmla="*/ 606 w 1513"/>
                  <a:gd name="T43" fmla="*/ 22 h 126"/>
                  <a:gd name="T44" fmla="*/ 618 w 1513"/>
                  <a:gd name="T45" fmla="*/ 20 h 126"/>
                  <a:gd name="T46" fmla="*/ 635 w 1513"/>
                  <a:gd name="T47" fmla="*/ 18 h 126"/>
                  <a:gd name="T48" fmla="*/ 653 w 1513"/>
                  <a:gd name="T49" fmla="*/ 17 h 126"/>
                  <a:gd name="T50" fmla="*/ 672 w 1513"/>
                  <a:gd name="T51" fmla="*/ 17 h 126"/>
                  <a:gd name="T52" fmla="*/ 1057 w 1513"/>
                  <a:gd name="T53" fmla="*/ 17 h 126"/>
                  <a:gd name="T54" fmla="*/ 1078 w 1513"/>
                  <a:gd name="T55" fmla="*/ 16 h 126"/>
                  <a:gd name="T56" fmla="*/ 1094 w 1513"/>
                  <a:gd name="T57" fmla="*/ 16 h 126"/>
                  <a:gd name="T58" fmla="*/ 1112 w 1513"/>
                  <a:gd name="T59" fmla="*/ 14 h 126"/>
                  <a:gd name="T60" fmla="*/ 1126 w 1513"/>
                  <a:gd name="T61" fmla="*/ 12 h 126"/>
                  <a:gd name="T62" fmla="*/ 1138 w 1513"/>
                  <a:gd name="T63" fmla="*/ 9 h 126"/>
                  <a:gd name="T64" fmla="*/ 1147 w 1513"/>
                  <a:gd name="T65" fmla="*/ 7 h 126"/>
                  <a:gd name="T66" fmla="*/ 1153 w 1513"/>
                  <a:gd name="T67" fmla="*/ 4 h 126"/>
                  <a:gd name="T68" fmla="*/ 1154 w 1513"/>
                  <a:gd name="T69" fmla="*/ 0 h 12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13"/>
                  <a:gd name="T106" fmla="*/ 0 h 126"/>
                  <a:gd name="T107" fmla="*/ 1513 w 1513"/>
                  <a:gd name="T108" fmla="*/ 126 h 12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13" h="126">
                    <a:moveTo>
                      <a:pt x="0" y="0"/>
                    </a:moveTo>
                    <a:lnTo>
                      <a:pt x="1" y="12"/>
                    </a:lnTo>
                    <a:lnTo>
                      <a:pt x="10" y="25"/>
                    </a:lnTo>
                    <a:lnTo>
                      <a:pt x="21" y="34"/>
                    </a:lnTo>
                    <a:lnTo>
                      <a:pt x="37" y="44"/>
                    </a:lnTo>
                    <a:lnTo>
                      <a:pt x="54" y="51"/>
                    </a:lnTo>
                    <a:lnTo>
                      <a:pt x="76" y="57"/>
                    </a:lnTo>
                    <a:lnTo>
                      <a:pt x="100" y="60"/>
                    </a:lnTo>
                    <a:lnTo>
                      <a:pt x="125" y="62"/>
                    </a:lnTo>
                    <a:lnTo>
                      <a:pt x="630" y="62"/>
                    </a:lnTo>
                    <a:lnTo>
                      <a:pt x="655" y="64"/>
                    </a:lnTo>
                    <a:lnTo>
                      <a:pt x="679" y="67"/>
                    </a:lnTo>
                    <a:lnTo>
                      <a:pt x="701" y="72"/>
                    </a:lnTo>
                    <a:lnTo>
                      <a:pt x="718" y="81"/>
                    </a:lnTo>
                    <a:lnTo>
                      <a:pt x="734" y="90"/>
                    </a:lnTo>
                    <a:lnTo>
                      <a:pt x="745" y="101"/>
                    </a:lnTo>
                    <a:lnTo>
                      <a:pt x="754" y="113"/>
                    </a:lnTo>
                    <a:lnTo>
                      <a:pt x="755" y="126"/>
                    </a:lnTo>
                    <a:lnTo>
                      <a:pt x="757" y="113"/>
                    </a:lnTo>
                    <a:lnTo>
                      <a:pt x="766" y="101"/>
                    </a:lnTo>
                    <a:lnTo>
                      <a:pt x="777" y="90"/>
                    </a:lnTo>
                    <a:lnTo>
                      <a:pt x="793" y="81"/>
                    </a:lnTo>
                    <a:lnTo>
                      <a:pt x="810" y="72"/>
                    </a:lnTo>
                    <a:lnTo>
                      <a:pt x="832" y="67"/>
                    </a:lnTo>
                    <a:lnTo>
                      <a:pt x="856" y="64"/>
                    </a:lnTo>
                    <a:lnTo>
                      <a:pt x="881" y="62"/>
                    </a:lnTo>
                    <a:lnTo>
                      <a:pt x="1386" y="62"/>
                    </a:lnTo>
                    <a:lnTo>
                      <a:pt x="1412" y="60"/>
                    </a:lnTo>
                    <a:lnTo>
                      <a:pt x="1435" y="57"/>
                    </a:lnTo>
                    <a:lnTo>
                      <a:pt x="1457" y="51"/>
                    </a:lnTo>
                    <a:lnTo>
                      <a:pt x="1476" y="44"/>
                    </a:lnTo>
                    <a:lnTo>
                      <a:pt x="1492" y="34"/>
                    </a:lnTo>
                    <a:lnTo>
                      <a:pt x="1503" y="25"/>
                    </a:lnTo>
                    <a:lnTo>
                      <a:pt x="1511" y="12"/>
                    </a:lnTo>
                    <a:lnTo>
                      <a:pt x="1513" y="0"/>
                    </a:lnTo>
                  </a:path>
                </a:pathLst>
              </a:custGeom>
              <a:noFill/>
              <a:ln w="17526" cap="flat">
                <a:solidFill>
                  <a:schemeClr val="accent1">
                    <a:lumMod val="75000"/>
                  </a:schemeClr>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8400" name="Rectangle 19"/>
              <p:cNvSpPr>
                <a:spLocks noChangeArrowheads="1"/>
              </p:cNvSpPr>
              <p:nvPr/>
            </p:nvSpPr>
            <p:spPr bwMode="auto">
              <a:xfrm>
                <a:off x="4349" y="2008"/>
                <a:ext cx="129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lnSpc>
                    <a:spcPts val="1800"/>
                  </a:lnSpc>
                  <a:spcBef>
                    <a:spcPct val="0"/>
                  </a:spcBef>
                  <a:buClrTx/>
                  <a:buFontTx/>
                  <a:buNone/>
                </a:pPr>
                <a:r>
                  <a:rPr lang="en-US" altLang="en-US" sz="1800">
                    <a:solidFill>
                      <a:schemeClr val="accent1">
                        <a:lumMod val="50000"/>
                      </a:schemeClr>
                    </a:solidFill>
                  </a:rPr>
                  <a:t>still to be partitioned </a:t>
                </a:r>
              </a:p>
            </p:txBody>
          </p:sp>
        </p:grpSp>
        <p:sp>
          <p:nvSpPr>
            <p:cNvPr id="58377" name="Rectangle 10"/>
            <p:cNvSpPr>
              <a:spLocks noChangeArrowheads="1"/>
            </p:cNvSpPr>
            <p:nvPr/>
          </p:nvSpPr>
          <p:spPr bwMode="auto">
            <a:xfrm>
              <a:off x="2358" y="2022"/>
              <a:ext cx="30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lnSpc>
                  <a:spcPts val="1800"/>
                </a:lnSpc>
                <a:spcBef>
                  <a:spcPct val="0"/>
                </a:spcBef>
                <a:buClrTx/>
                <a:buFontTx/>
                <a:buNone/>
              </a:pPr>
              <a:r>
                <a:rPr lang="en-US" altLang="en-US" sz="1800">
                  <a:solidFill>
                    <a:schemeClr val="accent1">
                      <a:lumMod val="50000"/>
                    </a:schemeClr>
                  </a:solidFill>
                </a:rPr>
                <a:t>pivot</a:t>
              </a:r>
            </a:p>
          </p:txBody>
        </p:sp>
        <p:sp>
          <p:nvSpPr>
            <p:cNvPr id="58378" name="Rectangle 24"/>
            <p:cNvSpPr>
              <a:spLocks noChangeArrowheads="1"/>
            </p:cNvSpPr>
            <p:nvPr/>
          </p:nvSpPr>
          <p:spPr bwMode="auto">
            <a:xfrm>
              <a:off x="2755" y="1418"/>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p</a:t>
              </a:r>
              <a:r>
                <a:rPr lang="en-US" altLang="en-US" sz="1800">
                  <a:solidFill>
                    <a:srgbClr val="000000"/>
                  </a:solidFill>
                </a:rPr>
                <a:t>+1</a:t>
              </a:r>
            </a:p>
          </p:txBody>
        </p:sp>
        <p:sp>
          <p:nvSpPr>
            <p:cNvPr id="58379" name="Rectangle 26"/>
            <p:cNvSpPr>
              <a:spLocks noChangeArrowheads="1"/>
            </p:cNvSpPr>
            <p:nvPr/>
          </p:nvSpPr>
          <p:spPr bwMode="auto">
            <a:xfrm>
              <a:off x="725" y="1616"/>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rgbClr val="000000"/>
                  </a:solidFill>
                </a:rPr>
                <a:t>a</a:t>
              </a:r>
              <a:endParaRPr lang="en-US" altLang="en-US" sz="1800"/>
            </a:p>
          </p:txBody>
        </p:sp>
        <p:sp>
          <p:nvSpPr>
            <p:cNvPr id="58380" name="Rectangle 27"/>
            <p:cNvSpPr>
              <a:spLocks noChangeArrowheads="1"/>
            </p:cNvSpPr>
            <p:nvPr/>
          </p:nvSpPr>
          <p:spPr bwMode="auto">
            <a:xfrm>
              <a:off x="859" y="1601"/>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8381" name="Rectangle 28"/>
            <p:cNvSpPr>
              <a:spLocks noChangeArrowheads="1"/>
            </p:cNvSpPr>
            <p:nvPr/>
          </p:nvSpPr>
          <p:spPr bwMode="auto">
            <a:xfrm>
              <a:off x="1329" y="1601"/>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8382" name="Rectangle 29"/>
            <p:cNvSpPr>
              <a:spLocks noChangeArrowheads="1"/>
            </p:cNvSpPr>
            <p:nvPr/>
          </p:nvSpPr>
          <p:spPr bwMode="auto">
            <a:xfrm>
              <a:off x="1809" y="1601"/>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8383" name="Rectangle 30"/>
            <p:cNvSpPr>
              <a:spLocks noChangeArrowheads="1"/>
            </p:cNvSpPr>
            <p:nvPr/>
          </p:nvSpPr>
          <p:spPr bwMode="auto">
            <a:xfrm>
              <a:off x="2289" y="1601"/>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8384" name="Rectangle 31"/>
            <p:cNvSpPr>
              <a:spLocks noChangeArrowheads="1"/>
            </p:cNvSpPr>
            <p:nvPr/>
          </p:nvSpPr>
          <p:spPr bwMode="auto">
            <a:xfrm>
              <a:off x="2289" y="1418"/>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p</a:t>
              </a:r>
              <a:endParaRPr lang="en-US" altLang="en-US" sz="1800">
                <a:solidFill>
                  <a:srgbClr val="000000"/>
                </a:solidFill>
              </a:endParaRPr>
            </a:p>
          </p:txBody>
        </p:sp>
        <p:sp>
          <p:nvSpPr>
            <p:cNvPr id="58385" name="Rectangle 32"/>
            <p:cNvSpPr>
              <a:spLocks noChangeArrowheads="1"/>
            </p:cNvSpPr>
            <p:nvPr/>
          </p:nvSpPr>
          <p:spPr bwMode="auto">
            <a:xfrm>
              <a:off x="859" y="1428"/>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left</a:t>
              </a:r>
              <a:endParaRPr lang="en-US" altLang="en-US" sz="1800">
                <a:solidFill>
                  <a:srgbClr val="000000"/>
                </a:solidFill>
              </a:endParaRPr>
            </a:p>
          </p:txBody>
        </p:sp>
        <p:sp>
          <p:nvSpPr>
            <p:cNvPr id="58386" name="Rectangle 33"/>
            <p:cNvSpPr>
              <a:spLocks noChangeArrowheads="1"/>
            </p:cNvSpPr>
            <p:nvPr/>
          </p:nvSpPr>
          <p:spPr bwMode="auto">
            <a:xfrm>
              <a:off x="1809" y="1428"/>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p</a:t>
              </a:r>
              <a:r>
                <a:rPr lang="en-US" altLang="en-US" sz="1800">
                  <a:solidFill>
                    <a:srgbClr val="000000"/>
                  </a:solidFill>
                  <a:cs typeface="Times New Roman" pitchFamily="18" charset="0"/>
                </a:rPr>
                <a:t>–</a:t>
              </a:r>
              <a:r>
                <a:rPr lang="en-US" altLang="en-US" sz="1800">
                  <a:solidFill>
                    <a:srgbClr val="000000"/>
                  </a:solidFill>
                </a:rPr>
                <a:t>1</a:t>
              </a:r>
            </a:p>
          </p:txBody>
        </p:sp>
        <p:sp>
          <p:nvSpPr>
            <p:cNvPr id="58387" name="Rectangle 34"/>
            <p:cNvSpPr>
              <a:spLocks noChangeArrowheads="1"/>
            </p:cNvSpPr>
            <p:nvPr/>
          </p:nvSpPr>
          <p:spPr bwMode="auto">
            <a:xfrm>
              <a:off x="3763" y="1418"/>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r</a:t>
              </a:r>
              <a:r>
                <a:rPr lang="en-US" altLang="en-US" sz="1800">
                  <a:solidFill>
                    <a:srgbClr val="000000"/>
                  </a:solidFill>
                  <a:cs typeface="Times New Roman" pitchFamily="18" charset="0"/>
                </a:rPr>
                <a:t>–</a:t>
              </a:r>
              <a:r>
                <a:rPr lang="en-US" altLang="en-US" sz="1800">
                  <a:solidFill>
                    <a:srgbClr val="000000"/>
                  </a:solidFill>
                </a:rPr>
                <a:t>1</a:t>
              </a:r>
            </a:p>
          </p:txBody>
        </p:sp>
        <p:sp>
          <p:nvSpPr>
            <p:cNvPr id="58388" name="Rectangle 35"/>
            <p:cNvSpPr>
              <a:spLocks noChangeArrowheads="1"/>
            </p:cNvSpPr>
            <p:nvPr/>
          </p:nvSpPr>
          <p:spPr bwMode="auto">
            <a:xfrm>
              <a:off x="3283" y="1601"/>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8389" name="Rectangle 36"/>
            <p:cNvSpPr>
              <a:spLocks noChangeArrowheads="1"/>
            </p:cNvSpPr>
            <p:nvPr/>
          </p:nvSpPr>
          <p:spPr bwMode="auto">
            <a:xfrm>
              <a:off x="3763" y="1601"/>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8390" name="Rectangle 37"/>
            <p:cNvSpPr>
              <a:spLocks noChangeArrowheads="1"/>
            </p:cNvSpPr>
            <p:nvPr/>
          </p:nvSpPr>
          <p:spPr bwMode="auto">
            <a:xfrm>
              <a:off x="2785" y="1602"/>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8391" name="Rectangle 38"/>
            <p:cNvSpPr>
              <a:spLocks noChangeArrowheads="1"/>
            </p:cNvSpPr>
            <p:nvPr/>
          </p:nvSpPr>
          <p:spPr bwMode="auto">
            <a:xfrm>
              <a:off x="4205" y="1418"/>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r</a:t>
              </a:r>
              <a:endParaRPr lang="en-US" altLang="en-US" sz="1800">
                <a:solidFill>
                  <a:srgbClr val="000000"/>
                </a:solidFill>
              </a:endParaRPr>
            </a:p>
          </p:txBody>
        </p:sp>
        <p:sp>
          <p:nvSpPr>
            <p:cNvPr id="58392" name="Rectangle 39"/>
            <p:cNvSpPr>
              <a:spLocks noChangeArrowheads="1"/>
            </p:cNvSpPr>
            <p:nvPr/>
          </p:nvSpPr>
          <p:spPr bwMode="auto">
            <a:xfrm>
              <a:off x="5216" y="1418"/>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right</a:t>
              </a:r>
              <a:endParaRPr lang="en-US" altLang="en-US" sz="1800">
                <a:solidFill>
                  <a:srgbClr val="000000"/>
                </a:solidFill>
              </a:endParaRPr>
            </a:p>
          </p:txBody>
        </p:sp>
        <p:sp>
          <p:nvSpPr>
            <p:cNvPr id="58393" name="Rectangle 40"/>
            <p:cNvSpPr>
              <a:spLocks noChangeArrowheads="1"/>
            </p:cNvSpPr>
            <p:nvPr/>
          </p:nvSpPr>
          <p:spPr bwMode="auto">
            <a:xfrm>
              <a:off x="4736" y="1601"/>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8394" name="Rectangle 41"/>
            <p:cNvSpPr>
              <a:spLocks noChangeArrowheads="1"/>
            </p:cNvSpPr>
            <p:nvPr/>
          </p:nvSpPr>
          <p:spPr bwMode="auto">
            <a:xfrm>
              <a:off x="5216" y="1601"/>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8395" name="Rectangle 42"/>
            <p:cNvSpPr>
              <a:spLocks noChangeArrowheads="1"/>
            </p:cNvSpPr>
            <p:nvPr/>
          </p:nvSpPr>
          <p:spPr bwMode="auto">
            <a:xfrm>
              <a:off x="4238" y="1602"/>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8396" name="Freeform 43"/>
            <p:cNvSpPr>
              <a:spLocks/>
            </p:cNvSpPr>
            <p:nvPr/>
          </p:nvSpPr>
          <p:spPr bwMode="auto">
            <a:xfrm>
              <a:off x="4877" y="1562"/>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p>
          </p:txBody>
        </p:sp>
        <p:sp>
          <p:nvSpPr>
            <p:cNvPr id="58397" name="Freeform 22"/>
            <p:cNvSpPr>
              <a:spLocks/>
            </p:cNvSpPr>
            <p:nvPr/>
          </p:nvSpPr>
          <p:spPr bwMode="auto">
            <a:xfrm>
              <a:off x="3427" y="1562"/>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p>
          </p:txBody>
        </p:sp>
        <p:sp>
          <p:nvSpPr>
            <p:cNvPr id="58398" name="Freeform 21"/>
            <p:cNvSpPr>
              <a:spLocks/>
            </p:cNvSpPr>
            <p:nvPr/>
          </p:nvSpPr>
          <p:spPr bwMode="auto">
            <a:xfrm>
              <a:off x="1473" y="1562"/>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p>
          </p:txBody>
        </p:sp>
      </p:grpSp>
      <p:sp>
        <p:nvSpPr>
          <p:cNvPr id="462899" name="Rectangle 51"/>
          <p:cNvSpPr>
            <a:spLocks noChangeArrowheads="1"/>
          </p:cNvSpPr>
          <p:nvPr/>
        </p:nvSpPr>
        <p:spPr bwMode="auto">
          <a:xfrm>
            <a:off x="695472" y="4128655"/>
            <a:ext cx="7200900" cy="1586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r>
              <a:rPr lang="en-US" altLang="en-US" sz="2000" dirty="0">
                <a:cs typeface="Times New Roman" pitchFamily="18" charset="0"/>
              </a:rPr>
              <a:t>Note that other (and better) partitioning algorithms exist.</a:t>
            </a:r>
          </a:p>
          <a:p>
            <a:pPr eaLnBrk="1" hangingPunct="1"/>
            <a:r>
              <a:rPr lang="en-US" altLang="en-US" sz="2000" dirty="0">
                <a:cs typeface="Times New Roman" pitchFamily="18" charset="0"/>
              </a:rPr>
              <a:t>Any algorithm that ends up with the final required condition (all elements &lt; pivot to left of pivot, all elements &gt; pivot to right of pivot) is legitimate.</a:t>
            </a:r>
          </a:p>
        </p:txBody>
      </p:sp>
      <p:sp>
        <p:nvSpPr>
          <p:cNvPr id="3" name="Slide Number Placeholder 2"/>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15699000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6289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289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D26D4-10CE-2FF3-A4C6-BC869F05A7F0}"/>
            </a:ext>
          </a:extLst>
        </p:cNvPr>
        <p:cNvGrpSpPr/>
        <p:nvPr/>
      </p:nvGrpSpPr>
      <p:grpSpPr>
        <a:xfrm>
          <a:off x="0" y="0"/>
          <a:ext cx="0" cy="0"/>
          <a:chOff x="0" y="0"/>
          <a:chExt cx="0" cy="0"/>
        </a:xfrm>
      </p:grpSpPr>
      <p:sp>
        <p:nvSpPr>
          <p:cNvPr id="58370" name="Rectangle 2">
            <a:extLst>
              <a:ext uri="{FF2B5EF4-FFF2-40B4-BE49-F238E27FC236}">
                <a16:creationId xmlns:a16="http://schemas.microsoft.com/office/drawing/2014/main" id="{A3740C55-75D9-D4AC-42ED-31D997D655E7}"/>
              </a:ext>
            </a:extLst>
          </p:cNvPr>
          <p:cNvSpPr>
            <a:spLocks noGrp="1" noChangeArrowheads="1"/>
          </p:cNvSpPr>
          <p:nvPr>
            <p:ph type="title"/>
          </p:nvPr>
        </p:nvSpPr>
        <p:spPr/>
        <p:txBody>
          <a:bodyPr/>
          <a:lstStyle/>
          <a:p>
            <a:pPr eaLnBrk="1" hangingPunct="1"/>
            <a:r>
              <a:rPr lang="en-US" altLang="en-US" sz="3200" dirty="0">
                <a:cs typeface="Times New Roman" pitchFamily="18" charset="0"/>
              </a:rPr>
              <a:t>Quick-sort partitioning Intuition </a:t>
            </a:r>
            <a:r>
              <a:rPr lang="en-US" altLang="en-US" sz="3200" i="1" dirty="0">
                <a:cs typeface="Times New Roman" pitchFamily="18" charset="0"/>
              </a:rPr>
              <a:t>(Extra slide)</a:t>
            </a:r>
            <a:endParaRPr lang="en-GB" altLang="en-US" sz="3200" i="1" dirty="0">
              <a:cs typeface="Times New Roman" pitchFamily="18" charset="0"/>
            </a:endParaRPr>
          </a:p>
        </p:txBody>
      </p:sp>
      <p:sp>
        <p:nvSpPr>
          <p:cNvPr id="58371" name="Rectangle 3">
            <a:extLst>
              <a:ext uri="{FF2B5EF4-FFF2-40B4-BE49-F238E27FC236}">
                <a16:creationId xmlns:a16="http://schemas.microsoft.com/office/drawing/2014/main" id="{FF31B055-4432-1D1D-5DDA-C50DAB68781D}"/>
              </a:ext>
            </a:extLst>
          </p:cNvPr>
          <p:cNvSpPr>
            <a:spLocks noGrp="1" noChangeArrowheads="1"/>
          </p:cNvSpPr>
          <p:nvPr>
            <p:ph idx="1"/>
          </p:nvPr>
        </p:nvSpPr>
        <p:spPr>
          <a:noFill/>
        </p:spPr>
        <p:txBody>
          <a:bodyPr/>
          <a:lstStyle/>
          <a:p>
            <a:pPr eaLnBrk="1" hangingPunct="1"/>
            <a:r>
              <a:rPr lang="en-US" altLang="en-US" dirty="0"/>
              <a:t>Loop invariant:</a:t>
            </a:r>
          </a:p>
        </p:txBody>
      </p:sp>
      <p:grpSp>
        <p:nvGrpSpPr>
          <p:cNvPr id="2" name="Group 50">
            <a:extLst>
              <a:ext uri="{FF2B5EF4-FFF2-40B4-BE49-F238E27FC236}">
                <a16:creationId xmlns:a16="http://schemas.microsoft.com/office/drawing/2014/main" id="{0D9412E2-EE2C-C524-B5EA-4565EEC14584}"/>
              </a:ext>
            </a:extLst>
          </p:cNvPr>
          <p:cNvGrpSpPr>
            <a:grpSpLocks/>
          </p:cNvGrpSpPr>
          <p:nvPr/>
        </p:nvGrpSpPr>
        <p:grpSpPr bwMode="auto">
          <a:xfrm>
            <a:off x="346366" y="2270125"/>
            <a:ext cx="7921625" cy="1393825"/>
            <a:chOff x="725" y="1418"/>
            <a:chExt cx="4990" cy="878"/>
          </a:xfrm>
        </p:grpSpPr>
        <p:grpSp>
          <p:nvGrpSpPr>
            <p:cNvPr id="58374" name="Group 47">
              <a:extLst>
                <a:ext uri="{FF2B5EF4-FFF2-40B4-BE49-F238E27FC236}">
                  <a16:creationId xmlns:a16="http://schemas.microsoft.com/office/drawing/2014/main" id="{40DFD8EF-D64A-8DE8-3E7E-40657589AF55}"/>
                </a:ext>
              </a:extLst>
            </p:cNvPr>
            <p:cNvGrpSpPr>
              <a:grpSpLocks/>
            </p:cNvGrpSpPr>
            <p:nvPr/>
          </p:nvGrpSpPr>
          <p:grpSpPr bwMode="auto">
            <a:xfrm>
              <a:off x="893" y="1898"/>
              <a:ext cx="1392" cy="398"/>
              <a:chOff x="893" y="1898"/>
              <a:chExt cx="1392" cy="398"/>
            </a:xfrm>
          </p:grpSpPr>
          <p:sp>
            <p:nvSpPr>
              <p:cNvPr id="58403" name="Freeform 5">
                <a:extLst>
                  <a:ext uri="{FF2B5EF4-FFF2-40B4-BE49-F238E27FC236}">
                    <a16:creationId xmlns:a16="http://schemas.microsoft.com/office/drawing/2014/main" id="{0BA550A9-BDF0-2F32-FF69-320A35E94AAE}"/>
                  </a:ext>
                </a:extLst>
              </p:cNvPr>
              <p:cNvSpPr>
                <a:spLocks/>
              </p:cNvSpPr>
              <p:nvPr/>
            </p:nvSpPr>
            <p:spPr bwMode="auto">
              <a:xfrm>
                <a:off x="893" y="1898"/>
                <a:ext cx="1392" cy="91"/>
              </a:xfrm>
              <a:custGeom>
                <a:avLst/>
                <a:gdLst>
                  <a:gd name="T0" fmla="*/ 0 w 1513"/>
                  <a:gd name="T1" fmla="*/ 0 h 126"/>
                  <a:gd name="T2" fmla="*/ 1 w 1513"/>
                  <a:gd name="T3" fmla="*/ 4 h 126"/>
                  <a:gd name="T4" fmla="*/ 6 w 1513"/>
                  <a:gd name="T5" fmla="*/ 7 h 126"/>
                  <a:gd name="T6" fmla="*/ 15 w 1513"/>
                  <a:gd name="T7" fmla="*/ 9 h 126"/>
                  <a:gd name="T8" fmla="*/ 27 w 1513"/>
                  <a:gd name="T9" fmla="*/ 12 h 126"/>
                  <a:gd name="T10" fmla="*/ 39 w 1513"/>
                  <a:gd name="T11" fmla="*/ 14 h 126"/>
                  <a:gd name="T12" fmla="*/ 54 w 1513"/>
                  <a:gd name="T13" fmla="*/ 16 h 126"/>
                  <a:gd name="T14" fmla="*/ 72 w 1513"/>
                  <a:gd name="T15" fmla="*/ 16 h 126"/>
                  <a:gd name="T16" fmla="*/ 90 w 1513"/>
                  <a:gd name="T17" fmla="*/ 17 h 126"/>
                  <a:gd name="T18" fmla="*/ 452 w 1513"/>
                  <a:gd name="T19" fmla="*/ 17 h 126"/>
                  <a:gd name="T20" fmla="*/ 470 w 1513"/>
                  <a:gd name="T21" fmla="*/ 17 h 126"/>
                  <a:gd name="T22" fmla="*/ 487 w 1513"/>
                  <a:gd name="T23" fmla="*/ 18 h 126"/>
                  <a:gd name="T24" fmla="*/ 502 w 1513"/>
                  <a:gd name="T25" fmla="*/ 20 h 126"/>
                  <a:gd name="T26" fmla="*/ 514 w 1513"/>
                  <a:gd name="T27" fmla="*/ 22 h 126"/>
                  <a:gd name="T28" fmla="*/ 525 w 1513"/>
                  <a:gd name="T29" fmla="*/ 25 h 126"/>
                  <a:gd name="T30" fmla="*/ 534 w 1513"/>
                  <a:gd name="T31" fmla="*/ 27 h 126"/>
                  <a:gd name="T32" fmla="*/ 540 w 1513"/>
                  <a:gd name="T33" fmla="*/ 31 h 126"/>
                  <a:gd name="T34" fmla="*/ 541 w 1513"/>
                  <a:gd name="T35" fmla="*/ 35 h 126"/>
                  <a:gd name="T36" fmla="*/ 542 w 1513"/>
                  <a:gd name="T37" fmla="*/ 31 h 126"/>
                  <a:gd name="T38" fmla="*/ 549 w 1513"/>
                  <a:gd name="T39" fmla="*/ 27 h 126"/>
                  <a:gd name="T40" fmla="*/ 557 w 1513"/>
                  <a:gd name="T41" fmla="*/ 25 h 126"/>
                  <a:gd name="T42" fmla="*/ 569 w 1513"/>
                  <a:gd name="T43" fmla="*/ 22 h 126"/>
                  <a:gd name="T44" fmla="*/ 580 w 1513"/>
                  <a:gd name="T45" fmla="*/ 20 h 126"/>
                  <a:gd name="T46" fmla="*/ 596 w 1513"/>
                  <a:gd name="T47" fmla="*/ 18 h 126"/>
                  <a:gd name="T48" fmla="*/ 614 w 1513"/>
                  <a:gd name="T49" fmla="*/ 17 h 126"/>
                  <a:gd name="T50" fmla="*/ 631 w 1513"/>
                  <a:gd name="T51" fmla="*/ 17 h 126"/>
                  <a:gd name="T52" fmla="*/ 993 w 1513"/>
                  <a:gd name="T53" fmla="*/ 17 h 126"/>
                  <a:gd name="T54" fmla="*/ 1011 w 1513"/>
                  <a:gd name="T55" fmla="*/ 16 h 126"/>
                  <a:gd name="T56" fmla="*/ 1028 w 1513"/>
                  <a:gd name="T57" fmla="*/ 16 h 126"/>
                  <a:gd name="T58" fmla="*/ 1043 w 1513"/>
                  <a:gd name="T59" fmla="*/ 14 h 126"/>
                  <a:gd name="T60" fmla="*/ 1057 w 1513"/>
                  <a:gd name="T61" fmla="*/ 12 h 126"/>
                  <a:gd name="T62" fmla="*/ 1069 w 1513"/>
                  <a:gd name="T63" fmla="*/ 9 h 126"/>
                  <a:gd name="T64" fmla="*/ 1076 w 1513"/>
                  <a:gd name="T65" fmla="*/ 7 h 126"/>
                  <a:gd name="T66" fmla="*/ 1083 w 1513"/>
                  <a:gd name="T67" fmla="*/ 4 h 126"/>
                  <a:gd name="T68" fmla="*/ 1085 w 1513"/>
                  <a:gd name="T69" fmla="*/ 0 h 12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13"/>
                  <a:gd name="T106" fmla="*/ 0 h 126"/>
                  <a:gd name="T107" fmla="*/ 1513 w 1513"/>
                  <a:gd name="T108" fmla="*/ 126 h 12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13" h="126">
                    <a:moveTo>
                      <a:pt x="0" y="0"/>
                    </a:moveTo>
                    <a:lnTo>
                      <a:pt x="1" y="12"/>
                    </a:lnTo>
                    <a:lnTo>
                      <a:pt x="10" y="25"/>
                    </a:lnTo>
                    <a:lnTo>
                      <a:pt x="21" y="34"/>
                    </a:lnTo>
                    <a:lnTo>
                      <a:pt x="37" y="44"/>
                    </a:lnTo>
                    <a:lnTo>
                      <a:pt x="54" y="51"/>
                    </a:lnTo>
                    <a:lnTo>
                      <a:pt x="76" y="57"/>
                    </a:lnTo>
                    <a:lnTo>
                      <a:pt x="100" y="60"/>
                    </a:lnTo>
                    <a:lnTo>
                      <a:pt x="125" y="62"/>
                    </a:lnTo>
                    <a:lnTo>
                      <a:pt x="630" y="62"/>
                    </a:lnTo>
                    <a:lnTo>
                      <a:pt x="655" y="64"/>
                    </a:lnTo>
                    <a:lnTo>
                      <a:pt x="679" y="67"/>
                    </a:lnTo>
                    <a:lnTo>
                      <a:pt x="701" y="72"/>
                    </a:lnTo>
                    <a:lnTo>
                      <a:pt x="718" y="81"/>
                    </a:lnTo>
                    <a:lnTo>
                      <a:pt x="734" y="90"/>
                    </a:lnTo>
                    <a:lnTo>
                      <a:pt x="745" y="101"/>
                    </a:lnTo>
                    <a:lnTo>
                      <a:pt x="754" y="113"/>
                    </a:lnTo>
                    <a:lnTo>
                      <a:pt x="755" y="126"/>
                    </a:lnTo>
                    <a:lnTo>
                      <a:pt x="757" y="113"/>
                    </a:lnTo>
                    <a:lnTo>
                      <a:pt x="766" y="101"/>
                    </a:lnTo>
                    <a:lnTo>
                      <a:pt x="777" y="90"/>
                    </a:lnTo>
                    <a:lnTo>
                      <a:pt x="793" y="81"/>
                    </a:lnTo>
                    <a:lnTo>
                      <a:pt x="810" y="72"/>
                    </a:lnTo>
                    <a:lnTo>
                      <a:pt x="832" y="67"/>
                    </a:lnTo>
                    <a:lnTo>
                      <a:pt x="856" y="64"/>
                    </a:lnTo>
                    <a:lnTo>
                      <a:pt x="881" y="62"/>
                    </a:lnTo>
                    <a:lnTo>
                      <a:pt x="1386" y="62"/>
                    </a:lnTo>
                    <a:lnTo>
                      <a:pt x="1412" y="60"/>
                    </a:lnTo>
                    <a:lnTo>
                      <a:pt x="1435" y="57"/>
                    </a:lnTo>
                    <a:lnTo>
                      <a:pt x="1457" y="51"/>
                    </a:lnTo>
                    <a:lnTo>
                      <a:pt x="1476" y="44"/>
                    </a:lnTo>
                    <a:lnTo>
                      <a:pt x="1492" y="34"/>
                    </a:lnTo>
                    <a:lnTo>
                      <a:pt x="1503" y="25"/>
                    </a:lnTo>
                    <a:lnTo>
                      <a:pt x="1511" y="12"/>
                    </a:lnTo>
                    <a:lnTo>
                      <a:pt x="1513" y="0"/>
                    </a:lnTo>
                  </a:path>
                </a:pathLst>
              </a:custGeom>
              <a:noFill/>
              <a:ln w="17526" cap="flat">
                <a:solidFill>
                  <a:schemeClr val="accent1">
                    <a:lumMod val="75000"/>
                  </a:schemeClr>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8404" name="Rectangle 7">
                <a:extLst>
                  <a:ext uri="{FF2B5EF4-FFF2-40B4-BE49-F238E27FC236}">
                    <a16:creationId xmlns:a16="http://schemas.microsoft.com/office/drawing/2014/main" id="{B54A36BA-767D-47D6-AA03-B2D61D58ADDF}"/>
                  </a:ext>
                </a:extLst>
              </p:cNvPr>
              <p:cNvSpPr>
                <a:spLocks noChangeArrowheads="1"/>
              </p:cNvSpPr>
              <p:nvPr/>
            </p:nvSpPr>
            <p:spPr bwMode="auto">
              <a:xfrm>
                <a:off x="941" y="2008"/>
                <a:ext cx="129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lnSpc>
                    <a:spcPts val="1800"/>
                  </a:lnSpc>
                  <a:spcBef>
                    <a:spcPct val="0"/>
                  </a:spcBef>
                  <a:buClrTx/>
                  <a:buFontTx/>
                  <a:buNone/>
                </a:pPr>
                <a:r>
                  <a:rPr lang="en-US" altLang="en-US" sz="1800">
                    <a:solidFill>
                      <a:schemeClr val="accent1">
                        <a:lumMod val="50000"/>
                      </a:schemeClr>
                    </a:solidFill>
                  </a:rPr>
                  <a:t>less than or equal to pivot (unsorted) </a:t>
                </a:r>
              </a:p>
            </p:txBody>
          </p:sp>
        </p:grpSp>
        <p:grpSp>
          <p:nvGrpSpPr>
            <p:cNvPr id="58375" name="Group 48">
              <a:extLst>
                <a:ext uri="{FF2B5EF4-FFF2-40B4-BE49-F238E27FC236}">
                  <a16:creationId xmlns:a16="http://schemas.microsoft.com/office/drawing/2014/main" id="{645F7CBF-0D3D-3550-C5EC-74E76991DEB0}"/>
                </a:ext>
              </a:extLst>
            </p:cNvPr>
            <p:cNvGrpSpPr>
              <a:grpSpLocks/>
            </p:cNvGrpSpPr>
            <p:nvPr/>
          </p:nvGrpSpPr>
          <p:grpSpPr bwMode="auto">
            <a:xfrm>
              <a:off x="2811" y="1898"/>
              <a:ext cx="1394" cy="398"/>
              <a:chOff x="2811" y="1898"/>
              <a:chExt cx="1394" cy="398"/>
            </a:xfrm>
          </p:grpSpPr>
          <p:sp>
            <p:nvSpPr>
              <p:cNvPr id="58401" name="Freeform 12">
                <a:extLst>
                  <a:ext uri="{FF2B5EF4-FFF2-40B4-BE49-F238E27FC236}">
                    <a16:creationId xmlns:a16="http://schemas.microsoft.com/office/drawing/2014/main" id="{37FAB521-8E67-C5C6-983C-F046D4369EFE}"/>
                  </a:ext>
                </a:extLst>
              </p:cNvPr>
              <p:cNvSpPr>
                <a:spLocks/>
              </p:cNvSpPr>
              <p:nvPr/>
            </p:nvSpPr>
            <p:spPr bwMode="auto">
              <a:xfrm>
                <a:off x="2813" y="1898"/>
                <a:ext cx="1392" cy="91"/>
              </a:xfrm>
              <a:custGeom>
                <a:avLst/>
                <a:gdLst>
                  <a:gd name="T0" fmla="*/ 0 w 1513"/>
                  <a:gd name="T1" fmla="*/ 0 h 126"/>
                  <a:gd name="T2" fmla="*/ 1 w 1513"/>
                  <a:gd name="T3" fmla="*/ 4 h 126"/>
                  <a:gd name="T4" fmla="*/ 6 w 1513"/>
                  <a:gd name="T5" fmla="*/ 7 h 126"/>
                  <a:gd name="T6" fmla="*/ 15 w 1513"/>
                  <a:gd name="T7" fmla="*/ 9 h 126"/>
                  <a:gd name="T8" fmla="*/ 27 w 1513"/>
                  <a:gd name="T9" fmla="*/ 12 h 126"/>
                  <a:gd name="T10" fmla="*/ 39 w 1513"/>
                  <a:gd name="T11" fmla="*/ 14 h 126"/>
                  <a:gd name="T12" fmla="*/ 54 w 1513"/>
                  <a:gd name="T13" fmla="*/ 16 h 126"/>
                  <a:gd name="T14" fmla="*/ 72 w 1513"/>
                  <a:gd name="T15" fmla="*/ 16 h 126"/>
                  <a:gd name="T16" fmla="*/ 90 w 1513"/>
                  <a:gd name="T17" fmla="*/ 17 h 126"/>
                  <a:gd name="T18" fmla="*/ 452 w 1513"/>
                  <a:gd name="T19" fmla="*/ 17 h 126"/>
                  <a:gd name="T20" fmla="*/ 470 w 1513"/>
                  <a:gd name="T21" fmla="*/ 17 h 126"/>
                  <a:gd name="T22" fmla="*/ 487 w 1513"/>
                  <a:gd name="T23" fmla="*/ 18 h 126"/>
                  <a:gd name="T24" fmla="*/ 502 w 1513"/>
                  <a:gd name="T25" fmla="*/ 20 h 126"/>
                  <a:gd name="T26" fmla="*/ 514 w 1513"/>
                  <a:gd name="T27" fmla="*/ 22 h 126"/>
                  <a:gd name="T28" fmla="*/ 525 w 1513"/>
                  <a:gd name="T29" fmla="*/ 25 h 126"/>
                  <a:gd name="T30" fmla="*/ 534 w 1513"/>
                  <a:gd name="T31" fmla="*/ 27 h 126"/>
                  <a:gd name="T32" fmla="*/ 540 w 1513"/>
                  <a:gd name="T33" fmla="*/ 31 h 126"/>
                  <a:gd name="T34" fmla="*/ 541 w 1513"/>
                  <a:gd name="T35" fmla="*/ 35 h 126"/>
                  <a:gd name="T36" fmla="*/ 542 w 1513"/>
                  <a:gd name="T37" fmla="*/ 31 h 126"/>
                  <a:gd name="T38" fmla="*/ 549 w 1513"/>
                  <a:gd name="T39" fmla="*/ 27 h 126"/>
                  <a:gd name="T40" fmla="*/ 557 w 1513"/>
                  <a:gd name="T41" fmla="*/ 25 h 126"/>
                  <a:gd name="T42" fmla="*/ 569 w 1513"/>
                  <a:gd name="T43" fmla="*/ 22 h 126"/>
                  <a:gd name="T44" fmla="*/ 580 w 1513"/>
                  <a:gd name="T45" fmla="*/ 20 h 126"/>
                  <a:gd name="T46" fmla="*/ 596 w 1513"/>
                  <a:gd name="T47" fmla="*/ 18 h 126"/>
                  <a:gd name="T48" fmla="*/ 614 w 1513"/>
                  <a:gd name="T49" fmla="*/ 17 h 126"/>
                  <a:gd name="T50" fmla="*/ 631 w 1513"/>
                  <a:gd name="T51" fmla="*/ 17 h 126"/>
                  <a:gd name="T52" fmla="*/ 993 w 1513"/>
                  <a:gd name="T53" fmla="*/ 17 h 126"/>
                  <a:gd name="T54" fmla="*/ 1011 w 1513"/>
                  <a:gd name="T55" fmla="*/ 16 h 126"/>
                  <a:gd name="T56" fmla="*/ 1028 w 1513"/>
                  <a:gd name="T57" fmla="*/ 16 h 126"/>
                  <a:gd name="T58" fmla="*/ 1043 w 1513"/>
                  <a:gd name="T59" fmla="*/ 14 h 126"/>
                  <a:gd name="T60" fmla="*/ 1057 w 1513"/>
                  <a:gd name="T61" fmla="*/ 12 h 126"/>
                  <a:gd name="T62" fmla="*/ 1069 w 1513"/>
                  <a:gd name="T63" fmla="*/ 9 h 126"/>
                  <a:gd name="T64" fmla="*/ 1076 w 1513"/>
                  <a:gd name="T65" fmla="*/ 7 h 126"/>
                  <a:gd name="T66" fmla="*/ 1083 w 1513"/>
                  <a:gd name="T67" fmla="*/ 4 h 126"/>
                  <a:gd name="T68" fmla="*/ 1085 w 1513"/>
                  <a:gd name="T69" fmla="*/ 0 h 12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13"/>
                  <a:gd name="T106" fmla="*/ 0 h 126"/>
                  <a:gd name="T107" fmla="*/ 1513 w 1513"/>
                  <a:gd name="T108" fmla="*/ 126 h 12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13" h="126">
                    <a:moveTo>
                      <a:pt x="0" y="0"/>
                    </a:moveTo>
                    <a:lnTo>
                      <a:pt x="1" y="12"/>
                    </a:lnTo>
                    <a:lnTo>
                      <a:pt x="10" y="25"/>
                    </a:lnTo>
                    <a:lnTo>
                      <a:pt x="21" y="34"/>
                    </a:lnTo>
                    <a:lnTo>
                      <a:pt x="37" y="44"/>
                    </a:lnTo>
                    <a:lnTo>
                      <a:pt x="54" y="51"/>
                    </a:lnTo>
                    <a:lnTo>
                      <a:pt x="76" y="57"/>
                    </a:lnTo>
                    <a:lnTo>
                      <a:pt x="100" y="60"/>
                    </a:lnTo>
                    <a:lnTo>
                      <a:pt x="125" y="62"/>
                    </a:lnTo>
                    <a:lnTo>
                      <a:pt x="630" y="62"/>
                    </a:lnTo>
                    <a:lnTo>
                      <a:pt x="655" y="64"/>
                    </a:lnTo>
                    <a:lnTo>
                      <a:pt x="679" y="67"/>
                    </a:lnTo>
                    <a:lnTo>
                      <a:pt x="701" y="72"/>
                    </a:lnTo>
                    <a:lnTo>
                      <a:pt x="718" y="81"/>
                    </a:lnTo>
                    <a:lnTo>
                      <a:pt x="734" y="90"/>
                    </a:lnTo>
                    <a:lnTo>
                      <a:pt x="745" y="101"/>
                    </a:lnTo>
                    <a:lnTo>
                      <a:pt x="754" y="113"/>
                    </a:lnTo>
                    <a:lnTo>
                      <a:pt x="755" y="126"/>
                    </a:lnTo>
                    <a:lnTo>
                      <a:pt x="757" y="113"/>
                    </a:lnTo>
                    <a:lnTo>
                      <a:pt x="766" y="101"/>
                    </a:lnTo>
                    <a:lnTo>
                      <a:pt x="777" y="90"/>
                    </a:lnTo>
                    <a:lnTo>
                      <a:pt x="793" y="81"/>
                    </a:lnTo>
                    <a:lnTo>
                      <a:pt x="810" y="72"/>
                    </a:lnTo>
                    <a:lnTo>
                      <a:pt x="832" y="67"/>
                    </a:lnTo>
                    <a:lnTo>
                      <a:pt x="856" y="64"/>
                    </a:lnTo>
                    <a:lnTo>
                      <a:pt x="881" y="62"/>
                    </a:lnTo>
                    <a:lnTo>
                      <a:pt x="1386" y="62"/>
                    </a:lnTo>
                    <a:lnTo>
                      <a:pt x="1412" y="60"/>
                    </a:lnTo>
                    <a:lnTo>
                      <a:pt x="1435" y="57"/>
                    </a:lnTo>
                    <a:lnTo>
                      <a:pt x="1457" y="51"/>
                    </a:lnTo>
                    <a:lnTo>
                      <a:pt x="1476" y="44"/>
                    </a:lnTo>
                    <a:lnTo>
                      <a:pt x="1492" y="34"/>
                    </a:lnTo>
                    <a:lnTo>
                      <a:pt x="1503" y="25"/>
                    </a:lnTo>
                    <a:lnTo>
                      <a:pt x="1511" y="12"/>
                    </a:lnTo>
                    <a:lnTo>
                      <a:pt x="1513" y="0"/>
                    </a:lnTo>
                  </a:path>
                </a:pathLst>
              </a:custGeom>
              <a:noFill/>
              <a:ln w="17526" cap="flat">
                <a:solidFill>
                  <a:schemeClr val="accent1">
                    <a:lumMod val="75000"/>
                  </a:schemeClr>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8402" name="Rectangle 14">
                <a:extLst>
                  <a:ext uri="{FF2B5EF4-FFF2-40B4-BE49-F238E27FC236}">
                    <a16:creationId xmlns:a16="http://schemas.microsoft.com/office/drawing/2014/main" id="{2920D3D6-1B11-912B-C870-D3BF054BAB0C}"/>
                  </a:ext>
                </a:extLst>
              </p:cNvPr>
              <p:cNvSpPr>
                <a:spLocks noChangeArrowheads="1"/>
              </p:cNvSpPr>
              <p:nvPr/>
            </p:nvSpPr>
            <p:spPr bwMode="auto">
              <a:xfrm>
                <a:off x="2811" y="2008"/>
                <a:ext cx="134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lnSpc>
                    <a:spcPts val="1800"/>
                  </a:lnSpc>
                  <a:spcBef>
                    <a:spcPct val="0"/>
                  </a:spcBef>
                  <a:buClrTx/>
                  <a:buFontTx/>
                  <a:buNone/>
                </a:pPr>
                <a:r>
                  <a:rPr lang="en-US" altLang="en-US" sz="1800">
                    <a:solidFill>
                      <a:schemeClr val="accent1">
                        <a:lumMod val="50000"/>
                      </a:schemeClr>
                    </a:solidFill>
                  </a:rPr>
                  <a:t>greater than or equal to pivot (unsorted) </a:t>
                </a:r>
              </a:p>
            </p:txBody>
          </p:sp>
        </p:grpSp>
        <p:grpSp>
          <p:nvGrpSpPr>
            <p:cNvPr id="58376" name="Group 49">
              <a:extLst>
                <a:ext uri="{FF2B5EF4-FFF2-40B4-BE49-F238E27FC236}">
                  <a16:creationId xmlns:a16="http://schemas.microsoft.com/office/drawing/2014/main" id="{125D5DDF-27A3-7F4A-48AA-CFF6C1F13270}"/>
                </a:ext>
              </a:extLst>
            </p:cNvPr>
            <p:cNvGrpSpPr>
              <a:grpSpLocks/>
            </p:cNvGrpSpPr>
            <p:nvPr/>
          </p:nvGrpSpPr>
          <p:grpSpPr bwMode="auto">
            <a:xfrm>
              <a:off x="4279" y="1898"/>
              <a:ext cx="1414" cy="254"/>
              <a:chOff x="4279" y="1898"/>
              <a:chExt cx="1414" cy="254"/>
            </a:xfrm>
          </p:grpSpPr>
          <p:sp>
            <p:nvSpPr>
              <p:cNvPr id="58399" name="Freeform 17">
                <a:extLst>
                  <a:ext uri="{FF2B5EF4-FFF2-40B4-BE49-F238E27FC236}">
                    <a16:creationId xmlns:a16="http://schemas.microsoft.com/office/drawing/2014/main" id="{193B1930-F3BD-1A58-FA9D-9DF6852F4C52}"/>
                  </a:ext>
                </a:extLst>
              </p:cNvPr>
              <p:cNvSpPr>
                <a:spLocks/>
              </p:cNvSpPr>
              <p:nvPr/>
            </p:nvSpPr>
            <p:spPr bwMode="auto">
              <a:xfrm>
                <a:off x="4279" y="1898"/>
                <a:ext cx="1414" cy="91"/>
              </a:xfrm>
              <a:custGeom>
                <a:avLst/>
                <a:gdLst>
                  <a:gd name="T0" fmla="*/ 0 w 1513"/>
                  <a:gd name="T1" fmla="*/ 0 h 126"/>
                  <a:gd name="T2" fmla="*/ 1 w 1513"/>
                  <a:gd name="T3" fmla="*/ 4 h 126"/>
                  <a:gd name="T4" fmla="*/ 7 w 1513"/>
                  <a:gd name="T5" fmla="*/ 7 h 126"/>
                  <a:gd name="T6" fmla="*/ 17 w 1513"/>
                  <a:gd name="T7" fmla="*/ 9 h 126"/>
                  <a:gd name="T8" fmla="*/ 29 w 1513"/>
                  <a:gd name="T9" fmla="*/ 12 h 126"/>
                  <a:gd name="T10" fmla="*/ 41 w 1513"/>
                  <a:gd name="T11" fmla="*/ 14 h 126"/>
                  <a:gd name="T12" fmla="*/ 58 w 1513"/>
                  <a:gd name="T13" fmla="*/ 16 h 126"/>
                  <a:gd name="T14" fmla="*/ 76 w 1513"/>
                  <a:gd name="T15" fmla="*/ 16 h 126"/>
                  <a:gd name="T16" fmla="*/ 95 w 1513"/>
                  <a:gd name="T17" fmla="*/ 17 h 126"/>
                  <a:gd name="T18" fmla="*/ 480 w 1513"/>
                  <a:gd name="T19" fmla="*/ 17 h 126"/>
                  <a:gd name="T20" fmla="*/ 500 w 1513"/>
                  <a:gd name="T21" fmla="*/ 17 h 126"/>
                  <a:gd name="T22" fmla="*/ 518 w 1513"/>
                  <a:gd name="T23" fmla="*/ 18 h 126"/>
                  <a:gd name="T24" fmla="*/ 535 w 1513"/>
                  <a:gd name="T25" fmla="*/ 20 h 126"/>
                  <a:gd name="T26" fmla="*/ 548 w 1513"/>
                  <a:gd name="T27" fmla="*/ 22 h 126"/>
                  <a:gd name="T28" fmla="*/ 560 w 1513"/>
                  <a:gd name="T29" fmla="*/ 25 h 126"/>
                  <a:gd name="T30" fmla="*/ 567 w 1513"/>
                  <a:gd name="T31" fmla="*/ 27 h 126"/>
                  <a:gd name="T32" fmla="*/ 576 w 1513"/>
                  <a:gd name="T33" fmla="*/ 31 h 126"/>
                  <a:gd name="T34" fmla="*/ 577 w 1513"/>
                  <a:gd name="T35" fmla="*/ 35 h 126"/>
                  <a:gd name="T36" fmla="*/ 578 w 1513"/>
                  <a:gd name="T37" fmla="*/ 31 h 126"/>
                  <a:gd name="T38" fmla="*/ 584 w 1513"/>
                  <a:gd name="T39" fmla="*/ 27 h 126"/>
                  <a:gd name="T40" fmla="*/ 593 w 1513"/>
                  <a:gd name="T41" fmla="*/ 25 h 126"/>
                  <a:gd name="T42" fmla="*/ 606 w 1513"/>
                  <a:gd name="T43" fmla="*/ 22 h 126"/>
                  <a:gd name="T44" fmla="*/ 618 w 1513"/>
                  <a:gd name="T45" fmla="*/ 20 h 126"/>
                  <a:gd name="T46" fmla="*/ 635 w 1513"/>
                  <a:gd name="T47" fmla="*/ 18 h 126"/>
                  <a:gd name="T48" fmla="*/ 653 w 1513"/>
                  <a:gd name="T49" fmla="*/ 17 h 126"/>
                  <a:gd name="T50" fmla="*/ 672 w 1513"/>
                  <a:gd name="T51" fmla="*/ 17 h 126"/>
                  <a:gd name="T52" fmla="*/ 1057 w 1513"/>
                  <a:gd name="T53" fmla="*/ 17 h 126"/>
                  <a:gd name="T54" fmla="*/ 1078 w 1513"/>
                  <a:gd name="T55" fmla="*/ 16 h 126"/>
                  <a:gd name="T56" fmla="*/ 1094 w 1513"/>
                  <a:gd name="T57" fmla="*/ 16 h 126"/>
                  <a:gd name="T58" fmla="*/ 1112 w 1513"/>
                  <a:gd name="T59" fmla="*/ 14 h 126"/>
                  <a:gd name="T60" fmla="*/ 1126 w 1513"/>
                  <a:gd name="T61" fmla="*/ 12 h 126"/>
                  <a:gd name="T62" fmla="*/ 1138 w 1513"/>
                  <a:gd name="T63" fmla="*/ 9 h 126"/>
                  <a:gd name="T64" fmla="*/ 1147 w 1513"/>
                  <a:gd name="T65" fmla="*/ 7 h 126"/>
                  <a:gd name="T66" fmla="*/ 1153 w 1513"/>
                  <a:gd name="T67" fmla="*/ 4 h 126"/>
                  <a:gd name="T68" fmla="*/ 1154 w 1513"/>
                  <a:gd name="T69" fmla="*/ 0 h 12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513"/>
                  <a:gd name="T106" fmla="*/ 0 h 126"/>
                  <a:gd name="T107" fmla="*/ 1513 w 1513"/>
                  <a:gd name="T108" fmla="*/ 126 h 12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513" h="126">
                    <a:moveTo>
                      <a:pt x="0" y="0"/>
                    </a:moveTo>
                    <a:lnTo>
                      <a:pt x="1" y="12"/>
                    </a:lnTo>
                    <a:lnTo>
                      <a:pt x="10" y="25"/>
                    </a:lnTo>
                    <a:lnTo>
                      <a:pt x="21" y="34"/>
                    </a:lnTo>
                    <a:lnTo>
                      <a:pt x="37" y="44"/>
                    </a:lnTo>
                    <a:lnTo>
                      <a:pt x="54" y="51"/>
                    </a:lnTo>
                    <a:lnTo>
                      <a:pt x="76" y="57"/>
                    </a:lnTo>
                    <a:lnTo>
                      <a:pt x="100" y="60"/>
                    </a:lnTo>
                    <a:lnTo>
                      <a:pt x="125" y="62"/>
                    </a:lnTo>
                    <a:lnTo>
                      <a:pt x="630" y="62"/>
                    </a:lnTo>
                    <a:lnTo>
                      <a:pt x="655" y="64"/>
                    </a:lnTo>
                    <a:lnTo>
                      <a:pt x="679" y="67"/>
                    </a:lnTo>
                    <a:lnTo>
                      <a:pt x="701" y="72"/>
                    </a:lnTo>
                    <a:lnTo>
                      <a:pt x="718" y="81"/>
                    </a:lnTo>
                    <a:lnTo>
                      <a:pt x="734" y="90"/>
                    </a:lnTo>
                    <a:lnTo>
                      <a:pt x="745" y="101"/>
                    </a:lnTo>
                    <a:lnTo>
                      <a:pt x="754" y="113"/>
                    </a:lnTo>
                    <a:lnTo>
                      <a:pt x="755" y="126"/>
                    </a:lnTo>
                    <a:lnTo>
                      <a:pt x="757" y="113"/>
                    </a:lnTo>
                    <a:lnTo>
                      <a:pt x="766" y="101"/>
                    </a:lnTo>
                    <a:lnTo>
                      <a:pt x="777" y="90"/>
                    </a:lnTo>
                    <a:lnTo>
                      <a:pt x="793" y="81"/>
                    </a:lnTo>
                    <a:lnTo>
                      <a:pt x="810" y="72"/>
                    </a:lnTo>
                    <a:lnTo>
                      <a:pt x="832" y="67"/>
                    </a:lnTo>
                    <a:lnTo>
                      <a:pt x="856" y="64"/>
                    </a:lnTo>
                    <a:lnTo>
                      <a:pt x="881" y="62"/>
                    </a:lnTo>
                    <a:lnTo>
                      <a:pt x="1386" y="62"/>
                    </a:lnTo>
                    <a:lnTo>
                      <a:pt x="1412" y="60"/>
                    </a:lnTo>
                    <a:lnTo>
                      <a:pt x="1435" y="57"/>
                    </a:lnTo>
                    <a:lnTo>
                      <a:pt x="1457" y="51"/>
                    </a:lnTo>
                    <a:lnTo>
                      <a:pt x="1476" y="44"/>
                    </a:lnTo>
                    <a:lnTo>
                      <a:pt x="1492" y="34"/>
                    </a:lnTo>
                    <a:lnTo>
                      <a:pt x="1503" y="25"/>
                    </a:lnTo>
                    <a:lnTo>
                      <a:pt x="1511" y="12"/>
                    </a:lnTo>
                    <a:lnTo>
                      <a:pt x="1513" y="0"/>
                    </a:lnTo>
                  </a:path>
                </a:pathLst>
              </a:custGeom>
              <a:noFill/>
              <a:ln w="17526" cap="flat">
                <a:solidFill>
                  <a:schemeClr val="accent1">
                    <a:lumMod val="75000"/>
                  </a:schemeClr>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58400" name="Rectangle 19">
                <a:extLst>
                  <a:ext uri="{FF2B5EF4-FFF2-40B4-BE49-F238E27FC236}">
                    <a16:creationId xmlns:a16="http://schemas.microsoft.com/office/drawing/2014/main" id="{5FACDDA4-126B-E5AC-747B-35413C5D8F42}"/>
                  </a:ext>
                </a:extLst>
              </p:cNvPr>
              <p:cNvSpPr>
                <a:spLocks noChangeArrowheads="1"/>
              </p:cNvSpPr>
              <p:nvPr/>
            </p:nvSpPr>
            <p:spPr bwMode="auto">
              <a:xfrm>
                <a:off x="4349" y="2008"/>
                <a:ext cx="129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lnSpc>
                    <a:spcPts val="1800"/>
                  </a:lnSpc>
                  <a:spcBef>
                    <a:spcPct val="0"/>
                  </a:spcBef>
                  <a:buClrTx/>
                  <a:buFontTx/>
                  <a:buNone/>
                </a:pPr>
                <a:r>
                  <a:rPr lang="en-US" altLang="en-US" sz="1800">
                    <a:solidFill>
                      <a:schemeClr val="accent1">
                        <a:lumMod val="50000"/>
                      </a:schemeClr>
                    </a:solidFill>
                  </a:rPr>
                  <a:t>still to be partitioned </a:t>
                </a:r>
              </a:p>
            </p:txBody>
          </p:sp>
        </p:grpSp>
        <p:sp>
          <p:nvSpPr>
            <p:cNvPr id="58377" name="Rectangle 10">
              <a:extLst>
                <a:ext uri="{FF2B5EF4-FFF2-40B4-BE49-F238E27FC236}">
                  <a16:creationId xmlns:a16="http://schemas.microsoft.com/office/drawing/2014/main" id="{AEA5DFB0-A8AE-BDE6-F843-5CEB00DD704E}"/>
                </a:ext>
              </a:extLst>
            </p:cNvPr>
            <p:cNvSpPr>
              <a:spLocks noChangeArrowheads="1"/>
            </p:cNvSpPr>
            <p:nvPr/>
          </p:nvSpPr>
          <p:spPr bwMode="auto">
            <a:xfrm>
              <a:off x="2358" y="2022"/>
              <a:ext cx="30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lnSpc>
                  <a:spcPts val="1800"/>
                </a:lnSpc>
                <a:spcBef>
                  <a:spcPct val="0"/>
                </a:spcBef>
                <a:buClrTx/>
                <a:buFontTx/>
                <a:buNone/>
              </a:pPr>
              <a:r>
                <a:rPr lang="en-US" altLang="en-US" sz="1800">
                  <a:solidFill>
                    <a:schemeClr val="accent1">
                      <a:lumMod val="50000"/>
                    </a:schemeClr>
                  </a:solidFill>
                </a:rPr>
                <a:t>pivot</a:t>
              </a:r>
            </a:p>
          </p:txBody>
        </p:sp>
        <p:sp>
          <p:nvSpPr>
            <p:cNvPr id="58378" name="Rectangle 24">
              <a:extLst>
                <a:ext uri="{FF2B5EF4-FFF2-40B4-BE49-F238E27FC236}">
                  <a16:creationId xmlns:a16="http://schemas.microsoft.com/office/drawing/2014/main" id="{618109A1-EF72-B89E-50B6-8DA2938C8DFD}"/>
                </a:ext>
              </a:extLst>
            </p:cNvPr>
            <p:cNvSpPr>
              <a:spLocks noChangeArrowheads="1"/>
            </p:cNvSpPr>
            <p:nvPr/>
          </p:nvSpPr>
          <p:spPr bwMode="auto">
            <a:xfrm>
              <a:off x="2755" y="1418"/>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p</a:t>
              </a:r>
              <a:r>
                <a:rPr lang="en-US" altLang="en-US" sz="1800">
                  <a:solidFill>
                    <a:srgbClr val="000000"/>
                  </a:solidFill>
                </a:rPr>
                <a:t>+1</a:t>
              </a:r>
            </a:p>
          </p:txBody>
        </p:sp>
        <p:sp>
          <p:nvSpPr>
            <p:cNvPr id="58379" name="Rectangle 26">
              <a:extLst>
                <a:ext uri="{FF2B5EF4-FFF2-40B4-BE49-F238E27FC236}">
                  <a16:creationId xmlns:a16="http://schemas.microsoft.com/office/drawing/2014/main" id="{BDDFF158-4F4C-877A-46D9-0CA2E124CF52}"/>
                </a:ext>
              </a:extLst>
            </p:cNvPr>
            <p:cNvSpPr>
              <a:spLocks noChangeArrowheads="1"/>
            </p:cNvSpPr>
            <p:nvPr/>
          </p:nvSpPr>
          <p:spPr bwMode="auto">
            <a:xfrm>
              <a:off x="725" y="1616"/>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spcBef>
                  <a:spcPct val="0"/>
                </a:spcBef>
                <a:buClrTx/>
                <a:buFontTx/>
                <a:buNone/>
              </a:pPr>
              <a:r>
                <a:rPr lang="en-US" altLang="en-US" sz="1800" i="1">
                  <a:solidFill>
                    <a:srgbClr val="000000"/>
                  </a:solidFill>
                </a:rPr>
                <a:t>a</a:t>
              </a:r>
              <a:endParaRPr lang="en-US" altLang="en-US" sz="1800"/>
            </a:p>
          </p:txBody>
        </p:sp>
        <p:sp>
          <p:nvSpPr>
            <p:cNvPr id="58380" name="Rectangle 27">
              <a:extLst>
                <a:ext uri="{FF2B5EF4-FFF2-40B4-BE49-F238E27FC236}">
                  <a16:creationId xmlns:a16="http://schemas.microsoft.com/office/drawing/2014/main" id="{67645915-FE6E-E8DE-9182-A336089D1E5E}"/>
                </a:ext>
              </a:extLst>
            </p:cNvPr>
            <p:cNvSpPr>
              <a:spLocks noChangeArrowheads="1"/>
            </p:cNvSpPr>
            <p:nvPr/>
          </p:nvSpPr>
          <p:spPr bwMode="auto">
            <a:xfrm>
              <a:off x="859" y="1601"/>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8381" name="Rectangle 28">
              <a:extLst>
                <a:ext uri="{FF2B5EF4-FFF2-40B4-BE49-F238E27FC236}">
                  <a16:creationId xmlns:a16="http://schemas.microsoft.com/office/drawing/2014/main" id="{73EFDAF8-D65B-8901-56B5-9848CD3925B7}"/>
                </a:ext>
              </a:extLst>
            </p:cNvPr>
            <p:cNvSpPr>
              <a:spLocks noChangeArrowheads="1"/>
            </p:cNvSpPr>
            <p:nvPr/>
          </p:nvSpPr>
          <p:spPr bwMode="auto">
            <a:xfrm>
              <a:off x="1329" y="1601"/>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8382" name="Rectangle 29">
              <a:extLst>
                <a:ext uri="{FF2B5EF4-FFF2-40B4-BE49-F238E27FC236}">
                  <a16:creationId xmlns:a16="http://schemas.microsoft.com/office/drawing/2014/main" id="{262EEA71-9DFE-0D60-3E3C-C11958894933}"/>
                </a:ext>
              </a:extLst>
            </p:cNvPr>
            <p:cNvSpPr>
              <a:spLocks noChangeArrowheads="1"/>
            </p:cNvSpPr>
            <p:nvPr/>
          </p:nvSpPr>
          <p:spPr bwMode="auto">
            <a:xfrm>
              <a:off x="1809" y="1601"/>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8383" name="Rectangle 30">
              <a:extLst>
                <a:ext uri="{FF2B5EF4-FFF2-40B4-BE49-F238E27FC236}">
                  <a16:creationId xmlns:a16="http://schemas.microsoft.com/office/drawing/2014/main" id="{B899EF0F-57B8-49BB-D00F-7AE936927160}"/>
                </a:ext>
              </a:extLst>
            </p:cNvPr>
            <p:cNvSpPr>
              <a:spLocks noChangeArrowheads="1"/>
            </p:cNvSpPr>
            <p:nvPr/>
          </p:nvSpPr>
          <p:spPr bwMode="auto">
            <a:xfrm>
              <a:off x="2289" y="1601"/>
              <a:ext cx="499" cy="227"/>
            </a:xfrm>
            <a:prstGeom prst="rect">
              <a:avLst/>
            </a:prstGeom>
            <a:solidFill>
              <a:srgbClr val="0099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8384" name="Rectangle 31">
              <a:extLst>
                <a:ext uri="{FF2B5EF4-FFF2-40B4-BE49-F238E27FC236}">
                  <a16:creationId xmlns:a16="http://schemas.microsoft.com/office/drawing/2014/main" id="{9EE0A668-B267-483D-3BEE-8CCC82BD04F3}"/>
                </a:ext>
              </a:extLst>
            </p:cNvPr>
            <p:cNvSpPr>
              <a:spLocks noChangeArrowheads="1"/>
            </p:cNvSpPr>
            <p:nvPr/>
          </p:nvSpPr>
          <p:spPr bwMode="auto">
            <a:xfrm>
              <a:off x="2289" y="1418"/>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p</a:t>
              </a:r>
              <a:endParaRPr lang="en-US" altLang="en-US" sz="1800">
                <a:solidFill>
                  <a:srgbClr val="000000"/>
                </a:solidFill>
              </a:endParaRPr>
            </a:p>
          </p:txBody>
        </p:sp>
        <p:sp>
          <p:nvSpPr>
            <p:cNvPr id="58385" name="Rectangle 32">
              <a:extLst>
                <a:ext uri="{FF2B5EF4-FFF2-40B4-BE49-F238E27FC236}">
                  <a16:creationId xmlns:a16="http://schemas.microsoft.com/office/drawing/2014/main" id="{D954D86E-D90E-9355-11D6-F3641866360E}"/>
                </a:ext>
              </a:extLst>
            </p:cNvPr>
            <p:cNvSpPr>
              <a:spLocks noChangeArrowheads="1"/>
            </p:cNvSpPr>
            <p:nvPr/>
          </p:nvSpPr>
          <p:spPr bwMode="auto">
            <a:xfrm>
              <a:off x="859" y="1428"/>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left</a:t>
              </a:r>
              <a:endParaRPr lang="en-US" altLang="en-US" sz="1800">
                <a:solidFill>
                  <a:srgbClr val="000000"/>
                </a:solidFill>
              </a:endParaRPr>
            </a:p>
          </p:txBody>
        </p:sp>
        <p:sp>
          <p:nvSpPr>
            <p:cNvPr id="58386" name="Rectangle 33">
              <a:extLst>
                <a:ext uri="{FF2B5EF4-FFF2-40B4-BE49-F238E27FC236}">
                  <a16:creationId xmlns:a16="http://schemas.microsoft.com/office/drawing/2014/main" id="{CE2E1E93-14D9-3871-9B93-539BB5B90229}"/>
                </a:ext>
              </a:extLst>
            </p:cNvPr>
            <p:cNvSpPr>
              <a:spLocks noChangeArrowheads="1"/>
            </p:cNvSpPr>
            <p:nvPr/>
          </p:nvSpPr>
          <p:spPr bwMode="auto">
            <a:xfrm>
              <a:off x="1809" y="1428"/>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p</a:t>
              </a:r>
              <a:r>
                <a:rPr lang="en-US" altLang="en-US" sz="1800">
                  <a:solidFill>
                    <a:srgbClr val="000000"/>
                  </a:solidFill>
                  <a:cs typeface="Times New Roman" pitchFamily="18" charset="0"/>
                </a:rPr>
                <a:t>–</a:t>
              </a:r>
              <a:r>
                <a:rPr lang="en-US" altLang="en-US" sz="1800">
                  <a:solidFill>
                    <a:srgbClr val="000000"/>
                  </a:solidFill>
                </a:rPr>
                <a:t>1</a:t>
              </a:r>
            </a:p>
          </p:txBody>
        </p:sp>
        <p:sp>
          <p:nvSpPr>
            <p:cNvPr id="58387" name="Rectangle 34">
              <a:extLst>
                <a:ext uri="{FF2B5EF4-FFF2-40B4-BE49-F238E27FC236}">
                  <a16:creationId xmlns:a16="http://schemas.microsoft.com/office/drawing/2014/main" id="{98039C2F-432B-4E6D-27F7-E703292577F1}"/>
                </a:ext>
              </a:extLst>
            </p:cNvPr>
            <p:cNvSpPr>
              <a:spLocks noChangeArrowheads="1"/>
            </p:cNvSpPr>
            <p:nvPr/>
          </p:nvSpPr>
          <p:spPr bwMode="auto">
            <a:xfrm>
              <a:off x="3763" y="1418"/>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r</a:t>
              </a:r>
              <a:r>
                <a:rPr lang="en-US" altLang="en-US" sz="1800">
                  <a:solidFill>
                    <a:srgbClr val="000000"/>
                  </a:solidFill>
                  <a:cs typeface="Times New Roman" pitchFamily="18" charset="0"/>
                </a:rPr>
                <a:t>–</a:t>
              </a:r>
              <a:r>
                <a:rPr lang="en-US" altLang="en-US" sz="1800">
                  <a:solidFill>
                    <a:srgbClr val="000000"/>
                  </a:solidFill>
                </a:rPr>
                <a:t>1</a:t>
              </a:r>
            </a:p>
          </p:txBody>
        </p:sp>
        <p:sp>
          <p:nvSpPr>
            <p:cNvPr id="58388" name="Rectangle 35">
              <a:extLst>
                <a:ext uri="{FF2B5EF4-FFF2-40B4-BE49-F238E27FC236}">
                  <a16:creationId xmlns:a16="http://schemas.microsoft.com/office/drawing/2014/main" id="{87A5C0B2-7E30-7803-7F89-5BB46A3732C8}"/>
                </a:ext>
              </a:extLst>
            </p:cNvPr>
            <p:cNvSpPr>
              <a:spLocks noChangeArrowheads="1"/>
            </p:cNvSpPr>
            <p:nvPr/>
          </p:nvSpPr>
          <p:spPr bwMode="auto">
            <a:xfrm>
              <a:off x="3283" y="1601"/>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8389" name="Rectangle 36">
              <a:extLst>
                <a:ext uri="{FF2B5EF4-FFF2-40B4-BE49-F238E27FC236}">
                  <a16:creationId xmlns:a16="http://schemas.microsoft.com/office/drawing/2014/main" id="{F411FCB0-534F-8E87-E991-55014A92B9A7}"/>
                </a:ext>
              </a:extLst>
            </p:cNvPr>
            <p:cNvSpPr>
              <a:spLocks noChangeArrowheads="1"/>
            </p:cNvSpPr>
            <p:nvPr/>
          </p:nvSpPr>
          <p:spPr bwMode="auto">
            <a:xfrm>
              <a:off x="3763" y="1601"/>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8390" name="Rectangle 37">
              <a:extLst>
                <a:ext uri="{FF2B5EF4-FFF2-40B4-BE49-F238E27FC236}">
                  <a16:creationId xmlns:a16="http://schemas.microsoft.com/office/drawing/2014/main" id="{B8E705E1-8458-3491-AF6F-E5B71E65342E}"/>
                </a:ext>
              </a:extLst>
            </p:cNvPr>
            <p:cNvSpPr>
              <a:spLocks noChangeArrowheads="1"/>
            </p:cNvSpPr>
            <p:nvPr/>
          </p:nvSpPr>
          <p:spPr bwMode="auto">
            <a:xfrm>
              <a:off x="2785" y="1602"/>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8391" name="Rectangle 38">
              <a:extLst>
                <a:ext uri="{FF2B5EF4-FFF2-40B4-BE49-F238E27FC236}">
                  <a16:creationId xmlns:a16="http://schemas.microsoft.com/office/drawing/2014/main" id="{54144726-00AE-D0CB-3C9E-C07793EDEE1A}"/>
                </a:ext>
              </a:extLst>
            </p:cNvPr>
            <p:cNvSpPr>
              <a:spLocks noChangeArrowheads="1"/>
            </p:cNvSpPr>
            <p:nvPr/>
          </p:nvSpPr>
          <p:spPr bwMode="auto">
            <a:xfrm>
              <a:off x="4205" y="1418"/>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r</a:t>
              </a:r>
              <a:endParaRPr lang="en-US" altLang="en-US" sz="1800">
                <a:solidFill>
                  <a:srgbClr val="000000"/>
                </a:solidFill>
              </a:endParaRPr>
            </a:p>
          </p:txBody>
        </p:sp>
        <p:sp>
          <p:nvSpPr>
            <p:cNvPr id="58392" name="Rectangle 39">
              <a:extLst>
                <a:ext uri="{FF2B5EF4-FFF2-40B4-BE49-F238E27FC236}">
                  <a16:creationId xmlns:a16="http://schemas.microsoft.com/office/drawing/2014/main" id="{65119E08-D379-AFD2-9B69-CB8B1D028776}"/>
                </a:ext>
              </a:extLst>
            </p:cNvPr>
            <p:cNvSpPr>
              <a:spLocks noChangeArrowheads="1"/>
            </p:cNvSpPr>
            <p:nvPr/>
          </p:nvSpPr>
          <p:spPr bwMode="auto">
            <a:xfrm>
              <a:off x="5216" y="1418"/>
              <a:ext cx="4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algn="ctr">
                <a:spcBef>
                  <a:spcPct val="0"/>
                </a:spcBef>
                <a:buClrTx/>
                <a:buFontTx/>
                <a:buNone/>
              </a:pPr>
              <a:r>
                <a:rPr lang="en-US" altLang="en-US" sz="1800" i="1">
                  <a:solidFill>
                    <a:srgbClr val="000000"/>
                  </a:solidFill>
                </a:rPr>
                <a:t>right</a:t>
              </a:r>
              <a:endParaRPr lang="en-US" altLang="en-US" sz="1800">
                <a:solidFill>
                  <a:srgbClr val="000000"/>
                </a:solidFill>
              </a:endParaRPr>
            </a:p>
          </p:txBody>
        </p:sp>
        <p:sp>
          <p:nvSpPr>
            <p:cNvPr id="58393" name="Rectangle 40">
              <a:extLst>
                <a:ext uri="{FF2B5EF4-FFF2-40B4-BE49-F238E27FC236}">
                  <a16:creationId xmlns:a16="http://schemas.microsoft.com/office/drawing/2014/main" id="{55EF5D52-8C7C-59C4-EEB8-222AD258D2BB}"/>
                </a:ext>
              </a:extLst>
            </p:cNvPr>
            <p:cNvSpPr>
              <a:spLocks noChangeArrowheads="1"/>
            </p:cNvSpPr>
            <p:nvPr/>
          </p:nvSpPr>
          <p:spPr bwMode="auto">
            <a:xfrm>
              <a:off x="4736" y="1601"/>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8394" name="Rectangle 41">
              <a:extLst>
                <a:ext uri="{FF2B5EF4-FFF2-40B4-BE49-F238E27FC236}">
                  <a16:creationId xmlns:a16="http://schemas.microsoft.com/office/drawing/2014/main" id="{67EA58FD-2E98-D29E-26E8-3AE32BE4A0FE}"/>
                </a:ext>
              </a:extLst>
            </p:cNvPr>
            <p:cNvSpPr>
              <a:spLocks noChangeArrowheads="1"/>
            </p:cNvSpPr>
            <p:nvPr/>
          </p:nvSpPr>
          <p:spPr bwMode="auto">
            <a:xfrm>
              <a:off x="5216" y="1601"/>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8395" name="Rectangle 42">
              <a:extLst>
                <a:ext uri="{FF2B5EF4-FFF2-40B4-BE49-F238E27FC236}">
                  <a16:creationId xmlns:a16="http://schemas.microsoft.com/office/drawing/2014/main" id="{93C952C5-5216-B0E6-1D66-57CF855B5192}"/>
                </a:ext>
              </a:extLst>
            </p:cNvPr>
            <p:cNvSpPr>
              <a:spLocks noChangeArrowheads="1"/>
            </p:cNvSpPr>
            <p:nvPr/>
          </p:nvSpPr>
          <p:spPr bwMode="auto">
            <a:xfrm>
              <a:off x="4238" y="1602"/>
              <a:ext cx="499" cy="227"/>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endParaRPr lang="en-US" altLang="en-US" sz="1800"/>
            </a:p>
          </p:txBody>
        </p:sp>
        <p:sp>
          <p:nvSpPr>
            <p:cNvPr id="58396" name="Freeform 43">
              <a:extLst>
                <a:ext uri="{FF2B5EF4-FFF2-40B4-BE49-F238E27FC236}">
                  <a16:creationId xmlns:a16="http://schemas.microsoft.com/office/drawing/2014/main" id="{A1B437DB-5766-3E73-DBDF-0215EA6B8400}"/>
                </a:ext>
              </a:extLst>
            </p:cNvPr>
            <p:cNvSpPr>
              <a:spLocks/>
            </p:cNvSpPr>
            <p:nvPr/>
          </p:nvSpPr>
          <p:spPr bwMode="auto">
            <a:xfrm>
              <a:off x="4877" y="1562"/>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p>
          </p:txBody>
        </p:sp>
        <p:sp>
          <p:nvSpPr>
            <p:cNvPr id="58397" name="Freeform 22">
              <a:extLst>
                <a:ext uri="{FF2B5EF4-FFF2-40B4-BE49-F238E27FC236}">
                  <a16:creationId xmlns:a16="http://schemas.microsoft.com/office/drawing/2014/main" id="{F5F803AA-E4C3-DD0D-0DED-63D7503968EA}"/>
                </a:ext>
              </a:extLst>
            </p:cNvPr>
            <p:cNvSpPr>
              <a:spLocks/>
            </p:cNvSpPr>
            <p:nvPr/>
          </p:nvSpPr>
          <p:spPr bwMode="auto">
            <a:xfrm>
              <a:off x="3427" y="1562"/>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p>
          </p:txBody>
        </p:sp>
        <p:sp>
          <p:nvSpPr>
            <p:cNvPr id="58398" name="Freeform 21">
              <a:extLst>
                <a:ext uri="{FF2B5EF4-FFF2-40B4-BE49-F238E27FC236}">
                  <a16:creationId xmlns:a16="http://schemas.microsoft.com/office/drawing/2014/main" id="{6949C2A6-A62A-8B45-19BE-B812E4A2BAE0}"/>
                </a:ext>
              </a:extLst>
            </p:cNvPr>
            <p:cNvSpPr>
              <a:spLocks/>
            </p:cNvSpPr>
            <p:nvPr/>
          </p:nvSpPr>
          <p:spPr bwMode="auto">
            <a:xfrm>
              <a:off x="1473" y="1562"/>
              <a:ext cx="192" cy="336"/>
            </a:xfrm>
            <a:custGeom>
              <a:avLst/>
              <a:gdLst>
                <a:gd name="T0" fmla="*/ 96 w 192"/>
                <a:gd name="T1" fmla="*/ 0 h 336"/>
                <a:gd name="T2" fmla="*/ 192 w 192"/>
                <a:gd name="T3" fmla="*/ 0 h 336"/>
                <a:gd name="T4" fmla="*/ 96 w 192"/>
                <a:gd name="T5" fmla="*/ 336 h 336"/>
                <a:gd name="T6" fmla="*/ 0 w 192"/>
                <a:gd name="T7" fmla="*/ 336 h 336"/>
                <a:gd name="T8" fmla="*/ 96 w 192"/>
                <a:gd name="T9" fmla="*/ 0 h 336"/>
                <a:gd name="T10" fmla="*/ 0 60000 65536"/>
                <a:gd name="T11" fmla="*/ 0 60000 65536"/>
                <a:gd name="T12" fmla="*/ 0 60000 65536"/>
                <a:gd name="T13" fmla="*/ 0 60000 65536"/>
                <a:gd name="T14" fmla="*/ 0 60000 65536"/>
                <a:gd name="T15" fmla="*/ 0 w 192"/>
                <a:gd name="T16" fmla="*/ 0 h 336"/>
                <a:gd name="T17" fmla="*/ 192 w 192"/>
                <a:gd name="T18" fmla="*/ 336 h 336"/>
              </a:gdLst>
              <a:ahLst/>
              <a:cxnLst>
                <a:cxn ang="T10">
                  <a:pos x="T0" y="T1"/>
                </a:cxn>
                <a:cxn ang="T11">
                  <a:pos x="T2" y="T3"/>
                </a:cxn>
                <a:cxn ang="T12">
                  <a:pos x="T4" y="T5"/>
                </a:cxn>
                <a:cxn ang="T13">
                  <a:pos x="T6" y="T7"/>
                </a:cxn>
                <a:cxn ang="T14">
                  <a:pos x="T8" y="T9"/>
                </a:cxn>
              </a:cxnLst>
              <a:rect l="T15" t="T16" r="T17" b="T18"/>
              <a:pathLst>
                <a:path w="192" h="336">
                  <a:moveTo>
                    <a:pt x="96" y="0"/>
                  </a:moveTo>
                  <a:lnTo>
                    <a:pt x="192" y="0"/>
                  </a:lnTo>
                  <a:lnTo>
                    <a:pt x="96" y="336"/>
                  </a:lnTo>
                  <a:lnTo>
                    <a:pt x="0" y="336"/>
                  </a:lnTo>
                  <a:lnTo>
                    <a:pt x="96" y="0"/>
                  </a:lnTo>
                  <a:close/>
                </a:path>
              </a:pathLst>
            </a:custGeom>
            <a:solidFill>
              <a:schemeClr val="bg1"/>
            </a:soli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lIns="54000" rIns="54000"/>
            <a:lstStyle/>
            <a:p>
              <a:endParaRPr lang="en-GB"/>
            </a:p>
          </p:txBody>
        </p:sp>
      </p:grpSp>
      <p:sp>
        <p:nvSpPr>
          <p:cNvPr id="3" name="Slide Number Placeholder 2">
            <a:extLst>
              <a:ext uri="{FF2B5EF4-FFF2-40B4-BE49-F238E27FC236}">
                <a16:creationId xmlns:a16="http://schemas.microsoft.com/office/drawing/2014/main" id="{F0BA52D7-2576-F1FD-8485-6E18F094AA30}"/>
              </a:ext>
            </a:extLst>
          </p:cNvPr>
          <p:cNvSpPr>
            <a:spLocks noGrp="1"/>
          </p:cNvSpPr>
          <p:nvPr>
            <p:ph type="sldNum" sz="quarter" idx="12"/>
          </p:nvPr>
        </p:nvSpPr>
        <p:spPr/>
        <p:txBody>
          <a:bodyPr/>
          <a:lstStyle/>
          <a:p>
            <a:fld id="{B6F15528-21DE-4FAA-801E-634DDDAF4B2B}" type="slidenum">
              <a:rPr lang="en-US" smtClean="0"/>
              <a:pPr/>
              <a:t>37</a:t>
            </a:fld>
            <a:endParaRPr lang="en-US"/>
          </a:p>
        </p:txBody>
      </p:sp>
      <p:sp>
        <p:nvSpPr>
          <p:cNvPr id="4" name="Rectangle 3">
            <a:extLst>
              <a:ext uri="{FF2B5EF4-FFF2-40B4-BE49-F238E27FC236}">
                <a16:creationId xmlns:a16="http://schemas.microsoft.com/office/drawing/2014/main" id="{D7407EE0-5E85-0896-68B2-B1A726A7AB5C}"/>
              </a:ext>
            </a:extLst>
          </p:cNvPr>
          <p:cNvSpPr txBox="1">
            <a:spLocks noChangeArrowheads="1"/>
          </p:cNvSpPr>
          <p:nvPr/>
        </p:nvSpPr>
        <p:spPr>
          <a:xfrm>
            <a:off x="486245" y="4050407"/>
            <a:ext cx="7239000" cy="2701231"/>
          </a:xfrm>
          <a:prstGeom prst="rect">
            <a:avLst/>
          </a:prstGeom>
          <a:noFill/>
          <a:ln w="25400">
            <a:solidFill>
              <a:schemeClr val="accent1"/>
            </a:solidFill>
          </a:ln>
        </p:spPr>
        <p:txBody>
          <a:bodyPr vert="horz" lIns="91440" tIns="45720" rIns="91440" bIns="45720" rtlCol="0">
            <a:normAutofit/>
          </a:bodyPr>
          <a:lst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a:lstStyle>
          <a:p>
            <a:pPr>
              <a:tabLst>
                <a:tab pos="723900" algn="l"/>
                <a:tab pos="1257300" algn="l"/>
                <a:tab pos="1968500" algn="l"/>
              </a:tabLst>
            </a:pPr>
            <a:r>
              <a:rPr lang="en-US" altLang="en-US" sz="1600" b="1" dirty="0">
                <a:cs typeface="Times New Roman" pitchFamily="18" charset="0"/>
              </a:rPr>
              <a:t>Quick-sort partitioning algorithm</a:t>
            </a:r>
            <a:r>
              <a:rPr lang="en-US" altLang="en-US" sz="1600" dirty="0">
                <a:cs typeface="Times New Roman" pitchFamily="18" charset="0"/>
              </a:rPr>
              <a:t>:</a:t>
            </a:r>
          </a:p>
          <a:p>
            <a:pPr>
              <a:buClr>
                <a:schemeClr val="tx1"/>
              </a:buClr>
              <a:buFont typeface="Wingdings" pitchFamily="2" charset="2"/>
              <a:buNone/>
              <a:tabLst>
                <a:tab pos="723900" algn="l"/>
                <a:tab pos="1257300" algn="l"/>
                <a:tab pos="1968500" algn="l"/>
              </a:tabLst>
            </a:pPr>
            <a:r>
              <a:rPr lang="en-US" altLang="en-US" sz="1600" dirty="0">
                <a:latin typeface="Times New Roman" pitchFamily="18" charset="0"/>
                <a:cs typeface="Times New Roman" pitchFamily="18" charset="0"/>
              </a:rPr>
              <a:t>	To partition </a:t>
            </a:r>
            <a:r>
              <a:rPr lang="en-US" altLang="en-US" sz="1600" i="1" dirty="0">
                <a:latin typeface="Times New Roman" pitchFamily="18" charset="0"/>
                <a:cs typeface="Times New Roman" pitchFamily="18" charset="0"/>
              </a:rPr>
              <a:t>a</a:t>
            </a:r>
            <a:r>
              <a:rPr lang="en-US" altLang="en-US" sz="1600" dirty="0">
                <a:latin typeface="Times New Roman" pitchFamily="18" charset="0"/>
                <a:cs typeface="Times New Roman" pitchFamily="18" charset="0"/>
              </a:rPr>
              <a:t>[</a:t>
            </a:r>
            <a:r>
              <a:rPr lang="en-US" altLang="en-US" sz="1600" i="1" dirty="0">
                <a:latin typeface="Times New Roman" pitchFamily="18" charset="0"/>
                <a:cs typeface="Times New Roman" pitchFamily="18" charset="0"/>
              </a:rPr>
              <a:t>left</a:t>
            </a:r>
            <a:r>
              <a:rPr lang="en-US" altLang="en-US" sz="1600" dirty="0">
                <a:latin typeface="Times New Roman" pitchFamily="18" charset="0"/>
                <a:cs typeface="Times New Roman" pitchFamily="18" charset="0"/>
              </a:rPr>
              <a:t>…</a:t>
            </a:r>
            <a:r>
              <a:rPr lang="en-US" altLang="en-US" sz="1600" i="1" dirty="0">
                <a:latin typeface="Times New Roman" pitchFamily="18" charset="0"/>
                <a:cs typeface="Times New Roman" pitchFamily="18" charset="0"/>
              </a:rPr>
              <a:t>right</a:t>
            </a:r>
            <a:r>
              <a:rPr lang="en-US" altLang="en-US" sz="1600" dirty="0">
                <a:latin typeface="Times New Roman" pitchFamily="18" charset="0"/>
                <a:cs typeface="Times New Roman" pitchFamily="18" charset="0"/>
              </a:rPr>
              <a:t>] such that </a:t>
            </a:r>
            <a:r>
              <a:rPr lang="en-US" altLang="en-US" sz="1600" i="1" dirty="0">
                <a:latin typeface="Times New Roman" pitchFamily="18" charset="0"/>
                <a:cs typeface="Times New Roman" pitchFamily="18" charset="0"/>
              </a:rPr>
              <a:t>a</a:t>
            </a:r>
            <a:r>
              <a:rPr lang="en-US" altLang="en-US" sz="1600" dirty="0">
                <a:latin typeface="Times New Roman" pitchFamily="18" charset="0"/>
                <a:cs typeface="Times New Roman" pitchFamily="18" charset="0"/>
              </a:rPr>
              <a:t>[</a:t>
            </a:r>
            <a:r>
              <a:rPr lang="en-US" altLang="en-US" sz="1600" i="1" dirty="0">
                <a:latin typeface="Times New Roman" pitchFamily="18" charset="0"/>
                <a:cs typeface="Times New Roman" pitchFamily="18" charset="0"/>
              </a:rPr>
              <a:t>left</a:t>
            </a:r>
            <a:r>
              <a:rPr lang="en-US" altLang="en-US" sz="1600" dirty="0">
                <a:latin typeface="Times New Roman" pitchFamily="18" charset="0"/>
                <a:cs typeface="Times New Roman" pitchFamily="18" charset="0"/>
              </a:rPr>
              <a:t>…</a:t>
            </a:r>
            <a:r>
              <a:rPr lang="en-US" altLang="en-US" sz="1600" i="1" dirty="0">
                <a:latin typeface="Times New Roman" pitchFamily="18" charset="0"/>
                <a:cs typeface="Times New Roman" pitchFamily="18" charset="0"/>
              </a:rPr>
              <a:t>p</a:t>
            </a:r>
            <a:r>
              <a:rPr lang="en-US" altLang="en-US" sz="1600" dirty="0">
                <a:latin typeface="Times New Roman" pitchFamily="18" charset="0"/>
                <a:cs typeface="Times New Roman" pitchFamily="18" charset="0"/>
              </a:rPr>
              <a:t>–1] are all less than or equal to </a:t>
            </a:r>
            <a:r>
              <a:rPr lang="en-US" altLang="en-US" sz="1600" i="1" dirty="0">
                <a:latin typeface="Times New Roman" pitchFamily="18" charset="0"/>
                <a:cs typeface="Times New Roman" pitchFamily="18" charset="0"/>
              </a:rPr>
              <a:t>a</a:t>
            </a:r>
            <a:r>
              <a:rPr lang="en-US" altLang="en-US" sz="1600" dirty="0">
                <a:latin typeface="Times New Roman" pitchFamily="18" charset="0"/>
                <a:cs typeface="Times New Roman" pitchFamily="18" charset="0"/>
              </a:rPr>
              <a:t>[</a:t>
            </a:r>
            <a:r>
              <a:rPr lang="en-US" altLang="en-US" sz="1600" i="1" dirty="0">
                <a:latin typeface="Times New Roman" pitchFamily="18" charset="0"/>
                <a:cs typeface="Times New Roman" pitchFamily="18" charset="0"/>
              </a:rPr>
              <a:t>p</a:t>
            </a:r>
            <a:r>
              <a:rPr lang="en-US" altLang="en-US" sz="1600" dirty="0">
                <a:latin typeface="Times New Roman" pitchFamily="18" charset="0"/>
                <a:cs typeface="Times New Roman" pitchFamily="18" charset="0"/>
              </a:rPr>
              <a:t>], and </a:t>
            </a:r>
            <a:r>
              <a:rPr lang="en-US" altLang="en-US" sz="1600" i="1" dirty="0">
                <a:latin typeface="Times New Roman" pitchFamily="18" charset="0"/>
                <a:cs typeface="Times New Roman" pitchFamily="18" charset="0"/>
              </a:rPr>
              <a:t>a</a:t>
            </a:r>
            <a:r>
              <a:rPr lang="en-US" altLang="en-US" sz="1600" dirty="0">
                <a:latin typeface="Times New Roman" pitchFamily="18" charset="0"/>
                <a:cs typeface="Times New Roman" pitchFamily="18" charset="0"/>
              </a:rPr>
              <a:t>[</a:t>
            </a:r>
            <a:r>
              <a:rPr lang="en-US" altLang="en-US" sz="1600" i="1" dirty="0">
                <a:latin typeface="Times New Roman" pitchFamily="18" charset="0"/>
                <a:cs typeface="Times New Roman" pitchFamily="18" charset="0"/>
              </a:rPr>
              <a:t>p</a:t>
            </a:r>
            <a:r>
              <a:rPr lang="en-US" altLang="en-US" sz="1600" dirty="0">
                <a:latin typeface="Times New Roman" pitchFamily="18" charset="0"/>
                <a:cs typeface="Times New Roman" pitchFamily="18" charset="0"/>
              </a:rPr>
              <a:t>+1…</a:t>
            </a:r>
            <a:r>
              <a:rPr lang="en-US" altLang="en-US" sz="1600" i="1" dirty="0">
                <a:latin typeface="Times New Roman" pitchFamily="18" charset="0"/>
                <a:cs typeface="Times New Roman" pitchFamily="18" charset="0"/>
              </a:rPr>
              <a:t>right</a:t>
            </a:r>
            <a:r>
              <a:rPr lang="en-US" altLang="en-US" sz="1600" dirty="0">
                <a:latin typeface="Times New Roman" pitchFamily="18" charset="0"/>
                <a:cs typeface="Times New Roman" pitchFamily="18" charset="0"/>
              </a:rPr>
              <a:t>] are all greater than or equal to </a:t>
            </a:r>
            <a:r>
              <a:rPr lang="en-US" altLang="en-US" sz="1600" i="1" dirty="0">
                <a:latin typeface="Times New Roman" pitchFamily="18" charset="0"/>
                <a:cs typeface="Times New Roman" pitchFamily="18" charset="0"/>
              </a:rPr>
              <a:t>a</a:t>
            </a:r>
            <a:r>
              <a:rPr lang="en-US" altLang="en-US" sz="1600" dirty="0">
                <a:latin typeface="Times New Roman" pitchFamily="18" charset="0"/>
                <a:cs typeface="Times New Roman" pitchFamily="18" charset="0"/>
              </a:rPr>
              <a:t>[</a:t>
            </a:r>
            <a:r>
              <a:rPr lang="en-US" altLang="en-US" sz="1600" i="1" dirty="0">
                <a:latin typeface="Times New Roman" pitchFamily="18" charset="0"/>
                <a:cs typeface="Times New Roman" pitchFamily="18" charset="0"/>
              </a:rPr>
              <a:t>p</a:t>
            </a:r>
            <a:r>
              <a:rPr lang="en-US" altLang="en-US" sz="1600" dirty="0">
                <a:latin typeface="Times New Roman" pitchFamily="18" charset="0"/>
                <a:cs typeface="Times New Roman" pitchFamily="18" charset="0"/>
              </a:rPr>
              <a:t>]:</a:t>
            </a:r>
          </a:p>
          <a:p>
            <a:pPr>
              <a:spcBef>
                <a:spcPts val="900"/>
              </a:spcBef>
              <a:buClr>
                <a:schemeClr val="tx1"/>
              </a:buClr>
              <a:buFont typeface="Wingdings" pitchFamily="2" charset="2"/>
              <a:buNone/>
              <a:tabLst>
                <a:tab pos="723900" algn="l"/>
                <a:tab pos="1257300" algn="l"/>
                <a:tab pos="1968500" algn="l"/>
              </a:tabLst>
            </a:pPr>
            <a:r>
              <a:rPr lang="en-US" altLang="en-US" sz="1600" dirty="0">
                <a:latin typeface="Times New Roman" pitchFamily="18" charset="0"/>
                <a:cs typeface="Times New Roman" pitchFamily="18" charset="0"/>
              </a:rPr>
              <a:t>	1.	Let </a:t>
            </a:r>
            <a:r>
              <a:rPr lang="en-US" altLang="en-US" sz="1600" i="1" dirty="0">
                <a:latin typeface="Times New Roman" pitchFamily="18" charset="0"/>
                <a:cs typeface="Times New Roman" pitchFamily="18" charset="0"/>
              </a:rPr>
              <a:t>pivot</a:t>
            </a:r>
            <a:r>
              <a:rPr lang="en-US" altLang="en-US" sz="1600" dirty="0">
                <a:latin typeface="Times New Roman" pitchFamily="18" charset="0"/>
                <a:cs typeface="Times New Roman" pitchFamily="18" charset="0"/>
              </a:rPr>
              <a:t> be the element in </a:t>
            </a:r>
            <a:r>
              <a:rPr lang="en-US" altLang="en-US" sz="1600" i="1" dirty="0">
                <a:latin typeface="Times New Roman" pitchFamily="18" charset="0"/>
                <a:cs typeface="Times New Roman" pitchFamily="18" charset="0"/>
              </a:rPr>
              <a:t>a</a:t>
            </a:r>
            <a:r>
              <a:rPr lang="en-US" altLang="en-US" sz="1600" dirty="0">
                <a:latin typeface="Times New Roman" pitchFamily="18" charset="0"/>
                <a:cs typeface="Times New Roman" pitchFamily="18" charset="0"/>
              </a:rPr>
              <a:t>[</a:t>
            </a:r>
            <a:r>
              <a:rPr lang="en-US" altLang="en-US" sz="1600" i="1" dirty="0">
                <a:latin typeface="Times New Roman" pitchFamily="18" charset="0"/>
                <a:cs typeface="Times New Roman" pitchFamily="18" charset="0"/>
              </a:rPr>
              <a:t>left</a:t>
            </a:r>
            <a:r>
              <a:rPr lang="en-US" altLang="en-US" sz="1600" dirty="0">
                <a:latin typeface="Times New Roman" pitchFamily="18" charset="0"/>
                <a:cs typeface="Times New Roman" pitchFamily="18" charset="0"/>
              </a:rPr>
              <a:t>], and set </a:t>
            </a:r>
            <a:r>
              <a:rPr lang="en-US" altLang="en-US" sz="1600" i="1" dirty="0">
                <a:latin typeface="Times New Roman" pitchFamily="18" charset="0"/>
                <a:cs typeface="Times New Roman" pitchFamily="18" charset="0"/>
              </a:rPr>
              <a:t>p</a:t>
            </a:r>
            <a:r>
              <a:rPr lang="en-US" altLang="en-US" sz="1600" dirty="0">
                <a:latin typeface="Times New Roman" pitchFamily="18" charset="0"/>
                <a:cs typeface="Times New Roman" pitchFamily="18" charset="0"/>
              </a:rPr>
              <a:t> = </a:t>
            </a:r>
            <a:r>
              <a:rPr lang="en-US" altLang="en-US" sz="1600" i="1" dirty="0">
                <a:latin typeface="Times New Roman" pitchFamily="18" charset="0"/>
                <a:cs typeface="Times New Roman" pitchFamily="18" charset="0"/>
              </a:rPr>
              <a:t>left</a:t>
            </a:r>
            <a:r>
              <a:rPr lang="en-US" altLang="en-US" sz="1600" dirty="0">
                <a:latin typeface="Times New Roman" pitchFamily="18" charset="0"/>
                <a:cs typeface="Times New Roman" pitchFamily="18" charset="0"/>
              </a:rPr>
              <a:t>.</a:t>
            </a:r>
            <a:br>
              <a:rPr lang="en-US" altLang="en-US" sz="1600" dirty="0">
                <a:latin typeface="Times New Roman" pitchFamily="18" charset="0"/>
                <a:cs typeface="Times New Roman" pitchFamily="18" charset="0"/>
              </a:rPr>
            </a:br>
            <a:r>
              <a:rPr lang="en-US" altLang="en-US" sz="1600" dirty="0">
                <a:latin typeface="Times New Roman" pitchFamily="18" charset="0"/>
                <a:cs typeface="Times New Roman" pitchFamily="18" charset="0"/>
              </a:rPr>
              <a:t>2.	For </a:t>
            </a:r>
            <a:r>
              <a:rPr lang="en-US" altLang="en-US" sz="1600" i="1" dirty="0">
                <a:latin typeface="Times New Roman" pitchFamily="18" charset="0"/>
                <a:cs typeface="Times New Roman" pitchFamily="18" charset="0"/>
              </a:rPr>
              <a:t>r</a:t>
            </a:r>
            <a:r>
              <a:rPr lang="en-US" altLang="en-US" sz="1600" dirty="0">
                <a:latin typeface="Times New Roman" pitchFamily="18" charset="0"/>
                <a:cs typeface="Times New Roman" pitchFamily="18" charset="0"/>
              </a:rPr>
              <a:t> = </a:t>
            </a:r>
            <a:r>
              <a:rPr lang="en-US" altLang="en-US" sz="1600" i="1" dirty="0">
                <a:latin typeface="Times New Roman" pitchFamily="18" charset="0"/>
                <a:cs typeface="Times New Roman" pitchFamily="18" charset="0"/>
              </a:rPr>
              <a:t>left</a:t>
            </a:r>
            <a:r>
              <a:rPr lang="en-US" altLang="en-US" sz="1600" dirty="0">
                <a:latin typeface="Times New Roman" pitchFamily="18" charset="0"/>
                <a:cs typeface="Times New Roman" pitchFamily="18" charset="0"/>
              </a:rPr>
              <a:t>+1, …, </a:t>
            </a:r>
            <a:r>
              <a:rPr lang="en-US" altLang="en-US" sz="1600" i="1" dirty="0">
                <a:latin typeface="Times New Roman" pitchFamily="18" charset="0"/>
                <a:cs typeface="Times New Roman" pitchFamily="18" charset="0"/>
              </a:rPr>
              <a:t>right</a:t>
            </a:r>
            <a:r>
              <a:rPr lang="en-US" altLang="en-US" sz="1600" dirty="0">
                <a:latin typeface="Times New Roman" pitchFamily="18" charset="0"/>
                <a:cs typeface="Times New Roman" pitchFamily="18" charset="0"/>
              </a:rPr>
              <a:t>, repeat:</a:t>
            </a:r>
            <a:br>
              <a:rPr lang="en-US" altLang="en-US" sz="1600" dirty="0">
                <a:latin typeface="Times New Roman" pitchFamily="18" charset="0"/>
                <a:cs typeface="Times New Roman" pitchFamily="18" charset="0"/>
              </a:rPr>
            </a:br>
            <a:r>
              <a:rPr lang="en-US" altLang="en-US" sz="1600" dirty="0">
                <a:latin typeface="Times New Roman" pitchFamily="18" charset="0"/>
                <a:cs typeface="Times New Roman" pitchFamily="18" charset="0"/>
              </a:rPr>
              <a:t>	2.1.	If </a:t>
            </a:r>
            <a:r>
              <a:rPr lang="en-US" altLang="en-US" sz="1600" i="1" dirty="0">
                <a:latin typeface="Times New Roman" pitchFamily="18" charset="0"/>
                <a:cs typeface="Times New Roman" pitchFamily="18" charset="0"/>
              </a:rPr>
              <a:t>a</a:t>
            </a:r>
            <a:r>
              <a:rPr lang="en-US" altLang="en-US" sz="1600" dirty="0">
                <a:latin typeface="Times New Roman" pitchFamily="18" charset="0"/>
                <a:cs typeface="Times New Roman" pitchFamily="18" charset="0"/>
              </a:rPr>
              <a:t>[</a:t>
            </a:r>
            <a:r>
              <a:rPr lang="en-US" altLang="en-US" sz="1600" i="1" dirty="0">
                <a:latin typeface="Times New Roman" pitchFamily="18" charset="0"/>
                <a:cs typeface="Times New Roman" pitchFamily="18" charset="0"/>
              </a:rPr>
              <a:t>r</a:t>
            </a:r>
            <a:r>
              <a:rPr lang="en-US" altLang="en-US" sz="1600" dirty="0">
                <a:latin typeface="Times New Roman" pitchFamily="18" charset="0"/>
                <a:cs typeface="Times New Roman" pitchFamily="18" charset="0"/>
              </a:rPr>
              <a:t>] is less than </a:t>
            </a:r>
            <a:r>
              <a:rPr lang="en-US" altLang="en-US" sz="1600" i="1" dirty="0">
                <a:latin typeface="Times New Roman" pitchFamily="18" charset="0"/>
                <a:cs typeface="Times New Roman" pitchFamily="18" charset="0"/>
              </a:rPr>
              <a:t>pivot</a:t>
            </a:r>
            <a:r>
              <a:rPr lang="en-US" altLang="en-US" sz="1600" dirty="0">
                <a:latin typeface="Times New Roman" pitchFamily="18" charset="0"/>
                <a:cs typeface="Times New Roman" pitchFamily="18" charset="0"/>
              </a:rPr>
              <a:t>:</a:t>
            </a:r>
            <a:br>
              <a:rPr lang="en-US" altLang="en-US" sz="1600" dirty="0">
                <a:latin typeface="Times New Roman" pitchFamily="18" charset="0"/>
                <a:cs typeface="Times New Roman" pitchFamily="18" charset="0"/>
              </a:rPr>
            </a:br>
            <a:r>
              <a:rPr lang="en-US" altLang="en-US" sz="1600" dirty="0">
                <a:latin typeface="Times New Roman" pitchFamily="18" charset="0"/>
                <a:cs typeface="Times New Roman" pitchFamily="18" charset="0"/>
              </a:rPr>
              <a:t>		2.1.1.	Copy </a:t>
            </a:r>
            <a:r>
              <a:rPr lang="en-US" altLang="en-US" sz="1600" i="1" dirty="0">
                <a:latin typeface="Times New Roman" pitchFamily="18" charset="0"/>
                <a:cs typeface="Times New Roman" pitchFamily="18" charset="0"/>
              </a:rPr>
              <a:t>a</a:t>
            </a:r>
            <a:r>
              <a:rPr lang="en-US" altLang="en-US" sz="1600" dirty="0">
                <a:latin typeface="Times New Roman" pitchFamily="18" charset="0"/>
                <a:cs typeface="Times New Roman" pitchFamily="18" charset="0"/>
              </a:rPr>
              <a:t>[</a:t>
            </a:r>
            <a:r>
              <a:rPr lang="en-US" altLang="en-US" sz="1600" i="1" dirty="0">
                <a:latin typeface="Times New Roman" pitchFamily="18" charset="0"/>
                <a:cs typeface="Times New Roman" pitchFamily="18" charset="0"/>
              </a:rPr>
              <a:t>r</a:t>
            </a:r>
            <a:r>
              <a:rPr lang="en-US" altLang="en-US" sz="1600" dirty="0">
                <a:latin typeface="Times New Roman" pitchFamily="18" charset="0"/>
                <a:cs typeface="Times New Roman" pitchFamily="18" charset="0"/>
              </a:rPr>
              <a:t>] into </a:t>
            </a:r>
            <a:r>
              <a:rPr lang="en-US" altLang="en-US" sz="1600" i="1" dirty="0">
                <a:latin typeface="Times New Roman" pitchFamily="18" charset="0"/>
                <a:cs typeface="Times New Roman" pitchFamily="18" charset="0"/>
              </a:rPr>
              <a:t>a</a:t>
            </a:r>
            <a:r>
              <a:rPr lang="en-US" altLang="en-US" sz="1600" dirty="0">
                <a:latin typeface="Times New Roman" pitchFamily="18" charset="0"/>
                <a:cs typeface="Times New Roman" pitchFamily="18" charset="0"/>
              </a:rPr>
              <a:t>[</a:t>
            </a:r>
            <a:r>
              <a:rPr lang="en-US" altLang="en-US" sz="1600" i="1" dirty="0">
                <a:latin typeface="Times New Roman" pitchFamily="18" charset="0"/>
                <a:cs typeface="Times New Roman" pitchFamily="18" charset="0"/>
              </a:rPr>
              <a:t>p</a:t>
            </a:r>
            <a:r>
              <a:rPr lang="en-US" altLang="en-US" sz="1600" dirty="0">
                <a:latin typeface="Times New Roman" pitchFamily="18" charset="0"/>
                <a:cs typeface="Times New Roman" pitchFamily="18" charset="0"/>
              </a:rPr>
              <a:t>], </a:t>
            </a:r>
            <a:r>
              <a:rPr lang="en-US" altLang="en-US" sz="1600" i="1" dirty="0">
                <a:latin typeface="Times New Roman" pitchFamily="18" charset="0"/>
                <a:cs typeface="Times New Roman" pitchFamily="18" charset="0"/>
              </a:rPr>
              <a:t>a</a:t>
            </a:r>
            <a:r>
              <a:rPr lang="en-US" altLang="en-US" sz="1600" dirty="0">
                <a:latin typeface="Times New Roman" pitchFamily="18" charset="0"/>
                <a:cs typeface="Times New Roman" pitchFamily="18" charset="0"/>
              </a:rPr>
              <a:t>[</a:t>
            </a:r>
            <a:r>
              <a:rPr lang="en-US" altLang="en-US" sz="1600" i="1" dirty="0">
                <a:latin typeface="Times New Roman" pitchFamily="18" charset="0"/>
                <a:cs typeface="Times New Roman" pitchFamily="18" charset="0"/>
              </a:rPr>
              <a:t>p</a:t>
            </a:r>
            <a:r>
              <a:rPr lang="en-US" altLang="en-US" sz="1600" dirty="0">
                <a:latin typeface="Times New Roman" pitchFamily="18" charset="0"/>
                <a:cs typeface="Times New Roman" pitchFamily="18" charset="0"/>
              </a:rPr>
              <a:t>+1] into </a:t>
            </a:r>
            <a:r>
              <a:rPr lang="en-US" altLang="en-US" sz="1600" i="1" dirty="0">
                <a:latin typeface="Times New Roman" pitchFamily="18" charset="0"/>
                <a:cs typeface="Times New Roman" pitchFamily="18" charset="0"/>
              </a:rPr>
              <a:t>a</a:t>
            </a:r>
            <a:r>
              <a:rPr lang="en-US" altLang="en-US" sz="1600" dirty="0">
                <a:latin typeface="Times New Roman" pitchFamily="18" charset="0"/>
                <a:cs typeface="Times New Roman" pitchFamily="18" charset="0"/>
              </a:rPr>
              <a:t>[</a:t>
            </a:r>
            <a:r>
              <a:rPr lang="en-US" altLang="en-US" sz="1600" i="1" dirty="0">
                <a:latin typeface="Times New Roman" pitchFamily="18" charset="0"/>
                <a:cs typeface="Times New Roman" pitchFamily="18" charset="0"/>
              </a:rPr>
              <a:t>r</a:t>
            </a:r>
            <a:r>
              <a:rPr lang="en-US" altLang="en-US" sz="1600" dirty="0">
                <a:latin typeface="Times New Roman" pitchFamily="18" charset="0"/>
                <a:cs typeface="Times New Roman" pitchFamily="18" charset="0"/>
              </a:rPr>
              <a:t>], </a:t>
            </a:r>
            <a:br>
              <a:rPr lang="en-US" altLang="en-US" sz="1600" dirty="0">
                <a:latin typeface="Times New Roman" pitchFamily="18" charset="0"/>
                <a:cs typeface="Times New Roman" pitchFamily="18" charset="0"/>
              </a:rPr>
            </a:br>
            <a:r>
              <a:rPr lang="en-US" altLang="en-US" sz="1600" dirty="0">
                <a:latin typeface="Times New Roman" pitchFamily="18" charset="0"/>
                <a:cs typeface="Times New Roman" pitchFamily="18" charset="0"/>
              </a:rPr>
              <a:t>			and </a:t>
            </a:r>
            <a:r>
              <a:rPr lang="en-US" altLang="en-US" sz="1600" i="1" dirty="0">
                <a:latin typeface="Times New Roman" pitchFamily="18" charset="0"/>
                <a:cs typeface="Times New Roman" pitchFamily="18" charset="0"/>
              </a:rPr>
              <a:t>pivot</a:t>
            </a:r>
            <a:r>
              <a:rPr lang="en-US" altLang="en-US" sz="1600" dirty="0">
                <a:latin typeface="Times New Roman" pitchFamily="18" charset="0"/>
                <a:cs typeface="Times New Roman" pitchFamily="18" charset="0"/>
              </a:rPr>
              <a:t> into </a:t>
            </a:r>
            <a:r>
              <a:rPr lang="en-US" altLang="en-US" sz="1600" i="1" dirty="0">
                <a:latin typeface="Times New Roman" pitchFamily="18" charset="0"/>
                <a:cs typeface="Times New Roman" pitchFamily="18" charset="0"/>
              </a:rPr>
              <a:t>a</a:t>
            </a:r>
            <a:r>
              <a:rPr lang="en-US" altLang="en-US" sz="1600" dirty="0">
                <a:latin typeface="Times New Roman" pitchFamily="18" charset="0"/>
                <a:cs typeface="Times New Roman" pitchFamily="18" charset="0"/>
              </a:rPr>
              <a:t>[</a:t>
            </a:r>
            <a:r>
              <a:rPr lang="en-US" altLang="en-US" sz="1600" i="1" dirty="0">
                <a:latin typeface="Times New Roman" pitchFamily="18" charset="0"/>
                <a:cs typeface="Times New Roman" pitchFamily="18" charset="0"/>
              </a:rPr>
              <a:t>p</a:t>
            </a:r>
            <a:r>
              <a:rPr lang="en-US" altLang="en-US" sz="1600" dirty="0">
                <a:latin typeface="Times New Roman" pitchFamily="18" charset="0"/>
                <a:cs typeface="Times New Roman" pitchFamily="18" charset="0"/>
              </a:rPr>
              <a:t>+1].</a:t>
            </a:r>
            <a:br>
              <a:rPr lang="en-US" altLang="en-US" sz="1600" dirty="0">
                <a:latin typeface="Times New Roman" pitchFamily="18" charset="0"/>
                <a:cs typeface="Times New Roman" pitchFamily="18" charset="0"/>
              </a:rPr>
            </a:br>
            <a:r>
              <a:rPr lang="en-US" altLang="en-US" sz="1600" dirty="0">
                <a:latin typeface="Times New Roman" pitchFamily="18" charset="0"/>
                <a:cs typeface="Times New Roman" pitchFamily="18" charset="0"/>
              </a:rPr>
              <a:t>		2.1.2.	Increment </a:t>
            </a:r>
            <a:r>
              <a:rPr lang="en-US" altLang="en-US" sz="1600" i="1" dirty="0">
                <a:latin typeface="Times New Roman" pitchFamily="18" charset="0"/>
                <a:cs typeface="Times New Roman" pitchFamily="18" charset="0"/>
              </a:rPr>
              <a:t>p</a:t>
            </a:r>
            <a:r>
              <a:rPr lang="en-US" altLang="en-US" sz="1600" dirty="0">
                <a:latin typeface="Times New Roman" pitchFamily="18" charset="0"/>
                <a:cs typeface="Times New Roman" pitchFamily="18" charset="0"/>
              </a:rPr>
              <a:t>. </a:t>
            </a:r>
            <a:br>
              <a:rPr lang="en-US" altLang="en-US" sz="1600" dirty="0">
                <a:latin typeface="Times New Roman" pitchFamily="18" charset="0"/>
                <a:cs typeface="Times New Roman" pitchFamily="18" charset="0"/>
              </a:rPr>
            </a:br>
            <a:r>
              <a:rPr lang="en-US" altLang="en-US" sz="1600" dirty="0">
                <a:latin typeface="Times New Roman" pitchFamily="18" charset="0"/>
                <a:cs typeface="Times New Roman" pitchFamily="18" charset="0"/>
              </a:rPr>
              <a:t>3.	Terminate yielding </a:t>
            </a:r>
            <a:r>
              <a:rPr lang="en-US" altLang="en-US" sz="1600" i="1" dirty="0">
                <a:latin typeface="Times New Roman" pitchFamily="18" charset="0"/>
                <a:cs typeface="Times New Roman" pitchFamily="18" charset="0"/>
              </a:rPr>
              <a:t>p</a:t>
            </a:r>
            <a:r>
              <a:rPr lang="en-US" altLang="en-US" sz="1600" dirty="0">
                <a:latin typeface="Times New Roman" pitchFamily="18" charset="0"/>
                <a:cs typeface="Times New Roman" pitchFamily="18" charset="0"/>
              </a:rPr>
              <a:t>.</a:t>
            </a:r>
          </a:p>
        </p:txBody>
      </p:sp>
    </p:spTree>
    <p:extLst>
      <p:ext uri="{BB962C8B-B14F-4D97-AF65-F5344CB8AC3E}">
        <p14:creationId xmlns:p14="http://schemas.microsoft.com/office/powerpoint/2010/main" val="11242603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381000" y="381000"/>
            <a:ext cx="8229600" cy="990600"/>
          </a:xfrm>
        </p:spPr>
        <p:txBody>
          <a:bodyPr/>
          <a:lstStyle/>
          <a:p>
            <a:pPr eaLnBrk="1" hangingPunct="1"/>
            <a:r>
              <a:rPr lang="en-US" altLang="en-US" sz="3200" dirty="0">
                <a:cs typeface="Times New Roman" pitchFamily="18" charset="0"/>
              </a:rPr>
              <a:t>Quick-sort partitioning: animation</a:t>
            </a:r>
            <a:endParaRPr lang="en-GB" altLang="en-US" sz="3200" i="1" dirty="0">
              <a:cs typeface="Times New Roman" pitchFamily="18" charset="0"/>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38</a:t>
            </a:fld>
            <a:endParaRPr lang="en-US"/>
          </a:p>
        </p:txBody>
      </p:sp>
      <p:grpSp>
        <p:nvGrpSpPr>
          <p:cNvPr id="4" name="Group 3"/>
          <p:cNvGrpSpPr/>
          <p:nvPr/>
        </p:nvGrpSpPr>
        <p:grpSpPr>
          <a:xfrm>
            <a:off x="152400" y="1371600"/>
            <a:ext cx="8077200" cy="4953000"/>
            <a:chOff x="152400" y="1371600"/>
            <a:chExt cx="8077200" cy="4953000"/>
          </a:xfrm>
        </p:grpSpPr>
        <p:sp>
          <p:nvSpPr>
            <p:cNvPr id="5" name="Rectangle 4"/>
            <p:cNvSpPr/>
            <p:nvPr/>
          </p:nvSpPr>
          <p:spPr>
            <a:xfrm>
              <a:off x="152400" y="1371600"/>
              <a:ext cx="8077200" cy="4953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 name="Group 5"/>
            <p:cNvGrpSpPr/>
            <p:nvPr/>
          </p:nvGrpSpPr>
          <p:grpSpPr>
            <a:xfrm>
              <a:off x="304800" y="4800600"/>
              <a:ext cx="6946900" cy="361950"/>
              <a:chOff x="591749" y="4800600"/>
              <a:chExt cx="6946900" cy="361950"/>
            </a:xfrm>
          </p:grpSpPr>
          <p:sp>
            <p:nvSpPr>
              <p:cNvPr id="8" name="Rectangle 27"/>
              <p:cNvSpPr>
                <a:spLocks noChangeArrowheads="1"/>
              </p:cNvSpPr>
              <p:nvPr/>
            </p:nvSpPr>
            <p:spPr bwMode="auto">
              <a:xfrm>
                <a:off x="591749" y="4800600"/>
                <a:ext cx="715962"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fox</a:t>
                </a:r>
              </a:p>
            </p:txBody>
          </p:sp>
          <p:sp>
            <p:nvSpPr>
              <p:cNvPr id="9" name="Rectangle 29"/>
              <p:cNvSpPr>
                <a:spLocks noChangeArrowheads="1"/>
              </p:cNvSpPr>
              <p:nvPr/>
            </p:nvSpPr>
            <p:spPr bwMode="auto">
              <a:xfrm>
                <a:off x="2099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pig</a:t>
                </a:r>
              </a:p>
            </p:txBody>
          </p:sp>
          <p:sp>
            <p:nvSpPr>
              <p:cNvPr id="10" name="Rectangle 30"/>
              <p:cNvSpPr>
                <a:spLocks noChangeArrowheads="1"/>
              </p:cNvSpPr>
              <p:nvPr/>
            </p:nvSpPr>
            <p:spPr bwMode="auto">
              <a:xfrm>
                <a:off x="2861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cat</a:t>
                </a:r>
              </a:p>
            </p:txBody>
          </p:sp>
          <p:sp>
            <p:nvSpPr>
              <p:cNvPr id="11" name="Rectangle 35"/>
              <p:cNvSpPr>
                <a:spLocks noChangeArrowheads="1"/>
              </p:cNvSpPr>
              <p:nvPr/>
            </p:nvSpPr>
            <p:spPr bwMode="auto">
              <a:xfrm>
                <a:off x="4439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lion</a:t>
                </a:r>
              </a:p>
            </p:txBody>
          </p:sp>
          <p:sp>
            <p:nvSpPr>
              <p:cNvPr id="12" name="Rectangle 36"/>
              <p:cNvSpPr>
                <a:spLocks noChangeArrowheads="1"/>
              </p:cNvSpPr>
              <p:nvPr/>
            </p:nvSpPr>
            <p:spPr bwMode="auto">
              <a:xfrm>
                <a:off x="5201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tiger</a:t>
                </a:r>
              </a:p>
            </p:txBody>
          </p:sp>
          <p:sp>
            <p:nvSpPr>
              <p:cNvPr id="13" name="Rectangle 37"/>
              <p:cNvSpPr>
                <a:spLocks noChangeArrowheads="1"/>
              </p:cNvSpPr>
              <p:nvPr/>
            </p:nvSpPr>
            <p:spPr bwMode="auto">
              <a:xfrm>
                <a:off x="3649273"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rat</a:t>
                </a:r>
              </a:p>
            </p:txBody>
          </p:sp>
          <p:sp>
            <p:nvSpPr>
              <p:cNvPr id="14" name="Rectangle 40"/>
              <p:cNvSpPr>
                <a:spLocks noChangeArrowheads="1"/>
              </p:cNvSpPr>
              <p:nvPr/>
            </p:nvSpPr>
            <p:spPr bwMode="auto">
              <a:xfrm>
                <a:off x="6746486"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dog</a:t>
                </a:r>
              </a:p>
            </p:txBody>
          </p:sp>
          <p:sp>
            <p:nvSpPr>
              <p:cNvPr id="15" name="Rectangle 42"/>
              <p:cNvSpPr>
                <a:spLocks noChangeArrowheads="1"/>
              </p:cNvSpPr>
              <p:nvPr/>
            </p:nvSpPr>
            <p:spPr bwMode="auto">
              <a:xfrm>
                <a:off x="5955911"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goat</a:t>
                </a:r>
              </a:p>
            </p:txBody>
          </p:sp>
          <p:sp>
            <p:nvSpPr>
              <p:cNvPr id="16" name="Rectangle 27"/>
              <p:cNvSpPr>
                <a:spLocks noChangeArrowheads="1"/>
              </p:cNvSpPr>
              <p:nvPr/>
            </p:nvSpPr>
            <p:spPr bwMode="auto">
              <a:xfrm>
                <a:off x="1307710"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cow</a:t>
                </a:r>
              </a:p>
            </p:txBody>
          </p:sp>
        </p:grpSp>
        <p:sp>
          <p:nvSpPr>
            <p:cNvPr id="7" name="TextBox 6"/>
            <p:cNvSpPr txBox="1"/>
            <p:nvPr/>
          </p:nvSpPr>
          <p:spPr>
            <a:xfrm>
              <a:off x="304800" y="1371600"/>
              <a:ext cx="7391400" cy="2977738"/>
            </a:xfrm>
            <a:prstGeom prst="rect">
              <a:avLst/>
            </a:prstGeom>
            <a:noFill/>
          </p:spPr>
          <p:txBody>
            <a:bodyPr wrap="square" rtlCol="0">
              <a:spAutoFit/>
            </a:bodyPr>
            <a:lstStyle/>
            <a:p>
              <a:pPr>
                <a:buClr>
                  <a:schemeClr val="tx1"/>
                </a:buClr>
                <a:tabLst>
                  <a:tab pos="723900" algn="l"/>
                  <a:tab pos="1257300" algn="l"/>
                  <a:tab pos="1968500" algn="l"/>
                </a:tabLst>
              </a:pPr>
              <a:r>
                <a:rPr lang="en-US" altLang="en-US" dirty="0">
                  <a:latin typeface="Times New Roman" pitchFamily="18" charset="0"/>
                  <a:cs typeface="Times New Roman" pitchFamily="18" charset="0"/>
                </a:rPr>
                <a:t>To partition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such that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are all less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are all greater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pPr>
                <a:spcBef>
                  <a:spcPts val="900"/>
                </a:spcBef>
                <a:buClr>
                  <a:schemeClr val="tx1"/>
                </a:buClr>
                <a:tabLst>
                  <a:tab pos="723900" algn="l"/>
                  <a:tab pos="1257300" algn="l"/>
                  <a:tab pos="1968500" algn="l"/>
                </a:tabLst>
              </a:pPr>
              <a:r>
                <a:rPr lang="en-US" altLang="en-US" dirty="0">
                  <a:latin typeface="Times New Roman" pitchFamily="18" charset="0"/>
                  <a:cs typeface="Times New Roman" pitchFamily="18" charset="0"/>
                </a:rPr>
                <a:t>1.	Let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be the element in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 and set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2.	For </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+1, …, </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repeat: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	If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is less than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2.1.1.	Copy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2.1.2.	Increment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3.	Terminate yielding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endParaRPr lang="en-GB" dirty="0"/>
            </a:p>
          </p:txBody>
        </p:sp>
      </p:grpSp>
      <p:grpSp>
        <p:nvGrpSpPr>
          <p:cNvPr id="17" name="Group 16"/>
          <p:cNvGrpSpPr/>
          <p:nvPr/>
        </p:nvGrpSpPr>
        <p:grpSpPr>
          <a:xfrm>
            <a:off x="152400" y="1371600"/>
            <a:ext cx="8077200" cy="4953000"/>
            <a:chOff x="152400" y="1371600"/>
            <a:chExt cx="8077200" cy="4953000"/>
          </a:xfrm>
        </p:grpSpPr>
        <p:sp>
          <p:nvSpPr>
            <p:cNvPr id="18" name="Rectangle 17"/>
            <p:cNvSpPr/>
            <p:nvPr/>
          </p:nvSpPr>
          <p:spPr>
            <a:xfrm>
              <a:off x="152400" y="1371600"/>
              <a:ext cx="8077200" cy="4953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9" name="Group 18"/>
            <p:cNvGrpSpPr/>
            <p:nvPr/>
          </p:nvGrpSpPr>
          <p:grpSpPr>
            <a:xfrm>
              <a:off x="304800" y="4800600"/>
              <a:ext cx="6946900" cy="361950"/>
              <a:chOff x="591749" y="4800600"/>
              <a:chExt cx="6946900" cy="361950"/>
            </a:xfrm>
          </p:grpSpPr>
          <p:sp>
            <p:nvSpPr>
              <p:cNvPr id="21" name="Rectangle 27"/>
              <p:cNvSpPr>
                <a:spLocks noChangeArrowheads="1"/>
              </p:cNvSpPr>
              <p:nvPr/>
            </p:nvSpPr>
            <p:spPr bwMode="auto">
              <a:xfrm>
                <a:off x="591749" y="4800600"/>
                <a:ext cx="715962"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fox</a:t>
                </a:r>
              </a:p>
            </p:txBody>
          </p:sp>
          <p:sp>
            <p:nvSpPr>
              <p:cNvPr id="22" name="Rectangle 29"/>
              <p:cNvSpPr>
                <a:spLocks noChangeArrowheads="1"/>
              </p:cNvSpPr>
              <p:nvPr/>
            </p:nvSpPr>
            <p:spPr bwMode="auto">
              <a:xfrm>
                <a:off x="2099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pig</a:t>
                </a:r>
              </a:p>
            </p:txBody>
          </p:sp>
          <p:sp>
            <p:nvSpPr>
              <p:cNvPr id="23" name="Rectangle 30"/>
              <p:cNvSpPr>
                <a:spLocks noChangeArrowheads="1"/>
              </p:cNvSpPr>
              <p:nvPr/>
            </p:nvSpPr>
            <p:spPr bwMode="auto">
              <a:xfrm>
                <a:off x="2861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cat</a:t>
                </a:r>
              </a:p>
            </p:txBody>
          </p:sp>
          <p:sp>
            <p:nvSpPr>
              <p:cNvPr id="24" name="Rectangle 35"/>
              <p:cNvSpPr>
                <a:spLocks noChangeArrowheads="1"/>
              </p:cNvSpPr>
              <p:nvPr/>
            </p:nvSpPr>
            <p:spPr bwMode="auto">
              <a:xfrm>
                <a:off x="4439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lion</a:t>
                </a:r>
              </a:p>
            </p:txBody>
          </p:sp>
          <p:sp>
            <p:nvSpPr>
              <p:cNvPr id="25" name="Rectangle 36"/>
              <p:cNvSpPr>
                <a:spLocks noChangeArrowheads="1"/>
              </p:cNvSpPr>
              <p:nvPr/>
            </p:nvSpPr>
            <p:spPr bwMode="auto">
              <a:xfrm>
                <a:off x="5201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tiger</a:t>
                </a:r>
              </a:p>
            </p:txBody>
          </p:sp>
          <p:sp>
            <p:nvSpPr>
              <p:cNvPr id="26" name="Rectangle 37"/>
              <p:cNvSpPr>
                <a:spLocks noChangeArrowheads="1"/>
              </p:cNvSpPr>
              <p:nvPr/>
            </p:nvSpPr>
            <p:spPr bwMode="auto">
              <a:xfrm>
                <a:off x="3649273"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rat</a:t>
                </a:r>
              </a:p>
            </p:txBody>
          </p:sp>
          <p:sp>
            <p:nvSpPr>
              <p:cNvPr id="27" name="Rectangle 40"/>
              <p:cNvSpPr>
                <a:spLocks noChangeArrowheads="1"/>
              </p:cNvSpPr>
              <p:nvPr/>
            </p:nvSpPr>
            <p:spPr bwMode="auto">
              <a:xfrm>
                <a:off x="6746486"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dog</a:t>
                </a:r>
              </a:p>
            </p:txBody>
          </p:sp>
          <p:sp>
            <p:nvSpPr>
              <p:cNvPr id="28" name="Rectangle 42"/>
              <p:cNvSpPr>
                <a:spLocks noChangeArrowheads="1"/>
              </p:cNvSpPr>
              <p:nvPr/>
            </p:nvSpPr>
            <p:spPr bwMode="auto">
              <a:xfrm>
                <a:off x="5955911"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goat</a:t>
                </a:r>
              </a:p>
            </p:txBody>
          </p:sp>
          <p:sp>
            <p:nvSpPr>
              <p:cNvPr id="29" name="Rectangle 27"/>
              <p:cNvSpPr>
                <a:spLocks noChangeArrowheads="1"/>
              </p:cNvSpPr>
              <p:nvPr/>
            </p:nvSpPr>
            <p:spPr bwMode="auto">
              <a:xfrm>
                <a:off x="1307710"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cow</a:t>
                </a:r>
              </a:p>
            </p:txBody>
          </p:sp>
        </p:grpSp>
        <p:sp>
          <p:nvSpPr>
            <p:cNvPr id="20" name="TextBox 19"/>
            <p:cNvSpPr txBox="1"/>
            <p:nvPr/>
          </p:nvSpPr>
          <p:spPr>
            <a:xfrm>
              <a:off x="304800" y="1371600"/>
              <a:ext cx="7391400" cy="2977738"/>
            </a:xfrm>
            <a:prstGeom prst="rect">
              <a:avLst/>
            </a:prstGeom>
            <a:noFill/>
          </p:spPr>
          <p:txBody>
            <a:bodyPr wrap="square" rtlCol="0">
              <a:spAutoFit/>
            </a:bodyPr>
            <a:lstStyle/>
            <a:p>
              <a:pPr>
                <a:buClr>
                  <a:schemeClr val="tx1"/>
                </a:buClr>
                <a:tabLst>
                  <a:tab pos="723900" algn="l"/>
                  <a:tab pos="1257300" algn="l"/>
                  <a:tab pos="1968500" algn="l"/>
                </a:tabLst>
              </a:pPr>
              <a:r>
                <a:rPr lang="en-US" altLang="en-US" dirty="0">
                  <a:latin typeface="Times New Roman" pitchFamily="18" charset="0"/>
                  <a:cs typeface="Times New Roman" pitchFamily="18" charset="0"/>
                </a:rPr>
                <a:t>To partition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such that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are all less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are all greater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pPr>
                <a:spcBef>
                  <a:spcPts val="900"/>
                </a:spcBef>
                <a:buClr>
                  <a:schemeClr val="tx1"/>
                </a:buClr>
                <a:tabLst>
                  <a:tab pos="723900" algn="l"/>
                  <a:tab pos="1257300" algn="l"/>
                  <a:tab pos="1968500" algn="l"/>
                </a:tabLst>
              </a:pPr>
              <a:r>
                <a:rPr lang="en-US" altLang="en-US" dirty="0">
                  <a:latin typeface="Times New Roman" pitchFamily="18" charset="0"/>
                  <a:cs typeface="Times New Roman" pitchFamily="18" charset="0"/>
                </a:rPr>
                <a:t>1.	Let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be the element in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 and set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2.	For </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+1, …, </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repeat: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	If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is less than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2.1.1.	Copy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2.1.2.	Increment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3.	Terminate yielding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endParaRPr lang="en-GB" dirty="0"/>
            </a:p>
          </p:txBody>
        </p:sp>
      </p:grpSp>
      <p:grpSp>
        <p:nvGrpSpPr>
          <p:cNvPr id="30" name="Group 29"/>
          <p:cNvGrpSpPr/>
          <p:nvPr/>
        </p:nvGrpSpPr>
        <p:grpSpPr>
          <a:xfrm>
            <a:off x="152400" y="1371600"/>
            <a:ext cx="8077200" cy="4953000"/>
            <a:chOff x="152400" y="1371600"/>
            <a:chExt cx="8077200" cy="4953000"/>
          </a:xfrm>
        </p:grpSpPr>
        <p:grpSp>
          <p:nvGrpSpPr>
            <p:cNvPr id="31" name="Group 30"/>
            <p:cNvGrpSpPr/>
            <p:nvPr/>
          </p:nvGrpSpPr>
          <p:grpSpPr>
            <a:xfrm>
              <a:off x="152400" y="1371600"/>
              <a:ext cx="8077200" cy="4953000"/>
              <a:chOff x="152400" y="1371600"/>
              <a:chExt cx="8077200" cy="4953000"/>
            </a:xfrm>
          </p:grpSpPr>
          <p:sp>
            <p:nvSpPr>
              <p:cNvPr id="34" name="Rectangle 33"/>
              <p:cNvSpPr/>
              <p:nvPr/>
            </p:nvSpPr>
            <p:spPr>
              <a:xfrm>
                <a:off x="152400" y="1371600"/>
                <a:ext cx="8077200" cy="4953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5" name="Group 34"/>
              <p:cNvGrpSpPr/>
              <p:nvPr/>
            </p:nvGrpSpPr>
            <p:grpSpPr>
              <a:xfrm>
                <a:off x="304800" y="4800600"/>
                <a:ext cx="6946900" cy="361950"/>
                <a:chOff x="591749" y="4800600"/>
                <a:chExt cx="6946900" cy="361950"/>
              </a:xfrm>
            </p:grpSpPr>
            <p:sp>
              <p:nvSpPr>
                <p:cNvPr id="37" name="Rectangle 27"/>
                <p:cNvSpPr>
                  <a:spLocks noChangeArrowheads="1"/>
                </p:cNvSpPr>
                <p:nvPr/>
              </p:nvSpPr>
              <p:spPr bwMode="auto">
                <a:xfrm>
                  <a:off x="591749" y="4800600"/>
                  <a:ext cx="715962"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fox</a:t>
                  </a:r>
                </a:p>
              </p:txBody>
            </p:sp>
            <p:sp>
              <p:nvSpPr>
                <p:cNvPr id="38" name="Rectangle 29"/>
                <p:cNvSpPr>
                  <a:spLocks noChangeArrowheads="1"/>
                </p:cNvSpPr>
                <p:nvPr/>
              </p:nvSpPr>
              <p:spPr bwMode="auto">
                <a:xfrm>
                  <a:off x="2099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pig</a:t>
                  </a:r>
                </a:p>
              </p:txBody>
            </p:sp>
            <p:sp>
              <p:nvSpPr>
                <p:cNvPr id="39" name="Rectangle 30"/>
                <p:cNvSpPr>
                  <a:spLocks noChangeArrowheads="1"/>
                </p:cNvSpPr>
                <p:nvPr/>
              </p:nvSpPr>
              <p:spPr bwMode="auto">
                <a:xfrm>
                  <a:off x="2861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cat</a:t>
                  </a:r>
                </a:p>
              </p:txBody>
            </p:sp>
            <p:sp>
              <p:nvSpPr>
                <p:cNvPr id="40" name="Rectangle 35"/>
                <p:cNvSpPr>
                  <a:spLocks noChangeArrowheads="1"/>
                </p:cNvSpPr>
                <p:nvPr/>
              </p:nvSpPr>
              <p:spPr bwMode="auto">
                <a:xfrm>
                  <a:off x="4439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lion</a:t>
                  </a:r>
                </a:p>
              </p:txBody>
            </p:sp>
            <p:sp>
              <p:nvSpPr>
                <p:cNvPr id="41" name="Rectangle 36"/>
                <p:cNvSpPr>
                  <a:spLocks noChangeArrowheads="1"/>
                </p:cNvSpPr>
                <p:nvPr/>
              </p:nvSpPr>
              <p:spPr bwMode="auto">
                <a:xfrm>
                  <a:off x="5201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tiger</a:t>
                  </a:r>
                </a:p>
              </p:txBody>
            </p:sp>
            <p:sp>
              <p:nvSpPr>
                <p:cNvPr id="42" name="Rectangle 37"/>
                <p:cNvSpPr>
                  <a:spLocks noChangeArrowheads="1"/>
                </p:cNvSpPr>
                <p:nvPr/>
              </p:nvSpPr>
              <p:spPr bwMode="auto">
                <a:xfrm>
                  <a:off x="3649273"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rat</a:t>
                  </a:r>
                </a:p>
              </p:txBody>
            </p:sp>
            <p:sp>
              <p:nvSpPr>
                <p:cNvPr id="43" name="Rectangle 40"/>
                <p:cNvSpPr>
                  <a:spLocks noChangeArrowheads="1"/>
                </p:cNvSpPr>
                <p:nvPr/>
              </p:nvSpPr>
              <p:spPr bwMode="auto">
                <a:xfrm>
                  <a:off x="6746486"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dog</a:t>
                  </a:r>
                </a:p>
              </p:txBody>
            </p:sp>
            <p:sp>
              <p:nvSpPr>
                <p:cNvPr id="44" name="Rectangle 42"/>
                <p:cNvSpPr>
                  <a:spLocks noChangeArrowheads="1"/>
                </p:cNvSpPr>
                <p:nvPr/>
              </p:nvSpPr>
              <p:spPr bwMode="auto">
                <a:xfrm>
                  <a:off x="5955911"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goat</a:t>
                  </a:r>
                </a:p>
              </p:txBody>
            </p:sp>
            <p:sp>
              <p:nvSpPr>
                <p:cNvPr id="45" name="Rectangle 27"/>
                <p:cNvSpPr>
                  <a:spLocks noChangeArrowheads="1"/>
                </p:cNvSpPr>
                <p:nvPr/>
              </p:nvSpPr>
              <p:spPr bwMode="auto">
                <a:xfrm>
                  <a:off x="1307710"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cow</a:t>
                  </a:r>
                </a:p>
              </p:txBody>
            </p:sp>
          </p:grpSp>
          <p:sp>
            <p:nvSpPr>
              <p:cNvPr id="36" name="TextBox 35"/>
              <p:cNvSpPr txBox="1"/>
              <p:nvPr/>
            </p:nvSpPr>
            <p:spPr>
              <a:xfrm>
                <a:off x="304800" y="1371600"/>
                <a:ext cx="7391400" cy="2977738"/>
              </a:xfrm>
              <a:prstGeom prst="rect">
                <a:avLst/>
              </a:prstGeom>
              <a:noFill/>
            </p:spPr>
            <p:txBody>
              <a:bodyPr wrap="square" rtlCol="0">
                <a:spAutoFit/>
              </a:bodyPr>
              <a:lstStyle/>
              <a:p>
                <a:pPr>
                  <a:buClr>
                    <a:schemeClr val="tx1"/>
                  </a:buClr>
                  <a:tabLst>
                    <a:tab pos="723900" algn="l"/>
                    <a:tab pos="1257300" algn="l"/>
                    <a:tab pos="1968500" algn="l"/>
                  </a:tabLst>
                </a:pPr>
                <a:r>
                  <a:rPr lang="en-US" altLang="en-US" dirty="0">
                    <a:latin typeface="Times New Roman" pitchFamily="18" charset="0"/>
                    <a:cs typeface="Times New Roman" pitchFamily="18" charset="0"/>
                  </a:rPr>
                  <a:t>To partition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such that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are all less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are all greater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pPr>
                  <a:spcBef>
                    <a:spcPts val="900"/>
                  </a:spcBef>
                  <a:buClr>
                    <a:schemeClr val="tx1"/>
                  </a:buClr>
                  <a:tabLst>
                    <a:tab pos="723900" algn="l"/>
                    <a:tab pos="1257300" algn="l"/>
                    <a:tab pos="1968500" algn="l"/>
                  </a:tabLst>
                </a:pPr>
                <a:r>
                  <a:rPr lang="en-US" altLang="en-US" dirty="0">
                    <a:latin typeface="Times New Roman" pitchFamily="18" charset="0"/>
                    <a:cs typeface="Times New Roman" pitchFamily="18" charset="0"/>
                  </a:rPr>
                  <a:t>1.	Let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be the element in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 and set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2.	</a:t>
                </a:r>
                <a:r>
                  <a:rPr lang="en-US" altLang="en-US" dirty="0">
                    <a:solidFill>
                      <a:srgbClr val="FF0000"/>
                    </a:solidFill>
                    <a:latin typeface="Times New Roman" pitchFamily="18" charset="0"/>
                    <a:cs typeface="Times New Roman" pitchFamily="18" charset="0"/>
                  </a:rPr>
                  <a:t>For </a:t>
                </a:r>
                <a:r>
                  <a:rPr lang="en-US" altLang="en-US" i="1" dirty="0">
                    <a:solidFill>
                      <a:srgbClr val="FF0000"/>
                    </a:solidFill>
                    <a:latin typeface="Times New Roman" pitchFamily="18" charset="0"/>
                    <a:cs typeface="Times New Roman" pitchFamily="18" charset="0"/>
                  </a:rPr>
                  <a:t>r</a:t>
                </a:r>
                <a:r>
                  <a:rPr lang="en-US" altLang="en-US" dirty="0">
                    <a:solidFill>
                      <a:srgbClr val="FF0000"/>
                    </a:solidFill>
                    <a:latin typeface="Times New Roman" pitchFamily="18" charset="0"/>
                    <a:cs typeface="Times New Roman" pitchFamily="18" charset="0"/>
                  </a:rPr>
                  <a:t> = </a:t>
                </a:r>
                <a:r>
                  <a:rPr lang="en-US" altLang="en-US" i="1" dirty="0">
                    <a:solidFill>
                      <a:srgbClr val="FF0000"/>
                    </a:solidFill>
                    <a:latin typeface="Times New Roman" pitchFamily="18" charset="0"/>
                    <a:cs typeface="Times New Roman" pitchFamily="18" charset="0"/>
                  </a:rPr>
                  <a:t>left</a:t>
                </a:r>
                <a:r>
                  <a:rPr lang="en-US" altLang="en-US" dirty="0">
                    <a:solidFill>
                      <a:srgbClr val="FF0000"/>
                    </a:solidFill>
                    <a:latin typeface="Times New Roman" pitchFamily="18" charset="0"/>
                    <a:cs typeface="Times New Roman" pitchFamily="18" charset="0"/>
                  </a:rPr>
                  <a:t>+1, …, </a:t>
                </a:r>
                <a:r>
                  <a:rPr lang="en-US" altLang="en-US" i="1" dirty="0">
                    <a:solidFill>
                      <a:srgbClr val="FF0000"/>
                    </a:solidFill>
                    <a:latin typeface="Times New Roman" pitchFamily="18" charset="0"/>
                    <a:cs typeface="Times New Roman" pitchFamily="18" charset="0"/>
                  </a:rPr>
                  <a:t>right</a:t>
                </a:r>
                <a:r>
                  <a:rPr lang="en-US" altLang="en-US" dirty="0">
                    <a:solidFill>
                      <a:srgbClr val="FF0000"/>
                    </a:solidFill>
                    <a:latin typeface="Times New Roman" pitchFamily="18" charset="0"/>
                    <a:cs typeface="Times New Roman" pitchFamily="18" charset="0"/>
                  </a:rPr>
                  <a:t>, repeat:</a:t>
                </a:r>
                <a:br>
                  <a:rPr lang="en-US" altLang="en-US" dirty="0">
                    <a:solidFill>
                      <a:srgbClr val="FF0000"/>
                    </a:solidFill>
                    <a:latin typeface="Times New Roman" pitchFamily="18" charset="0"/>
                    <a:cs typeface="Times New Roman" pitchFamily="18" charset="0"/>
                  </a:rPr>
                </a:br>
                <a:r>
                  <a:rPr lang="en-US" altLang="en-US" dirty="0">
                    <a:latin typeface="Times New Roman" pitchFamily="18" charset="0"/>
                    <a:cs typeface="Times New Roman" pitchFamily="18" charset="0"/>
                  </a:rPr>
                  <a:t>	2.1.	If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is less than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2.1.1.	Copy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2.1.2.	Increment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3.	Terminate yielding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endParaRPr lang="en-GB" dirty="0"/>
              </a:p>
            </p:txBody>
          </p:sp>
        </p:grpSp>
        <p:sp>
          <p:nvSpPr>
            <p:cNvPr id="32" name="TextBox 31"/>
            <p:cNvSpPr txBox="1"/>
            <p:nvPr/>
          </p:nvSpPr>
          <p:spPr>
            <a:xfrm>
              <a:off x="304800" y="5486400"/>
              <a:ext cx="2057400" cy="646331"/>
            </a:xfrm>
            <a:prstGeom prst="rect">
              <a:avLst/>
            </a:prstGeom>
            <a:noFill/>
          </p:spPr>
          <p:txBody>
            <a:bodyPr wrap="square" rtlCol="0">
              <a:spAutoFit/>
            </a:bodyPr>
            <a:lstStyle/>
            <a:p>
              <a:r>
                <a:rPr lang="en-GB" dirty="0"/>
                <a:t>left = 0</a:t>
              </a:r>
            </a:p>
            <a:p>
              <a:r>
                <a:rPr lang="en-GB" dirty="0"/>
                <a:t>right = 8</a:t>
              </a:r>
            </a:p>
          </p:txBody>
        </p:sp>
        <p:sp>
          <p:nvSpPr>
            <p:cNvPr id="33" name="TextBox 32"/>
            <p:cNvSpPr txBox="1"/>
            <p:nvPr/>
          </p:nvSpPr>
          <p:spPr>
            <a:xfrm>
              <a:off x="5408299" y="5334000"/>
              <a:ext cx="2057400" cy="923330"/>
            </a:xfrm>
            <a:prstGeom prst="rect">
              <a:avLst/>
            </a:prstGeom>
            <a:noFill/>
          </p:spPr>
          <p:txBody>
            <a:bodyPr wrap="square" rtlCol="0">
              <a:spAutoFit/>
            </a:bodyPr>
            <a:lstStyle/>
            <a:p>
              <a:r>
                <a:rPr lang="en-GB" dirty="0"/>
                <a:t>pivot = fox</a:t>
              </a:r>
            </a:p>
            <a:p>
              <a:r>
                <a:rPr lang="en-GB" dirty="0"/>
                <a:t>p=0</a:t>
              </a:r>
            </a:p>
            <a:p>
              <a:r>
                <a:rPr lang="en-GB" dirty="0">
                  <a:solidFill>
                    <a:srgbClr val="FF0000"/>
                  </a:solidFill>
                </a:rPr>
                <a:t>r=0</a:t>
              </a:r>
            </a:p>
          </p:txBody>
        </p:sp>
      </p:grpSp>
      <p:grpSp>
        <p:nvGrpSpPr>
          <p:cNvPr id="46" name="Group 45"/>
          <p:cNvGrpSpPr/>
          <p:nvPr/>
        </p:nvGrpSpPr>
        <p:grpSpPr>
          <a:xfrm>
            <a:off x="152400" y="1371600"/>
            <a:ext cx="8077200" cy="4953000"/>
            <a:chOff x="152400" y="1371600"/>
            <a:chExt cx="8077200" cy="4953000"/>
          </a:xfrm>
        </p:grpSpPr>
        <p:grpSp>
          <p:nvGrpSpPr>
            <p:cNvPr id="47" name="Group 46"/>
            <p:cNvGrpSpPr/>
            <p:nvPr/>
          </p:nvGrpSpPr>
          <p:grpSpPr>
            <a:xfrm>
              <a:off x="152400" y="1371600"/>
              <a:ext cx="8077200" cy="4953000"/>
              <a:chOff x="152400" y="1371600"/>
              <a:chExt cx="8077200" cy="4953000"/>
            </a:xfrm>
          </p:grpSpPr>
          <p:sp>
            <p:nvSpPr>
              <p:cNvPr id="50" name="Rectangle 49"/>
              <p:cNvSpPr/>
              <p:nvPr/>
            </p:nvSpPr>
            <p:spPr>
              <a:xfrm>
                <a:off x="152400" y="1371600"/>
                <a:ext cx="8077200" cy="4953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1" name="Group 50"/>
              <p:cNvGrpSpPr/>
              <p:nvPr/>
            </p:nvGrpSpPr>
            <p:grpSpPr>
              <a:xfrm>
                <a:off x="304800" y="4800600"/>
                <a:ext cx="6946900" cy="361950"/>
                <a:chOff x="591749" y="4800600"/>
                <a:chExt cx="6946900" cy="361950"/>
              </a:xfrm>
            </p:grpSpPr>
            <p:sp>
              <p:nvSpPr>
                <p:cNvPr id="53" name="Rectangle 27"/>
                <p:cNvSpPr>
                  <a:spLocks noChangeArrowheads="1"/>
                </p:cNvSpPr>
                <p:nvPr/>
              </p:nvSpPr>
              <p:spPr bwMode="auto">
                <a:xfrm>
                  <a:off x="591749" y="4800600"/>
                  <a:ext cx="715962"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fox</a:t>
                  </a:r>
                </a:p>
              </p:txBody>
            </p:sp>
            <p:sp>
              <p:nvSpPr>
                <p:cNvPr id="54" name="Rectangle 29"/>
                <p:cNvSpPr>
                  <a:spLocks noChangeArrowheads="1"/>
                </p:cNvSpPr>
                <p:nvPr/>
              </p:nvSpPr>
              <p:spPr bwMode="auto">
                <a:xfrm>
                  <a:off x="2099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pig</a:t>
                  </a:r>
                </a:p>
              </p:txBody>
            </p:sp>
            <p:sp>
              <p:nvSpPr>
                <p:cNvPr id="55" name="Rectangle 30"/>
                <p:cNvSpPr>
                  <a:spLocks noChangeArrowheads="1"/>
                </p:cNvSpPr>
                <p:nvPr/>
              </p:nvSpPr>
              <p:spPr bwMode="auto">
                <a:xfrm>
                  <a:off x="2861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cat</a:t>
                  </a:r>
                </a:p>
              </p:txBody>
            </p:sp>
            <p:sp>
              <p:nvSpPr>
                <p:cNvPr id="56" name="Rectangle 35"/>
                <p:cNvSpPr>
                  <a:spLocks noChangeArrowheads="1"/>
                </p:cNvSpPr>
                <p:nvPr/>
              </p:nvSpPr>
              <p:spPr bwMode="auto">
                <a:xfrm>
                  <a:off x="4439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lion</a:t>
                  </a:r>
                </a:p>
              </p:txBody>
            </p:sp>
            <p:sp>
              <p:nvSpPr>
                <p:cNvPr id="57" name="Rectangle 36"/>
                <p:cNvSpPr>
                  <a:spLocks noChangeArrowheads="1"/>
                </p:cNvSpPr>
                <p:nvPr/>
              </p:nvSpPr>
              <p:spPr bwMode="auto">
                <a:xfrm>
                  <a:off x="5201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tiger</a:t>
                  </a:r>
                </a:p>
              </p:txBody>
            </p:sp>
            <p:sp>
              <p:nvSpPr>
                <p:cNvPr id="58" name="Rectangle 37"/>
                <p:cNvSpPr>
                  <a:spLocks noChangeArrowheads="1"/>
                </p:cNvSpPr>
                <p:nvPr/>
              </p:nvSpPr>
              <p:spPr bwMode="auto">
                <a:xfrm>
                  <a:off x="3649273"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rat</a:t>
                  </a:r>
                </a:p>
              </p:txBody>
            </p:sp>
            <p:sp>
              <p:nvSpPr>
                <p:cNvPr id="59" name="Rectangle 40"/>
                <p:cNvSpPr>
                  <a:spLocks noChangeArrowheads="1"/>
                </p:cNvSpPr>
                <p:nvPr/>
              </p:nvSpPr>
              <p:spPr bwMode="auto">
                <a:xfrm>
                  <a:off x="6746486"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dog</a:t>
                  </a:r>
                </a:p>
              </p:txBody>
            </p:sp>
            <p:sp>
              <p:nvSpPr>
                <p:cNvPr id="60" name="Rectangle 42"/>
                <p:cNvSpPr>
                  <a:spLocks noChangeArrowheads="1"/>
                </p:cNvSpPr>
                <p:nvPr/>
              </p:nvSpPr>
              <p:spPr bwMode="auto">
                <a:xfrm>
                  <a:off x="5955911"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goat</a:t>
                  </a:r>
                </a:p>
              </p:txBody>
            </p:sp>
            <p:sp>
              <p:nvSpPr>
                <p:cNvPr id="61" name="Rectangle 27"/>
                <p:cNvSpPr>
                  <a:spLocks noChangeArrowheads="1"/>
                </p:cNvSpPr>
                <p:nvPr/>
              </p:nvSpPr>
              <p:spPr bwMode="auto">
                <a:xfrm>
                  <a:off x="1307710"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cow</a:t>
                  </a:r>
                </a:p>
              </p:txBody>
            </p:sp>
          </p:grpSp>
          <p:sp>
            <p:nvSpPr>
              <p:cNvPr id="52" name="TextBox 51"/>
              <p:cNvSpPr txBox="1"/>
              <p:nvPr/>
            </p:nvSpPr>
            <p:spPr>
              <a:xfrm>
                <a:off x="304800" y="1371600"/>
                <a:ext cx="7391400" cy="2977738"/>
              </a:xfrm>
              <a:prstGeom prst="rect">
                <a:avLst/>
              </a:prstGeom>
              <a:noFill/>
            </p:spPr>
            <p:txBody>
              <a:bodyPr wrap="square" rtlCol="0">
                <a:spAutoFit/>
              </a:bodyPr>
              <a:lstStyle/>
              <a:p>
                <a:pPr>
                  <a:buClr>
                    <a:schemeClr val="tx1"/>
                  </a:buClr>
                  <a:tabLst>
                    <a:tab pos="723900" algn="l"/>
                    <a:tab pos="1257300" algn="l"/>
                    <a:tab pos="1968500" algn="l"/>
                  </a:tabLst>
                </a:pPr>
                <a:r>
                  <a:rPr lang="en-US" altLang="en-US" dirty="0">
                    <a:latin typeface="Times New Roman" pitchFamily="18" charset="0"/>
                    <a:cs typeface="Times New Roman" pitchFamily="18" charset="0"/>
                  </a:rPr>
                  <a:t>To partition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such that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are all less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are all greater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pPr>
                  <a:spcBef>
                    <a:spcPts val="900"/>
                  </a:spcBef>
                  <a:buClr>
                    <a:schemeClr val="tx1"/>
                  </a:buClr>
                  <a:tabLst>
                    <a:tab pos="723900" algn="l"/>
                    <a:tab pos="1257300" algn="l"/>
                    <a:tab pos="1968500" algn="l"/>
                  </a:tabLst>
                </a:pPr>
                <a:r>
                  <a:rPr lang="en-US" altLang="en-US" dirty="0">
                    <a:latin typeface="Times New Roman" pitchFamily="18" charset="0"/>
                    <a:cs typeface="Times New Roman" pitchFamily="18" charset="0"/>
                  </a:rPr>
                  <a:t>1.	Let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be the element in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 and set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2.	</a:t>
                </a:r>
                <a:r>
                  <a:rPr lang="en-US" altLang="en-US" dirty="0">
                    <a:solidFill>
                      <a:srgbClr val="FF0000"/>
                    </a:solidFill>
                    <a:latin typeface="Times New Roman" pitchFamily="18" charset="0"/>
                    <a:cs typeface="Times New Roman" pitchFamily="18" charset="0"/>
                  </a:rPr>
                  <a:t>For </a:t>
                </a:r>
                <a:r>
                  <a:rPr lang="en-US" altLang="en-US" i="1" dirty="0">
                    <a:solidFill>
                      <a:srgbClr val="FF0000"/>
                    </a:solidFill>
                    <a:latin typeface="Times New Roman" pitchFamily="18" charset="0"/>
                    <a:cs typeface="Times New Roman" pitchFamily="18" charset="0"/>
                  </a:rPr>
                  <a:t>r</a:t>
                </a:r>
                <a:r>
                  <a:rPr lang="en-US" altLang="en-US" dirty="0">
                    <a:solidFill>
                      <a:srgbClr val="FF0000"/>
                    </a:solidFill>
                    <a:latin typeface="Times New Roman" pitchFamily="18" charset="0"/>
                    <a:cs typeface="Times New Roman" pitchFamily="18" charset="0"/>
                  </a:rPr>
                  <a:t> = </a:t>
                </a:r>
                <a:r>
                  <a:rPr lang="en-US" altLang="en-US" i="1" dirty="0">
                    <a:solidFill>
                      <a:srgbClr val="FF0000"/>
                    </a:solidFill>
                    <a:latin typeface="Times New Roman" pitchFamily="18" charset="0"/>
                    <a:cs typeface="Times New Roman" pitchFamily="18" charset="0"/>
                  </a:rPr>
                  <a:t>left</a:t>
                </a:r>
                <a:r>
                  <a:rPr lang="en-US" altLang="en-US" dirty="0">
                    <a:solidFill>
                      <a:srgbClr val="FF0000"/>
                    </a:solidFill>
                    <a:latin typeface="Times New Roman" pitchFamily="18" charset="0"/>
                    <a:cs typeface="Times New Roman" pitchFamily="18" charset="0"/>
                  </a:rPr>
                  <a:t>+1, …, </a:t>
                </a:r>
                <a:r>
                  <a:rPr lang="en-US" altLang="en-US" i="1" dirty="0">
                    <a:solidFill>
                      <a:srgbClr val="FF0000"/>
                    </a:solidFill>
                    <a:latin typeface="Times New Roman" pitchFamily="18" charset="0"/>
                    <a:cs typeface="Times New Roman" pitchFamily="18" charset="0"/>
                  </a:rPr>
                  <a:t>right</a:t>
                </a:r>
                <a:r>
                  <a:rPr lang="en-US" altLang="en-US" dirty="0">
                    <a:solidFill>
                      <a:srgbClr val="FF0000"/>
                    </a:solidFill>
                    <a:latin typeface="Times New Roman" pitchFamily="18" charset="0"/>
                    <a:cs typeface="Times New Roman" pitchFamily="18" charset="0"/>
                  </a:rPr>
                  <a:t>, repeat:</a:t>
                </a:r>
                <a:br>
                  <a:rPr lang="en-US" altLang="en-US" dirty="0">
                    <a:solidFill>
                      <a:srgbClr val="FF0000"/>
                    </a:solidFill>
                    <a:latin typeface="Times New Roman" pitchFamily="18" charset="0"/>
                    <a:cs typeface="Times New Roman" pitchFamily="18" charset="0"/>
                  </a:rPr>
                </a:br>
                <a:r>
                  <a:rPr lang="en-US" altLang="en-US" dirty="0">
                    <a:latin typeface="Times New Roman" pitchFamily="18" charset="0"/>
                    <a:cs typeface="Times New Roman" pitchFamily="18" charset="0"/>
                  </a:rPr>
                  <a:t>	2.1.	If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is less than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2.1.1.	Copy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2.1.2.	Increment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3.	Terminate yielding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endParaRPr lang="en-GB" dirty="0"/>
              </a:p>
            </p:txBody>
          </p:sp>
        </p:grpSp>
        <p:sp>
          <p:nvSpPr>
            <p:cNvPr id="48" name="TextBox 47"/>
            <p:cNvSpPr txBox="1"/>
            <p:nvPr/>
          </p:nvSpPr>
          <p:spPr>
            <a:xfrm>
              <a:off x="304800" y="5486400"/>
              <a:ext cx="2057400" cy="646331"/>
            </a:xfrm>
            <a:prstGeom prst="rect">
              <a:avLst/>
            </a:prstGeom>
            <a:noFill/>
          </p:spPr>
          <p:txBody>
            <a:bodyPr wrap="square" rtlCol="0">
              <a:spAutoFit/>
            </a:bodyPr>
            <a:lstStyle/>
            <a:p>
              <a:r>
                <a:rPr lang="en-GB" dirty="0"/>
                <a:t>left = 0</a:t>
              </a:r>
            </a:p>
            <a:p>
              <a:r>
                <a:rPr lang="en-GB" dirty="0"/>
                <a:t>right = 8</a:t>
              </a:r>
            </a:p>
          </p:txBody>
        </p:sp>
        <p:sp>
          <p:nvSpPr>
            <p:cNvPr id="49" name="TextBox 48"/>
            <p:cNvSpPr txBox="1"/>
            <p:nvPr/>
          </p:nvSpPr>
          <p:spPr>
            <a:xfrm>
              <a:off x="5408299" y="5334000"/>
              <a:ext cx="2057400" cy="923330"/>
            </a:xfrm>
            <a:prstGeom prst="rect">
              <a:avLst/>
            </a:prstGeom>
            <a:noFill/>
          </p:spPr>
          <p:txBody>
            <a:bodyPr wrap="square" rtlCol="0">
              <a:spAutoFit/>
            </a:bodyPr>
            <a:lstStyle/>
            <a:p>
              <a:r>
                <a:rPr lang="en-GB" dirty="0"/>
                <a:t>pivot = fox</a:t>
              </a:r>
            </a:p>
            <a:p>
              <a:r>
                <a:rPr lang="en-GB" dirty="0"/>
                <a:t>p=0</a:t>
              </a:r>
            </a:p>
            <a:p>
              <a:r>
                <a:rPr lang="en-GB" dirty="0">
                  <a:solidFill>
                    <a:srgbClr val="FF0000"/>
                  </a:solidFill>
                </a:rPr>
                <a:t>r=1</a:t>
              </a:r>
            </a:p>
          </p:txBody>
        </p:sp>
      </p:grpSp>
      <p:grpSp>
        <p:nvGrpSpPr>
          <p:cNvPr id="62" name="Group 61"/>
          <p:cNvGrpSpPr/>
          <p:nvPr/>
        </p:nvGrpSpPr>
        <p:grpSpPr>
          <a:xfrm>
            <a:off x="152400" y="1371600"/>
            <a:ext cx="8077200" cy="4953000"/>
            <a:chOff x="152400" y="1371600"/>
            <a:chExt cx="8077200" cy="4953000"/>
          </a:xfrm>
        </p:grpSpPr>
        <p:grpSp>
          <p:nvGrpSpPr>
            <p:cNvPr id="63" name="Group 62"/>
            <p:cNvGrpSpPr/>
            <p:nvPr/>
          </p:nvGrpSpPr>
          <p:grpSpPr>
            <a:xfrm>
              <a:off x="152400" y="1371600"/>
              <a:ext cx="8077200" cy="4953000"/>
              <a:chOff x="152400" y="1371600"/>
              <a:chExt cx="8077200" cy="4953000"/>
            </a:xfrm>
          </p:grpSpPr>
          <p:sp>
            <p:nvSpPr>
              <p:cNvPr id="66" name="Rectangle 65"/>
              <p:cNvSpPr/>
              <p:nvPr/>
            </p:nvSpPr>
            <p:spPr>
              <a:xfrm>
                <a:off x="152400" y="1371600"/>
                <a:ext cx="8077200" cy="4953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7" name="Group 66"/>
              <p:cNvGrpSpPr/>
              <p:nvPr/>
            </p:nvGrpSpPr>
            <p:grpSpPr>
              <a:xfrm>
                <a:off x="304800" y="4800600"/>
                <a:ext cx="6946900" cy="361950"/>
                <a:chOff x="591749" y="4800600"/>
                <a:chExt cx="6946900" cy="361950"/>
              </a:xfrm>
            </p:grpSpPr>
            <p:sp>
              <p:nvSpPr>
                <p:cNvPr id="69" name="Rectangle 27"/>
                <p:cNvSpPr>
                  <a:spLocks noChangeArrowheads="1"/>
                </p:cNvSpPr>
                <p:nvPr/>
              </p:nvSpPr>
              <p:spPr bwMode="auto">
                <a:xfrm>
                  <a:off x="591749" y="4800600"/>
                  <a:ext cx="715962"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fox</a:t>
                  </a:r>
                </a:p>
              </p:txBody>
            </p:sp>
            <p:sp>
              <p:nvSpPr>
                <p:cNvPr id="70" name="Rectangle 29"/>
                <p:cNvSpPr>
                  <a:spLocks noChangeArrowheads="1"/>
                </p:cNvSpPr>
                <p:nvPr/>
              </p:nvSpPr>
              <p:spPr bwMode="auto">
                <a:xfrm>
                  <a:off x="2099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pig</a:t>
                  </a:r>
                </a:p>
              </p:txBody>
            </p:sp>
            <p:sp>
              <p:nvSpPr>
                <p:cNvPr id="71" name="Rectangle 30"/>
                <p:cNvSpPr>
                  <a:spLocks noChangeArrowheads="1"/>
                </p:cNvSpPr>
                <p:nvPr/>
              </p:nvSpPr>
              <p:spPr bwMode="auto">
                <a:xfrm>
                  <a:off x="2861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cat</a:t>
                  </a:r>
                </a:p>
              </p:txBody>
            </p:sp>
            <p:sp>
              <p:nvSpPr>
                <p:cNvPr id="72" name="Rectangle 35"/>
                <p:cNvSpPr>
                  <a:spLocks noChangeArrowheads="1"/>
                </p:cNvSpPr>
                <p:nvPr/>
              </p:nvSpPr>
              <p:spPr bwMode="auto">
                <a:xfrm>
                  <a:off x="4439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lion</a:t>
                  </a:r>
                </a:p>
              </p:txBody>
            </p:sp>
            <p:sp>
              <p:nvSpPr>
                <p:cNvPr id="73" name="Rectangle 36"/>
                <p:cNvSpPr>
                  <a:spLocks noChangeArrowheads="1"/>
                </p:cNvSpPr>
                <p:nvPr/>
              </p:nvSpPr>
              <p:spPr bwMode="auto">
                <a:xfrm>
                  <a:off x="5201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tiger</a:t>
                  </a:r>
                </a:p>
              </p:txBody>
            </p:sp>
            <p:sp>
              <p:nvSpPr>
                <p:cNvPr id="74" name="Rectangle 37"/>
                <p:cNvSpPr>
                  <a:spLocks noChangeArrowheads="1"/>
                </p:cNvSpPr>
                <p:nvPr/>
              </p:nvSpPr>
              <p:spPr bwMode="auto">
                <a:xfrm>
                  <a:off x="3649273"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rat</a:t>
                  </a:r>
                </a:p>
              </p:txBody>
            </p:sp>
            <p:sp>
              <p:nvSpPr>
                <p:cNvPr id="75" name="Rectangle 40"/>
                <p:cNvSpPr>
                  <a:spLocks noChangeArrowheads="1"/>
                </p:cNvSpPr>
                <p:nvPr/>
              </p:nvSpPr>
              <p:spPr bwMode="auto">
                <a:xfrm>
                  <a:off x="6746486"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dog</a:t>
                  </a:r>
                </a:p>
              </p:txBody>
            </p:sp>
            <p:sp>
              <p:nvSpPr>
                <p:cNvPr id="76" name="Rectangle 42"/>
                <p:cNvSpPr>
                  <a:spLocks noChangeArrowheads="1"/>
                </p:cNvSpPr>
                <p:nvPr/>
              </p:nvSpPr>
              <p:spPr bwMode="auto">
                <a:xfrm>
                  <a:off x="5955911"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goat</a:t>
                  </a:r>
                </a:p>
              </p:txBody>
            </p:sp>
            <p:sp>
              <p:nvSpPr>
                <p:cNvPr id="77" name="Rectangle 27"/>
                <p:cNvSpPr>
                  <a:spLocks noChangeArrowheads="1"/>
                </p:cNvSpPr>
                <p:nvPr/>
              </p:nvSpPr>
              <p:spPr bwMode="auto">
                <a:xfrm>
                  <a:off x="1307710"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cow</a:t>
                  </a:r>
                </a:p>
              </p:txBody>
            </p:sp>
          </p:grpSp>
          <p:sp>
            <p:nvSpPr>
              <p:cNvPr id="68" name="TextBox 67"/>
              <p:cNvSpPr txBox="1"/>
              <p:nvPr/>
            </p:nvSpPr>
            <p:spPr>
              <a:xfrm>
                <a:off x="304800" y="1371600"/>
                <a:ext cx="7391400" cy="2977738"/>
              </a:xfrm>
              <a:prstGeom prst="rect">
                <a:avLst/>
              </a:prstGeom>
              <a:noFill/>
            </p:spPr>
            <p:txBody>
              <a:bodyPr wrap="square" rtlCol="0">
                <a:spAutoFit/>
              </a:bodyPr>
              <a:lstStyle/>
              <a:p>
                <a:pPr>
                  <a:buClr>
                    <a:schemeClr val="tx1"/>
                  </a:buClr>
                  <a:tabLst>
                    <a:tab pos="723900" algn="l"/>
                    <a:tab pos="1257300" algn="l"/>
                    <a:tab pos="1968500" algn="l"/>
                  </a:tabLst>
                </a:pPr>
                <a:r>
                  <a:rPr lang="en-US" altLang="en-US" dirty="0">
                    <a:latin typeface="Times New Roman" pitchFamily="18" charset="0"/>
                    <a:cs typeface="Times New Roman" pitchFamily="18" charset="0"/>
                  </a:rPr>
                  <a:t>To partition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such that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are all less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are all greater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pPr>
                  <a:spcBef>
                    <a:spcPts val="900"/>
                  </a:spcBef>
                  <a:buClr>
                    <a:schemeClr val="tx1"/>
                  </a:buClr>
                  <a:tabLst>
                    <a:tab pos="723900" algn="l"/>
                    <a:tab pos="1257300" algn="l"/>
                    <a:tab pos="1968500" algn="l"/>
                  </a:tabLst>
                </a:pPr>
                <a:r>
                  <a:rPr lang="en-US" altLang="en-US" dirty="0">
                    <a:latin typeface="Times New Roman" pitchFamily="18" charset="0"/>
                    <a:cs typeface="Times New Roman" pitchFamily="18" charset="0"/>
                  </a:rPr>
                  <a:t>1.	Let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be the element in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 and set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2.	For </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+1, …, </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repeat: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	</a:t>
                </a:r>
                <a:r>
                  <a:rPr lang="en-US" altLang="en-US" dirty="0">
                    <a:solidFill>
                      <a:srgbClr val="FF0000"/>
                    </a:solidFill>
                    <a:latin typeface="Times New Roman" pitchFamily="18" charset="0"/>
                    <a:cs typeface="Times New Roman" pitchFamily="18" charset="0"/>
                  </a:rPr>
                  <a:t>If </a:t>
                </a:r>
                <a:r>
                  <a:rPr lang="en-US" altLang="en-US" i="1" dirty="0">
                    <a:solidFill>
                      <a:srgbClr val="FF0000"/>
                    </a:solidFill>
                    <a:latin typeface="Times New Roman" pitchFamily="18" charset="0"/>
                    <a:cs typeface="Times New Roman" pitchFamily="18" charset="0"/>
                  </a:rPr>
                  <a:t>a</a:t>
                </a:r>
                <a:r>
                  <a:rPr lang="en-US" altLang="en-US" dirty="0">
                    <a:solidFill>
                      <a:srgbClr val="FF0000"/>
                    </a:solidFill>
                    <a:latin typeface="Times New Roman" pitchFamily="18" charset="0"/>
                    <a:cs typeface="Times New Roman" pitchFamily="18" charset="0"/>
                  </a:rPr>
                  <a:t>[</a:t>
                </a:r>
                <a:r>
                  <a:rPr lang="en-US" altLang="en-US" i="1" dirty="0">
                    <a:solidFill>
                      <a:srgbClr val="FF0000"/>
                    </a:solidFill>
                    <a:latin typeface="Times New Roman" pitchFamily="18" charset="0"/>
                    <a:cs typeface="Times New Roman" pitchFamily="18" charset="0"/>
                  </a:rPr>
                  <a:t>r</a:t>
                </a:r>
                <a:r>
                  <a:rPr lang="en-US" altLang="en-US" dirty="0">
                    <a:solidFill>
                      <a:srgbClr val="FF0000"/>
                    </a:solidFill>
                    <a:latin typeface="Times New Roman" pitchFamily="18" charset="0"/>
                    <a:cs typeface="Times New Roman" pitchFamily="18" charset="0"/>
                  </a:rPr>
                  <a:t>] is less than </a:t>
                </a:r>
                <a:r>
                  <a:rPr lang="en-US" altLang="en-US" i="1" dirty="0">
                    <a:solidFill>
                      <a:srgbClr val="FF0000"/>
                    </a:solidFill>
                    <a:latin typeface="Times New Roman" pitchFamily="18" charset="0"/>
                    <a:cs typeface="Times New Roman" pitchFamily="18" charset="0"/>
                  </a:rPr>
                  <a:t>pivot</a:t>
                </a:r>
                <a:r>
                  <a:rPr lang="en-US" altLang="en-US" dirty="0">
                    <a:solidFill>
                      <a:srgbClr val="FF0000"/>
                    </a:solidFill>
                    <a:latin typeface="Times New Roman" pitchFamily="18" charset="0"/>
                    <a:cs typeface="Times New Roman" pitchFamily="18" charset="0"/>
                  </a:rPr>
                  <a:t>:</a:t>
                </a:r>
                <a:br>
                  <a:rPr lang="en-US" altLang="en-US" dirty="0">
                    <a:solidFill>
                      <a:srgbClr val="FF0000"/>
                    </a:solidFill>
                    <a:latin typeface="Times New Roman" pitchFamily="18" charset="0"/>
                    <a:cs typeface="Times New Roman" pitchFamily="18" charset="0"/>
                  </a:rPr>
                </a:br>
                <a:r>
                  <a:rPr lang="en-US" altLang="en-US" dirty="0">
                    <a:latin typeface="Times New Roman" pitchFamily="18" charset="0"/>
                    <a:cs typeface="Times New Roman" pitchFamily="18" charset="0"/>
                  </a:rPr>
                  <a:t>		2.1.1.	Copy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2.1.2.	Increment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3.	Terminate yielding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endParaRPr lang="en-GB" dirty="0"/>
              </a:p>
            </p:txBody>
          </p:sp>
        </p:grpSp>
        <p:sp>
          <p:nvSpPr>
            <p:cNvPr id="64" name="TextBox 63"/>
            <p:cNvSpPr txBox="1"/>
            <p:nvPr/>
          </p:nvSpPr>
          <p:spPr>
            <a:xfrm>
              <a:off x="304800" y="5486400"/>
              <a:ext cx="2057400" cy="646331"/>
            </a:xfrm>
            <a:prstGeom prst="rect">
              <a:avLst/>
            </a:prstGeom>
            <a:noFill/>
          </p:spPr>
          <p:txBody>
            <a:bodyPr wrap="square" rtlCol="0">
              <a:spAutoFit/>
            </a:bodyPr>
            <a:lstStyle/>
            <a:p>
              <a:r>
                <a:rPr lang="en-GB" dirty="0"/>
                <a:t>left = 0</a:t>
              </a:r>
            </a:p>
            <a:p>
              <a:r>
                <a:rPr lang="en-GB" dirty="0"/>
                <a:t>right = 8</a:t>
              </a:r>
            </a:p>
          </p:txBody>
        </p:sp>
        <p:sp>
          <p:nvSpPr>
            <p:cNvPr id="65" name="TextBox 64"/>
            <p:cNvSpPr txBox="1"/>
            <p:nvPr/>
          </p:nvSpPr>
          <p:spPr>
            <a:xfrm>
              <a:off x="5408299" y="5334000"/>
              <a:ext cx="2057400" cy="923330"/>
            </a:xfrm>
            <a:prstGeom prst="rect">
              <a:avLst/>
            </a:prstGeom>
            <a:noFill/>
          </p:spPr>
          <p:txBody>
            <a:bodyPr wrap="square" rtlCol="0">
              <a:spAutoFit/>
            </a:bodyPr>
            <a:lstStyle/>
            <a:p>
              <a:r>
                <a:rPr lang="en-GB" dirty="0"/>
                <a:t>pivot = fox</a:t>
              </a:r>
            </a:p>
            <a:p>
              <a:r>
                <a:rPr lang="en-GB" dirty="0"/>
                <a:t>p=0</a:t>
              </a:r>
            </a:p>
            <a:p>
              <a:r>
                <a:rPr lang="en-GB" dirty="0">
                  <a:solidFill>
                    <a:srgbClr val="FF0000"/>
                  </a:solidFill>
                </a:rPr>
                <a:t>r=1</a:t>
              </a:r>
            </a:p>
          </p:txBody>
        </p:sp>
      </p:grpSp>
      <p:grpSp>
        <p:nvGrpSpPr>
          <p:cNvPr id="78" name="Group 77"/>
          <p:cNvGrpSpPr/>
          <p:nvPr/>
        </p:nvGrpSpPr>
        <p:grpSpPr>
          <a:xfrm>
            <a:off x="152400" y="1371600"/>
            <a:ext cx="8077200" cy="4953000"/>
            <a:chOff x="152400" y="1371600"/>
            <a:chExt cx="8077200" cy="4953000"/>
          </a:xfrm>
        </p:grpSpPr>
        <p:grpSp>
          <p:nvGrpSpPr>
            <p:cNvPr id="79" name="Group 78"/>
            <p:cNvGrpSpPr/>
            <p:nvPr/>
          </p:nvGrpSpPr>
          <p:grpSpPr>
            <a:xfrm>
              <a:off x="152400" y="1371600"/>
              <a:ext cx="8077200" cy="4953000"/>
              <a:chOff x="152400" y="1371600"/>
              <a:chExt cx="8077200" cy="4953000"/>
            </a:xfrm>
          </p:grpSpPr>
          <p:sp>
            <p:nvSpPr>
              <p:cNvPr id="82" name="Rectangle 81"/>
              <p:cNvSpPr/>
              <p:nvPr/>
            </p:nvSpPr>
            <p:spPr>
              <a:xfrm>
                <a:off x="152400" y="1371600"/>
                <a:ext cx="8077200" cy="4953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3" name="Group 82"/>
              <p:cNvGrpSpPr/>
              <p:nvPr/>
            </p:nvGrpSpPr>
            <p:grpSpPr>
              <a:xfrm>
                <a:off x="304800" y="4800600"/>
                <a:ext cx="6946900" cy="361950"/>
                <a:chOff x="591749" y="4800600"/>
                <a:chExt cx="6946900" cy="361950"/>
              </a:xfrm>
            </p:grpSpPr>
            <p:sp>
              <p:nvSpPr>
                <p:cNvPr id="85" name="Rectangle 27"/>
                <p:cNvSpPr>
                  <a:spLocks noChangeArrowheads="1"/>
                </p:cNvSpPr>
                <p:nvPr/>
              </p:nvSpPr>
              <p:spPr bwMode="auto">
                <a:xfrm>
                  <a:off x="591749" y="4800600"/>
                  <a:ext cx="715962"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solidFill>
                        <a:srgbClr val="FF0000"/>
                      </a:solidFill>
                    </a:rPr>
                    <a:t>cow</a:t>
                  </a:r>
                </a:p>
              </p:txBody>
            </p:sp>
            <p:sp>
              <p:nvSpPr>
                <p:cNvPr id="86" name="Rectangle 29"/>
                <p:cNvSpPr>
                  <a:spLocks noChangeArrowheads="1"/>
                </p:cNvSpPr>
                <p:nvPr/>
              </p:nvSpPr>
              <p:spPr bwMode="auto">
                <a:xfrm>
                  <a:off x="2099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pig</a:t>
                  </a:r>
                </a:p>
              </p:txBody>
            </p:sp>
            <p:sp>
              <p:nvSpPr>
                <p:cNvPr id="87" name="Rectangle 30"/>
                <p:cNvSpPr>
                  <a:spLocks noChangeArrowheads="1"/>
                </p:cNvSpPr>
                <p:nvPr/>
              </p:nvSpPr>
              <p:spPr bwMode="auto">
                <a:xfrm>
                  <a:off x="2861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cat</a:t>
                  </a:r>
                </a:p>
              </p:txBody>
            </p:sp>
            <p:sp>
              <p:nvSpPr>
                <p:cNvPr id="88" name="Rectangle 35"/>
                <p:cNvSpPr>
                  <a:spLocks noChangeArrowheads="1"/>
                </p:cNvSpPr>
                <p:nvPr/>
              </p:nvSpPr>
              <p:spPr bwMode="auto">
                <a:xfrm>
                  <a:off x="4439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lion</a:t>
                  </a:r>
                </a:p>
              </p:txBody>
            </p:sp>
            <p:sp>
              <p:nvSpPr>
                <p:cNvPr id="89" name="Rectangle 36"/>
                <p:cNvSpPr>
                  <a:spLocks noChangeArrowheads="1"/>
                </p:cNvSpPr>
                <p:nvPr/>
              </p:nvSpPr>
              <p:spPr bwMode="auto">
                <a:xfrm>
                  <a:off x="5201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tiger</a:t>
                  </a:r>
                </a:p>
              </p:txBody>
            </p:sp>
            <p:sp>
              <p:nvSpPr>
                <p:cNvPr id="90" name="Rectangle 37"/>
                <p:cNvSpPr>
                  <a:spLocks noChangeArrowheads="1"/>
                </p:cNvSpPr>
                <p:nvPr/>
              </p:nvSpPr>
              <p:spPr bwMode="auto">
                <a:xfrm>
                  <a:off x="3649273"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rat</a:t>
                  </a:r>
                </a:p>
              </p:txBody>
            </p:sp>
            <p:sp>
              <p:nvSpPr>
                <p:cNvPr id="91" name="Rectangle 40"/>
                <p:cNvSpPr>
                  <a:spLocks noChangeArrowheads="1"/>
                </p:cNvSpPr>
                <p:nvPr/>
              </p:nvSpPr>
              <p:spPr bwMode="auto">
                <a:xfrm>
                  <a:off x="6746486"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dog</a:t>
                  </a:r>
                </a:p>
              </p:txBody>
            </p:sp>
            <p:sp>
              <p:nvSpPr>
                <p:cNvPr id="92" name="Rectangle 42"/>
                <p:cNvSpPr>
                  <a:spLocks noChangeArrowheads="1"/>
                </p:cNvSpPr>
                <p:nvPr/>
              </p:nvSpPr>
              <p:spPr bwMode="auto">
                <a:xfrm>
                  <a:off x="5955911"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goat</a:t>
                  </a:r>
                </a:p>
              </p:txBody>
            </p:sp>
            <p:sp>
              <p:nvSpPr>
                <p:cNvPr id="93" name="Rectangle 27"/>
                <p:cNvSpPr>
                  <a:spLocks noChangeArrowheads="1"/>
                </p:cNvSpPr>
                <p:nvPr/>
              </p:nvSpPr>
              <p:spPr bwMode="auto">
                <a:xfrm>
                  <a:off x="1307710"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solidFill>
                        <a:srgbClr val="FF0000"/>
                      </a:solidFill>
                    </a:rPr>
                    <a:t>cow</a:t>
                  </a:r>
                </a:p>
              </p:txBody>
            </p:sp>
          </p:grpSp>
          <p:sp>
            <p:nvSpPr>
              <p:cNvPr id="84" name="TextBox 83"/>
              <p:cNvSpPr txBox="1"/>
              <p:nvPr/>
            </p:nvSpPr>
            <p:spPr>
              <a:xfrm>
                <a:off x="304800" y="1371600"/>
                <a:ext cx="7391400" cy="2977738"/>
              </a:xfrm>
              <a:prstGeom prst="rect">
                <a:avLst/>
              </a:prstGeom>
              <a:noFill/>
            </p:spPr>
            <p:txBody>
              <a:bodyPr wrap="square" rtlCol="0">
                <a:spAutoFit/>
              </a:bodyPr>
              <a:lstStyle/>
              <a:p>
                <a:pPr>
                  <a:buClr>
                    <a:schemeClr val="tx1"/>
                  </a:buClr>
                  <a:tabLst>
                    <a:tab pos="723900" algn="l"/>
                    <a:tab pos="1257300" algn="l"/>
                    <a:tab pos="1968500" algn="l"/>
                  </a:tabLst>
                </a:pPr>
                <a:r>
                  <a:rPr lang="en-US" altLang="en-US" dirty="0">
                    <a:latin typeface="Times New Roman" pitchFamily="18" charset="0"/>
                    <a:cs typeface="Times New Roman" pitchFamily="18" charset="0"/>
                  </a:rPr>
                  <a:t>To partition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such that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are all less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are all greater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pPr>
                  <a:spcBef>
                    <a:spcPts val="900"/>
                  </a:spcBef>
                  <a:buClr>
                    <a:schemeClr val="tx1"/>
                  </a:buClr>
                  <a:tabLst>
                    <a:tab pos="723900" algn="l"/>
                    <a:tab pos="1257300" algn="l"/>
                    <a:tab pos="1968500" algn="l"/>
                  </a:tabLst>
                </a:pPr>
                <a:r>
                  <a:rPr lang="en-US" altLang="en-US" dirty="0">
                    <a:latin typeface="Times New Roman" pitchFamily="18" charset="0"/>
                    <a:cs typeface="Times New Roman" pitchFamily="18" charset="0"/>
                  </a:rPr>
                  <a:t>1.	Let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be the element in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 and set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2.	For </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+1, …, </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repeat: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	If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is less than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2.1.1.	</a:t>
                </a:r>
                <a:r>
                  <a:rPr lang="en-US" altLang="en-US" dirty="0">
                    <a:solidFill>
                      <a:srgbClr val="FF0000"/>
                    </a:solidFill>
                    <a:latin typeface="Times New Roman" pitchFamily="18" charset="0"/>
                    <a:cs typeface="Times New Roman" pitchFamily="18" charset="0"/>
                  </a:rPr>
                  <a:t>Copy </a:t>
                </a:r>
                <a:r>
                  <a:rPr lang="en-US" altLang="en-US" i="1" dirty="0">
                    <a:solidFill>
                      <a:srgbClr val="FF0000"/>
                    </a:solidFill>
                    <a:latin typeface="Times New Roman" pitchFamily="18" charset="0"/>
                    <a:cs typeface="Times New Roman" pitchFamily="18" charset="0"/>
                  </a:rPr>
                  <a:t>a</a:t>
                </a:r>
                <a:r>
                  <a:rPr lang="en-US" altLang="en-US" dirty="0">
                    <a:solidFill>
                      <a:srgbClr val="FF0000"/>
                    </a:solidFill>
                    <a:latin typeface="Times New Roman" pitchFamily="18" charset="0"/>
                    <a:cs typeface="Times New Roman" pitchFamily="18" charset="0"/>
                  </a:rPr>
                  <a:t>[</a:t>
                </a:r>
                <a:r>
                  <a:rPr lang="en-US" altLang="en-US" i="1" dirty="0">
                    <a:solidFill>
                      <a:srgbClr val="FF0000"/>
                    </a:solidFill>
                    <a:latin typeface="Times New Roman" pitchFamily="18" charset="0"/>
                    <a:cs typeface="Times New Roman" pitchFamily="18" charset="0"/>
                  </a:rPr>
                  <a:t>r</a:t>
                </a:r>
                <a:r>
                  <a:rPr lang="en-US" altLang="en-US" dirty="0">
                    <a:solidFill>
                      <a:srgbClr val="FF0000"/>
                    </a:solidFill>
                    <a:latin typeface="Times New Roman" pitchFamily="18" charset="0"/>
                    <a:cs typeface="Times New Roman" pitchFamily="18" charset="0"/>
                  </a:rPr>
                  <a:t>] into </a:t>
                </a:r>
                <a:r>
                  <a:rPr lang="en-US" altLang="en-US" i="1" dirty="0">
                    <a:solidFill>
                      <a:srgbClr val="FF0000"/>
                    </a:solidFill>
                    <a:latin typeface="Times New Roman" pitchFamily="18" charset="0"/>
                    <a:cs typeface="Times New Roman" pitchFamily="18" charset="0"/>
                  </a:rPr>
                  <a:t>a</a:t>
                </a:r>
                <a:r>
                  <a:rPr lang="en-US" altLang="en-US" dirty="0">
                    <a:solidFill>
                      <a:srgbClr val="FF0000"/>
                    </a:solidFill>
                    <a:latin typeface="Times New Roman" pitchFamily="18" charset="0"/>
                    <a:cs typeface="Times New Roman" pitchFamily="18" charset="0"/>
                  </a:rPr>
                  <a:t>[</a:t>
                </a:r>
                <a:r>
                  <a:rPr lang="en-US" altLang="en-US" i="1" dirty="0">
                    <a:solidFill>
                      <a:srgbClr val="FF0000"/>
                    </a:solidFill>
                    <a:latin typeface="Times New Roman" pitchFamily="18" charset="0"/>
                    <a:cs typeface="Times New Roman" pitchFamily="18" charset="0"/>
                  </a:rPr>
                  <a:t>p</a:t>
                </a:r>
                <a:r>
                  <a:rPr lang="en-US" altLang="en-US" dirty="0">
                    <a:solidFill>
                      <a:srgbClr val="FF0000"/>
                    </a:solidFill>
                    <a:latin typeface="Times New Roman" pitchFamily="18" charset="0"/>
                    <a:cs typeface="Times New Roman" pitchFamily="18" charset="0"/>
                  </a:rPr>
                  <a:t>], </a:t>
                </a:r>
                <a:r>
                  <a:rPr lang="en-US" altLang="en-US" i="1" dirty="0">
                    <a:solidFill>
                      <a:srgbClr val="FF0000"/>
                    </a:solidFill>
                    <a:latin typeface="Times New Roman" pitchFamily="18" charset="0"/>
                    <a:cs typeface="Times New Roman" pitchFamily="18" charset="0"/>
                  </a:rPr>
                  <a:t>a</a:t>
                </a:r>
                <a:r>
                  <a:rPr lang="en-US" altLang="en-US" dirty="0">
                    <a:solidFill>
                      <a:srgbClr val="FF0000"/>
                    </a:solidFill>
                    <a:latin typeface="Times New Roman" pitchFamily="18" charset="0"/>
                    <a:cs typeface="Times New Roman" pitchFamily="18" charset="0"/>
                  </a:rPr>
                  <a:t>[</a:t>
                </a:r>
                <a:r>
                  <a:rPr lang="en-US" altLang="en-US" i="1" dirty="0">
                    <a:solidFill>
                      <a:srgbClr val="FF0000"/>
                    </a:solidFill>
                    <a:latin typeface="Times New Roman" pitchFamily="18" charset="0"/>
                    <a:cs typeface="Times New Roman" pitchFamily="18" charset="0"/>
                  </a:rPr>
                  <a:t>p</a:t>
                </a:r>
                <a:r>
                  <a:rPr lang="en-US" altLang="en-US" dirty="0">
                    <a:solidFill>
                      <a:srgbClr val="FF0000"/>
                    </a:solidFill>
                    <a:latin typeface="Times New Roman" pitchFamily="18" charset="0"/>
                    <a:cs typeface="Times New Roman" pitchFamily="18" charset="0"/>
                  </a:rPr>
                  <a:t>+1] into </a:t>
                </a:r>
                <a:r>
                  <a:rPr lang="en-US" altLang="en-US" i="1" dirty="0">
                    <a:solidFill>
                      <a:srgbClr val="FF0000"/>
                    </a:solidFill>
                    <a:latin typeface="Times New Roman" pitchFamily="18" charset="0"/>
                    <a:cs typeface="Times New Roman" pitchFamily="18" charset="0"/>
                  </a:rPr>
                  <a:t>a</a:t>
                </a:r>
                <a:r>
                  <a:rPr lang="en-US" altLang="en-US" dirty="0">
                    <a:solidFill>
                      <a:srgbClr val="FF0000"/>
                    </a:solidFill>
                    <a:latin typeface="Times New Roman" pitchFamily="18" charset="0"/>
                    <a:cs typeface="Times New Roman" pitchFamily="18" charset="0"/>
                  </a:rPr>
                  <a:t>[</a:t>
                </a:r>
                <a:r>
                  <a:rPr lang="en-US" altLang="en-US" i="1" dirty="0">
                    <a:solidFill>
                      <a:srgbClr val="FF0000"/>
                    </a:solidFill>
                    <a:latin typeface="Times New Roman" pitchFamily="18" charset="0"/>
                    <a:cs typeface="Times New Roman" pitchFamily="18" charset="0"/>
                  </a:rPr>
                  <a:t>r</a:t>
                </a:r>
                <a:r>
                  <a:rPr lang="en-US" altLang="en-US" dirty="0">
                    <a:solidFill>
                      <a:srgbClr val="FF0000"/>
                    </a:solidFill>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2.1.2.	Increment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3.	Terminate yielding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endParaRPr lang="en-GB" dirty="0"/>
              </a:p>
            </p:txBody>
          </p:sp>
        </p:grpSp>
        <p:sp>
          <p:nvSpPr>
            <p:cNvPr id="80" name="TextBox 79"/>
            <p:cNvSpPr txBox="1"/>
            <p:nvPr/>
          </p:nvSpPr>
          <p:spPr>
            <a:xfrm>
              <a:off x="304800" y="5486400"/>
              <a:ext cx="2057400" cy="646331"/>
            </a:xfrm>
            <a:prstGeom prst="rect">
              <a:avLst/>
            </a:prstGeom>
            <a:noFill/>
          </p:spPr>
          <p:txBody>
            <a:bodyPr wrap="square" rtlCol="0">
              <a:spAutoFit/>
            </a:bodyPr>
            <a:lstStyle/>
            <a:p>
              <a:r>
                <a:rPr lang="en-GB" dirty="0"/>
                <a:t>left = 0</a:t>
              </a:r>
            </a:p>
            <a:p>
              <a:r>
                <a:rPr lang="en-GB" dirty="0"/>
                <a:t>right = 8</a:t>
              </a:r>
            </a:p>
          </p:txBody>
        </p:sp>
        <p:sp>
          <p:nvSpPr>
            <p:cNvPr id="81" name="TextBox 80"/>
            <p:cNvSpPr txBox="1"/>
            <p:nvPr/>
          </p:nvSpPr>
          <p:spPr>
            <a:xfrm>
              <a:off x="5408299" y="5334000"/>
              <a:ext cx="2057400" cy="923330"/>
            </a:xfrm>
            <a:prstGeom prst="rect">
              <a:avLst/>
            </a:prstGeom>
            <a:noFill/>
          </p:spPr>
          <p:txBody>
            <a:bodyPr wrap="square" rtlCol="0">
              <a:spAutoFit/>
            </a:bodyPr>
            <a:lstStyle/>
            <a:p>
              <a:r>
                <a:rPr lang="en-GB" dirty="0"/>
                <a:t>pivot = fox</a:t>
              </a:r>
            </a:p>
            <a:p>
              <a:r>
                <a:rPr lang="en-GB" dirty="0"/>
                <a:t>p=0</a:t>
              </a:r>
            </a:p>
            <a:p>
              <a:r>
                <a:rPr lang="en-GB" dirty="0"/>
                <a:t>r=1</a:t>
              </a:r>
            </a:p>
          </p:txBody>
        </p:sp>
      </p:grpSp>
      <p:grpSp>
        <p:nvGrpSpPr>
          <p:cNvPr id="94" name="Group 93"/>
          <p:cNvGrpSpPr/>
          <p:nvPr/>
        </p:nvGrpSpPr>
        <p:grpSpPr>
          <a:xfrm>
            <a:off x="152400" y="1371600"/>
            <a:ext cx="8077200" cy="4953000"/>
            <a:chOff x="152400" y="1371600"/>
            <a:chExt cx="8077200" cy="4953000"/>
          </a:xfrm>
        </p:grpSpPr>
        <p:grpSp>
          <p:nvGrpSpPr>
            <p:cNvPr id="95" name="Group 94"/>
            <p:cNvGrpSpPr/>
            <p:nvPr/>
          </p:nvGrpSpPr>
          <p:grpSpPr>
            <a:xfrm>
              <a:off x="152400" y="1371600"/>
              <a:ext cx="8077200" cy="4953000"/>
              <a:chOff x="152400" y="1371600"/>
              <a:chExt cx="8077200" cy="4953000"/>
            </a:xfrm>
          </p:grpSpPr>
          <p:sp>
            <p:nvSpPr>
              <p:cNvPr id="98" name="Rectangle 97"/>
              <p:cNvSpPr/>
              <p:nvPr/>
            </p:nvSpPr>
            <p:spPr>
              <a:xfrm>
                <a:off x="152400" y="1371600"/>
                <a:ext cx="8077200" cy="4953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9" name="Group 98"/>
              <p:cNvGrpSpPr/>
              <p:nvPr/>
            </p:nvGrpSpPr>
            <p:grpSpPr>
              <a:xfrm>
                <a:off x="304800" y="4800600"/>
                <a:ext cx="6946900" cy="361950"/>
                <a:chOff x="591749" y="4800600"/>
                <a:chExt cx="6946900" cy="361950"/>
              </a:xfrm>
            </p:grpSpPr>
            <p:sp>
              <p:nvSpPr>
                <p:cNvPr id="101" name="Rectangle 27"/>
                <p:cNvSpPr>
                  <a:spLocks noChangeArrowheads="1"/>
                </p:cNvSpPr>
                <p:nvPr/>
              </p:nvSpPr>
              <p:spPr bwMode="auto">
                <a:xfrm>
                  <a:off x="591749" y="4800600"/>
                  <a:ext cx="715962"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cow</a:t>
                  </a:r>
                </a:p>
              </p:txBody>
            </p:sp>
            <p:sp>
              <p:nvSpPr>
                <p:cNvPr id="102" name="Rectangle 29"/>
                <p:cNvSpPr>
                  <a:spLocks noChangeArrowheads="1"/>
                </p:cNvSpPr>
                <p:nvPr/>
              </p:nvSpPr>
              <p:spPr bwMode="auto">
                <a:xfrm>
                  <a:off x="2099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pig</a:t>
                  </a:r>
                </a:p>
              </p:txBody>
            </p:sp>
            <p:sp>
              <p:nvSpPr>
                <p:cNvPr id="103" name="Rectangle 30"/>
                <p:cNvSpPr>
                  <a:spLocks noChangeArrowheads="1"/>
                </p:cNvSpPr>
                <p:nvPr/>
              </p:nvSpPr>
              <p:spPr bwMode="auto">
                <a:xfrm>
                  <a:off x="2861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cat</a:t>
                  </a:r>
                </a:p>
              </p:txBody>
            </p:sp>
            <p:sp>
              <p:nvSpPr>
                <p:cNvPr id="104" name="Rectangle 35"/>
                <p:cNvSpPr>
                  <a:spLocks noChangeArrowheads="1"/>
                </p:cNvSpPr>
                <p:nvPr/>
              </p:nvSpPr>
              <p:spPr bwMode="auto">
                <a:xfrm>
                  <a:off x="4439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lion</a:t>
                  </a:r>
                </a:p>
              </p:txBody>
            </p:sp>
            <p:sp>
              <p:nvSpPr>
                <p:cNvPr id="105" name="Rectangle 36"/>
                <p:cNvSpPr>
                  <a:spLocks noChangeArrowheads="1"/>
                </p:cNvSpPr>
                <p:nvPr/>
              </p:nvSpPr>
              <p:spPr bwMode="auto">
                <a:xfrm>
                  <a:off x="5201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tiger</a:t>
                  </a:r>
                </a:p>
              </p:txBody>
            </p:sp>
            <p:sp>
              <p:nvSpPr>
                <p:cNvPr id="106" name="Rectangle 37"/>
                <p:cNvSpPr>
                  <a:spLocks noChangeArrowheads="1"/>
                </p:cNvSpPr>
                <p:nvPr/>
              </p:nvSpPr>
              <p:spPr bwMode="auto">
                <a:xfrm>
                  <a:off x="3649273"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rat</a:t>
                  </a:r>
                </a:p>
              </p:txBody>
            </p:sp>
            <p:sp>
              <p:nvSpPr>
                <p:cNvPr id="107" name="Rectangle 40"/>
                <p:cNvSpPr>
                  <a:spLocks noChangeArrowheads="1"/>
                </p:cNvSpPr>
                <p:nvPr/>
              </p:nvSpPr>
              <p:spPr bwMode="auto">
                <a:xfrm>
                  <a:off x="6746486"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dog</a:t>
                  </a:r>
                </a:p>
              </p:txBody>
            </p:sp>
            <p:sp>
              <p:nvSpPr>
                <p:cNvPr id="108" name="Rectangle 42"/>
                <p:cNvSpPr>
                  <a:spLocks noChangeArrowheads="1"/>
                </p:cNvSpPr>
                <p:nvPr/>
              </p:nvSpPr>
              <p:spPr bwMode="auto">
                <a:xfrm>
                  <a:off x="5955911"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goat</a:t>
                  </a:r>
                </a:p>
              </p:txBody>
            </p:sp>
            <p:sp>
              <p:nvSpPr>
                <p:cNvPr id="109" name="Rectangle 27"/>
                <p:cNvSpPr>
                  <a:spLocks noChangeArrowheads="1"/>
                </p:cNvSpPr>
                <p:nvPr/>
              </p:nvSpPr>
              <p:spPr bwMode="auto">
                <a:xfrm>
                  <a:off x="1307710"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solidFill>
                        <a:srgbClr val="FF0000"/>
                      </a:solidFill>
                    </a:rPr>
                    <a:t>fox</a:t>
                  </a:r>
                </a:p>
              </p:txBody>
            </p:sp>
          </p:grpSp>
          <p:sp>
            <p:nvSpPr>
              <p:cNvPr id="100" name="TextBox 99"/>
              <p:cNvSpPr txBox="1"/>
              <p:nvPr/>
            </p:nvSpPr>
            <p:spPr>
              <a:xfrm>
                <a:off x="304800" y="1371600"/>
                <a:ext cx="7391400" cy="2977738"/>
              </a:xfrm>
              <a:prstGeom prst="rect">
                <a:avLst/>
              </a:prstGeom>
              <a:noFill/>
            </p:spPr>
            <p:txBody>
              <a:bodyPr wrap="square" rtlCol="0">
                <a:spAutoFit/>
              </a:bodyPr>
              <a:lstStyle/>
              <a:p>
                <a:pPr>
                  <a:buClr>
                    <a:schemeClr val="tx1"/>
                  </a:buClr>
                  <a:tabLst>
                    <a:tab pos="723900" algn="l"/>
                    <a:tab pos="1257300" algn="l"/>
                    <a:tab pos="1968500" algn="l"/>
                  </a:tabLst>
                </a:pPr>
                <a:r>
                  <a:rPr lang="en-US" altLang="en-US" dirty="0">
                    <a:latin typeface="Times New Roman" pitchFamily="18" charset="0"/>
                    <a:cs typeface="Times New Roman" pitchFamily="18" charset="0"/>
                  </a:rPr>
                  <a:t>To partition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such that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are all less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are all greater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pPr>
                  <a:spcBef>
                    <a:spcPts val="900"/>
                  </a:spcBef>
                  <a:buClr>
                    <a:schemeClr val="tx1"/>
                  </a:buClr>
                  <a:tabLst>
                    <a:tab pos="723900" algn="l"/>
                    <a:tab pos="1257300" algn="l"/>
                    <a:tab pos="1968500" algn="l"/>
                  </a:tabLst>
                </a:pPr>
                <a:r>
                  <a:rPr lang="en-US" altLang="en-US" dirty="0">
                    <a:latin typeface="Times New Roman" pitchFamily="18" charset="0"/>
                    <a:cs typeface="Times New Roman" pitchFamily="18" charset="0"/>
                  </a:rPr>
                  <a:t>1.	Let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be the element in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 and set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2.	For </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+1, …, </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repeat: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	If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is less than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2.1.1.	Copy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a:t>
                </a:r>
                <a:r>
                  <a:rPr lang="en-US" altLang="en-US" dirty="0">
                    <a:solidFill>
                      <a:srgbClr val="FF0000"/>
                    </a:solidFill>
                    <a:latin typeface="Times New Roman" pitchFamily="18" charset="0"/>
                    <a:cs typeface="Times New Roman" pitchFamily="18" charset="0"/>
                  </a:rPr>
                  <a:t>and </a:t>
                </a:r>
                <a:r>
                  <a:rPr lang="en-US" altLang="en-US" i="1" dirty="0">
                    <a:solidFill>
                      <a:srgbClr val="FF0000"/>
                    </a:solidFill>
                    <a:latin typeface="Times New Roman" pitchFamily="18" charset="0"/>
                    <a:cs typeface="Times New Roman" pitchFamily="18" charset="0"/>
                  </a:rPr>
                  <a:t>pivot</a:t>
                </a:r>
                <a:r>
                  <a:rPr lang="en-US" altLang="en-US" dirty="0">
                    <a:solidFill>
                      <a:srgbClr val="FF0000"/>
                    </a:solidFill>
                    <a:latin typeface="Times New Roman" pitchFamily="18" charset="0"/>
                    <a:cs typeface="Times New Roman" pitchFamily="18" charset="0"/>
                  </a:rPr>
                  <a:t> into </a:t>
                </a:r>
                <a:r>
                  <a:rPr lang="en-US" altLang="en-US" i="1" dirty="0">
                    <a:solidFill>
                      <a:srgbClr val="FF0000"/>
                    </a:solidFill>
                    <a:latin typeface="Times New Roman" pitchFamily="18" charset="0"/>
                    <a:cs typeface="Times New Roman" pitchFamily="18" charset="0"/>
                  </a:rPr>
                  <a:t>a</a:t>
                </a:r>
                <a:r>
                  <a:rPr lang="en-US" altLang="en-US" dirty="0">
                    <a:solidFill>
                      <a:srgbClr val="FF0000"/>
                    </a:solidFill>
                    <a:latin typeface="Times New Roman" pitchFamily="18" charset="0"/>
                    <a:cs typeface="Times New Roman" pitchFamily="18" charset="0"/>
                  </a:rPr>
                  <a:t>[</a:t>
                </a:r>
                <a:r>
                  <a:rPr lang="en-US" altLang="en-US" i="1" dirty="0">
                    <a:solidFill>
                      <a:srgbClr val="FF0000"/>
                    </a:solidFill>
                    <a:latin typeface="Times New Roman" pitchFamily="18" charset="0"/>
                    <a:cs typeface="Times New Roman" pitchFamily="18" charset="0"/>
                  </a:rPr>
                  <a:t>p</a:t>
                </a:r>
                <a:r>
                  <a:rPr lang="en-US" altLang="en-US" dirty="0">
                    <a:solidFill>
                      <a:srgbClr val="FF0000"/>
                    </a:solidFill>
                    <a:latin typeface="Times New Roman" pitchFamily="18" charset="0"/>
                    <a:cs typeface="Times New Roman" pitchFamily="18" charset="0"/>
                  </a:rPr>
                  <a:t>+1].</a:t>
                </a:r>
                <a:br>
                  <a:rPr lang="en-US" altLang="en-US" dirty="0">
                    <a:solidFill>
                      <a:srgbClr val="FF0000"/>
                    </a:solidFill>
                    <a:latin typeface="Times New Roman" pitchFamily="18" charset="0"/>
                    <a:cs typeface="Times New Roman" pitchFamily="18" charset="0"/>
                  </a:rPr>
                </a:br>
                <a:r>
                  <a:rPr lang="en-US" altLang="en-US" dirty="0">
                    <a:latin typeface="Times New Roman" pitchFamily="18" charset="0"/>
                    <a:cs typeface="Times New Roman" pitchFamily="18" charset="0"/>
                  </a:rPr>
                  <a:t>		2.1.2.	Increment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3.	Terminate yielding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endParaRPr lang="en-GB" dirty="0"/>
              </a:p>
            </p:txBody>
          </p:sp>
        </p:grpSp>
        <p:sp>
          <p:nvSpPr>
            <p:cNvPr id="96" name="TextBox 95"/>
            <p:cNvSpPr txBox="1"/>
            <p:nvPr/>
          </p:nvSpPr>
          <p:spPr>
            <a:xfrm>
              <a:off x="304800" y="5486400"/>
              <a:ext cx="2057400" cy="646331"/>
            </a:xfrm>
            <a:prstGeom prst="rect">
              <a:avLst/>
            </a:prstGeom>
            <a:noFill/>
          </p:spPr>
          <p:txBody>
            <a:bodyPr wrap="square" rtlCol="0">
              <a:spAutoFit/>
            </a:bodyPr>
            <a:lstStyle/>
            <a:p>
              <a:r>
                <a:rPr lang="en-GB" dirty="0"/>
                <a:t>left = 0</a:t>
              </a:r>
            </a:p>
            <a:p>
              <a:r>
                <a:rPr lang="en-GB" dirty="0"/>
                <a:t>right = 8</a:t>
              </a:r>
            </a:p>
          </p:txBody>
        </p:sp>
        <p:sp>
          <p:nvSpPr>
            <p:cNvPr id="97" name="TextBox 96"/>
            <p:cNvSpPr txBox="1"/>
            <p:nvPr/>
          </p:nvSpPr>
          <p:spPr>
            <a:xfrm>
              <a:off x="5408299" y="5334000"/>
              <a:ext cx="2057400" cy="923330"/>
            </a:xfrm>
            <a:prstGeom prst="rect">
              <a:avLst/>
            </a:prstGeom>
            <a:noFill/>
          </p:spPr>
          <p:txBody>
            <a:bodyPr wrap="square" rtlCol="0">
              <a:spAutoFit/>
            </a:bodyPr>
            <a:lstStyle/>
            <a:p>
              <a:r>
                <a:rPr lang="en-GB" dirty="0"/>
                <a:t>pivot = fox</a:t>
              </a:r>
            </a:p>
            <a:p>
              <a:r>
                <a:rPr lang="en-GB" dirty="0"/>
                <a:t>p=0</a:t>
              </a:r>
            </a:p>
            <a:p>
              <a:r>
                <a:rPr lang="en-GB" dirty="0"/>
                <a:t>r=1</a:t>
              </a:r>
            </a:p>
          </p:txBody>
        </p:sp>
      </p:grpSp>
      <p:grpSp>
        <p:nvGrpSpPr>
          <p:cNvPr id="110" name="Group 109"/>
          <p:cNvGrpSpPr/>
          <p:nvPr/>
        </p:nvGrpSpPr>
        <p:grpSpPr>
          <a:xfrm>
            <a:off x="152400" y="1371600"/>
            <a:ext cx="8077200" cy="4953000"/>
            <a:chOff x="152400" y="1371600"/>
            <a:chExt cx="8077200" cy="4953000"/>
          </a:xfrm>
        </p:grpSpPr>
        <p:grpSp>
          <p:nvGrpSpPr>
            <p:cNvPr id="111" name="Group 110"/>
            <p:cNvGrpSpPr/>
            <p:nvPr/>
          </p:nvGrpSpPr>
          <p:grpSpPr>
            <a:xfrm>
              <a:off x="152400" y="1371600"/>
              <a:ext cx="8077200" cy="4953000"/>
              <a:chOff x="152400" y="1371600"/>
              <a:chExt cx="8077200" cy="4953000"/>
            </a:xfrm>
          </p:grpSpPr>
          <p:sp>
            <p:nvSpPr>
              <p:cNvPr id="114" name="Rectangle 113"/>
              <p:cNvSpPr/>
              <p:nvPr/>
            </p:nvSpPr>
            <p:spPr>
              <a:xfrm>
                <a:off x="152400" y="1371600"/>
                <a:ext cx="8077200" cy="4953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5" name="Group 114"/>
              <p:cNvGrpSpPr/>
              <p:nvPr/>
            </p:nvGrpSpPr>
            <p:grpSpPr>
              <a:xfrm>
                <a:off x="304800" y="4800600"/>
                <a:ext cx="6946900" cy="361950"/>
                <a:chOff x="591749" y="4800600"/>
                <a:chExt cx="6946900" cy="361950"/>
              </a:xfrm>
            </p:grpSpPr>
            <p:sp>
              <p:nvSpPr>
                <p:cNvPr id="117" name="Rectangle 27"/>
                <p:cNvSpPr>
                  <a:spLocks noChangeArrowheads="1"/>
                </p:cNvSpPr>
                <p:nvPr/>
              </p:nvSpPr>
              <p:spPr bwMode="auto">
                <a:xfrm>
                  <a:off x="591749" y="4800600"/>
                  <a:ext cx="715962"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cow</a:t>
                  </a:r>
                </a:p>
              </p:txBody>
            </p:sp>
            <p:sp>
              <p:nvSpPr>
                <p:cNvPr id="118" name="Rectangle 29"/>
                <p:cNvSpPr>
                  <a:spLocks noChangeArrowheads="1"/>
                </p:cNvSpPr>
                <p:nvPr/>
              </p:nvSpPr>
              <p:spPr bwMode="auto">
                <a:xfrm>
                  <a:off x="2099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pig</a:t>
                  </a:r>
                </a:p>
              </p:txBody>
            </p:sp>
            <p:sp>
              <p:nvSpPr>
                <p:cNvPr id="119" name="Rectangle 30"/>
                <p:cNvSpPr>
                  <a:spLocks noChangeArrowheads="1"/>
                </p:cNvSpPr>
                <p:nvPr/>
              </p:nvSpPr>
              <p:spPr bwMode="auto">
                <a:xfrm>
                  <a:off x="2861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cat</a:t>
                  </a:r>
                </a:p>
              </p:txBody>
            </p:sp>
            <p:sp>
              <p:nvSpPr>
                <p:cNvPr id="120" name="Rectangle 35"/>
                <p:cNvSpPr>
                  <a:spLocks noChangeArrowheads="1"/>
                </p:cNvSpPr>
                <p:nvPr/>
              </p:nvSpPr>
              <p:spPr bwMode="auto">
                <a:xfrm>
                  <a:off x="4439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lion</a:t>
                  </a:r>
                </a:p>
              </p:txBody>
            </p:sp>
            <p:sp>
              <p:nvSpPr>
                <p:cNvPr id="121" name="Rectangle 36"/>
                <p:cNvSpPr>
                  <a:spLocks noChangeArrowheads="1"/>
                </p:cNvSpPr>
                <p:nvPr/>
              </p:nvSpPr>
              <p:spPr bwMode="auto">
                <a:xfrm>
                  <a:off x="5201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tiger</a:t>
                  </a:r>
                </a:p>
              </p:txBody>
            </p:sp>
            <p:sp>
              <p:nvSpPr>
                <p:cNvPr id="122" name="Rectangle 37"/>
                <p:cNvSpPr>
                  <a:spLocks noChangeArrowheads="1"/>
                </p:cNvSpPr>
                <p:nvPr/>
              </p:nvSpPr>
              <p:spPr bwMode="auto">
                <a:xfrm>
                  <a:off x="3649273"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rat</a:t>
                  </a:r>
                </a:p>
              </p:txBody>
            </p:sp>
            <p:sp>
              <p:nvSpPr>
                <p:cNvPr id="123" name="Rectangle 40"/>
                <p:cNvSpPr>
                  <a:spLocks noChangeArrowheads="1"/>
                </p:cNvSpPr>
                <p:nvPr/>
              </p:nvSpPr>
              <p:spPr bwMode="auto">
                <a:xfrm>
                  <a:off x="6746486"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dog</a:t>
                  </a:r>
                </a:p>
              </p:txBody>
            </p:sp>
            <p:sp>
              <p:nvSpPr>
                <p:cNvPr id="124" name="Rectangle 42"/>
                <p:cNvSpPr>
                  <a:spLocks noChangeArrowheads="1"/>
                </p:cNvSpPr>
                <p:nvPr/>
              </p:nvSpPr>
              <p:spPr bwMode="auto">
                <a:xfrm>
                  <a:off x="5955911"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goat</a:t>
                  </a:r>
                </a:p>
              </p:txBody>
            </p:sp>
            <p:sp>
              <p:nvSpPr>
                <p:cNvPr id="125" name="Rectangle 27"/>
                <p:cNvSpPr>
                  <a:spLocks noChangeArrowheads="1"/>
                </p:cNvSpPr>
                <p:nvPr/>
              </p:nvSpPr>
              <p:spPr bwMode="auto">
                <a:xfrm>
                  <a:off x="1307710"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fox</a:t>
                  </a:r>
                </a:p>
              </p:txBody>
            </p:sp>
          </p:grpSp>
          <p:sp>
            <p:nvSpPr>
              <p:cNvPr id="116" name="TextBox 115"/>
              <p:cNvSpPr txBox="1"/>
              <p:nvPr/>
            </p:nvSpPr>
            <p:spPr>
              <a:xfrm>
                <a:off x="304800" y="1371600"/>
                <a:ext cx="7391400" cy="2977738"/>
              </a:xfrm>
              <a:prstGeom prst="rect">
                <a:avLst/>
              </a:prstGeom>
              <a:noFill/>
            </p:spPr>
            <p:txBody>
              <a:bodyPr wrap="square" rtlCol="0">
                <a:spAutoFit/>
              </a:bodyPr>
              <a:lstStyle/>
              <a:p>
                <a:pPr>
                  <a:buClr>
                    <a:schemeClr val="tx1"/>
                  </a:buClr>
                  <a:tabLst>
                    <a:tab pos="723900" algn="l"/>
                    <a:tab pos="1257300" algn="l"/>
                    <a:tab pos="1968500" algn="l"/>
                  </a:tabLst>
                </a:pPr>
                <a:r>
                  <a:rPr lang="en-US" altLang="en-US" dirty="0">
                    <a:latin typeface="Times New Roman" pitchFamily="18" charset="0"/>
                    <a:cs typeface="Times New Roman" pitchFamily="18" charset="0"/>
                  </a:rPr>
                  <a:t>To partition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such that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are all less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are all greater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pPr>
                  <a:spcBef>
                    <a:spcPts val="900"/>
                  </a:spcBef>
                  <a:buClr>
                    <a:schemeClr val="tx1"/>
                  </a:buClr>
                  <a:tabLst>
                    <a:tab pos="723900" algn="l"/>
                    <a:tab pos="1257300" algn="l"/>
                    <a:tab pos="1968500" algn="l"/>
                  </a:tabLst>
                </a:pPr>
                <a:r>
                  <a:rPr lang="en-US" altLang="en-US" dirty="0">
                    <a:latin typeface="Times New Roman" pitchFamily="18" charset="0"/>
                    <a:cs typeface="Times New Roman" pitchFamily="18" charset="0"/>
                  </a:rPr>
                  <a:t>1.	Let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be the element in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 and set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2.	For </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+1, …, </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repeat: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	If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is less than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2.1.1.	Copy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2.1.2.	</a:t>
                </a:r>
                <a:r>
                  <a:rPr lang="en-US" altLang="en-US" dirty="0">
                    <a:solidFill>
                      <a:srgbClr val="FF0000"/>
                    </a:solidFill>
                    <a:latin typeface="Times New Roman" pitchFamily="18" charset="0"/>
                    <a:cs typeface="Times New Roman" pitchFamily="18" charset="0"/>
                  </a:rPr>
                  <a:t>Increment </a:t>
                </a:r>
                <a:r>
                  <a:rPr lang="en-US" altLang="en-US" i="1" dirty="0">
                    <a:solidFill>
                      <a:srgbClr val="FF0000"/>
                    </a:solidFill>
                    <a:latin typeface="Times New Roman" pitchFamily="18" charset="0"/>
                    <a:cs typeface="Times New Roman" pitchFamily="18" charset="0"/>
                  </a:rPr>
                  <a:t>p</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3.	Terminate yielding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endParaRPr lang="en-GB" dirty="0"/>
              </a:p>
            </p:txBody>
          </p:sp>
        </p:grpSp>
        <p:sp>
          <p:nvSpPr>
            <p:cNvPr id="112" name="TextBox 111"/>
            <p:cNvSpPr txBox="1"/>
            <p:nvPr/>
          </p:nvSpPr>
          <p:spPr>
            <a:xfrm>
              <a:off x="304800" y="5486400"/>
              <a:ext cx="2057400" cy="646331"/>
            </a:xfrm>
            <a:prstGeom prst="rect">
              <a:avLst/>
            </a:prstGeom>
            <a:noFill/>
          </p:spPr>
          <p:txBody>
            <a:bodyPr wrap="square" rtlCol="0">
              <a:spAutoFit/>
            </a:bodyPr>
            <a:lstStyle/>
            <a:p>
              <a:r>
                <a:rPr lang="en-GB" dirty="0"/>
                <a:t>left = 0</a:t>
              </a:r>
            </a:p>
            <a:p>
              <a:r>
                <a:rPr lang="en-GB" dirty="0"/>
                <a:t>right = 8</a:t>
              </a:r>
            </a:p>
          </p:txBody>
        </p:sp>
        <p:sp>
          <p:nvSpPr>
            <p:cNvPr id="113" name="TextBox 112"/>
            <p:cNvSpPr txBox="1"/>
            <p:nvPr/>
          </p:nvSpPr>
          <p:spPr>
            <a:xfrm>
              <a:off x="5408299" y="5334000"/>
              <a:ext cx="2057400" cy="923330"/>
            </a:xfrm>
            <a:prstGeom prst="rect">
              <a:avLst/>
            </a:prstGeom>
            <a:noFill/>
          </p:spPr>
          <p:txBody>
            <a:bodyPr wrap="square" rtlCol="0">
              <a:spAutoFit/>
            </a:bodyPr>
            <a:lstStyle/>
            <a:p>
              <a:r>
                <a:rPr lang="en-GB" dirty="0"/>
                <a:t>pivot = fox</a:t>
              </a:r>
            </a:p>
            <a:p>
              <a:r>
                <a:rPr lang="en-GB" dirty="0">
                  <a:solidFill>
                    <a:srgbClr val="FF0000"/>
                  </a:solidFill>
                </a:rPr>
                <a:t>p=1</a:t>
              </a:r>
            </a:p>
            <a:p>
              <a:r>
                <a:rPr lang="en-GB" dirty="0"/>
                <a:t>r=1</a:t>
              </a:r>
            </a:p>
          </p:txBody>
        </p:sp>
      </p:grpSp>
      <p:grpSp>
        <p:nvGrpSpPr>
          <p:cNvPr id="126" name="Group 125"/>
          <p:cNvGrpSpPr/>
          <p:nvPr/>
        </p:nvGrpSpPr>
        <p:grpSpPr>
          <a:xfrm>
            <a:off x="152400" y="1371600"/>
            <a:ext cx="8077200" cy="4953000"/>
            <a:chOff x="152400" y="1371600"/>
            <a:chExt cx="8077200" cy="4953000"/>
          </a:xfrm>
        </p:grpSpPr>
        <p:grpSp>
          <p:nvGrpSpPr>
            <p:cNvPr id="127" name="Group 126"/>
            <p:cNvGrpSpPr/>
            <p:nvPr/>
          </p:nvGrpSpPr>
          <p:grpSpPr>
            <a:xfrm>
              <a:off x="152400" y="1371600"/>
              <a:ext cx="8077200" cy="4953000"/>
              <a:chOff x="152400" y="1371600"/>
              <a:chExt cx="8077200" cy="4953000"/>
            </a:xfrm>
          </p:grpSpPr>
          <p:sp>
            <p:nvSpPr>
              <p:cNvPr id="130" name="Rectangle 129"/>
              <p:cNvSpPr/>
              <p:nvPr/>
            </p:nvSpPr>
            <p:spPr>
              <a:xfrm>
                <a:off x="152400" y="1371600"/>
                <a:ext cx="8077200" cy="4953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31" name="Group 130"/>
              <p:cNvGrpSpPr/>
              <p:nvPr/>
            </p:nvGrpSpPr>
            <p:grpSpPr>
              <a:xfrm>
                <a:off x="304800" y="4800600"/>
                <a:ext cx="6946900" cy="361950"/>
                <a:chOff x="591749" y="4800600"/>
                <a:chExt cx="6946900" cy="361950"/>
              </a:xfrm>
            </p:grpSpPr>
            <p:sp>
              <p:nvSpPr>
                <p:cNvPr id="133" name="Rectangle 27"/>
                <p:cNvSpPr>
                  <a:spLocks noChangeArrowheads="1"/>
                </p:cNvSpPr>
                <p:nvPr/>
              </p:nvSpPr>
              <p:spPr bwMode="auto">
                <a:xfrm>
                  <a:off x="591749" y="4800600"/>
                  <a:ext cx="715962"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cow</a:t>
                  </a:r>
                </a:p>
              </p:txBody>
            </p:sp>
            <p:sp>
              <p:nvSpPr>
                <p:cNvPr id="134" name="Rectangle 29"/>
                <p:cNvSpPr>
                  <a:spLocks noChangeArrowheads="1"/>
                </p:cNvSpPr>
                <p:nvPr/>
              </p:nvSpPr>
              <p:spPr bwMode="auto">
                <a:xfrm>
                  <a:off x="2099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pig</a:t>
                  </a:r>
                </a:p>
              </p:txBody>
            </p:sp>
            <p:sp>
              <p:nvSpPr>
                <p:cNvPr id="135" name="Rectangle 30"/>
                <p:cNvSpPr>
                  <a:spLocks noChangeArrowheads="1"/>
                </p:cNvSpPr>
                <p:nvPr/>
              </p:nvSpPr>
              <p:spPr bwMode="auto">
                <a:xfrm>
                  <a:off x="2861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cat</a:t>
                  </a:r>
                </a:p>
              </p:txBody>
            </p:sp>
            <p:sp>
              <p:nvSpPr>
                <p:cNvPr id="136" name="Rectangle 35"/>
                <p:cNvSpPr>
                  <a:spLocks noChangeArrowheads="1"/>
                </p:cNvSpPr>
                <p:nvPr/>
              </p:nvSpPr>
              <p:spPr bwMode="auto">
                <a:xfrm>
                  <a:off x="4439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lion</a:t>
                  </a:r>
                </a:p>
              </p:txBody>
            </p:sp>
            <p:sp>
              <p:nvSpPr>
                <p:cNvPr id="137" name="Rectangle 36"/>
                <p:cNvSpPr>
                  <a:spLocks noChangeArrowheads="1"/>
                </p:cNvSpPr>
                <p:nvPr/>
              </p:nvSpPr>
              <p:spPr bwMode="auto">
                <a:xfrm>
                  <a:off x="5201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tiger</a:t>
                  </a:r>
                </a:p>
              </p:txBody>
            </p:sp>
            <p:sp>
              <p:nvSpPr>
                <p:cNvPr id="138" name="Rectangle 37"/>
                <p:cNvSpPr>
                  <a:spLocks noChangeArrowheads="1"/>
                </p:cNvSpPr>
                <p:nvPr/>
              </p:nvSpPr>
              <p:spPr bwMode="auto">
                <a:xfrm>
                  <a:off x="3649273"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rat</a:t>
                  </a:r>
                </a:p>
              </p:txBody>
            </p:sp>
            <p:sp>
              <p:nvSpPr>
                <p:cNvPr id="139" name="Rectangle 40"/>
                <p:cNvSpPr>
                  <a:spLocks noChangeArrowheads="1"/>
                </p:cNvSpPr>
                <p:nvPr/>
              </p:nvSpPr>
              <p:spPr bwMode="auto">
                <a:xfrm>
                  <a:off x="6746486"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dog</a:t>
                  </a:r>
                </a:p>
              </p:txBody>
            </p:sp>
            <p:sp>
              <p:nvSpPr>
                <p:cNvPr id="140" name="Rectangle 42"/>
                <p:cNvSpPr>
                  <a:spLocks noChangeArrowheads="1"/>
                </p:cNvSpPr>
                <p:nvPr/>
              </p:nvSpPr>
              <p:spPr bwMode="auto">
                <a:xfrm>
                  <a:off x="5955911"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goat</a:t>
                  </a:r>
                </a:p>
              </p:txBody>
            </p:sp>
            <p:sp>
              <p:nvSpPr>
                <p:cNvPr id="141" name="Rectangle 27"/>
                <p:cNvSpPr>
                  <a:spLocks noChangeArrowheads="1"/>
                </p:cNvSpPr>
                <p:nvPr/>
              </p:nvSpPr>
              <p:spPr bwMode="auto">
                <a:xfrm>
                  <a:off x="1307710"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fox</a:t>
                  </a:r>
                </a:p>
              </p:txBody>
            </p:sp>
          </p:grpSp>
          <p:sp>
            <p:nvSpPr>
              <p:cNvPr id="132" name="TextBox 131"/>
              <p:cNvSpPr txBox="1"/>
              <p:nvPr/>
            </p:nvSpPr>
            <p:spPr>
              <a:xfrm>
                <a:off x="304800" y="1371600"/>
                <a:ext cx="7391400" cy="2977738"/>
              </a:xfrm>
              <a:prstGeom prst="rect">
                <a:avLst/>
              </a:prstGeom>
              <a:noFill/>
            </p:spPr>
            <p:txBody>
              <a:bodyPr wrap="square" rtlCol="0">
                <a:spAutoFit/>
              </a:bodyPr>
              <a:lstStyle/>
              <a:p>
                <a:pPr>
                  <a:buClr>
                    <a:schemeClr val="tx1"/>
                  </a:buClr>
                  <a:tabLst>
                    <a:tab pos="723900" algn="l"/>
                    <a:tab pos="1257300" algn="l"/>
                    <a:tab pos="1968500" algn="l"/>
                  </a:tabLst>
                </a:pPr>
                <a:r>
                  <a:rPr lang="en-US" altLang="en-US" dirty="0">
                    <a:latin typeface="Times New Roman" pitchFamily="18" charset="0"/>
                    <a:cs typeface="Times New Roman" pitchFamily="18" charset="0"/>
                  </a:rPr>
                  <a:t>To partition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such that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are all less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are all greater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pPr>
                  <a:spcBef>
                    <a:spcPts val="900"/>
                  </a:spcBef>
                  <a:buClr>
                    <a:schemeClr val="tx1"/>
                  </a:buClr>
                  <a:tabLst>
                    <a:tab pos="723900" algn="l"/>
                    <a:tab pos="1257300" algn="l"/>
                    <a:tab pos="1968500" algn="l"/>
                  </a:tabLst>
                </a:pPr>
                <a:r>
                  <a:rPr lang="en-US" altLang="en-US" dirty="0">
                    <a:latin typeface="Times New Roman" pitchFamily="18" charset="0"/>
                    <a:cs typeface="Times New Roman" pitchFamily="18" charset="0"/>
                  </a:rPr>
                  <a:t>1.	Let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be the element in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 and set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2.	</a:t>
                </a:r>
                <a:r>
                  <a:rPr lang="en-US" altLang="en-US" dirty="0">
                    <a:solidFill>
                      <a:srgbClr val="FF0000"/>
                    </a:solidFill>
                    <a:latin typeface="Times New Roman" pitchFamily="18" charset="0"/>
                    <a:cs typeface="Times New Roman" pitchFamily="18" charset="0"/>
                  </a:rPr>
                  <a:t>For </a:t>
                </a:r>
                <a:r>
                  <a:rPr lang="en-US" altLang="en-US" i="1" dirty="0">
                    <a:solidFill>
                      <a:srgbClr val="FF0000"/>
                    </a:solidFill>
                    <a:latin typeface="Times New Roman" pitchFamily="18" charset="0"/>
                    <a:cs typeface="Times New Roman" pitchFamily="18" charset="0"/>
                  </a:rPr>
                  <a:t>r</a:t>
                </a:r>
                <a:r>
                  <a:rPr lang="en-US" altLang="en-US" dirty="0">
                    <a:solidFill>
                      <a:srgbClr val="FF0000"/>
                    </a:solidFill>
                    <a:latin typeface="Times New Roman" pitchFamily="18" charset="0"/>
                    <a:cs typeface="Times New Roman" pitchFamily="18" charset="0"/>
                  </a:rPr>
                  <a:t> = </a:t>
                </a:r>
                <a:r>
                  <a:rPr lang="en-US" altLang="en-US" i="1" dirty="0">
                    <a:solidFill>
                      <a:srgbClr val="FF0000"/>
                    </a:solidFill>
                    <a:latin typeface="Times New Roman" pitchFamily="18" charset="0"/>
                    <a:cs typeface="Times New Roman" pitchFamily="18" charset="0"/>
                  </a:rPr>
                  <a:t>left</a:t>
                </a:r>
                <a:r>
                  <a:rPr lang="en-US" altLang="en-US" dirty="0">
                    <a:solidFill>
                      <a:srgbClr val="FF0000"/>
                    </a:solidFill>
                    <a:latin typeface="Times New Roman" pitchFamily="18" charset="0"/>
                    <a:cs typeface="Times New Roman" pitchFamily="18" charset="0"/>
                  </a:rPr>
                  <a:t>+1, …, </a:t>
                </a:r>
                <a:r>
                  <a:rPr lang="en-US" altLang="en-US" i="1" dirty="0">
                    <a:solidFill>
                      <a:srgbClr val="FF0000"/>
                    </a:solidFill>
                    <a:latin typeface="Times New Roman" pitchFamily="18" charset="0"/>
                    <a:cs typeface="Times New Roman" pitchFamily="18" charset="0"/>
                  </a:rPr>
                  <a:t>right</a:t>
                </a:r>
                <a:r>
                  <a:rPr lang="en-US" altLang="en-US" dirty="0">
                    <a:solidFill>
                      <a:srgbClr val="FF0000"/>
                    </a:solidFill>
                    <a:latin typeface="Times New Roman" pitchFamily="18" charset="0"/>
                    <a:cs typeface="Times New Roman" pitchFamily="18" charset="0"/>
                  </a:rPr>
                  <a:t>, repeat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	If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is less than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2.1.1.	Copy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2.1.2.	Increment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3.	Terminate yielding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endParaRPr lang="en-GB" dirty="0"/>
              </a:p>
            </p:txBody>
          </p:sp>
        </p:grpSp>
        <p:sp>
          <p:nvSpPr>
            <p:cNvPr id="128" name="TextBox 127"/>
            <p:cNvSpPr txBox="1"/>
            <p:nvPr/>
          </p:nvSpPr>
          <p:spPr>
            <a:xfrm>
              <a:off x="304800" y="5486400"/>
              <a:ext cx="2057400" cy="646331"/>
            </a:xfrm>
            <a:prstGeom prst="rect">
              <a:avLst/>
            </a:prstGeom>
            <a:noFill/>
          </p:spPr>
          <p:txBody>
            <a:bodyPr wrap="square" rtlCol="0">
              <a:spAutoFit/>
            </a:bodyPr>
            <a:lstStyle/>
            <a:p>
              <a:r>
                <a:rPr lang="en-GB" dirty="0"/>
                <a:t>left = 0</a:t>
              </a:r>
            </a:p>
            <a:p>
              <a:r>
                <a:rPr lang="en-GB" dirty="0"/>
                <a:t>right = 8</a:t>
              </a:r>
            </a:p>
          </p:txBody>
        </p:sp>
        <p:sp>
          <p:nvSpPr>
            <p:cNvPr id="129" name="TextBox 128"/>
            <p:cNvSpPr txBox="1"/>
            <p:nvPr/>
          </p:nvSpPr>
          <p:spPr>
            <a:xfrm>
              <a:off x="5408299" y="5334000"/>
              <a:ext cx="2057400" cy="923330"/>
            </a:xfrm>
            <a:prstGeom prst="rect">
              <a:avLst/>
            </a:prstGeom>
            <a:noFill/>
          </p:spPr>
          <p:txBody>
            <a:bodyPr wrap="square" rtlCol="0">
              <a:spAutoFit/>
            </a:bodyPr>
            <a:lstStyle/>
            <a:p>
              <a:r>
                <a:rPr lang="en-GB" dirty="0"/>
                <a:t>pivot = fox</a:t>
              </a:r>
            </a:p>
            <a:p>
              <a:r>
                <a:rPr lang="en-GB" dirty="0"/>
                <a:t>p=1</a:t>
              </a:r>
            </a:p>
            <a:p>
              <a:r>
                <a:rPr lang="en-GB" dirty="0">
                  <a:solidFill>
                    <a:srgbClr val="FF0000"/>
                  </a:solidFill>
                </a:rPr>
                <a:t>r=2</a:t>
              </a:r>
            </a:p>
          </p:txBody>
        </p:sp>
      </p:grpSp>
      <p:grpSp>
        <p:nvGrpSpPr>
          <p:cNvPr id="142" name="Group 141"/>
          <p:cNvGrpSpPr/>
          <p:nvPr/>
        </p:nvGrpSpPr>
        <p:grpSpPr>
          <a:xfrm>
            <a:off x="152400" y="1371600"/>
            <a:ext cx="8077200" cy="4953000"/>
            <a:chOff x="152400" y="1371600"/>
            <a:chExt cx="8077200" cy="4953000"/>
          </a:xfrm>
        </p:grpSpPr>
        <p:grpSp>
          <p:nvGrpSpPr>
            <p:cNvPr id="143" name="Group 142"/>
            <p:cNvGrpSpPr/>
            <p:nvPr/>
          </p:nvGrpSpPr>
          <p:grpSpPr>
            <a:xfrm>
              <a:off x="152400" y="1371600"/>
              <a:ext cx="8077200" cy="4953000"/>
              <a:chOff x="152400" y="1371600"/>
              <a:chExt cx="8077200" cy="4953000"/>
            </a:xfrm>
          </p:grpSpPr>
          <p:sp>
            <p:nvSpPr>
              <p:cNvPr id="146" name="Rectangle 145"/>
              <p:cNvSpPr/>
              <p:nvPr/>
            </p:nvSpPr>
            <p:spPr>
              <a:xfrm>
                <a:off x="152400" y="1371600"/>
                <a:ext cx="8077200" cy="4953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47" name="Group 146"/>
              <p:cNvGrpSpPr/>
              <p:nvPr/>
            </p:nvGrpSpPr>
            <p:grpSpPr>
              <a:xfrm>
                <a:off x="304800" y="4800600"/>
                <a:ext cx="6946900" cy="361950"/>
                <a:chOff x="591749" y="4800600"/>
                <a:chExt cx="6946900" cy="361950"/>
              </a:xfrm>
            </p:grpSpPr>
            <p:sp>
              <p:nvSpPr>
                <p:cNvPr id="149" name="Rectangle 27"/>
                <p:cNvSpPr>
                  <a:spLocks noChangeArrowheads="1"/>
                </p:cNvSpPr>
                <p:nvPr/>
              </p:nvSpPr>
              <p:spPr bwMode="auto">
                <a:xfrm>
                  <a:off x="591749" y="4800600"/>
                  <a:ext cx="715962"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cow</a:t>
                  </a:r>
                </a:p>
              </p:txBody>
            </p:sp>
            <p:sp>
              <p:nvSpPr>
                <p:cNvPr id="150" name="Rectangle 29"/>
                <p:cNvSpPr>
                  <a:spLocks noChangeArrowheads="1"/>
                </p:cNvSpPr>
                <p:nvPr/>
              </p:nvSpPr>
              <p:spPr bwMode="auto">
                <a:xfrm>
                  <a:off x="2099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pig</a:t>
                  </a:r>
                </a:p>
              </p:txBody>
            </p:sp>
            <p:sp>
              <p:nvSpPr>
                <p:cNvPr id="151" name="Rectangle 30"/>
                <p:cNvSpPr>
                  <a:spLocks noChangeArrowheads="1"/>
                </p:cNvSpPr>
                <p:nvPr/>
              </p:nvSpPr>
              <p:spPr bwMode="auto">
                <a:xfrm>
                  <a:off x="2861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cat</a:t>
                  </a:r>
                </a:p>
              </p:txBody>
            </p:sp>
            <p:sp>
              <p:nvSpPr>
                <p:cNvPr id="152" name="Rectangle 35"/>
                <p:cNvSpPr>
                  <a:spLocks noChangeArrowheads="1"/>
                </p:cNvSpPr>
                <p:nvPr/>
              </p:nvSpPr>
              <p:spPr bwMode="auto">
                <a:xfrm>
                  <a:off x="4439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lion</a:t>
                  </a:r>
                </a:p>
              </p:txBody>
            </p:sp>
            <p:sp>
              <p:nvSpPr>
                <p:cNvPr id="153" name="Rectangle 36"/>
                <p:cNvSpPr>
                  <a:spLocks noChangeArrowheads="1"/>
                </p:cNvSpPr>
                <p:nvPr/>
              </p:nvSpPr>
              <p:spPr bwMode="auto">
                <a:xfrm>
                  <a:off x="5201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tiger</a:t>
                  </a:r>
                </a:p>
              </p:txBody>
            </p:sp>
            <p:sp>
              <p:nvSpPr>
                <p:cNvPr id="154" name="Rectangle 37"/>
                <p:cNvSpPr>
                  <a:spLocks noChangeArrowheads="1"/>
                </p:cNvSpPr>
                <p:nvPr/>
              </p:nvSpPr>
              <p:spPr bwMode="auto">
                <a:xfrm>
                  <a:off x="3649273"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rat</a:t>
                  </a:r>
                </a:p>
              </p:txBody>
            </p:sp>
            <p:sp>
              <p:nvSpPr>
                <p:cNvPr id="155" name="Rectangle 40"/>
                <p:cNvSpPr>
                  <a:spLocks noChangeArrowheads="1"/>
                </p:cNvSpPr>
                <p:nvPr/>
              </p:nvSpPr>
              <p:spPr bwMode="auto">
                <a:xfrm>
                  <a:off x="6746486"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dog</a:t>
                  </a:r>
                </a:p>
              </p:txBody>
            </p:sp>
            <p:sp>
              <p:nvSpPr>
                <p:cNvPr id="156" name="Rectangle 42"/>
                <p:cNvSpPr>
                  <a:spLocks noChangeArrowheads="1"/>
                </p:cNvSpPr>
                <p:nvPr/>
              </p:nvSpPr>
              <p:spPr bwMode="auto">
                <a:xfrm>
                  <a:off x="5955911"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goat</a:t>
                  </a:r>
                </a:p>
              </p:txBody>
            </p:sp>
            <p:sp>
              <p:nvSpPr>
                <p:cNvPr id="157" name="Rectangle 27"/>
                <p:cNvSpPr>
                  <a:spLocks noChangeArrowheads="1"/>
                </p:cNvSpPr>
                <p:nvPr/>
              </p:nvSpPr>
              <p:spPr bwMode="auto">
                <a:xfrm>
                  <a:off x="1307710"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fox</a:t>
                  </a:r>
                </a:p>
              </p:txBody>
            </p:sp>
          </p:grpSp>
          <p:sp>
            <p:nvSpPr>
              <p:cNvPr id="148" name="TextBox 147"/>
              <p:cNvSpPr txBox="1"/>
              <p:nvPr/>
            </p:nvSpPr>
            <p:spPr>
              <a:xfrm>
                <a:off x="304800" y="1371600"/>
                <a:ext cx="7391400" cy="2977738"/>
              </a:xfrm>
              <a:prstGeom prst="rect">
                <a:avLst/>
              </a:prstGeom>
              <a:noFill/>
            </p:spPr>
            <p:txBody>
              <a:bodyPr wrap="square" rtlCol="0">
                <a:spAutoFit/>
              </a:bodyPr>
              <a:lstStyle/>
              <a:p>
                <a:pPr>
                  <a:buClr>
                    <a:schemeClr val="tx1"/>
                  </a:buClr>
                  <a:tabLst>
                    <a:tab pos="723900" algn="l"/>
                    <a:tab pos="1257300" algn="l"/>
                    <a:tab pos="1968500" algn="l"/>
                  </a:tabLst>
                </a:pPr>
                <a:r>
                  <a:rPr lang="en-US" altLang="en-US" dirty="0">
                    <a:latin typeface="Times New Roman" pitchFamily="18" charset="0"/>
                    <a:cs typeface="Times New Roman" pitchFamily="18" charset="0"/>
                  </a:rPr>
                  <a:t>To partition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such that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are all less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are all greater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pPr>
                  <a:spcBef>
                    <a:spcPts val="900"/>
                  </a:spcBef>
                  <a:buClr>
                    <a:schemeClr val="tx1"/>
                  </a:buClr>
                  <a:tabLst>
                    <a:tab pos="723900" algn="l"/>
                    <a:tab pos="1257300" algn="l"/>
                    <a:tab pos="1968500" algn="l"/>
                  </a:tabLst>
                </a:pPr>
                <a:r>
                  <a:rPr lang="en-US" altLang="en-US" dirty="0">
                    <a:latin typeface="Times New Roman" pitchFamily="18" charset="0"/>
                    <a:cs typeface="Times New Roman" pitchFamily="18" charset="0"/>
                  </a:rPr>
                  <a:t>1.	Let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be the element in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 and set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2.	</a:t>
                </a:r>
                <a:r>
                  <a:rPr lang="en-US" altLang="en-US" dirty="0">
                    <a:solidFill>
                      <a:srgbClr val="FF0000"/>
                    </a:solidFill>
                    <a:latin typeface="Times New Roman" pitchFamily="18" charset="0"/>
                    <a:cs typeface="Times New Roman" pitchFamily="18" charset="0"/>
                  </a:rPr>
                  <a:t>For </a:t>
                </a:r>
                <a:r>
                  <a:rPr lang="en-US" altLang="en-US" i="1" dirty="0">
                    <a:solidFill>
                      <a:srgbClr val="FF0000"/>
                    </a:solidFill>
                    <a:latin typeface="Times New Roman" pitchFamily="18" charset="0"/>
                    <a:cs typeface="Times New Roman" pitchFamily="18" charset="0"/>
                  </a:rPr>
                  <a:t>r</a:t>
                </a:r>
                <a:r>
                  <a:rPr lang="en-US" altLang="en-US" dirty="0">
                    <a:solidFill>
                      <a:srgbClr val="FF0000"/>
                    </a:solidFill>
                    <a:latin typeface="Times New Roman" pitchFamily="18" charset="0"/>
                    <a:cs typeface="Times New Roman" pitchFamily="18" charset="0"/>
                  </a:rPr>
                  <a:t> = </a:t>
                </a:r>
                <a:r>
                  <a:rPr lang="en-US" altLang="en-US" i="1" dirty="0">
                    <a:solidFill>
                      <a:srgbClr val="FF0000"/>
                    </a:solidFill>
                    <a:latin typeface="Times New Roman" pitchFamily="18" charset="0"/>
                    <a:cs typeface="Times New Roman" pitchFamily="18" charset="0"/>
                  </a:rPr>
                  <a:t>left</a:t>
                </a:r>
                <a:r>
                  <a:rPr lang="en-US" altLang="en-US" dirty="0">
                    <a:solidFill>
                      <a:srgbClr val="FF0000"/>
                    </a:solidFill>
                    <a:latin typeface="Times New Roman" pitchFamily="18" charset="0"/>
                    <a:cs typeface="Times New Roman" pitchFamily="18" charset="0"/>
                  </a:rPr>
                  <a:t>+1, …, </a:t>
                </a:r>
                <a:r>
                  <a:rPr lang="en-US" altLang="en-US" i="1" dirty="0">
                    <a:solidFill>
                      <a:srgbClr val="FF0000"/>
                    </a:solidFill>
                    <a:latin typeface="Times New Roman" pitchFamily="18" charset="0"/>
                    <a:cs typeface="Times New Roman" pitchFamily="18" charset="0"/>
                  </a:rPr>
                  <a:t>right</a:t>
                </a:r>
                <a:r>
                  <a:rPr lang="en-US" altLang="en-US" dirty="0">
                    <a:solidFill>
                      <a:srgbClr val="FF0000"/>
                    </a:solidFill>
                    <a:latin typeface="Times New Roman" pitchFamily="18" charset="0"/>
                    <a:cs typeface="Times New Roman" pitchFamily="18" charset="0"/>
                  </a:rPr>
                  <a:t>, repeat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	If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is less than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2.1.1.	Copy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2.1.2.	Increment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3.	Terminate yielding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endParaRPr lang="en-GB" dirty="0"/>
              </a:p>
            </p:txBody>
          </p:sp>
        </p:grpSp>
        <p:sp>
          <p:nvSpPr>
            <p:cNvPr id="144" name="TextBox 143"/>
            <p:cNvSpPr txBox="1"/>
            <p:nvPr/>
          </p:nvSpPr>
          <p:spPr>
            <a:xfrm>
              <a:off x="304800" y="5486400"/>
              <a:ext cx="2057400" cy="646331"/>
            </a:xfrm>
            <a:prstGeom prst="rect">
              <a:avLst/>
            </a:prstGeom>
            <a:noFill/>
          </p:spPr>
          <p:txBody>
            <a:bodyPr wrap="square" rtlCol="0">
              <a:spAutoFit/>
            </a:bodyPr>
            <a:lstStyle/>
            <a:p>
              <a:r>
                <a:rPr lang="en-GB" dirty="0"/>
                <a:t>left = 0</a:t>
              </a:r>
            </a:p>
            <a:p>
              <a:r>
                <a:rPr lang="en-GB" dirty="0"/>
                <a:t>right = 8</a:t>
              </a:r>
            </a:p>
          </p:txBody>
        </p:sp>
        <p:sp>
          <p:nvSpPr>
            <p:cNvPr id="145" name="TextBox 144"/>
            <p:cNvSpPr txBox="1"/>
            <p:nvPr/>
          </p:nvSpPr>
          <p:spPr>
            <a:xfrm>
              <a:off x="5408299" y="5334000"/>
              <a:ext cx="2057400" cy="923330"/>
            </a:xfrm>
            <a:prstGeom prst="rect">
              <a:avLst/>
            </a:prstGeom>
            <a:noFill/>
          </p:spPr>
          <p:txBody>
            <a:bodyPr wrap="square" rtlCol="0">
              <a:spAutoFit/>
            </a:bodyPr>
            <a:lstStyle/>
            <a:p>
              <a:r>
                <a:rPr lang="en-GB" dirty="0"/>
                <a:t>pivot = fox</a:t>
              </a:r>
            </a:p>
            <a:p>
              <a:r>
                <a:rPr lang="en-GB" dirty="0"/>
                <a:t>p=1</a:t>
              </a:r>
            </a:p>
            <a:p>
              <a:r>
                <a:rPr lang="en-GB" dirty="0">
                  <a:solidFill>
                    <a:srgbClr val="FF0000"/>
                  </a:solidFill>
                </a:rPr>
                <a:t>r=3</a:t>
              </a:r>
            </a:p>
          </p:txBody>
        </p:sp>
      </p:grpSp>
      <p:grpSp>
        <p:nvGrpSpPr>
          <p:cNvPr id="158" name="Group 157"/>
          <p:cNvGrpSpPr/>
          <p:nvPr/>
        </p:nvGrpSpPr>
        <p:grpSpPr>
          <a:xfrm>
            <a:off x="152400" y="1371600"/>
            <a:ext cx="8077200" cy="4953000"/>
            <a:chOff x="152400" y="1371600"/>
            <a:chExt cx="8077200" cy="4953000"/>
          </a:xfrm>
        </p:grpSpPr>
        <p:grpSp>
          <p:nvGrpSpPr>
            <p:cNvPr id="159" name="Group 158"/>
            <p:cNvGrpSpPr/>
            <p:nvPr/>
          </p:nvGrpSpPr>
          <p:grpSpPr>
            <a:xfrm>
              <a:off x="152400" y="1371600"/>
              <a:ext cx="8077200" cy="4953000"/>
              <a:chOff x="152400" y="1371600"/>
              <a:chExt cx="8077200" cy="4953000"/>
            </a:xfrm>
          </p:grpSpPr>
          <p:sp>
            <p:nvSpPr>
              <p:cNvPr id="162" name="Rectangle 161"/>
              <p:cNvSpPr/>
              <p:nvPr/>
            </p:nvSpPr>
            <p:spPr>
              <a:xfrm>
                <a:off x="152400" y="1371600"/>
                <a:ext cx="8077200" cy="4953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63" name="Group 162"/>
              <p:cNvGrpSpPr/>
              <p:nvPr/>
            </p:nvGrpSpPr>
            <p:grpSpPr>
              <a:xfrm>
                <a:off x="304800" y="4800600"/>
                <a:ext cx="6946900" cy="361950"/>
                <a:chOff x="591749" y="4800600"/>
                <a:chExt cx="6946900" cy="361950"/>
              </a:xfrm>
            </p:grpSpPr>
            <p:sp>
              <p:nvSpPr>
                <p:cNvPr id="165" name="Rectangle 27"/>
                <p:cNvSpPr>
                  <a:spLocks noChangeArrowheads="1"/>
                </p:cNvSpPr>
                <p:nvPr/>
              </p:nvSpPr>
              <p:spPr bwMode="auto">
                <a:xfrm>
                  <a:off x="591749" y="4800600"/>
                  <a:ext cx="715962"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cow</a:t>
                  </a:r>
                </a:p>
              </p:txBody>
            </p:sp>
            <p:sp>
              <p:nvSpPr>
                <p:cNvPr id="166" name="Rectangle 29"/>
                <p:cNvSpPr>
                  <a:spLocks noChangeArrowheads="1"/>
                </p:cNvSpPr>
                <p:nvPr/>
              </p:nvSpPr>
              <p:spPr bwMode="auto">
                <a:xfrm>
                  <a:off x="2099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pig</a:t>
                  </a:r>
                </a:p>
              </p:txBody>
            </p:sp>
            <p:sp>
              <p:nvSpPr>
                <p:cNvPr id="167" name="Rectangle 30"/>
                <p:cNvSpPr>
                  <a:spLocks noChangeArrowheads="1"/>
                </p:cNvSpPr>
                <p:nvPr/>
              </p:nvSpPr>
              <p:spPr bwMode="auto">
                <a:xfrm>
                  <a:off x="2861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cat</a:t>
                  </a:r>
                </a:p>
              </p:txBody>
            </p:sp>
            <p:sp>
              <p:nvSpPr>
                <p:cNvPr id="168" name="Rectangle 35"/>
                <p:cNvSpPr>
                  <a:spLocks noChangeArrowheads="1"/>
                </p:cNvSpPr>
                <p:nvPr/>
              </p:nvSpPr>
              <p:spPr bwMode="auto">
                <a:xfrm>
                  <a:off x="4439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lion</a:t>
                  </a:r>
                </a:p>
              </p:txBody>
            </p:sp>
            <p:sp>
              <p:nvSpPr>
                <p:cNvPr id="169" name="Rectangle 36"/>
                <p:cNvSpPr>
                  <a:spLocks noChangeArrowheads="1"/>
                </p:cNvSpPr>
                <p:nvPr/>
              </p:nvSpPr>
              <p:spPr bwMode="auto">
                <a:xfrm>
                  <a:off x="5201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tiger</a:t>
                  </a:r>
                </a:p>
              </p:txBody>
            </p:sp>
            <p:sp>
              <p:nvSpPr>
                <p:cNvPr id="170" name="Rectangle 37"/>
                <p:cNvSpPr>
                  <a:spLocks noChangeArrowheads="1"/>
                </p:cNvSpPr>
                <p:nvPr/>
              </p:nvSpPr>
              <p:spPr bwMode="auto">
                <a:xfrm>
                  <a:off x="3649273"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rat</a:t>
                  </a:r>
                </a:p>
              </p:txBody>
            </p:sp>
            <p:sp>
              <p:nvSpPr>
                <p:cNvPr id="171" name="Rectangle 40"/>
                <p:cNvSpPr>
                  <a:spLocks noChangeArrowheads="1"/>
                </p:cNvSpPr>
                <p:nvPr/>
              </p:nvSpPr>
              <p:spPr bwMode="auto">
                <a:xfrm>
                  <a:off x="6746486"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dog</a:t>
                  </a:r>
                </a:p>
              </p:txBody>
            </p:sp>
            <p:sp>
              <p:nvSpPr>
                <p:cNvPr id="172" name="Rectangle 42"/>
                <p:cNvSpPr>
                  <a:spLocks noChangeArrowheads="1"/>
                </p:cNvSpPr>
                <p:nvPr/>
              </p:nvSpPr>
              <p:spPr bwMode="auto">
                <a:xfrm>
                  <a:off x="5955911"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goat</a:t>
                  </a:r>
                </a:p>
              </p:txBody>
            </p:sp>
            <p:sp>
              <p:nvSpPr>
                <p:cNvPr id="173" name="Rectangle 27"/>
                <p:cNvSpPr>
                  <a:spLocks noChangeArrowheads="1"/>
                </p:cNvSpPr>
                <p:nvPr/>
              </p:nvSpPr>
              <p:spPr bwMode="auto">
                <a:xfrm>
                  <a:off x="1307710"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fox</a:t>
                  </a:r>
                </a:p>
              </p:txBody>
            </p:sp>
          </p:grpSp>
          <p:sp>
            <p:nvSpPr>
              <p:cNvPr id="164" name="TextBox 163"/>
              <p:cNvSpPr txBox="1"/>
              <p:nvPr/>
            </p:nvSpPr>
            <p:spPr>
              <a:xfrm>
                <a:off x="304800" y="1371600"/>
                <a:ext cx="7391400" cy="2977738"/>
              </a:xfrm>
              <a:prstGeom prst="rect">
                <a:avLst/>
              </a:prstGeom>
              <a:noFill/>
            </p:spPr>
            <p:txBody>
              <a:bodyPr wrap="square" rtlCol="0">
                <a:spAutoFit/>
              </a:bodyPr>
              <a:lstStyle/>
              <a:p>
                <a:pPr>
                  <a:buClr>
                    <a:schemeClr val="tx1"/>
                  </a:buClr>
                  <a:tabLst>
                    <a:tab pos="723900" algn="l"/>
                    <a:tab pos="1257300" algn="l"/>
                    <a:tab pos="1968500" algn="l"/>
                  </a:tabLst>
                </a:pPr>
                <a:r>
                  <a:rPr lang="en-US" altLang="en-US" dirty="0">
                    <a:latin typeface="Times New Roman" pitchFamily="18" charset="0"/>
                    <a:cs typeface="Times New Roman" pitchFamily="18" charset="0"/>
                  </a:rPr>
                  <a:t>To partition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such that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are all less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are all greater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pPr>
                  <a:spcBef>
                    <a:spcPts val="900"/>
                  </a:spcBef>
                  <a:buClr>
                    <a:schemeClr val="tx1"/>
                  </a:buClr>
                  <a:tabLst>
                    <a:tab pos="723900" algn="l"/>
                    <a:tab pos="1257300" algn="l"/>
                    <a:tab pos="1968500" algn="l"/>
                  </a:tabLst>
                </a:pPr>
                <a:r>
                  <a:rPr lang="en-US" altLang="en-US" dirty="0">
                    <a:latin typeface="Times New Roman" pitchFamily="18" charset="0"/>
                    <a:cs typeface="Times New Roman" pitchFamily="18" charset="0"/>
                  </a:rPr>
                  <a:t>1.	Let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be the element in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 and set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2.	For </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+1, …, </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repeat: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	</a:t>
                </a:r>
                <a:r>
                  <a:rPr lang="en-US" altLang="en-US" dirty="0">
                    <a:solidFill>
                      <a:srgbClr val="FF0000"/>
                    </a:solidFill>
                    <a:latin typeface="Times New Roman" pitchFamily="18" charset="0"/>
                    <a:cs typeface="Times New Roman" pitchFamily="18" charset="0"/>
                  </a:rPr>
                  <a:t>If </a:t>
                </a:r>
                <a:r>
                  <a:rPr lang="en-US" altLang="en-US" i="1" dirty="0">
                    <a:solidFill>
                      <a:srgbClr val="FF0000"/>
                    </a:solidFill>
                    <a:latin typeface="Times New Roman" pitchFamily="18" charset="0"/>
                    <a:cs typeface="Times New Roman" pitchFamily="18" charset="0"/>
                  </a:rPr>
                  <a:t>a</a:t>
                </a:r>
                <a:r>
                  <a:rPr lang="en-US" altLang="en-US" dirty="0">
                    <a:solidFill>
                      <a:srgbClr val="FF0000"/>
                    </a:solidFill>
                    <a:latin typeface="Times New Roman" pitchFamily="18" charset="0"/>
                    <a:cs typeface="Times New Roman" pitchFamily="18" charset="0"/>
                  </a:rPr>
                  <a:t>[</a:t>
                </a:r>
                <a:r>
                  <a:rPr lang="en-US" altLang="en-US" i="1" dirty="0">
                    <a:solidFill>
                      <a:srgbClr val="FF0000"/>
                    </a:solidFill>
                    <a:latin typeface="Times New Roman" pitchFamily="18" charset="0"/>
                    <a:cs typeface="Times New Roman" pitchFamily="18" charset="0"/>
                  </a:rPr>
                  <a:t>r</a:t>
                </a:r>
                <a:r>
                  <a:rPr lang="en-US" altLang="en-US" dirty="0">
                    <a:solidFill>
                      <a:srgbClr val="FF0000"/>
                    </a:solidFill>
                    <a:latin typeface="Times New Roman" pitchFamily="18" charset="0"/>
                    <a:cs typeface="Times New Roman" pitchFamily="18" charset="0"/>
                  </a:rPr>
                  <a:t>] is less than </a:t>
                </a:r>
                <a:r>
                  <a:rPr lang="en-US" altLang="en-US" i="1" dirty="0">
                    <a:solidFill>
                      <a:srgbClr val="FF0000"/>
                    </a:solidFill>
                    <a:latin typeface="Times New Roman" pitchFamily="18" charset="0"/>
                    <a:cs typeface="Times New Roman" pitchFamily="18" charset="0"/>
                  </a:rPr>
                  <a:t>pivot</a:t>
                </a:r>
                <a:r>
                  <a:rPr lang="en-US" altLang="en-US" dirty="0">
                    <a:solidFill>
                      <a:srgbClr val="FF0000"/>
                    </a:solidFill>
                    <a:latin typeface="Times New Roman" pitchFamily="18" charset="0"/>
                    <a:cs typeface="Times New Roman" pitchFamily="18" charset="0"/>
                  </a:rPr>
                  <a:t>:</a:t>
                </a:r>
                <a:br>
                  <a:rPr lang="en-US" altLang="en-US" dirty="0">
                    <a:solidFill>
                      <a:srgbClr val="FF0000"/>
                    </a:solidFill>
                    <a:latin typeface="Times New Roman" pitchFamily="18" charset="0"/>
                    <a:cs typeface="Times New Roman" pitchFamily="18" charset="0"/>
                  </a:rPr>
                </a:br>
                <a:r>
                  <a:rPr lang="en-US" altLang="en-US" dirty="0">
                    <a:latin typeface="Times New Roman" pitchFamily="18" charset="0"/>
                    <a:cs typeface="Times New Roman" pitchFamily="18" charset="0"/>
                  </a:rPr>
                  <a:t>		2.1.1.	Copy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2.1.2.	Increment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3.	Terminate yielding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endParaRPr lang="en-GB" dirty="0"/>
              </a:p>
            </p:txBody>
          </p:sp>
        </p:grpSp>
        <p:sp>
          <p:nvSpPr>
            <p:cNvPr id="160" name="TextBox 159"/>
            <p:cNvSpPr txBox="1"/>
            <p:nvPr/>
          </p:nvSpPr>
          <p:spPr>
            <a:xfrm>
              <a:off x="304800" y="5486400"/>
              <a:ext cx="2057400" cy="646331"/>
            </a:xfrm>
            <a:prstGeom prst="rect">
              <a:avLst/>
            </a:prstGeom>
            <a:noFill/>
          </p:spPr>
          <p:txBody>
            <a:bodyPr wrap="square" rtlCol="0">
              <a:spAutoFit/>
            </a:bodyPr>
            <a:lstStyle/>
            <a:p>
              <a:r>
                <a:rPr lang="en-GB" dirty="0"/>
                <a:t>left = 0</a:t>
              </a:r>
            </a:p>
            <a:p>
              <a:r>
                <a:rPr lang="en-GB" dirty="0"/>
                <a:t>right = 8</a:t>
              </a:r>
            </a:p>
          </p:txBody>
        </p:sp>
        <p:sp>
          <p:nvSpPr>
            <p:cNvPr id="161" name="TextBox 160"/>
            <p:cNvSpPr txBox="1"/>
            <p:nvPr/>
          </p:nvSpPr>
          <p:spPr>
            <a:xfrm>
              <a:off x="5408299" y="5334000"/>
              <a:ext cx="2057400" cy="923330"/>
            </a:xfrm>
            <a:prstGeom prst="rect">
              <a:avLst/>
            </a:prstGeom>
            <a:noFill/>
          </p:spPr>
          <p:txBody>
            <a:bodyPr wrap="square" rtlCol="0">
              <a:spAutoFit/>
            </a:bodyPr>
            <a:lstStyle/>
            <a:p>
              <a:r>
                <a:rPr lang="en-GB" dirty="0"/>
                <a:t>pivot = fox</a:t>
              </a:r>
            </a:p>
            <a:p>
              <a:r>
                <a:rPr lang="en-GB" dirty="0"/>
                <a:t>p=1</a:t>
              </a:r>
            </a:p>
            <a:p>
              <a:r>
                <a:rPr lang="en-GB" dirty="0">
                  <a:solidFill>
                    <a:srgbClr val="FF0000"/>
                  </a:solidFill>
                </a:rPr>
                <a:t>r=3</a:t>
              </a:r>
            </a:p>
          </p:txBody>
        </p:sp>
      </p:grpSp>
      <p:grpSp>
        <p:nvGrpSpPr>
          <p:cNvPr id="174" name="Group 173"/>
          <p:cNvGrpSpPr/>
          <p:nvPr/>
        </p:nvGrpSpPr>
        <p:grpSpPr>
          <a:xfrm>
            <a:off x="152400" y="1371600"/>
            <a:ext cx="8077200" cy="4953000"/>
            <a:chOff x="152400" y="1371600"/>
            <a:chExt cx="8077200" cy="4953000"/>
          </a:xfrm>
        </p:grpSpPr>
        <p:grpSp>
          <p:nvGrpSpPr>
            <p:cNvPr id="175" name="Group 174"/>
            <p:cNvGrpSpPr/>
            <p:nvPr/>
          </p:nvGrpSpPr>
          <p:grpSpPr>
            <a:xfrm>
              <a:off x="152400" y="1371600"/>
              <a:ext cx="8077200" cy="4953000"/>
              <a:chOff x="152400" y="1371600"/>
              <a:chExt cx="8077200" cy="4953000"/>
            </a:xfrm>
          </p:grpSpPr>
          <p:sp>
            <p:nvSpPr>
              <p:cNvPr id="178" name="Rectangle 177"/>
              <p:cNvSpPr/>
              <p:nvPr/>
            </p:nvSpPr>
            <p:spPr>
              <a:xfrm>
                <a:off x="152400" y="1371600"/>
                <a:ext cx="8077200" cy="4953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79" name="Group 178"/>
              <p:cNvGrpSpPr/>
              <p:nvPr/>
            </p:nvGrpSpPr>
            <p:grpSpPr>
              <a:xfrm>
                <a:off x="304800" y="4800600"/>
                <a:ext cx="6946900" cy="361950"/>
                <a:chOff x="591749" y="4800600"/>
                <a:chExt cx="6946900" cy="361950"/>
              </a:xfrm>
            </p:grpSpPr>
            <p:sp>
              <p:nvSpPr>
                <p:cNvPr id="181" name="Rectangle 27"/>
                <p:cNvSpPr>
                  <a:spLocks noChangeArrowheads="1"/>
                </p:cNvSpPr>
                <p:nvPr/>
              </p:nvSpPr>
              <p:spPr bwMode="auto">
                <a:xfrm>
                  <a:off x="591749" y="4800600"/>
                  <a:ext cx="715962"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cow</a:t>
                  </a:r>
                </a:p>
              </p:txBody>
            </p:sp>
            <p:sp>
              <p:nvSpPr>
                <p:cNvPr id="182" name="Rectangle 29"/>
                <p:cNvSpPr>
                  <a:spLocks noChangeArrowheads="1"/>
                </p:cNvSpPr>
                <p:nvPr/>
              </p:nvSpPr>
              <p:spPr bwMode="auto">
                <a:xfrm>
                  <a:off x="2099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pig</a:t>
                  </a:r>
                </a:p>
              </p:txBody>
            </p:sp>
            <p:sp>
              <p:nvSpPr>
                <p:cNvPr id="183" name="Rectangle 30"/>
                <p:cNvSpPr>
                  <a:spLocks noChangeArrowheads="1"/>
                </p:cNvSpPr>
                <p:nvPr/>
              </p:nvSpPr>
              <p:spPr bwMode="auto">
                <a:xfrm>
                  <a:off x="2861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solidFill>
                        <a:srgbClr val="FF0000"/>
                      </a:solidFill>
                    </a:rPr>
                    <a:t>pig</a:t>
                  </a:r>
                </a:p>
              </p:txBody>
            </p:sp>
            <p:sp>
              <p:nvSpPr>
                <p:cNvPr id="184" name="Rectangle 35"/>
                <p:cNvSpPr>
                  <a:spLocks noChangeArrowheads="1"/>
                </p:cNvSpPr>
                <p:nvPr/>
              </p:nvSpPr>
              <p:spPr bwMode="auto">
                <a:xfrm>
                  <a:off x="4439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lion</a:t>
                  </a:r>
                </a:p>
              </p:txBody>
            </p:sp>
            <p:sp>
              <p:nvSpPr>
                <p:cNvPr id="185" name="Rectangle 36"/>
                <p:cNvSpPr>
                  <a:spLocks noChangeArrowheads="1"/>
                </p:cNvSpPr>
                <p:nvPr/>
              </p:nvSpPr>
              <p:spPr bwMode="auto">
                <a:xfrm>
                  <a:off x="5201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tiger</a:t>
                  </a:r>
                </a:p>
              </p:txBody>
            </p:sp>
            <p:sp>
              <p:nvSpPr>
                <p:cNvPr id="186" name="Rectangle 37"/>
                <p:cNvSpPr>
                  <a:spLocks noChangeArrowheads="1"/>
                </p:cNvSpPr>
                <p:nvPr/>
              </p:nvSpPr>
              <p:spPr bwMode="auto">
                <a:xfrm>
                  <a:off x="3649273"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rat</a:t>
                  </a:r>
                </a:p>
              </p:txBody>
            </p:sp>
            <p:sp>
              <p:nvSpPr>
                <p:cNvPr id="187" name="Rectangle 40"/>
                <p:cNvSpPr>
                  <a:spLocks noChangeArrowheads="1"/>
                </p:cNvSpPr>
                <p:nvPr/>
              </p:nvSpPr>
              <p:spPr bwMode="auto">
                <a:xfrm>
                  <a:off x="6746486"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dog</a:t>
                  </a:r>
                </a:p>
              </p:txBody>
            </p:sp>
            <p:sp>
              <p:nvSpPr>
                <p:cNvPr id="188" name="Rectangle 42"/>
                <p:cNvSpPr>
                  <a:spLocks noChangeArrowheads="1"/>
                </p:cNvSpPr>
                <p:nvPr/>
              </p:nvSpPr>
              <p:spPr bwMode="auto">
                <a:xfrm>
                  <a:off x="5955911"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goat</a:t>
                  </a:r>
                </a:p>
              </p:txBody>
            </p:sp>
            <p:sp>
              <p:nvSpPr>
                <p:cNvPr id="189" name="Rectangle 27"/>
                <p:cNvSpPr>
                  <a:spLocks noChangeArrowheads="1"/>
                </p:cNvSpPr>
                <p:nvPr/>
              </p:nvSpPr>
              <p:spPr bwMode="auto">
                <a:xfrm>
                  <a:off x="1307710"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solidFill>
                        <a:srgbClr val="FF0000"/>
                      </a:solidFill>
                    </a:rPr>
                    <a:t>cat</a:t>
                  </a:r>
                </a:p>
              </p:txBody>
            </p:sp>
          </p:grpSp>
          <p:sp>
            <p:nvSpPr>
              <p:cNvPr id="180" name="TextBox 179"/>
              <p:cNvSpPr txBox="1"/>
              <p:nvPr/>
            </p:nvSpPr>
            <p:spPr>
              <a:xfrm>
                <a:off x="304800" y="1371600"/>
                <a:ext cx="7391400" cy="2977738"/>
              </a:xfrm>
              <a:prstGeom prst="rect">
                <a:avLst/>
              </a:prstGeom>
              <a:noFill/>
            </p:spPr>
            <p:txBody>
              <a:bodyPr wrap="square" rtlCol="0">
                <a:spAutoFit/>
              </a:bodyPr>
              <a:lstStyle/>
              <a:p>
                <a:pPr>
                  <a:buClr>
                    <a:schemeClr val="tx1"/>
                  </a:buClr>
                  <a:tabLst>
                    <a:tab pos="723900" algn="l"/>
                    <a:tab pos="1257300" algn="l"/>
                    <a:tab pos="1968500" algn="l"/>
                  </a:tabLst>
                </a:pPr>
                <a:r>
                  <a:rPr lang="en-US" altLang="en-US" dirty="0">
                    <a:latin typeface="Times New Roman" pitchFamily="18" charset="0"/>
                    <a:cs typeface="Times New Roman" pitchFamily="18" charset="0"/>
                  </a:rPr>
                  <a:t>To partition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such that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are all less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are all greater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pPr>
                  <a:spcBef>
                    <a:spcPts val="900"/>
                  </a:spcBef>
                  <a:buClr>
                    <a:schemeClr val="tx1"/>
                  </a:buClr>
                  <a:tabLst>
                    <a:tab pos="723900" algn="l"/>
                    <a:tab pos="1257300" algn="l"/>
                    <a:tab pos="1968500" algn="l"/>
                  </a:tabLst>
                </a:pPr>
                <a:r>
                  <a:rPr lang="en-US" altLang="en-US" dirty="0">
                    <a:latin typeface="Times New Roman" pitchFamily="18" charset="0"/>
                    <a:cs typeface="Times New Roman" pitchFamily="18" charset="0"/>
                  </a:rPr>
                  <a:t>1.	Let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be the element in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 and set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2.	For </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+1, …, </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repeat: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	If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is less than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2.1.1.	</a:t>
                </a:r>
                <a:r>
                  <a:rPr lang="en-US" altLang="en-US" dirty="0">
                    <a:solidFill>
                      <a:srgbClr val="FF0000"/>
                    </a:solidFill>
                    <a:latin typeface="Times New Roman" pitchFamily="18" charset="0"/>
                    <a:cs typeface="Times New Roman" pitchFamily="18" charset="0"/>
                  </a:rPr>
                  <a:t>Copy </a:t>
                </a:r>
                <a:r>
                  <a:rPr lang="en-US" altLang="en-US" i="1" dirty="0">
                    <a:solidFill>
                      <a:srgbClr val="FF0000"/>
                    </a:solidFill>
                    <a:latin typeface="Times New Roman" pitchFamily="18" charset="0"/>
                    <a:cs typeface="Times New Roman" pitchFamily="18" charset="0"/>
                  </a:rPr>
                  <a:t>a</a:t>
                </a:r>
                <a:r>
                  <a:rPr lang="en-US" altLang="en-US" dirty="0">
                    <a:solidFill>
                      <a:srgbClr val="FF0000"/>
                    </a:solidFill>
                    <a:latin typeface="Times New Roman" pitchFamily="18" charset="0"/>
                    <a:cs typeface="Times New Roman" pitchFamily="18" charset="0"/>
                  </a:rPr>
                  <a:t>[</a:t>
                </a:r>
                <a:r>
                  <a:rPr lang="en-US" altLang="en-US" i="1" dirty="0">
                    <a:solidFill>
                      <a:srgbClr val="FF0000"/>
                    </a:solidFill>
                    <a:latin typeface="Times New Roman" pitchFamily="18" charset="0"/>
                    <a:cs typeface="Times New Roman" pitchFamily="18" charset="0"/>
                  </a:rPr>
                  <a:t>r</a:t>
                </a:r>
                <a:r>
                  <a:rPr lang="en-US" altLang="en-US" dirty="0">
                    <a:solidFill>
                      <a:srgbClr val="FF0000"/>
                    </a:solidFill>
                    <a:latin typeface="Times New Roman" pitchFamily="18" charset="0"/>
                    <a:cs typeface="Times New Roman" pitchFamily="18" charset="0"/>
                  </a:rPr>
                  <a:t>] into </a:t>
                </a:r>
                <a:r>
                  <a:rPr lang="en-US" altLang="en-US" i="1" dirty="0">
                    <a:solidFill>
                      <a:srgbClr val="FF0000"/>
                    </a:solidFill>
                    <a:latin typeface="Times New Roman" pitchFamily="18" charset="0"/>
                    <a:cs typeface="Times New Roman" pitchFamily="18" charset="0"/>
                  </a:rPr>
                  <a:t>a</a:t>
                </a:r>
                <a:r>
                  <a:rPr lang="en-US" altLang="en-US" dirty="0">
                    <a:solidFill>
                      <a:srgbClr val="FF0000"/>
                    </a:solidFill>
                    <a:latin typeface="Times New Roman" pitchFamily="18" charset="0"/>
                    <a:cs typeface="Times New Roman" pitchFamily="18" charset="0"/>
                  </a:rPr>
                  <a:t>[</a:t>
                </a:r>
                <a:r>
                  <a:rPr lang="en-US" altLang="en-US" i="1" dirty="0">
                    <a:solidFill>
                      <a:srgbClr val="FF0000"/>
                    </a:solidFill>
                    <a:latin typeface="Times New Roman" pitchFamily="18" charset="0"/>
                    <a:cs typeface="Times New Roman" pitchFamily="18" charset="0"/>
                  </a:rPr>
                  <a:t>p</a:t>
                </a:r>
                <a:r>
                  <a:rPr lang="en-US" altLang="en-US" dirty="0">
                    <a:solidFill>
                      <a:srgbClr val="FF0000"/>
                    </a:solidFill>
                    <a:latin typeface="Times New Roman" pitchFamily="18" charset="0"/>
                    <a:cs typeface="Times New Roman" pitchFamily="18" charset="0"/>
                  </a:rPr>
                  <a:t>], </a:t>
                </a:r>
                <a:r>
                  <a:rPr lang="en-US" altLang="en-US" i="1" dirty="0">
                    <a:solidFill>
                      <a:srgbClr val="FF0000"/>
                    </a:solidFill>
                    <a:latin typeface="Times New Roman" pitchFamily="18" charset="0"/>
                    <a:cs typeface="Times New Roman" pitchFamily="18" charset="0"/>
                  </a:rPr>
                  <a:t>a</a:t>
                </a:r>
                <a:r>
                  <a:rPr lang="en-US" altLang="en-US" dirty="0">
                    <a:solidFill>
                      <a:srgbClr val="FF0000"/>
                    </a:solidFill>
                    <a:latin typeface="Times New Roman" pitchFamily="18" charset="0"/>
                    <a:cs typeface="Times New Roman" pitchFamily="18" charset="0"/>
                  </a:rPr>
                  <a:t>[</a:t>
                </a:r>
                <a:r>
                  <a:rPr lang="en-US" altLang="en-US" i="1" dirty="0">
                    <a:solidFill>
                      <a:srgbClr val="FF0000"/>
                    </a:solidFill>
                    <a:latin typeface="Times New Roman" pitchFamily="18" charset="0"/>
                    <a:cs typeface="Times New Roman" pitchFamily="18" charset="0"/>
                  </a:rPr>
                  <a:t>p</a:t>
                </a:r>
                <a:r>
                  <a:rPr lang="en-US" altLang="en-US" dirty="0">
                    <a:solidFill>
                      <a:srgbClr val="FF0000"/>
                    </a:solidFill>
                    <a:latin typeface="Times New Roman" pitchFamily="18" charset="0"/>
                    <a:cs typeface="Times New Roman" pitchFamily="18" charset="0"/>
                  </a:rPr>
                  <a:t>+1] into </a:t>
                </a:r>
                <a:r>
                  <a:rPr lang="en-US" altLang="en-US" i="1" dirty="0">
                    <a:solidFill>
                      <a:srgbClr val="FF0000"/>
                    </a:solidFill>
                    <a:latin typeface="Times New Roman" pitchFamily="18" charset="0"/>
                    <a:cs typeface="Times New Roman" pitchFamily="18" charset="0"/>
                  </a:rPr>
                  <a:t>a</a:t>
                </a:r>
                <a:r>
                  <a:rPr lang="en-US" altLang="en-US" dirty="0">
                    <a:solidFill>
                      <a:srgbClr val="FF0000"/>
                    </a:solidFill>
                    <a:latin typeface="Times New Roman" pitchFamily="18" charset="0"/>
                    <a:cs typeface="Times New Roman" pitchFamily="18" charset="0"/>
                  </a:rPr>
                  <a:t>[</a:t>
                </a:r>
                <a:r>
                  <a:rPr lang="en-US" altLang="en-US" i="1" dirty="0">
                    <a:solidFill>
                      <a:srgbClr val="FF0000"/>
                    </a:solidFill>
                    <a:latin typeface="Times New Roman" pitchFamily="18" charset="0"/>
                    <a:cs typeface="Times New Roman" pitchFamily="18" charset="0"/>
                  </a:rPr>
                  <a:t>r</a:t>
                </a:r>
                <a:r>
                  <a:rPr lang="en-US" altLang="en-US" dirty="0">
                    <a:solidFill>
                      <a:srgbClr val="FF0000"/>
                    </a:solidFill>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2.1.2.	Increment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3.	Terminate yielding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endParaRPr lang="en-GB" dirty="0"/>
              </a:p>
            </p:txBody>
          </p:sp>
        </p:grpSp>
        <p:sp>
          <p:nvSpPr>
            <p:cNvPr id="176" name="TextBox 175"/>
            <p:cNvSpPr txBox="1"/>
            <p:nvPr/>
          </p:nvSpPr>
          <p:spPr>
            <a:xfrm>
              <a:off x="304800" y="5486400"/>
              <a:ext cx="2057400" cy="646331"/>
            </a:xfrm>
            <a:prstGeom prst="rect">
              <a:avLst/>
            </a:prstGeom>
            <a:noFill/>
          </p:spPr>
          <p:txBody>
            <a:bodyPr wrap="square" rtlCol="0">
              <a:spAutoFit/>
            </a:bodyPr>
            <a:lstStyle/>
            <a:p>
              <a:r>
                <a:rPr lang="en-GB" dirty="0"/>
                <a:t>left = 0</a:t>
              </a:r>
            </a:p>
            <a:p>
              <a:r>
                <a:rPr lang="en-GB" dirty="0"/>
                <a:t>right = 8</a:t>
              </a:r>
            </a:p>
          </p:txBody>
        </p:sp>
        <p:sp>
          <p:nvSpPr>
            <p:cNvPr id="177" name="TextBox 176"/>
            <p:cNvSpPr txBox="1"/>
            <p:nvPr/>
          </p:nvSpPr>
          <p:spPr>
            <a:xfrm>
              <a:off x="5408299" y="5334000"/>
              <a:ext cx="2057400" cy="923330"/>
            </a:xfrm>
            <a:prstGeom prst="rect">
              <a:avLst/>
            </a:prstGeom>
            <a:noFill/>
          </p:spPr>
          <p:txBody>
            <a:bodyPr wrap="square" rtlCol="0">
              <a:spAutoFit/>
            </a:bodyPr>
            <a:lstStyle/>
            <a:p>
              <a:r>
                <a:rPr lang="en-GB" dirty="0"/>
                <a:t>pivot = fox</a:t>
              </a:r>
            </a:p>
            <a:p>
              <a:r>
                <a:rPr lang="en-GB" dirty="0"/>
                <a:t>p=1</a:t>
              </a:r>
            </a:p>
            <a:p>
              <a:r>
                <a:rPr lang="en-GB" dirty="0"/>
                <a:t>r=3</a:t>
              </a:r>
            </a:p>
          </p:txBody>
        </p:sp>
      </p:grpSp>
      <p:grpSp>
        <p:nvGrpSpPr>
          <p:cNvPr id="190" name="Group 189"/>
          <p:cNvGrpSpPr/>
          <p:nvPr/>
        </p:nvGrpSpPr>
        <p:grpSpPr>
          <a:xfrm>
            <a:off x="152400" y="1371600"/>
            <a:ext cx="8077200" cy="4953000"/>
            <a:chOff x="152400" y="1371600"/>
            <a:chExt cx="8077200" cy="4953000"/>
          </a:xfrm>
        </p:grpSpPr>
        <p:grpSp>
          <p:nvGrpSpPr>
            <p:cNvPr id="191" name="Group 190"/>
            <p:cNvGrpSpPr/>
            <p:nvPr/>
          </p:nvGrpSpPr>
          <p:grpSpPr>
            <a:xfrm>
              <a:off x="152400" y="1371600"/>
              <a:ext cx="8077200" cy="4953000"/>
              <a:chOff x="152400" y="1371600"/>
              <a:chExt cx="8077200" cy="4953000"/>
            </a:xfrm>
          </p:grpSpPr>
          <p:sp>
            <p:nvSpPr>
              <p:cNvPr id="194" name="Rectangle 193"/>
              <p:cNvSpPr/>
              <p:nvPr/>
            </p:nvSpPr>
            <p:spPr>
              <a:xfrm>
                <a:off x="152400" y="1371600"/>
                <a:ext cx="8077200" cy="4953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95" name="Group 194"/>
              <p:cNvGrpSpPr/>
              <p:nvPr/>
            </p:nvGrpSpPr>
            <p:grpSpPr>
              <a:xfrm>
                <a:off x="304800" y="4800600"/>
                <a:ext cx="6946900" cy="361950"/>
                <a:chOff x="591749" y="4800600"/>
                <a:chExt cx="6946900" cy="361950"/>
              </a:xfrm>
            </p:grpSpPr>
            <p:sp>
              <p:nvSpPr>
                <p:cNvPr id="197" name="Rectangle 27"/>
                <p:cNvSpPr>
                  <a:spLocks noChangeArrowheads="1"/>
                </p:cNvSpPr>
                <p:nvPr/>
              </p:nvSpPr>
              <p:spPr bwMode="auto">
                <a:xfrm>
                  <a:off x="591749" y="4800600"/>
                  <a:ext cx="715962"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cow</a:t>
                  </a:r>
                </a:p>
              </p:txBody>
            </p:sp>
            <p:sp>
              <p:nvSpPr>
                <p:cNvPr id="198" name="Rectangle 29"/>
                <p:cNvSpPr>
                  <a:spLocks noChangeArrowheads="1"/>
                </p:cNvSpPr>
                <p:nvPr/>
              </p:nvSpPr>
              <p:spPr bwMode="auto">
                <a:xfrm>
                  <a:off x="2099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solidFill>
                        <a:srgbClr val="FF0000"/>
                      </a:solidFill>
                    </a:rPr>
                    <a:t>fox</a:t>
                  </a:r>
                </a:p>
              </p:txBody>
            </p:sp>
            <p:sp>
              <p:nvSpPr>
                <p:cNvPr id="199" name="Rectangle 30"/>
                <p:cNvSpPr>
                  <a:spLocks noChangeArrowheads="1"/>
                </p:cNvSpPr>
                <p:nvPr/>
              </p:nvSpPr>
              <p:spPr bwMode="auto">
                <a:xfrm>
                  <a:off x="2861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pig</a:t>
                  </a:r>
                </a:p>
              </p:txBody>
            </p:sp>
            <p:sp>
              <p:nvSpPr>
                <p:cNvPr id="200" name="Rectangle 35"/>
                <p:cNvSpPr>
                  <a:spLocks noChangeArrowheads="1"/>
                </p:cNvSpPr>
                <p:nvPr/>
              </p:nvSpPr>
              <p:spPr bwMode="auto">
                <a:xfrm>
                  <a:off x="4439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lion</a:t>
                  </a:r>
                </a:p>
              </p:txBody>
            </p:sp>
            <p:sp>
              <p:nvSpPr>
                <p:cNvPr id="201" name="Rectangle 36"/>
                <p:cNvSpPr>
                  <a:spLocks noChangeArrowheads="1"/>
                </p:cNvSpPr>
                <p:nvPr/>
              </p:nvSpPr>
              <p:spPr bwMode="auto">
                <a:xfrm>
                  <a:off x="5201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tiger</a:t>
                  </a:r>
                </a:p>
              </p:txBody>
            </p:sp>
            <p:sp>
              <p:nvSpPr>
                <p:cNvPr id="202" name="Rectangle 37"/>
                <p:cNvSpPr>
                  <a:spLocks noChangeArrowheads="1"/>
                </p:cNvSpPr>
                <p:nvPr/>
              </p:nvSpPr>
              <p:spPr bwMode="auto">
                <a:xfrm>
                  <a:off x="3649273"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rat</a:t>
                  </a:r>
                </a:p>
              </p:txBody>
            </p:sp>
            <p:sp>
              <p:nvSpPr>
                <p:cNvPr id="203" name="Rectangle 40"/>
                <p:cNvSpPr>
                  <a:spLocks noChangeArrowheads="1"/>
                </p:cNvSpPr>
                <p:nvPr/>
              </p:nvSpPr>
              <p:spPr bwMode="auto">
                <a:xfrm>
                  <a:off x="6746486"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dog</a:t>
                  </a:r>
                </a:p>
              </p:txBody>
            </p:sp>
            <p:sp>
              <p:nvSpPr>
                <p:cNvPr id="204" name="Rectangle 42"/>
                <p:cNvSpPr>
                  <a:spLocks noChangeArrowheads="1"/>
                </p:cNvSpPr>
                <p:nvPr/>
              </p:nvSpPr>
              <p:spPr bwMode="auto">
                <a:xfrm>
                  <a:off x="5955911"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goat</a:t>
                  </a:r>
                </a:p>
              </p:txBody>
            </p:sp>
            <p:sp>
              <p:nvSpPr>
                <p:cNvPr id="205" name="Rectangle 27"/>
                <p:cNvSpPr>
                  <a:spLocks noChangeArrowheads="1"/>
                </p:cNvSpPr>
                <p:nvPr/>
              </p:nvSpPr>
              <p:spPr bwMode="auto">
                <a:xfrm>
                  <a:off x="1307710"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cat</a:t>
                  </a:r>
                </a:p>
              </p:txBody>
            </p:sp>
          </p:grpSp>
          <p:sp>
            <p:nvSpPr>
              <p:cNvPr id="196" name="TextBox 195"/>
              <p:cNvSpPr txBox="1"/>
              <p:nvPr/>
            </p:nvSpPr>
            <p:spPr>
              <a:xfrm>
                <a:off x="304800" y="1371600"/>
                <a:ext cx="7391400" cy="2977738"/>
              </a:xfrm>
              <a:prstGeom prst="rect">
                <a:avLst/>
              </a:prstGeom>
              <a:noFill/>
            </p:spPr>
            <p:txBody>
              <a:bodyPr wrap="square" rtlCol="0">
                <a:spAutoFit/>
              </a:bodyPr>
              <a:lstStyle/>
              <a:p>
                <a:pPr>
                  <a:buClr>
                    <a:schemeClr val="tx1"/>
                  </a:buClr>
                  <a:tabLst>
                    <a:tab pos="723900" algn="l"/>
                    <a:tab pos="1257300" algn="l"/>
                    <a:tab pos="1968500" algn="l"/>
                  </a:tabLst>
                </a:pPr>
                <a:r>
                  <a:rPr lang="en-US" altLang="en-US" dirty="0">
                    <a:latin typeface="Times New Roman" pitchFamily="18" charset="0"/>
                    <a:cs typeface="Times New Roman" pitchFamily="18" charset="0"/>
                  </a:rPr>
                  <a:t>To partition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such that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are all less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are all greater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pPr>
                  <a:spcBef>
                    <a:spcPts val="900"/>
                  </a:spcBef>
                  <a:buClr>
                    <a:schemeClr val="tx1"/>
                  </a:buClr>
                  <a:tabLst>
                    <a:tab pos="723900" algn="l"/>
                    <a:tab pos="1257300" algn="l"/>
                    <a:tab pos="1968500" algn="l"/>
                  </a:tabLst>
                </a:pPr>
                <a:r>
                  <a:rPr lang="en-US" altLang="en-US" dirty="0">
                    <a:latin typeface="Times New Roman" pitchFamily="18" charset="0"/>
                    <a:cs typeface="Times New Roman" pitchFamily="18" charset="0"/>
                  </a:rPr>
                  <a:t>1.	Let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be the element in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 and set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2.	For </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+1, …, </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repeat: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	If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is less than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2.1.1.	Copy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a:t>
                </a:r>
                <a:r>
                  <a:rPr lang="en-US" altLang="en-US" dirty="0">
                    <a:solidFill>
                      <a:srgbClr val="FF0000"/>
                    </a:solidFill>
                    <a:latin typeface="Times New Roman" pitchFamily="18" charset="0"/>
                    <a:cs typeface="Times New Roman" pitchFamily="18" charset="0"/>
                  </a:rPr>
                  <a:t>and </a:t>
                </a:r>
                <a:r>
                  <a:rPr lang="en-US" altLang="en-US" i="1" dirty="0">
                    <a:solidFill>
                      <a:srgbClr val="FF0000"/>
                    </a:solidFill>
                    <a:latin typeface="Times New Roman" pitchFamily="18" charset="0"/>
                    <a:cs typeface="Times New Roman" pitchFamily="18" charset="0"/>
                  </a:rPr>
                  <a:t>pivot</a:t>
                </a:r>
                <a:r>
                  <a:rPr lang="en-US" altLang="en-US" dirty="0">
                    <a:solidFill>
                      <a:srgbClr val="FF0000"/>
                    </a:solidFill>
                    <a:latin typeface="Times New Roman" pitchFamily="18" charset="0"/>
                    <a:cs typeface="Times New Roman" pitchFamily="18" charset="0"/>
                  </a:rPr>
                  <a:t> into </a:t>
                </a:r>
                <a:r>
                  <a:rPr lang="en-US" altLang="en-US" i="1" dirty="0">
                    <a:solidFill>
                      <a:srgbClr val="FF0000"/>
                    </a:solidFill>
                    <a:latin typeface="Times New Roman" pitchFamily="18" charset="0"/>
                    <a:cs typeface="Times New Roman" pitchFamily="18" charset="0"/>
                  </a:rPr>
                  <a:t>a</a:t>
                </a:r>
                <a:r>
                  <a:rPr lang="en-US" altLang="en-US" dirty="0">
                    <a:solidFill>
                      <a:srgbClr val="FF0000"/>
                    </a:solidFill>
                    <a:latin typeface="Times New Roman" pitchFamily="18" charset="0"/>
                    <a:cs typeface="Times New Roman" pitchFamily="18" charset="0"/>
                  </a:rPr>
                  <a:t>[</a:t>
                </a:r>
                <a:r>
                  <a:rPr lang="en-US" altLang="en-US" i="1" dirty="0">
                    <a:solidFill>
                      <a:srgbClr val="FF0000"/>
                    </a:solidFill>
                    <a:latin typeface="Times New Roman" pitchFamily="18" charset="0"/>
                    <a:cs typeface="Times New Roman" pitchFamily="18" charset="0"/>
                  </a:rPr>
                  <a:t>p</a:t>
                </a:r>
                <a:r>
                  <a:rPr lang="en-US" altLang="en-US" dirty="0">
                    <a:solidFill>
                      <a:srgbClr val="FF0000"/>
                    </a:solidFill>
                    <a:latin typeface="Times New Roman" pitchFamily="18" charset="0"/>
                    <a:cs typeface="Times New Roman" pitchFamily="18" charset="0"/>
                  </a:rPr>
                  <a:t>+1].</a:t>
                </a:r>
                <a:br>
                  <a:rPr lang="en-US" altLang="en-US" dirty="0">
                    <a:solidFill>
                      <a:srgbClr val="FF0000"/>
                    </a:solidFill>
                    <a:latin typeface="Times New Roman" pitchFamily="18" charset="0"/>
                    <a:cs typeface="Times New Roman" pitchFamily="18" charset="0"/>
                  </a:rPr>
                </a:br>
                <a:r>
                  <a:rPr lang="en-US" altLang="en-US" dirty="0">
                    <a:latin typeface="Times New Roman" pitchFamily="18" charset="0"/>
                    <a:cs typeface="Times New Roman" pitchFamily="18" charset="0"/>
                  </a:rPr>
                  <a:t>		2.1.2.	Increment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3.	Terminate yielding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endParaRPr lang="en-GB" dirty="0"/>
              </a:p>
            </p:txBody>
          </p:sp>
        </p:grpSp>
        <p:sp>
          <p:nvSpPr>
            <p:cNvPr id="192" name="TextBox 191"/>
            <p:cNvSpPr txBox="1"/>
            <p:nvPr/>
          </p:nvSpPr>
          <p:spPr>
            <a:xfrm>
              <a:off x="304800" y="5486400"/>
              <a:ext cx="2057400" cy="646331"/>
            </a:xfrm>
            <a:prstGeom prst="rect">
              <a:avLst/>
            </a:prstGeom>
            <a:noFill/>
          </p:spPr>
          <p:txBody>
            <a:bodyPr wrap="square" rtlCol="0">
              <a:spAutoFit/>
            </a:bodyPr>
            <a:lstStyle/>
            <a:p>
              <a:r>
                <a:rPr lang="en-GB" dirty="0"/>
                <a:t>left = 0</a:t>
              </a:r>
            </a:p>
            <a:p>
              <a:r>
                <a:rPr lang="en-GB" dirty="0"/>
                <a:t>right = 8</a:t>
              </a:r>
            </a:p>
          </p:txBody>
        </p:sp>
        <p:sp>
          <p:nvSpPr>
            <p:cNvPr id="193" name="TextBox 192"/>
            <p:cNvSpPr txBox="1"/>
            <p:nvPr/>
          </p:nvSpPr>
          <p:spPr>
            <a:xfrm>
              <a:off x="5408299" y="5334000"/>
              <a:ext cx="2057400" cy="923330"/>
            </a:xfrm>
            <a:prstGeom prst="rect">
              <a:avLst/>
            </a:prstGeom>
            <a:noFill/>
          </p:spPr>
          <p:txBody>
            <a:bodyPr wrap="square" rtlCol="0">
              <a:spAutoFit/>
            </a:bodyPr>
            <a:lstStyle/>
            <a:p>
              <a:r>
                <a:rPr lang="en-GB" dirty="0"/>
                <a:t>pivot = fox</a:t>
              </a:r>
            </a:p>
            <a:p>
              <a:r>
                <a:rPr lang="en-GB" dirty="0"/>
                <a:t>p=1</a:t>
              </a:r>
            </a:p>
            <a:p>
              <a:r>
                <a:rPr lang="en-GB" dirty="0"/>
                <a:t>r=3</a:t>
              </a:r>
            </a:p>
          </p:txBody>
        </p:sp>
      </p:grpSp>
      <p:grpSp>
        <p:nvGrpSpPr>
          <p:cNvPr id="206" name="Group 205"/>
          <p:cNvGrpSpPr/>
          <p:nvPr/>
        </p:nvGrpSpPr>
        <p:grpSpPr>
          <a:xfrm>
            <a:off x="152400" y="1371600"/>
            <a:ext cx="8077200" cy="4953000"/>
            <a:chOff x="152400" y="1371600"/>
            <a:chExt cx="8077200" cy="4953000"/>
          </a:xfrm>
        </p:grpSpPr>
        <p:grpSp>
          <p:nvGrpSpPr>
            <p:cNvPr id="207" name="Group 206"/>
            <p:cNvGrpSpPr/>
            <p:nvPr/>
          </p:nvGrpSpPr>
          <p:grpSpPr>
            <a:xfrm>
              <a:off x="152400" y="1371600"/>
              <a:ext cx="8077200" cy="4953000"/>
              <a:chOff x="152400" y="1371600"/>
              <a:chExt cx="8077200" cy="4953000"/>
            </a:xfrm>
          </p:grpSpPr>
          <p:sp>
            <p:nvSpPr>
              <p:cNvPr id="210" name="Rectangle 209"/>
              <p:cNvSpPr/>
              <p:nvPr/>
            </p:nvSpPr>
            <p:spPr>
              <a:xfrm>
                <a:off x="152400" y="1371600"/>
                <a:ext cx="8077200" cy="4953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11" name="Group 210"/>
              <p:cNvGrpSpPr/>
              <p:nvPr/>
            </p:nvGrpSpPr>
            <p:grpSpPr>
              <a:xfrm>
                <a:off x="304800" y="4800600"/>
                <a:ext cx="6946900" cy="361950"/>
                <a:chOff x="591749" y="4800600"/>
                <a:chExt cx="6946900" cy="361950"/>
              </a:xfrm>
            </p:grpSpPr>
            <p:sp>
              <p:nvSpPr>
                <p:cNvPr id="213" name="Rectangle 27"/>
                <p:cNvSpPr>
                  <a:spLocks noChangeArrowheads="1"/>
                </p:cNvSpPr>
                <p:nvPr/>
              </p:nvSpPr>
              <p:spPr bwMode="auto">
                <a:xfrm>
                  <a:off x="591749" y="4800600"/>
                  <a:ext cx="715962"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cow</a:t>
                  </a:r>
                </a:p>
              </p:txBody>
            </p:sp>
            <p:sp>
              <p:nvSpPr>
                <p:cNvPr id="214" name="Rectangle 29"/>
                <p:cNvSpPr>
                  <a:spLocks noChangeArrowheads="1"/>
                </p:cNvSpPr>
                <p:nvPr/>
              </p:nvSpPr>
              <p:spPr bwMode="auto">
                <a:xfrm>
                  <a:off x="2099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fox</a:t>
                  </a:r>
                </a:p>
              </p:txBody>
            </p:sp>
            <p:sp>
              <p:nvSpPr>
                <p:cNvPr id="215" name="Rectangle 30"/>
                <p:cNvSpPr>
                  <a:spLocks noChangeArrowheads="1"/>
                </p:cNvSpPr>
                <p:nvPr/>
              </p:nvSpPr>
              <p:spPr bwMode="auto">
                <a:xfrm>
                  <a:off x="2861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pig</a:t>
                  </a:r>
                </a:p>
              </p:txBody>
            </p:sp>
            <p:sp>
              <p:nvSpPr>
                <p:cNvPr id="216" name="Rectangle 35"/>
                <p:cNvSpPr>
                  <a:spLocks noChangeArrowheads="1"/>
                </p:cNvSpPr>
                <p:nvPr/>
              </p:nvSpPr>
              <p:spPr bwMode="auto">
                <a:xfrm>
                  <a:off x="4439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lion</a:t>
                  </a:r>
                </a:p>
              </p:txBody>
            </p:sp>
            <p:sp>
              <p:nvSpPr>
                <p:cNvPr id="217" name="Rectangle 36"/>
                <p:cNvSpPr>
                  <a:spLocks noChangeArrowheads="1"/>
                </p:cNvSpPr>
                <p:nvPr/>
              </p:nvSpPr>
              <p:spPr bwMode="auto">
                <a:xfrm>
                  <a:off x="5201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tiger</a:t>
                  </a:r>
                </a:p>
              </p:txBody>
            </p:sp>
            <p:sp>
              <p:nvSpPr>
                <p:cNvPr id="218" name="Rectangle 37"/>
                <p:cNvSpPr>
                  <a:spLocks noChangeArrowheads="1"/>
                </p:cNvSpPr>
                <p:nvPr/>
              </p:nvSpPr>
              <p:spPr bwMode="auto">
                <a:xfrm>
                  <a:off x="3649273"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rat</a:t>
                  </a:r>
                </a:p>
              </p:txBody>
            </p:sp>
            <p:sp>
              <p:nvSpPr>
                <p:cNvPr id="219" name="Rectangle 40"/>
                <p:cNvSpPr>
                  <a:spLocks noChangeArrowheads="1"/>
                </p:cNvSpPr>
                <p:nvPr/>
              </p:nvSpPr>
              <p:spPr bwMode="auto">
                <a:xfrm>
                  <a:off x="6746486"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dog</a:t>
                  </a:r>
                </a:p>
              </p:txBody>
            </p:sp>
            <p:sp>
              <p:nvSpPr>
                <p:cNvPr id="220" name="Rectangle 42"/>
                <p:cNvSpPr>
                  <a:spLocks noChangeArrowheads="1"/>
                </p:cNvSpPr>
                <p:nvPr/>
              </p:nvSpPr>
              <p:spPr bwMode="auto">
                <a:xfrm>
                  <a:off x="5955911"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goat</a:t>
                  </a:r>
                </a:p>
              </p:txBody>
            </p:sp>
            <p:sp>
              <p:nvSpPr>
                <p:cNvPr id="221" name="Rectangle 27"/>
                <p:cNvSpPr>
                  <a:spLocks noChangeArrowheads="1"/>
                </p:cNvSpPr>
                <p:nvPr/>
              </p:nvSpPr>
              <p:spPr bwMode="auto">
                <a:xfrm>
                  <a:off x="1307710"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cat</a:t>
                  </a:r>
                </a:p>
              </p:txBody>
            </p:sp>
          </p:grpSp>
          <p:sp>
            <p:nvSpPr>
              <p:cNvPr id="212" name="TextBox 211"/>
              <p:cNvSpPr txBox="1"/>
              <p:nvPr/>
            </p:nvSpPr>
            <p:spPr>
              <a:xfrm>
                <a:off x="304800" y="1371600"/>
                <a:ext cx="7391400" cy="2977738"/>
              </a:xfrm>
              <a:prstGeom prst="rect">
                <a:avLst/>
              </a:prstGeom>
              <a:noFill/>
            </p:spPr>
            <p:txBody>
              <a:bodyPr wrap="square" rtlCol="0">
                <a:spAutoFit/>
              </a:bodyPr>
              <a:lstStyle/>
              <a:p>
                <a:pPr>
                  <a:buClr>
                    <a:schemeClr val="tx1"/>
                  </a:buClr>
                  <a:tabLst>
                    <a:tab pos="723900" algn="l"/>
                    <a:tab pos="1257300" algn="l"/>
                    <a:tab pos="1968500" algn="l"/>
                  </a:tabLst>
                </a:pPr>
                <a:r>
                  <a:rPr lang="en-US" altLang="en-US" dirty="0">
                    <a:latin typeface="Times New Roman" pitchFamily="18" charset="0"/>
                    <a:cs typeface="Times New Roman" pitchFamily="18" charset="0"/>
                  </a:rPr>
                  <a:t>To partition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such that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are all less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are all greater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pPr>
                  <a:spcBef>
                    <a:spcPts val="900"/>
                  </a:spcBef>
                  <a:buClr>
                    <a:schemeClr val="tx1"/>
                  </a:buClr>
                  <a:tabLst>
                    <a:tab pos="723900" algn="l"/>
                    <a:tab pos="1257300" algn="l"/>
                    <a:tab pos="1968500" algn="l"/>
                  </a:tabLst>
                </a:pPr>
                <a:r>
                  <a:rPr lang="en-US" altLang="en-US" dirty="0">
                    <a:latin typeface="Times New Roman" pitchFamily="18" charset="0"/>
                    <a:cs typeface="Times New Roman" pitchFamily="18" charset="0"/>
                  </a:rPr>
                  <a:t>1.	Let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be the element in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 and set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2.	For </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+1, …, </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repeat: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	If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is less than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2.1.1.	Copy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br>
                  <a:rPr lang="en-US" altLang="en-US" dirty="0">
                    <a:solidFill>
                      <a:srgbClr val="FF0000"/>
                    </a:solidFill>
                    <a:latin typeface="Times New Roman" pitchFamily="18" charset="0"/>
                    <a:cs typeface="Times New Roman" pitchFamily="18" charset="0"/>
                  </a:rPr>
                </a:br>
                <a:r>
                  <a:rPr lang="en-US" altLang="en-US" dirty="0">
                    <a:latin typeface="Times New Roman" pitchFamily="18" charset="0"/>
                    <a:cs typeface="Times New Roman" pitchFamily="18" charset="0"/>
                  </a:rPr>
                  <a:t>		2.1.2.	</a:t>
                </a:r>
                <a:r>
                  <a:rPr lang="en-US" altLang="en-US" dirty="0">
                    <a:solidFill>
                      <a:srgbClr val="FF0000"/>
                    </a:solidFill>
                    <a:latin typeface="Times New Roman" pitchFamily="18" charset="0"/>
                    <a:cs typeface="Times New Roman" pitchFamily="18" charset="0"/>
                  </a:rPr>
                  <a:t>Increment </a:t>
                </a:r>
                <a:r>
                  <a:rPr lang="en-US" altLang="en-US" i="1" dirty="0">
                    <a:solidFill>
                      <a:srgbClr val="FF0000"/>
                    </a:solidFill>
                    <a:latin typeface="Times New Roman" pitchFamily="18" charset="0"/>
                    <a:cs typeface="Times New Roman" pitchFamily="18" charset="0"/>
                  </a:rPr>
                  <a:t>p</a:t>
                </a:r>
                <a:r>
                  <a:rPr lang="en-US" altLang="en-US" dirty="0">
                    <a:solidFill>
                      <a:srgbClr val="FF0000"/>
                    </a:solidFill>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3.	Terminate yielding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endParaRPr lang="en-GB" dirty="0"/>
              </a:p>
            </p:txBody>
          </p:sp>
        </p:grpSp>
        <p:sp>
          <p:nvSpPr>
            <p:cNvPr id="208" name="TextBox 207"/>
            <p:cNvSpPr txBox="1"/>
            <p:nvPr/>
          </p:nvSpPr>
          <p:spPr>
            <a:xfrm>
              <a:off x="304800" y="5486400"/>
              <a:ext cx="2057400" cy="646331"/>
            </a:xfrm>
            <a:prstGeom prst="rect">
              <a:avLst/>
            </a:prstGeom>
            <a:noFill/>
          </p:spPr>
          <p:txBody>
            <a:bodyPr wrap="square" rtlCol="0">
              <a:spAutoFit/>
            </a:bodyPr>
            <a:lstStyle/>
            <a:p>
              <a:r>
                <a:rPr lang="en-GB" dirty="0"/>
                <a:t>left = 0</a:t>
              </a:r>
            </a:p>
            <a:p>
              <a:r>
                <a:rPr lang="en-GB" dirty="0"/>
                <a:t>right = 8</a:t>
              </a:r>
            </a:p>
          </p:txBody>
        </p:sp>
        <p:sp>
          <p:nvSpPr>
            <p:cNvPr id="209" name="TextBox 208"/>
            <p:cNvSpPr txBox="1"/>
            <p:nvPr/>
          </p:nvSpPr>
          <p:spPr>
            <a:xfrm>
              <a:off x="5408299" y="5334000"/>
              <a:ext cx="2057400" cy="923330"/>
            </a:xfrm>
            <a:prstGeom prst="rect">
              <a:avLst/>
            </a:prstGeom>
            <a:noFill/>
          </p:spPr>
          <p:txBody>
            <a:bodyPr wrap="square" rtlCol="0">
              <a:spAutoFit/>
            </a:bodyPr>
            <a:lstStyle/>
            <a:p>
              <a:r>
                <a:rPr lang="en-GB" dirty="0"/>
                <a:t>pivot = fox</a:t>
              </a:r>
            </a:p>
            <a:p>
              <a:r>
                <a:rPr lang="en-GB" dirty="0">
                  <a:solidFill>
                    <a:srgbClr val="FF0000"/>
                  </a:solidFill>
                </a:rPr>
                <a:t>p=2</a:t>
              </a:r>
            </a:p>
            <a:p>
              <a:r>
                <a:rPr lang="en-GB" dirty="0"/>
                <a:t>r=3</a:t>
              </a:r>
            </a:p>
          </p:txBody>
        </p:sp>
      </p:grpSp>
      <p:grpSp>
        <p:nvGrpSpPr>
          <p:cNvPr id="222" name="Group 221"/>
          <p:cNvGrpSpPr/>
          <p:nvPr/>
        </p:nvGrpSpPr>
        <p:grpSpPr>
          <a:xfrm>
            <a:off x="152400" y="1371600"/>
            <a:ext cx="8077200" cy="4953000"/>
            <a:chOff x="152400" y="1371600"/>
            <a:chExt cx="8077200" cy="4953000"/>
          </a:xfrm>
        </p:grpSpPr>
        <p:grpSp>
          <p:nvGrpSpPr>
            <p:cNvPr id="223" name="Group 222"/>
            <p:cNvGrpSpPr/>
            <p:nvPr/>
          </p:nvGrpSpPr>
          <p:grpSpPr>
            <a:xfrm>
              <a:off x="152400" y="1371600"/>
              <a:ext cx="8077200" cy="4953000"/>
              <a:chOff x="152400" y="1371600"/>
              <a:chExt cx="8077200" cy="4953000"/>
            </a:xfrm>
          </p:grpSpPr>
          <p:sp>
            <p:nvSpPr>
              <p:cNvPr id="226" name="Rectangle 225"/>
              <p:cNvSpPr/>
              <p:nvPr/>
            </p:nvSpPr>
            <p:spPr>
              <a:xfrm>
                <a:off x="152400" y="1371600"/>
                <a:ext cx="8077200" cy="4953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27" name="Group 226"/>
              <p:cNvGrpSpPr/>
              <p:nvPr/>
            </p:nvGrpSpPr>
            <p:grpSpPr>
              <a:xfrm>
                <a:off x="304800" y="4800600"/>
                <a:ext cx="6946900" cy="361950"/>
                <a:chOff x="591749" y="4800600"/>
                <a:chExt cx="6946900" cy="361950"/>
              </a:xfrm>
            </p:grpSpPr>
            <p:sp>
              <p:nvSpPr>
                <p:cNvPr id="229" name="Rectangle 27"/>
                <p:cNvSpPr>
                  <a:spLocks noChangeArrowheads="1"/>
                </p:cNvSpPr>
                <p:nvPr/>
              </p:nvSpPr>
              <p:spPr bwMode="auto">
                <a:xfrm>
                  <a:off x="591749" y="4800600"/>
                  <a:ext cx="715962"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cow</a:t>
                  </a:r>
                </a:p>
              </p:txBody>
            </p:sp>
            <p:sp>
              <p:nvSpPr>
                <p:cNvPr id="230" name="Rectangle 29"/>
                <p:cNvSpPr>
                  <a:spLocks noChangeArrowheads="1"/>
                </p:cNvSpPr>
                <p:nvPr/>
              </p:nvSpPr>
              <p:spPr bwMode="auto">
                <a:xfrm>
                  <a:off x="2099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fox</a:t>
                  </a:r>
                </a:p>
              </p:txBody>
            </p:sp>
            <p:sp>
              <p:nvSpPr>
                <p:cNvPr id="231" name="Rectangle 30"/>
                <p:cNvSpPr>
                  <a:spLocks noChangeArrowheads="1"/>
                </p:cNvSpPr>
                <p:nvPr/>
              </p:nvSpPr>
              <p:spPr bwMode="auto">
                <a:xfrm>
                  <a:off x="2861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pig</a:t>
                  </a:r>
                </a:p>
              </p:txBody>
            </p:sp>
            <p:sp>
              <p:nvSpPr>
                <p:cNvPr id="232" name="Rectangle 35"/>
                <p:cNvSpPr>
                  <a:spLocks noChangeArrowheads="1"/>
                </p:cNvSpPr>
                <p:nvPr/>
              </p:nvSpPr>
              <p:spPr bwMode="auto">
                <a:xfrm>
                  <a:off x="4439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lion</a:t>
                  </a:r>
                </a:p>
              </p:txBody>
            </p:sp>
            <p:sp>
              <p:nvSpPr>
                <p:cNvPr id="233" name="Rectangle 36"/>
                <p:cNvSpPr>
                  <a:spLocks noChangeArrowheads="1"/>
                </p:cNvSpPr>
                <p:nvPr/>
              </p:nvSpPr>
              <p:spPr bwMode="auto">
                <a:xfrm>
                  <a:off x="5201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tiger</a:t>
                  </a:r>
                </a:p>
              </p:txBody>
            </p:sp>
            <p:sp>
              <p:nvSpPr>
                <p:cNvPr id="234" name="Rectangle 37"/>
                <p:cNvSpPr>
                  <a:spLocks noChangeArrowheads="1"/>
                </p:cNvSpPr>
                <p:nvPr/>
              </p:nvSpPr>
              <p:spPr bwMode="auto">
                <a:xfrm>
                  <a:off x="3649273"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rat</a:t>
                  </a:r>
                </a:p>
              </p:txBody>
            </p:sp>
            <p:sp>
              <p:nvSpPr>
                <p:cNvPr id="235" name="Rectangle 40"/>
                <p:cNvSpPr>
                  <a:spLocks noChangeArrowheads="1"/>
                </p:cNvSpPr>
                <p:nvPr/>
              </p:nvSpPr>
              <p:spPr bwMode="auto">
                <a:xfrm>
                  <a:off x="6746486"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dog</a:t>
                  </a:r>
                </a:p>
              </p:txBody>
            </p:sp>
            <p:sp>
              <p:nvSpPr>
                <p:cNvPr id="236" name="Rectangle 42"/>
                <p:cNvSpPr>
                  <a:spLocks noChangeArrowheads="1"/>
                </p:cNvSpPr>
                <p:nvPr/>
              </p:nvSpPr>
              <p:spPr bwMode="auto">
                <a:xfrm>
                  <a:off x="5955911"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goat</a:t>
                  </a:r>
                </a:p>
              </p:txBody>
            </p:sp>
            <p:sp>
              <p:nvSpPr>
                <p:cNvPr id="237" name="Rectangle 27"/>
                <p:cNvSpPr>
                  <a:spLocks noChangeArrowheads="1"/>
                </p:cNvSpPr>
                <p:nvPr/>
              </p:nvSpPr>
              <p:spPr bwMode="auto">
                <a:xfrm>
                  <a:off x="1307710"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cat</a:t>
                  </a:r>
                </a:p>
              </p:txBody>
            </p:sp>
          </p:grpSp>
          <p:sp>
            <p:nvSpPr>
              <p:cNvPr id="228" name="TextBox 227"/>
              <p:cNvSpPr txBox="1"/>
              <p:nvPr/>
            </p:nvSpPr>
            <p:spPr>
              <a:xfrm>
                <a:off x="304800" y="1371600"/>
                <a:ext cx="7391400" cy="2977738"/>
              </a:xfrm>
              <a:prstGeom prst="rect">
                <a:avLst/>
              </a:prstGeom>
              <a:noFill/>
            </p:spPr>
            <p:txBody>
              <a:bodyPr wrap="square" rtlCol="0">
                <a:spAutoFit/>
              </a:bodyPr>
              <a:lstStyle/>
              <a:p>
                <a:pPr>
                  <a:buClr>
                    <a:schemeClr val="tx1"/>
                  </a:buClr>
                  <a:tabLst>
                    <a:tab pos="723900" algn="l"/>
                    <a:tab pos="1257300" algn="l"/>
                    <a:tab pos="1968500" algn="l"/>
                  </a:tabLst>
                </a:pPr>
                <a:r>
                  <a:rPr lang="en-US" altLang="en-US" dirty="0">
                    <a:latin typeface="Times New Roman" pitchFamily="18" charset="0"/>
                    <a:cs typeface="Times New Roman" pitchFamily="18" charset="0"/>
                  </a:rPr>
                  <a:t>To partition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such that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are all less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are all greater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pPr>
                  <a:spcBef>
                    <a:spcPts val="900"/>
                  </a:spcBef>
                  <a:buClr>
                    <a:schemeClr val="tx1"/>
                  </a:buClr>
                  <a:tabLst>
                    <a:tab pos="723900" algn="l"/>
                    <a:tab pos="1257300" algn="l"/>
                    <a:tab pos="1968500" algn="l"/>
                  </a:tabLst>
                </a:pPr>
                <a:r>
                  <a:rPr lang="en-US" altLang="en-US" dirty="0">
                    <a:latin typeface="Times New Roman" pitchFamily="18" charset="0"/>
                    <a:cs typeface="Times New Roman" pitchFamily="18" charset="0"/>
                  </a:rPr>
                  <a:t>1.	Let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be the element in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 and set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2.	</a:t>
                </a:r>
                <a:r>
                  <a:rPr lang="en-US" altLang="en-US" dirty="0">
                    <a:solidFill>
                      <a:srgbClr val="FF0000"/>
                    </a:solidFill>
                    <a:latin typeface="Times New Roman" pitchFamily="18" charset="0"/>
                    <a:cs typeface="Times New Roman" pitchFamily="18" charset="0"/>
                  </a:rPr>
                  <a:t>For </a:t>
                </a:r>
                <a:r>
                  <a:rPr lang="en-US" altLang="en-US" i="1" dirty="0">
                    <a:solidFill>
                      <a:srgbClr val="FF0000"/>
                    </a:solidFill>
                    <a:latin typeface="Times New Roman" pitchFamily="18" charset="0"/>
                    <a:cs typeface="Times New Roman" pitchFamily="18" charset="0"/>
                  </a:rPr>
                  <a:t>r</a:t>
                </a:r>
                <a:r>
                  <a:rPr lang="en-US" altLang="en-US" dirty="0">
                    <a:solidFill>
                      <a:srgbClr val="FF0000"/>
                    </a:solidFill>
                    <a:latin typeface="Times New Roman" pitchFamily="18" charset="0"/>
                    <a:cs typeface="Times New Roman" pitchFamily="18" charset="0"/>
                  </a:rPr>
                  <a:t> = </a:t>
                </a:r>
                <a:r>
                  <a:rPr lang="en-US" altLang="en-US" i="1" dirty="0">
                    <a:solidFill>
                      <a:srgbClr val="FF0000"/>
                    </a:solidFill>
                    <a:latin typeface="Times New Roman" pitchFamily="18" charset="0"/>
                    <a:cs typeface="Times New Roman" pitchFamily="18" charset="0"/>
                  </a:rPr>
                  <a:t>left</a:t>
                </a:r>
                <a:r>
                  <a:rPr lang="en-US" altLang="en-US" dirty="0">
                    <a:solidFill>
                      <a:srgbClr val="FF0000"/>
                    </a:solidFill>
                    <a:latin typeface="Times New Roman" pitchFamily="18" charset="0"/>
                    <a:cs typeface="Times New Roman" pitchFamily="18" charset="0"/>
                  </a:rPr>
                  <a:t>+1, …, </a:t>
                </a:r>
                <a:r>
                  <a:rPr lang="en-US" altLang="en-US" i="1" dirty="0">
                    <a:solidFill>
                      <a:srgbClr val="FF0000"/>
                    </a:solidFill>
                    <a:latin typeface="Times New Roman" pitchFamily="18" charset="0"/>
                    <a:cs typeface="Times New Roman" pitchFamily="18" charset="0"/>
                  </a:rPr>
                  <a:t>right</a:t>
                </a:r>
                <a:r>
                  <a:rPr lang="en-US" altLang="en-US" dirty="0">
                    <a:solidFill>
                      <a:srgbClr val="FF0000"/>
                    </a:solidFill>
                    <a:latin typeface="Times New Roman" pitchFamily="18" charset="0"/>
                    <a:cs typeface="Times New Roman" pitchFamily="18" charset="0"/>
                  </a:rPr>
                  <a:t>, repeat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	If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is less than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2.1.1.	Copy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br>
                  <a:rPr lang="en-US" altLang="en-US" dirty="0">
                    <a:solidFill>
                      <a:srgbClr val="FF0000"/>
                    </a:solidFill>
                    <a:latin typeface="Times New Roman" pitchFamily="18" charset="0"/>
                    <a:cs typeface="Times New Roman" pitchFamily="18" charset="0"/>
                  </a:rPr>
                </a:br>
                <a:r>
                  <a:rPr lang="en-US" altLang="en-US" dirty="0">
                    <a:latin typeface="Times New Roman" pitchFamily="18" charset="0"/>
                    <a:cs typeface="Times New Roman" pitchFamily="18" charset="0"/>
                  </a:rPr>
                  <a:t>		2.1.2.	Increment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r>
                  <a:rPr lang="en-US" altLang="en-US" dirty="0">
                    <a:solidFill>
                      <a:srgbClr val="FF0000"/>
                    </a:solidFill>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3.	Terminate yielding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endParaRPr lang="en-GB" dirty="0"/>
              </a:p>
            </p:txBody>
          </p:sp>
        </p:grpSp>
        <p:sp>
          <p:nvSpPr>
            <p:cNvPr id="224" name="TextBox 223"/>
            <p:cNvSpPr txBox="1"/>
            <p:nvPr/>
          </p:nvSpPr>
          <p:spPr>
            <a:xfrm>
              <a:off x="304800" y="5486400"/>
              <a:ext cx="2057400" cy="646331"/>
            </a:xfrm>
            <a:prstGeom prst="rect">
              <a:avLst/>
            </a:prstGeom>
            <a:noFill/>
          </p:spPr>
          <p:txBody>
            <a:bodyPr wrap="square" rtlCol="0">
              <a:spAutoFit/>
            </a:bodyPr>
            <a:lstStyle/>
            <a:p>
              <a:r>
                <a:rPr lang="en-GB" dirty="0"/>
                <a:t>left = 0</a:t>
              </a:r>
            </a:p>
            <a:p>
              <a:r>
                <a:rPr lang="en-GB" dirty="0"/>
                <a:t>right = 8</a:t>
              </a:r>
            </a:p>
          </p:txBody>
        </p:sp>
        <p:sp>
          <p:nvSpPr>
            <p:cNvPr id="225" name="TextBox 224"/>
            <p:cNvSpPr txBox="1"/>
            <p:nvPr/>
          </p:nvSpPr>
          <p:spPr>
            <a:xfrm>
              <a:off x="5408299" y="5334000"/>
              <a:ext cx="2057400" cy="923330"/>
            </a:xfrm>
            <a:prstGeom prst="rect">
              <a:avLst/>
            </a:prstGeom>
            <a:noFill/>
          </p:spPr>
          <p:txBody>
            <a:bodyPr wrap="square" rtlCol="0">
              <a:spAutoFit/>
            </a:bodyPr>
            <a:lstStyle/>
            <a:p>
              <a:r>
                <a:rPr lang="en-GB" dirty="0"/>
                <a:t>pivot = fox</a:t>
              </a:r>
            </a:p>
            <a:p>
              <a:r>
                <a:rPr lang="en-GB" dirty="0"/>
                <a:t>p=2</a:t>
              </a:r>
            </a:p>
            <a:p>
              <a:r>
                <a:rPr lang="en-GB" dirty="0">
                  <a:solidFill>
                    <a:srgbClr val="FF0000"/>
                  </a:solidFill>
                </a:rPr>
                <a:t>r=4</a:t>
              </a:r>
            </a:p>
          </p:txBody>
        </p:sp>
      </p:grpSp>
      <p:grpSp>
        <p:nvGrpSpPr>
          <p:cNvPr id="238" name="Group 237"/>
          <p:cNvGrpSpPr/>
          <p:nvPr/>
        </p:nvGrpSpPr>
        <p:grpSpPr>
          <a:xfrm>
            <a:off x="152400" y="1371600"/>
            <a:ext cx="8077200" cy="4953000"/>
            <a:chOff x="152400" y="1371600"/>
            <a:chExt cx="8077200" cy="4953000"/>
          </a:xfrm>
        </p:grpSpPr>
        <p:grpSp>
          <p:nvGrpSpPr>
            <p:cNvPr id="239" name="Group 238"/>
            <p:cNvGrpSpPr/>
            <p:nvPr/>
          </p:nvGrpSpPr>
          <p:grpSpPr>
            <a:xfrm>
              <a:off x="152400" y="1371600"/>
              <a:ext cx="8077200" cy="4953000"/>
              <a:chOff x="152400" y="1371600"/>
              <a:chExt cx="8077200" cy="4953000"/>
            </a:xfrm>
          </p:grpSpPr>
          <p:sp>
            <p:nvSpPr>
              <p:cNvPr id="242" name="Rectangle 241"/>
              <p:cNvSpPr/>
              <p:nvPr/>
            </p:nvSpPr>
            <p:spPr>
              <a:xfrm>
                <a:off x="152400" y="1371600"/>
                <a:ext cx="8077200" cy="4953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43" name="Group 242"/>
              <p:cNvGrpSpPr/>
              <p:nvPr/>
            </p:nvGrpSpPr>
            <p:grpSpPr>
              <a:xfrm>
                <a:off x="304800" y="4800600"/>
                <a:ext cx="6946900" cy="361950"/>
                <a:chOff x="591749" y="4800600"/>
                <a:chExt cx="6946900" cy="361950"/>
              </a:xfrm>
            </p:grpSpPr>
            <p:sp>
              <p:nvSpPr>
                <p:cNvPr id="245" name="Rectangle 27"/>
                <p:cNvSpPr>
                  <a:spLocks noChangeArrowheads="1"/>
                </p:cNvSpPr>
                <p:nvPr/>
              </p:nvSpPr>
              <p:spPr bwMode="auto">
                <a:xfrm>
                  <a:off x="591749" y="4800600"/>
                  <a:ext cx="715962"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cow</a:t>
                  </a:r>
                </a:p>
              </p:txBody>
            </p:sp>
            <p:sp>
              <p:nvSpPr>
                <p:cNvPr id="246" name="Rectangle 29"/>
                <p:cNvSpPr>
                  <a:spLocks noChangeArrowheads="1"/>
                </p:cNvSpPr>
                <p:nvPr/>
              </p:nvSpPr>
              <p:spPr bwMode="auto">
                <a:xfrm>
                  <a:off x="2099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fox</a:t>
                  </a:r>
                </a:p>
              </p:txBody>
            </p:sp>
            <p:sp>
              <p:nvSpPr>
                <p:cNvPr id="247" name="Rectangle 30"/>
                <p:cNvSpPr>
                  <a:spLocks noChangeArrowheads="1"/>
                </p:cNvSpPr>
                <p:nvPr/>
              </p:nvSpPr>
              <p:spPr bwMode="auto">
                <a:xfrm>
                  <a:off x="2861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pig</a:t>
                  </a:r>
                </a:p>
              </p:txBody>
            </p:sp>
            <p:sp>
              <p:nvSpPr>
                <p:cNvPr id="248" name="Rectangle 35"/>
                <p:cNvSpPr>
                  <a:spLocks noChangeArrowheads="1"/>
                </p:cNvSpPr>
                <p:nvPr/>
              </p:nvSpPr>
              <p:spPr bwMode="auto">
                <a:xfrm>
                  <a:off x="4439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lion</a:t>
                  </a:r>
                </a:p>
              </p:txBody>
            </p:sp>
            <p:sp>
              <p:nvSpPr>
                <p:cNvPr id="249" name="Rectangle 36"/>
                <p:cNvSpPr>
                  <a:spLocks noChangeArrowheads="1"/>
                </p:cNvSpPr>
                <p:nvPr/>
              </p:nvSpPr>
              <p:spPr bwMode="auto">
                <a:xfrm>
                  <a:off x="5201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tiger</a:t>
                  </a:r>
                </a:p>
              </p:txBody>
            </p:sp>
            <p:sp>
              <p:nvSpPr>
                <p:cNvPr id="250" name="Rectangle 37"/>
                <p:cNvSpPr>
                  <a:spLocks noChangeArrowheads="1"/>
                </p:cNvSpPr>
                <p:nvPr/>
              </p:nvSpPr>
              <p:spPr bwMode="auto">
                <a:xfrm>
                  <a:off x="3649273"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rat</a:t>
                  </a:r>
                </a:p>
              </p:txBody>
            </p:sp>
            <p:sp>
              <p:nvSpPr>
                <p:cNvPr id="251" name="Rectangle 40"/>
                <p:cNvSpPr>
                  <a:spLocks noChangeArrowheads="1"/>
                </p:cNvSpPr>
                <p:nvPr/>
              </p:nvSpPr>
              <p:spPr bwMode="auto">
                <a:xfrm>
                  <a:off x="6746486"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dog</a:t>
                  </a:r>
                </a:p>
              </p:txBody>
            </p:sp>
            <p:sp>
              <p:nvSpPr>
                <p:cNvPr id="252" name="Rectangle 42"/>
                <p:cNvSpPr>
                  <a:spLocks noChangeArrowheads="1"/>
                </p:cNvSpPr>
                <p:nvPr/>
              </p:nvSpPr>
              <p:spPr bwMode="auto">
                <a:xfrm>
                  <a:off x="5955911"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goat</a:t>
                  </a:r>
                </a:p>
              </p:txBody>
            </p:sp>
            <p:sp>
              <p:nvSpPr>
                <p:cNvPr id="253" name="Rectangle 27"/>
                <p:cNvSpPr>
                  <a:spLocks noChangeArrowheads="1"/>
                </p:cNvSpPr>
                <p:nvPr/>
              </p:nvSpPr>
              <p:spPr bwMode="auto">
                <a:xfrm>
                  <a:off x="1307710"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cat</a:t>
                  </a:r>
                </a:p>
              </p:txBody>
            </p:sp>
          </p:grpSp>
          <p:sp>
            <p:nvSpPr>
              <p:cNvPr id="244" name="TextBox 243"/>
              <p:cNvSpPr txBox="1"/>
              <p:nvPr/>
            </p:nvSpPr>
            <p:spPr>
              <a:xfrm>
                <a:off x="304800" y="1371600"/>
                <a:ext cx="7391400" cy="2977738"/>
              </a:xfrm>
              <a:prstGeom prst="rect">
                <a:avLst/>
              </a:prstGeom>
              <a:noFill/>
            </p:spPr>
            <p:txBody>
              <a:bodyPr wrap="square" rtlCol="0">
                <a:spAutoFit/>
              </a:bodyPr>
              <a:lstStyle/>
              <a:p>
                <a:pPr>
                  <a:buClr>
                    <a:schemeClr val="tx1"/>
                  </a:buClr>
                  <a:tabLst>
                    <a:tab pos="723900" algn="l"/>
                    <a:tab pos="1257300" algn="l"/>
                    <a:tab pos="1968500" algn="l"/>
                  </a:tabLst>
                </a:pPr>
                <a:r>
                  <a:rPr lang="en-US" altLang="en-US" dirty="0">
                    <a:latin typeface="Times New Roman" pitchFamily="18" charset="0"/>
                    <a:cs typeface="Times New Roman" pitchFamily="18" charset="0"/>
                  </a:rPr>
                  <a:t>To partition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such that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are all less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are all greater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pPr>
                  <a:spcBef>
                    <a:spcPts val="900"/>
                  </a:spcBef>
                  <a:buClr>
                    <a:schemeClr val="tx1"/>
                  </a:buClr>
                  <a:tabLst>
                    <a:tab pos="723900" algn="l"/>
                    <a:tab pos="1257300" algn="l"/>
                    <a:tab pos="1968500" algn="l"/>
                  </a:tabLst>
                </a:pPr>
                <a:r>
                  <a:rPr lang="en-US" altLang="en-US" dirty="0">
                    <a:latin typeface="Times New Roman" pitchFamily="18" charset="0"/>
                    <a:cs typeface="Times New Roman" pitchFamily="18" charset="0"/>
                  </a:rPr>
                  <a:t>1.	Let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be the element in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 and set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2.	</a:t>
                </a:r>
                <a:r>
                  <a:rPr lang="en-US" altLang="en-US" dirty="0">
                    <a:solidFill>
                      <a:srgbClr val="FF0000"/>
                    </a:solidFill>
                    <a:latin typeface="Times New Roman" pitchFamily="18" charset="0"/>
                    <a:cs typeface="Times New Roman" pitchFamily="18" charset="0"/>
                  </a:rPr>
                  <a:t>For </a:t>
                </a:r>
                <a:r>
                  <a:rPr lang="en-US" altLang="en-US" i="1" dirty="0">
                    <a:solidFill>
                      <a:srgbClr val="FF0000"/>
                    </a:solidFill>
                    <a:latin typeface="Times New Roman" pitchFamily="18" charset="0"/>
                    <a:cs typeface="Times New Roman" pitchFamily="18" charset="0"/>
                  </a:rPr>
                  <a:t>r</a:t>
                </a:r>
                <a:r>
                  <a:rPr lang="en-US" altLang="en-US" dirty="0">
                    <a:solidFill>
                      <a:srgbClr val="FF0000"/>
                    </a:solidFill>
                    <a:latin typeface="Times New Roman" pitchFamily="18" charset="0"/>
                    <a:cs typeface="Times New Roman" pitchFamily="18" charset="0"/>
                  </a:rPr>
                  <a:t> = </a:t>
                </a:r>
                <a:r>
                  <a:rPr lang="en-US" altLang="en-US" i="1" dirty="0">
                    <a:solidFill>
                      <a:srgbClr val="FF0000"/>
                    </a:solidFill>
                    <a:latin typeface="Times New Roman" pitchFamily="18" charset="0"/>
                    <a:cs typeface="Times New Roman" pitchFamily="18" charset="0"/>
                  </a:rPr>
                  <a:t>left</a:t>
                </a:r>
                <a:r>
                  <a:rPr lang="en-US" altLang="en-US" dirty="0">
                    <a:solidFill>
                      <a:srgbClr val="FF0000"/>
                    </a:solidFill>
                    <a:latin typeface="Times New Roman" pitchFamily="18" charset="0"/>
                    <a:cs typeface="Times New Roman" pitchFamily="18" charset="0"/>
                  </a:rPr>
                  <a:t>+1, …, </a:t>
                </a:r>
                <a:r>
                  <a:rPr lang="en-US" altLang="en-US" i="1" dirty="0">
                    <a:solidFill>
                      <a:srgbClr val="FF0000"/>
                    </a:solidFill>
                    <a:latin typeface="Times New Roman" pitchFamily="18" charset="0"/>
                    <a:cs typeface="Times New Roman" pitchFamily="18" charset="0"/>
                  </a:rPr>
                  <a:t>right</a:t>
                </a:r>
                <a:r>
                  <a:rPr lang="en-US" altLang="en-US" dirty="0">
                    <a:solidFill>
                      <a:srgbClr val="FF0000"/>
                    </a:solidFill>
                    <a:latin typeface="Times New Roman" pitchFamily="18" charset="0"/>
                    <a:cs typeface="Times New Roman" pitchFamily="18" charset="0"/>
                  </a:rPr>
                  <a:t>, repeat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	If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is less than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2.1.1.	Copy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br>
                  <a:rPr lang="en-US" altLang="en-US" dirty="0">
                    <a:solidFill>
                      <a:srgbClr val="FF0000"/>
                    </a:solidFill>
                    <a:latin typeface="Times New Roman" pitchFamily="18" charset="0"/>
                    <a:cs typeface="Times New Roman" pitchFamily="18" charset="0"/>
                  </a:rPr>
                </a:br>
                <a:r>
                  <a:rPr lang="en-US" altLang="en-US" dirty="0">
                    <a:latin typeface="Times New Roman" pitchFamily="18" charset="0"/>
                    <a:cs typeface="Times New Roman" pitchFamily="18" charset="0"/>
                  </a:rPr>
                  <a:t>		2.1.2.	Increment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r>
                  <a:rPr lang="en-US" altLang="en-US" dirty="0">
                    <a:solidFill>
                      <a:srgbClr val="FF0000"/>
                    </a:solidFill>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3.	Terminate yielding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endParaRPr lang="en-GB" dirty="0"/>
              </a:p>
            </p:txBody>
          </p:sp>
        </p:grpSp>
        <p:sp>
          <p:nvSpPr>
            <p:cNvPr id="240" name="TextBox 239"/>
            <p:cNvSpPr txBox="1"/>
            <p:nvPr/>
          </p:nvSpPr>
          <p:spPr>
            <a:xfrm>
              <a:off x="304800" y="5486400"/>
              <a:ext cx="2057400" cy="646331"/>
            </a:xfrm>
            <a:prstGeom prst="rect">
              <a:avLst/>
            </a:prstGeom>
            <a:noFill/>
          </p:spPr>
          <p:txBody>
            <a:bodyPr wrap="square" rtlCol="0">
              <a:spAutoFit/>
            </a:bodyPr>
            <a:lstStyle/>
            <a:p>
              <a:r>
                <a:rPr lang="en-GB" dirty="0"/>
                <a:t>left = 0</a:t>
              </a:r>
            </a:p>
            <a:p>
              <a:r>
                <a:rPr lang="en-GB" dirty="0"/>
                <a:t>right = 8</a:t>
              </a:r>
            </a:p>
          </p:txBody>
        </p:sp>
        <p:sp>
          <p:nvSpPr>
            <p:cNvPr id="241" name="TextBox 240"/>
            <p:cNvSpPr txBox="1"/>
            <p:nvPr/>
          </p:nvSpPr>
          <p:spPr>
            <a:xfrm>
              <a:off x="5408299" y="5334000"/>
              <a:ext cx="2057400" cy="923330"/>
            </a:xfrm>
            <a:prstGeom prst="rect">
              <a:avLst/>
            </a:prstGeom>
            <a:noFill/>
          </p:spPr>
          <p:txBody>
            <a:bodyPr wrap="square" rtlCol="0">
              <a:spAutoFit/>
            </a:bodyPr>
            <a:lstStyle/>
            <a:p>
              <a:r>
                <a:rPr lang="en-GB" dirty="0"/>
                <a:t>pivot = fox</a:t>
              </a:r>
            </a:p>
            <a:p>
              <a:r>
                <a:rPr lang="en-GB" dirty="0"/>
                <a:t>p=2</a:t>
              </a:r>
            </a:p>
            <a:p>
              <a:r>
                <a:rPr lang="en-GB" dirty="0">
                  <a:solidFill>
                    <a:srgbClr val="FF0000"/>
                  </a:solidFill>
                </a:rPr>
                <a:t>r=5</a:t>
              </a:r>
            </a:p>
          </p:txBody>
        </p:sp>
      </p:grpSp>
      <p:grpSp>
        <p:nvGrpSpPr>
          <p:cNvPr id="254" name="Group 253"/>
          <p:cNvGrpSpPr/>
          <p:nvPr/>
        </p:nvGrpSpPr>
        <p:grpSpPr>
          <a:xfrm>
            <a:off x="152400" y="1371600"/>
            <a:ext cx="8077200" cy="4953000"/>
            <a:chOff x="152400" y="1371600"/>
            <a:chExt cx="8077200" cy="4953000"/>
          </a:xfrm>
        </p:grpSpPr>
        <p:grpSp>
          <p:nvGrpSpPr>
            <p:cNvPr id="255" name="Group 254"/>
            <p:cNvGrpSpPr/>
            <p:nvPr/>
          </p:nvGrpSpPr>
          <p:grpSpPr>
            <a:xfrm>
              <a:off x="152400" y="1371600"/>
              <a:ext cx="8077200" cy="4953000"/>
              <a:chOff x="152400" y="1371600"/>
              <a:chExt cx="8077200" cy="4953000"/>
            </a:xfrm>
          </p:grpSpPr>
          <p:sp>
            <p:nvSpPr>
              <p:cNvPr id="258" name="Rectangle 257"/>
              <p:cNvSpPr/>
              <p:nvPr/>
            </p:nvSpPr>
            <p:spPr>
              <a:xfrm>
                <a:off x="152400" y="1371600"/>
                <a:ext cx="8077200" cy="4953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59" name="Group 258"/>
              <p:cNvGrpSpPr/>
              <p:nvPr/>
            </p:nvGrpSpPr>
            <p:grpSpPr>
              <a:xfrm>
                <a:off x="304800" y="4800600"/>
                <a:ext cx="6946900" cy="361950"/>
                <a:chOff x="591749" y="4800600"/>
                <a:chExt cx="6946900" cy="361950"/>
              </a:xfrm>
            </p:grpSpPr>
            <p:sp>
              <p:nvSpPr>
                <p:cNvPr id="261" name="Rectangle 27"/>
                <p:cNvSpPr>
                  <a:spLocks noChangeArrowheads="1"/>
                </p:cNvSpPr>
                <p:nvPr/>
              </p:nvSpPr>
              <p:spPr bwMode="auto">
                <a:xfrm>
                  <a:off x="591749" y="4800600"/>
                  <a:ext cx="715962"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cow</a:t>
                  </a:r>
                </a:p>
              </p:txBody>
            </p:sp>
            <p:sp>
              <p:nvSpPr>
                <p:cNvPr id="262" name="Rectangle 29"/>
                <p:cNvSpPr>
                  <a:spLocks noChangeArrowheads="1"/>
                </p:cNvSpPr>
                <p:nvPr/>
              </p:nvSpPr>
              <p:spPr bwMode="auto">
                <a:xfrm>
                  <a:off x="2099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fox</a:t>
                  </a:r>
                </a:p>
              </p:txBody>
            </p:sp>
            <p:sp>
              <p:nvSpPr>
                <p:cNvPr id="263" name="Rectangle 30"/>
                <p:cNvSpPr>
                  <a:spLocks noChangeArrowheads="1"/>
                </p:cNvSpPr>
                <p:nvPr/>
              </p:nvSpPr>
              <p:spPr bwMode="auto">
                <a:xfrm>
                  <a:off x="2861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pig</a:t>
                  </a:r>
                </a:p>
              </p:txBody>
            </p:sp>
            <p:sp>
              <p:nvSpPr>
                <p:cNvPr id="264" name="Rectangle 35"/>
                <p:cNvSpPr>
                  <a:spLocks noChangeArrowheads="1"/>
                </p:cNvSpPr>
                <p:nvPr/>
              </p:nvSpPr>
              <p:spPr bwMode="auto">
                <a:xfrm>
                  <a:off x="4439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lion</a:t>
                  </a:r>
                </a:p>
              </p:txBody>
            </p:sp>
            <p:sp>
              <p:nvSpPr>
                <p:cNvPr id="265" name="Rectangle 36"/>
                <p:cNvSpPr>
                  <a:spLocks noChangeArrowheads="1"/>
                </p:cNvSpPr>
                <p:nvPr/>
              </p:nvSpPr>
              <p:spPr bwMode="auto">
                <a:xfrm>
                  <a:off x="5201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tiger</a:t>
                  </a:r>
                </a:p>
              </p:txBody>
            </p:sp>
            <p:sp>
              <p:nvSpPr>
                <p:cNvPr id="266" name="Rectangle 37"/>
                <p:cNvSpPr>
                  <a:spLocks noChangeArrowheads="1"/>
                </p:cNvSpPr>
                <p:nvPr/>
              </p:nvSpPr>
              <p:spPr bwMode="auto">
                <a:xfrm>
                  <a:off x="3649273"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rat</a:t>
                  </a:r>
                </a:p>
              </p:txBody>
            </p:sp>
            <p:sp>
              <p:nvSpPr>
                <p:cNvPr id="267" name="Rectangle 40"/>
                <p:cNvSpPr>
                  <a:spLocks noChangeArrowheads="1"/>
                </p:cNvSpPr>
                <p:nvPr/>
              </p:nvSpPr>
              <p:spPr bwMode="auto">
                <a:xfrm>
                  <a:off x="6746486"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dog</a:t>
                  </a:r>
                </a:p>
              </p:txBody>
            </p:sp>
            <p:sp>
              <p:nvSpPr>
                <p:cNvPr id="268" name="Rectangle 42"/>
                <p:cNvSpPr>
                  <a:spLocks noChangeArrowheads="1"/>
                </p:cNvSpPr>
                <p:nvPr/>
              </p:nvSpPr>
              <p:spPr bwMode="auto">
                <a:xfrm>
                  <a:off x="5955911"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goat</a:t>
                  </a:r>
                </a:p>
              </p:txBody>
            </p:sp>
            <p:sp>
              <p:nvSpPr>
                <p:cNvPr id="269" name="Rectangle 27"/>
                <p:cNvSpPr>
                  <a:spLocks noChangeArrowheads="1"/>
                </p:cNvSpPr>
                <p:nvPr/>
              </p:nvSpPr>
              <p:spPr bwMode="auto">
                <a:xfrm>
                  <a:off x="1307710"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cat</a:t>
                  </a:r>
                </a:p>
              </p:txBody>
            </p:sp>
          </p:grpSp>
          <p:sp>
            <p:nvSpPr>
              <p:cNvPr id="260" name="TextBox 259"/>
              <p:cNvSpPr txBox="1"/>
              <p:nvPr/>
            </p:nvSpPr>
            <p:spPr>
              <a:xfrm>
                <a:off x="304800" y="1371600"/>
                <a:ext cx="7391400" cy="2977738"/>
              </a:xfrm>
              <a:prstGeom prst="rect">
                <a:avLst/>
              </a:prstGeom>
              <a:noFill/>
            </p:spPr>
            <p:txBody>
              <a:bodyPr wrap="square" rtlCol="0">
                <a:spAutoFit/>
              </a:bodyPr>
              <a:lstStyle/>
              <a:p>
                <a:pPr>
                  <a:buClr>
                    <a:schemeClr val="tx1"/>
                  </a:buClr>
                  <a:tabLst>
                    <a:tab pos="723900" algn="l"/>
                    <a:tab pos="1257300" algn="l"/>
                    <a:tab pos="1968500" algn="l"/>
                  </a:tabLst>
                </a:pPr>
                <a:r>
                  <a:rPr lang="en-US" altLang="en-US" dirty="0">
                    <a:latin typeface="Times New Roman" pitchFamily="18" charset="0"/>
                    <a:cs typeface="Times New Roman" pitchFamily="18" charset="0"/>
                  </a:rPr>
                  <a:t>To partition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such that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are all less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are all greater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pPr>
                  <a:spcBef>
                    <a:spcPts val="900"/>
                  </a:spcBef>
                  <a:buClr>
                    <a:schemeClr val="tx1"/>
                  </a:buClr>
                  <a:tabLst>
                    <a:tab pos="723900" algn="l"/>
                    <a:tab pos="1257300" algn="l"/>
                    <a:tab pos="1968500" algn="l"/>
                  </a:tabLst>
                </a:pPr>
                <a:r>
                  <a:rPr lang="en-US" altLang="en-US" dirty="0">
                    <a:latin typeface="Times New Roman" pitchFamily="18" charset="0"/>
                    <a:cs typeface="Times New Roman" pitchFamily="18" charset="0"/>
                  </a:rPr>
                  <a:t>1.	Let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be the element in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 and set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2.	</a:t>
                </a:r>
                <a:r>
                  <a:rPr lang="en-US" altLang="en-US" dirty="0">
                    <a:solidFill>
                      <a:srgbClr val="FF0000"/>
                    </a:solidFill>
                    <a:latin typeface="Times New Roman" pitchFamily="18" charset="0"/>
                    <a:cs typeface="Times New Roman" pitchFamily="18" charset="0"/>
                  </a:rPr>
                  <a:t>For </a:t>
                </a:r>
                <a:r>
                  <a:rPr lang="en-US" altLang="en-US" i="1" dirty="0">
                    <a:solidFill>
                      <a:srgbClr val="FF0000"/>
                    </a:solidFill>
                    <a:latin typeface="Times New Roman" pitchFamily="18" charset="0"/>
                    <a:cs typeface="Times New Roman" pitchFamily="18" charset="0"/>
                  </a:rPr>
                  <a:t>r</a:t>
                </a:r>
                <a:r>
                  <a:rPr lang="en-US" altLang="en-US" dirty="0">
                    <a:solidFill>
                      <a:srgbClr val="FF0000"/>
                    </a:solidFill>
                    <a:latin typeface="Times New Roman" pitchFamily="18" charset="0"/>
                    <a:cs typeface="Times New Roman" pitchFamily="18" charset="0"/>
                  </a:rPr>
                  <a:t> = </a:t>
                </a:r>
                <a:r>
                  <a:rPr lang="en-US" altLang="en-US" i="1" dirty="0">
                    <a:solidFill>
                      <a:srgbClr val="FF0000"/>
                    </a:solidFill>
                    <a:latin typeface="Times New Roman" pitchFamily="18" charset="0"/>
                    <a:cs typeface="Times New Roman" pitchFamily="18" charset="0"/>
                  </a:rPr>
                  <a:t>left</a:t>
                </a:r>
                <a:r>
                  <a:rPr lang="en-US" altLang="en-US" dirty="0">
                    <a:solidFill>
                      <a:srgbClr val="FF0000"/>
                    </a:solidFill>
                    <a:latin typeface="Times New Roman" pitchFamily="18" charset="0"/>
                    <a:cs typeface="Times New Roman" pitchFamily="18" charset="0"/>
                  </a:rPr>
                  <a:t>+1, …, </a:t>
                </a:r>
                <a:r>
                  <a:rPr lang="en-US" altLang="en-US" i="1" dirty="0">
                    <a:solidFill>
                      <a:srgbClr val="FF0000"/>
                    </a:solidFill>
                    <a:latin typeface="Times New Roman" pitchFamily="18" charset="0"/>
                    <a:cs typeface="Times New Roman" pitchFamily="18" charset="0"/>
                  </a:rPr>
                  <a:t>right</a:t>
                </a:r>
                <a:r>
                  <a:rPr lang="en-US" altLang="en-US" dirty="0">
                    <a:solidFill>
                      <a:srgbClr val="FF0000"/>
                    </a:solidFill>
                    <a:latin typeface="Times New Roman" pitchFamily="18" charset="0"/>
                    <a:cs typeface="Times New Roman" pitchFamily="18" charset="0"/>
                  </a:rPr>
                  <a:t>, repeat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	If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is less than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2.1.1.	Copy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br>
                  <a:rPr lang="en-US" altLang="en-US" dirty="0">
                    <a:solidFill>
                      <a:srgbClr val="FF0000"/>
                    </a:solidFill>
                    <a:latin typeface="Times New Roman" pitchFamily="18" charset="0"/>
                    <a:cs typeface="Times New Roman" pitchFamily="18" charset="0"/>
                  </a:rPr>
                </a:br>
                <a:r>
                  <a:rPr lang="en-US" altLang="en-US" dirty="0">
                    <a:latin typeface="Times New Roman" pitchFamily="18" charset="0"/>
                    <a:cs typeface="Times New Roman" pitchFamily="18" charset="0"/>
                  </a:rPr>
                  <a:t>		2.1.2.	Increment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r>
                  <a:rPr lang="en-US" altLang="en-US" dirty="0">
                    <a:solidFill>
                      <a:srgbClr val="FF0000"/>
                    </a:solidFill>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3.	Terminate yielding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endParaRPr lang="en-GB" dirty="0"/>
              </a:p>
            </p:txBody>
          </p:sp>
        </p:grpSp>
        <p:sp>
          <p:nvSpPr>
            <p:cNvPr id="256" name="TextBox 255"/>
            <p:cNvSpPr txBox="1"/>
            <p:nvPr/>
          </p:nvSpPr>
          <p:spPr>
            <a:xfrm>
              <a:off x="304800" y="5486400"/>
              <a:ext cx="2057400" cy="646331"/>
            </a:xfrm>
            <a:prstGeom prst="rect">
              <a:avLst/>
            </a:prstGeom>
            <a:noFill/>
          </p:spPr>
          <p:txBody>
            <a:bodyPr wrap="square" rtlCol="0">
              <a:spAutoFit/>
            </a:bodyPr>
            <a:lstStyle/>
            <a:p>
              <a:r>
                <a:rPr lang="en-GB" dirty="0"/>
                <a:t>left = 0</a:t>
              </a:r>
            </a:p>
            <a:p>
              <a:r>
                <a:rPr lang="en-GB" dirty="0"/>
                <a:t>right = 8</a:t>
              </a:r>
            </a:p>
          </p:txBody>
        </p:sp>
        <p:sp>
          <p:nvSpPr>
            <p:cNvPr id="257" name="TextBox 256"/>
            <p:cNvSpPr txBox="1"/>
            <p:nvPr/>
          </p:nvSpPr>
          <p:spPr>
            <a:xfrm>
              <a:off x="5408299" y="5334000"/>
              <a:ext cx="2057400" cy="923330"/>
            </a:xfrm>
            <a:prstGeom prst="rect">
              <a:avLst/>
            </a:prstGeom>
            <a:noFill/>
          </p:spPr>
          <p:txBody>
            <a:bodyPr wrap="square" rtlCol="0">
              <a:spAutoFit/>
            </a:bodyPr>
            <a:lstStyle/>
            <a:p>
              <a:r>
                <a:rPr lang="en-GB" dirty="0"/>
                <a:t>pivot = fox</a:t>
              </a:r>
            </a:p>
            <a:p>
              <a:r>
                <a:rPr lang="en-GB" dirty="0"/>
                <a:t>p=2</a:t>
              </a:r>
            </a:p>
            <a:p>
              <a:r>
                <a:rPr lang="en-GB" dirty="0">
                  <a:solidFill>
                    <a:srgbClr val="FF0000"/>
                  </a:solidFill>
                </a:rPr>
                <a:t>r=6</a:t>
              </a:r>
            </a:p>
          </p:txBody>
        </p:sp>
      </p:grpSp>
      <p:grpSp>
        <p:nvGrpSpPr>
          <p:cNvPr id="270" name="Group 269"/>
          <p:cNvGrpSpPr/>
          <p:nvPr/>
        </p:nvGrpSpPr>
        <p:grpSpPr>
          <a:xfrm>
            <a:off x="152400" y="1371600"/>
            <a:ext cx="8077200" cy="4953000"/>
            <a:chOff x="152400" y="1371600"/>
            <a:chExt cx="8077200" cy="4953000"/>
          </a:xfrm>
        </p:grpSpPr>
        <p:grpSp>
          <p:nvGrpSpPr>
            <p:cNvPr id="271" name="Group 270"/>
            <p:cNvGrpSpPr/>
            <p:nvPr/>
          </p:nvGrpSpPr>
          <p:grpSpPr>
            <a:xfrm>
              <a:off x="152400" y="1371600"/>
              <a:ext cx="8077200" cy="4953000"/>
              <a:chOff x="152400" y="1371600"/>
              <a:chExt cx="8077200" cy="4953000"/>
            </a:xfrm>
          </p:grpSpPr>
          <p:sp>
            <p:nvSpPr>
              <p:cNvPr id="274" name="Rectangle 273"/>
              <p:cNvSpPr/>
              <p:nvPr/>
            </p:nvSpPr>
            <p:spPr>
              <a:xfrm>
                <a:off x="152400" y="1371600"/>
                <a:ext cx="8077200" cy="4953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75" name="Group 274"/>
              <p:cNvGrpSpPr/>
              <p:nvPr/>
            </p:nvGrpSpPr>
            <p:grpSpPr>
              <a:xfrm>
                <a:off x="304800" y="4800600"/>
                <a:ext cx="6946900" cy="361950"/>
                <a:chOff x="591749" y="4800600"/>
                <a:chExt cx="6946900" cy="361950"/>
              </a:xfrm>
            </p:grpSpPr>
            <p:sp>
              <p:nvSpPr>
                <p:cNvPr id="277" name="Rectangle 27"/>
                <p:cNvSpPr>
                  <a:spLocks noChangeArrowheads="1"/>
                </p:cNvSpPr>
                <p:nvPr/>
              </p:nvSpPr>
              <p:spPr bwMode="auto">
                <a:xfrm>
                  <a:off x="591749" y="4800600"/>
                  <a:ext cx="715962"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cow</a:t>
                  </a:r>
                </a:p>
              </p:txBody>
            </p:sp>
            <p:sp>
              <p:nvSpPr>
                <p:cNvPr id="278" name="Rectangle 29"/>
                <p:cNvSpPr>
                  <a:spLocks noChangeArrowheads="1"/>
                </p:cNvSpPr>
                <p:nvPr/>
              </p:nvSpPr>
              <p:spPr bwMode="auto">
                <a:xfrm>
                  <a:off x="2099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fox</a:t>
                  </a:r>
                </a:p>
              </p:txBody>
            </p:sp>
            <p:sp>
              <p:nvSpPr>
                <p:cNvPr id="279" name="Rectangle 30"/>
                <p:cNvSpPr>
                  <a:spLocks noChangeArrowheads="1"/>
                </p:cNvSpPr>
                <p:nvPr/>
              </p:nvSpPr>
              <p:spPr bwMode="auto">
                <a:xfrm>
                  <a:off x="2861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pig</a:t>
                  </a:r>
                </a:p>
              </p:txBody>
            </p:sp>
            <p:sp>
              <p:nvSpPr>
                <p:cNvPr id="280" name="Rectangle 35"/>
                <p:cNvSpPr>
                  <a:spLocks noChangeArrowheads="1"/>
                </p:cNvSpPr>
                <p:nvPr/>
              </p:nvSpPr>
              <p:spPr bwMode="auto">
                <a:xfrm>
                  <a:off x="4439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lion</a:t>
                  </a:r>
                </a:p>
              </p:txBody>
            </p:sp>
            <p:sp>
              <p:nvSpPr>
                <p:cNvPr id="281" name="Rectangle 36"/>
                <p:cNvSpPr>
                  <a:spLocks noChangeArrowheads="1"/>
                </p:cNvSpPr>
                <p:nvPr/>
              </p:nvSpPr>
              <p:spPr bwMode="auto">
                <a:xfrm>
                  <a:off x="5201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tiger</a:t>
                  </a:r>
                </a:p>
              </p:txBody>
            </p:sp>
            <p:sp>
              <p:nvSpPr>
                <p:cNvPr id="282" name="Rectangle 37"/>
                <p:cNvSpPr>
                  <a:spLocks noChangeArrowheads="1"/>
                </p:cNvSpPr>
                <p:nvPr/>
              </p:nvSpPr>
              <p:spPr bwMode="auto">
                <a:xfrm>
                  <a:off x="3649273"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rat</a:t>
                  </a:r>
                </a:p>
              </p:txBody>
            </p:sp>
            <p:sp>
              <p:nvSpPr>
                <p:cNvPr id="283" name="Rectangle 40"/>
                <p:cNvSpPr>
                  <a:spLocks noChangeArrowheads="1"/>
                </p:cNvSpPr>
                <p:nvPr/>
              </p:nvSpPr>
              <p:spPr bwMode="auto">
                <a:xfrm>
                  <a:off x="6746486"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dog</a:t>
                  </a:r>
                </a:p>
              </p:txBody>
            </p:sp>
            <p:sp>
              <p:nvSpPr>
                <p:cNvPr id="284" name="Rectangle 42"/>
                <p:cNvSpPr>
                  <a:spLocks noChangeArrowheads="1"/>
                </p:cNvSpPr>
                <p:nvPr/>
              </p:nvSpPr>
              <p:spPr bwMode="auto">
                <a:xfrm>
                  <a:off x="5955911"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goat</a:t>
                  </a:r>
                </a:p>
              </p:txBody>
            </p:sp>
            <p:sp>
              <p:nvSpPr>
                <p:cNvPr id="285" name="Rectangle 27"/>
                <p:cNvSpPr>
                  <a:spLocks noChangeArrowheads="1"/>
                </p:cNvSpPr>
                <p:nvPr/>
              </p:nvSpPr>
              <p:spPr bwMode="auto">
                <a:xfrm>
                  <a:off x="1307710"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cat</a:t>
                  </a:r>
                </a:p>
              </p:txBody>
            </p:sp>
          </p:grpSp>
          <p:sp>
            <p:nvSpPr>
              <p:cNvPr id="276" name="TextBox 275"/>
              <p:cNvSpPr txBox="1"/>
              <p:nvPr/>
            </p:nvSpPr>
            <p:spPr>
              <a:xfrm>
                <a:off x="304800" y="1371600"/>
                <a:ext cx="7391400" cy="2977738"/>
              </a:xfrm>
              <a:prstGeom prst="rect">
                <a:avLst/>
              </a:prstGeom>
              <a:noFill/>
            </p:spPr>
            <p:txBody>
              <a:bodyPr wrap="square" rtlCol="0">
                <a:spAutoFit/>
              </a:bodyPr>
              <a:lstStyle/>
              <a:p>
                <a:pPr>
                  <a:buClr>
                    <a:schemeClr val="tx1"/>
                  </a:buClr>
                  <a:tabLst>
                    <a:tab pos="723900" algn="l"/>
                    <a:tab pos="1257300" algn="l"/>
                    <a:tab pos="1968500" algn="l"/>
                  </a:tabLst>
                </a:pPr>
                <a:r>
                  <a:rPr lang="en-US" altLang="en-US" dirty="0">
                    <a:latin typeface="Times New Roman" pitchFamily="18" charset="0"/>
                    <a:cs typeface="Times New Roman" pitchFamily="18" charset="0"/>
                  </a:rPr>
                  <a:t>To partition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such that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are all less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are all greater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pPr>
                  <a:spcBef>
                    <a:spcPts val="900"/>
                  </a:spcBef>
                  <a:buClr>
                    <a:schemeClr val="tx1"/>
                  </a:buClr>
                  <a:tabLst>
                    <a:tab pos="723900" algn="l"/>
                    <a:tab pos="1257300" algn="l"/>
                    <a:tab pos="1968500" algn="l"/>
                  </a:tabLst>
                </a:pPr>
                <a:r>
                  <a:rPr lang="en-US" altLang="en-US" dirty="0">
                    <a:latin typeface="Times New Roman" pitchFamily="18" charset="0"/>
                    <a:cs typeface="Times New Roman" pitchFamily="18" charset="0"/>
                  </a:rPr>
                  <a:t>1.	Let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be the element in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 and set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2.	</a:t>
                </a:r>
                <a:r>
                  <a:rPr lang="en-US" altLang="en-US" dirty="0">
                    <a:solidFill>
                      <a:srgbClr val="FF0000"/>
                    </a:solidFill>
                    <a:latin typeface="Times New Roman" pitchFamily="18" charset="0"/>
                    <a:cs typeface="Times New Roman" pitchFamily="18" charset="0"/>
                  </a:rPr>
                  <a:t>For </a:t>
                </a:r>
                <a:r>
                  <a:rPr lang="en-US" altLang="en-US" i="1" dirty="0">
                    <a:solidFill>
                      <a:srgbClr val="FF0000"/>
                    </a:solidFill>
                    <a:latin typeface="Times New Roman" pitchFamily="18" charset="0"/>
                    <a:cs typeface="Times New Roman" pitchFamily="18" charset="0"/>
                  </a:rPr>
                  <a:t>r</a:t>
                </a:r>
                <a:r>
                  <a:rPr lang="en-US" altLang="en-US" dirty="0">
                    <a:solidFill>
                      <a:srgbClr val="FF0000"/>
                    </a:solidFill>
                    <a:latin typeface="Times New Roman" pitchFamily="18" charset="0"/>
                    <a:cs typeface="Times New Roman" pitchFamily="18" charset="0"/>
                  </a:rPr>
                  <a:t> = </a:t>
                </a:r>
                <a:r>
                  <a:rPr lang="en-US" altLang="en-US" i="1" dirty="0">
                    <a:solidFill>
                      <a:srgbClr val="FF0000"/>
                    </a:solidFill>
                    <a:latin typeface="Times New Roman" pitchFamily="18" charset="0"/>
                    <a:cs typeface="Times New Roman" pitchFamily="18" charset="0"/>
                  </a:rPr>
                  <a:t>left</a:t>
                </a:r>
                <a:r>
                  <a:rPr lang="en-US" altLang="en-US" dirty="0">
                    <a:solidFill>
                      <a:srgbClr val="FF0000"/>
                    </a:solidFill>
                    <a:latin typeface="Times New Roman" pitchFamily="18" charset="0"/>
                    <a:cs typeface="Times New Roman" pitchFamily="18" charset="0"/>
                  </a:rPr>
                  <a:t>+1, …, </a:t>
                </a:r>
                <a:r>
                  <a:rPr lang="en-US" altLang="en-US" i="1" dirty="0">
                    <a:solidFill>
                      <a:srgbClr val="FF0000"/>
                    </a:solidFill>
                    <a:latin typeface="Times New Roman" pitchFamily="18" charset="0"/>
                    <a:cs typeface="Times New Roman" pitchFamily="18" charset="0"/>
                  </a:rPr>
                  <a:t>right</a:t>
                </a:r>
                <a:r>
                  <a:rPr lang="en-US" altLang="en-US" dirty="0">
                    <a:solidFill>
                      <a:srgbClr val="FF0000"/>
                    </a:solidFill>
                    <a:latin typeface="Times New Roman" pitchFamily="18" charset="0"/>
                    <a:cs typeface="Times New Roman" pitchFamily="18" charset="0"/>
                  </a:rPr>
                  <a:t>, repeat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	If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is less than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2.1.1.	Copy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br>
                  <a:rPr lang="en-US" altLang="en-US" dirty="0">
                    <a:solidFill>
                      <a:srgbClr val="FF0000"/>
                    </a:solidFill>
                    <a:latin typeface="Times New Roman" pitchFamily="18" charset="0"/>
                    <a:cs typeface="Times New Roman" pitchFamily="18" charset="0"/>
                  </a:rPr>
                </a:br>
                <a:r>
                  <a:rPr lang="en-US" altLang="en-US" dirty="0">
                    <a:latin typeface="Times New Roman" pitchFamily="18" charset="0"/>
                    <a:cs typeface="Times New Roman" pitchFamily="18" charset="0"/>
                  </a:rPr>
                  <a:t>		2.1.2.	Increment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r>
                  <a:rPr lang="en-US" altLang="en-US" dirty="0">
                    <a:solidFill>
                      <a:srgbClr val="FF0000"/>
                    </a:solidFill>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3.	Terminate yielding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endParaRPr lang="en-GB" dirty="0"/>
              </a:p>
            </p:txBody>
          </p:sp>
        </p:grpSp>
        <p:sp>
          <p:nvSpPr>
            <p:cNvPr id="272" name="TextBox 271"/>
            <p:cNvSpPr txBox="1"/>
            <p:nvPr/>
          </p:nvSpPr>
          <p:spPr>
            <a:xfrm>
              <a:off x="304800" y="5486400"/>
              <a:ext cx="2057400" cy="646331"/>
            </a:xfrm>
            <a:prstGeom prst="rect">
              <a:avLst/>
            </a:prstGeom>
            <a:noFill/>
          </p:spPr>
          <p:txBody>
            <a:bodyPr wrap="square" rtlCol="0">
              <a:spAutoFit/>
            </a:bodyPr>
            <a:lstStyle/>
            <a:p>
              <a:r>
                <a:rPr lang="en-GB" dirty="0"/>
                <a:t>left = 0</a:t>
              </a:r>
            </a:p>
            <a:p>
              <a:r>
                <a:rPr lang="en-GB" dirty="0"/>
                <a:t>right = 8</a:t>
              </a:r>
            </a:p>
          </p:txBody>
        </p:sp>
        <p:sp>
          <p:nvSpPr>
            <p:cNvPr id="273" name="TextBox 272"/>
            <p:cNvSpPr txBox="1"/>
            <p:nvPr/>
          </p:nvSpPr>
          <p:spPr>
            <a:xfrm>
              <a:off x="5408299" y="5334000"/>
              <a:ext cx="2057400" cy="923330"/>
            </a:xfrm>
            <a:prstGeom prst="rect">
              <a:avLst/>
            </a:prstGeom>
            <a:noFill/>
          </p:spPr>
          <p:txBody>
            <a:bodyPr wrap="square" rtlCol="0">
              <a:spAutoFit/>
            </a:bodyPr>
            <a:lstStyle/>
            <a:p>
              <a:r>
                <a:rPr lang="en-GB" dirty="0"/>
                <a:t>pivot = fox</a:t>
              </a:r>
            </a:p>
            <a:p>
              <a:r>
                <a:rPr lang="en-GB" dirty="0"/>
                <a:t>p=2</a:t>
              </a:r>
            </a:p>
            <a:p>
              <a:r>
                <a:rPr lang="en-GB" dirty="0">
                  <a:solidFill>
                    <a:srgbClr val="FF0000"/>
                  </a:solidFill>
                </a:rPr>
                <a:t>r=7</a:t>
              </a:r>
            </a:p>
          </p:txBody>
        </p:sp>
      </p:grpSp>
      <p:grpSp>
        <p:nvGrpSpPr>
          <p:cNvPr id="286" name="Group 285"/>
          <p:cNvGrpSpPr/>
          <p:nvPr/>
        </p:nvGrpSpPr>
        <p:grpSpPr>
          <a:xfrm>
            <a:off x="152400" y="1371600"/>
            <a:ext cx="8077200" cy="4953000"/>
            <a:chOff x="152400" y="1371600"/>
            <a:chExt cx="8077200" cy="4953000"/>
          </a:xfrm>
        </p:grpSpPr>
        <p:grpSp>
          <p:nvGrpSpPr>
            <p:cNvPr id="287" name="Group 286"/>
            <p:cNvGrpSpPr/>
            <p:nvPr/>
          </p:nvGrpSpPr>
          <p:grpSpPr>
            <a:xfrm>
              <a:off x="152400" y="1371600"/>
              <a:ext cx="8077200" cy="4953000"/>
              <a:chOff x="152400" y="1371600"/>
              <a:chExt cx="8077200" cy="4953000"/>
            </a:xfrm>
          </p:grpSpPr>
          <p:sp>
            <p:nvSpPr>
              <p:cNvPr id="290" name="Rectangle 289"/>
              <p:cNvSpPr/>
              <p:nvPr/>
            </p:nvSpPr>
            <p:spPr>
              <a:xfrm>
                <a:off x="152400" y="1371600"/>
                <a:ext cx="8077200" cy="4953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91" name="Group 290"/>
              <p:cNvGrpSpPr/>
              <p:nvPr/>
            </p:nvGrpSpPr>
            <p:grpSpPr>
              <a:xfrm>
                <a:off x="304800" y="4800600"/>
                <a:ext cx="6946900" cy="361950"/>
                <a:chOff x="591749" y="4800600"/>
                <a:chExt cx="6946900" cy="361950"/>
              </a:xfrm>
            </p:grpSpPr>
            <p:sp>
              <p:nvSpPr>
                <p:cNvPr id="293" name="Rectangle 27"/>
                <p:cNvSpPr>
                  <a:spLocks noChangeArrowheads="1"/>
                </p:cNvSpPr>
                <p:nvPr/>
              </p:nvSpPr>
              <p:spPr bwMode="auto">
                <a:xfrm>
                  <a:off x="591749" y="4800600"/>
                  <a:ext cx="715962"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cow</a:t>
                  </a:r>
                </a:p>
              </p:txBody>
            </p:sp>
            <p:sp>
              <p:nvSpPr>
                <p:cNvPr id="294" name="Rectangle 29"/>
                <p:cNvSpPr>
                  <a:spLocks noChangeArrowheads="1"/>
                </p:cNvSpPr>
                <p:nvPr/>
              </p:nvSpPr>
              <p:spPr bwMode="auto">
                <a:xfrm>
                  <a:off x="2099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fox</a:t>
                  </a:r>
                </a:p>
              </p:txBody>
            </p:sp>
            <p:sp>
              <p:nvSpPr>
                <p:cNvPr id="295" name="Rectangle 30"/>
                <p:cNvSpPr>
                  <a:spLocks noChangeArrowheads="1"/>
                </p:cNvSpPr>
                <p:nvPr/>
              </p:nvSpPr>
              <p:spPr bwMode="auto">
                <a:xfrm>
                  <a:off x="2861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pig</a:t>
                  </a:r>
                </a:p>
              </p:txBody>
            </p:sp>
            <p:sp>
              <p:nvSpPr>
                <p:cNvPr id="296" name="Rectangle 35"/>
                <p:cNvSpPr>
                  <a:spLocks noChangeArrowheads="1"/>
                </p:cNvSpPr>
                <p:nvPr/>
              </p:nvSpPr>
              <p:spPr bwMode="auto">
                <a:xfrm>
                  <a:off x="4439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lion</a:t>
                  </a:r>
                </a:p>
              </p:txBody>
            </p:sp>
            <p:sp>
              <p:nvSpPr>
                <p:cNvPr id="297" name="Rectangle 36"/>
                <p:cNvSpPr>
                  <a:spLocks noChangeArrowheads="1"/>
                </p:cNvSpPr>
                <p:nvPr/>
              </p:nvSpPr>
              <p:spPr bwMode="auto">
                <a:xfrm>
                  <a:off x="5201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tiger</a:t>
                  </a:r>
                </a:p>
              </p:txBody>
            </p:sp>
            <p:sp>
              <p:nvSpPr>
                <p:cNvPr id="298" name="Rectangle 37"/>
                <p:cNvSpPr>
                  <a:spLocks noChangeArrowheads="1"/>
                </p:cNvSpPr>
                <p:nvPr/>
              </p:nvSpPr>
              <p:spPr bwMode="auto">
                <a:xfrm>
                  <a:off x="3649273"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rat</a:t>
                  </a:r>
                </a:p>
              </p:txBody>
            </p:sp>
            <p:sp>
              <p:nvSpPr>
                <p:cNvPr id="299" name="Rectangle 40"/>
                <p:cNvSpPr>
                  <a:spLocks noChangeArrowheads="1"/>
                </p:cNvSpPr>
                <p:nvPr/>
              </p:nvSpPr>
              <p:spPr bwMode="auto">
                <a:xfrm>
                  <a:off x="6746486"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dog</a:t>
                  </a:r>
                </a:p>
              </p:txBody>
            </p:sp>
            <p:sp>
              <p:nvSpPr>
                <p:cNvPr id="300" name="Rectangle 42"/>
                <p:cNvSpPr>
                  <a:spLocks noChangeArrowheads="1"/>
                </p:cNvSpPr>
                <p:nvPr/>
              </p:nvSpPr>
              <p:spPr bwMode="auto">
                <a:xfrm>
                  <a:off x="5955911"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goat</a:t>
                  </a:r>
                </a:p>
              </p:txBody>
            </p:sp>
            <p:sp>
              <p:nvSpPr>
                <p:cNvPr id="301" name="Rectangle 27"/>
                <p:cNvSpPr>
                  <a:spLocks noChangeArrowheads="1"/>
                </p:cNvSpPr>
                <p:nvPr/>
              </p:nvSpPr>
              <p:spPr bwMode="auto">
                <a:xfrm>
                  <a:off x="1307710"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cat</a:t>
                  </a:r>
                </a:p>
              </p:txBody>
            </p:sp>
          </p:grpSp>
          <p:sp>
            <p:nvSpPr>
              <p:cNvPr id="292" name="TextBox 291"/>
              <p:cNvSpPr txBox="1"/>
              <p:nvPr/>
            </p:nvSpPr>
            <p:spPr>
              <a:xfrm>
                <a:off x="304800" y="1371600"/>
                <a:ext cx="7391400" cy="2977738"/>
              </a:xfrm>
              <a:prstGeom prst="rect">
                <a:avLst/>
              </a:prstGeom>
              <a:noFill/>
            </p:spPr>
            <p:txBody>
              <a:bodyPr wrap="square" rtlCol="0">
                <a:spAutoFit/>
              </a:bodyPr>
              <a:lstStyle/>
              <a:p>
                <a:pPr>
                  <a:buClr>
                    <a:schemeClr val="tx1"/>
                  </a:buClr>
                  <a:tabLst>
                    <a:tab pos="723900" algn="l"/>
                    <a:tab pos="1257300" algn="l"/>
                    <a:tab pos="1968500" algn="l"/>
                  </a:tabLst>
                </a:pPr>
                <a:r>
                  <a:rPr lang="en-US" altLang="en-US" dirty="0">
                    <a:latin typeface="Times New Roman" pitchFamily="18" charset="0"/>
                    <a:cs typeface="Times New Roman" pitchFamily="18" charset="0"/>
                  </a:rPr>
                  <a:t>To partition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such that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are all less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are all greater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pPr>
                  <a:spcBef>
                    <a:spcPts val="900"/>
                  </a:spcBef>
                  <a:buClr>
                    <a:schemeClr val="tx1"/>
                  </a:buClr>
                  <a:tabLst>
                    <a:tab pos="723900" algn="l"/>
                    <a:tab pos="1257300" algn="l"/>
                    <a:tab pos="1968500" algn="l"/>
                  </a:tabLst>
                </a:pPr>
                <a:r>
                  <a:rPr lang="en-US" altLang="en-US" dirty="0">
                    <a:latin typeface="Times New Roman" pitchFamily="18" charset="0"/>
                    <a:cs typeface="Times New Roman" pitchFamily="18" charset="0"/>
                  </a:rPr>
                  <a:t>1.	Let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be the element in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 and set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2.	</a:t>
                </a:r>
                <a:r>
                  <a:rPr lang="en-US" altLang="en-US" dirty="0">
                    <a:solidFill>
                      <a:srgbClr val="FF0000"/>
                    </a:solidFill>
                    <a:latin typeface="Times New Roman" pitchFamily="18" charset="0"/>
                    <a:cs typeface="Times New Roman" pitchFamily="18" charset="0"/>
                  </a:rPr>
                  <a:t>For </a:t>
                </a:r>
                <a:r>
                  <a:rPr lang="en-US" altLang="en-US" i="1" dirty="0">
                    <a:solidFill>
                      <a:srgbClr val="FF0000"/>
                    </a:solidFill>
                    <a:latin typeface="Times New Roman" pitchFamily="18" charset="0"/>
                    <a:cs typeface="Times New Roman" pitchFamily="18" charset="0"/>
                  </a:rPr>
                  <a:t>r</a:t>
                </a:r>
                <a:r>
                  <a:rPr lang="en-US" altLang="en-US" dirty="0">
                    <a:solidFill>
                      <a:srgbClr val="FF0000"/>
                    </a:solidFill>
                    <a:latin typeface="Times New Roman" pitchFamily="18" charset="0"/>
                    <a:cs typeface="Times New Roman" pitchFamily="18" charset="0"/>
                  </a:rPr>
                  <a:t> = </a:t>
                </a:r>
                <a:r>
                  <a:rPr lang="en-US" altLang="en-US" i="1" dirty="0">
                    <a:solidFill>
                      <a:srgbClr val="FF0000"/>
                    </a:solidFill>
                    <a:latin typeface="Times New Roman" pitchFamily="18" charset="0"/>
                    <a:cs typeface="Times New Roman" pitchFamily="18" charset="0"/>
                  </a:rPr>
                  <a:t>left</a:t>
                </a:r>
                <a:r>
                  <a:rPr lang="en-US" altLang="en-US" dirty="0">
                    <a:solidFill>
                      <a:srgbClr val="FF0000"/>
                    </a:solidFill>
                    <a:latin typeface="Times New Roman" pitchFamily="18" charset="0"/>
                    <a:cs typeface="Times New Roman" pitchFamily="18" charset="0"/>
                  </a:rPr>
                  <a:t>+1, …, </a:t>
                </a:r>
                <a:r>
                  <a:rPr lang="en-US" altLang="en-US" i="1" dirty="0">
                    <a:solidFill>
                      <a:srgbClr val="FF0000"/>
                    </a:solidFill>
                    <a:latin typeface="Times New Roman" pitchFamily="18" charset="0"/>
                    <a:cs typeface="Times New Roman" pitchFamily="18" charset="0"/>
                  </a:rPr>
                  <a:t>right</a:t>
                </a:r>
                <a:r>
                  <a:rPr lang="en-US" altLang="en-US" dirty="0">
                    <a:solidFill>
                      <a:srgbClr val="FF0000"/>
                    </a:solidFill>
                    <a:latin typeface="Times New Roman" pitchFamily="18" charset="0"/>
                    <a:cs typeface="Times New Roman" pitchFamily="18" charset="0"/>
                  </a:rPr>
                  <a:t>, repeat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	If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is less than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2.1.1.	Copy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br>
                  <a:rPr lang="en-US" altLang="en-US" dirty="0">
                    <a:solidFill>
                      <a:srgbClr val="FF0000"/>
                    </a:solidFill>
                    <a:latin typeface="Times New Roman" pitchFamily="18" charset="0"/>
                    <a:cs typeface="Times New Roman" pitchFamily="18" charset="0"/>
                  </a:rPr>
                </a:br>
                <a:r>
                  <a:rPr lang="en-US" altLang="en-US" dirty="0">
                    <a:latin typeface="Times New Roman" pitchFamily="18" charset="0"/>
                    <a:cs typeface="Times New Roman" pitchFamily="18" charset="0"/>
                  </a:rPr>
                  <a:t>		2.1.2.	Increment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r>
                  <a:rPr lang="en-US" altLang="en-US" dirty="0">
                    <a:solidFill>
                      <a:srgbClr val="FF0000"/>
                    </a:solidFill>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3.	Terminate yielding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endParaRPr lang="en-GB" dirty="0"/>
              </a:p>
            </p:txBody>
          </p:sp>
        </p:grpSp>
        <p:sp>
          <p:nvSpPr>
            <p:cNvPr id="288" name="TextBox 287"/>
            <p:cNvSpPr txBox="1"/>
            <p:nvPr/>
          </p:nvSpPr>
          <p:spPr>
            <a:xfrm>
              <a:off x="304800" y="5486400"/>
              <a:ext cx="2057400" cy="646331"/>
            </a:xfrm>
            <a:prstGeom prst="rect">
              <a:avLst/>
            </a:prstGeom>
            <a:noFill/>
          </p:spPr>
          <p:txBody>
            <a:bodyPr wrap="square" rtlCol="0">
              <a:spAutoFit/>
            </a:bodyPr>
            <a:lstStyle/>
            <a:p>
              <a:r>
                <a:rPr lang="en-GB" dirty="0"/>
                <a:t>left = 0</a:t>
              </a:r>
            </a:p>
            <a:p>
              <a:r>
                <a:rPr lang="en-GB" dirty="0"/>
                <a:t>right = 8</a:t>
              </a:r>
            </a:p>
          </p:txBody>
        </p:sp>
        <p:sp>
          <p:nvSpPr>
            <p:cNvPr id="289" name="TextBox 288"/>
            <p:cNvSpPr txBox="1"/>
            <p:nvPr/>
          </p:nvSpPr>
          <p:spPr>
            <a:xfrm>
              <a:off x="5408299" y="5334000"/>
              <a:ext cx="2057400" cy="923330"/>
            </a:xfrm>
            <a:prstGeom prst="rect">
              <a:avLst/>
            </a:prstGeom>
            <a:noFill/>
          </p:spPr>
          <p:txBody>
            <a:bodyPr wrap="square" rtlCol="0">
              <a:spAutoFit/>
            </a:bodyPr>
            <a:lstStyle/>
            <a:p>
              <a:r>
                <a:rPr lang="en-GB" dirty="0"/>
                <a:t>pivot = fox</a:t>
              </a:r>
            </a:p>
            <a:p>
              <a:r>
                <a:rPr lang="en-GB" dirty="0"/>
                <a:t>p=2</a:t>
              </a:r>
            </a:p>
            <a:p>
              <a:r>
                <a:rPr lang="en-GB" dirty="0">
                  <a:solidFill>
                    <a:srgbClr val="FF0000"/>
                  </a:solidFill>
                </a:rPr>
                <a:t>r=8</a:t>
              </a:r>
            </a:p>
          </p:txBody>
        </p:sp>
      </p:grpSp>
      <p:grpSp>
        <p:nvGrpSpPr>
          <p:cNvPr id="302" name="Group 301"/>
          <p:cNvGrpSpPr/>
          <p:nvPr/>
        </p:nvGrpSpPr>
        <p:grpSpPr>
          <a:xfrm>
            <a:off x="152400" y="1371600"/>
            <a:ext cx="8077200" cy="4953000"/>
            <a:chOff x="152400" y="1371600"/>
            <a:chExt cx="8077200" cy="4953000"/>
          </a:xfrm>
        </p:grpSpPr>
        <p:grpSp>
          <p:nvGrpSpPr>
            <p:cNvPr id="303" name="Group 302"/>
            <p:cNvGrpSpPr/>
            <p:nvPr/>
          </p:nvGrpSpPr>
          <p:grpSpPr>
            <a:xfrm>
              <a:off x="152400" y="1371600"/>
              <a:ext cx="8077200" cy="4953000"/>
              <a:chOff x="152400" y="1371600"/>
              <a:chExt cx="8077200" cy="4953000"/>
            </a:xfrm>
          </p:grpSpPr>
          <p:sp>
            <p:nvSpPr>
              <p:cNvPr id="306" name="Rectangle 305"/>
              <p:cNvSpPr/>
              <p:nvPr/>
            </p:nvSpPr>
            <p:spPr>
              <a:xfrm>
                <a:off x="152400" y="1371600"/>
                <a:ext cx="8077200" cy="4953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7" name="Group 306"/>
              <p:cNvGrpSpPr/>
              <p:nvPr/>
            </p:nvGrpSpPr>
            <p:grpSpPr>
              <a:xfrm>
                <a:off x="304800" y="4800600"/>
                <a:ext cx="6946900" cy="361950"/>
                <a:chOff x="591749" y="4800600"/>
                <a:chExt cx="6946900" cy="361950"/>
              </a:xfrm>
            </p:grpSpPr>
            <p:sp>
              <p:nvSpPr>
                <p:cNvPr id="309" name="Rectangle 27"/>
                <p:cNvSpPr>
                  <a:spLocks noChangeArrowheads="1"/>
                </p:cNvSpPr>
                <p:nvPr/>
              </p:nvSpPr>
              <p:spPr bwMode="auto">
                <a:xfrm>
                  <a:off x="591749" y="4800600"/>
                  <a:ext cx="715962"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cow</a:t>
                  </a:r>
                </a:p>
              </p:txBody>
            </p:sp>
            <p:sp>
              <p:nvSpPr>
                <p:cNvPr id="310" name="Rectangle 29"/>
                <p:cNvSpPr>
                  <a:spLocks noChangeArrowheads="1"/>
                </p:cNvSpPr>
                <p:nvPr/>
              </p:nvSpPr>
              <p:spPr bwMode="auto">
                <a:xfrm>
                  <a:off x="2099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fox</a:t>
                  </a:r>
                </a:p>
              </p:txBody>
            </p:sp>
            <p:sp>
              <p:nvSpPr>
                <p:cNvPr id="311" name="Rectangle 30"/>
                <p:cNvSpPr>
                  <a:spLocks noChangeArrowheads="1"/>
                </p:cNvSpPr>
                <p:nvPr/>
              </p:nvSpPr>
              <p:spPr bwMode="auto">
                <a:xfrm>
                  <a:off x="2861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pig</a:t>
                  </a:r>
                </a:p>
              </p:txBody>
            </p:sp>
            <p:sp>
              <p:nvSpPr>
                <p:cNvPr id="312" name="Rectangle 35"/>
                <p:cNvSpPr>
                  <a:spLocks noChangeArrowheads="1"/>
                </p:cNvSpPr>
                <p:nvPr/>
              </p:nvSpPr>
              <p:spPr bwMode="auto">
                <a:xfrm>
                  <a:off x="4439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lion</a:t>
                  </a:r>
                </a:p>
              </p:txBody>
            </p:sp>
            <p:sp>
              <p:nvSpPr>
                <p:cNvPr id="313" name="Rectangle 36"/>
                <p:cNvSpPr>
                  <a:spLocks noChangeArrowheads="1"/>
                </p:cNvSpPr>
                <p:nvPr/>
              </p:nvSpPr>
              <p:spPr bwMode="auto">
                <a:xfrm>
                  <a:off x="5201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tiger</a:t>
                  </a:r>
                </a:p>
              </p:txBody>
            </p:sp>
            <p:sp>
              <p:nvSpPr>
                <p:cNvPr id="314" name="Rectangle 37"/>
                <p:cNvSpPr>
                  <a:spLocks noChangeArrowheads="1"/>
                </p:cNvSpPr>
                <p:nvPr/>
              </p:nvSpPr>
              <p:spPr bwMode="auto">
                <a:xfrm>
                  <a:off x="3649273"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rat</a:t>
                  </a:r>
                </a:p>
              </p:txBody>
            </p:sp>
            <p:sp>
              <p:nvSpPr>
                <p:cNvPr id="315" name="Rectangle 40"/>
                <p:cNvSpPr>
                  <a:spLocks noChangeArrowheads="1"/>
                </p:cNvSpPr>
                <p:nvPr/>
              </p:nvSpPr>
              <p:spPr bwMode="auto">
                <a:xfrm>
                  <a:off x="6746486"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dog</a:t>
                  </a:r>
                </a:p>
              </p:txBody>
            </p:sp>
            <p:sp>
              <p:nvSpPr>
                <p:cNvPr id="316" name="Rectangle 42"/>
                <p:cNvSpPr>
                  <a:spLocks noChangeArrowheads="1"/>
                </p:cNvSpPr>
                <p:nvPr/>
              </p:nvSpPr>
              <p:spPr bwMode="auto">
                <a:xfrm>
                  <a:off x="5955911"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goat</a:t>
                  </a:r>
                </a:p>
              </p:txBody>
            </p:sp>
            <p:sp>
              <p:nvSpPr>
                <p:cNvPr id="317" name="Rectangle 27"/>
                <p:cNvSpPr>
                  <a:spLocks noChangeArrowheads="1"/>
                </p:cNvSpPr>
                <p:nvPr/>
              </p:nvSpPr>
              <p:spPr bwMode="auto">
                <a:xfrm>
                  <a:off x="1307710"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cat</a:t>
                  </a:r>
                </a:p>
              </p:txBody>
            </p:sp>
          </p:grpSp>
          <p:sp>
            <p:nvSpPr>
              <p:cNvPr id="308" name="TextBox 307"/>
              <p:cNvSpPr txBox="1"/>
              <p:nvPr/>
            </p:nvSpPr>
            <p:spPr>
              <a:xfrm>
                <a:off x="304800" y="1371600"/>
                <a:ext cx="7391400" cy="2977738"/>
              </a:xfrm>
              <a:prstGeom prst="rect">
                <a:avLst/>
              </a:prstGeom>
              <a:noFill/>
            </p:spPr>
            <p:txBody>
              <a:bodyPr wrap="square" rtlCol="0">
                <a:spAutoFit/>
              </a:bodyPr>
              <a:lstStyle/>
              <a:p>
                <a:pPr>
                  <a:buClr>
                    <a:schemeClr val="tx1"/>
                  </a:buClr>
                  <a:tabLst>
                    <a:tab pos="723900" algn="l"/>
                    <a:tab pos="1257300" algn="l"/>
                    <a:tab pos="1968500" algn="l"/>
                  </a:tabLst>
                </a:pPr>
                <a:r>
                  <a:rPr lang="en-US" altLang="en-US" dirty="0">
                    <a:latin typeface="Times New Roman" pitchFamily="18" charset="0"/>
                    <a:cs typeface="Times New Roman" pitchFamily="18" charset="0"/>
                  </a:rPr>
                  <a:t>To partition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such that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are all less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are all greater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pPr>
                  <a:spcBef>
                    <a:spcPts val="900"/>
                  </a:spcBef>
                  <a:buClr>
                    <a:schemeClr val="tx1"/>
                  </a:buClr>
                  <a:tabLst>
                    <a:tab pos="723900" algn="l"/>
                    <a:tab pos="1257300" algn="l"/>
                    <a:tab pos="1968500" algn="l"/>
                  </a:tabLst>
                </a:pPr>
                <a:r>
                  <a:rPr lang="en-US" altLang="en-US" dirty="0">
                    <a:latin typeface="Times New Roman" pitchFamily="18" charset="0"/>
                    <a:cs typeface="Times New Roman" pitchFamily="18" charset="0"/>
                  </a:rPr>
                  <a:t>1.	Let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be the element in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 and set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2.	For </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+1, …, </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repeat: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	</a:t>
                </a:r>
                <a:r>
                  <a:rPr lang="en-US" altLang="en-US" dirty="0">
                    <a:solidFill>
                      <a:srgbClr val="FF0000"/>
                    </a:solidFill>
                    <a:latin typeface="Times New Roman" pitchFamily="18" charset="0"/>
                    <a:cs typeface="Times New Roman" pitchFamily="18" charset="0"/>
                  </a:rPr>
                  <a:t>If </a:t>
                </a:r>
                <a:r>
                  <a:rPr lang="en-US" altLang="en-US" i="1" dirty="0">
                    <a:solidFill>
                      <a:srgbClr val="FF0000"/>
                    </a:solidFill>
                    <a:latin typeface="Times New Roman" pitchFamily="18" charset="0"/>
                    <a:cs typeface="Times New Roman" pitchFamily="18" charset="0"/>
                  </a:rPr>
                  <a:t>a</a:t>
                </a:r>
                <a:r>
                  <a:rPr lang="en-US" altLang="en-US" dirty="0">
                    <a:solidFill>
                      <a:srgbClr val="FF0000"/>
                    </a:solidFill>
                    <a:latin typeface="Times New Roman" pitchFamily="18" charset="0"/>
                    <a:cs typeface="Times New Roman" pitchFamily="18" charset="0"/>
                  </a:rPr>
                  <a:t>[</a:t>
                </a:r>
                <a:r>
                  <a:rPr lang="en-US" altLang="en-US" i="1" dirty="0">
                    <a:solidFill>
                      <a:srgbClr val="FF0000"/>
                    </a:solidFill>
                    <a:latin typeface="Times New Roman" pitchFamily="18" charset="0"/>
                    <a:cs typeface="Times New Roman" pitchFamily="18" charset="0"/>
                  </a:rPr>
                  <a:t>r</a:t>
                </a:r>
                <a:r>
                  <a:rPr lang="en-US" altLang="en-US" dirty="0">
                    <a:solidFill>
                      <a:srgbClr val="FF0000"/>
                    </a:solidFill>
                    <a:latin typeface="Times New Roman" pitchFamily="18" charset="0"/>
                    <a:cs typeface="Times New Roman" pitchFamily="18" charset="0"/>
                  </a:rPr>
                  <a:t>] is less than </a:t>
                </a:r>
                <a:r>
                  <a:rPr lang="en-US" altLang="en-US" i="1" dirty="0">
                    <a:solidFill>
                      <a:srgbClr val="FF0000"/>
                    </a:solidFill>
                    <a:latin typeface="Times New Roman" pitchFamily="18" charset="0"/>
                    <a:cs typeface="Times New Roman" pitchFamily="18" charset="0"/>
                  </a:rPr>
                  <a:t>pivot</a:t>
                </a:r>
                <a:r>
                  <a:rPr lang="en-US" altLang="en-US" dirty="0">
                    <a:solidFill>
                      <a:srgbClr val="FF0000"/>
                    </a:solidFill>
                    <a:latin typeface="Times New Roman" pitchFamily="18" charset="0"/>
                    <a:cs typeface="Times New Roman" pitchFamily="18" charset="0"/>
                  </a:rPr>
                  <a:t>:</a:t>
                </a:r>
                <a:br>
                  <a:rPr lang="en-US" altLang="en-US" dirty="0">
                    <a:solidFill>
                      <a:srgbClr val="FF0000"/>
                    </a:solidFill>
                    <a:latin typeface="Times New Roman" pitchFamily="18" charset="0"/>
                    <a:cs typeface="Times New Roman" pitchFamily="18" charset="0"/>
                  </a:rPr>
                </a:br>
                <a:r>
                  <a:rPr lang="en-US" altLang="en-US" dirty="0">
                    <a:latin typeface="Times New Roman" pitchFamily="18" charset="0"/>
                    <a:cs typeface="Times New Roman" pitchFamily="18" charset="0"/>
                  </a:rPr>
                  <a:t>		2.1.1.	Copy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br>
                  <a:rPr lang="en-US" altLang="en-US" dirty="0">
                    <a:solidFill>
                      <a:srgbClr val="FF0000"/>
                    </a:solidFill>
                    <a:latin typeface="Times New Roman" pitchFamily="18" charset="0"/>
                    <a:cs typeface="Times New Roman" pitchFamily="18" charset="0"/>
                  </a:rPr>
                </a:br>
                <a:r>
                  <a:rPr lang="en-US" altLang="en-US" dirty="0">
                    <a:latin typeface="Times New Roman" pitchFamily="18" charset="0"/>
                    <a:cs typeface="Times New Roman" pitchFamily="18" charset="0"/>
                  </a:rPr>
                  <a:t>		2.1.2.	Increment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r>
                  <a:rPr lang="en-US" altLang="en-US" dirty="0">
                    <a:solidFill>
                      <a:srgbClr val="FF0000"/>
                    </a:solidFill>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3.	Terminate yielding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endParaRPr lang="en-GB" dirty="0"/>
              </a:p>
            </p:txBody>
          </p:sp>
        </p:grpSp>
        <p:sp>
          <p:nvSpPr>
            <p:cNvPr id="304" name="TextBox 303"/>
            <p:cNvSpPr txBox="1"/>
            <p:nvPr/>
          </p:nvSpPr>
          <p:spPr>
            <a:xfrm>
              <a:off x="304800" y="5486400"/>
              <a:ext cx="2057400" cy="646331"/>
            </a:xfrm>
            <a:prstGeom prst="rect">
              <a:avLst/>
            </a:prstGeom>
            <a:noFill/>
          </p:spPr>
          <p:txBody>
            <a:bodyPr wrap="square" rtlCol="0">
              <a:spAutoFit/>
            </a:bodyPr>
            <a:lstStyle/>
            <a:p>
              <a:r>
                <a:rPr lang="en-GB" dirty="0"/>
                <a:t>left = 0</a:t>
              </a:r>
            </a:p>
            <a:p>
              <a:r>
                <a:rPr lang="en-GB" dirty="0"/>
                <a:t>right = 8</a:t>
              </a:r>
            </a:p>
          </p:txBody>
        </p:sp>
        <p:sp>
          <p:nvSpPr>
            <p:cNvPr id="305" name="TextBox 304"/>
            <p:cNvSpPr txBox="1"/>
            <p:nvPr/>
          </p:nvSpPr>
          <p:spPr>
            <a:xfrm>
              <a:off x="5408299" y="5334000"/>
              <a:ext cx="2057400" cy="923330"/>
            </a:xfrm>
            <a:prstGeom prst="rect">
              <a:avLst/>
            </a:prstGeom>
            <a:noFill/>
          </p:spPr>
          <p:txBody>
            <a:bodyPr wrap="square" rtlCol="0">
              <a:spAutoFit/>
            </a:bodyPr>
            <a:lstStyle/>
            <a:p>
              <a:r>
                <a:rPr lang="en-GB" dirty="0"/>
                <a:t>pivot = fox</a:t>
              </a:r>
            </a:p>
            <a:p>
              <a:r>
                <a:rPr lang="en-GB" dirty="0"/>
                <a:t>p=2</a:t>
              </a:r>
            </a:p>
            <a:p>
              <a:r>
                <a:rPr lang="en-GB" dirty="0"/>
                <a:t>r=8</a:t>
              </a:r>
            </a:p>
          </p:txBody>
        </p:sp>
      </p:grpSp>
      <p:grpSp>
        <p:nvGrpSpPr>
          <p:cNvPr id="318" name="Group 317"/>
          <p:cNvGrpSpPr/>
          <p:nvPr/>
        </p:nvGrpSpPr>
        <p:grpSpPr>
          <a:xfrm>
            <a:off x="152400" y="1371600"/>
            <a:ext cx="8077200" cy="4953000"/>
            <a:chOff x="152400" y="1371600"/>
            <a:chExt cx="8077200" cy="4953000"/>
          </a:xfrm>
        </p:grpSpPr>
        <p:grpSp>
          <p:nvGrpSpPr>
            <p:cNvPr id="319" name="Group 318"/>
            <p:cNvGrpSpPr/>
            <p:nvPr/>
          </p:nvGrpSpPr>
          <p:grpSpPr>
            <a:xfrm>
              <a:off x="152400" y="1371600"/>
              <a:ext cx="8077200" cy="4953000"/>
              <a:chOff x="152400" y="1371600"/>
              <a:chExt cx="8077200" cy="4953000"/>
            </a:xfrm>
          </p:grpSpPr>
          <p:sp>
            <p:nvSpPr>
              <p:cNvPr id="322" name="Rectangle 321"/>
              <p:cNvSpPr/>
              <p:nvPr/>
            </p:nvSpPr>
            <p:spPr>
              <a:xfrm>
                <a:off x="152400" y="1371600"/>
                <a:ext cx="8077200" cy="4953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23" name="Group 322"/>
              <p:cNvGrpSpPr/>
              <p:nvPr/>
            </p:nvGrpSpPr>
            <p:grpSpPr>
              <a:xfrm>
                <a:off x="304800" y="4800600"/>
                <a:ext cx="6946900" cy="361950"/>
                <a:chOff x="591749" y="4800600"/>
                <a:chExt cx="6946900" cy="361950"/>
              </a:xfrm>
            </p:grpSpPr>
            <p:sp>
              <p:nvSpPr>
                <p:cNvPr id="325" name="Rectangle 27"/>
                <p:cNvSpPr>
                  <a:spLocks noChangeArrowheads="1"/>
                </p:cNvSpPr>
                <p:nvPr/>
              </p:nvSpPr>
              <p:spPr bwMode="auto">
                <a:xfrm>
                  <a:off x="591749" y="4800600"/>
                  <a:ext cx="715962"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cow</a:t>
                  </a:r>
                </a:p>
              </p:txBody>
            </p:sp>
            <p:sp>
              <p:nvSpPr>
                <p:cNvPr id="326" name="Rectangle 29"/>
                <p:cNvSpPr>
                  <a:spLocks noChangeArrowheads="1"/>
                </p:cNvSpPr>
                <p:nvPr/>
              </p:nvSpPr>
              <p:spPr bwMode="auto">
                <a:xfrm>
                  <a:off x="2099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solidFill>
                        <a:srgbClr val="FF0000"/>
                      </a:solidFill>
                    </a:rPr>
                    <a:t>dog</a:t>
                  </a:r>
                </a:p>
              </p:txBody>
            </p:sp>
            <p:sp>
              <p:nvSpPr>
                <p:cNvPr id="327" name="Rectangle 30"/>
                <p:cNvSpPr>
                  <a:spLocks noChangeArrowheads="1"/>
                </p:cNvSpPr>
                <p:nvPr/>
              </p:nvSpPr>
              <p:spPr bwMode="auto">
                <a:xfrm>
                  <a:off x="2861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pig</a:t>
                  </a:r>
                </a:p>
              </p:txBody>
            </p:sp>
            <p:sp>
              <p:nvSpPr>
                <p:cNvPr id="328" name="Rectangle 35"/>
                <p:cNvSpPr>
                  <a:spLocks noChangeArrowheads="1"/>
                </p:cNvSpPr>
                <p:nvPr/>
              </p:nvSpPr>
              <p:spPr bwMode="auto">
                <a:xfrm>
                  <a:off x="4439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lion</a:t>
                  </a:r>
                </a:p>
              </p:txBody>
            </p:sp>
            <p:sp>
              <p:nvSpPr>
                <p:cNvPr id="329" name="Rectangle 36"/>
                <p:cNvSpPr>
                  <a:spLocks noChangeArrowheads="1"/>
                </p:cNvSpPr>
                <p:nvPr/>
              </p:nvSpPr>
              <p:spPr bwMode="auto">
                <a:xfrm>
                  <a:off x="5201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tiger</a:t>
                  </a:r>
                </a:p>
              </p:txBody>
            </p:sp>
            <p:sp>
              <p:nvSpPr>
                <p:cNvPr id="330" name="Rectangle 37"/>
                <p:cNvSpPr>
                  <a:spLocks noChangeArrowheads="1"/>
                </p:cNvSpPr>
                <p:nvPr/>
              </p:nvSpPr>
              <p:spPr bwMode="auto">
                <a:xfrm>
                  <a:off x="3649273"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rat</a:t>
                  </a:r>
                </a:p>
              </p:txBody>
            </p:sp>
            <p:sp>
              <p:nvSpPr>
                <p:cNvPr id="331" name="Rectangle 40"/>
                <p:cNvSpPr>
                  <a:spLocks noChangeArrowheads="1"/>
                </p:cNvSpPr>
                <p:nvPr/>
              </p:nvSpPr>
              <p:spPr bwMode="auto">
                <a:xfrm>
                  <a:off x="6746486"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solidFill>
                        <a:srgbClr val="FF0000"/>
                      </a:solidFill>
                    </a:rPr>
                    <a:t>pig</a:t>
                  </a:r>
                </a:p>
              </p:txBody>
            </p:sp>
            <p:sp>
              <p:nvSpPr>
                <p:cNvPr id="332" name="Rectangle 42"/>
                <p:cNvSpPr>
                  <a:spLocks noChangeArrowheads="1"/>
                </p:cNvSpPr>
                <p:nvPr/>
              </p:nvSpPr>
              <p:spPr bwMode="auto">
                <a:xfrm>
                  <a:off x="5955911"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goat</a:t>
                  </a:r>
                </a:p>
              </p:txBody>
            </p:sp>
            <p:sp>
              <p:nvSpPr>
                <p:cNvPr id="333" name="Rectangle 27"/>
                <p:cNvSpPr>
                  <a:spLocks noChangeArrowheads="1"/>
                </p:cNvSpPr>
                <p:nvPr/>
              </p:nvSpPr>
              <p:spPr bwMode="auto">
                <a:xfrm>
                  <a:off x="1307710"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cat</a:t>
                  </a:r>
                </a:p>
              </p:txBody>
            </p:sp>
          </p:grpSp>
          <p:sp>
            <p:nvSpPr>
              <p:cNvPr id="324" name="TextBox 323"/>
              <p:cNvSpPr txBox="1"/>
              <p:nvPr/>
            </p:nvSpPr>
            <p:spPr>
              <a:xfrm>
                <a:off x="304800" y="1371600"/>
                <a:ext cx="7391400" cy="2977738"/>
              </a:xfrm>
              <a:prstGeom prst="rect">
                <a:avLst/>
              </a:prstGeom>
              <a:noFill/>
            </p:spPr>
            <p:txBody>
              <a:bodyPr wrap="square" rtlCol="0">
                <a:spAutoFit/>
              </a:bodyPr>
              <a:lstStyle/>
              <a:p>
                <a:pPr>
                  <a:buClr>
                    <a:schemeClr val="tx1"/>
                  </a:buClr>
                  <a:tabLst>
                    <a:tab pos="723900" algn="l"/>
                    <a:tab pos="1257300" algn="l"/>
                    <a:tab pos="1968500" algn="l"/>
                  </a:tabLst>
                </a:pPr>
                <a:r>
                  <a:rPr lang="en-US" altLang="en-US" dirty="0">
                    <a:latin typeface="Times New Roman" pitchFamily="18" charset="0"/>
                    <a:cs typeface="Times New Roman" pitchFamily="18" charset="0"/>
                  </a:rPr>
                  <a:t>To partition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such that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are all less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are all greater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pPr>
                  <a:spcBef>
                    <a:spcPts val="900"/>
                  </a:spcBef>
                  <a:buClr>
                    <a:schemeClr val="tx1"/>
                  </a:buClr>
                  <a:tabLst>
                    <a:tab pos="723900" algn="l"/>
                    <a:tab pos="1257300" algn="l"/>
                    <a:tab pos="1968500" algn="l"/>
                  </a:tabLst>
                </a:pPr>
                <a:r>
                  <a:rPr lang="en-US" altLang="en-US" dirty="0">
                    <a:latin typeface="Times New Roman" pitchFamily="18" charset="0"/>
                    <a:cs typeface="Times New Roman" pitchFamily="18" charset="0"/>
                  </a:rPr>
                  <a:t>1.	Let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be the element in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 and set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2.	For </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+1, …, </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repeat: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	If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is less than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2.1.1.	</a:t>
                </a:r>
                <a:r>
                  <a:rPr lang="en-US" altLang="en-US" dirty="0">
                    <a:solidFill>
                      <a:srgbClr val="FF0000"/>
                    </a:solidFill>
                    <a:latin typeface="Times New Roman" pitchFamily="18" charset="0"/>
                    <a:cs typeface="Times New Roman" pitchFamily="18" charset="0"/>
                  </a:rPr>
                  <a:t>Copy </a:t>
                </a:r>
                <a:r>
                  <a:rPr lang="en-US" altLang="en-US" i="1" dirty="0">
                    <a:solidFill>
                      <a:srgbClr val="FF0000"/>
                    </a:solidFill>
                    <a:latin typeface="Times New Roman" pitchFamily="18" charset="0"/>
                    <a:cs typeface="Times New Roman" pitchFamily="18" charset="0"/>
                  </a:rPr>
                  <a:t>a</a:t>
                </a:r>
                <a:r>
                  <a:rPr lang="en-US" altLang="en-US" dirty="0">
                    <a:solidFill>
                      <a:srgbClr val="FF0000"/>
                    </a:solidFill>
                    <a:latin typeface="Times New Roman" pitchFamily="18" charset="0"/>
                    <a:cs typeface="Times New Roman" pitchFamily="18" charset="0"/>
                  </a:rPr>
                  <a:t>[</a:t>
                </a:r>
                <a:r>
                  <a:rPr lang="en-US" altLang="en-US" i="1" dirty="0">
                    <a:solidFill>
                      <a:srgbClr val="FF0000"/>
                    </a:solidFill>
                    <a:latin typeface="Times New Roman" pitchFamily="18" charset="0"/>
                    <a:cs typeface="Times New Roman" pitchFamily="18" charset="0"/>
                  </a:rPr>
                  <a:t>r</a:t>
                </a:r>
                <a:r>
                  <a:rPr lang="en-US" altLang="en-US" dirty="0">
                    <a:solidFill>
                      <a:srgbClr val="FF0000"/>
                    </a:solidFill>
                    <a:latin typeface="Times New Roman" pitchFamily="18" charset="0"/>
                    <a:cs typeface="Times New Roman" pitchFamily="18" charset="0"/>
                  </a:rPr>
                  <a:t>] into </a:t>
                </a:r>
                <a:r>
                  <a:rPr lang="en-US" altLang="en-US" i="1" dirty="0">
                    <a:solidFill>
                      <a:srgbClr val="FF0000"/>
                    </a:solidFill>
                    <a:latin typeface="Times New Roman" pitchFamily="18" charset="0"/>
                    <a:cs typeface="Times New Roman" pitchFamily="18" charset="0"/>
                  </a:rPr>
                  <a:t>a</a:t>
                </a:r>
                <a:r>
                  <a:rPr lang="en-US" altLang="en-US" dirty="0">
                    <a:solidFill>
                      <a:srgbClr val="FF0000"/>
                    </a:solidFill>
                    <a:latin typeface="Times New Roman" pitchFamily="18" charset="0"/>
                    <a:cs typeface="Times New Roman" pitchFamily="18" charset="0"/>
                  </a:rPr>
                  <a:t>[</a:t>
                </a:r>
                <a:r>
                  <a:rPr lang="en-US" altLang="en-US" i="1" dirty="0">
                    <a:solidFill>
                      <a:srgbClr val="FF0000"/>
                    </a:solidFill>
                    <a:latin typeface="Times New Roman" pitchFamily="18" charset="0"/>
                    <a:cs typeface="Times New Roman" pitchFamily="18" charset="0"/>
                  </a:rPr>
                  <a:t>p</a:t>
                </a:r>
                <a:r>
                  <a:rPr lang="en-US" altLang="en-US" dirty="0">
                    <a:solidFill>
                      <a:srgbClr val="FF0000"/>
                    </a:solidFill>
                    <a:latin typeface="Times New Roman" pitchFamily="18" charset="0"/>
                    <a:cs typeface="Times New Roman" pitchFamily="18" charset="0"/>
                  </a:rPr>
                  <a:t>], </a:t>
                </a:r>
                <a:r>
                  <a:rPr lang="en-US" altLang="en-US" i="1" dirty="0">
                    <a:solidFill>
                      <a:srgbClr val="FF0000"/>
                    </a:solidFill>
                    <a:latin typeface="Times New Roman" pitchFamily="18" charset="0"/>
                    <a:cs typeface="Times New Roman" pitchFamily="18" charset="0"/>
                  </a:rPr>
                  <a:t>a</a:t>
                </a:r>
                <a:r>
                  <a:rPr lang="en-US" altLang="en-US" dirty="0">
                    <a:solidFill>
                      <a:srgbClr val="FF0000"/>
                    </a:solidFill>
                    <a:latin typeface="Times New Roman" pitchFamily="18" charset="0"/>
                    <a:cs typeface="Times New Roman" pitchFamily="18" charset="0"/>
                  </a:rPr>
                  <a:t>[</a:t>
                </a:r>
                <a:r>
                  <a:rPr lang="en-US" altLang="en-US" i="1" dirty="0">
                    <a:solidFill>
                      <a:srgbClr val="FF0000"/>
                    </a:solidFill>
                    <a:latin typeface="Times New Roman" pitchFamily="18" charset="0"/>
                    <a:cs typeface="Times New Roman" pitchFamily="18" charset="0"/>
                  </a:rPr>
                  <a:t>p</a:t>
                </a:r>
                <a:r>
                  <a:rPr lang="en-US" altLang="en-US" dirty="0">
                    <a:solidFill>
                      <a:srgbClr val="FF0000"/>
                    </a:solidFill>
                    <a:latin typeface="Times New Roman" pitchFamily="18" charset="0"/>
                    <a:cs typeface="Times New Roman" pitchFamily="18" charset="0"/>
                  </a:rPr>
                  <a:t>+1] into </a:t>
                </a:r>
                <a:r>
                  <a:rPr lang="en-US" altLang="en-US" i="1" dirty="0">
                    <a:solidFill>
                      <a:srgbClr val="FF0000"/>
                    </a:solidFill>
                    <a:latin typeface="Times New Roman" pitchFamily="18" charset="0"/>
                    <a:cs typeface="Times New Roman" pitchFamily="18" charset="0"/>
                  </a:rPr>
                  <a:t>a</a:t>
                </a:r>
                <a:r>
                  <a:rPr lang="en-US" altLang="en-US" dirty="0">
                    <a:solidFill>
                      <a:srgbClr val="FF0000"/>
                    </a:solidFill>
                    <a:latin typeface="Times New Roman" pitchFamily="18" charset="0"/>
                    <a:cs typeface="Times New Roman" pitchFamily="18" charset="0"/>
                  </a:rPr>
                  <a:t>[</a:t>
                </a:r>
                <a:r>
                  <a:rPr lang="en-US" altLang="en-US" i="1" dirty="0">
                    <a:solidFill>
                      <a:srgbClr val="FF0000"/>
                    </a:solidFill>
                    <a:latin typeface="Times New Roman" pitchFamily="18" charset="0"/>
                    <a:cs typeface="Times New Roman" pitchFamily="18" charset="0"/>
                  </a:rPr>
                  <a:t>r</a:t>
                </a:r>
                <a:r>
                  <a:rPr lang="en-US" altLang="en-US" dirty="0">
                    <a:solidFill>
                      <a:srgbClr val="FF0000"/>
                    </a:solidFill>
                    <a:latin typeface="Times New Roman" pitchFamily="18" charset="0"/>
                    <a:cs typeface="Times New Roman" pitchFamily="18" charset="0"/>
                  </a:rPr>
                  <a:t>], </a:t>
                </a:r>
                <a:br>
                  <a:rPr lang="en-US" altLang="en-US" dirty="0">
                    <a:solidFill>
                      <a:srgbClr val="FF0000"/>
                    </a:solidFill>
                    <a:latin typeface="Times New Roman" pitchFamily="18" charset="0"/>
                    <a:cs typeface="Times New Roman" pitchFamily="18" charset="0"/>
                  </a:rPr>
                </a:b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br>
                  <a:rPr lang="en-US" altLang="en-US" dirty="0">
                    <a:solidFill>
                      <a:srgbClr val="FF0000"/>
                    </a:solidFill>
                    <a:latin typeface="Times New Roman" pitchFamily="18" charset="0"/>
                    <a:cs typeface="Times New Roman" pitchFamily="18" charset="0"/>
                  </a:rPr>
                </a:br>
                <a:r>
                  <a:rPr lang="en-US" altLang="en-US" dirty="0">
                    <a:latin typeface="Times New Roman" pitchFamily="18" charset="0"/>
                    <a:cs typeface="Times New Roman" pitchFamily="18" charset="0"/>
                  </a:rPr>
                  <a:t>		2.1.2.	Increment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r>
                  <a:rPr lang="en-US" altLang="en-US" dirty="0">
                    <a:solidFill>
                      <a:srgbClr val="FF0000"/>
                    </a:solidFill>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3.	Terminate yielding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endParaRPr lang="en-GB" dirty="0"/>
              </a:p>
            </p:txBody>
          </p:sp>
        </p:grpSp>
        <p:sp>
          <p:nvSpPr>
            <p:cNvPr id="320" name="TextBox 319"/>
            <p:cNvSpPr txBox="1"/>
            <p:nvPr/>
          </p:nvSpPr>
          <p:spPr>
            <a:xfrm>
              <a:off x="304800" y="5486400"/>
              <a:ext cx="2057400" cy="646331"/>
            </a:xfrm>
            <a:prstGeom prst="rect">
              <a:avLst/>
            </a:prstGeom>
            <a:noFill/>
          </p:spPr>
          <p:txBody>
            <a:bodyPr wrap="square" rtlCol="0">
              <a:spAutoFit/>
            </a:bodyPr>
            <a:lstStyle/>
            <a:p>
              <a:r>
                <a:rPr lang="en-GB" dirty="0"/>
                <a:t>left = 0</a:t>
              </a:r>
            </a:p>
            <a:p>
              <a:r>
                <a:rPr lang="en-GB" dirty="0"/>
                <a:t>right = 8</a:t>
              </a:r>
            </a:p>
          </p:txBody>
        </p:sp>
        <p:sp>
          <p:nvSpPr>
            <p:cNvPr id="321" name="TextBox 320"/>
            <p:cNvSpPr txBox="1"/>
            <p:nvPr/>
          </p:nvSpPr>
          <p:spPr>
            <a:xfrm>
              <a:off x="5408299" y="5334000"/>
              <a:ext cx="2057400" cy="923330"/>
            </a:xfrm>
            <a:prstGeom prst="rect">
              <a:avLst/>
            </a:prstGeom>
            <a:noFill/>
          </p:spPr>
          <p:txBody>
            <a:bodyPr wrap="square" rtlCol="0">
              <a:spAutoFit/>
            </a:bodyPr>
            <a:lstStyle/>
            <a:p>
              <a:r>
                <a:rPr lang="en-GB" dirty="0"/>
                <a:t>pivot = fox</a:t>
              </a:r>
            </a:p>
            <a:p>
              <a:r>
                <a:rPr lang="en-GB" dirty="0"/>
                <a:t>p=2</a:t>
              </a:r>
            </a:p>
            <a:p>
              <a:r>
                <a:rPr lang="en-GB" dirty="0"/>
                <a:t>r=8</a:t>
              </a:r>
            </a:p>
          </p:txBody>
        </p:sp>
      </p:grpSp>
      <p:grpSp>
        <p:nvGrpSpPr>
          <p:cNvPr id="334" name="Group 333"/>
          <p:cNvGrpSpPr/>
          <p:nvPr/>
        </p:nvGrpSpPr>
        <p:grpSpPr>
          <a:xfrm>
            <a:off x="152400" y="1371600"/>
            <a:ext cx="8077200" cy="4953000"/>
            <a:chOff x="152400" y="1371600"/>
            <a:chExt cx="8077200" cy="4953000"/>
          </a:xfrm>
        </p:grpSpPr>
        <p:grpSp>
          <p:nvGrpSpPr>
            <p:cNvPr id="335" name="Group 334"/>
            <p:cNvGrpSpPr/>
            <p:nvPr/>
          </p:nvGrpSpPr>
          <p:grpSpPr>
            <a:xfrm>
              <a:off x="152400" y="1371600"/>
              <a:ext cx="8077200" cy="4953000"/>
              <a:chOff x="152400" y="1371600"/>
              <a:chExt cx="8077200" cy="4953000"/>
            </a:xfrm>
          </p:grpSpPr>
          <p:sp>
            <p:nvSpPr>
              <p:cNvPr id="338" name="Rectangle 337"/>
              <p:cNvSpPr/>
              <p:nvPr/>
            </p:nvSpPr>
            <p:spPr>
              <a:xfrm>
                <a:off x="152400" y="1371600"/>
                <a:ext cx="8077200" cy="4953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39" name="Group 338"/>
              <p:cNvGrpSpPr/>
              <p:nvPr/>
            </p:nvGrpSpPr>
            <p:grpSpPr>
              <a:xfrm>
                <a:off x="304800" y="4800600"/>
                <a:ext cx="6946900" cy="361950"/>
                <a:chOff x="591749" y="4800600"/>
                <a:chExt cx="6946900" cy="361950"/>
              </a:xfrm>
            </p:grpSpPr>
            <p:sp>
              <p:nvSpPr>
                <p:cNvPr id="341" name="Rectangle 27"/>
                <p:cNvSpPr>
                  <a:spLocks noChangeArrowheads="1"/>
                </p:cNvSpPr>
                <p:nvPr/>
              </p:nvSpPr>
              <p:spPr bwMode="auto">
                <a:xfrm>
                  <a:off x="591749" y="4800600"/>
                  <a:ext cx="715962"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cow</a:t>
                  </a:r>
                </a:p>
              </p:txBody>
            </p:sp>
            <p:sp>
              <p:nvSpPr>
                <p:cNvPr id="342" name="Rectangle 29"/>
                <p:cNvSpPr>
                  <a:spLocks noChangeArrowheads="1"/>
                </p:cNvSpPr>
                <p:nvPr/>
              </p:nvSpPr>
              <p:spPr bwMode="auto">
                <a:xfrm>
                  <a:off x="2099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dog</a:t>
                  </a:r>
                </a:p>
              </p:txBody>
            </p:sp>
            <p:sp>
              <p:nvSpPr>
                <p:cNvPr id="343" name="Rectangle 30"/>
                <p:cNvSpPr>
                  <a:spLocks noChangeArrowheads="1"/>
                </p:cNvSpPr>
                <p:nvPr/>
              </p:nvSpPr>
              <p:spPr bwMode="auto">
                <a:xfrm>
                  <a:off x="2861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solidFill>
                        <a:srgbClr val="FF0000"/>
                      </a:solidFill>
                    </a:rPr>
                    <a:t>fox</a:t>
                  </a:r>
                </a:p>
              </p:txBody>
            </p:sp>
            <p:sp>
              <p:nvSpPr>
                <p:cNvPr id="344" name="Rectangle 35"/>
                <p:cNvSpPr>
                  <a:spLocks noChangeArrowheads="1"/>
                </p:cNvSpPr>
                <p:nvPr/>
              </p:nvSpPr>
              <p:spPr bwMode="auto">
                <a:xfrm>
                  <a:off x="4439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lion</a:t>
                  </a:r>
                </a:p>
              </p:txBody>
            </p:sp>
            <p:sp>
              <p:nvSpPr>
                <p:cNvPr id="345" name="Rectangle 36"/>
                <p:cNvSpPr>
                  <a:spLocks noChangeArrowheads="1"/>
                </p:cNvSpPr>
                <p:nvPr/>
              </p:nvSpPr>
              <p:spPr bwMode="auto">
                <a:xfrm>
                  <a:off x="5201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tiger</a:t>
                  </a:r>
                </a:p>
              </p:txBody>
            </p:sp>
            <p:sp>
              <p:nvSpPr>
                <p:cNvPr id="346" name="Rectangle 37"/>
                <p:cNvSpPr>
                  <a:spLocks noChangeArrowheads="1"/>
                </p:cNvSpPr>
                <p:nvPr/>
              </p:nvSpPr>
              <p:spPr bwMode="auto">
                <a:xfrm>
                  <a:off x="3649273"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rat</a:t>
                  </a:r>
                </a:p>
              </p:txBody>
            </p:sp>
            <p:sp>
              <p:nvSpPr>
                <p:cNvPr id="347" name="Rectangle 40"/>
                <p:cNvSpPr>
                  <a:spLocks noChangeArrowheads="1"/>
                </p:cNvSpPr>
                <p:nvPr/>
              </p:nvSpPr>
              <p:spPr bwMode="auto">
                <a:xfrm>
                  <a:off x="6746486"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pig</a:t>
                  </a:r>
                </a:p>
              </p:txBody>
            </p:sp>
            <p:sp>
              <p:nvSpPr>
                <p:cNvPr id="348" name="Rectangle 42"/>
                <p:cNvSpPr>
                  <a:spLocks noChangeArrowheads="1"/>
                </p:cNvSpPr>
                <p:nvPr/>
              </p:nvSpPr>
              <p:spPr bwMode="auto">
                <a:xfrm>
                  <a:off x="5955911"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goat</a:t>
                  </a:r>
                </a:p>
              </p:txBody>
            </p:sp>
            <p:sp>
              <p:nvSpPr>
                <p:cNvPr id="349" name="Rectangle 27"/>
                <p:cNvSpPr>
                  <a:spLocks noChangeArrowheads="1"/>
                </p:cNvSpPr>
                <p:nvPr/>
              </p:nvSpPr>
              <p:spPr bwMode="auto">
                <a:xfrm>
                  <a:off x="1307710"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cat</a:t>
                  </a:r>
                </a:p>
              </p:txBody>
            </p:sp>
          </p:grpSp>
          <p:sp>
            <p:nvSpPr>
              <p:cNvPr id="340" name="TextBox 339"/>
              <p:cNvSpPr txBox="1"/>
              <p:nvPr/>
            </p:nvSpPr>
            <p:spPr>
              <a:xfrm>
                <a:off x="304800" y="1371600"/>
                <a:ext cx="7391400" cy="2977738"/>
              </a:xfrm>
              <a:prstGeom prst="rect">
                <a:avLst/>
              </a:prstGeom>
              <a:noFill/>
            </p:spPr>
            <p:txBody>
              <a:bodyPr wrap="square" rtlCol="0">
                <a:spAutoFit/>
              </a:bodyPr>
              <a:lstStyle/>
              <a:p>
                <a:pPr>
                  <a:buClr>
                    <a:schemeClr val="tx1"/>
                  </a:buClr>
                  <a:tabLst>
                    <a:tab pos="723900" algn="l"/>
                    <a:tab pos="1257300" algn="l"/>
                    <a:tab pos="1968500" algn="l"/>
                  </a:tabLst>
                </a:pPr>
                <a:r>
                  <a:rPr lang="en-US" altLang="en-US" dirty="0">
                    <a:latin typeface="Times New Roman" pitchFamily="18" charset="0"/>
                    <a:cs typeface="Times New Roman" pitchFamily="18" charset="0"/>
                  </a:rPr>
                  <a:t>To partition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such that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are all less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are all greater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pPr>
                  <a:spcBef>
                    <a:spcPts val="900"/>
                  </a:spcBef>
                  <a:buClr>
                    <a:schemeClr val="tx1"/>
                  </a:buClr>
                  <a:tabLst>
                    <a:tab pos="723900" algn="l"/>
                    <a:tab pos="1257300" algn="l"/>
                    <a:tab pos="1968500" algn="l"/>
                  </a:tabLst>
                </a:pPr>
                <a:r>
                  <a:rPr lang="en-US" altLang="en-US" dirty="0">
                    <a:latin typeface="Times New Roman" pitchFamily="18" charset="0"/>
                    <a:cs typeface="Times New Roman" pitchFamily="18" charset="0"/>
                  </a:rPr>
                  <a:t>1.	Let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be the element in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 and set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2.	For </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+1, …, </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repeat: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	If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is less than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2.1.1.	Copy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a:t>
                </a:r>
                <a:r>
                  <a:rPr lang="en-US" altLang="en-US" dirty="0">
                    <a:solidFill>
                      <a:srgbClr val="FF0000"/>
                    </a:solidFill>
                    <a:latin typeface="Times New Roman" pitchFamily="18" charset="0"/>
                    <a:cs typeface="Times New Roman" pitchFamily="18" charset="0"/>
                  </a:rPr>
                  <a:t>and </a:t>
                </a:r>
                <a:r>
                  <a:rPr lang="en-US" altLang="en-US" i="1" dirty="0">
                    <a:solidFill>
                      <a:srgbClr val="FF0000"/>
                    </a:solidFill>
                    <a:latin typeface="Times New Roman" pitchFamily="18" charset="0"/>
                    <a:cs typeface="Times New Roman" pitchFamily="18" charset="0"/>
                  </a:rPr>
                  <a:t>pivot</a:t>
                </a:r>
                <a:r>
                  <a:rPr lang="en-US" altLang="en-US" dirty="0">
                    <a:solidFill>
                      <a:srgbClr val="FF0000"/>
                    </a:solidFill>
                    <a:latin typeface="Times New Roman" pitchFamily="18" charset="0"/>
                    <a:cs typeface="Times New Roman" pitchFamily="18" charset="0"/>
                  </a:rPr>
                  <a:t> into </a:t>
                </a:r>
                <a:r>
                  <a:rPr lang="en-US" altLang="en-US" i="1" dirty="0">
                    <a:solidFill>
                      <a:srgbClr val="FF0000"/>
                    </a:solidFill>
                    <a:latin typeface="Times New Roman" pitchFamily="18" charset="0"/>
                    <a:cs typeface="Times New Roman" pitchFamily="18" charset="0"/>
                  </a:rPr>
                  <a:t>a</a:t>
                </a:r>
                <a:r>
                  <a:rPr lang="en-US" altLang="en-US" dirty="0">
                    <a:solidFill>
                      <a:srgbClr val="FF0000"/>
                    </a:solidFill>
                    <a:latin typeface="Times New Roman" pitchFamily="18" charset="0"/>
                    <a:cs typeface="Times New Roman" pitchFamily="18" charset="0"/>
                  </a:rPr>
                  <a:t>[</a:t>
                </a:r>
                <a:r>
                  <a:rPr lang="en-US" altLang="en-US" i="1" dirty="0">
                    <a:solidFill>
                      <a:srgbClr val="FF0000"/>
                    </a:solidFill>
                    <a:latin typeface="Times New Roman" pitchFamily="18" charset="0"/>
                    <a:cs typeface="Times New Roman" pitchFamily="18" charset="0"/>
                  </a:rPr>
                  <a:t>p</a:t>
                </a:r>
                <a:r>
                  <a:rPr lang="en-US" altLang="en-US" dirty="0">
                    <a:solidFill>
                      <a:srgbClr val="FF0000"/>
                    </a:solidFill>
                    <a:latin typeface="Times New Roman" pitchFamily="18" charset="0"/>
                    <a:cs typeface="Times New Roman" pitchFamily="18" charset="0"/>
                  </a:rPr>
                  <a:t>+1].</a:t>
                </a:r>
                <a:br>
                  <a:rPr lang="en-US" altLang="en-US" dirty="0">
                    <a:solidFill>
                      <a:srgbClr val="FF0000"/>
                    </a:solidFill>
                    <a:latin typeface="Times New Roman" pitchFamily="18" charset="0"/>
                    <a:cs typeface="Times New Roman" pitchFamily="18" charset="0"/>
                  </a:rPr>
                </a:br>
                <a:r>
                  <a:rPr lang="en-US" altLang="en-US" dirty="0">
                    <a:latin typeface="Times New Roman" pitchFamily="18" charset="0"/>
                    <a:cs typeface="Times New Roman" pitchFamily="18" charset="0"/>
                  </a:rPr>
                  <a:t>		2.1.2.	Increment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r>
                  <a:rPr lang="en-US" altLang="en-US" dirty="0">
                    <a:solidFill>
                      <a:srgbClr val="FF0000"/>
                    </a:solidFill>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3.	Terminate yielding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endParaRPr lang="en-GB" dirty="0"/>
              </a:p>
            </p:txBody>
          </p:sp>
        </p:grpSp>
        <p:sp>
          <p:nvSpPr>
            <p:cNvPr id="336" name="TextBox 335"/>
            <p:cNvSpPr txBox="1"/>
            <p:nvPr/>
          </p:nvSpPr>
          <p:spPr>
            <a:xfrm>
              <a:off x="304800" y="5486400"/>
              <a:ext cx="2057400" cy="646331"/>
            </a:xfrm>
            <a:prstGeom prst="rect">
              <a:avLst/>
            </a:prstGeom>
            <a:noFill/>
          </p:spPr>
          <p:txBody>
            <a:bodyPr wrap="square" rtlCol="0">
              <a:spAutoFit/>
            </a:bodyPr>
            <a:lstStyle/>
            <a:p>
              <a:r>
                <a:rPr lang="en-GB" dirty="0"/>
                <a:t>left = 0</a:t>
              </a:r>
            </a:p>
            <a:p>
              <a:r>
                <a:rPr lang="en-GB" dirty="0"/>
                <a:t>right = 8</a:t>
              </a:r>
            </a:p>
          </p:txBody>
        </p:sp>
        <p:sp>
          <p:nvSpPr>
            <p:cNvPr id="337" name="TextBox 336"/>
            <p:cNvSpPr txBox="1"/>
            <p:nvPr/>
          </p:nvSpPr>
          <p:spPr>
            <a:xfrm>
              <a:off x="5408299" y="5334000"/>
              <a:ext cx="2057400" cy="923330"/>
            </a:xfrm>
            <a:prstGeom prst="rect">
              <a:avLst/>
            </a:prstGeom>
            <a:noFill/>
          </p:spPr>
          <p:txBody>
            <a:bodyPr wrap="square" rtlCol="0">
              <a:spAutoFit/>
            </a:bodyPr>
            <a:lstStyle/>
            <a:p>
              <a:r>
                <a:rPr lang="en-GB" dirty="0"/>
                <a:t>pivot = fox</a:t>
              </a:r>
            </a:p>
            <a:p>
              <a:r>
                <a:rPr lang="en-GB" dirty="0"/>
                <a:t>p=2</a:t>
              </a:r>
            </a:p>
            <a:p>
              <a:r>
                <a:rPr lang="en-GB" dirty="0"/>
                <a:t>r=8</a:t>
              </a:r>
            </a:p>
          </p:txBody>
        </p:sp>
      </p:grpSp>
      <p:grpSp>
        <p:nvGrpSpPr>
          <p:cNvPr id="350" name="Group 349"/>
          <p:cNvGrpSpPr/>
          <p:nvPr/>
        </p:nvGrpSpPr>
        <p:grpSpPr>
          <a:xfrm>
            <a:off x="152400" y="1371600"/>
            <a:ext cx="8077200" cy="4953000"/>
            <a:chOff x="152400" y="1371600"/>
            <a:chExt cx="8077200" cy="4953000"/>
          </a:xfrm>
        </p:grpSpPr>
        <p:grpSp>
          <p:nvGrpSpPr>
            <p:cNvPr id="351" name="Group 350"/>
            <p:cNvGrpSpPr/>
            <p:nvPr/>
          </p:nvGrpSpPr>
          <p:grpSpPr>
            <a:xfrm>
              <a:off x="152400" y="1371600"/>
              <a:ext cx="8077200" cy="4953000"/>
              <a:chOff x="152400" y="1371600"/>
              <a:chExt cx="8077200" cy="4953000"/>
            </a:xfrm>
          </p:grpSpPr>
          <p:sp>
            <p:nvSpPr>
              <p:cNvPr id="354" name="Rectangle 353"/>
              <p:cNvSpPr/>
              <p:nvPr/>
            </p:nvSpPr>
            <p:spPr>
              <a:xfrm>
                <a:off x="152400" y="1371600"/>
                <a:ext cx="8077200" cy="4953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55" name="Group 354"/>
              <p:cNvGrpSpPr/>
              <p:nvPr/>
            </p:nvGrpSpPr>
            <p:grpSpPr>
              <a:xfrm>
                <a:off x="304800" y="4800600"/>
                <a:ext cx="6946900" cy="361950"/>
                <a:chOff x="591749" y="4800600"/>
                <a:chExt cx="6946900" cy="361950"/>
              </a:xfrm>
            </p:grpSpPr>
            <p:sp>
              <p:nvSpPr>
                <p:cNvPr id="357" name="Rectangle 27"/>
                <p:cNvSpPr>
                  <a:spLocks noChangeArrowheads="1"/>
                </p:cNvSpPr>
                <p:nvPr/>
              </p:nvSpPr>
              <p:spPr bwMode="auto">
                <a:xfrm>
                  <a:off x="591749" y="4800600"/>
                  <a:ext cx="715962"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cow</a:t>
                  </a:r>
                </a:p>
              </p:txBody>
            </p:sp>
            <p:sp>
              <p:nvSpPr>
                <p:cNvPr id="358" name="Rectangle 29"/>
                <p:cNvSpPr>
                  <a:spLocks noChangeArrowheads="1"/>
                </p:cNvSpPr>
                <p:nvPr/>
              </p:nvSpPr>
              <p:spPr bwMode="auto">
                <a:xfrm>
                  <a:off x="2099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dog</a:t>
                  </a:r>
                </a:p>
              </p:txBody>
            </p:sp>
            <p:sp>
              <p:nvSpPr>
                <p:cNvPr id="359" name="Rectangle 30"/>
                <p:cNvSpPr>
                  <a:spLocks noChangeArrowheads="1"/>
                </p:cNvSpPr>
                <p:nvPr/>
              </p:nvSpPr>
              <p:spPr bwMode="auto">
                <a:xfrm>
                  <a:off x="2861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fox</a:t>
                  </a:r>
                </a:p>
              </p:txBody>
            </p:sp>
            <p:sp>
              <p:nvSpPr>
                <p:cNvPr id="360" name="Rectangle 35"/>
                <p:cNvSpPr>
                  <a:spLocks noChangeArrowheads="1"/>
                </p:cNvSpPr>
                <p:nvPr/>
              </p:nvSpPr>
              <p:spPr bwMode="auto">
                <a:xfrm>
                  <a:off x="4439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lion</a:t>
                  </a:r>
                </a:p>
              </p:txBody>
            </p:sp>
            <p:sp>
              <p:nvSpPr>
                <p:cNvPr id="361" name="Rectangle 36"/>
                <p:cNvSpPr>
                  <a:spLocks noChangeArrowheads="1"/>
                </p:cNvSpPr>
                <p:nvPr/>
              </p:nvSpPr>
              <p:spPr bwMode="auto">
                <a:xfrm>
                  <a:off x="5201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tiger</a:t>
                  </a:r>
                </a:p>
              </p:txBody>
            </p:sp>
            <p:sp>
              <p:nvSpPr>
                <p:cNvPr id="362" name="Rectangle 37"/>
                <p:cNvSpPr>
                  <a:spLocks noChangeArrowheads="1"/>
                </p:cNvSpPr>
                <p:nvPr/>
              </p:nvSpPr>
              <p:spPr bwMode="auto">
                <a:xfrm>
                  <a:off x="3649273"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rat</a:t>
                  </a:r>
                </a:p>
              </p:txBody>
            </p:sp>
            <p:sp>
              <p:nvSpPr>
                <p:cNvPr id="363" name="Rectangle 40"/>
                <p:cNvSpPr>
                  <a:spLocks noChangeArrowheads="1"/>
                </p:cNvSpPr>
                <p:nvPr/>
              </p:nvSpPr>
              <p:spPr bwMode="auto">
                <a:xfrm>
                  <a:off x="6746486"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pig</a:t>
                  </a:r>
                </a:p>
              </p:txBody>
            </p:sp>
            <p:sp>
              <p:nvSpPr>
                <p:cNvPr id="364" name="Rectangle 42"/>
                <p:cNvSpPr>
                  <a:spLocks noChangeArrowheads="1"/>
                </p:cNvSpPr>
                <p:nvPr/>
              </p:nvSpPr>
              <p:spPr bwMode="auto">
                <a:xfrm>
                  <a:off x="5955911"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goat</a:t>
                  </a:r>
                </a:p>
              </p:txBody>
            </p:sp>
            <p:sp>
              <p:nvSpPr>
                <p:cNvPr id="365" name="Rectangle 27"/>
                <p:cNvSpPr>
                  <a:spLocks noChangeArrowheads="1"/>
                </p:cNvSpPr>
                <p:nvPr/>
              </p:nvSpPr>
              <p:spPr bwMode="auto">
                <a:xfrm>
                  <a:off x="1307710"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cat</a:t>
                  </a:r>
                </a:p>
              </p:txBody>
            </p:sp>
          </p:grpSp>
          <p:sp>
            <p:nvSpPr>
              <p:cNvPr id="356" name="TextBox 355"/>
              <p:cNvSpPr txBox="1"/>
              <p:nvPr/>
            </p:nvSpPr>
            <p:spPr>
              <a:xfrm>
                <a:off x="304800" y="1371600"/>
                <a:ext cx="7391400" cy="2977738"/>
              </a:xfrm>
              <a:prstGeom prst="rect">
                <a:avLst/>
              </a:prstGeom>
              <a:noFill/>
            </p:spPr>
            <p:txBody>
              <a:bodyPr wrap="square" rtlCol="0">
                <a:spAutoFit/>
              </a:bodyPr>
              <a:lstStyle/>
              <a:p>
                <a:pPr>
                  <a:buClr>
                    <a:schemeClr val="tx1"/>
                  </a:buClr>
                  <a:tabLst>
                    <a:tab pos="723900" algn="l"/>
                    <a:tab pos="1257300" algn="l"/>
                    <a:tab pos="1968500" algn="l"/>
                  </a:tabLst>
                </a:pPr>
                <a:r>
                  <a:rPr lang="en-US" altLang="en-US" dirty="0">
                    <a:latin typeface="Times New Roman" pitchFamily="18" charset="0"/>
                    <a:cs typeface="Times New Roman" pitchFamily="18" charset="0"/>
                  </a:rPr>
                  <a:t>To partition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such that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are all less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are all greater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pPr>
                  <a:spcBef>
                    <a:spcPts val="900"/>
                  </a:spcBef>
                  <a:buClr>
                    <a:schemeClr val="tx1"/>
                  </a:buClr>
                  <a:tabLst>
                    <a:tab pos="723900" algn="l"/>
                    <a:tab pos="1257300" algn="l"/>
                    <a:tab pos="1968500" algn="l"/>
                  </a:tabLst>
                </a:pPr>
                <a:r>
                  <a:rPr lang="en-US" altLang="en-US" dirty="0">
                    <a:latin typeface="Times New Roman" pitchFamily="18" charset="0"/>
                    <a:cs typeface="Times New Roman" pitchFamily="18" charset="0"/>
                  </a:rPr>
                  <a:t>1.	Let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be the element in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 and set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2.	For </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+1, …, </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repeat: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	If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is less than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2.1.1.	Copy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2.1.2.	</a:t>
                </a:r>
                <a:r>
                  <a:rPr lang="en-US" altLang="en-US" dirty="0">
                    <a:solidFill>
                      <a:srgbClr val="FF0000"/>
                    </a:solidFill>
                    <a:latin typeface="Times New Roman" pitchFamily="18" charset="0"/>
                    <a:cs typeface="Times New Roman" pitchFamily="18" charset="0"/>
                  </a:rPr>
                  <a:t>Increment </a:t>
                </a:r>
                <a:r>
                  <a:rPr lang="en-US" altLang="en-US" i="1" dirty="0">
                    <a:solidFill>
                      <a:srgbClr val="FF0000"/>
                    </a:solidFill>
                    <a:latin typeface="Times New Roman" pitchFamily="18" charset="0"/>
                    <a:cs typeface="Times New Roman" pitchFamily="18" charset="0"/>
                  </a:rPr>
                  <a:t>p</a:t>
                </a:r>
                <a:r>
                  <a:rPr lang="en-US" altLang="en-US" dirty="0">
                    <a:latin typeface="Times New Roman" pitchFamily="18" charset="0"/>
                    <a:cs typeface="Times New Roman" pitchFamily="18" charset="0"/>
                  </a:rPr>
                  <a:t>.</a:t>
                </a:r>
                <a:r>
                  <a:rPr lang="en-US" altLang="en-US" dirty="0">
                    <a:solidFill>
                      <a:srgbClr val="FF0000"/>
                    </a:solidFill>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3.	Terminate yielding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endParaRPr lang="en-GB" dirty="0"/>
              </a:p>
            </p:txBody>
          </p:sp>
        </p:grpSp>
        <p:sp>
          <p:nvSpPr>
            <p:cNvPr id="352" name="TextBox 351"/>
            <p:cNvSpPr txBox="1"/>
            <p:nvPr/>
          </p:nvSpPr>
          <p:spPr>
            <a:xfrm>
              <a:off x="304800" y="5486400"/>
              <a:ext cx="2057400" cy="646331"/>
            </a:xfrm>
            <a:prstGeom prst="rect">
              <a:avLst/>
            </a:prstGeom>
            <a:noFill/>
          </p:spPr>
          <p:txBody>
            <a:bodyPr wrap="square" rtlCol="0">
              <a:spAutoFit/>
            </a:bodyPr>
            <a:lstStyle/>
            <a:p>
              <a:r>
                <a:rPr lang="en-GB" dirty="0"/>
                <a:t>left = 0</a:t>
              </a:r>
            </a:p>
            <a:p>
              <a:r>
                <a:rPr lang="en-GB" dirty="0"/>
                <a:t>right = 8</a:t>
              </a:r>
            </a:p>
          </p:txBody>
        </p:sp>
        <p:sp>
          <p:nvSpPr>
            <p:cNvPr id="353" name="TextBox 352"/>
            <p:cNvSpPr txBox="1"/>
            <p:nvPr/>
          </p:nvSpPr>
          <p:spPr>
            <a:xfrm>
              <a:off x="5408299" y="5334000"/>
              <a:ext cx="2057400" cy="923330"/>
            </a:xfrm>
            <a:prstGeom prst="rect">
              <a:avLst/>
            </a:prstGeom>
            <a:noFill/>
          </p:spPr>
          <p:txBody>
            <a:bodyPr wrap="square" rtlCol="0">
              <a:spAutoFit/>
            </a:bodyPr>
            <a:lstStyle/>
            <a:p>
              <a:r>
                <a:rPr lang="en-GB" dirty="0"/>
                <a:t>pivot = fox</a:t>
              </a:r>
            </a:p>
            <a:p>
              <a:r>
                <a:rPr lang="en-GB" dirty="0">
                  <a:solidFill>
                    <a:srgbClr val="FF0000"/>
                  </a:solidFill>
                </a:rPr>
                <a:t>p=3</a:t>
              </a:r>
            </a:p>
            <a:p>
              <a:r>
                <a:rPr lang="en-GB" dirty="0"/>
                <a:t>r=8</a:t>
              </a:r>
            </a:p>
          </p:txBody>
        </p:sp>
      </p:grpSp>
      <p:grpSp>
        <p:nvGrpSpPr>
          <p:cNvPr id="366" name="Group 365"/>
          <p:cNvGrpSpPr/>
          <p:nvPr/>
        </p:nvGrpSpPr>
        <p:grpSpPr>
          <a:xfrm>
            <a:off x="152400" y="1371600"/>
            <a:ext cx="8077200" cy="4953000"/>
            <a:chOff x="152400" y="1371600"/>
            <a:chExt cx="8077200" cy="4953000"/>
          </a:xfrm>
        </p:grpSpPr>
        <p:grpSp>
          <p:nvGrpSpPr>
            <p:cNvPr id="367" name="Group 366"/>
            <p:cNvGrpSpPr/>
            <p:nvPr/>
          </p:nvGrpSpPr>
          <p:grpSpPr>
            <a:xfrm>
              <a:off x="152400" y="1371600"/>
              <a:ext cx="8077200" cy="4953000"/>
              <a:chOff x="152400" y="1371600"/>
              <a:chExt cx="8077200" cy="4953000"/>
            </a:xfrm>
          </p:grpSpPr>
          <p:sp>
            <p:nvSpPr>
              <p:cNvPr id="370" name="Rectangle 369"/>
              <p:cNvSpPr/>
              <p:nvPr/>
            </p:nvSpPr>
            <p:spPr>
              <a:xfrm>
                <a:off x="152400" y="1371600"/>
                <a:ext cx="8077200" cy="4953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71" name="Group 370"/>
              <p:cNvGrpSpPr/>
              <p:nvPr/>
            </p:nvGrpSpPr>
            <p:grpSpPr>
              <a:xfrm>
                <a:off x="304800" y="4800600"/>
                <a:ext cx="6946900" cy="361950"/>
                <a:chOff x="591749" y="4800600"/>
                <a:chExt cx="6946900" cy="361950"/>
              </a:xfrm>
            </p:grpSpPr>
            <p:sp>
              <p:nvSpPr>
                <p:cNvPr id="373" name="Rectangle 27"/>
                <p:cNvSpPr>
                  <a:spLocks noChangeArrowheads="1"/>
                </p:cNvSpPr>
                <p:nvPr/>
              </p:nvSpPr>
              <p:spPr bwMode="auto">
                <a:xfrm>
                  <a:off x="591749" y="4800600"/>
                  <a:ext cx="715962"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cow</a:t>
                  </a:r>
                </a:p>
              </p:txBody>
            </p:sp>
            <p:sp>
              <p:nvSpPr>
                <p:cNvPr id="374" name="Rectangle 29"/>
                <p:cNvSpPr>
                  <a:spLocks noChangeArrowheads="1"/>
                </p:cNvSpPr>
                <p:nvPr/>
              </p:nvSpPr>
              <p:spPr bwMode="auto">
                <a:xfrm>
                  <a:off x="2099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dog</a:t>
                  </a:r>
                </a:p>
              </p:txBody>
            </p:sp>
            <p:sp>
              <p:nvSpPr>
                <p:cNvPr id="375" name="Rectangle 30"/>
                <p:cNvSpPr>
                  <a:spLocks noChangeArrowheads="1"/>
                </p:cNvSpPr>
                <p:nvPr/>
              </p:nvSpPr>
              <p:spPr bwMode="auto">
                <a:xfrm>
                  <a:off x="2861873"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fox</a:t>
                  </a:r>
                </a:p>
              </p:txBody>
            </p:sp>
            <p:sp>
              <p:nvSpPr>
                <p:cNvPr id="376" name="Rectangle 35"/>
                <p:cNvSpPr>
                  <a:spLocks noChangeArrowheads="1"/>
                </p:cNvSpPr>
                <p:nvPr/>
              </p:nvSpPr>
              <p:spPr bwMode="auto">
                <a:xfrm>
                  <a:off x="4439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lion</a:t>
                  </a:r>
                </a:p>
              </p:txBody>
            </p:sp>
            <p:sp>
              <p:nvSpPr>
                <p:cNvPr id="377" name="Rectangle 36"/>
                <p:cNvSpPr>
                  <a:spLocks noChangeArrowheads="1"/>
                </p:cNvSpPr>
                <p:nvPr/>
              </p:nvSpPr>
              <p:spPr bwMode="auto">
                <a:xfrm>
                  <a:off x="5201848"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tiger</a:t>
                  </a:r>
                </a:p>
              </p:txBody>
            </p:sp>
            <p:sp>
              <p:nvSpPr>
                <p:cNvPr id="378" name="Rectangle 37"/>
                <p:cNvSpPr>
                  <a:spLocks noChangeArrowheads="1"/>
                </p:cNvSpPr>
                <p:nvPr/>
              </p:nvSpPr>
              <p:spPr bwMode="auto">
                <a:xfrm>
                  <a:off x="3649273"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rat</a:t>
                  </a:r>
                </a:p>
              </p:txBody>
            </p:sp>
            <p:sp>
              <p:nvSpPr>
                <p:cNvPr id="379" name="Rectangle 40"/>
                <p:cNvSpPr>
                  <a:spLocks noChangeArrowheads="1"/>
                </p:cNvSpPr>
                <p:nvPr/>
              </p:nvSpPr>
              <p:spPr bwMode="auto">
                <a:xfrm>
                  <a:off x="6746486" y="4800600"/>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pig</a:t>
                  </a:r>
                </a:p>
              </p:txBody>
            </p:sp>
            <p:sp>
              <p:nvSpPr>
                <p:cNvPr id="380" name="Rectangle 42"/>
                <p:cNvSpPr>
                  <a:spLocks noChangeArrowheads="1"/>
                </p:cNvSpPr>
                <p:nvPr/>
              </p:nvSpPr>
              <p:spPr bwMode="auto">
                <a:xfrm>
                  <a:off x="5955911"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goat</a:t>
                  </a:r>
                </a:p>
              </p:txBody>
            </p:sp>
            <p:sp>
              <p:nvSpPr>
                <p:cNvPr id="381" name="Rectangle 27"/>
                <p:cNvSpPr>
                  <a:spLocks noChangeArrowheads="1"/>
                </p:cNvSpPr>
                <p:nvPr/>
              </p:nvSpPr>
              <p:spPr bwMode="auto">
                <a:xfrm>
                  <a:off x="1307710" y="4802187"/>
                  <a:ext cx="792163" cy="360363"/>
                </a:xfrm>
                <a:prstGeom prst="rect">
                  <a:avLst/>
                </a:prstGeom>
                <a:solidFill>
                  <a:srgbClr val="CCFFFF"/>
                </a:solidFill>
                <a:ln w="9525">
                  <a:solidFill>
                    <a:srgbClr val="000000"/>
                  </a:solidFill>
                  <a:miter lim="800000"/>
                  <a:headEnd/>
                  <a:tailEnd/>
                </a:ln>
              </p:spPr>
              <p:txBody>
                <a:bodyPr/>
                <a:lstStyle>
                  <a:lvl1pPr eaLnBrk="0" hangingPunct="0">
                    <a:spcBef>
                      <a:spcPct val="50000"/>
                    </a:spcBef>
                    <a:buClr>
                      <a:schemeClr val="bg2"/>
                    </a:buClr>
                    <a:buFont typeface="Wingdings" pitchFamily="2" charset="2"/>
                    <a:buChar char="§"/>
                    <a:defRPr sz="2400">
                      <a:solidFill>
                        <a:schemeClr val="tx1"/>
                      </a:solidFill>
                      <a:latin typeface="Arial" charset="0"/>
                    </a:defRPr>
                  </a:lvl1pPr>
                  <a:lvl2pPr marL="742950" indent="-285750" eaLnBrk="0" hangingPunct="0">
                    <a:spcBef>
                      <a:spcPct val="50000"/>
                    </a:spcBef>
                    <a:buClr>
                      <a:schemeClr val="bg2"/>
                    </a:buClr>
                    <a:buChar char="–"/>
                    <a:defRPr sz="2000">
                      <a:solidFill>
                        <a:schemeClr val="tx1"/>
                      </a:solidFill>
                      <a:latin typeface="Arial" charset="0"/>
                    </a:defRPr>
                  </a:lvl2pPr>
                  <a:lvl3pPr marL="1143000" indent="-228600" eaLnBrk="0" hangingPunct="0">
                    <a:spcBef>
                      <a:spcPct val="50000"/>
                    </a:spcBef>
                    <a:buClr>
                      <a:schemeClr val="bg2"/>
                    </a:buClr>
                    <a:buChar char="•"/>
                    <a:defRPr>
                      <a:solidFill>
                        <a:schemeClr val="tx1"/>
                      </a:solidFill>
                      <a:latin typeface="Arial" charset="0"/>
                    </a:defRPr>
                  </a:lvl3pPr>
                  <a:lvl4pPr marL="1600200" indent="-228600" eaLnBrk="0" hangingPunct="0">
                    <a:spcBef>
                      <a:spcPct val="50000"/>
                    </a:spcBef>
                    <a:buClr>
                      <a:schemeClr val="bg2"/>
                    </a:buClr>
                    <a:buChar char="–"/>
                    <a:defRPr sz="1600">
                      <a:solidFill>
                        <a:schemeClr val="tx1"/>
                      </a:solidFill>
                      <a:latin typeface="Arial" charset="0"/>
                    </a:defRPr>
                  </a:lvl4pPr>
                  <a:lvl5pPr marL="2057400" indent="-228600" eaLnBrk="0" hangingPunct="0">
                    <a:spcBef>
                      <a:spcPct val="50000"/>
                    </a:spcBef>
                    <a:buClr>
                      <a:schemeClr val="bg2"/>
                    </a:buClr>
                    <a:buChar char="»"/>
                    <a:defRPr sz="1600">
                      <a:solidFill>
                        <a:schemeClr val="tx1"/>
                      </a:solidFill>
                      <a:latin typeface="Arial" charset="0"/>
                    </a:defRPr>
                  </a:lvl5pPr>
                  <a:lvl6pPr marL="2514600" indent="-228600" eaLnBrk="0" fontAlgn="base" hangingPunct="0">
                    <a:spcBef>
                      <a:spcPct val="50000"/>
                    </a:spcBef>
                    <a:spcAft>
                      <a:spcPct val="0"/>
                    </a:spcAft>
                    <a:buClr>
                      <a:schemeClr val="bg2"/>
                    </a:buClr>
                    <a:buChar char="»"/>
                    <a:defRPr sz="1600">
                      <a:solidFill>
                        <a:schemeClr val="tx1"/>
                      </a:solidFill>
                      <a:latin typeface="Arial" charset="0"/>
                    </a:defRPr>
                  </a:lvl6pPr>
                  <a:lvl7pPr marL="2971800" indent="-228600" eaLnBrk="0" fontAlgn="base" hangingPunct="0">
                    <a:spcBef>
                      <a:spcPct val="50000"/>
                    </a:spcBef>
                    <a:spcAft>
                      <a:spcPct val="0"/>
                    </a:spcAft>
                    <a:buClr>
                      <a:schemeClr val="bg2"/>
                    </a:buClr>
                    <a:buChar char="»"/>
                    <a:defRPr sz="1600">
                      <a:solidFill>
                        <a:schemeClr val="tx1"/>
                      </a:solidFill>
                      <a:latin typeface="Arial" charset="0"/>
                    </a:defRPr>
                  </a:lvl7pPr>
                  <a:lvl8pPr marL="3429000" indent="-228600" eaLnBrk="0" fontAlgn="base" hangingPunct="0">
                    <a:spcBef>
                      <a:spcPct val="50000"/>
                    </a:spcBef>
                    <a:spcAft>
                      <a:spcPct val="0"/>
                    </a:spcAft>
                    <a:buClr>
                      <a:schemeClr val="bg2"/>
                    </a:buClr>
                    <a:buChar char="»"/>
                    <a:defRPr sz="1600">
                      <a:solidFill>
                        <a:schemeClr val="tx1"/>
                      </a:solidFill>
                      <a:latin typeface="Arial" charset="0"/>
                    </a:defRPr>
                  </a:lvl8pPr>
                  <a:lvl9pPr marL="3886200" indent="-228600" eaLnBrk="0" fontAlgn="base" hangingPunct="0">
                    <a:spcBef>
                      <a:spcPct val="50000"/>
                    </a:spcBef>
                    <a:spcAft>
                      <a:spcPct val="0"/>
                    </a:spcAft>
                    <a:buClr>
                      <a:schemeClr val="bg2"/>
                    </a:buClr>
                    <a:buChar char="»"/>
                    <a:defRPr sz="1600">
                      <a:solidFill>
                        <a:schemeClr val="tx1"/>
                      </a:solidFill>
                      <a:latin typeface="Arial" charset="0"/>
                    </a:defRPr>
                  </a:lvl9pPr>
                </a:lstStyle>
                <a:p>
                  <a:pPr eaLnBrk="1" hangingPunct="1">
                    <a:spcBef>
                      <a:spcPct val="0"/>
                    </a:spcBef>
                    <a:buClrTx/>
                    <a:buFontTx/>
                    <a:buNone/>
                  </a:pPr>
                  <a:r>
                    <a:rPr lang="en-US" altLang="en-US" sz="1800" dirty="0"/>
                    <a:t>cat</a:t>
                  </a:r>
                </a:p>
              </p:txBody>
            </p:sp>
          </p:grpSp>
          <p:sp>
            <p:nvSpPr>
              <p:cNvPr id="372" name="TextBox 371"/>
              <p:cNvSpPr txBox="1"/>
              <p:nvPr/>
            </p:nvSpPr>
            <p:spPr>
              <a:xfrm>
                <a:off x="304800" y="1371600"/>
                <a:ext cx="7391400" cy="2977738"/>
              </a:xfrm>
              <a:prstGeom prst="rect">
                <a:avLst/>
              </a:prstGeom>
              <a:noFill/>
            </p:spPr>
            <p:txBody>
              <a:bodyPr wrap="square" rtlCol="0">
                <a:spAutoFit/>
              </a:bodyPr>
              <a:lstStyle/>
              <a:p>
                <a:pPr>
                  <a:buClr>
                    <a:schemeClr val="tx1"/>
                  </a:buClr>
                  <a:tabLst>
                    <a:tab pos="723900" algn="l"/>
                    <a:tab pos="1257300" algn="l"/>
                    <a:tab pos="1968500" algn="l"/>
                  </a:tabLst>
                </a:pPr>
                <a:r>
                  <a:rPr lang="en-US" altLang="en-US" dirty="0">
                    <a:latin typeface="Times New Roman" pitchFamily="18" charset="0"/>
                    <a:cs typeface="Times New Roman" pitchFamily="18" charset="0"/>
                  </a:rPr>
                  <a:t>To partition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such that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are all less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are all greater than or equal 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pPr>
                  <a:spcBef>
                    <a:spcPts val="900"/>
                  </a:spcBef>
                  <a:buClr>
                    <a:schemeClr val="tx1"/>
                  </a:buClr>
                  <a:tabLst>
                    <a:tab pos="723900" algn="l"/>
                    <a:tab pos="1257300" algn="l"/>
                    <a:tab pos="1968500" algn="l"/>
                  </a:tabLst>
                </a:pPr>
                <a:r>
                  <a:rPr lang="en-US" altLang="en-US" dirty="0">
                    <a:latin typeface="Times New Roman" pitchFamily="18" charset="0"/>
                    <a:cs typeface="Times New Roman" pitchFamily="18" charset="0"/>
                  </a:rPr>
                  <a:t>1.	Let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be the element in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 and set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2.	For </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 </a:t>
                </a:r>
                <a:r>
                  <a:rPr lang="en-US" altLang="en-US" i="1" dirty="0">
                    <a:latin typeface="Times New Roman" pitchFamily="18" charset="0"/>
                    <a:cs typeface="Times New Roman" pitchFamily="18" charset="0"/>
                  </a:rPr>
                  <a:t>left</a:t>
                </a:r>
                <a:r>
                  <a:rPr lang="en-US" altLang="en-US" dirty="0">
                    <a:latin typeface="Times New Roman" pitchFamily="18" charset="0"/>
                    <a:cs typeface="Times New Roman" pitchFamily="18" charset="0"/>
                  </a:rPr>
                  <a:t>+1, …, </a:t>
                </a:r>
                <a:r>
                  <a:rPr lang="en-US" altLang="en-US" i="1" dirty="0">
                    <a:latin typeface="Times New Roman" pitchFamily="18" charset="0"/>
                    <a:cs typeface="Times New Roman" pitchFamily="18" charset="0"/>
                  </a:rPr>
                  <a:t>right</a:t>
                </a:r>
                <a:r>
                  <a:rPr lang="en-US" altLang="en-US" dirty="0">
                    <a:latin typeface="Times New Roman" pitchFamily="18" charset="0"/>
                    <a:cs typeface="Times New Roman" pitchFamily="18" charset="0"/>
                  </a:rPr>
                  <a:t>, repeat: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	If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is less than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2.1.1.	Copy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r</a:t>
                </a:r>
                <a:r>
                  <a:rPr lang="en-US" altLang="en-US" dirty="0">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and </a:t>
                </a:r>
                <a:r>
                  <a:rPr lang="en-US" altLang="en-US" i="1" dirty="0">
                    <a:latin typeface="Times New Roman" pitchFamily="18" charset="0"/>
                    <a:cs typeface="Times New Roman" pitchFamily="18" charset="0"/>
                  </a:rPr>
                  <a:t>pivot</a:t>
                </a:r>
                <a:r>
                  <a:rPr lang="en-US" altLang="en-US" dirty="0">
                    <a:latin typeface="Times New Roman" pitchFamily="18" charset="0"/>
                    <a:cs typeface="Times New Roman" pitchFamily="18" charset="0"/>
                  </a:rPr>
                  <a:t> into </a:t>
                </a:r>
                <a:r>
                  <a:rPr lang="en-US" altLang="en-US" i="1" dirty="0">
                    <a:latin typeface="Times New Roman" pitchFamily="18" charset="0"/>
                    <a:cs typeface="Times New Roman" pitchFamily="18" charset="0"/>
                  </a:rPr>
                  <a:t>a</a:t>
                </a:r>
                <a:r>
                  <a:rPr lang="en-US" altLang="en-US" dirty="0">
                    <a:latin typeface="Times New Roman" pitchFamily="18" charset="0"/>
                    <a:cs typeface="Times New Roman" pitchFamily="18" charset="0"/>
                  </a:rPr>
                  <a:t>[</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+1].</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		2.1.2.	Increment </a:t>
                </a:r>
                <a:r>
                  <a:rPr lang="en-US" altLang="en-US" i="1" dirty="0">
                    <a:latin typeface="Times New Roman" pitchFamily="18" charset="0"/>
                    <a:cs typeface="Times New Roman" pitchFamily="18" charset="0"/>
                  </a:rPr>
                  <a:t>p</a:t>
                </a:r>
                <a:r>
                  <a:rPr lang="en-US" altLang="en-US" dirty="0">
                    <a:latin typeface="Times New Roman" pitchFamily="18" charset="0"/>
                    <a:cs typeface="Times New Roman" pitchFamily="18" charset="0"/>
                  </a:rPr>
                  <a:t>.</a:t>
                </a:r>
                <a:r>
                  <a:rPr lang="en-US" altLang="en-US" dirty="0">
                    <a:solidFill>
                      <a:srgbClr val="FF0000"/>
                    </a:solidFill>
                    <a:latin typeface="Times New Roman" pitchFamily="18" charset="0"/>
                    <a:cs typeface="Times New Roman" pitchFamily="18" charset="0"/>
                  </a:rPr>
                  <a:t> </a:t>
                </a:r>
                <a:br>
                  <a:rPr lang="en-US" altLang="en-US" dirty="0">
                    <a:latin typeface="Times New Roman" pitchFamily="18" charset="0"/>
                    <a:cs typeface="Times New Roman" pitchFamily="18" charset="0"/>
                  </a:rPr>
                </a:br>
                <a:r>
                  <a:rPr lang="en-US" altLang="en-US" dirty="0">
                    <a:latin typeface="Times New Roman" pitchFamily="18" charset="0"/>
                    <a:cs typeface="Times New Roman" pitchFamily="18" charset="0"/>
                  </a:rPr>
                  <a:t>3.	</a:t>
                </a:r>
                <a:r>
                  <a:rPr lang="en-US" altLang="en-US" dirty="0">
                    <a:solidFill>
                      <a:srgbClr val="FF0000"/>
                    </a:solidFill>
                    <a:latin typeface="Times New Roman" pitchFamily="18" charset="0"/>
                    <a:cs typeface="Times New Roman" pitchFamily="18" charset="0"/>
                  </a:rPr>
                  <a:t>Terminate yielding </a:t>
                </a:r>
                <a:r>
                  <a:rPr lang="en-US" altLang="en-US" i="1" dirty="0">
                    <a:solidFill>
                      <a:srgbClr val="FF0000"/>
                    </a:solidFill>
                    <a:latin typeface="Times New Roman" pitchFamily="18" charset="0"/>
                    <a:cs typeface="Times New Roman" pitchFamily="18" charset="0"/>
                  </a:rPr>
                  <a:t>p</a:t>
                </a:r>
                <a:r>
                  <a:rPr lang="en-US" altLang="en-US" dirty="0">
                    <a:latin typeface="Times New Roman" pitchFamily="18" charset="0"/>
                    <a:cs typeface="Times New Roman" pitchFamily="18" charset="0"/>
                  </a:rPr>
                  <a:t>.</a:t>
                </a:r>
              </a:p>
              <a:p>
                <a:endParaRPr lang="en-GB" dirty="0"/>
              </a:p>
            </p:txBody>
          </p:sp>
        </p:grpSp>
        <p:sp>
          <p:nvSpPr>
            <p:cNvPr id="368" name="TextBox 367"/>
            <p:cNvSpPr txBox="1"/>
            <p:nvPr/>
          </p:nvSpPr>
          <p:spPr>
            <a:xfrm>
              <a:off x="304800" y="5486400"/>
              <a:ext cx="2057400" cy="646331"/>
            </a:xfrm>
            <a:prstGeom prst="rect">
              <a:avLst/>
            </a:prstGeom>
            <a:noFill/>
          </p:spPr>
          <p:txBody>
            <a:bodyPr wrap="square" rtlCol="0">
              <a:spAutoFit/>
            </a:bodyPr>
            <a:lstStyle/>
            <a:p>
              <a:r>
                <a:rPr lang="en-GB" dirty="0"/>
                <a:t>left = 0</a:t>
              </a:r>
            </a:p>
            <a:p>
              <a:r>
                <a:rPr lang="en-GB" dirty="0"/>
                <a:t>right = 8</a:t>
              </a:r>
            </a:p>
          </p:txBody>
        </p:sp>
        <p:sp>
          <p:nvSpPr>
            <p:cNvPr id="369" name="TextBox 368"/>
            <p:cNvSpPr txBox="1"/>
            <p:nvPr/>
          </p:nvSpPr>
          <p:spPr>
            <a:xfrm>
              <a:off x="5408299" y="5334000"/>
              <a:ext cx="2057400" cy="923330"/>
            </a:xfrm>
            <a:prstGeom prst="rect">
              <a:avLst/>
            </a:prstGeom>
            <a:noFill/>
          </p:spPr>
          <p:txBody>
            <a:bodyPr wrap="square" rtlCol="0">
              <a:spAutoFit/>
            </a:bodyPr>
            <a:lstStyle/>
            <a:p>
              <a:r>
                <a:rPr lang="en-GB" dirty="0"/>
                <a:t>pivot = fox</a:t>
              </a:r>
            </a:p>
            <a:p>
              <a:r>
                <a:rPr lang="en-GB" dirty="0"/>
                <a:t>p=3</a:t>
              </a:r>
            </a:p>
            <a:p>
              <a:r>
                <a:rPr lang="en-GB" dirty="0"/>
                <a:t>r=8</a:t>
              </a:r>
            </a:p>
          </p:txBody>
        </p:sp>
      </p:grpSp>
    </p:spTree>
    <p:extLst>
      <p:ext uri="{BB962C8B-B14F-4D97-AF65-F5344CB8AC3E}">
        <p14:creationId xmlns:p14="http://schemas.microsoft.com/office/powerpoint/2010/main" val="1703287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4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5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7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9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0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2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3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5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7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8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02"/>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18"/>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334"/>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35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3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762000" y="304800"/>
            <a:ext cx="6142038" cy="719137"/>
          </a:xfrm>
        </p:spPr>
        <p:txBody>
          <a:bodyPr/>
          <a:lstStyle/>
          <a:p>
            <a:pPr eaLnBrk="1" hangingPunct="1"/>
            <a:r>
              <a:rPr lang="en-US" altLang="en-US" sz="3200" dirty="0">
                <a:cs typeface="Times New Roman" pitchFamily="18" charset="0"/>
              </a:rPr>
              <a:t>Comparison of sorting algorithms</a:t>
            </a:r>
            <a:endParaRPr lang="en-GB" altLang="en-US" sz="3200" dirty="0">
              <a:cs typeface="Times New Roman" pitchFamily="18" charset="0"/>
            </a:endParaRPr>
          </a:p>
        </p:txBody>
      </p:sp>
      <p:graphicFrame>
        <p:nvGraphicFramePr>
          <p:cNvPr id="438494" name="Group 222"/>
          <p:cNvGraphicFramePr>
            <a:graphicFrameLocks noGrp="1"/>
          </p:cNvGraphicFramePr>
          <p:nvPr>
            <p:ph type="tbl" idx="1"/>
            <p:extLst>
              <p:ext uri="{D42A27DB-BD31-4B8C-83A1-F6EECF244321}">
                <p14:modId xmlns:p14="http://schemas.microsoft.com/office/powerpoint/2010/main" val="271347809"/>
              </p:ext>
            </p:extLst>
          </p:nvPr>
        </p:nvGraphicFramePr>
        <p:xfrm>
          <a:off x="152400" y="1676400"/>
          <a:ext cx="8174037" cy="2759075"/>
        </p:xfrm>
        <a:graphic>
          <a:graphicData uri="http://schemas.openxmlformats.org/drawingml/2006/table">
            <a:tbl>
              <a:tblPr/>
              <a:tblGrid>
                <a:gridCol w="2146300">
                  <a:extLst>
                    <a:ext uri="{9D8B030D-6E8A-4147-A177-3AD203B41FA5}">
                      <a16:colId xmlns:a16="http://schemas.microsoft.com/office/drawing/2014/main" val="20000"/>
                    </a:ext>
                  </a:extLst>
                </a:gridCol>
                <a:gridCol w="1527175">
                  <a:extLst>
                    <a:ext uri="{9D8B030D-6E8A-4147-A177-3AD203B41FA5}">
                      <a16:colId xmlns:a16="http://schemas.microsoft.com/office/drawing/2014/main" val="20001"/>
                    </a:ext>
                  </a:extLst>
                </a:gridCol>
                <a:gridCol w="1584325">
                  <a:extLst>
                    <a:ext uri="{9D8B030D-6E8A-4147-A177-3AD203B41FA5}">
                      <a16:colId xmlns:a16="http://schemas.microsoft.com/office/drawing/2014/main" val="20002"/>
                    </a:ext>
                  </a:extLst>
                </a:gridCol>
                <a:gridCol w="1439862">
                  <a:extLst>
                    <a:ext uri="{9D8B030D-6E8A-4147-A177-3AD203B41FA5}">
                      <a16:colId xmlns:a16="http://schemas.microsoft.com/office/drawing/2014/main" val="20003"/>
                    </a:ext>
                  </a:extLst>
                </a:gridCol>
                <a:gridCol w="1476375">
                  <a:extLst>
                    <a:ext uri="{9D8B030D-6E8A-4147-A177-3AD203B41FA5}">
                      <a16:colId xmlns:a16="http://schemas.microsoft.com/office/drawing/2014/main" val="20004"/>
                    </a:ext>
                  </a:extLst>
                </a:gridCol>
              </a:tblGrid>
              <a:tr h="865284">
                <a:tc>
                  <a:txBody>
                    <a:bodyPr/>
                    <a:lstStyle/>
                    <a:p>
                      <a:pPr marL="0" marR="0" lvl="0" indent="0" algn="l"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0" u="none" strike="noStrike" cap="none" normalizeH="0" baseline="0" dirty="0">
                          <a:ln>
                            <a:noFill/>
                          </a:ln>
                          <a:solidFill>
                            <a:schemeClr val="tx1"/>
                          </a:solidFill>
                          <a:effectLst/>
                          <a:latin typeface="Arial" charset="0"/>
                        </a:rPr>
                        <a:t>Algorithm</a:t>
                      </a:r>
                    </a:p>
                  </a:txBody>
                  <a:tcPr marT="45725" marB="45725" horzOverflow="overflow">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0" u="none" strike="noStrike" cap="none" normalizeH="0" baseline="0">
                          <a:ln>
                            <a:noFill/>
                          </a:ln>
                          <a:solidFill>
                            <a:schemeClr val="tx1"/>
                          </a:solidFill>
                          <a:effectLst/>
                          <a:latin typeface="Arial" charset="0"/>
                        </a:rPr>
                        <a:t>No. of com-parisons</a:t>
                      </a:r>
                    </a:p>
                  </a:txBody>
                  <a:tcPr marT="45725" marB="45725" horzOverflow="overflow">
                    <a:lnL w="28575"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0" u="none" strike="noStrike" cap="none" normalizeH="0" baseline="0">
                          <a:ln>
                            <a:noFill/>
                          </a:ln>
                          <a:solidFill>
                            <a:schemeClr val="tx1"/>
                          </a:solidFill>
                          <a:effectLst/>
                          <a:latin typeface="Arial" charset="0"/>
                        </a:rPr>
                        <a:t>No. of copies</a:t>
                      </a:r>
                    </a:p>
                  </a:txBody>
                  <a:tcPr marT="45725" marB="45725"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0" u="none" strike="noStrike" cap="none" normalizeH="0" baseline="0">
                          <a:ln>
                            <a:noFill/>
                          </a:ln>
                          <a:solidFill>
                            <a:schemeClr val="tx1"/>
                          </a:solidFill>
                          <a:effectLst/>
                          <a:latin typeface="Arial" charset="0"/>
                        </a:rPr>
                        <a:t>Time complexity</a:t>
                      </a:r>
                    </a:p>
                  </a:txBody>
                  <a:tcPr marT="45725" marB="45725"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0" u="none" strike="noStrike" cap="none" normalizeH="0" baseline="0">
                          <a:ln>
                            <a:noFill/>
                          </a:ln>
                          <a:solidFill>
                            <a:schemeClr val="tx1"/>
                          </a:solidFill>
                          <a:effectLst/>
                          <a:latin typeface="Arial" charset="0"/>
                        </a:rPr>
                        <a:t>Space complexity</a:t>
                      </a:r>
                    </a:p>
                  </a:txBody>
                  <a:tcPr marT="45725" marB="45725" horzOverflow="overflow">
                    <a:lnL w="12700"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0"/>
                  </a:ext>
                </a:extLst>
              </a:tr>
              <a:tr h="396286">
                <a:tc>
                  <a:txBody>
                    <a:bodyPr/>
                    <a:lstStyle/>
                    <a:p>
                      <a:pPr marL="0" marR="0" lvl="0" indent="0" algn="l"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0" u="none" strike="noStrike" cap="none" normalizeH="0" baseline="0">
                          <a:ln>
                            <a:noFill/>
                          </a:ln>
                          <a:solidFill>
                            <a:schemeClr val="tx1"/>
                          </a:solidFill>
                          <a:effectLst/>
                          <a:latin typeface="Arial" charset="0"/>
                        </a:rPr>
                        <a:t>Selection sort</a:t>
                      </a:r>
                    </a:p>
                  </a:txBody>
                  <a:tcPr marT="45725" marB="45725" horzOverflow="overflow">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0" u="none" strike="noStrike" cap="none" normalizeH="0" baseline="0">
                          <a:ln>
                            <a:noFill/>
                          </a:ln>
                          <a:solidFill>
                            <a:schemeClr val="tx1"/>
                          </a:solidFill>
                          <a:effectLst/>
                          <a:latin typeface="Arial" charset="0"/>
                        </a:rPr>
                        <a:t>~ </a:t>
                      </a:r>
                      <a:r>
                        <a:rPr kumimoji="0" lang="en-GB" sz="2000" b="0" i="1" u="none" strike="noStrike" cap="none" normalizeH="0" baseline="0">
                          <a:ln>
                            <a:noFill/>
                          </a:ln>
                          <a:solidFill>
                            <a:schemeClr val="tx1"/>
                          </a:solidFill>
                          <a:effectLst/>
                          <a:latin typeface="Arial" charset="0"/>
                        </a:rPr>
                        <a:t>n</a:t>
                      </a:r>
                      <a:r>
                        <a:rPr kumimoji="0" lang="en-GB" sz="2000" b="0" i="0" u="none" strike="noStrike" cap="none" normalizeH="0" baseline="30000">
                          <a:ln>
                            <a:noFill/>
                          </a:ln>
                          <a:solidFill>
                            <a:schemeClr val="tx1"/>
                          </a:solidFill>
                          <a:effectLst/>
                          <a:latin typeface="Arial" charset="0"/>
                        </a:rPr>
                        <a:t>2</a:t>
                      </a:r>
                      <a:r>
                        <a:rPr kumimoji="0" lang="en-GB" sz="2000" b="0" i="0" u="none" strike="noStrike" cap="none" normalizeH="0" baseline="0">
                          <a:ln>
                            <a:noFill/>
                          </a:ln>
                          <a:solidFill>
                            <a:schemeClr val="tx1"/>
                          </a:solidFill>
                          <a:effectLst/>
                          <a:latin typeface="Arial" charset="0"/>
                        </a:rPr>
                        <a:t>/2</a:t>
                      </a:r>
                    </a:p>
                  </a:txBody>
                  <a:tcPr marT="45725" marB="45725" horzOverflow="overflow">
                    <a:lnL w="28575"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0" u="none" strike="noStrike" cap="none" normalizeH="0" baseline="0">
                          <a:ln>
                            <a:noFill/>
                          </a:ln>
                          <a:solidFill>
                            <a:schemeClr val="tx1"/>
                          </a:solidFill>
                          <a:effectLst/>
                          <a:latin typeface="Arial" charset="0"/>
                        </a:rPr>
                        <a:t>~ 2</a:t>
                      </a:r>
                      <a:r>
                        <a:rPr kumimoji="0" lang="en-GB" sz="2000" b="0" i="1" u="none" strike="noStrike" cap="none" normalizeH="0" baseline="0">
                          <a:ln>
                            <a:noFill/>
                          </a:ln>
                          <a:solidFill>
                            <a:schemeClr val="tx1"/>
                          </a:solidFill>
                          <a:effectLst/>
                          <a:latin typeface="Arial" charset="0"/>
                        </a:rPr>
                        <a:t>n</a:t>
                      </a:r>
                    </a:p>
                  </a:txBody>
                  <a:tcPr marT="45725" marB="45725"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1" u="none" strike="noStrike" cap="none" normalizeH="0" baseline="0">
                          <a:ln>
                            <a:noFill/>
                          </a:ln>
                          <a:solidFill>
                            <a:schemeClr val="tx1"/>
                          </a:solidFill>
                          <a:effectLst/>
                          <a:latin typeface="Arial" charset="0"/>
                        </a:rPr>
                        <a:t>O</a:t>
                      </a:r>
                      <a:r>
                        <a:rPr kumimoji="0" lang="en-GB" sz="2000" b="0" i="0" u="none" strike="noStrike" cap="none" normalizeH="0" baseline="0">
                          <a:ln>
                            <a:noFill/>
                          </a:ln>
                          <a:solidFill>
                            <a:schemeClr val="tx1"/>
                          </a:solidFill>
                          <a:effectLst/>
                          <a:latin typeface="Arial" charset="0"/>
                        </a:rPr>
                        <a:t>(</a:t>
                      </a:r>
                      <a:r>
                        <a:rPr kumimoji="0" lang="en-GB" sz="2000" b="0" i="1" u="none" strike="noStrike" cap="none" normalizeH="0" baseline="0">
                          <a:ln>
                            <a:noFill/>
                          </a:ln>
                          <a:solidFill>
                            <a:schemeClr val="tx1"/>
                          </a:solidFill>
                          <a:effectLst/>
                          <a:latin typeface="Arial" charset="0"/>
                        </a:rPr>
                        <a:t>n</a:t>
                      </a:r>
                      <a:r>
                        <a:rPr kumimoji="0" lang="en-GB" sz="2000" b="0" i="0" u="none" strike="noStrike" cap="none" normalizeH="0" baseline="30000">
                          <a:ln>
                            <a:noFill/>
                          </a:ln>
                          <a:solidFill>
                            <a:schemeClr val="tx1"/>
                          </a:solidFill>
                          <a:effectLst/>
                          <a:latin typeface="Arial" charset="0"/>
                        </a:rPr>
                        <a:t>2</a:t>
                      </a:r>
                      <a:r>
                        <a:rPr kumimoji="0" lang="en-GB" sz="2000" b="0" i="0" u="none" strike="noStrike" cap="none" normalizeH="0" baseline="0">
                          <a:ln>
                            <a:noFill/>
                          </a:ln>
                          <a:solidFill>
                            <a:schemeClr val="tx1"/>
                          </a:solidFill>
                          <a:effectLst/>
                          <a:latin typeface="Arial" charset="0"/>
                        </a:rPr>
                        <a:t>)</a:t>
                      </a:r>
                    </a:p>
                  </a:txBody>
                  <a:tcPr marT="45725" marB="45725"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1" u="none" strike="noStrike" cap="none" normalizeH="0" baseline="0">
                          <a:ln>
                            <a:noFill/>
                          </a:ln>
                          <a:solidFill>
                            <a:schemeClr val="tx1"/>
                          </a:solidFill>
                          <a:effectLst/>
                          <a:latin typeface="Arial" charset="0"/>
                        </a:rPr>
                        <a:t>O</a:t>
                      </a:r>
                      <a:r>
                        <a:rPr kumimoji="0" lang="en-GB" sz="2000" b="0" i="0" u="none" strike="noStrike" cap="none" normalizeH="0" baseline="0">
                          <a:ln>
                            <a:noFill/>
                          </a:ln>
                          <a:solidFill>
                            <a:schemeClr val="tx1"/>
                          </a:solidFill>
                          <a:effectLst/>
                          <a:latin typeface="Arial" charset="0"/>
                        </a:rPr>
                        <a:t>(1)</a:t>
                      </a:r>
                    </a:p>
                  </a:txBody>
                  <a:tcPr marT="45725" marB="45725" horzOverflow="overflow">
                    <a:lnL w="12700"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1"/>
                  </a:ext>
                </a:extLst>
              </a:tr>
              <a:tr h="400097">
                <a:tc>
                  <a:txBody>
                    <a:bodyPr/>
                    <a:lstStyle/>
                    <a:p>
                      <a:pPr marL="0" marR="0" lvl="0" indent="0" algn="l"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0" u="none" strike="noStrike" cap="none" normalizeH="0" baseline="0" dirty="0">
                          <a:ln>
                            <a:noFill/>
                          </a:ln>
                          <a:solidFill>
                            <a:schemeClr val="tx1"/>
                          </a:solidFill>
                          <a:effectLst/>
                          <a:latin typeface="Arial" charset="0"/>
                        </a:rPr>
                        <a:t>Insertion sort</a:t>
                      </a:r>
                    </a:p>
                  </a:txBody>
                  <a:tcPr marT="45725" marB="45725" horzOverflow="overflow">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0" u="none" strike="noStrike" cap="none" normalizeH="0" baseline="0">
                          <a:ln>
                            <a:noFill/>
                          </a:ln>
                          <a:solidFill>
                            <a:schemeClr val="tx1"/>
                          </a:solidFill>
                          <a:effectLst/>
                          <a:latin typeface="Arial" charset="0"/>
                        </a:rPr>
                        <a:t>~ </a:t>
                      </a:r>
                      <a:r>
                        <a:rPr kumimoji="0" lang="en-GB" sz="2000" b="0" i="1" u="none" strike="noStrike" cap="none" normalizeH="0" baseline="0">
                          <a:ln>
                            <a:noFill/>
                          </a:ln>
                          <a:solidFill>
                            <a:schemeClr val="tx1"/>
                          </a:solidFill>
                          <a:effectLst/>
                          <a:latin typeface="Arial" charset="0"/>
                        </a:rPr>
                        <a:t>n</a:t>
                      </a:r>
                      <a:r>
                        <a:rPr kumimoji="0" lang="en-GB" sz="2000" b="0" i="0" u="none" strike="noStrike" cap="none" normalizeH="0" baseline="30000">
                          <a:ln>
                            <a:noFill/>
                          </a:ln>
                          <a:solidFill>
                            <a:schemeClr val="tx1"/>
                          </a:solidFill>
                          <a:effectLst/>
                          <a:latin typeface="Arial" charset="0"/>
                        </a:rPr>
                        <a:t>2</a:t>
                      </a:r>
                      <a:r>
                        <a:rPr kumimoji="0" lang="en-GB" sz="2000" b="0" i="0" u="none" strike="noStrike" cap="none" normalizeH="0" baseline="0">
                          <a:ln>
                            <a:noFill/>
                          </a:ln>
                          <a:solidFill>
                            <a:schemeClr val="tx1"/>
                          </a:solidFill>
                          <a:effectLst/>
                          <a:latin typeface="Arial" charset="0"/>
                        </a:rPr>
                        <a:t>/4</a:t>
                      </a:r>
                    </a:p>
                  </a:txBody>
                  <a:tcPr marT="45725" marB="45725" horzOverflow="overflow">
                    <a:lnL w="28575"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0" u="none" strike="noStrike" cap="none" normalizeH="0" baseline="0">
                          <a:ln>
                            <a:noFill/>
                          </a:ln>
                          <a:solidFill>
                            <a:schemeClr val="tx1"/>
                          </a:solidFill>
                          <a:effectLst/>
                          <a:latin typeface="Arial" charset="0"/>
                        </a:rPr>
                        <a:t>~ </a:t>
                      </a:r>
                      <a:r>
                        <a:rPr kumimoji="0" lang="en-GB" sz="2000" b="0" i="1" u="none" strike="noStrike" cap="none" normalizeH="0" baseline="0">
                          <a:ln>
                            <a:noFill/>
                          </a:ln>
                          <a:solidFill>
                            <a:schemeClr val="tx1"/>
                          </a:solidFill>
                          <a:effectLst/>
                          <a:latin typeface="Arial" charset="0"/>
                        </a:rPr>
                        <a:t>n</a:t>
                      </a:r>
                      <a:r>
                        <a:rPr kumimoji="0" lang="en-GB" sz="2000" b="0" i="0" u="none" strike="noStrike" cap="none" normalizeH="0" baseline="30000">
                          <a:ln>
                            <a:noFill/>
                          </a:ln>
                          <a:solidFill>
                            <a:schemeClr val="tx1"/>
                          </a:solidFill>
                          <a:effectLst/>
                          <a:latin typeface="Arial" charset="0"/>
                        </a:rPr>
                        <a:t>2</a:t>
                      </a:r>
                      <a:r>
                        <a:rPr kumimoji="0" lang="en-GB" sz="2000" b="0" i="0" u="none" strike="noStrike" cap="none" normalizeH="0" baseline="0">
                          <a:ln>
                            <a:noFill/>
                          </a:ln>
                          <a:solidFill>
                            <a:schemeClr val="tx1"/>
                          </a:solidFill>
                          <a:effectLst/>
                          <a:latin typeface="Arial" charset="0"/>
                        </a:rPr>
                        <a:t>/4</a:t>
                      </a:r>
                    </a:p>
                  </a:txBody>
                  <a:tcPr marT="45725" marB="45725"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1" u="none" strike="noStrike" cap="none" normalizeH="0" baseline="0">
                          <a:ln>
                            <a:noFill/>
                          </a:ln>
                          <a:solidFill>
                            <a:schemeClr val="tx1"/>
                          </a:solidFill>
                          <a:effectLst/>
                          <a:latin typeface="Arial" charset="0"/>
                        </a:rPr>
                        <a:t>O</a:t>
                      </a:r>
                      <a:r>
                        <a:rPr kumimoji="0" lang="en-GB" sz="2000" b="0" i="0" u="none" strike="noStrike" cap="none" normalizeH="0" baseline="0">
                          <a:ln>
                            <a:noFill/>
                          </a:ln>
                          <a:solidFill>
                            <a:schemeClr val="tx1"/>
                          </a:solidFill>
                          <a:effectLst/>
                          <a:latin typeface="Arial" charset="0"/>
                        </a:rPr>
                        <a:t>(</a:t>
                      </a:r>
                      <a:r>
                        <a:rPr kumimoji="0" lang="en-GB" sz="2000" b="0" i="1" u="none" strike="noStrike" cap="none" normalizeH="0" baseline="0">
                          <a:ln>
                            <a:noFill/>
                          </a:ln>
                          <a:solidFill>
                            <a:schemeClr val="tx1"/>
                          </a:solidFill>
                          <a:effectLst/>
                          <a:latin typeface="Arial" charset="0"/>
                        </a:rPr>
                        <a:t>n</a:t>
                      </a:r>
                      <a:r>
                        <a:rPr kumimoji="0" lang="en-GB" sz="2000" b="0" i="0" u="none" strike="noStrike" cap="none" normalizeH="0" baseline="30000">
                          <a:ln>
                            <a:noFill/>
                          </a:ln>
                          <a:solidFill>
                            <a:schemeClr val="tx1"/>
                          </a:solidFill>
                          <a:effectLst/>
                          <a:latin typeface="Arial" charset="0"/>
                        </a:rPr>
                        <a:t>2</a:t>
                      </a:r>
                      <a:r>
                        <a:rPr kumimoji="0" lang="en-GB" sz="2000" b="0" i="0" u="none" strike="noStrike" cap="none" normalizeH="0" baseline="0">
                          <a:ln>
                            <a:noFill/>
                          </a:ln>
                          <a:solidFill>
                            <a:schemeClr val="tx1"/>
                          </a:solidFill>
                          <a:effectLst/>
                          <a:latin typeface="Arial" charset="0"/>
                        </a:rPr>
                        <a:t>)</a:t>
                      </a:r>
                    </a:p>
                  </a:txBody>
                  <a:tcPr marT="45725" marB="45725"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1" u="none" strike="noStrike" cap="none" normalizeH="0" baseline="0">
                          <a:ln>
                            <a:noFill/>
                          </a:ln>
                          <a:solidFill>
                            <a:schemeClr val="tx1"/>
                          </a:solidFill>
                          <a:effectLst/>
                          <a:latin typeface="Arial" charset="0"/>
                        </a:rPr>
                        <a:t>O</a:t>
                      </a:r>
                      <a:r>
                        <a:rPr kumimoji="0" lang="en-GB" sz="2000" b="0" i="0" u="none" strike="noStrike" cap="none" normalizeH="0" baseline="0">
                          <a:ln>
                            <a:noFill/>
                          </a:ln>
                          <a:solidFill>
                            <a:schemeClr val="tx1"/>
                          </a:solidFill>
                          <a:effectLst/>
                          <a:latin typeface="Arial" charset="0"/>
                        </a:rPr>
                        <a:t>(1)</a:t>
                      </a:r>
                    </a:p>
                  </a:txBody>
                  <a:tcPr marT="45725" marB="45725" horzOverflow="overflow">
                    <a:lnL w="12700"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2"/>
                  </a:ext>
                </a:extLst>
              </a:tr>
              <a:tr h="396286">
                <a:tc>
                  <a:txBody>
                    <a:bodyPr/>
                    <a:lstStyle/>
                    <a:p>
                      <a:pPr marL="0" marR="0" lvl="0" indent="0" algn="l"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0" u="none" strike="noStrike" cap="none" normalizeH="0" baseline="0">
                          <a:ln>
                            <a:noFill/>
                          </a:ln>
                          <a:solidFill>
                            <a:schemeClr val="tx1"/>
                          </a:solidFill>
                          <a:effectLst/>
                          <a:latin typeface="Arial" charset="0"/>
                        </a:rPr>
                        <a:t>Merge-sort</a:t>
                      </a:r>
                    </a:p>
                  </a:txBody>
                  <a:tcPr marT="45725" marB="45725" horzOverflow="overflow">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0" u="none" strike="noStrike" cap="none" normalizeH="0" baseline="0">
                          <a:ln>
                            <a:noFill/>
                          </a:ln>
                          <a:solidFill>
                            <a:schemeClr val="tx1"/>
                          </a:solidFill>
                          <a:effectLst/>
                          <a:latin typeface="Arial" charset="0"/>
                        </a:rPr>
                        <a:t>~ </a:t>
                      </a:r>
                      <a:r>
                        <a:rPr kumimoji="0" lang="en-GB" sz="2000" b="0" i="1" u="none" strike="noStrike" cap="none" normalizeH="0" baseline="0">
                          <a:ln>
                            <a:noFill/>
                          </a:ln>
                          <a:solidFill>
                            <a:schemeClr val="tx1"/>
                          </a:solidFill>
                          <a:effectLst/>
                          <a:latin typeface="Arial" charset="0"/>
                        </a:rPr>
                        <a:t>n</a:t>
                      </a:r>
                      <a:r>
                        <a:rPr kumimoji="0" lang="en-GB" sz="2000" b="0" i="0" u="none" strike="noStrike" cap="none" normalizeH="0" baseline="0">
                          <a:ln>
                            <a:noFill/>
                          </a:ln>
                          <a:solidFill>
                            <a:schemeClr val="tx1"/>
                          </a:solidFill>
                          <a:effectLst/>
                          <a:latin typeface="Arial" charset="0"/>
                        </a:rPr>
                        <a:t> log</a:t>
                      </a:r>
                      <a:r>
                        <a:rPr kumimoji="0" lang="en-GB" sz="2000" b="0" i="0" u="none" strike="noStrike" cap="none" normalizeH="0" baseline="-25000">
                          <a:ln>
                            <a:noFill/>
                          </a:ln>
                          <a:solidFill>
                            <a:schemeClr val="tx1"/>
                          </a:solidFill>
                          <a:effectLst/>
                          <a:latin typeface="Arial" charset="0"/>
                        </a:rPr>
                        <a:t>2</a:t>
                      </a:r>
                      <a:r>
                        <a:rPr kumimoji="0" lang="en-GB" sz="2000" b="0" i="1" u="none" strike="noStrike" cap="none" normalizeH="0" baseline="0">
                          <a:ln>
                            <a:noFill/>
                          </a:ln>
                          <a:solidFill>
                            <a:schemeClr val="tx1"/>
                          </a:solidFill>
                          <a:effectLst/>
                          <a:latin typeface="Arial" charset="0"/>
                        </a:rPr>
                        <a:t>n</a:t>
                      </a:r>
                    </a:p>
                  </a:txBody>
                  <a:tcPr marT="45725" marB="45725" horzOverflow="overflow">
                    <a:lnL w="28575"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0" u="none" strike="noStrike" cap="none" normalizeH="0" baseline="0" dirty="0">
                          <a:ln>
                            <a:noFill/>
                          </a:ln>
                          <a:solidFill>
                            <a:schemeClr val="tx1"/>
                          </a:solidFill>
                          <a:effectLst/>
                          <a:latin typeface="Arial" charset="0"/>
                        </a:rPr>
                        <a:t>~ 2</a:t>
                      </a:r>
                      <a:r>
                        <a:rPr kumimoji="0" lang="en-GB" sz="2000" b="0" i="1" u="none" strike="noStrike" cap="none" normalizeH="0" baseline="0" dirty="0">
                          <a:ln>
                            <a:noFill/>
                          </a:ln>
                          <a:solidFill>
                            <a:schemeClr val="tx1"/>
                          </a:solidFill>
                          <a:effectLst/>
                          <a:latin typeface="Arial" charset="0"/>
                        </a:rPr>
                        <a:t>n</a:t>
                      </a:r>
                      <a:r>
                        <a:rPr kumimoji="0" lang="en-GB" sz="2000" b="0" i="0" u="none" strike="noStrike" cap="none" normalizeH="0" baseline="0" dirty="0">
                          <a:ln>
                            <a:noFill/>
                          </a:ln>
                          <a:solidFill>
                            <a:schemeClr val="tx1"/>
                          </a:solidFill>
                          <a:effectLst/>
                          <a:latin typeface="Arial" charset="0"/>
                        </a:rPr>
                        <a:t> log</a:t>
                      </a:r>
                      <a:r>
                        <a:rPr kumimoji="0" lang="en-GB" sz="2000" b="0" i="0" u="none" strike="noStrike" cap="none" normalizeH="0" baseline="-25000" dirty="0">
                          <a:ln>
                            <a:noFill/>
                          </a:ln>
                          <a:solidFill>
                            <a:schemeClr val="tx1"/>
                          </a:solidFill>
                          <a:effectLst/>
                          <a:latin typeface="Arial" charset="0"/>
                        </a:rPr>
                        <a:t>2</a:t>
                      </a:r>
                      <a:r>
                        <a:rPr kumimoji="0" lang="en-GB" sz="2000" b="0" i="1" u="none" strike="noStrike" cap="none" normalizeH="0" baseline="0" dirty="0">
                          <a:ln>
                            <a:noFill/>
                          </a:ln>
                          <a:solidFill>
                            <a:schemeClr val="tx1"/>
                          </a:solidFill>
                          <a:effectLst/>
                          <a:latin typeface="Arial" charset="0"/>
                        </a:rPr>
                        <a:t>n</a:t>
                      </a:r>
                    </a:p>
                  </a:txBody>
                  <a:tcPr marT="45725" marB="45725"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1" u="none" strike="noStrike" cap="none" normalizeH="0" baseline="0">
                          <a:ln>
                            <a:noFill/>
                          </a:ln>
                          <a:solidFill>
                            <a:schemeClr val="tx1"/>
                          </a:solidFill>
                          <a:effectLst/>
                          <a:latin typeface="Arial" charset="0"/>
                        </a:rPr>
                        <a:t>O</a:t>
                      </a:r>
                      <a:r>
                        <a:rPr kumimoji="0" lang="en-GB" sz="2000" b="0" i="0" u="none" strike="noStrike" cap="none" normalizeH="0" baseline="0">
                          <a:ln>
                            <a:noFill/>
                          </a:ln>
                          <a:solidFill>
                            <a:schemeClr val="tx1"/>
                          </a:solidFill>
                          <a:effectLst/>
                          <a:latin typeface="Arial" charset="0"/>
                        </a:rPr>
                        <a:t>(</a:t>
                      </a:r>
                      <a:r>
                        <a:rPr kumimoji="0" lang="en-GB" sz="2000" b="0" i="1" u="none" strike="noStrike" cap="none" normalizeH="0" baseline="0">
                          <a:ln>
                            <a:noFill/>
                          </a:ln>
                          <a:solidFill>
                            <a:schemeClr val="tx1"/>
                          </a:solidFill>
                          <a:effectLst/>
                          <a:latin typeface="Arial" charset="0"/>
                        </a:rPr>
                        <a:t>n</a:t>
                      </a:r>
                      <a:r>
                        <a:rPr kumimoji="0" lang="en-GB" sz="2000" b="0" i="0" u="none" strike="noStrike" cap="none" normalizeH="0" baseline="0">
                          <a:ln>
                            <a:noFill/>
                          </a:ln>
                          <a:solidFill>
                            <a:schemeClr val="tx1"/>
                          </a:solidFill>
                          <a:effectLst/>
                          <a:latin typeface="Arial" charset="0"/>
                        </a:rPr>
                        <a:t> log </a:t>
                      </a:r>
                      <a:r>
                        <a:rPr kumimoji="0" lang="en-GB" sz="2000" b="0" i="1" u="none" strike="noStrike" cap="none" normalizeH="0" baseline="0">
                          <a:ln>
                            <a:noFill/>
                          </a:ln>
                          <a:solidFill>
                            <a:schemeClr val="tx1"/>
                          </a:solidFill>
                          <a:effectLst/>
                          <a:latin typeface="Arial" charset="0"/>
                        </a:rPr>
                        <a:t>n</a:t>
                      </a:r>
                      <a:r>
                        <a:rPr kumimoji="0" lang="en-GB" sz="2000" b="0" i="0" u="none" strike="noStrike" cap="none" normalizeH="0" baseline="0">
                          <a:ln>
                            <a:noFill/>
                          </a:ln>
                          <a:solidFill>
                            <a:schemeClr val="tx1"/>
                          </a:solidFill>
                          <a:effectLst/>
                          <a:latin typeface="Arial" charset="0"/>
                        </a:rPr>
                        <a:t>)</a:t>
                      </a:r>
                      <a:endParaRPr kumimoji="0" lang="en-GB" sz="2000" b="0" i="1" u="none" strike="noStrike" cap="none" normalizeH="0" baseline="0">
                        <a:ln>
                          <a:noFill/>
                        </a:ln>
                        <a:solidFill>
                          <a:schemeClr val="tx1"/>
                        </a:solidFill>
                        <a:effectLst/>
                        <a:latin typeface="Arial" charset="0"/>
                      </a:endParaRPr>
                    </a:p>
                  </a:txBody>
                  <a:tcPr marT="45725" marB="45725"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1" u="none" strike="noStrike" cap="none" normalizeH="0" baseline="0" dirty="0">
                          <a:ln>
                            <a:noFill/>
                          </a:ln>
                          <a:solidFill>
                            <a:schemeClr val="tx1"/>
                          </a:solidFill>
                          <a:effectLst/>
                          <a:latin typeface="Arial" charset="0"/>
                        </a:rPr>
                        <a:t>O</a:t>
                      </a:r>
                      <a:r>
                        <a:rPr kumimoji="0" lang="en-GB" sz="2000" b="0" i="0" u="none" strike="noStrike" cap="none" normalizeH="0" baseline="0" dirty="0">
                          <a:ln>
                            <a:noFill/>
                          </a:ln>
                          <a:solidFill>
                            <a:schemeClr val="tx1"/>
                          </a:solidFill>
                          <a:effectLst/>
                          <a:latin typeface="Arial" charset="0"/>
                        </a:rPr>
                        <a:t>(</a:t>
                      </a:r>
                      <a:r>
                        <a:rPr kumimoji="0" lang="en-GB" sz="2000" b="0" i="1" u="none" strike="noStrike" cap="none" normalizeH="0" baseline="0" dirty="0">
                          <a:ln>
                            <a:noFill/>
                          </a:ln>
                          <a:solidFill>
                            <a:schemeClr val="tx1"/>
                          </a:solidFill>
                          <a:effectLst/>
                          <a:latin typeface="Arial" charset="0"/>
                        </a:rPr>
                        <a:t>n</a:t>
                      </a:r>
                      <a:r>
                        <a:rPr kumimoji="0" lang="en-GB" sz="2000" b="0" i="0" u="none" strike="noStrike" cap="none" normalizeH="0" baseline="0" dirty="0">
                          <a:ln>
                            <a:noFill/>
                          </a:ln>
                          <a:solidFill>
                            <a:schemeClr val="tx1"/>
                          </a:solidFill>
                          <a:effectLst/>
                          <a:latin typeface="Arial" charset="0"/>
                        </a:rPr>
                        <a:t>)</a:t>
                      </a:r>
                    </a:p>
                  </a:txBody>
                  <a:tcPr marT="45725" marB="45725" horzOverflow="overflow">
                    <a:lnL w="12700"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3"/>
                  </a:ext>
                </a:extLst>
              </a:tr>
              <a:tr h="701122">
                <a:tc>
                  <a:txBody>
                    <a:bodyPr/>
                    <a:lstStyle/>
                    <a:p>
                      <a:pPr marL="0" marR="0" lvl="0" indent="0" algn="l" defTabSz="914400" rtl="0" eaLnBrk="1" fontAlgn="base" latinLnBrk="0" hangingPunct="1">
                        <a:lnSpc>
                          <a:spcPct val="100000"/>
                        </a:lnSpc>
                        <a:spcBef>
                          <a:spcPct val="50000"/>
                        </a:spcBef>
                        <a:spcAft>
                          <a:spcPct val="0"/>
                        </a:spcAft>
                        <a:buClr>
                          <a:schemeClr val="bg2"/>
                        </a:buClr>
                        <a:buSzTx/>
                        <a:buFont typeface="Wingdings" pitchFamily="2" charset="2"/>
                        <a:buNone/>
                        <a:tabLst>
                          <a:tab pos="1955800" algn="r"/>
                        </a:tabLst>
                      </a:pPr>
                      <a:r>
                        <a:rPr kumimoji="0" lang="en-GB" sz="2000" b="0" i="0" u="none" strike="noStrike" cap="none" normalizeH="0" baseline="0">
                          <a:ln>
                            <a:noFill/>
                          </a:ln>
                          <a:solidFill>
                            <a:schemeClr val="tx1"/>
                          </a:solidFill>
                          <a:effectLst/>
                          <a:latin typeface="Arial" charset="0"/>
                        </a:rPr>
                        <a:t>Quick-sort	(best)</a:t>
                      </a:r>
                      <a:br>
                        <a:rPr kumimoji="0" lang="en-GB" sz="2000" b="0" i="0" u="none" strike="noStrike" cap="none" normalizeH="0" baseline="0">
                          <a:ln>
                            <a:noFill/>
                          </a:ln>
                          <a:solidFill>
                            <a:schemeClr val="tx1"/>
                          </a:solidFill>
                          <a:effectLst/>
                          <a:latin typeface="Arial" charset="0"/>
                        </a:rPr>
                      </a:br>
                      <a:r>
                        <a:rPr kumimoji="0" lang="en-GB" sz="2000" b="0" i="0" u="none" strike="noStrike" cap="none" normalizeH="0" baseline="0">
                          <a:ln>
                            <a:noFill/>
                          </a:ln>
                          <a:solidFill>
                            <a:schemeClr val="tx1"/>
                          </a:solidFill>
                          <a:effectLst/>
                          <a:latin typeface="Arial" charset="0"/>
                        </a:rPr>
                        <a:t>	(worst)</a:t>
                      </a:r>
                    </a:p>
                  </a:txBody>
                  <a:tcPr marT="45725" marB="45725" horzOverflow="overflow">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0" u="none" strike="noStrike" cap="none" normalizeH="0" baseline="0">
                          <a:ln>
                            <a:noFill/>
                          </a:ln>
                          <a:solidFill>
                            <a:schemeClr val="tx1"/>
                          </a:solidFill>
                          <a:effectLst/>
                          <a:latin typeface="Arial" charset="0"/>
                        </a:rPr>
                        <a:t>~ </a:t>
                      </a:r>
                      <a:r>
                        <a:rPr kumimoji="0" lang="en-GB" sz="2000" b="0" i="1" u="none" strike="noStrike" cap="none" normalizeH="0" baseline="0">
                          <a:ln>
                            <a:noFill/>
                          </a:ln>
                          <a:solidFill>
                            <a:schemeClr val="tx1"/>
                          </a:solidFill>
                          <a:effectLst/>
                          <a:latin typeface="Arial" charset="0"/>
                        </a:rPr>
                        <a:t>n</a:t>
                      </a:r>
                      <a:r>
                        <a:rPr kumimoji="0" lang="en-GB" sz="2000" b="0" i="0" u="none" strike="noStrike" cap="none" normalizeH="0" baseline="0">
                          <a:ln>
                            <a:noFill/>
                          </a:ln>
                          <a:solidFill>
                            <a:schemeClr val="tx1"/>
                          </a:solidFill>
                          <a:effectLst/>
                          <a:latin typeface="Arial" charset="0"/>
                        </a:rPr>
                        <a:t> log</a:t>
                      </a:r>
                      <a:r>
                        <a:rPr kumimoji="0" lang="en-GB" sz="2000" b="0" i="0" u="none" strike="noStrike" cap="none" normalizeH="0" baseline="-25000">
                          <a:ln>
                            <a:noFill/>
                          </a:ln>
                          <a:solidFill>
                            <a:schemeClr val="tx1"/>
                          </a:solidFill>
                          <a:effectLst/>
                          <a:latin typeface="Arial" charset="0"/>
                        </a:rPr>
                        <a:t>2</a:t>
                      </a:r>
                      <a:r>
                        <a:rPr kumimoji="0" lang="en-GB" sz="2000" b="0" i="1" u="none" strike="noStrike" cap="none" normalizeH="0" baseline="0">
                          <a:ln>
                            <a:noFill/>
                          </a:ln>
                          <a:solidFill>
                            <a:schemeClr val="tx1"/>
                          </a:solidFill>
                          <a:effectLst/>
                          <a:latin typeface="Arial" charset="0"/>
                        </a:rPr>
                        <a:t>n</a:t>
                      </a:r>
                      <a:br>
                        <a:rPr kumimoji="0" lang="en-GB" sz="2000" b="0" i="1" u="none" strike="noStrike" cap="none" normalizeH="0" baseline="0">
                          <a:ln>
                            <a:noFill/>
                          </a:ln>
                          <a:solidFill>
                            <a:schemeClr val="tx1"/>
                          </a:solidFill>
                          <a:effectLst/>
                          <a:latin typeface="Arial" charset="0"/>
                        </a:rPr>
                      </a:br>
                      <a:r>
                        <a:rPr kumimoji="0" lang="en-GB" sz="2000" b="0" i="0" u="none" strike="noStrike" cap="none" normalizeH="0" baseline="0">
                          <a:ln>
                            <a:noFill/>
                          </a:ln>
                          <a:solidFill>
                            <a:schemeClr val="tx1"/>
                          </a:solidFill>
                          <a:effectLst/>
                          <a:latin typeface="Arial" charset="0"/>
                        </a:rPr>
                        <a:t>~ </a:t>
                      </a:r>
                      <a:r>
                        <a:rPr kumimoji="0" lang="en-GB" sz="2000" b="0" i="1" u="none" strike="noStrike" cap="none" normalizeH="0" baseline="0">
                          <a:ln>
                            <a:noFill/>
                          </a:ln>
                          <a:solidFill>
                            <a:schemeClr val="tx1"/>
                          </a:solidFill>
                          <a:effectLst/>
                          <a:latin typeface="Arial" charset="0"/>
                        </a:rPr>
                        <a:t>n</a:t>
                      </a:r>
                      <a:r>
                        <a:rPr kumimoji="0" lang="en-GB" sz="2000" b="0" i="0" u="none" strike="noStrike" cap="none" normalizeH="0" baseline="30000">
                          <a:ln>
                            <a:noFill/>
                          </a:ln>
                          <a:solidFill>
                            <a:schemeClr val="tx1"/>
                          </a:solidFill>
                          <a:effectLst/>
                          <a:latin typeface="Arial" charset="0"/>
                        </a:rPr>
                        <a:t>2</a:t>
                      </a:r>
                      <a:r>
                        <a:rPr kumimoji="0" lang="en-GB" sz="2000" b="0" i="0" u="none" strike="noStrike" cap="none" normalizeH="0" baseline="0">
                          <a:ln>
                            <a:noFill/>
                          </a:ln>
                          <a:solidFill>
                            <a:schemeClr val="tx1"/>
                          </a:solidFill>
                          <a:effectLst/>
                          <a:latin typeface="Arial" charset="0"/>
                        </a:rPr>
                        <a:t>/2</a:t>
                      </a:r>
                    </a:p>
                  </a:txBody>
                  <a:tcPr marT="45725" marB="45725" horzOverflow="overflow">
                    <a:lnL w="28575"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0" u="none" strike="noStrike" cap="none" normalizeH="0" baseline="0">
                          <a:ln>
                            <a:noFill/>
                          </a:ln>
                          <a:solidFill>
                            <a:schemeClr val="tx1"/>
                          </a:solidFill>
                          <a:effectLst/>
                          <a:latin typeface="Arial" charset="0"/>
                        </a:rPr>
                        <a:t>~ 2</a:t>
                      </a:r>
                      <a:r>
                        <a:rPr kumimoji="0" lang="en-GB" sz="2000" b="0" i="1" u="none" strike="noStrike" cap="none" normalizeH="0" baseline="0">
                          <a:ln>
                            <a:noFill/>
                          </a:ln>
                          <a:solidFill>
                            <a:schemeClr val="tx1"/>
                          </a:solidFill>
                          <a:effectLst/>
                          <a:latin typeface="Arial" charset="0"/>
                        </a:rPr>
                        <a:t>n</a:t>
                      </a:r>
                      <a:r>
                        <a:rPr kumimoji="0" lang="en-GB" sz="2000" b="0" i="0" u="none" strike="noStrike" cap="none" normalizeH="0" baseline="0">
                          <a:ln>
                            <a:noFill/>
                          </a:ln>
                          <a:solidFill>
                            <a:schemeClr val="tx1"/>
                          </a:solidFill>
                          <a:effectLst/>
                          <a:latin typeface="Arial" charset="0"/>
                        </a:rPr>
                        <a:t>/3 log</a:t>
                      </a:r>
                      <a:r>
                        <a:rPr kumimoji="0" lang="en-GB" sz="2000" b="0" i="0" u="none" strike="noStrike" cap="none" normalizeH="0" baseline="-25000">
                          <a:ln>
                            <a:noFill/>
                          </a:ln>
                          <a:solidFill>
                            <a:schemeClr val="tx1"/>
                          </a:solidFill>
                          <a:effectLst/>
                          <a:latin typeface="Arial" charset="0"/>
                        </a:rPr>
                        <a:t>2</a:t>
                      </a:r>
                      <a:r>
                        <a:rPr kumimoji="0" lang="en-GB" sz="2000" b="0" i="1" u="none" strike="noStrike" cap="none" normalizeH="0" baseline="0">
                          <a:ln>
                            <a:noFill/>
                          </a:ln>
                          <a:solidFill>
                            <a:schemeClr val="tx1"/>
                          </a:solidFill>
                          <a:effectLst/>
                          <a:latin typeface="Arial" charset="0"/>
                        </a:rPr>
                        <a:t>n</a:t>
                      </a:r>
                      <a:br>
                        <a:rPr kumimoji="0" lang="en-GB" sz="2000" b="0" i="0" u="none" strike="noStrike" cap="none" normalizeH="0" baseline="0">
                          <a:ln>
                            <a:noFill/>
                          </a:ln>
                          <a:solidFill>
                            <a:schemeClr val="tx1"/>
                          </a:solidFill>
                          <a:effectLst/>
                          <a:latin typeface="Arial" charset="0"/>
                        </a:rPr>
                      </a:br>
                      <a:r>
                        <a:rPr kumimoji="0" lang="en-GB" sz="2000" b="0" i="0" u="none" strike="noStrike" cap="none" normalizeH="0" baseline="0">
                          <a:ln>
                            <a:noFill/>
                          </a:ln>
                          <a:solidFill>
                            <a:schemeClr val="tx1"/>
                          </a:solidFill>
                          <a:effectLst/>
                          <a:latin typeface="Arial" charset="0"/>
                        </a:rPr>
                        <a:t>0</a:t>
                      </a:r>
                    </a:p>
                  </a:txBody>
                  <a:tcPr marT="45725" marB="45725"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1" u="none" strike="noStrike" cap="none" normalizeH="0" baseline="0">
                          <a:ln>
                            <a:noFill/>
                          </a:ln>
                          <a:solidFill>
                            <a:schemeClr val="tx1"/>
                          </a:solidFill>
                          <a:effectLst/>
                          <a:latin typeface="Arial" charset="0"/>
                        </a:rPr>
                        <a:t>O</a:t>
                      </a:r>
                      <a:r>
                        <a:rPr kumimoji="0" lang="en-GB" sz="2000" b="0" i="0" u="none" strike="noStrike" cap="none" normalizeH="0" baseline="0">
                          <a:ln>
                            <a:noFill/>
                          </a:ln>
                          <a:solidFill>
                            <a:schemeClr val="tx1"/>
                          </a:solidFill>
                          <a:effectLst/>
                          <a:latin typeface="Arial" charset="0"/>
                        </a:rPr>
                        <a:t>(</a:t>
                      </a:r>
                      <a:r>
                        <a:rPr kumimoji="0" lang="en-GB" sz="2000" b="0" i="1" u="none" strike="noStrike" cap="none" normalizeH="0" baseline="0">
                          <a:ln>
                            <a:noFill/>
                          </a:ln>
                          <a:solidFill>
                            <a:schemeClr val="tx1"/>
                          </a:solidFill>
                          <a:effectLst/>
                          <a:latin typeface="Arial" charset="0"/>
                        </a:rPr>
                        <a:t>n</a:t>
                      </a:r>
                      <a:r>
                        <a:rPr kumimoji="0" lang="en-GB" sz="2000" b="0" i="0" u="none" strike="noStrike" cap="none" normalizeH="0" baseline="0">
                          <a:ln>
                            <a:noFill/>
                          </a:ln>
                          <a:solidFill>
                            <a:schemeClr val="tx1"/>
                          </a:solidFill>
                          <a:effectLst/>
                          <a:latin typeface="Arial" charset="0"/>
                        </a:rPr>
                        <a:t> log </a:t>
                      </a:r>
                      <a:r>
                        <a:rPr kumimoji="0" lang="en-GB" sz="2000" b="0" i="1" u="none" strike="noStrike" cap="none" normalizeH="0" baseline="0">
                          <a:ln>
                            <a:noFill/>
                          </a:ln>
                          <a:solidFill>
                            <a:schemeClr val="tx1"/>
                          </a:solidFill>
                          <a:effectLst/>
                          <a:latin typeface="Arial" charset="0"/>
                        </a:rPr>
                        <a:t>n</a:t>
                      </a:r>
                      <a:r>
                        <a:rPr kumimoji="0" lang="en-GB" sz="2000" b="0" i="0" u="none" strike="noStrike" cap="none" normalizeH="0" baseline="0">
                          <a:ln>
                            <a:noFill/>
                          </a:ln>
                          <a:solidFill>
                            <a:schemeClr val="tx1"/>
                          </a:solidFill>
                          <a:effectLst/>
                          <a:latin typeface="Arial" charset="0"/>
                        </a:rPr>
                        <a:t>)</a:t>
                      </a:r>
                      <a:br>
                        <a:rPr kumimoji="0" lang="en-GB" sz="2000" b="0" i="0" u="none" strike="noStrike" cap="none" normalizeH="0" baseline="0">
                          <a:ln>
                            <a:noFill/>
                          </a:ln>
                          <a:solidFill>
                            <a:schemeClr val="tx1"/>
                          </a:solidFill>
                          <a:effectLst/>
                          <a:latin typeface="Arial" charset="0"/>
                        </a:rPr>
                      </a:br>
                      <a:r>
                        <a:rPr kumimoji="0" lang="en-GB" sz="2000" b="0" i="1" u="none" strike="noStrike" cap="none" normalizeH="0" baseline="0">
                          <a:ln>
                            <a:noFill/>
                          </a:ln>
                          <a:solidFill>
                            <a:schemeClr val="tx1"/>
                          </a:solidFill>
                          <a:effectLst/>
                          <a:latin typeface="Arial" charset="0"/>
                        </a:rPr>
                        <a:t>O</a:t>
                      </a:r>
                      <a:r>
                        <a:rPr kumimoji="0" lang="en-GB" sz="2000" b="0" i="0" u="none" strike="noStrike" cap="none" normalizeH="0" baseline="0">
                          <a:ln>
                            <a:noFill/>
                          </a:ln>
                          <a:solidFill>
                            <a:schemeClr val="tx1"/>
                          </a:solidFill>
                          <a:effectLst/>
                          <a:latin typeface="Arial" charset="0"/>
                        </a:rPr>
                        <a:t>(</a:t>
                      </a:r>
                      <a:r>
                        <a:rPr kumimoji="0" lang="en-GB" sz="2000" b="0" i="1" u="none" strike="noStrike" cap="none" normalizeH="0" baseline="0">
                          <a:ln>
                            <a:noFill/>
                          </a:ln>
                          <a:solidFill>
                            <a:schemeClr val="tx1"/>
                          </a:solidFill>
                          <a:effectLst/>
                          <a:latin typeface="Arial" charset="0"/>
                        </a:rPr>
                        <a:t>n</a:t>
                      </a:r>
                      <a:r>
                        <a:rPr kumimoji="0" lang="en-GB" sz="2000" b="0" i="0" u="none" strike="noStrike" cap="none" normalizeH="0" baseline="30000">
                          <a:ln>
                            <a:noFill/>
                          </a:ln>
                          <a:solidFill>
                            <a:schemeClr val="tx1"/>
                          </a:solidFill>
                          <a:effectLst/>
                          <a:latin typeface="Arial" charset="0"/>
                        </a:rPr>
                        <a:t>2</a:t>
                      </a:r>
                      <a:r>
                        <a:rPr kumimoji="0" lang="en-GB" sz="2000" b="0" i="0" u="none" strike="noStrike" cap="none" normalizeH="0" baseline="0">
                          <a:ln>
                            <a:noFill/>
                          </a:ln>
                          <a:solidFill>
                            <a:schemeClr val="tx1"/>
                          </a:solidFill>
                          <a:effectLst/>
                          <a:latin typeface="Arial" charset="0"/>
                        </a:rPr>
                        <a:t>)</a:t>
                      </a:r>
                    </a:p>
                  </a:txBody>
                  <a:tcPr marT="45725" marB="45725" horzOverflow="overflow">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1" fontAlgn="base" latinLnBrk="0" hangingPunct="1">
                        <a:lnSpc>
                          <a:spcPct val="100000"/>
                        </a:lnSpc>
                        <a:spcBef>
                          <a:spcPct val="50000"/>
                        </a:spcBef>
                        <a:spcAft>
                          <a:spcPct val="0"/>
                        </a:spcAft>
                        <a:buClr>
                          <a:schemeClr val="bg2"/>
                        </a:buClr>
                        <a:buSzTx/>
                        <a:buFont typeface="Wingdings" pitchFamily="2" charset="2"/>
                        <a:buNone/>
                        <a:tabLst/>
                      </a:pPr>
                      <a:r>
                        <a:rPr kumimoji="0" lang="en-GB" sz="2000" b="0" i="1" u="none" strike="noStrike" cap="none" normalizeH="0" baseline="0" dirty="0">
                          <a:ln>
                            <a:noFill/>
                          </a:ln>
                          <a:solidFill>
                            <a:schemeClr val="tx1"/>
                          </a:solidFill>
                          <a:effectLst/>
                          <a:latin typeface="Arial" charset="0"/>
                        </a:rPr>
                        <a:t>O</a:t>
                      </a:r>
                      <a:r>
                        <a:rPr kumimoji="0" lang="en-GB" sz="2000" b="0" i="0" u="none" strike="noStrike" cap="none" normalizeH="0" baseline="0" dirty="0">
                          <a:ln>
                            <a:noFill/>
                          </a:ln>
                          <a:solidFill>
                            <a:schemeClr val="tx1"/>
                          </a:solidFill>
                          <a:effectLst/>
                          <a:latin typeface="Arial" charset="0"/>
                        </a:rPr>
                        <a:t>(log </a:t>
                      </a:r>
                      <a:r>
                        <a:rPr kumimoji="0" lang="en-GB" sz="2000" b="0" i="1" u="none" strike="noStrike" cap="none" normalizeH="0" baseline="0" dirty="0">
                          <a:ln>
                            <a:noFill/>
                          </a:ln>
                          <a:solidFill>
                            <a:schemeClr val="tx1"/>
                          </a:solidFill>
                          <a:effectLst/>
                          <a:latin typeface="Arial" charset="0"/>
                        </a:rPr>
                        <a:t>n</a:t>
                      </a:r>
                      <a:r>
                        <a:rPr kumimoji="0" lang="en-GB" sz="2000" b="0" i="0" u="none" strike="noStrike" cap="none" normalizeH="0" baseline="0" dirty="0">
                          <a:ln>
                            <a:noFill/>
                          </a:ln>
                          <a:solidFill>
                            <a:schemeClr val="tx1"/>
                          </a:solidFill>
                          <a:effectLst/>
                          <a:latin typeface="Arial" charset="0"/>
                        </a:rPr>
                        <a:t>)</a:t>
                      </a:r>
                      <a:br>
                        <a:rPr kumimoji="0" lang="en-GB" sz="2000" b="0" i="0" u="none" strike="noStrike" cap="none" normalizeH="0" baseline="0" dirty="0">
                          <a:ln>
                            <a:noFill/>
                          </a:ln>
                          <a:solidFill>
                            <a:schemeClr val="tx1"/>
                          </a:solidFill>
                          <a:effectLst/>
                          <a:latin typeface="Arial" charset="0"/>
                        </a:rPr>
                      </a:br>
                      <a:r>
                        <a:rPr kumimoji="0" lang="en-GB" sz="2000" b="0" i="1" u="none" strike="noStrike" cap="none" normalizeH="0" baseline="0" dirty="0">
                          <a:ln>
                            <a:noFill/>
                          </a:ln>
                          <a:solidFill>
                            <a:schemeClr val="tx1"/>
                          </a:solidFill>
                          <a:effectLst/>
                          <a:latin typeface="Arial" charset="0"/>
                        </a:rPr>
                        <a:t>O</a:t>
                      </a:r>
                      <a:r>
                        <a:rPr kumimoji="0" lang="en-GB" sz="2000" b="0" i="0" u="none" strike="noStrike" cap="none" normalizeH="0" baseline="0" dirty="0">
                          <a:ln>
                            <a:noFill/>
                          </a:ln>
                          <a:solidFill>
                            <a:schemeClr val="tx1"/>
                          </a:solidFill>
                          <a:effectLst/>
                          <a:latin typeface="Arial" charset="0"/>
                        </a:rPr>
                        <a:t>(</a:t>
                      </a:r>
                      <a:r>
                        <a:rPr kumimoji="0" lang="en-GB" sz="2000" b="0" i="1" u="none" strike="noStrike" cap="none" normalizeH="0" baseline="0" dirty="0">
                          <a:ln>
                            <a:noFill/>
                          </a:ln>
                          <a:solidFill>
                            <a:schemeClr val="tx1"/>
                          </a:solidFill>
                          <a:effectLst/>
                          <a:latin typeface="Arial" charset="0"/>
                        </a:rPr>
                        <a:t>n</a:t>
                      </a:r>
                      <a:r>
                        <a:rPr kumimoji="0" lang="en-GB" sz="2000" b="0" i="0" u="none" strike="noStrike" cap="none" normalizeH="0" baseline="0" dirty="0">
                          <a:ln>
                            <a:noFill/>
                          </a:ln>
                          <a:solidFill>
                            <a:schemeClr val="tx1"/>
                          </a:solidFill>
                          <a:effectLst/>
                          <a:latin typeface="Arial" charset="0"/>
                        </a:rPr>
                        <a:t>)</a:t>
                      </a:r>
                    </a:p>
                  </a:txBody>
                  <a:tcPr marT="45725" marB="45725" horzOverflow="overflow">
                    <a:lnL w="12700"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4"/>
                  </a:ext>
                </a:extLst>
              </a:tr>
            </a:tbl>
          </a:graphicData>
        </a:graphic>
      </p:graphicFrame>
      <p:sp>
        <p:nvSpPr>
          <p:cNvPr id="2" name="TextBox 1"/>
          <p:cNvSpPr txBox="1"/>
          <p:nvPr/>
        </p:nvSpPr>
        <p:spPr>
          <a:xfrm>
            <a:off x="207364" y="4572000"/>
            <a:ext cx="8458200" cy="2308324"/>
          </a:xfrm>
          <a:prstGeom prst="rect">
            <a:avLst/>
          </a:prstGeom>
          <a:noFill/>
        </p:spPr>
        <p:txBody>
          <a:bodyPr wrap="square" rtlCol="0">
            <a:spAutoFit/>
          </a:bodyPr>
          <a:lstStyle/>
          <a:p>
            <a:r>
              <a:rPr lang="en-GB" dirty="0"/>
              <a:t>Note that here space complexity is the ADDITIONAL/AUXILIARY space required to execute the sort. Insertion sort and Selection sort require no extra space, Merge-sort requires an array of size n (scratch array) which can be used at all steps of the recursion. Quick-sort requires a constant amount of space (to store pivot, and position of pivot) at every step in recursion tree. So the amount of space is proportional to the depth of the recursion tree, which depends on how well the array is already sorted, and the choice of the pivot. </a:t>
            </a:r>
            <a:r>
              <a:rPr lang="en-GB" dirty="0">
                <a:solidFill>
                  <a:srgbClr val="FF0000"/>
                </a:solidFill>
              </a:rPr>
              <a:t>Insertion sort: see extra slides.</a:t>
            </a:r>
          </a:p>
        </p:txBody>
      </p:sp>
    </p:spTree>
    <p:extLst>
      <p:ext uri="{BB962C8B-B14F-4D97-AF65-F5344CB8AC3E}">
        <p14:creationId xmlns:p14="http://schemas.microsoft.com/office/powerpoint/2010/main" val="2075727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6054</TotalTime>
  <Words>15854</Words>
  <Application>Microsoft Office PowerPoint</Application>
  <PresentationFormat>On-screen Show (4:3)</PresentationFormat>
  <Paragraphs>2280</Paragraphs>
  <Slides>39</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Calibri</vt:lpstr>
      <vt:lpstr>Courier New</vt:lpstr>
      <vt:lpstr>Symbol</vt:lpstr>
      <vt:lpstr>Times New Roman</vt:lpstr>
      <vt:lpstr>Wingdings</vt:lpstr>
      <vt:lpstr>Clarity</vt:lpstr>
      <vt:lpstr> 3.2. Array Data Structure</vt:lpstr>
      <vt:lpstr>Merging (1)</vt:lpstr>
      <vt:lpstr>Merging (2)</vt:lpstr>
      <vt:lpstr>Merging (3)</vt:lpstr>
      <vt:lpstr>Merging (4)</vt:lpstr>
      <vt:lpstr>Merging (5)</vt:lpstr>
      <vt:lpstr>Merging (6)</vt:lpstr>
      <vt:lpstr>Merging (7) – Java implementation</vt:lpstr>
      <vt:lpstr>Merging (8)</vt:lpstr>
      <vt:lpstr>Sorting</vt:lpstr>
      <vt:lpstr>Selection sort (1)</vt:lpstr>
      <vt:lpstr>Selection sort (2)</vt:lpstr>
      <vt:lpstr>Selection sort (3)</vt:lpstr>
      <vt:lpstr>Selection sort (4)</vt:lpstr>
      <vt:lpstr>Selection sort (5): implementation in Java</vt:lpstr>
      <vt:lpstr>Aside: divide-and-conquer</vt:lpstr>
      <vt:lpstr>Merge-sort (1)</vt:lpstr>
      <vt:lpstr>Merge-sort (2)</vt:lpstr>
      <vt:lpstr>Merge-sort (3)</vt:lpstr>
      <vt:lpstr>Merge-sort (4)</vt:lpstr>
      <vt:lpstr>Merge-sort (5)</vt:lpstr>
      <vt:lpstr>Proof that merge-sort has complexity O(nlogn)</vt:lpstr>
      <vt:lpstr>Proof continued</vt:lpstr>
      <vt:lpstr>Quick-sort (1)</vt:lpstr>
      <vt:lpstr>Quick-sort (2)</vt:lpstr>
      <vt:lpstr>Quick-sort (3)</vt:lpstr>
      <vt:lpstr>Quick-sort (4)</vt:lpstr>
      <vt:lpstr>In full</vt:lpstr>
      <vt:lpstr>Quick-sort (5)</vt:lpstr>
      <vt:lpstr>Quick-sort (6)</vt:lpstr>
      <vt:lpstr>Quick-sort (7)</vt:lpstr>
      <vt:lpstr>Proof that quick-sort has worst case complexity O(n2) For interest only.</vt:lpstr>
      <vt:lpstr>Proof that quick-sort has worst case complexity O(n2) contd.</vt:lpstr>
      <vt:lpstr>Quick-sort (8) – Java implementation</vt:lpstr>
      <vt:lpstr>Quick-sort partitioning (1)</vt:lpstr>
      <vt:lpstr>Quick-sort partitioning (2)</vt:lpstr>
      <vt:lpstr>Quick-sort partitioning Intuition (Extra slide)</vt:lpstr>
      <vt:lpstr>Quick-sort partitioning: animation</vt:lpstr>
      <vt:lpstr>Comparison of sorting algorithms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 Array Data Structure</dc:title>
  <dc:creator>Alice</dc:creator>
  <cp:lastModifiedBy>Ivaylo Valkov</cp:lastModifiedBy>
  <cp:revision>91</cp:revision>
  <dcterms:created xsi:type="dcterms:W3CDTF">2006-08-16T00:00:00Z</dcterms:created>
  <dcterms:modified xsi:type="dcterms:W3CDTF">2025-01-16T23:13:58Z</dcterms:modified>
</cp:coreProperties>
</file>