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72" r:id="rId9"/>
    <p:sldId id="291" r:id="rId10"/>
    <p:sldId id="292" r:id="rId11"/>
    <p:sldId id="301" r:id="rId12"/>
    <p:sldId id="300" r:id="rId13"/>
    <p:sldId id="30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>
      <p:cViewPr varScale="1">
        <p:scale>
          <a:sx n="103" d="100"/>
          <a:sy n="103" d="100"/>
        </p:scale>
        <p:origin x="18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11361-5ADB-4D31-908C-575DD14909F4}" type="datetimeFigureOut">
              <a:rPr lang="en-GB" smtClean="0"/>
              <a:t>06/04/2021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9E863-C4F2-441C-AE08-C12D675B0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20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9E863-C4F2-441C-AE08-C12D675B055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701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145D-F8AC-4A24-A028-C0529943BCA8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746B-FE8B-41C1-842B-425DC7E71A6E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EA5C4-62F8-45D7-8348-12F40BE7E057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7CE1-82EF-42F2-82FD-1F0802F13F20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E3B9-DF90-4E85-B12F-3F389DB48CC0}" type="datetime1">
              <a:rPr lang="en-US" smtClean="0"/>
              <a:t>4/6/21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8450-BE36-4496-8CF5-84803AE99AAF}" type="datetime1">
              <a:rPr lang="en-US" smtClean="0"/>
              <a:t>4/6/21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E6FF-83E7-46A9-9CE9-715246A505E3}" type="datetime1">
              <a:rPr lang="en-US" smtClean="0"/>
              <a:t>4/6/21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BF4D-276A-4830-A089-3235A756D1C4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A937C-E1A7-46E9-B198-BE502FBC0FFE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2351-DD77-453D-A14D-C1F447470E27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0A28-ABA3-49E5-B662-815C984DAB9E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534306C-D9BF-4B31-89F4-BDF3807FF2C7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717138"/>
            <a:ext cx="8280400" cy="1162462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5.  Abstract </a:t>
            </a:r>
            <a:r>
              <a:rPr lang="en-GB" altLang="en-US" sz="3600">
                <a:solidFill>
                  <a:schemeClr val="folHlink"/>
                </a:solidFill>
              </a:rPr>
              <a:t>Data Types and Collections</a:t>
            </a:r>
            <a:endParaRPr lang="en-GB" altLang="en-US" sz="3600" dirty="0">
              <a:solidFill>
                <a:schemeClr val="folHlink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72306" y="3581401"/>
            <a:ext cx="7727950" cy="251460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Data types and abstract data types (ADTs)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Requirements, contracts, implementations of ADTs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Design </a:t>
            </a:r>
            <a:r>
              <a:rPr lang="en-US" altLang="en-US" sz="2400"/>
              <a:t>of ADTs in Java</a:t>
            </a:r>
            <a:endParaRPr lang="en-US" altLang="en-US" sz="2400" dirty="0"/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/>
              <a:t>Collections</a:t>
            </a:r>
            <a:endParaRPr lang="en-US" altLang="en-US" sz="2400" dirty="0"/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Abstract data types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4038600" y="285338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1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Data types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We classify all data into </a:t>
            </a:r>
            <a:r>
              <a:rPr lang="en-US" altLang="en-US" i="1" dirty="0">
                <a:cs typeface="Times New Roman" pitchFamily="18" charset="0"/>
              </a:rPr>
              <a:t>data types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Each data type is characterized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set of </a:t>
            </a:r>
            <a:r>
              <a:rPr lang="en-US" altLang="en-US" b="1" dirty="0">
                <a:cs typeface="Times New Roman" pitchFamily="18" charset="0"/>
              </a:rPr>
              <a:t>values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data representation</a:t>
            </a:r>
            <a:r>
              <a:rPr lang="en-US" altLang="en-US" dirty="0">
                <a:cs typeface="Times New Roman" pitchFamily="18" charset="0"/>
              </a:rPr>
              <a:t> (common to all these values)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set of </a:t>
            </a:r>
            <a:r>
              <a:rPr lang="en-US" altLang="en-US" b="1" dirty="0">
                <a:cs typeface="Times New Roman" pitchFamily="18" charset="0"/>
              </a:rPr>
              <a:t>operations</a:t>
            </a:r>
            <a:r>
              <a:rPr lang="en-US" altLang="en-US" dirty="0">
                <a:cs typeface="Times New Roman" pitchFamily="18" charset="0"/>
              </a:rPr>
              <a:t> (which can be applied uniformly to these values).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E.g., </a:t>
            </a:r>
            <a:r>
              <a:rPr lang="en-US" altLang="en-US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dirty="0">
                <a:cs typeface="Times New Roman" pitchFamily="18" charset="0"/>
              </a:rPr>
              <a:t> is a built-in data type in Java: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values are </a:t>
            </a:r>
            <a:r>
              <a:rPr lang="en-US" altLang="en-US" b="1" dirty="0">
                <a:latin typeface="Courier New" pitchFamily="49" charset="0"/>
                <a:cs typeface="Times New Roman" pitchFamily="18" charset="0"/>
              </a:rPr>
              <a:t>false</a:t>
            </a:r>
            <a:r>
              <a:rPr lang="en-US" altLang="en-US" dirty="0">
                <a:cs typeface="Times New Roman" pitchFamily="18" charset="0"/>
              </a:rPr>
              <a:t> and </a:t>
            </a:r>
            <a:r>
              <a:rPr lang="en-US" altLang="en-US" b="1" dirty="0">
                <a:latin typeface="Courier New" pitchFamily="49" charset="0"/>
                <a:cs typeface="Times New Roman" pitchFamily="18" charset="0"/>
              </a:rPr>
              <a:t>true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data representation is a single byte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operations are “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||</a:t>
            </a:r>
            <a:r>
              <a:rPr lang="en-US" altLang="en-US" dirty="0">
                <a:cs typeface="Times New Roman" pitchFamily="18" charset="0"/>
              </a:rPr>
              <a:t>”, “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&amp;&amp;</a:t>
            </a:r>
            <a:r>
              <a:rPr lang="en-US" altLang="en-US" dirty="0">
                <a:cs typeface="Times New Roman" pitchFamily="18" charset="0"/>
              </a:rPr>
              <a:t>”, “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!</a:t>
            </a:r>
            <a:r>
              <a:rPr lang="en-US" altLang="en-US" dirty="0">
                <a:cs typeface="Times New Roman" pitchFamily="18" charset="0"/>
              </a:rPr>
              <a:t>”, etc.</a:t>
            </a:r>
          </a:p>
        </p:txBody>
      </p:sp>
      <p:sp>
        <p:nvSpPr>
          <p:cNvPr id="305157" name="AutoShape 5"/>
          <p:cNvSpPr>
            <a:spLocks/>
          </p:cNvSpPr>
          <p:nvPr/>
        </p:nvSpPr>
        <p:spPr bwMode="auto">
          <a:xfrm>
            <a:off x="5867400" y="4648200"/>
            <a:ext cx="1800225" cy="503237"/>
          </a:xfrm>
          <a:prstGeom prst="callout1">
            <a:avLst>
              <a:gd name="adj1" fmla="val 22713"/>
              <a:gd name="adj2" fmla="val -4231"/>
              <a:gd name="adj3" fmla="val 38801"/>
              <a:gd name="adj4" fmla="val -2001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00000000 = false</a:t>
            </a:r>
            <a:b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00000001 = true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2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Introducing new data types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To introduce a new data type, we must define its values, its data representation, and its operations.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Java, we use a </a:t>
            </a:r>
            <a:r>
              <a:rPr lang="en-US" altLang="en-US" i="1" dirty="0">
                <a:cs typeface="Times New Roman" pitchFamily="18" charset="0"/>
              </a:rPr>
              <a:t>class declaration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class’s </a:t>
            </a:r>
            <a:r>
              <a:rPr lang="en-US" altLang="en-US" b="1" dirty="0">
                <a:cs typeface="Times New Roman" pitchFamily="18" charset="0"/>
              </a:rPr>
              <a:t>instance variables</a:t>
            </a:r>
            <a:r>
              <a:rPr lang="en-US" altLang="en-US" dirty="0">
                <a:cs typeface="Times New Roman" pitchFamily="18" charset="0"/>
              </a:rPr>
              <a:t> determine the values and data representation.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class’s </a:t>
            </a:r>
            <a:r>
              <a:rPr lang="en-US" altLang="en-US" b="1" dirty="0">
                <a:cs typeface="Times New Roman" pitchFamily="18" charset="0"/>
              </a:rPr>
              <a:t>constructors</a:t>
            </a:r>
            <a:r>
              <a:rPr lang="en-US" altLang="en-US" dirty="0">
                <a:cs typeface="Times New Roman" pitchFamily="18" charset="0"/>
              </a:rPr>
              <a:t> and </a:t>
            </a:r>
            <a:r>
              <a:rPr lang="en-US" altLang="en-US" b="1" dirty="0">
                <a:cs typeface="Times New Roman" pitchFamily="18" charset="0"/>
              </a:rPr>
              <a:t>methods</a:t>
            </a:r>
            <a:r>
              <a:rPr lang="en-US" altLang="en-US" dirty="0">
                <a:cs typeface="Times New Roman" pitchFamily="18" charset="0"/>
              </a:rPr>
              <a:t> are the operations.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</a:t>
            </a:r>
            <a:r>
              <a:rPr lang="en-US" altLang="en-US" sz="3200" dirty="0">
                <a:latin typeface="Courier New" pitchFamily="49" charset="0"/>
                <a:cs typeface="Times New Roman" pitchFamily="18" charset="0"/>
              </a:rPr>
              <a:t>Date</a:t>
            </a:r>
            <a:r>
              <a:rPr lang="en-US" altLang="en-US" sz="3200" dirty="0">
                <a:cs typeface="Times New Roman" pitchFamily="18" charset="0"/>
              </a:rPr>
              <a:t> data type 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93474" y="1600200"/>
            <a:ext cx="8798125" cy="4876800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+mj-lt"/>
                <a:cs typeface="Times New Roman" pitchFamily="18" charset="0"/>
              </a:rPr>
              <a:t>Could represent a Date in several ways (using 3 integers to represent y, m and d, say, or a single integer to represent the day-in-epoch (where 0 represents 1 Jan 2000)</a:t>
            </a:r>
          </a:p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dirty="0">
              <a:latin typeface="+mj-lt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+mj-lt"/>
                <a:cs typeface="Times New Roman" pitchFamily="18" charset="0"/>
              </a:rPr>
              <a:t>Good program practice: Application code should not</a:t>
            </a:r>
          </a:p>
          <a:p>
            <a:pPr lvl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+mj-lt"/>
                <a:cs typeface="Times New Roman" pitchFamily="18" charset="0"/>
              </a:rPr>
              <a:t>Admit improper values (an exception should be thrown)</a:t>
            </a:r>
          </a:p>
          <a:p>
            <a:pPr lvl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+mj-lt"/>
                <a:cs typeface="Times New Roman" pitchFamily="18" charset="0"/>
              </a:rPr>
              <a:t>Access the data representation (i.e. should use information hiding, keep instance variables private, use getters and setters)</a:t>
            </a:r>
          </a:p>
          <a:p>
            <a:pPr lvl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+mj-lt"/>
                <a:cs typeface="Times New Roman" pitchFamily="18" charset="0"/>
              </a:rPr>
              <a:t>Be aware of the data representation (we should be able to change the representation and not affect application code)</a:t>
            </a:r>
          </a:p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dirty="0">
              <a:latin typeface="+mj-lt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5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Abstract data types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 </a:t>
            </a:r>
            <a:r>
              <a:rPr lang="en-US" altLang="en-US" b="1">
                <a:cs typeface="Times New Roman" pitchFamily="18" charset="0"/>
              </a:rPr>
              <a:t>abstract data type</a:t>
            </a:r>
            <a:r>
              <a:rPr lang="en-US" altLang="en-US">
                <a:cs typeface="Times New Roman" pitchFamily="18" charset="0"/>
              </a:rPr>
              <a:t> (</a:t>
            </a:r>
            <a:r>
              <a:rPr lang="en-US" altLang="en-US" b="1">
                <a:cs typeface="Times New Roman" pitchFamily="18" charset="0"/>
              </a:rPr>
              <a:t>ADT</a:t>
            </a:r>
            <a:r>
              <a:rPr lang="en-US" altLang="en-US">
                <a:cs typeface="Times New Roman" pitchFamily="18" charset="0"/>
              </a:rPr>
              <a:t>) is characterized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set of </a:t>
            </a:r>
            <a:r>
              <a:rPr lang="en-US" altLang="en-US" b="1">
                <a:cs typeface="Times New Roman" pitchFamily="18" charset="0"/>
              </a:rPr>
              <a:t>values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set of </a:t>
            </a:r>
            <a:r>
              <a:rPr lang="en-US" altLang="en-US" b="1">
                <a:cs typeface="Times New Roman" pitchFamily="18" charset="0"/>
              </a:rPr>
              <a:t>operations</a:t>
            </a:r>
            <a:r>
              <a:rPr lang="en-US" altLang="en-US">
                <a:cs typeface="Times New Roman" pitchFamily="18" charset="0"/>
              </a:rPr>
              <a:t>.</a:t>
            </a:r>
          </a:p>
        </p:txBody>
      </p:sp>
      <p:sp>
        <p:nvSpPr>
          <p:cNvPr id="379908" name="AutoShape 4"/>
          <p:cNvSpPr>
            <a:spLocks/>
          </p:cNvSpPr>
          <p:nvPr/>
        </p:nvSpPr>
        <p:spPr bwMode="auto">
          <a:xfrm>
            <a:off x="5815136" y="2133600"/>
            <a:ext cx="1763713" cy="938212"/>
          </a:xfrm>
          <a:prstGeom prst="callout1">
            <a:avLst>
              <a:gd name="adj1" fmla="val 12181"/>
              <a:gd name="adj2" fmla="val -4319"/>
              <a:gd name="adj3" fmla="val 29611"/>
              <a:gd name="adj4" fmla="val -55356"/>
            </a:avLst>
          </a:prstGeom>
          <a:noFill/>
          <a:ln w="9525">
            <a:solidFill>
              <a:schemeClr val="accent1">
                <a:lumMod val="7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but is </a:t>
            </a:r>
            <a:r>
              <a:rPr lang="en-GB" altLang="en-US" sz="1800" b="1" dirty="0">
                <a:solidFill>
                  <a:schemeClr val="accent1">
                    <a:lumMod val="75000"/>
                  </a:schemeClr>
                </a:solidFill>
              </a:rPr>
              <a:t>not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characterized by its data representation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79909" name="Rectangle 5"/>
          <p:cNvSpPr>
            <a:spLocks noChangeArrowheads="1"/>
          </p:cNvSpPr>
          <p:nvPr/>
        </p:nvSpPr>
        <p:spPr bwMode="auto">
          <a:xfrm>
            <a:off x="457200" y="3512344"/>
            <a:ext cx="7092950" cy="271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Times New Roman" pitchFamily="18" charset="0"/>
              </a:rPr>
              <a:t>The data representation is </a:t>
            </a:r>
            <a:r>
              <a:rPr lang="en-US" altLang="en-US" sz="2000" i="1" dirty="0">
                <a:cs typeface="Times New Roman" pitchFamily="18" charset="0"/>
              </a:rPr>
              <a:t>private</a:t>
            </a:r>
            <a:r>
              <a:rPr lang="en-US" altLang="en-US" sz="2000" dirty="0">
                <a:cs typeface="Times New Roman" pitchFamily="18" charset="0"/>
              </a:rPr>
              <a:t>, so application code cannot access it. (Only the ADT’s operations can access it.)</a:t>
            </a:r>
          </a:p>
        </p:txBody>
      </p:sp>
      <p:sp>
        <p:nvSpPr>
          <p:cNvPr id="379910" name="Rectangle 6"/>
          <p:cNvSpPr>
            <a:spLocks noChangeArrowheads="1"/>
          </p:cNvSpPr>
          <p:nvPr/>
        </p:nvSpPr>
        <p:spPr bwMode="auto">
          <a:xfrm>
            <a:off x="485899" y="4784653"/>
            <a:ext cx="7092950" cy="145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Times New Roman" pitchFamily="18" charset="0"/>
              </a:rPr>
              <a:t>The data representation can be </a:t>
            </a:r>
            <a:r>
              <a:rPr lang="en-US" altLang="en-US" sz="2000" i="1" dirty="0">
                <a:cs typeface="Times New Roman" pitchFamily="18" charset="0"/>
              </a:rPr>
              <a:t>changed</a:t>
            </a:r>
            <a:r>
              <a:rPr lang="en-US" altLang="en-US" sz="2000" dirty="0">
                <a:cs typeface="Times New Roman" pitchFamily="18" charset="0"/>
              </a:rPr>
              <a:t>, with no effect on application code. (Only the ADT’s operations must be recoded.)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3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8" grpId="0" animBg="1" autoUpdateAnimBg="0"/>
      <p:bldP spid="379909" grpId="0"/>
      <p:bldP spid="3799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ADT specification </a:t>
            </a:r>
            <a:r>
              <a:rPr lang="en-US" altLang="en-US" sz="3200" i="1" dirty="0">
                <a:cs typeface="Times New Roman" pitchFamily="18" charset="0"/>
              </a:rPr>
              <a:t>(1)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7200900" cy="460851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Each ADT should have a </a:t>
            </a:r>
            <a:r>
              <a:rPr lang="en-US" altLang="en-US" b="1" dirty="0">
                <a:cs typeface="Times New Roman" pitchFamily="18" charset="0"/>
              </a:rPr>
              <a:t>contract</a:t>
            </a:r>
            <a:r>
              <a:rPr lang="en-US" altLang="en-US" dirty="0">
                <a:cs typeface="Times New Roman" pitchFamily="18" charset="0"/>
              </a:rPr>
              <a:t> that:</a:t>
            </a:r>
          </a:p>
          <a:p>
            <a:pPr lvl="1" eaLnBrk="1" hangingPunct="1">
              <a:lnSpc>
                <a:spcPct val="90000"/>
              </a:lnSpc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specifies the set of values of the ADT</a:t>
            </a:r>
          </a:p>
          <a:p>
            <a:pPr lvl="1" eaLnBrk="1" hangingPunct="1">
              <a:lnSpc>
                <a:spcPct val="90000"/>
              </a:lnSpc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specifies each operation of the ADT (its name, parameter type(s), result type, observable behavior).</a:t>
            </a:r>
          </a:p>
          <a:p>
            <a:pPr eaLnBrk="1" hangingPunct="1">
              <a:lnSpc>
                <a:spcPct val="90000"/>
              </a:lnSpc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The contract does </a:t>
            </a:r>
            <a:r>
              <a:rPr lang="en-US" altLang="en-US" i="1" dirty="0">
                <a:cs typeface="Times New Roman" pitchFamily="18" charset="0"/>
              </a:rPr>
              <a:t>not</a:t>
            </a:r>
            <a:r>
              <a:rPr lang="en-US" altLang="en-US" dirty="0">
                <a:cs typeface="Times New Roman" pitchFamily="18" charset="0"/>
              </a:rPr>
              <a:t> specify the data representation, nor how the operations are implemented.</a:t>
            </a:r>
          </a:p>
          <a:p>
            <a:pPr eaLnBrk="1" hangingPunct="1">
              <a:lnSpc>
                <a:spcPct val="90000"/>
              </a:lnSpc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b="1" dirty="0">
                <a:cs typeface="Times New Roman" pitchFamily="18" charset="0"/>
              </a:rPr>
              <a:t>observable behavior</a:t>
            </a:r>
            <a:r>
              <a:rPr lang="en-US" altLang="en-US" dirty="0">
                <a:cs typeface="Times New Roman" pitchFamily="18" charset="0"/>
              </a:rPr>
              <a:t> of an operation is its effect as ‘observed’ by the application code. E.g.:</a:t>
            </a:r>
          </a:p>
          <a:p>
            <a:pPr lvl="1" eaLnBrk="1" hangingPunct="1">
              <a:lnSpc>
                <a:spcPct val="90000"/>
              </a:lnSpc>
              <a:buFontTx/>
              <a:buNone/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Observable behavior:	sort an array</a:t>
            </a:r>
          </a:p>
          <a:p>
            <a:pPr lvl="1" eaLnBrk="1" hangingPunct="1">
              <a:lnSpc>
                <a:spcPct val="90000"/>
              </a:lnSpc>
              <a:buFontTx/>
              <a:buNone/>
              <a:tabLst>
                <a:tab pos="3944938" algn="l"/>
              </a:tabLst>
            </a:pPr>
            <a:r>
              <a:rPr lang="en-US" altLang="en-US" dirty="0">
                <a:cs typeface="Times New Roman" pitchFamily="18" charset="0"/>
              </a:rPr>
              <a:t>Algorithm with that behavior:	quick-sort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ADT specification </a:t>
            </a:r>
            <a:r>
              <a:rPr lang="en-US" altLang="en-US" sz="3200" i="1" dirty="0">
                <a:cs typeface="Times New Roman" pitchFamily="18" charset="0"/>
              </a:rPr>
              <a:t>(2)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 dirty="0">
                <a:cs typeface="Times New Roman" pitchFamily="18" charset="0"/>
              </a:rPr>
              <a:t>Separation of concerns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i="1" dirty="0">
                <a:cs typeface="Times New Roman" pitchFamily="18" charset="0"/>
              </a:rPr>
              <a:t>ADT programmer</a:t>
            </a:r>
            <a:r>
              <a:rPr lang="en-US" altLang="en-US" dirty="0">
                <a:cs typeface="Times New Roman" pitchFamily="18" charset="0"/>
              </a:rPr>
              <a:t> undertakes to provide an implementation of the ADT that respects the contract. This programmer is not concerned with what applications the ADT is used for.</a:t>
            </a:r>
          </a:p>
          <a:p>
            <a:pPr marL="274320" lvl="1" indent="0" eaLnBrk="1" hangingPunct="1">
              <a:buNone/>
            </a:pP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i="1" dirty="0">
                <a:cs typeface="Times New Roman" pitchFamily="18" charset="0"/>
              </a:rPr>
              <a:t>application programmer</a:t>
            </a:r>
            <a:r>
              <a:rPr lang="en-US" altLang="en-US" dirty="0">
                <a:cs typeface="Times New Roman" pitchFamily="18" charset="0"/>
              </a:rPr>
              <a:t> undertakes to process values of the ADT using only the operations specified in the contract. This programmer is not concerned with how the ADT is implemented.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Separation of concerns is essential for designing and implementing large systems.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1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ADT implementation</a:t>
            </a:r>
            <a:endParaRPr lang="en-GB" altLang="en-US" sz="32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An </a:t>
            </a:r>
            <a:r>
              <a:rPr lang="en-US" altLang="en-US" b="1"/>
              <a:t>implementation</a:t>
            </a:r>
            <a:r>
              <a:rPr lang="en-US" altLang="en-US"/>
              <a:t> of an ADT entails: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deciding a data representation (choosing a </a:t>
            </a:r>
            <a:r>
              <a:rPr lang="en-US" altLang="en-US" i="1"/>
              <a:t>data structure</a:t>
            </a:r>
            <a:r>
              <a:rPr lang="en-US" altLang="en-US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implementing each operation (choosing an </a:t>
            </a:r>
            <a:r>
              <a:rPr lang="en-US" altLang="en-US" i="1"/>
              <a:t>algorithm</a:t>
            </a:r>
            <a:r>
              <a:rPr lang="en-US" altLang="en-US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data representation must be private.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data representation must cover all proper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If the data representation also admits improper values, the operations must avoid generating them.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algorithms must be consistent with the data representation.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68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Collections </a:t>
            </a:r>
            <a:r>
              <a:rPr lang="en-US" altLang="en-US" sz="3200" i="1" dirty="0">
                <a:cs typeface="Times New Roman" pitchFamily="18" charset="0"/>
              </a:rPr>
              <a:t>(1)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7200900" cy="3657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collection</a:t>
            </a:r>
            <a:r>
              <a:rPr lang="en-US" altLang="en-US" dirty="0">
                <a:cs typeface="Times New Roman" pitchFamily="18" charset="0"/>
              </a:rPr>
              <a:t> is a group of </a:t>
            </a:r>
            <a:r>
              <a:rPr lang="en-US" altLang="en-US" i="1" dirty="0">
                <a:cs typeface="Times New Roman" pitchFamily="18" charset="0"/>
              </a:rPr>
              <a:t>elements</a:t>
            </a:r>
            <a:r>
              <a:rPr lang="en-US" altLang="en-US" dirty="0">
                <a:cs typeface="Times New Roman" pitchFamily="18" charset="0"/>
              </a:rPr>
              <a:t>. E.g.: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stack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queue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list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set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map.</a:t>
            </a:r>
            <a:endParaRPr lang="en-US" altLang="en-US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A collection is </a:t>
            </a:r>
            <a:r>
              <a:rPr lang="en-GB" altLang="en-US" b="1" dirty="0">
                <a:cs typeface="Times New Roman" pitchFamily="18" charset="0"/>
              </a:rPr>
              <a:t>empty</a:t>
            </a:r>
            <a:r>
              <a:rPr lang="en-GB" altLang="en-US" dirty="0">
                <a:cs typeface="Times New Roman" pitchFamily="18" charset="0"/>
              </a:rPr>
              <a:t> if it contains no elements.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The </a:t>
            </a:r>
            <a:r>
              <a:rPr lang="en-GB" altLang="en-US" b="1" dirty="0">
                <a:cs typeface="Times New Roman" pitchFamily="18" charset="0"/>
              </a:rPr>
              <a:t>size</a:t>
            </a:r>
            <a:r>
              <a:rPr lang="en-GB" altLang="en-US" dirty="0">
                <a:cs typeface="Times New Roman" pitchFamily="18" charset="0"/>
              </a:rPr>
              <a:t> of a collection is the number of elements it contains. (The size may vary.)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>
                <a:cs typeface="Times New Roman" pitchFamily="18" charset="0"/>
              </a:rPr>
              <a:t>A collection is </a:t>
            </a:r>
            <a:r>
              <a:rPr lang="en-GB" altLang="en-US" b="1" dirty="0">
                <a:cs typeface="Times New Roman" pitchFamily="18" charset="0"/>
              </a:rPr>
              <a:t>bounded</a:t>
            </a:r>
            <a:r>
              <a:rPr lang="en-GB" altLang="en-US" dirty="0">
                <a:cs typeface="Times New Roman" pitchFamily="18" charset="0"/>
              </a:rPr>
              <a:t> if its size is capped.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Collections </a:t>
            </a:r>
            <a:r>
              <a:rPr lang="en-US" altLang="en-US" sz="3200" i="1" dirty="0">
                <a:cs typeface="Times New Roman" pitchFamily="18" charset="0"/>
              </a:rPr>
              <a:t>(2)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200900" cy="46085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 collection is </a:t>
            </a:r>
            <a:r>
              <a:rPr lang="en-US" altLang="en-US" b="1" dirty="0">
                <a:cs typeface="Times New Roman" pitchFamily="18" charset="0"/>
              </a:rPr>
              <a:t>heterogeneous</a:t>
            </a:r>
            <a:r>
              <a:rPr lang="en-US" altLang="en-US" dirty="0">
                <a:cs typeface="Times New Roman" pitchFamily="18" charset="0"/>
              </a:rPr>
              <a:t> if its elements may be of different types.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 collection is </a:t>
            </a:r>
            <a:r>
              <a:rPr lang="en-US" altLang="en-US" b="1" dirty="0">
                <a:cs typeface="Times New Roman" pitchFamily="18" charset="0"/>
              </a:rPr>
              <a:t>homogeneous</a:t>
            </a:r>
            <a:r>
              <a:rPr lang="en-US" altLang="en-US" dirty="0">
                <a:cs typeface="Times New Roman" pitchFamily="18" charset="0"/>
              </a:rPr>
              <a:t> if its elements are all of the same type.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Java: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heterogeneous collection is implemented by an ordinary class, with elements of type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Object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homogeneous collection is implemented by a </a:t>
            </a:r>
            <a:r>
              <a:rPr lang="en-US" altLang="en-US" i="1" dirty="0">
                <a:cs typeface="Times New Roman" pitchFamily="18" charset="0"/>
              </a:rPr>
              <a:t>generic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class</a:t>
            </a:r>
            <a:r>
              <a:rPr lang="en-US" altLang="en-US" dirty="0">
                <a:cs typeface="Times New Roman" pitchFamily="18" charset="0"/>
              </a:rPr>
              <a:t>, with elements of type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dirty="0">
                <a:cs typeface="Times New Roman" pitchFamily="18" charset="0"/>
              </a:rPr>
              <a:t> (where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dirty="0">
                <a:cs typeface="Times New Roman" pitchFamily="18" charset="0"/>
              </a:rPr>
              <a:t> is the generic class’s type parameter) or possibly elements consisting of multiple types (like Pair&lt;K,V&gt;), but all elements have the same multiple type.</a:t>
            </a:r>
          </a:p>
          <a:p>
            <a:pPr lvl="1" eaLnBrk="1" hangingPunct="1"/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0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cs typeface="Times New Roman" pitchFamily="18" charset="0"/>
              </a:rPr>
              <a:t>Linking ADTs and Collections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200900" cy="46482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We will be designing ADTs for various collections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Will be building our own versions (although often Java has its own version(s))</a:t>
            </a:r>
          </a:p>
          <a:p>
            <a:pPr lvl="1"/>
            <a:r>
              <a:rPr lang="en-US" altLang="en-US" dirty="0">
                <a:cs typeface="Times New Roman" pitchFamily="18" charset="0"/>
              </a:rPr>
              <a:t>Allows us to see in detail how different implementations work</a:t>
            </a:r>
          </a:p>
          <a:p>
            <a:pPr lvl="1"/>
            <a:r>
              <a:rPr lang="en-US" altLang="en-US" dirty="0">
                <a:cs typeface="Times New Roman" pitchFamily="18" charset="0"/>
              </a:rPr>
              <a:t>Pros and cons of each implementation (in terms of complexity of operations)</a:t>
            </a:r>
          </a:p>
          <a:p>
            <a:pPr lvl="1"/>
            <a:r>
              <a:rPr lang="en-US" altLang="en-US" dirty="0">
                <a:cs typeface="Times New Roman" pitchFamily="18" charset="0"/>
              </a:rPr>
              <a:t>In each case we will:</a:t>
            </a:r>
          </a:p>
          <a:p>
            <a:pPr lvl="2"/>
            <a:r>
              <a:rPr lang="en-US" altLang="en-US" dirty="0">
                <a:cs typeface="Times New Roman" pitchFamily="18" charset="0"/>
              </a:rPr>
              <a:t> create ADT contract using Java interface</a:t>
            </a:r>
          </a:p>
          <a:p>
            <a:pPr lvl="2"/>
            <a:r>
              <a:rPr lang="en-US" altLang="en-US" dirty="0">
                <a:cs typeface="Times New Roman" pitchFamily="18" charset="0"/>
              </a:rPr>
              <a:t> look at implementations using different data structures</a:t>
            </a:r>
          </a:p>
          <a:p>
            <a:pPr lvl="2"/>
            <a:r>
              <a:rPr lang="en-US" altLang="en-US" dirty="0">
                <a:cs typeface="Times New Roman" pitchFamily="18" charset="0"/>
              </a:rPr>
              <a:t> compare the complexity of different operations for different  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 implementations</a:t>
            </a:r>
          </a:p>
          <a:p>
            <a:pPr lvl="1" eaLnBrk="1" hangingPunct="1"/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0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cs typeface="Times New Roman" pitchFamily="18" charset="0"/>
              </a:rPr>
              <a:t>Collection ADTs </a:t>
            </a:r>
            <a:r>
              <a:rPr lang="en-US" altLang="en-US" sz="3200" dirty="0">
                <a:cs typeface="Times New Roman" pitchFamily="18" charset="0"/>
              </a:rPr>
              <a:t>in the Java class library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71600"/>
            <a:ext cx="7200900" cy="27432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Class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java.util.Stack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supports stacks.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Interface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java.util.Queue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supports queues.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Interface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java.util.List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supports lists.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Interface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java.util.Set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supports sets.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Packages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java.awt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java.io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</a:t>
            </a:r>
            <a:r>
              <a:rPr lang="en-US" altLang="en-US" dirty="0">
                <a:cs typeface="Times New Roman" pitchFamily="18" charset="0"/>
              </a:rPr>
              <a:t>, etc., support many other ADTs.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4648200"/>
            <a:ext cx="80010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We’ll come back to these to compare them to our own implementations for each ADT we consider</a:t>
            </a:r>
          </a:p>
        </p:txBody>
      </p:sp>
    </p:spTree>
    <p:extLst>
      <p:ext uri="{BB962C8B-B14F-4D97-AF65-F5344CB8AC3E}">
        <p14:creationId xmlns:p14="http://schemas.microsoft.com/office/powerpoint/2010/main" val="238833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cs typeface="Times New Roman" pitchFamily="18" charset="0"/>
              </a:rPr>
              <a:t>Some examples to look at on Moodle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7924800" cy="2743200"/>
          </a:xfrm>
          <a:noFill/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Date  </a:t>
            </a:r>
            <a:r>
              <a:rPr lang="en-US" altLang="en-US">
                <a:cs typeface="Times New Roman" pitchFamily="18" charset="0"/>
              </a:rPr>
              <a:t>  -  example implementation of a Date class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Pair</a:t>
            </a:r>
            <a:r>
              <a:rPr lang="en-US" altLang="en-US">
                <a:cs typeface="Times New Roman" pitchFamily="18" charset="0"/>
              </a:rPr>
              <a:t> – interface for homogeneous pair (a simple collection)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Pair1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Pair2</a:t>
            </a:r>
            <a:r>
              <a:rPr lang="en-US" altLang="en-US">
                <a:cs typeface="Times New Roman" pitchFamily="18" charset="0"/>
              </a:rPr>
              <a:t> – two implementations of Pair ADT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lang="en-US" altLang="en-US">
                <a:cs typeface="Times New Roman" pitchFamily="18" charset="0"/>
              </a:rPr>
              <a:t> – used for testing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TestPair</a:t>
            </a:r>
            <a:r>
              <a:rPr lang="en-US" altLang="en-US">
                <a:cs typeface="Times New Roman" pitchFamily="18" charset="0"/>
              </a:rPr>
              <a:t> – used to test the Pair implementations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87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853</TotalTime>
  <Words>1020</Words>
  <Application>Microsoft Macintosh PowerPoint</Application>
  <PresentationFormat>On-screen Show (4:3)</PresentationFormat>
  <Paragraphs>113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Wingdings</vt:lpstr>
      <vt:lpstr>Clarity</vt:lpstr>
      <vt:lpstr> 5.  Abstract Data Types and Collections</vt:lpstr>
      <vt:lpstr>Data types</vt:lpstr>
      <vt:lpstr>Introducing new data types</vt:lpstr>
      <vt:lpstr>Example: Date data type </vt:lpstr>
      <vt:lpstr>Abstract data types</vt:lpstr>
      <vt:lpstr>ADT specification (1)</vt:lpstr>
      <vt:lpstr>ADT specification (2)</vt:lpstr>
      <vt:lpstr>ADT implementation</vt:lpstr>
      <vt:lpstr>Collections (1)</vt:lpstr>
      <vt:lpstr>Collections (2)</vt:lpstr>
      <vt:lpstr>Linking ADTs and Collections</vt:lpstr>
      <vt:lpstr>Collection ADTs in the Java class library</vt:lpstr>
      <vt:lpstr>Some examples to look at on Moodle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 Abstract Data Types</dc:title>
  <dc:creator>Alice</dc:creator>
  <cp:lastModifiedBy>Alice Miller</cp:lastModifiedBy>
  <cp:revision>41</cp:revision>
  <dcterms:created xsi:type="dcterms:W3CDTF">2006-08-16T00:00:00Z</dcterms:created>
  <dcterms:modified xsi:type="dcterms:W3CDTF">2021-04-06T13:12:18Z</dcterms:modified>
</cp:coreProperties>
</file>