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8"/>
  </p:notesMasterIdLst>
  <p:sldIdLst>
    <p:sldId id="256" r:id="rId2"/>
    <p:sldId id="257" r:id="rId3"/>
    <p:sldId id="258" r:id="rId4"/>
    <p:sldId id="259" r:id="rId5"/>
    <p:sldId id="260" r:id="rId6"/>
    <p:sldId id="261" r:id="rId7"/>
    <p:sldId id="262" r:id="rId8"/>
    <p:sldId id="314" r:id="rId9"/>
    <p:sldId id="313" r:id="rId10"/>
    <p:sldId id="263" r:id="rId11"/>
    <p:sldId id="264" r:id="rId12"/>
    <p:sldId id="265" r:id="rId13"/>
    <p:sldId id="266" r:id="rId14"/>
    <p:sldId id="267" r:id="rId15"/>
    <p:sldId id="268" r:id="rId16"/>
    <p:sldId id="269" r:id="rId17"/>
    <p:sldId id="312" r:id="rId18"/>
    <p:sldId id="271" r:id="rId19"/>
    <p:sldId id="272" r:id="rId20"/>
    <p:sldId id="273" r:id="rId21"/>
    <p:sldId id="274" r:id="rId22"/>
    <p:sldId id="275" r:id="rId23"/>
    <p:sldId id="276" r:id="rId24"/>
    <p:sldId id="277" r:id="rId25"/>
    <p:sldId id="278" r:id="rId26"/>
    <p:sldId id="27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8080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94" autoAdjust="0"/>
  </p:normalViewPr>
  <p:slideViewPr>
    <p:cSldViewPr>
      <p:cViewPr varScale="1">
        <p:scale>
          <a:sx n="78" d="100"/>
          <a:sy n="78" d="100"/>
        </p:scale>
        <p:origin x="1594" y="58"/>
      </p:cViewPr>
      <p:guideLst>
        <p:guide orient="horz" pos="2160"/>
        <p:guide pos="2880"/>
      </p:guideLst>
    </p:cSldViewPr>
  </p:slideViewPr>
  <p:outlineViewPr>
    <p:cViewPr>
      <p:scale>
        <a:sx n="33" d="100"/>
        <a:sy n="33" d="100"/>
      </p:scale>
      <p:origin x="48" y="74886"/>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F2587D-3D73-42C0-A887-52FE71FEC1E6}" type="datetimeFigureOut">
              <a:rPr lang="en-GB" smtClean="0"/>
              <a:t>24/01/2025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616B0D-BED5-4DBD-B1C9-D5ED699C433F}" type="slidenum">
              <a:rPr lang="en-GB" smtClean="0"/>
              <a:t>‹#›</a:t>
            </a:fld>
            <a:endParaRPr lang="en-GB"/>
          </a:p>
        </p:txBody>
      </p:sp>
    </p:spTree>
    <p:extLst>
      <p:ext uri="{BB962C8B-B14F-4D97-AF65-F5344CB8AC3E}">
        <p14:creationId xmlns:p14="http://schemas.microsoft.com/office/powerpoint/2010/main" val="258224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6675" y="188913"/>
            <a:ext cx="6142038" cy="7191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1547813" y="1700213"/>
            <a:ext cx="3522662" cy="462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222875" y="1700213"/>
            <a:ext cx="3522663" cy="462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5115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docs.oracle.com/javase/8/docs/api/"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295400"/>
            <a:ext cx="8280400" cy="736600"/>
          </a:xfrm>
        </p:spPr>
        <p:txBody>
          <a:bodyPr/>
          <a:lstStyle/>
          <a:p>
            <a:pPr algn="ctr" eaLnBrk="1" hangingPunct="1"/>
            <a:br>
              <a:rPr lang="en-GB" altLang="en-US" sz="3600">
                <a:solidFill>
                  <a:schemeClr val="folHlink"/>
                </a:solidFill>
              </a:rPr>
            </a:br>
            <a:r>
              <a:rPr lang="en-GB" altLang="en-US" sz="3600">
                <a:solidFill>
                  <a:schemeClr val="folHlink"/>
                </a:solidFill>
              </a:rPr>
              <a:t>3.1. Array </a:t>
            </a:r>
            <a:r>
              <a:rPr lang="en-GB" altLang="en-US" sz="3600" dirty="0">
                <a:solidFill>
                  <a:schemeClr val="folHlink"/>
                </a:solidFill>
              </a:rPr>
              <a:t>Data Structure</a:t>
            </a:r>
          </a:p>
        </p:txBody>
      </p:sp>
      <p:sp>
        <p:nvSpPr>
          <p:cNvPr id="3075" name="Rectangle 3"/>
          <p:cNvSpPr>
            <a:spLocks noGrp="1" noChangeArrowheads="1"/>
          </p:cNvSpPr>
          <p:nvPr>
            <p:ph type="subTitle" idx="1"/>
          </p:nvPr>
        </p:nvSpPr>
        <p:spPr>
          <a:xfrm>
            <a:off x="661987" y="3657600"/>
            <a:ext cx="7454900" cy="3635375"/>
          </a:xfrm>
        </p:spPr>
        <p:txBody>
          <a:bodyPr/>
          <a:lstStyle/>
          <a:p>
            <a:pPr marL="360363" indent="-360363" eaLnBrk="1" hangingPunct="1">
              <a:buClr>
                <a:schemeClr val="bg1"/>
              </a:buClr>
              <a:buFont typeface="Wingdings" pitchFamily="2" charset="2"/>
              <a:buChar char="§"/>
            </a:pPr>
            <a:r>
              <a:rPr lang="en-US" altLang="en-US" sz="2400" dirty="0">
                <a:solidFill>
                  <a:schemeClr val="tx2"/>
                </a:solidFill>
              </a:rPr>
              <a:t>Properties</a:t>
            </a:r>
          </a:p>
          <a:p>
            <a:pPr marL="360363" indent="-360363" eaLnBrk="1" hangingPunct="1">
              <a:buClr>
                <a:schemeClr val="bg1"/>
              </a:buClr>
              <a:buFont typeface="Wingdings" pitchFamily="2" charset="2"/>
              <a:buChar char="§"/>
            </a:pPr>
            <a:r>
              <a:rPr lang="en-US" altLang="en-US" sz="2400" dirty="0">
                <a:solidFill>
                  <a:schemeClr val="tx2"/>
                </a:solidFill>
              </a:rPr>
              <a:t>Insertion</a:t>
            </a:r>
          </a:p>
          <a:p>
            <a:pPr marL="360363" indent="-360363" eaLnBrk="1" hangingPunct="1">
              <a:buClr>
                <a:schemeClr val="bg1"/>
              </a:buClr>
              <a:buFont typeface="Wingdings" pitchFamily="2" charset="2"/>
              <a:buChar char="§"/>
            </a:pPr>
            <a:r>
              <a:rPr lang="en-US" altLang="en-US" sz="2400" dirty="0">
                <a:solidFill>
                  <a:schemeClr val="tx2"/>
                </a:solidFill>
              </a:rPr>
              <a:t>Deletion</a:t>
            </a:r>
          </a:p>
          <a:p>
            <a:pPr marL="360363" indent="-360363" eaLnBrk="1" hangingPunct="1">
              <a:buClr>
                <a:schemeClr val="bg1"/>
              </a:buClr>
              <a:buFont typeface="Wingdings" pitchFamily="2" charset="2"/>
              <a:buChar char="§"/>
            </a:pPr>
            <a:r>
              <a:rPr lang="en-US" altLang="en-US" sz="2400" dirty="0">
                <a:solidFill>
                  <a:schemeClr val="tx2"/>
                </a:solidFill>
              </a:rPr>
              <a:t>Searching: linear search, binary search</a:t>
            </a:r>
          </a:p>
          <a:p>
            <a:pPr marL="360363" indent="-360363" eaLnBrk="1" hangingPunct="1">
              <a:buClr>
                <a:schemeClr val="bg1"/>
              </a:buClr>
              <a:buFont typeface="Wingdings" pitchFamily="2" charset="2"/>
              <a:buChar char="§"/>
            </a:pPr>
            <a:r>
              <a:rPr lang="en-US" altLang="en-US" sz="2400" dirty="0"/>
              <a:t>Merging</a:t>
            </a:r>
          </a:p>
          <a:p>
            <a:pPr marL="360363" indent="-360363" eaLnBrk="1" hangingPunct="1">
              <a:buClr>
                <a:schemeClr val="bg1"/>
              </a:buClr>
              <a:buFont typeface="Wingdings" pitchFamily="2" charset="2"/>
              <a:buChar char="§"/>
            </a:pPr>
            <a:r>
              <a:rPr lang="en-US" altLang="en-US" sz="2400" dirty="0"/>
              <a:t>Sorting: selection sort, merge-sort, quick-sort</a:t>
            </a:r>
            <a:endParaRPr lang="en-GB" altLang="en-US" sz="2400" dirty="0"/>
          </a:p>
        </p:txBody>
      </p:sp>
      <p:sp>
        <p:nvSpPr>
          <p:cNvPr id="3076" name="Rectangle 5"/>
          <p:cNvSpPr>
            <a:spLocks noChangeArrowheads="1"/>
          </p:cNvSpPr>
          <p:nvPr/>
        </p:nvSpPr>
        <p:spPr bwMode="auto">
          <a:xfrm>
            <a:off x="1908175" y="6380163"/>
            <a:ext cx="52562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eaLnBrk="1" hangingPunct="1">
              <a:buFont typeface="Wingdings" pitchFamily="2" charset="2"/>
              <a:buNone/>
            </a:pPr>
            <a:r>
              <a:rPr lang="en-GB" altLang="en-US" sz="2000">
                <a:solidFill>
                  <a:schemeClr val="bg1"/>
                </a:solidFill>
                <a:cs typeface="Arial" charset="0"/>
              </a:rPr>
              <a:t>© 2008 David A Watt, University of Glasgow</a:t>
            </a:r>
          </a:p>
        </p:txBody>
      </p:sp>
      <p:sp>
        <p:nvSpPr>
          <p:cNvPr id="3077" name="Rectangle 6"/>
          <p:cNvSpPr>
            <a:spLocks noChangeArrowheads="1"/>
          </p:cNvSpPr>
          <p:nvPr/>
        </p:nvSpPr>
        <p:spPr bwMode="auto">
          <a:xfrm>
            <a:off x="2057400" y="536020"/>
            <a:ext cx="3925887" cy="431800"/>
          </a:xfrm>
          <a:prstGeom prst="rect">
            <a:avLst/>
          </a:prstGeom>
          <a:noFill/>
          <a:ln>
            <a:noFill/>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eaLnBrk="1" hangingPunct="1">
              <a:buFont typeface="Wingdings" pitchFamily="2" charset="2"/>
              <a:buNone/>
            </a:pPr>
            <a:r>
              <a:rPr lang="en-GB" altLang="en-US" sz="2000" dirty="0">
                <a:solidFill>
                  <a:schemeClr val="tx2"/>
                </a:solidFill>
                <a:cs typeface="Arial" charset="0"/>
              </a:rPr>
              <a:t>Algorithms &amp; Data Structures (M)</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1183481" y="6380163"/>
            <a:ext cx="6705600" cy="369332"/>
          </a:xfrm>
          <a:prstGeom prst="rect">
            <a:avLst/>
          </a:prstGeom>
          <a:noFill/>
          <a:ln>
            <a:solidFill>
              <a:schemeClr val="tx2"/>
            </a:solidFill>
          </a:ln>
        </p:spPr>
        <p:txBody>
          <a:bodyPr wrap="square" rtlCol="0">
            <a:spAutoFit/>
          </a:bodyPr>
          <a:lstStyle/>
          <a:p>
            <a:r>
              <a:rPr lang="en-GB"/>
              <a:t>You’ve seen arrays in ProgIT, week 4 and lecture 2 week 9</a:t>
            </a:r>
          </a:p>
        </p:txBody>
      </p:sp>
    </p:spTree>
    <p:extLst>
      <p:ext uri="{BB962C8B-B14F-4D97-AF65-F5344CB8AC3E}">
        <p14:creationId xmlns:p14="http://schemas.microsoft.com/office/powerpoint/2010/main" val="3397794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3200" dirty="0"/>
              <a:t>Properties </a:t>
            </a:r>
            <a:r>
              <a:rPr lang="en-US" altLang="en-US" sz="3200" i="1" dirty="0"/>
              <a:t>(1)</a:t>
            </a:r>
            <a:endParaRPr lang="en-GB" altLang="en-US" sz="3200" dirty="0"/>
          </a:p>
        </p:txBody>
      </p:sp>
      <p:sp>
        <p:nvSpPr>
          <p:cNvPr id="4099" name="Rectangle 3"/>
          <p:cNvSpPr>
            <a:spLocks noGrp="1" noChangeArrowheads="1"/>
          </p:cNvSpPr>
          <p:nvPr>
            <p:ph idx="1"/>
          </p:nvPr>
        </p:nvSpPr>
        <p:spPr>
          <a:noFill/>
        </p:spPr>
        <p:txBody>
          <a:bodyPr/>
          <a:lstStyle/>
          <a:p>
            <a:pPr eaLnBrk="1" hangingPunct="1"/>
            <a:r>
              <a:rPr lang="en-US" altLang="en-US" dirty="0"/>
              <a:t>An </a:t>
            </a:r>
            <a:r>
              <a:rPr lang="en-US" altLang="en-US" b="1" dirty="0"/>
              <a:t>array</a:t>
            </a:r>
            <a:r>
              <a:rPr lang="en-US" altLang="en-US" dirty="0"/>
              <a:t> is a sequence of </a:t>
            </a:r>
            <a:r>
              <a:rPr lang="en-US" altLang="en-US" b="1" dirty="0"/>
              <a:t>slots</a:t>
            </a:r>
            <a:r>
              <a:rPr lang="en-US" altLang="en-US" dirty="0"/>
              <a:t>. Each slot contains an </a:t>
            </a:r>
            <a:r>
              <a:rPr lang="en-US" altLang="en-US" b="1" dirty="0"/>
              <a:t>element</a:t>
            </a:r>
            <a:r>
              <a:rPr lang="en-US" altLang="en-US" dirty="0"/>
              <a:t> (value or object). </a:t>
            </a:r>
          </a:p>
          <a:p>
            <a:pPr eaLnBrk="1" hangingPunct="1"/>
            <a:r>
              <a:rPr lang="en-US" altLang="en-US" dirty="0"/>
              <a:t>Each slot has a fixed </a:t>
            </a:r>
            <a:r>
              <a:rPr lang="en-US" altLang="en-US" b="1" dirty="0"/>
              <a:t>index</a:t>
            </a:r>
            <a:r>
              <a:rPr lang="en-US" altLang="en-US" dirty="0"/>
              <a:t>. The indices are consecutive integers.</a:t>
            </a:r>
          </a:p>
        </p:txBody>
      </p:sp>
      <p:sp>
        <p:nvSpPr>
          <p:cNvPr id="305156" name="AutoShape 4"/>
          <p:cNvSpPr>
            <a:spLocks/>
          </p:cNvSpPr>
          <p:nvPr/>
        </p:nvSpPr>
        <p:spPr bwMode="auto">
          <a:xfrm>
            <a:off x="7141627" y="3813361"/>
            <a:ext cx="755650" cy="212725"/>
          </a:xfrm>
          <a:prstGeom prst="callout1">
            <a:avLst>
              <a:gd name="adj1" fmla="val 53731"/>
              <a:gd name="adj2" fmla="val -10083"/>
              <a:gd name="adj3" fmla="val 53731"/>
              <a:gd name="adj4" fmla="val -49403"/>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dirty="0">
                <a:solidFill>
                  <a:schemeClr val="accent1">
                    <a:lumMod val="50000"/>
                  </a:schemeClr>
                </a:solidFill>
              </a:rPr>
              <a:t>indices</a:t>
            </a:r>
          </a:p>
        </p:txBody>
      </p:sp>
      <p:grpSp>
        <p:nvGrpSpPr>
          <p:cNvPr id="2" name="Group 37"/>
          <p:cNvGrpSpPr>
            <a:grpSpLocks/>
          </p:cNvGrpSpPr>
          <p:nvPr/>
        </p:nvGrpSpPr>
        <p:grpSpPr bwMode="auto">
          <a:xfrm>
            <a:off x="914400" y="3771107"/>
            <a:ext cx="5745163" cy="747712"/>
            <a:chOff x="1202" y="2251"/>
            <a:chExt cx="3619" cy="471"/>
          </a:xfrm>
        </p:grpSpPr>
        <p:sp>
          <p:nvSpPr>
            <p:cNvPr id="4105" name="Rectangle 7"/>
            <p:cNvSpPr>
              <a:spLocks noChangeArrowheads="1"/>
            </p:cNvSpPr>
            <p:nvPr/>
          </p:nvSpPr>
          <p:spPr bwMode="auto">
            <a:xfrm>
              <a:off x="1922" y="226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low</a:t>
              </a:r>
              <a:r>
                <a:rPr lang="en-US" altLang="en-US" sz="1800">
                  <a:solidFill>
                    <a:srgbClr val="000000"/>
                  </a:solidFill>
                </a:rPr>
                <a:t>+1</a:t>
              </a:r>
            </a:p>
          </p:txBody>
        </p:sp>
        <p:sp>
          <p:nvSpPr>
            <p:cNvPr id="4106" name="Rectangle 8"/>
            <p:cNvSpPr>
              <a:spLocks noChangeArrowheads="1"/>
            </p:cNvSpPr>
            <p:nvPr/>
          </p:nvSpPr>
          <p:spPr bwMode="auto">
            <a:xfrm>
              <a:off x="1202" y="2444"/>
              <a:ext cx="20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07" name="Rectangle 9"/>
            <p:cNvSpPr>
              <a:spLocks noChangeArrowheads="1"/>
            </p:cNvSpPr>
            <p:nvPr/>
          </p:nvSpPr>
          <p:spPr bwMode="auto">
            <a:xfrm>
              <a:off x="1292" y="2444"/>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4108" name="Rectangle 10"/>
            <p:cNvSpPr>
              <a:spLocks noChangeArrowheads="1"/>
            </p:cNvSpPr>
            <p:nvPr/>
          </p:nvSpPr>
          <p:spPr bwMode="auto">
            <a:xfrm>
              <a:off x="144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09" name="Rectangle 11"/>
            <p:cNvSpPr>
              <a:spLocks noChangeArrowheads="1"/>
            </p:cNvSpPr>
            <p:nvPr/>
          </p:nvSpPr>
          <p:spPr bwMode="auto">
            <a:xfrm>
              <a:off x="192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0" name="Rectangle 12"/>
            <p:cNvSpPr>
              <a:spLocks noChangeArrowheads="1"/>
            </p:cNvSpPr>
            <p:nvPr/>
          </p:nvSpPr>
          <p:spPr bwMode="auto">
            <a:xfrm>
              <a:off x="240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1" name="Rectangle 13"/>
            <p:cNvSpPr>
              <a:spLocks noChangeArrowheads="1"/>
            </p:cNvSpPr>
            <p:nvPr/>
          </p:nvSpPr>
          <p:spPr bwMode="auto">
            <a:xfrm>
              <a:off x="288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2" name="Rectangle 14"/>
            <p:cNvSpPr>
              <a:spLocks noChangeArrowheads="1"/>
            </p:cNvSpPr>
            <p:nvPr/>
          </p:nvSpPr>
          <p:spPr bwMode="auto">
            <a:xfrm>
              <a:off x="336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3" name="Rectangle 15"/>
            <p:cNvSpPr>
              <a:spLocks noChangeArrowheads="1"/>
            </p:cNvSpPr>
            <p:nvPr/>
          </p:nvSpPr>
          <p:spPr bwMode="auto">
            <a:xfrm>
              <a:off x="384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4" name="Rectangle 16"/>
            <p:cNvSpPr>
              <a:spLocks noChangeArrowheads="1"/>
            </p:cNvSpPr>
            <p:nvPr/>
          </p:nvSpPr>
          <p:spPr bwMode="auto">
            <a:xfrm>
              <a:off x="4322"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115" name="Rectangle 17"/>
            <p:cNvSpPr>
              <a:spLocks noChangeArrowheads="1"/>
            </p:cNvSpPr>
            <p:nvPr/>
          </p:nvSpPr>
          <p:spPr bwMode="auto">
            <a:xfrm>
              <a:off x="2402"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low</a:t>
              </a:r>
              <a:r>
                <a:rPr lang="en-US" altLang="en-US" sz="1800">
                  <a:solidFill>
                    <a:srgbClr val="000000"/>
                  </a:solidFill>
                </a:rPr>
                <a:t>+2</a:t>
              </a:r>
            </a:p>
          </p:txBody>
        </p:sp>
        <p:sp>
          <p:nvSpPr>
            <p:cNvPr id="4116" name="Rectangle 18"/>
            <p:cNvSpPr>
              <a:spLocks noChangeArrowheads="1"/>
            </p:cNvSpPr>
            <p:nvPr/>
          </p:nvSpPr>
          <p:spPr bwMode="auto">
            <a:xfrm>
              <a:off x="3842"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high</a:t>
              </a:r>
              <a:r>
                <a:rPr lang="en-US" altLang="en-US" sz="1800">
                  <a:solidFill>
                    <a:srgbClr val="000000"/>
                  </a:solidFill>
                  <a:cs typeface="Times New Roman" pitchFamily="18" charset="0"/>
                </a:rPr>
                <a:t>–</a:t>
              </a:r>
              <a:r>
                <a:rPr lang="en-US" altLang="en-US" sz="1800">
                  <a:solidFill>
                    <a:srgbClr val="000000"/>
                  </a:solidFill>
                </a:rPr>
                <a:t>1</a:t>
              </a:r>
            </a:p>
          </p:txBody>
        </p:sp>
        <p:sp>
          <p:nvSpPr>
            <p:cNvPr id="4117" name="Rectangle 19"/>
            <p:cNvSpPr>
              <a:spLocks noChangeArrowheads="1"/>
            </p:cNvSpPr>
            <p:nvPr/>
          </p:nvSpPr>
          <p:spPr bwMode="auto">
            <a:xfrm>
              <a:off x="4322"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high</a:t>
              </a:r>
              <a:endParaRPr lang="en-US" altLang="en-US" sz="1800">
                <a:solidFill>
                  <a:srgbClr val="000000"/>
                </a:solidFill>
              </a:endParaRPr>
            </a:p>
          </p:txBody>
        </p:sp>
        <p:sp>
          <p:nvSpPr>
            <p:cNvPr id="4118" name="Rectangle 20"/>
            <p:cNvSpPr>
              <a:spLocks noChangeArrowheads="1"/>
            </p:cNvSpPr>
            <p:nvPr/>
          </p:nvSpPr>
          <p:spPr bwMode="auto">
            <a:xfrm>
              <a:off x="1442" y="226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low</a:t>
              </a:r>
              <a:endParaRPr lang="en-US" altLang="en-US" sz="1800">
                <a:solidFill>
                  <a:srgbClr val="000000"/>
                </a:solidFill>
              </a:endParaRPr>
            </a:p>
          </p:txBody>
        </p:sp>
        <p:sp>
          <p:nvSpPr>
            <p:cNvPr id="4119" name="Rectangle 21"/>
            <p:cNvSpPr>
              <a:spLocks noChangeArrowheads="1"/>
            </p:cNvSpPr>
            <p:nvPr/>
          </p:nvSpPr>
          <p:spPr bwMode="auto">
            <a:xfrm>
              <a:off x="3362" y="226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high</a:t>
              </a:r>
              <a:r>
                <a:rPr lang="en-US" altLang="en-US" sz="1800">
                  <a:solidFill>
                    <a:srgbClr val="000000"/>
                  </a:solidFill>
                  <a:cs typeface="Times New Roman" pitchFamily="18" charset="0"/>
                </a:rPr>
                <a:t>–</a:t>
              </a:r>
              <a:r>
                <a:rPr lang="en-US" altLang="en-US" sz="1800">
                  <a:solidFill>
                    <a:srgbClr val="000000"/>
                  </a:solidFill>
                </a:rPr>
                <a:t>2</a:t>
              </a:r>
            </a:p>
          </p:txBody>
        </p:sp>
        <p:sp>
          <p:nvSpPr>
            <p:cNvPr id="4120" name="Freeform 22"/>
            <p:cNvSpPr>
              <a:spLocks/>
            </p:cNvSpPr>
            <p:nvPr/>
          </p:nvSpPr>
          <p:spPr bwMode="auto">
            <a:xfrm>
              <a:off x="3026" y="2386"/>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4121" name="Rectangle 28"/>
            <p:cNvSpPr>
              <a:spLocks noChangeArrowheads="1"/>
            </p:cNvSpPr>
            <p:nvPr/>
          </p:nvSpPr>
          <p:spPr bwMode="auto">
            <a:xfrm>
              <a:off x="1451" y="2441"/>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a:solidFill>
                    <a:srgbClr val="000000"/>
                  </a:solidFill>
                </a:rPr>
                <a:t>element</a:t>
              </a:r>
            </a:p>
          </p:txBody>
        </p:sp>
        <p:sp>
          <p:nvSpPr>
            <p:cNvPr id="4122" name="Rectangle 29"/>
            <p:cNvSpPr>
              <a:spLocks noChangeArrowheads="1"/>
            </p:cNvSpPr>
            <p:nvPr/>
          </p:nvSpPr>
          <p:spPr bwMode="auto">
            <a:xfrm>
              <a:off x="1924" y="2432"/>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a:solidFill>
                    <a:srgbClr val="000000"/>
                  </a:solidFill>
                </a:rPr>
                <a:t>element</a:t>
              </a:r>
            </a:p>
          </p:txBody>
        </p:sp>
        <p:sp>
          <p:nvSpPr>
            <p:cNvPr id="4123" name="Rectangle 30"/>
            <p:cNvSpPr>
              <a:spLocks noChangeArrowheads="1"/>
            </p:cNvSpPr>
            <p:nvPr/>
          </p:nvSpPr>
          <p:spPr bwMode="auto">
            <a:xfrm>
              <a:off x="2397" y="2437"/>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a:solidFill>
                    <a:srgbClr val="000000"/>
                  </a:solidFill>
                </a:rPr>
                <a:t>element</a:t>
              </a:r>
            </a:p>
          </p:txBody>
        </p:sp>
        <p:sp>
          <p:nvSpPr>
            <p:cNvPr id="4124" name="Rectangle 32"/>
            <p:cNvSpPr>
              <a:spLocks noChangeArrowheads="1"/>
            </p:cNvSpPr>
            <p:nvPr/>
          </p:nvSpPr>
          <p:spPr bwMode="auto">
            <a:xfrm>
              <a:off x="3353" y="2447"/>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a:solidFill>
                    <a:srgbClr val="000000"/>
                  </a:solidFill>
                </a:rPr>
                <a:t>element</a:t>
              </a:r>
            </a:p>
          </p:txBody>
        </p:sp>
        <p:sp>
          <p:nvSpPr>
            <p:cNvPr id="4125" name="Rectangle 33"/>
            <p:cNvSpPr>
              <a:spLocks noChangeArrowheads="1"/>
            </p:cNvSpPr>
            <p:nvPr/>
          </p:nvSpPr>
          <p:spPr bwMode="auto">
            <a:xfrm>
              <a:off x="3836" y="2452"/>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dirty="0">
                  <a:solidFill>
                    <a:srgbClr val="000000"/>
                  </a:solidFill>
                </a:rPr>
                <a:t>element</a:t>
              </a:r>
            </a:p>
          </p:txBody>
        </p:sp>
        <p:sp>
          <p:nvSpPr>
            <p:cNvPr id="4126" name="Rectangle 34"/>
            <p:cNvSpPr>
              <a:spLocks noChangeArrowheads="1"/>
            </p:cNvSpPr>
            <p:nvPr/>
          </p:nvSpPr>
          <p:spPr bwMode="auto">
            <a:xfrm>
              <a:off x="4319" y="2457"/>
              <a:ext cx="48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600">
                  <a:solidFill>
                    <a:srgbClr val="000000"/>
                  </a:solidFill>
                </a:rPr>
                <a:t>element</a:t>
              </a:r>
            </a:p>
          </p:txBody>
        </p:sp>
      </p:grpSp>
      <p:grpSp>
        <p:nvGrpSpPr>
          <p:cNvPr id="3" name="Group 36"/>
          <p:cNvGrpSpPr>
            <a:grpSpLocks/>
          </p:cNvGrpSpPr>
          <p:nvPr/>
        </p:nvGrpSpPr>
        <p:grpSpPr bwMode="auto">
          <a:xfrm>
            <a:off x="5409624" y="4437062"/>
            <a:ext cx="2124075" cy="504825"/>
            <a:chOff x="4195" y="2704"/>
            <a:chExt cx="1338" cy="318"/>
          </a:xfrm>
        </p:grpSpPr>
        <p:sp>
          <p:nvSpPr>
            <p:cNvPr id="4103" name="AutoShape 23"/>
            <p:cNvSpPr>
              <a:spLocks/>
            </p:cNvSpPr>
            <p:nvPr/>
          </p:nvSpPr>
          <p:spPr bwMode="auto">
            <a:xfrm>
              <a:off x="5057" y="2886"/>
              <a:ext cx="476" cy="136"/>
            </a:xfrm>
            <a:prstGeom prst="callout1">
              <a:avLst>
                <a:gd name="adj1" fmla="val 52940"/>
                <a:gd name="adj2" fmla="val -10083"/>
                <a:gd name="adj3" fmla="val -133088"/>
                <a:gd name="adj4" fmla="val -74792"/>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dirty="0">
                  <a:solidFill>
                    <a:schemeClr val="accent1">
                      <a:lumMod val="50000"/>
                    </a:schemeClr>
                  </a:solidFill>
                </a:rPr>
                <a:t>slots</a:t>
              </a:r>
            </a:p>
          </p:txBody>
        </p:sp>
        <p:sp>
          <p:nvSpPr>
            <p:cNvPr id="4104" name="Line 35"/>
            <p:cNvSpPr>
              <a:spLocks noChangeShapeType="1"/>
            </p:cNvSpPr>
            <p:nvPr/>
          </p:nvSpPr>
          <p:spPr bwMode="auto">
            <a:xfrm flipH="1" flipV="1">
              <a:off x="4195" y="2704"/>
              <a:ext cx="794" cy="250"/>
            </a:xfrm>
            <a:prstGeom prst="line">
              <a:avLst/>
            </a:prstGeom>
            <a:noFill/>
            <a:ln w="9525">
              <a:solidFill>
                <a:schemeClr val="accent1">
                  <a:lumMod val="75000"/>
                </a:schemeClr>
              </a:solidFill>
              <a:prstDash val="dash"/>
              <a:round/>
              <a:headEnd/>
              <a:tailEnd/>
            </a:ln>
            <a:extLst>
              <a:ext uri="{909E8E84-426E-40DD-AFC4-6F175D3DCCD1}">
                <a14:hiddenFill xmlns:a14="http://schemas.microsoft.com/office/drawing/2010/main">
                  <a:noFill/>
                </a14:hiddenFill>
              </a:ext>
            </a:extLst>
          </p:spPr>
          <p:txBody>
            <a:bodyPr/>
            <a:lstStyle/>
            <a:p>
              <a:endParaRPr lang="en-GB">
                <a:solidFill>
                  <a:schemeClr val="accent1">
                    <a:lumMod val="50000"/>
                  </a:schemeClr>
                </a:solidFill>
              </a:endParaRPr>
            </a:p>
          </p:txBody>
        </p:sp>
      </p:gr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TextBox 4"/>
          <p:cNvSpPr txBox="1"/>
          <p:nvPr/>
        </p:nvSpPr>
        <p:spPr>
          <a:xfrm>
            <a:off x="609600" y="5486400"/>
            <a:ext cx="6324600" cy="369332"/>
          </a:xfrm>
          <a:prstGeom prst="rect">
            <a:avLst/>
          </a:prstGeom>
          <a:noFill/>
        </p:spPr>
        <p:txBody>
          <a:bodyPr wrap="square" rtlCol="0">
            <a:spAutoFit/>
          </a:bodyPr>
          <a:lstStyle/>
          <a:p>
            <a:r>
              <a:rPr lang="en-GB"/>
              <a:t>You have seen arrays in ProgIT </a:t>
            </a:r>
          </a:p>
        </p:txBody>
      </p:sp>
    </p:spTree>
    <p:extLst>
      <p:ext uri="{BB962C8B-B14F-4D97-AF65-F5344CB8AC3E}">
        <p14:creationId xmlns:p14="http://schemas.microsoft.com/office/powerpoint/2010/main" val="2906352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51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z="3200" dirty="0"/>
              <a:t>Properties </a:t>
            </a:r>
            <a:r>
              <a:rPr lang="en-US" altLang="en-US" sz="3200" i="1" dirty="0"/>
              <a:t>(2)</a:t>
            </a:r>
            <a:endParaRPr lang="en-GB" altLang="en-US" sz="3200" dirty="0"/>
          </a:p>
        </p:txBody>
      </p:sp>
      <p:sp>
        <p:nvSpPr>
          <p:cNvPr id="5123" name="Rectangle 3"/>
          <p:cNvSpPr>
            <a:spLocks noGrp="1" noChangeArrowheads="1"/>
          </p:cNvSpPr>
          <p:nvPr>
            <p:ph idx="1"/>
          </p:nvPr>
        </p:nvSpPr>
        <p:spPr>
          <a:noFill/>
        </p:spPr>
        <p:txBody>
          <a:bodyPr/>
          <a:lstStyle/>
          <a:p>
            <a:pPr eaLnBrk="1" hangingPunct="1"/>
            <a:r>
              <a:rPr lang="en-US" altLang="en-US"/>
              <a:t>An array’s </a:t>
            </a:r>
            <a:r>
              <a:rPr lang="en-US" altLang="en-US" b="1"/>
              <a:t>length</a:t>
            </a:r>
            <a:r>
              <a:rPr lang="en-US" altLang="en-US"/>
              <a:t> is the number of slots. The length is fixed when the array is constructed.</a:t>
            </a:r>
          </a:p>
          <a:p>
            <a:pPr eaLnBrk="1" hangingPunct="1"/>
            <a:r>
              <a:rPr lang="en-US" altLang="en-US"/>
              <a:t>Any array slot can be efficiently accessed (inspected or updated) using its index, in </a:t>
            </a:r>
            <a:r>
              <a:rPr lang="en-US" altLang="en-US" i="1"/>
              <a:t>O</a:t>
            </a:r>
            <a:r>
              <a:rPr lang="en-US" altLang="en-US"/>
              <a:t>(1) time.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580439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3200" dirty="0"/>
              <a:t>Properties: </a:t>
            </a:r>
            <a:r>
              <a:rPr lang="en-US" altLang="en-US" sz="3200" dirty="0" err="1"/>
              <a:t>subarrays</a:t>
            </a:r>
            <a:endParaRPr lang="en-GB" altLang="en-US" sz="3200" dirty="0"/>
          </a:p>
        </p:txBody>
      </p:sp>
      <p:sp>
        <p:nvSpPr>
          <p:cNvPr id="6147" name="Rectangle 3"/>
          <p:cNvSpPr>
            <a:spLocks noGrp="1" noChangeArrowheads="1"/>
          </p:cNvSpPr>
          <p:nvPr>
            <p:ph idx="1"/>
          </p:nvPr>
        </p:nvSpPr>
        <p:spPr>
          <a:noFill/>
        </p:spPr>
        <p:txBody>
          <a:bodyPr/>
          <a:lstStyle/>
          <a:p>
            <a:pPr eaLnBrk="1" hangingPunct="1"/>
            <a:r>
              <a:rPr lang="en-US" altLang="en-US"/>
              <a:t>A </a:t>
            </a:r>
            <a:r>
              <a:rPr lang="en-US" altLang="en-US" b="1"/>
              <a:t>subarray</a:t>
            </a:r>
            <a:r>
              <a:rPr lang="en-US" altLang="en-US"/>
              <a:t> of an array </a:t>
            </a:r>
            <a:r>
              <a:rPr lang="en-US" altLang="en-US" i="1"/>
              <a:t>a</a:t>
            </a:r>
            <a:r>
              <a:rPr lang="en-US" altLang="en-US"/>
              <a:t> is a sequence of consecutive slots in </a:t>
            </a:r>
            <a:r>
              <a:rPr lang="en-US" altLang="en-US" i="1"/>
              <a:t>a</a:t>
            </a:r>
            <a:r>
              <a:rPr lang="en-US" altLang="en-US"/>
              <a:t>.</a:t>
            </a:r>
          </a:p>
          <a:p>
            <a:pPr eaLnBrk="1" hangingPunct="1"/>
            <a:r>
              <a:rPr lang="en-US" altLang="en-US"/>
              <a:t>Notation:</a:t>
            </a:r>
          </a:p>
          <a:p>
            <a:pPr lvl="1" eaLnBrk="1" hangingPunct="1"/>
            <a:r>
              <a:rPr lang="en-US" altLang="en-US" i="1"/>
              <a:t>a</a:t>
            </a:r>
            <a:r>
              <a:rPr lang="en-US" altLang="en-US"/>
              <a:t>[</a:t>
            </a:r>
            <a:r>
              <a:rPr lang="en-US" altLang="en-US" i="1"/>
              <a:t>l</a:t>
            </a:r>
            <a:r>
              <a:rPr lang="en-US" altLang="en-US"/>
              <a:t>…</a:t>
            </a:r>
            <a:r>
              <a:rPr lang="en-US" altLang="en-US" i="1"/>
              <a:t>r</a:t>
            </a:r>
            <a:r>
              <a:rPr lang="en-US" altLang="en-US"/>
              <a:t>] is the subarray of </a:t>
            </a:r>
            <a:r>
              <a:rPr lang="en-US" altLang="en-US" i="1"/>
              <a:t>a</a:t>
            </a:r>
            <a:r>
              <a:rPr lang="en-US" altLang="en-US"/>
              <a:t> that comprises slots </a:t>
            </a:r>
            <a:r>
              <a:rPr lang="en-US" altLang="en-US" i="1"/>
              <a:t>a</a:t>
            </a:r>
            <a:r>
              <a:rPr lang="en-US" altLang="en-US"/>
              <a:t>[</a:t>
            </a:r>
            <a:r>
              <a:rPr lang="en-US" altLang="en-US" i="1"/>
              <a:t>l</a:t>
            </a:r>
            <a:r>
              <a:rPr lang="en-US" altLang="en-US"/>
              <a:t>], </a:t>
            </a:r>
            <a:r>
              <a:rPr lang="en-US" altLang="en-US" i="1"/>
              <a:t>a</a:t>
            </a:r>
            <a:r>
              <a:rPr lang="en-US" altLang="en-US"/>
              <a:t>[</a:t>
            </a:r>
            <a:r>
              <a:rPr lang="en-US" altLang="en-US" i="1"/>
              <a:t>l</a:t>
            </a:r>
            <a:r>
              <a:rPr lang="en-US" altLang="en-US"/>
              <a:t>+1], …, </a:t>
            </a:r>
            <a:r>
              <a:rPr lang="en-US" altLang="en-US" i="1"/>
              <a:t>a</a:t>
            </a:r>
            <a:r>
              <a:rPr lang="en-US" altLang="en-US"/>
              <a:t>[</a:t>
            </a:r>
            <a:r>
              <a:rPr lang="en-US" altLang="en-US" i="1"/>
              <a:t>r</a:t>
            </a:r>
            <a:r>
              <a:rPr lang="en-US" altLang="en-US"/>
              <a:t>].</a:t>
            </a:r>
          </a:p>
          <a:p>
            <a:pPr lvl="1" eaLnBrk="1" hangingPunct="1"/>
            <a:r>
              <a:rPr lang="en-US" altLang="en-US"/>
              <a:t>Subarray notation may be used to express algorithms, but it is </a:t>
            </a:r>
            <a:r>
              <a:rPr lang="en-US" altLang="en-US" b="1"/>
              <a:t>not</a:t>
            </a:r>
            <a:r>
              <a:rPr lang="en-US" altLang="en-US"/>
              <a:t> directly supported by Java.</a:t>
            </a:r>
          </a:p>
        </p:txBody>
      </p:sp>
      <p:grpSp>
        <p:nvGrpSpPr>
          <p:cNvPr id="2" name="Group 52"/>
          <p:cNvGrpSpPr>
            <a:grpSpLocks/>
          </p:cNvGrpSpPr>
          <p:nvPr/>
        </p:nvGrpSpPr>
        <p:grpSpPr bwMode="auto">
          <a:xfrm>
            <a:off x="509587" y="4054475"/>
            <a:ext cx="7345363" cy="606425"/>
            <a:chOff x="748" y="2936"/>
            <a:chExt cx="4627" cy="382"/>
          </a:xfrm>
        </p:grpSpPr>
        <p:sp>
          <p:nvSpPr>
            <p:cNvPr id="6163" name="Rectangle 6"/>
            <p:cNvSpPr>
              <a:spLocks noChangeArrowheads="1"/>
            </p:cNvSpPr>
            <p:nvPr/>
          </p:nvSpPr>
          <p:spPr bwMode="auto">
            <a:xfrm>
              <a:off x="5116"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8</a:t>
              </a:r>
            </a:p>
          </p:txBody>
        </p:sp>
        <p:sp>
          <p:nvSpPr>
            <p:cNvPr id="6164" name="Rectangle 7"/>
            <p:cNvSpPr>
              <a:spLocks noChangeArrowheads="1"/>
            </p:cNvSpPr>
            <p:nvPr/>
          </p:nvSpPr>
          <p:spPr bwMode="auto">
            <a:xfrm>
              <a:off x="1116"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0</a:t>
              </a:r>
            </a:p>
          </p:txBody>
        </p:sp>
        <p:sp>
          <p:nvSpPr>
            <p:cNvPr id="6165" name="Rectangle 8"/>
            <p:cNvSpPr>
              <a:spLocks noChangeArrowheads="1"/>
            </p:cNvSpPr>
            <p:nvPr/>
          </p:nvSpPr>
          <p:spPr bwMode="auto">
            <a:xfrm>
              <a:off x="1620"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1</a:t>
              </a:r>
            </a:p>
          </p:txBody>
        </p:sp>
        <p:sp>
          <p:nvSpPr>
            <p:cNvPr id="6166" name="Rectangle 9"/>
            <p:cNvSpPr>
              <a:spLocks noChangeArrowheads="1"/>
            </p:cNvSpPr>
            <p:nvPr/>
          </p:nvSpPr>
          <p:spPr bwMode="auto">
            <a:xfrm>
              <a:off x="4569"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7</a:t>
              </a:r>
            </a:p>
          </p:txBody>
        </p:sp>
        <p:sp>
          <p:nvSpPr>
            <p:cNvPr id="6167" name="Rectangle 10"/>
            <p:cNvSpPr>
              <a:spLocks noChangeArrowheads="1"/>
            </p:cNvSpPr>
            <p:nvPr/>
          </p:nvSpPr>
          <p:spPr bwMode="auto">
            <a:xfrm>
              <a:off x="748" y="3091"/>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6168" name="Rectangle 11"/>
            <p:cNvSpPr>
              <a:spLocks noChangeArrowheads="1"/>
            </p:cNvSpPr>
            <p:nvPr/>
          </p:nvSpPr>
          <p:spPr bwMode="auto">
            <a:xfrm>
              <a:off x="2385"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69" name="Rectangle 12"/>
            <p:cNvSpPr>
              <a:spLocks noChangeArrowheads="1"/>
            </p:cNvSpPr>
            <p:nvPr/>
          </p:nvSpPr>
          <p:spPr bwMode="auto">
            <a:xfrm>
              <a:off x="2880"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70" name="Rectangle 13"/>
            <p:cNvSpPr>
              <a:spLocks noChangeArrowheads="1"/>
            </p:cNvSpPr>
            <p:nvPr/>
          </p:nvSpPr>
          <p:spPr bwMode="auto">
            <a:xfrm>
              <a:off x="3379"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71" name="Rectangle 14"/>
            <p:cNvSpPr>
              <a:spLocks noChangeArrowheads="1"/>
            </p:cNvSpPr>
            <p:nvPr/>
          </p:nvSpPr>
          <p:spPr bwMode="auto">
            <a:xfrm>
              <a:off x="3878"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72" name="Rectangle 15"/>
            <p:cNvSpPr>
              <a:spLocks noChangeArrowheads="1"/>
            </p:cNvSpPr>
            <p:nvPr/>
          </p:nvSpPr>
          <p:spPr bwMode="auto">
            <a:xfrm>
              <a:off x="4377"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73" name="Rectangle 16"/>
            <p:cNvSpPr>
              <a:spLocks noChangeArrowheads="1"/>
            </p:cNvSpPr>
            <p:nvPr/>
          </p:nvSpPr>
          <p:spPr bwMode="auto">
            <a:xfrm>
              <a:off x="4876"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74" name="Rectangle 17"/>
            <p:cNvSpPr>
              <a:spLocks noChangeArrowheads="1"/>
            </p:cNvSpPr>
            <p:nvPr/>
          </p:nvSpPr>
          <p:spPr bwMode="auto">
            <a:xfrm>
              <a:off x="2074"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2</a:t>
              </a:r>
            </a:p>
          </p:txBody>
        </p:sp>
        <p:sp>
          <p:nvSpPr>
            <p:cNvPr id="6175" name="Rectangle 18"/>
            <p:cNvSpPr>
              <a:spLocks noChangeArrowheads="1"/>
            </p:cNvSpPr>
            <p:nvPr/>
          </p:nvSpPr>
          <p:spPr bwMode="auto">
            <a:xfrm>
              <a:off x="2601"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3</a:t>
              </a:r>
            </a:p>
          </p:txBody>
        </p:sp>
        <p:sp>
          <p:nvSpPr>
            <p:cNvPr id="6176" name="Rectangle 19"/>
            <p:cNvSpPr>
              <a:spLocks noChangeArrowheads="1"/>
            </p:cNvSpPr>
            <p:nvPr/>
          </p:nvSpPr>
          <p:spPr bwMode="auto">
            <a:xfrm>
              <a:off x="3096"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4</a:t>
              </a:r>
            </a:p>
          </p:txBody>
        </p:sp>
        <p:sp>
          <p:nvSpPr>
            <p:cNvPr id="6177" name="Rectangle 20"/>
            <p:cNvSpPr>
              <a:spLocks noChangeArrowheads="1"/>
            </p:cNvSpPr>
            <p:nvPr/>
          </p:nvSpPr>
          <p:spPr bwMode="auto">
            <a:xfrm>
              <a:off x="3595"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5</a:t>
              </a:r>
            </a:p>
          </p:txBody>
        </p:sp>
        <p:sp>
          <p:nvSpPr>
            <p:cNvPr id="6178" name="Rectangle 21"/>
            <p:cNvSpPr>
              <a:spLocks noChangeArrowheads="1"/>
            </p:cNvSpPr>
            <p:nvPr/>
          </p:nvSpPr>
          <p:spPr bwMode="auto">
            <a:xfrm>
              <a:off x="4094" y="2936"/>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600">
                  <a:solidFill>
                    <a:srgbClr val="000000"/>
                  </a:solidFill>
                </a:rPr>
                <a:t>6</a:t>
              </a:r>
            </a:p>
          </p:txBody>
        </p:sp>
        <p:sp>
          <p:nvSpPr>
            <p:cNvPr id="6179" name="Rectangle 22"/>
            <p:cNvSpPr>
              <a:spLocks noChangeArrowheads="1"/>
            </p:cNvSpPr>
            <p:nvPr/>
          </p:nvSpPr>
          <p:spPr bwMode="auto">
            <a:xfrm>
              <a:off x="1898"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80" name="Rectangle 23"/>
            <p:cNvSpPr>
              <a:spLocks noChangeArrowheads="1"/>
            </p:cNvSpPr>
            <p:nvPr/>
          </p:nvSpPr>
          <p:spPr bwMode="auto">
            <a:xfrm>
              <a:off x="1412"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81" name="Rectangle 24"/>
            <p:cNvSpPr>
              <a:spLocks noChangeArrowheads="1"/>
            </p:cNvSpPr>
            <p:nvPr/>
          </p:nvSpPr>
          <p:spPr bwMode="auto">
            <a:xfrm>
              <a:off x="924" y="309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grpSp>
      <p:sp>
        <p:nvSpPr>
          <p:cNvPr id="374824" name="Rectangle 40"/>
          <p:cNvSpPr>
            <a:spLocks noChangeArrowheads="1"/>
          </p:cNvSpPr>
          <p:nvPr/>
        </p:nvSpPr>
        <p:spPr bwMode="auto">
          <a:xfrm>
            <a:off x="551736" y="5876925"/>
            <a:ext cx="72009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buClr>
                <a:schemeClr val="accent1">
                  <a:lumMod val="75000"/>
                </a:schemeClr>
              </a:buClr>
              <a:buFont typeface="Arial" panose="020B0604020202020204" pitchFamily="34" charset="0"/>
              <a:buChar char="•"/>
            </a:pPr>
            <a:r>
              <a:rPr lang="en-US" altLang="en-US" dirty="0" err="1"/>
              <a:t>Subarray</a:t>
            </a:r>
            <a:r>
              <a:rPr lang="en-US" altLang="en-US" dirty="0"/>
              <a:t> </a:t>
            </a:r>
            <a:r>
              <a:rPr lang="en-US" altLang="en-US" i="1" dirty="0"/>
              <a:t>a</a:t>
            </a:r>
            <a:r>
              <a:rPr lang="en-US" altLang="en-US" dirty="0"/>
              <a:t>[</a:t>
            </a:r>
            <a:r>
              <a:rPr lang="en-US" altLang="en-US" i="1" dirty="0"/>
              <a:t>l</a:t>
            </a:r>
            <a:r>
              <a:rPr lang="en-US" altLang="en-US" dirty="0"/>
              <a:t>…</a:t>
            </a:r>
            <a:r>
              <a:rPr lang="en-US" altLang="en-US" i="1" dirty="0"/>
              <a:t>r</a:t>
            </a:r>
            <a:r>
              <a:rPr lang="en-US" altLang="en-US" dirty="0"/>
              <a:t>] has length </a:t>
            </a:r>
            <a:r>
              <a:rPr lang="en-US" altLang="en-US" i="1" dirty="0"/>
              <a:t>r</a:t>
            </a:r>
            <a:r>
              <a:rPr lang="en-US" altLang="en-US" dirty="0"/>
              <a:t> – </a:t>
            </a:r>
            <a:r>
              <a:rPr lang="en-US" altLang="en-US" i="1" dirty="0"/>
              <a:t>l</a:t>
            </a:r>
            <a:r>
              <a:rPr lang="en-US" altLang="en-US" dirty="0"/>
              <a:t> + 1.</a:t>
            </a:r>
          </a:p>
        </p:txBody>
      </p:sp>
      <p:grpSp>
        <p:nvGrpSpPr>
          <p:cNvPr id="3" name="Group 54"/>
          <p:cNvGrpSpPr>
            <a:grpSpLocks/>
          </p:cNvGrpSpPr>
          <p:nvPr/>
        </p:nvGrpSpPr>
        <p:grpSpPr bwMode="auto">
          <a:xfrm>
            <a:off x="1608385" y="4841081"/>
            <a:ext cx="2336800" cy="849313"/>
            <a:chOff x="1408" y="3090"/>
            <a:chExt cx="1472" cy="535"/>
          </a:xfrm>
        </p:grpSpPr>
        <p:sp>
          <p:nvSpPr>
            <p:cNvPr id="6158" name="Freeform 31"/>
            <p:cNvSpPr>
              <a:spLocks/>
            </p:cNvSpPr>
            <p:nvPr/>
          </p:nvSpPr>
          <p:spPr bwMode="auto">
            <a:xfrm>
              <a:off x="1422" y="3362"/>
              <a:ext cx="1435" cy="81"/>
            </a:xfrm>
            <a:custGeom>
              <a:avLst/>
              <a:gdLst>
                <a:gd name="T0" fmla="*/ 0 w 2099"/>
                <a:gd name="T1" fmla="*/ 0 h 137"/>
                <a:gd name="T2" fmla="*/ 1 w 2099"/>
                <a:gd name="T3" fmla="*/ 2 h 137"/>
                <a:gd name="T4" fmla="*/ 3 w 2099"/>
                <a:gd name="T5" fmla="*/ 3 h 137"/>
                <a:gd name="T6" fmla="*/ 7 w 2099"/>
                <a:gd name="T7" fmla="*/ 5 h 137"/>
                <a:gd name="T8" fmla="*/ 12 w 2099"/>
                <a:gd name="T9" fmla="*/ 7 h 137"/>
                <a:gd name="T10" fmla="*/ 17 w 2099"/>
                <a:gd name="T11" fmla="*/ 7 h 137"/>
                <a:gd name="T12" fmla="*/ 23 w 2099"/>
                <a:gd name="T13" fmla="*/ 8 h 137"/>
                <a:gd name="T14" fmla="*/ 31 w 2099"/>
                <a:gd name="T15" fmla="*/ 8 h 137"/>
                <a:gd name="T16" fmla="*/ 38 w 2099"/>
                <a:gd name="T17" fmla="*/ 8 h 137"/>
                <a:gd name="T18" fmla="*/ 191 w 2099"/>
                <a:gd name="T19" fmla="*/ 8 h 137"/>
                <a:gd name="T20" fmla="*/ 199 w 2099"/>
                <a:gd name="T21" fmla="*/ 9 h 137"/>
                <a:gd name="T22" fmla="*/ 206 w 2099"/>
                <a:gd name="T23" fmla="*/ 9 h 137"/>
                <a:gd name="T24" fmla="*/ 213 w 2099"/>
                <a:gd name="T25" fmla="*/ 10 h 137"/>
                <a:gd name="T26" fmla="*/ 218 w 2099"/>
                <a:gd name="T27" fmla="*/ 11 h 137"/>
                <a:gd name="T28" fmla="*/ 223 w 2099"/>
                <a:gd name="T29" fmla="*/ 12 h 137"/>
                <a:gd name="T30" fmla="*/ 226 w 2099"/>
                <a:gd name="T31" fmla="*/ 14 h 137"/>
                <a:gd name="T32" fmla="*/ 228 w 2099"/>
                <a:gd name="T33" fmla="*/ 15 h 137"/>
                <a:gd name="T34" fmla="*/ 230 w 2099"/>
                <a:gd name="T35" fmla="*/ 17 h 137"/>
                <a:gd name="T36" fmla="*/ 230 w 2099"/>
                <a:gd name="T37" fmla="*/ 15 h 137"/>
                <a:gd name="T38" fmla="*/ 232 w 2099"/>
                <a:gd name="T39" fmla="*/ 14 h 137"/>
                <a:gd name="T40" fmla="*/ 236 w 2099"/>
                <a:gd name="T41" fmla="*/ 12 h 137"/>
                <a:gd name="T42" fmla="*/ 241 w 2099"/>
                <a:gd name="T43" fmla="*/ 11 h 137"/>
                <a:gd name="T44" fmla="*/ 246 w 2099"/>
                <a:gd name="T45" fmla="*/ 10 h 137"/>
                <a:gd name="T46" fmla="*/ 253 w 2099"/>
                <a:gd name="T47" fmla="*/ 9 h 137"/>
                <a:gd name="T48" fmla="*/ 260 w 2099"/>
                <a:gd name="T49" fmla="*/ 9 h 137"/>
                <a:gd name="T50" fmla="*/ 267 w 2099"/>
                <a:gd name="T51" fmla="*/ 8 h 137"/>
                <a:gd name="T52" fmla="*/ 420 w 2099"/>
                <a:gd name="T53" fmla="*/ 8 h 137"/>
                <a:gd name="T54" fmla="*/ 428 w 2099"/>
                <a:gd name="T55" fmla="*/ 8 h 137"/>
                <a:gd name="T56" fmla="*/ 435 w 2099"/>
                <a:gd name="T57" fmla="*/ 8 h 137"/>
                <a:gd name="T58" fmla="*/ 442 w 2099"/>
                <a:gd name="T59" fmla="*/ 7 h 137"/>
                <a:gd name="T60" fmla="*/ 447 w 2099"/>
                <a:gd name="T61" fmla="*/ 7 h 137"/>
                <a:gd name="T62" fmla="*/ 452 w 2099"/>
                <a:gd name="T63" fmla="*/ 5 h 137"/>
                <a:gd name="T64" fmla="*/ 456 w 2099"/>
                <a:gd name="T65" fmla="*/ 3 h 137"/>
                <a:gd name="T66" fmla="*/ 458 w 2099"/>
                <a:gd name="T67" fmla="*/ 2 h 137"/>
                <a:gd name="T68" fmla="*/ 459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9525" cap="flat" cmpd="sng">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59" name="Text Box 32"/>
            <p:cNvSpPr txBox="1">
              <a:spLocks noChangeArrowheads="1"/>
            </p:cNvSpPr>
            <p:nvPr/>
          </p:nvSpPr>
          <p:spPr bwMode="auto">
            <a:xfrm>
              <a:off x="1422" y="3433"/>
              <a:ext cx="14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buClrTx/>
                <a:buFontTx/>
                <a:buNone/>
              </a:pPr>
              <a:r>
                <a:rPr lang="en-US" altLang="en-US" sz="2000" dirty="0" err="1">
                  <a:solidFill>
                    <a:schemeClr val="accent1">
                      <a:lumMod val="50000"/>
                    </a:schemeClr>
                  </a:solidFill>
                </a:rPr>
                <a:t>subarray</a:t>
              </a:r>
              <a:r>
                <a:rPr lang="en-US" altLang="en-US" sz="2000" dirty="0">
                  <a:solidFill>
                    <a:schemeClr val="accent1">
                      <a:lumMod val="50000"/>
                    </a:schemeClr>
                  </a:solidFill>
                </a:rPr>
                <a:t> </a:t>
              </a:r>
              <a:r>
                <a:rPr lang="en-US" altLang="en-US" sz="2000" i="1" dirty="0">
                  <a:solidFill>
                    <a:schemeClr val="accent1">
                      <a:lumMod val="50000"/>
                    </a:schemeClr>
                  </a:solidFill>
                </a:rPr>
                <a:t>a</a:t>
              </a:r>
              <a:r>
                <a:rPr lang="en-US" altLang="en-US" sz="2000" dirty="0">
                  <a:solidFill>
                    <a:schemeClr val="accent1">
                      <a:lumMod val="50000"/>
                    </a:schemeClr>
                  </a:solidFill>
                </a:rPr>
                <a:t>[1…3]</a:t>
              </a:r>
              <a:endParaRPr lang="en-GB" altLang="en-US" sz="2000" dirty="0">
                <a:solidFill>
                  <a:schemeClr val="accent1">
                    <a:lumMod val="50000"/>
                  </a:schemeClr>
                </a:solidFill>
              </a:endParaRPr>
            </a:p>
          </p:txBody>
        </p:sp>
        <p:sp>
          <p:nvSpPr>
            <p:cNvPr id="6160" name="Rectangle 45"/>
            <p:cNvSpPr>
              <a:spLocks noChangeArrowheads="1"/>
            </p:cNvSpPr>
            <p:nvPr/>
          </p:nvSpPr>
          <p:spPr bwMode="auto">
            <a:xfrm>
              <a:off x="2381"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61" name="Rectangle 46"/>
            <p:cNvSpPr>
              <a:spLocks noChangeArrowheads="1"/>
            </p:cNvSpPr>
            <p:nvPr/>
          </p:nvSpPr>
          <p:spPr bwMode="auto">
            <a:xfrm>
              <a:off x="1894"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62" name="Rectangle 47"/>
            <p:cNvSpPr>
              <a:spLocks noChangeArrowheads="1"/>
            </p:cNvSpPr>
            <p:nvPr/>
          </p:nvSpPr>
          <p:spPr bwMode="auto">
            <a:xfrm>
              <a:off x="1408"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grpSp>
      <p:grpSp>
        <p:nvGrpSpPr>
          <p:cNvPr id="4" name="Group 53"/>
          <p:cNvGrpSpPr>
            <a:grpSpLocks/>
          </p:cNvGrpSpPr>
          <p:nvPr/>
        </p:nvGrpSpPr>
        <p:grpSpPr bwMode="auto">
          <a:xfrm>
            <a:off x="4686300" y="4869986"/>
            <a:ext cx="3168650" cy="900113"/>
            <a:chOff x="3379" y="3090"/>
            <a:chExt cx="1996" cy="567"/>
          </a:xfrm>
        </p:grpSpPr>
        <p:sp>
          <p:nvSpPr>
            <p:cNvPr id="6152" name="Text Box 38"/>
            <p:cNvSpPr txBox="1">
              <a:spLocks noChangeArrowheads="1"/>
            </p:cNvSpPr>
            <p:nvPr/>
          </p:nvSpPr>
          <p:spPr bwMode="auto">
            <a:xfrm>
              <a:off x="3409" y="3465"/>
              <a:ext cx="19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buClrTx/>
                <a:buFontTx/>
                <a:buNone/>
              </a:pPr>
              <a:r>
                <a:rPr lang="en-US" altLang="en-US" sz="2000" dirty="0" err="1">
                  <a:solidFill>
                    <a:schemeClr val="accent1">
                      <a:lumMod val="50000"/>
                    </a:schemeClr>
                  </a:solidFill>
                </a:rPr>
                <a:t>subarray</a:t>
              </a:r>
              <a:r>
                <a:rPr lang="en-US" altLang="en-US" sz="2000" dirty="0">
                  <a:solidFill>
                    <a:schemeClr val="accent1">
                      <a:lumMod val="50000"/>
                    </a:schemeClr>
                  </a:solidFill>
                </a:rPr>
                <a:t> </a:t>
              </a:r>
              <a:r>
                <a:rPr lang="en-US" altLang="en-US" sz="2000" i="1" dirty="0">
                  <a:solidFill>
                    <a:schemeClr val="accent1">
                      <a:lumMod val="50000"/>
                    </a:schemeClr>
                  </a:solidFill>
                </a:rPr>
                <a:t>a</a:t>
              </a:r>
              <a:r>
                <a:rPr lang="en-US" altLang="en-US" sz="2000" dirty="0">
                  <a:solidFill>
                    <a:schemeClr val="accent1">
                      <a:lumMod val="50000"/>
                    </a:schemeClr>
                  </a:solidFill>
                </a:rPr>
                <a:t>[5…8]</a:t>
              </a:r>
              <a:endParaRPr lang="en-GB" altLang="en-US" sz="2000" dirty="0">
                <a:solidFill>
                  <a:schemeClr val="accent1">
                    <a:lumMod val="50000"/>
                  </a:schemeClr>
                </a:solidFill>
              </a:endParaRPr>
            </a:p>
          </p:txBody>
        </p:sp>
        <p:sp>
          <p:nvSpPr>
            <p:cNvPr id="6153" name="Freeform 39"/>
            <p:cNvSpPr>
              <a:spLocks/>
            </p:cNvSpPr>
            <p:nvPr/>
          </p:nvSpPr>
          <p:spPr bwMode="auto">
            <a:xfrm>
              <a:off x="3382" y="3362"/>
              <a:ext cx="1970" cy="116"/>
            </a:xfrm>
            <a:custGeom>
              <a:avLst/>
              <a:gdLst>
                <a:gd name="T0" fmla="*/ 0 w 2099"/>
                <a:gd name="T1" fmla="*/ 0 h 137"/>
                <a:gd name="T2" fmla="*/ 4 w 2099"/>
                <a:gd name="T3" fmla="*/ 7 h 137"/>
                <a:gd name="T4" fmla="*/ 9 w 2099"/>
                <a:gd name="T5" fmla="*/ 14 h 137"/>
                <a:gd name="T6" fmla="*/ 23 w 2099"/>
                <a:gd name="T7" fmla="*/ 20 h 137"/>
                <a:gd name="T8" fmla="*/ 40 w 2099"/>
                <a:gd name="T9" fmla="*/ 25 h 137"/>
                <a:gd name="T10" fmla="*/ 60 w 2099"/>
                <a:gd name="T11" fmla="*/ 30 h 137"/>
                <a:gd name="T12" fmla="*/ 83 w 2099"/>
                <a:gd name="T13" fmla="*/ 33 h 137"/>
                <a:gd name="T14" fmla="*/ 108 w 2099"/>
                <a:gd name="T15" fmla="*/ 35 h 137"/>
                <a:gd name="T16" fmla="*/ 136 w 2099"/>
                <a:gd name="T17" fmla="*/ 35 h 137"/>
                <a:gd name="T18" fmla="*/ 680 w 2099"/>
                <a:gd name="T19" fmla="*/ 35 h 137"/>
                <a:gd name="T20" fmla="*/ 706 w 2099"/>
                <a:gd name="T21" fmla="*/ 36 h 137"/>
                <a:gd name="T22" fmla="*/ 731 w 2099"/>
                <a:gd name="T23" fmla="*/ 39 h 137"/>
                <a:gd name="T24" fmla="*/ 755 w 2099"/>
                <a:gd name="T25" fmla="*/ 41 h 137"/>
                <a:gd name="T26" fmla="*/ 774 w 2099"/>
                <a:gd name="T27" fmla="*/ 46 h 137"/>
                <a:gd name="T28" fmla="*/ 790 w 2099"/>
                <a:gd name="T29" fmla="*/ 52 h 137"/>
                <a:gd name="T30" fmla="*/ 803 w 2099"/>
                <a:gd name="T31" fmla="*/ 58 h 137"/>
                <a:gd name="T32" fmla="*/ 812 w 2099"/>
                <a:gd name="T33" fmla="*/ 64 h 137"/>
                <a:gd name="T34" fmla="*/ 814 w 2099"/>
                <a:gd name="T35" fmla="*/ 70 h 137"/>
                <a:gd name="T36" fmla="*/ 817 w 2099"/>
                <a:gd name="T37" fmla="*/ 64 h 137"/>
                <a:gd name="T38" fmla="*/ 825 w 2099"/>
                <a:gd name="T39" fmla="*/ 58 h 137"/>
                <a:gd name="T40" fmla="*/ 838 w 2099"/>
                <a:gd name="T41" fmla="*/ 52 h 137"/>
                <a:gd name="T42" fmla="*/ 854 w 2099"/>
                <a:gd name="T43" fmla="*/ 46 h 137"/>
                <a:gd name="T44" fmla="*/ 875 w 2099"/>
                <a:gd name="T45" fmla="*/ 41 h 137"/>
                <a:gd name="T46" fmla="*/ 897 w 2099"/>
                <a:gd name="T47" fmla="*/ 39 h 137"/>
                <a:gd name="T48" fmla="*/ 924 w 2099"/>
                <a:gd name="T49" fmla="*/ 36 h 137"/>
                <a:gd name="T50" fmla="*/ 951 w 2099"/>
                <a:gd name="T51" fmla="*/ 35 h 137"/>
                <a:gd name="T52" fmla="*/ 1494 w 2099"/>
                <a:gd name="T53" fmla="*/ 35 h 137"/>
                <a:gd name="T54" fmla="*/ 1520 w 2099"/>
                <a:gd name="T55" fmla="*/ 35 h 137"/>
                <a:gd name="T56" fmla="*/ 1546 w 2099"/>
                <a:gd name="T57" fmla="*/ 33 h 137"/>
                <a:gd name="T58" fmla="*/ 1569 w 2099"/>
                <a:gd name="T59" fmla="*/ 30 h 137"/>
                <a:gd name="T60" fmla="*/ 1589 w 2099"/>
                <a:gd name="T61" fmla="*/ 25 h 137"/>
                <a:gd name="T62" fmla="*/ 1606 w 2099"/>
                <a:gd name="T63" fmla="*/ 20 h 137"/>
                <a:gd name="T64" fmla="*/ 1619 w 2099"/>
                <a:gd name="T65" fmla="*/ 14 h 137"/>
                <a:gd name="T66" fmla="*/ 1626 w 2099"/>
                <a:gd name="T67" fmla="*/ 7 h 137"/>
                <a:gd name="T68" fmla="*/ 1628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solidFill>
              <a:srgbClr val="FFFFFF"/>
            </a:solidFill>
            <a:ln w="9525" cap="flat" cmpd="sng">
              <a:solidFill>
                <a:schemeClr val="accent1">
                  <a:lumMod val="75000"/>
                </a:schemeClr>
              </a:solidFill>
              <a:prstDash val="dash"/>
              <a:round/>
              <a:headEnd/>
              <a:tailEnd/>
            </a:ln>
          </p:spPr>
          <p:txBody>
            <a:bodyPr/>
            <a:lstStyle/>
            <a:p>
              <a:endParaRPr lang="en-GB"/>
            </a:p>
          </p:txBody>
        </p:sp>
        <p:sp>
          <p:nvSpPr>
            <p:cNvPr id="6154" name="Rectangle 48"/>
            <p:cNvSpPr>
              <a:spLocks noChangeArrowheads="1"/>
            </p:cNvSpPr>
            <p:nvPr/>
          </p:nvSpPr>
          <p:spPr bwMode="auto">
            <a:xfrm>
              <a:off x="3379"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55" name="Rectangle 49"/>
            <p:cNvSpPr>
              <a:spLocks noChangeArrowheads="1"/>
            </p:cNvSpPr>
            <p:nvPr/>
          </p:nvSpPr>
          <p:spPr bwMode="auto">
            <a:xfrm>
              <a:off x="3878"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56" name="Rectangle 50"/>
            <p:cNvSpPr>
              <a:spLocks noChangeArrowheads="1"/>
            </p:cNvSpPr>
            <p:nvPr/>
          </p:nvSpPr>
          <p:spPr bwMode="auto">
            <a:xfrm>
              <a:off x="4377"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6157" name="Rectangle 51"/>
            <p:cNvSpPr>
              <a:spLocks noChangeArrowheads="1"/>
            </p:cNvSpPr>
            <p:nvPr/>
          </p:nvSpPr>
          <p:spPr bwMode="auto">
            <a:xfrm>
              <a:off x="4876" y="3090"/>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gr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727590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8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z="3200" dirty="0"/>
              <a:t>Properties: sorted arrays</a:t>
            </a:r>
            <a:endParaRPr lang="en-GB" altLang="en-US" sz="3200" dirty="0"/>
          </a:p>
        </p:txBody>
      </p:sp>
      <p:sp>
        <p:nvSpPr>
          <p:cNvPr id="7171" name="Rectangle 3"/>
          <p:cNvSpPr>
            <a:spLocks noGrp="1" noChangeArrowheads="1"/>
          </p:cNvSpPr>
          <p:nvPr>
            <p:ph idx="1"/>
          </p:nvPr>
        </p:nvSpPr>
        <p:spPr>
          <a:noFill/>
        </p:spPr>
        <p:txBody>
          <a:bodyPr/>
          <a:lstStyle/>
          <a:p>
            <a:pPr eaLnBrk="1" hangingPunct="1"/>
            <a:r>
              <a:rPr lang="en-US" altLang="en-US"/>
              <a:t>A (sub)array is </a:t>
            </a:r>
            <a:r>
              <a:rPr lang="en-US" altLang="en-US" b="1"/>
              <a:t>sorted</a:t>
            </a:r>
            <a:r>
              <a:rPr lang="en-US" altLang="en-US"/>
              <a:t> if its elements are in ascending order, i.e., each element is less than or equal to the element on its right.</a:t>
            </a:r>
          </a:p>
          <a:p>
            <a:pPr eaLnBrk="1" hangingPunct="1"/>
            <a:r>
              <a:rPr lang="en-US" altLang="en-US"/>
              <a:t>The meaning of “</a:t>
            </a:r>
            <a:r>
              <a:rPr lang="en-US" altLang="en-US" b="1"/>
              <a:t>less</a:t>
            </a:r>
            <a:r>
              <a:rPr lang="en-US" altLang="en-US"/>
              <a:t>” must be defined for each data type:</a:t>
            </a:r>
          </a:p>
          <a:p>
            <a:pPr lvl="1" eaLnBrk="1" hangingPunct="1"/>
            <a:r>
              <a:rPr lang="en-US" altLang="en-US"/>
              <a:t>For </a:t>
            </a:r>
            <a:r>
              <a:rPr lang="en-US" altLang="en-US" b="1"/>
              <a:t>numbers</a:t>
            </a:r>
            <a:r>
              <a:rPr lang="en-US" altLang="en-US"/>
              <a:t>:</a:t>
            </a:r>
            <a:br>
              <a:rPr lang="en-US" altLang="en-US"/>
            </a:br>
            <a:r>
              <a:rPr lang="en-US" altLang="en-US"/>
              <a:t>“</a:t>
            </a:r>
            <a:r>
              <a:rPr lang="en-US" altLang="en-US" i="1"/>
              <a:t>x</a:t>
            </a:r>
            <a:r>
              <a:rPr lang="en-US" altLang="en-US"/>
              <a:t> is less than </a:t>
            </a:r>
            <a:r>
              <a:rPr lang="en-US" altLang="en-US" i="1"/>
              <a:t>y</a:t>
            </a:r>
            <a:r>
              <a:rPr lang="en-US" altLang="en-US"/>
              <a:t>” means that </a:t>
            </a:r>
            <a:r>
              <a:rPr lang="en-US" altLang="en-US" i="1"/>
              <a:t>x</a:t>
            </a:r>
            <a:r>
              <a:rPr lang="en-US" altLang="en-US"/>
              <a:t> is numerically smaller than </a:t>
            </a:r>
            <a:r>
              <a:rPr lang="en-US" altLang="en-US" i="1"/>
              <a:t>y</a:t>
            </a:r>
            <a:r>
              <a:rPr lang="en-US" altLang="en-US"/>
              <a:t>, i.e., </a:t>
            </a:r>
            <a:r>
              <a:rPr lang="en-US" altLang="en-US" i="1"/>
              <a:t>x</a:t>
            </a:r>
            <a:r>
              <a:rPr lang="en-US" altLang="en-US"/>
              <a:t> &lt; </a:t>
            </a:r>
            <a:r>
              <a:rPr lang="en-US" altLang="en-US" i="1"/>
              <a:t>y</a:t>
            </a:r>
            <a:r>
              <a:rPr lang="en-US" altLang="en-US"/>
              <a:t>.</a:t>
            </a:r>
          </a:p>
          <a:p>
            <a:pPr lvl="1" eaLnBrk="1" hangingPunct="1"/>
            <a:r>
              <a:rPr lang="en-US" altLang="en-US"/>
              <a:t>For </a:t>
            </a:r>
            <a:r>
              <a:rPr lang="en-US" altLang="en-US" b="1"/>
              <a:t>strings</a:t>
            </a:r>
            <a:r>
              <a:rPr lang="en-US" altLang="en-US"/>
              <a:t>:</a:t>
            </a:r>
            <a:br>
              <a:rPr lang="en-US" altLang="en-US"/>
            </a:br>
            <a:r>
              <a:rPr lang="en-US" altLang="en-US"/>
              <a:t>“</a:t>
            </a:r>
            <a:r>
              <a:rPr lang="en-US" altLang="en-US" i="1"/>
              <a:t>x</a:t>
            </a:r>
            <a:r>
              <a:rPr lang="en-US" altLang="en-US"/>
              <a:t> is less than </a:t>
            </a:r>
            <a:r>
              <a:rPr lang="en-US" altLang="en-US" i="1"/>
              <a:t>y</a:t>
            </a:r>
            <a:r>
              <a:rPr lang="en-US" altLang="en-US"/>
              <a:t>” conventionally means that </a:t>
            </a:r>
            <a:r>
              <a:rPr lang="en-US" altLang="en-US" i="1"/>
              <a:t>x</a:t>
            </a:r>
            <a:r>
              <a:rPr lang="en-US" altLang="en-US"/>
              <a:t> lexicographically precedes </a:t>
            </a:r>
            <a:r>
              <a:rPr lang="en-US" altLang="en-US" i="1"/>
              <a:t>y</a:t>
            </a:r>
            <a:r>
              <a:rPr lang="en-US" altLang="en-US"/>
              <a:t>. E.g.: “bat” is less than “bath”, which in turn is less than “bay”.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176761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z="3200" dirty="0"/>
              <a:t>Aside: Java’s </a:t>
            </a:r>
            <a:r>
              <a:rPr lang="en-US" altLang="en-US" sz="3200" dirty="0">
                <a:latin typeface="Courier New" pitchFamily="49" charset="0"/>
              </a:rPr>
              <a:t>Comparable</a:t>
            </a:r>
            <a:r>
              <a:rPr lang="en-US" altLang="en-US" sz="3200" dirty="0"/>
              <a:t> interface </a:t>
            </a:r>
            <a:r>
              <a:rPr lang="en-US" altLang="en-US" sz="3200" i="1" dirty="0"/>
              <a:t>(1)</a:t>
            </a:r>
            <a:endParaRPr lang="en-GB" altLang="en-US" sz="3200" dirty="0"/>
          </a:p>
        </p:txBody>
      </p:sp>
      <p:sp>
        <p:nvSpPr>
          <p:cNvPr id="8195" name="Rectangle 3"/>
          <p:cNvSpPr>
            <a:spLocks noGrp="1" noChangeArrowheads="1"/>
          </p:cNvSpPr>
          <p:nvPr>
            <p:ph idx="1"/>
          </p:nvPr>
        </p:nvSpPr>
        <p:spPr>
          <a:xfrm>
            <a:off x="457200" y="1981200"/>
            <a:ext cx="7620000" cy="3352800"/>
          </a:xfrm>
          <a:noFill/>
        </p:spPr>
        <p:txBody>
          <a:bodyPr>
            <a:normAutofit/>
          </a:bodyPr>
          <a:lstStyle/>
          <a:p>
            <a:pPr eaLnBrk="1" hangingPunct="1"/>
            <a:r>
              <a:rPr lang="en-US" altLang="en-US" dirty="0"/>
              <a:t>The following interface (from </a:t>
            </a:r>
            <a:r>
              <a:rPr lang="en-US" altLang="en-US" dirty="0" err="1">
                <a:latin typeface="Courier New" pitchFamily="49" charset="0"/>
              </a:rPr>
              <a:t>java.util</a:t>
            </a:r>
            <a:r>
              <a:rPr lang="en-US" altLang="en-US" dirty="0"/>
              <a:t>) captures this </a:t>
            </a:r>
            <a:r>
              <a:rPr lang="en-US" altLang="en-US"/>
              <a:t>notion:</a:t>
            </a:r>
          </a:p>
          <a:p>
            <a:pPr eaLnBrk="1" hangingPunct="1"/>
            <a:endParaRPr lang="en-US" altLang="en-US" dirty="0"/>
          </a:p>
          <a:p>
            <a:pPr eaLnBrk="1" hangingPunct="1">
              <a:buFont typeface="Wingdings" pitchFamily="2" charset="2"/>
              <a:buNone/>
            </a:pPr>
            <a:r>
              <a:rPr lang="en-US" altLang="en-US" sz="2000" dirty="0"/>
              <a:t>	</a:t>
            </a:r>
            <a:r>
              <a:rPr lang="en-US" altLang="en-US" sz="2000" b="1" dirty="0">
                <a:latin typeface="Courier New" pitchFamily="49" charset="0"/>
              </a:rPr>
              <a:t>public</a:t>
            </a:r>
            <a:r>
              <a:rPr lang="en-US" altLang="en-US" sz="2000" dirty="0">
                <a:latin typeface="Courier New" pitchFamily="49" charset="0"/>
              </a:rPr>
              <a:t> </a:t>
            </a:r>
            <a:r>
              <a:rPr lang="en-US" altLang="en-US" sz="2000" b="1" dirty="0">
                <a:latin typeface="Courier New" pitchFamily="49" charset="0"/>
              </a:rPr>
              <a:t>interface</a:t>
            </a:r>
            <a:r>
              <a:rPr lang="en-US" altLang="en-US" sz="2000" dirty="0">
                <a:latin typeface="Courier New" pitchFamily="49" charset="0"/>
              </a:rPr>
              <a:t> Comparable {</a:t>
            </a:r>
          </a:p>
          <a:p>
            <a:pPr eaLnBrk="1" hangingPunct="1">
              <a:buFont typeface="Wingdings" pitchFamily="2" charset="2"/>
              <a:buNone/>
            </a:pPr>
            <a:r>
              <a:rPr lang="en-US" altLang="en-US" sz="2000" dirty="0">
                <a:latin typeface="Courier New" pitchFamily="49" charset="0"/>
              </a:rPr>
              <a:t>		</a:t>
            </a:r>
            <a:r>
              <a:rPr lang="en-US" altLang="en-US" sz="2000" b="1" dirty="0">
                <a:latin typeface="Courier New" pitchFamily="49" charset="0"/>
              </a:rPr>
              <a:t>public</a:t>
            </a:r>
            <a:r>
              <a:rPr lang="en-US" altLang="en-US" sz="2000" dirty="0">
                <a:latin typeface="Courier New" pitchFamily="49" charset="0"/>
              </a:rPr>
              <a:t> </a:t>
            </a:r>
            <a:r>
              <a:rPr lang="en-US" altLang="en-US" sz="2000" b="1" dirty="0" err="1">
                <a:latin typeface="Courier New" pitchFamily="49" charset="0"/>
              </a:rPr>
              <a:t>int</a:t>
            </a:r>
            <a:r>
              <a:rPr lang="en-US" altLang="en-US" sz="2000" dirty="0">
                <a:latin typeface="Courier New" pitchFamily="49" charset="0"/>
              </a:rPr>
              <a:t> </a:t>
            </a:r>
            <a:r>
              <a:rPr lang="en-US" altLang="en-US" sz="2000" dirty="0" err="1">
                <a:latin typeface="Courier New" pitchFamily="49" charset="0"/>
              </a:rPr>
              <a:t>compareTo</a:t>
            </a:r>
            <a:r>
              <a:rPr lang="en-US" altLang="en-US" sz="2000" dirty="0">
                <a:latin typeface="Courier New" pitchFamily="49" charset="0"/>
              </a:rPr>
              <a:t> (Object that);</a:t>
            </a:r>
            <a:br>
              <a:rPr lang="en-US" altLang="en-US" sz="2000" dirty="0">
                <a:latin typeface="Courier New" pitchFamily="49" charset="0"/>
              </a:rPr>
            </a:br>
            <a:r>
              <a:rPr lang="en-US" altLang="en-US" sz="2000" dirty="0">
                <a:latin typeface="Courier New" pitchFamily="49" charset="0"/>
              </a:rPr>
              <a:t>	// </a:t>
            </a:r>
            <a:r>
              <a:rPr lang="en-US" altLang="en-US" sz="2000" dirty="0"/>
              <a:t>Return a negative integer if this object is less than </a:t>
            </a: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 that</a:t>
            </a:r>
            <a:r>
              <a:rPr lang="en-US" altLang="en-US" sz="2000" dirty="0"/>
              <a:t>, or zero if this object is equal to </a:t>
            </a:r>
            <a:r>
              <a:rPr lang="en-US" altLang="en-US" sz="2000" dirty="0">
                <a:latin typeface="Courier New" pitchFamily="49" charset="0"/>
              </a:rPr>
              <a:t>that</a:t>
            </a:r>
            <a:r>
              <a:rPr lang="en-US" altLang="en-US" sz="2000" dirty="0"/>
              <a:t>, or a </a:t>
            </a: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 </a:t>
            </a:r>
            <a:r>
              <a:rPr lang="en-US" altLang="en-US" sz="2000" dirty="0"/>
              <a:t>positive integer if this object is greater than </a:t>
            </a:r>
            <a:r>
              <a:rPr lang="en-US" altLang="en-US" sz="2000" dirty="0">
                <a:latin typeface="Courier New" pitchFamily="49" charset="0"/>
              </a:rPr>
              <a:t>that</a:t>
            </a:r>
            <a:r>
              <a:rPr lang="en-US" altLang="en-US" sz="2000" dirty="0"/>
              <a:t>.</a:t>
            </a:r>
            <a:endParaRPr lang="en-US" altLang="en-US" sz="2000" dirty="0">
              <a:latin typeface="Courier New" pitchFamily="49" charset="0"/>
            </a:endParaRPr>
          </a:p>
          <a:p>
            <a:pPr eaLnBrk="1" hangingPunct="1">
              <a:buFont typeface="Wingdings" pitchFamily="2" charset="2"/>
              <a:buNone/>
            </a:pPr>
            <a:r>
              <a:rPr lang="en-US" altLang="en-US" sz="2000" dirty="0">
                <a:latin typeface="Courier New" pitchFamily="49" charset="0"/>
              </a:rPr>
              <a:t>	}</a:t>
            </a:r>
          </a:p>
        </p:txBody>
      </p:sp>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851035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200" dirty="0"/>
              <a:t>Aside: Java’s </a:t>
            </a:r>
            <a:r>
              <a:rPr lang="en-US" altLang="en-US" sz="3200" dirty="0">
                <a:latin typeface="Courier New" pitchFamily="49" charset="0"/>
              </a:rPr>
              <a:t>Comparable</a:t>
            </a:r>
            <a:r>
              <a:rPr lang="en-US" altLang="en-US" sz="3200" dirty="0"/>
              <a:t> interface </a:t>
            </a:r>
            <a:r>
              <a:rPr lang="en-US" altLang="en-US" sz="3200" i="1" dirty="0"/>
              <a:t>(2)</a:t>
            </a:r>
            <a:endParaRPr lang="en-GB" altLang="en-US" sz="3200" dirty="0"/>
          </a:p>
        </p:txBody>
      </p:sp>
      <p:sp>
        <p:nvSpPr>
          <p:cNvPr id="9219" name="Rectangle 3"/>
          <p:cNvSpPr>
            <a:spLocks noGrp="1" noChangeArrowheads="1"/>
          </p:cNvSpPr>
          <p:nvPr>
            <p:ph idx="1"/>
          </p:nvPr>
        </p:nvSpPr>
        <p:spPr>
          <a:noFill/>
        </p:spPr>
        <p:txBody>
          <a:bodyPr/>
          <a:lstStyle/>
          <a:p>
            <a:pPr eaLnBrk="1" hangingPunct="1">
              <a:lnSpc>
                <a:spcPct val="80000"/>
              </a:lnSpc>
            </a:pPr>
            <a:r>
              <a:rPr lang="en-US" altLang="en-US" dirty="0"/>
              <a:t>If a class </a:t>
            </a:r>
            <a:r>
              <a:rPr lang="en-US" altLang="en-US" dirty="0">
                <a:latin typeface="Courier New" pitchFamily="49" charset="0"/>
              </a:rPr>
              <a:t>Thing</a:t>
            </a:r>
            <a:r>
              <a:rPr lang="en-US" altLang="en-US" dirty="0"/>
              <a:t> implements </a:t>
            </a:r>
            <a:r>
              <a:rPr lang="en-US" altLang="en-US" dirty="0">
                <a:latin typeface="Courier New" pitchFamily="49" charset="0"/>
              </a:rPr>
              <a:t>Comparable</a:t>
            </a:r>
            <a:r>
              <a:rPr lang="en-US" altLang="en-US" dirty="0"/>
              <a:t>, it must define the </a:t>
            </a:r>
            <a:r>
              <a:rPr lang="en-US" altLang="en-US" dirty="0" err="1">
                <a:latin typeface="Courier New" pitchFamily="49" charset="0"/>
              </a:rPr>
              <a:t>compareTo</a:t>
            </a:r>
            <a:r>
              <a:rPr lang="en-US" altLang="en-US" dirty="0"/>
              <a:t> method in accordance with the above contract:</a:t>
            </a:r>
          </a:p>
          <a:p>
            <a:pPr eaLnBrk="1" hangingPunct="1">
              <a:lnSpc>
                <a:spcPct val="80000"/>
              </a:lnSpc>
              <a:buFont typeface="Wingdings" pitchFamily="2" charset="2"/>
              <a:buNone/>
            </a:pPr>
            <a:r>
              <a:rPr lang="en-US" altLang="en-US" sz="2000" dirty="0"/>
              <a:t>	</a:t>
            </a:r>
            <a:r>
              <a:rPr lang="en-US" altLang="en-US" sz="2000" b="1" dirty="0">
                <a:latin typeface="Courier New" pitchFamily="49" charset="0"/>
              </a:rPr>
              <a:t>public</a:t>
            </a:r>
            <a:r>
              <a:rPr lang="en-US" altLang="en-US" sz="2000" dirty="0">
                <a:latin typeface="Courier New" pitchFamily="49" charset="0"/>
              </a:rPr>
              <a:t> </a:t>
            </a:r>
            <a:r>
              <a:rPr lang="en-US" altLang="en-US" sz="2000" b="1" dirty="0">
                <a:latin typeface="Courier New" pitchFamily="49" charset="0"/>
              </a:rPr>
              <a:t>class</a:t>
            </a:r>
            <a:r>
              <a:rPr lang="en-US" altLang="en-US" sz="2000" dirty="0">
                <a:latin typeface="Courier New" pitchFamily="49" charset="0"/>
              </a:rPr>
              <a:t> Thing </a:t>
            </a:r>
            <a:r>
              <a:rPr lang="en-US" altLang="en-US" sz="2000" b="1" dirty="0">
                <a:latin typeface="Courier New" pitchFamily="49" charset="0"/>
              </a:rPr>
              <a:t>implements</a:t>
            </a:r>
            <a:r>
              <a:rPr lang="en-US" altLang="en-US" sz="2000" dirty="0">
                <a:latin typeface="Courier New" pitchFamily="49" charset="0"/>
              </a:rPr>
              <a:t> Comparable {</a:t>
            </a:r>
          </a:p>
          <a:p>
            <a:pPr eaLnBrk="1" hangingPunct="1">
              <a:lnSpc>
                <a:spcPct val="80000"/>
              </a:lnSpc>
              <a:buFont typeface="Wingdings" pitchFamily="2" charset="2"/>
              <a:buNone/>
            </a:pPr>
            <a:r>
              <a:rPr lang="en-US" altLang="en-US" sz="2000" dirty="0">
                <a:latin typeface="Courier New" pitchFamily="49" charset="0"/>
              </a:rPr>
              <a:t>		…</a:t>
            </a:r>
          </a:p>
          <a:p>
            <a:pPr eaLnBrk="1" hangingPunct="1">
              <a:lnSpc>
                <a:spcPct val="80000"/>
              </a:lnSpc>
              <a:buFont typeface="Wingdings" pitchFamily="2" charset="2"/>
              <a:buNone/>
            </a:pPr>
            <a:r>
              <a:rPr lang="en-US" altLang="en-US" sz="2000" dirty="0">
                <a:latin typeface="Courier New" pitchFamily="49" charset="0"/>
              </a:rPr>
              <a:t>		</a:t>
            </a:r>
            <a:r>
              <a:rPr lang="en-US" altLang="en-US" sz="2000" b="1" dirty="0">
                <a:latin typeface="Courier New" pitchFamily="49" charset="0"/>
              </a:rPr>
              <a:t>public</a:t>
            </a:r>
            <a:r>
              <a:rPr lang="en-US" altLang="en-US" sz="2000" dirty="0">
                <a:latin typeface="Courier New" pitchFamily="49" charset="0"/>
              </a:rPr>
              <a:t> </a:t>
            </a:r>
            <a:r>
              <a:rPr lang="en-US" altLang="en-US" sz="2000" b="1" dirty="0" err="1">
                <a:latin typeface="Courier New" pitchFamily="49" charset="0"/>
              </a:rPr>
              <a:t>int</a:t>
            </a:r>
            <a:r>
              <a:rPr lang="en-US" altLang="en-US" sz="2000" dirty="0">
                <a:latin typeface="Courier New" pitchFamily="49" charset="0"/>
              </a:rPr>
              <a:t> </a:t>
            </a:r>
            <a:r>
              <a:rPr lang="en-US" altLang="en-US" sz="2000" dirty="0" err="1">
                <a:latin typeface="Courier New" pitchFamily="49" charset="0"/>
              </a:rPr>
              <a:t>compareTo</a:t>
            </a:r>
            <a:r>
              <a:rPr lang="en-US" altLang="en-US" sz="2000" dirty="0">
                <a:latin typeface="Courier New" pitchFamily="49" charset="0"/>
              </a:rPr>
              <a:t> (Object that) {</a:t>
            </a:r>
            <a:r>
              <a:rPr lang="en-US" altLang="en-US" sz="2000" dirty="0"/>
              <a:t>…</a:t>
            </a:r>
            <a:r>
              <a:rPr lang="en-US" altLang="en-US" sz="2000" dirty="0">
                <a:latin typeface="Courier New" pitchFamily="49" charset="0"/>
              </a:rPr>
              <a:t>}</a:t>
            </a:r>
            <a:br>
              <a:rPr lang="en-US" altLang="en-US" sz="2000" dirty="0">
                <a:latin typeface="Courier New" pitchFamily="49" charset="0"/>
              </a:rPr>
            </a:br>
            <a:r>
              <a:rPr lang="en-US" altLang="en-US" sz="2000" dirty="0">
                <a:latin typeface="Courier New" pitchFamily="49" charset="0"/>
              </a:rPr>
              <a:t>	// </a:t>
            </a:r>
            <a:r>
              <a:rPr lang="en-US" altLang="en-US" sz="2000" dirty="0"/>
              <a:t>Return a negative integer if this thing is less than </a:t>
            </a: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 that</a:t>
            </a:r>
            <a:r>
              <a:rPr lang="en-US" altLang="en-US" sz="2000" dirty="0"/>
              <a:t>, or zero if this thing is equal to </a:t>
            </a:r>
            <a:r>
              <a:rPr lang="en-US" altLang="en-US" sz="2000" dirty="0">
                <a:latin typeface="Courier New" pitchFamily="49" charset="0"/>
              </a:rPr>
              <a:t>that</a:t>
            </a:r>
            <a:r>
              <a:rPr lang="en-US" altLang="en-US" sz="2000" dirty="0"/>
              <a:t>, or a </a:t>
            </a: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 </a:t>
            </a:r>
            <a:r>
              <a:rPr lang="en-US" altLang="en-US" sz="2000" dirty="0"/>
              <a:t>positive integer if this thing is greater than </a:t>
            </a:r>
            <a:r>
              <a:rPr lang="en-US" altLang="en-US" sz="2000" dirty="0">
                <a:latin typeface="Courier New" pitchFamily="49" charset="0"/>
              </a:rPr>
              <a:t>that</a:t>
            </a:r>
            <a:r>
              <a:rPr lang="en-US" altLang="en-US" sz="2000" dirty="0"/>
              <a:t>.</a:t>
            </a:r>
            <a:endParaRPr lang="en-US" altLang="en-US" sz="2000" dirty="0">
              <a:latin typeface="Courier New" pitchFamily="49" charset="0"/>
            </a:endParaRPr>
          </a:p>
          <a:p>
            <a:pPr eaLnBrk="1" hangingPunct="1">
              <a:lnSpc>
                <a:spcPct val="80000"/>
              </a:lnSpc>
              <a:buFont typeface="Wingdings" pitchFamily="2" charset="2"/>
              <a:buNone/>
            </a:pPr>
            <a:r>
              <a:rPr lang="en-US" altLang="en-US" sz="2000" dirty="0">
                <a:latin typeface="Courier New" pitchFamily="49" charset="0"/>
              </a:rPr>
              <a:t>	}</a:t>
            </a:r>
          </a:p>
          <a:p>
            <a:pPr eaLnBrk="1" hangingPunct="1">
              <a:lnSpc>
                <a:spcPct val="80000"/>
              </a:lnSpc>
            </a:pPr>
            <a:r>
              <a:rPr lang="en-US" altLang="en-US" dirty="0"/>
              <a:t>This captures the notion of “less” and “greater” for objects of class </a:t>
            </a:r>
            <a:r>
              <a:rPr lang="en-US" altLang="en-US" dirty="0">
                <a:latin typeface="Courier New" pitchFamily="49" charset="0"/>
              </a:rPr>
              <a:t>Thing</a:t>
            </a:r>
            <a:r>
              <a:rPr lang="en-US" altLang="en-US" dirty="0"/>
              <a:t>.</a:t>
            </a:r>
          </a:p>
          <a:p>
            <a:pPr eaLnBrk="1" hangingPunct="1">
              <a:lnSpc>
                <a:spcPct val="80000"/>
              </a:lnSpc>
            </a:pPr>
            <a:r>
              <a:rPr lang="en-US" altLang="en-US" dirty="0">
                <a:latin typeface="Courier New" pitchFamily="49" charset="0"/>
              </a:rPr>
              <a:t>String</a:t>
            </a:r>
            <a:r>
              <a:rPr lang="en-US" altLang="en-US" dirty="0"/>
              <a:t>, </a:t>
            </a:r>
            <a:r>
              <a:rPr lang="en-US" altLang="en-US" dirty="0">
                <a:latin typeface="Courier New" pitchFamily="49" charset="0"/>
              </a:rPr>
              <a:t>Integer</a:t>
            </a:r>
            <a:r>
              <a:rPr lang="en-US" altLang="en-US" dirty="0"/>
              <a:t>, … implement </a:t>
            </a:r>
            <a:r>
              <a:rPr lang="en-US" altLang="en-US" dirty="0">
                <a:latin typeface="Courier New" pitchFamily="49" charset="0"/>
              </a:rPr>
              <a:t>Comparable</a:t>
            </a:r>
            <a:r>
              <a:rPr lang="en-US" altLang="en-US" dirty="0"/>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301958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200" dirty="0"/>
              <a:t>Aside: </a:t>
            </a:r>
            <a:r>
              <a:rPr lang="en-US" altLang="en-US" sz="3200"/>
              <a:t>Java’s </a:t>
            </a:r>
            <a:r>
              <a:rPr lang="en-US" altLang="en-US" sz="3200">
                <a:latin typeface="Courier New" pitchFamily="49" charset="0"/>
              </a:rPr>
              <a:t>Comparable&lt;E&gt;</a:t>
            </a:r>
            <a:r>
              <a:rPr lang="en-US" altLang="en-US" sz="3200"/>
              <a:t> </a:t>
            </a:r>
            <a:r>
              <a:rPr lang="en-US" altLang="en-US" sz="3200" dirty="0"/>
              <a:t>interface </a:t>
            </a:r>
            <a:r>
              <a:rPr lang="en-US" altLang="en-US" sz="3200" i="1" dirty="0"/>
              <a:t>(2)</a:t>
            </a:r>
            <a:endParaRPr lang="en-GB" altLang="en-US" sz="3200" dirty="0"/>
          </a:p>
        </p:txBody>
      </p:sp>
      <p:sp>
        <p:nvSpPr>
          <p:cNvPr id="9219" name="Rectangle 3"/>
          <p:cNvSpPr>
            <a:spLocks noGrp="1" noChangeArrowheads="1"/>
          </p:cNvSpPr>
          <p:nvPr>
            <p:ph idx="1"/>
          </p:nvPr>
        </p:nvSpPr>
        <p:spPr>
          <a:xfrm>
            <a:off x="435429" y="1371600"/>
            <a:ext cx="8229600" cy="4114800"/>
          </a:xfrm>
          <a:noFill/>
        </p:spPr>
        <p:txBody>
          <a:bodyPr>
            <a:normAutofit lnSpcReduction="10000"/>
          </a:bodyPr>
          <a:lstStyle/>
          <a:p>
            <a:pPr eaLnBrk="1" hangingPunct="1">
              <a:lnSpc>
                <a:spcPct val="80000"/>
              </a:lnSpc>
            </a:pPr>
            <a:r>
              <a:rPr lang="en-US" altLang="en-US" dirty="0"/>
              <a:t>As we saw in </a:t>
            </a:r>
            <a:r>
              <a:rPr lang="en-US" altLang="en-US" dirty="0" err="1"/>
              <a:t>ProgIt</a:t>
            </a:r>
            <a:r>
              <a:rPr lang="en-US" altLang="en-US" dirty="0"/>
              <a:t>, there’s also a </a:t>
            </a:r>
            <a:r>
              <a:rPr lang="en-US" altLang="en-US" dirty="0">
                <a:solidFill>
                  <a:schemeClr val="tx2"/>
                </a:solidFill>
              </a:rPr>
              <a:t>generic</a:t>
            </a:r>
            <a:r>
              <a:rPr lang="en-US" altLang="en-US" dirty="0"/>
              <a:t> version</a:t>
            </a:r>
          </a:p>
          <a:p>
            <a:pPr eaLnBrk="1" hangingPunct="1">
              <a:lnSpc>
                <a:spcPct val="80000"/>
              </a:lnSpc>
            </a:pPr>
            <a:r>
              <a:rPr lang="en-US" altLang="en-US" dirty="0"/>
              <a:t>Much nicer because don’t have to </a:t>
            </a:r>
            <a:r>
              <a:rPr lang="en-US" altLang="en-US"/>
              <a:t>check “that” </a:t>
            </a:r>
            <a:r>
              <a:rPr lang="en-US" altLang="en-US" dirty="0"/>
              <a:t>is a member of the right class</a:t>
            </a:r>
          </a:p>
          <a:p>
            <a:pPr eaLnBrk="1" hangingPunct="1">
              <a:lnSpc>
                <a:spcPct val="80000"/>
              </a:lnSpc>
            </a:pPr>
            <a:r>
              <a:rPr lang="en-US" altLang="en-US" dirty="0"/>
              <a:t>In this course we will use generics a lot</a:t>
            </a:r>
          </a:p>
          <a:p>
            <a:pPr eaLnBrk="1" hangingPunct="1">
              <a:lnSpc>
                <a:spcPct val="80000"/>
              </a:lnSpc>
            </a:pPr>
            <a:r>
              <a:rPr lang="en-US" altLang="en-US" dirty="0"/>
              <a:t>Having an array of objects is ok for now but</a:t>
            </a:r>
          </a:p>
          <a:p>
            <a:pPr lvl="1">
              <a:lnSpc>
                <a:spcPct val="80000"/>
              </a:lnSpc>
            </a:pPr>
            <a:r>
              <a:rPr lang="en-US" altLang="en-US" dirty="0"/>
              <a:t>Harder</a:t>
            </a:r>
          </a:p>
          <a:p>
            <a:pPr lvl="1">
              <a:lnSpc>
                <a:spcPct val="80000"/>
              </a:lnSpc>
            </a:pPr>
            <a:r>
              <a:rPr lang="en-US" altLang="en-US" dirty="0"/>
              <a:t>A bit old fashioned and clunky</a:t>
            </a:r>
          </a:p>
          <a:p>
            <a:pPr lvl="1">
              <a:lnSpc>
                <a:spcPct val="80000"/>
              </a:lnSpc>
            </a:pPr>
            <a:r>
              <a:rPr lang="en-US" altLang="en-US" dirty="0"/>
              <a:t>Useful for heterogenous collections only</a:t>
            </a:r>
          </a:p>
          <a:p>
            <a:pPr marL="274320" lvl="1" indent="0">
              <a:lnSpc>
                <a:spcPct val="80000"/>
              </a:lnSpc>
              <a:buNone/>
            </a:pPr>
            <a:endParaRPr lang="en-US" altLang="en-US" dirty="0"/>
          </a:p>
          <a:p>
            <a:pPr>
              <a:lnSpc>
                <a:spcPct val="80000"/>
              </a:lnSpc>
            </a:pPr>
            <a:r>
              <a:rPr lang="en-US" altLang="en-US" dirty="0"/>
              <a:t>Will do almost everything using generics (when appropriate) from now on.</a:t>
            </a:r>
          </a:p>
          <a:p>
            <a:pPr marL="0" indent="0">
              <a:lnSpc>
                <a:spcPct val="80000"/>
              </a:lnSpc>
              <a:buNone/>
            </a:pPr>
            <a:endParaRPr lang="en-US" altLang="en-US" dirty="0"/>
          </a:p>
          <a:p>
            <a:pPr lvl="1">
              <a:lnSpc>
                <a:spcPct val="80000"/>
              </a:lnSpc>
            </a:pPr>
            <a:r>
              <a:rPr lang="en-US" altLang="en-US" dirty="0"/>
              <a:t>You should revise the generics material from </a:t>
            </a:r>
            <a:r>
              <a:rPr lang="en-US" altLang="en-US" dirty="0" err="1"/>
              <a:t>ProgIT</a:t>
            </a:r>
            <a:r>
              <a:rPr lang="en-US" altLang="en-US" dirty="0"/>
              <a:t> (or look at the pre-course revision slides on generics).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a:p>
        </p:txBody>
      </p:sp>
      <p:sp>
        <p:nvSpPr>
          <p:cNvPr id="5" name="TextBox 4">
            <a:extLst>
              <a:ext uri="{FF2B5EF4-FFF2-40B4-BE49-F238E27FC236}">
                <a16:creationId xmlns:a16="http://schemas.microsoft.com/office/drawing/2014/main" id="{90187ADD-D3B4-B441-B2A9-370702CD39EF}"/>
              </a:ext>
            </a:extLst>
          </p:cNvPr>
          <p:cNvSpPr txBox="1"/>
          <p:nvPr/>
        </p:nvSpPr>
        <p:spPr>
          <a:xfrm>
            <a:off x="3546423" y="5628497"/>
            <a:ext cx="5140377" cy="1200329"/>
          </a:xfrm>
          <a:prstGeom prst="rect">
            <a:avLst/>
          </a:prstGeom>
          <a:solidFill>
            <a:srgbClr val="FFFF00"/>
          </a:solidFill>
        </p:spPr>
        <p:txBody>
          <a:bodyPr wrap="square" rtlCol="0">
            <a:spAutoFit/>
          </a:bodyPr>
          <a:lstStyle/>
          <a:p>
            <a:r>
              <a:rPr lang="en-GB" dirty="0"/>
              <a:t>What if we want to sort with respect to different elements of a class at different times? Use Comparators, see example “</a:t>
            </a:r>
            <a:r>
              <a:rPr lang="en-GB" dirty="0" err="1"/>
              <a:t>SortExample</a:t>
            </a:r>
            <a:r>
              <a:rPr lang="en-GB" dirty="0"/>
              <a:t>” in arrays folder (code), see demo.</a:t>
            </a:r>
          </a:p>
        </p:txBody>
      </p:sp>
    </p:spTree>
    <p:extLst>
      <p:ext uri="{BB962C8B-B14F-4D97-AF65-F5344CB8AC3E}">
        <p14:creationId xmlns:p14="http://schemas.microsoft.com/office/powerpoint/2010/main" val="384023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990600"/>
          </a:xfrm>
        </p:spPr>
        <p:txBody>
          <a:bodyPr/>
          <a:lstStyle/>
          <a:p>
            <a:r>
              <a:rPr lang="en-GB" dirty="0"/>
              <a:t>The Arrays class in Java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4" name="TextBox 3"/>
          <p:cNvSpPr txBox="1"/>
          <p:nvPr/>
        </p:nvSpPr>
        <p:spPr>
          <a:xfrm>
            <a:off x="304800" y="1143000"/>
            <a:ext cx="8534400" cy="4524315"/>
          </a:xfrm>
          <a:prstGeom prst="rect">
            <a:avLst/>
          </a:prstGeom>
          <a:noFill/>
        </p:spPr>
        <p:txBody>
          <a:bodyPr wrap="square" rtlCol="0">
            <a:spAutoFit/>
          </a:bodyPr>
          <a:lstStyle/>
          <a:p>
            <a:r>
              <a:rPr lang="en-GB" dirty="0" err="1"/>
              <a:t>Java.util.Arrays</a:t>
            </a:r>
            <a:r>
              <a:rPr lang="en-GB" dirty="0"/>
              <a:t> Contains various (static) methods for manipulating arrays (e.g. cloning, copying, searching, sorting, for common types and generic type T …) See </a:t>
            </a:r>
            <a:r>
              <a:rPr lang="en-GB" dirty="0">
                <a:hlinkClick r:id="rId2"/>
              </a:rPr>
              <a:t>http://docs.oracle.com/javase/8/docs/api/</a:t>
            </a:r>
            <a:r>
              <a:rPr lang="en-GB" dirty="0"/>
              <a:t> for details. E.g. int versions: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3875559282"/>
              </p:ext>
            </p:extLst>
          </p:nvPr>
        </p:nvGraphicFramePr>
        <p:xfrm>
          <a:off x="304800" y="2057400"/>
          <a:ext cx="8307049" cy="4023360"/>
        </p:xfrm>
        <a:graphic>
          <a:graphicData uri="http://schemas.openxmlformats.org/drawingml/2006/table">
            <a:tbl>
              <a:tblPr firstRow="1" bandRow="1">
                <a:tableStyleId>{5C22544A-7EE6-4342-B048-85BDC9FD1C3A}</a:tableStyleId>
              </a:tblPr>
              <a:tblGrid>
                <a:gridCol w="4303426">
                  <a:extLst>
                    <a:ext uri="{9D8B030D-6E8A-4147-A177-3AD203B41FA5}">
                      <a16:colId xmlns:a16="http://schemas.microsoft.com/office/drawing/2014/main" val="20000"/>
                    </a:ext>
                  </a:extLst>
                </a:gridCol>
                <a:gridCol w="801974">
                  <a:extLst>
                    <a:ext uri="{9D8B030D-6E8A-4147-A177-3AD203B41FA5}">
                      <a16:colId xmlns:a16="http://schemas.microsoft.com/office/drawing/2014/main" val="20001"/>
                    </a:ext>
                  </a:extLst>
                </a:gridCol>
                <a:gridCol w="3201649">
                  <a:extLst>
                    <a:ext uri="{9D8B030D-6E8A-4147-A177-3AD203B41FA5}">
                      <a16:colId xmlns:a16="http://schemas.microsoft.com/office/drawing/2014/main" val="20002"/>
                    </a:ext>
                  </a:extLst>
                </a:gridCol>
              </a:tblGrid>
              <a:tr h="370840">
                <a:tc>
                  <a:txBody>
                    <a:bodyPr/>
                    <a:lstStyle/>
                    <a:p>
                      <a:r>
                        <a:rPr lang="en-GB" dirty="0"/>
                        <a:t>(Static) Method</a:t>
                      </a:r>
                    </a:p>
                  </a:txBody>
                  <a:tcPr/>
                </a:tc>
                <a:tc>
                  <a:txBody>
                    <a:bodyPr/>
                    <a:lstStyle/>
                    <a:p>
                      <a:r>
                        <a:rPr lang="en-GB" dirty="0"/>
                        <a:t>Ret type</a:t>
                      </a:r>
                    </a:p>
                  </a:txBody>
                  <a:tcPr/>
                </a:tc>
                <a:tc>
                  <a:txBody>
                    <a:bodyPr/>
                    <a:lstStyle/>
                    <a:p>
                      <a:r>
                        <a:rPr lang="en-GB" dirty="0"/>
                        <a:t>Description</a:t>
                      </a:r>
                    </a:p>
                  </a:txBody>
                  <a:tcPr/>
                </a:tc>
                <a:extLst>
                  <a:ext uri="{0D108BD9-81ED-4DB2-BD59-A6C34878D82A}">
                    <a16:rowId xmlns:a16="http://schemas.microsoft.com/office/drawing/2014/main" val="10000"/>
                  </a:ext>
                </a:extLst>
              </a:tr>
              <a:tr h="370840">
                <a:tc>
                  <a:txBody>
                    <a:bodyPr/>
                    <a:lstStyle/>
                    <a:p>
                      <a:r>
                        <a:rPr lang="en-GB" dirty="0" err="1"/>
                        <a:t>binarySearch</a:t>
                      </a:r>
                      <a:r>
                        <a:rPr lang="en-GB" dirty="0"/>
                        <a:t>(int[] a, int key)</a:t>
                      </a:r>
                    </a:p>
                  </a:txBody>
                  <a:tcPr/>
                </a:tc>
                <a:tc>
                  <a:txBody>
                    <a:bodyPr/>
                    <a:lstStyle/>
                    <a:p>
                      <a:r>
                        <a:rPr lang="en-GB" dirty="0" err="1"/>
                        <a:t>int</a:t>
                      </a:r>
                      <a:endParaRPr lang="en-GB" dirty="0"/>
                    </a:p>
                  </a:txBody>
                  <a:tcPr/>
                </a:tc>
                <a:tc>
                  <a:txBody>
                    <a:bodyPr/>
                    <a:lstStyle/>
                    <a:p>
                      <a:r>
                        <a:rPr lang="en-GB" dirty="0"/>
                        <a:t>Searches specified</a:t>
                      </a:r>
                      <a:r>
                        <a:rPr lang="en-GB" baseline="0" dirty="0"/>
                        <a:t> array of </a:t>
                      </a:r>
                      <a:r>
                        <a:rPr lang="en-GB" baseline="0" dirty="0" err="1"/>
                        <a:t>ints</a:t>
                      </a:r>
                      <a:r>
                        <a:rPr lang="en-GB" baseline="0" dirty="0"/>
                        <a:t> for specified value using binary search algorithm</a:t>
                      </a:r>
                      <a:endParaRPr lang="en-GB" dirty="0"/>
                    </a:p>
                  </a:txBody>
                  <a:tcPr/>
                </a:tc>
                <a:extLst>
                  <a:ext uri="{0D108BD9-81ED-4DB2-BD59-A6C34878D82A}">
                    <a16:rowId xmlns:a16="http://schemas.microsoft.com/office/drawing/2014/main" val="10001"/>
                  </a:ext>
                </a:extLst>
              </a:tr>
              <a:tr h="370840">
                <a:tc>
                  <a:txBody>
                    <a:bodyPr/>
                    <a:lstStyle/>
                    <a:p>
                      <a:r>
                        <a:rPr lang="en-GB" dirty="0" err="1"/>
                        <a:t>copyOf</a:t>
                      </a:r>
                      <a:r>
                        <a:rPr lang="en-GB" dirty="0"/>
                        <a:t>(</a:t>
                      </a:r>
                      <a:r>
                        <a:rPr lang="en-GB" dirty="0" err="1"/>
                        <a:t>int</a:t>
                      </a:r>
                      <a:r>
                        <a:rPr lang="en-GB" dirty="0"/>
                        <a:t>[] original, </a:t>
                      </a:r>
                      <a:r>
                        <a:rPr lang="en-GB" dirty="0" err="1"/>
                        <a:t>int</a:t>
                      </a:r>
                      <a:r>
                        <a:rPr lang="en-GB" dirty="0"/>
                        <a:t> </a:t>
                      </a:r>
                      <a:r>
                        <a:rPr lang="en-GB" dirty="0" err="1"/>
                        <a:t>newLength</a:t>
                      </a:r>
                      <a:r>
                        <a:rPr lang="en-GB" dirty="0"/>
                        <a:t>)</a:t>
                      </a:r>
                    </a:p>
                  </a:txBody>
                  <a:tcPr/>
                </a:tc>
                <a:tc>
                  <a:txBody>
                    <a:bodyPr/>
                    <a:lstStyle/>
                    <a:p>
                      <a:r>
                        <a:rPr lang="en-GB" dirty="0" err="1"/>
                        <a:t>int</a:t>
                      </a:r>
                      <a:r>
                        <a:rPr lang="en-GB" dirty="0"/>
                        <a:t>[]</a:t>
                      </a:r>
                    </a:p>
                  </a:txBody>
                  <a:tcPr/>
                </a:tc>
                <a:tc>
                  <a:txBody>
                    <a:bodyPr/>
                    <a:lstStyle/>
                    <a:p>
                      <a:r>
                        <a:rPr lang="en-GB" dirty="0"/>
                        <a:t>Copies specified array, truncating or padding with </a:t>
                      </a:r>
                      <a:r>
                        <a:rPr lang="en-GB" dirty="0" err="1"/>
                        <a:t>zeros</a:t>
                      </a:r>
                      <a:r>
                        <a:rPr lang="en-GB" dirty="0"/>
                        <a:t> (if necessary) so the copy has the specified length.</a:t>
                      </a:r>
                    </a:p>
                  </a:txBody>
                  <a:tcPr/>
                </a:tc>
                <a:extLst>
                  <a:ext uri="{0D108BD9-81ED-4DB2-BD59-A6C34878D82A}">
                    <a16:rowId xmlns:a16="http://schemas.microsoft.com/office/drawing/2014/main" val="10002"/>
                  </a:ext>
                </a:extLst>
              </a:tr>
              <a:tr h="370840">
                <a:tc>
                  <a:txBody>
                    <a:bodyPr/>
                    <a:lstStyle/>
                    <a:p>
                      <a:r>
                        <a:rPr lang="en-GB" dirty="0"/>
                        <a:t>sort(</a:t>
                      </a:r>
                      <a:r>
                        <a:rPr lang="en-GB" dirty="0" err="1"/>
                        <a:t>int</a:t>
                      </a:r>
                      <a:r>
                        <a:rPr lang="en-GB" dirty="0"/>
                        <a:t>[] a)</a:t>
                      </a:r>
                    </a:p>
                  </a:txBody>
                  <a:tcPr/>
                </a:tc>
                <a:tc>
                  <a:txBody>
                    <a:bodyPr/>
                    <a:lstStyle/>
                    <a:p>
                      <a:r>
                        <a:rPr lang="en-GB" dirty="0"/>
                        <a:t>void</a:t>
                      </a:r>
                    </a:p>
                  </a:txBody>
                  <a:tcPr/>
                </a:tc>
                <a:tc>
                  <a:txBody>
                    <a:bodyPr/>
                    <a:lstStyle/>
                    <a:p>
                      <a:r>
                        <a:rPr lang="en-GB" dirty="0"/>
                        <a:t>Sorts the specified array into ascending numerical order.</a:t>
                      </a:r>
                    </a:p>
                  </a:txBody>
                  <a:tcPr/>
                </a:tc>
                <a:extLst>
                  <a:ext uri="{0D108BD9-81ED-4DB2-BD59-A6C34878D82A}">
                    <a16:rowId xmlns:a16="http://schemas.microsoft.com/office/drawing/2014/main" val="10003"/>
                  </a:ext>
                </a:extLst>
              </a:tr>
              <a:tr h="370840">
                <a:tc>
                  <a:txBody>
                    <a:bodyPr/>
                    <a:lstStyle/>
                    <a:p>
                      <a:r>
                        <a:rPr lang="en-GB" dirty="0"/>
                        <a:t>sort(T[]</a:t>
                      </a:r>
                      <a:r>
                        <a:rPr lang="en-GB" baseline="0" dirty="0"/>
                        <a:t> a, Comparator&lt;T&gt; c)</a:t>
                      </a:r>
                      <a:endParaRPr lang="en-GB" dirty="0"/>
                    </a:p>
                  </a:txBody>
                  <a:tcPr/>
                </a:tc>
                <a:tc>
                  <a:txBody>
                    <a:bodyPr/>
                    <a:lstStyle/>
                    <a:p>
                      <a:r>
                        <a:rPr lang="en-GB" dirty="0"/>
                        <a:t>void</a:t>
                      </a:r>
                    </a:p>
                  </a:txBody>
                  <a:tcPr/>
                </a:tc>
                <a:tc>
                  <a:txBody>
                    <a:bodyPr/>
                    <a:lstStyle/>
                    <a:p>
                      <a:r>
                        <a:rPr lang="en-GB" dirty="0"/>
                        <a:t>Sorts the specified</a:t>
                      </a:r>
                      <a:r>
                        <a:rPr lang="en-GB" baseline="0" dirty="0"/>
                        <a:t> array with respect to the comparator c</a:t>
                      </a:r>
                      <a:endParaRPr lang="en-GB"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1371600" y="6179012"/>
            <a:ext cx="6781800" cy="646331"/>
          </a:xfrm>
          <a:prstGeom prst="rect">
            <a:avLst/>
          </a:prstGeom>
          <a:solidFill>
            <a:srgbClr val="FFFF00"/>
          </a:solidFill>
        </p:spPr>
        <p:txBody>
          <a:bodyPr wrap="square" rtlCol="0">
            <a:spAutoFit/>
          </a:bodyPr>
          <a:lstStyle/>
          <a:p>
            <a:r>
              <a:rPr lang="en-GB" dirty="0"/>
              <a:t>Rest of this section we are going to implement (generic versions of) the insert, search and sort algorithms ourselves</a:t>
            </a:r>
          </a:p>
        </p:txBody>
      </p:sp>
    </p:spTree>
    <p:extLst>
      <p:ext uri="{BB962C8B-B14F-4D97-AF65-F5344CB8AC3E}">
        <p14:creationId xmlns:p14="http://schemas.microsoft.com/office/powerpoint/2010/main" val="99215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3200" dirty="0"/>
              <a:t>Insertion </a:t>
            </a:r>
            <a:r>
              <a:rPr lang="en-US" altLang="en-US" sz="3200" i="1" dirty="0"/>
              <a:t>(1)</a:t>
            </a:r>
            <a:endParaRPr lang="en-GB" altLang="en-US" sz="3200" dirty="0"/>
          </a:p>
        </p:txBody>
      </p:sp>
      <p:sp>
        <p:nvSpPr>
          <p:cNvPr id="10243" name="Rectangle 3"/>
          <p:cNvSpPr>
            <a:spLocks noGrp="1" noChangeArrowheads="1"/>
          </p:cNvSpPr>
          <p:nvPr>
            <p:ph idx="1"/>
          </p:nvPr>
        </p:nvSpPr>
        <p:spPr>
          <a:xfrm>
            <a:off x="228600" y="1371600"/>
            <a:ext cx="7620000" cy="3505200"/>
          </a:xfrm>
          <a:noFill/>
        </p:spPr>
        <p:txBody>
          <a:bodyPr/>
          <a:lstStyle/>
          <a:p>
            <a:pPr eaLnBrk="1" hangingPunct="1">
              <a:tabLst>
                <a:tab pos="723900" algn="l"/>
                <a:tab pos="1257300" algn="l"/>
              </a:tabLst>
            </a:pPr>
            <a:r>
              <a:rPr lang="en-US" altLang="en-US" b="1" dirty="0"/>
              <a:t>Problem</a:t>
            </a:r>
            <a:r>
              <a:rPr lang="en-US" altLang="en-US" dirty="0"/>
              <a:t>: Given a (sub)array </a:t>
            </a:r>
            <a:r>
              <a:rPr lang="en-US" altLang="en-US" i="1" dirty="0"/>
              <a:t>a</a:t>
            </a:r>
            <a:r>
              <a:rPr lang="en-US" altLang="en-US" dirty="0"/>
              <a:t>[</a:t>
            </a:r>
            <a:r>
              <a:rPr lang="en-US" altLang="en-US" i="1" dirty="0"/>
              <a:t>left</a:t>
            </a:r>
            <a:r>
              <a:rPr lang="en-US" altLang="en-US" dirty="0"/>
              <a:t>…</a:t>
            </a:r>
            <a:r>
              <a:rPr lang="en-US" altLang="en-US" i="1" dirty="0"/>
              <a:t>right</a:t>
            </a:r>
            <a:r>
              <a:rPr lang="en-US" altLang="en-US" dirty="0"/>
              <a:t>], insert an element </a:t>
            </a:r>
            <a:r>
              <a:rPr lang="en-US" altLang="en-US" i="1" dirty="0" err="1"/>
              <a:t>elem</a:t>
            </a:r>
            <a:r>
              <a:rPr lang="en-US" altLang="en-US" dirty="0"/>
              <a:t> in the slot </a:t>
            </a:r>
            <a:r>
              <a:rPr lang="en-US" altLang="en-US" i="1" dirty="0"/>
              <a:t>a</a:t>
            </a:r>
            <a:r>
              <a:rPr lang="en-US" altLang="en-US" dirty="0"/>
              <a:t>[</a:t>
            </a:r>
            <a:r>
              <a:rPr lang="en-US" altLang="en-US" i="1" dirty="0"/>
              <a:t>ins</a:t>
            </a:r>
            <a:r>
              <a:rPr lang="en-US" altLang="en-US" dirty="0"/>
              <a:t>]. If necessary, shift elements to make way for it.</a:t>
            </a:r>
          </a:p>
          <a:p>
            <a:pPr eaLnBrk="1" hangingPunct="1">
              <a:tabLst>
                <a:tab pos="723900" algn="l"/>
                <a:tab pos="1257300" algn="l"/>
              </a:tabLst>
            </a:pPr>
            <a:r>
              <a:rPr lang="en-US" altLang="en-US" b="1" dirty="0"/>
              <a:t>Array insertion algorithm</a:t>
            </a:r>
            <a:r>
              <a:rPr lang="en-US" altLang="en-US" dirty="0"/>
              <a:t>:</a:t>
            </a:r>
          </a:p>
          <a:p>
            <a:pPr eaLnBrk="1" hangingPunct="1">
              <a:buFont typeface="Wingdings" pitchFamily="2" charset="2"/>
              <a:buNone/>
              <a:tabLst>
                <a:tab pos="723900" algn="l"/>
                <a:tab pos="1257300" algn="l"/>
              </a:tabLst>
            </a:pPr>
            <a:r>
              <a:rPr lang="en-US" altLang="en-US" sz="2000" dirty="0">
                <a:latin typeface="Times New Roman" pitchFamily="18" charset="0"/>
              </a:rPr>
              <a:t>	To insert </a:t>
            </a:r>
            <a:r>
              <a:rPr lang="en-US" altLang="en-US" sz="2000" i="1" dirty="0" err="1">
                <a:latin typeface="Times New Roman" pitchFamily="18" charset="0"/>
              </a:rPr>
              <a:t>elem</a:t>
            </a:r>
            <a:r>
              <a:rPr lang="en-US" altLang="en-US" sz="2000" dirty="0">
                <a:latin typeface="Times New Roman" pitchFamily="18" charset="0"/>
              </a:rPr>
              <a:t> at index </a:t>
            </a:r>
            <a:r>
              <a:rPr lang="en-US" altLang="en-US" sz="2000" i="1" dirty="0">
                <a:latin typeface="Times New Roman" pitchFamily="18" charset="0"/>
              </a:rPr>
              <a:t>ins</a:t>
            </a:r>
            <a:r>
              <a:rPr lang="en-US" altLang="en-US" sz="2000" dirty="0">
                <a:latin typeface="Times New Roman" pitchFamily="18" charset="0"/>
              </a:rPr>
              <a:t> in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a:t>
            </a:r>
            <a:br>
              <a:rPr lang="en-US" altLang="en-US" sz="2000" dirty="0">
                <a:latin typeface="Times New Roman" pitchFamily="18" charset="0"/>
              </a:rPr>
            </a:br>
            <a:r>
              <a:rPr lang="en-US" altLang="en-US" sz="2000" dirty="0">
                <a:latin typeface="Times New Roman" pitchFamily="18" charset="0"/>
              </a:rPr>
              <a:t>(where </a:t>
            </a:r>
            <a:r>
              <a:rPr lang="en-US" altLang="en-US" sz="2000" i="1" dirty="0">
                <a:latin typeface="Times New Roman" pitchFamily="18" charset="0"/>
              </a:rPr>
              <a:t>left</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ins</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right</a:t>
            </a:r>
            <a:r>
              <a:rPr lang="en-US" altLang="en-US" sz="2000" dirty="0">
                <a:latin typeface="Times New Roman" pitchFamily="18" charset="0"/>
              </a:rPr>
              <a:t>):</a:t>
            </a:r>
          </a:p>
          <a:p>
            <a:pPr eaLnBrk="1" hangingPunct="1">
              <a:spcBef>
                <a:spcPts val="900"/>
              </a:spcBef>
              <a:buFont typeface="Wingdings" pitchFamily="2" charset="2"/>
              <a:buNone/>
              <a:tabLst>
                <a:tab pos="723900" algn="l"/>
                <a:tab pos="1257300" algn="l"/>
              </a:tabLst>
            </a:pPr>
            <a:r>
              <a:rPr lang="en-US" altLang="en-US" sz="2000" dirty="0">
                <a:latin typeface="Times New Roman" pitchFamily="18" charset="0"/>
              </a:rPr>
              <a:t>	1.	Copy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ins</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–1] into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ins</a:t>
            </a:r>
            <a:r>
              <a:rPr lang="en-US" altLang="en-US" sz="2000" dirty="0">
                <a:latin typeface="Times New Roman" pitchFamily="18" charset="0"/>
              </a:rPr>
              <a:t>+1…</a:t>
            </a:r>
            <a:r>
              <a:rPr lang="en-US" altLang="en-US" sz="2000" i="1" dirty="0">
                <a:latin typeface="Times New Roman" pitchFamily="18" charset="0"/>
              </a:rPr>
              <a:t>right</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Copy </a:t>
            </a:r>
            <a:r>
              <a:rPr lang="en-US" altLang="en-US" sz="2000" i="1" dirty="0" err="1">
                <a:latin typeface="Times New Roman" pitchFamily="18" charset="0"/>
              </a:rPr>
              <a:t>elem</a:t>
            </a:r>
            <a:r>
              <a:rPr lang="en-US" altLang="en-US" sz="2000" dirty="0">
                <a:latin typeface="Times New Roman" pitchFamily="18" charset="0"/>
              </a:rPr>
              <a:t> into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ins</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3.	Terminate.</a:t>
            </a:r>
          </a:p>
          <a:p>
            <a:pPr eaLnBrk="1" hangingPunct="1">
              <a:spcBef>
                <a:spcPts val="900"/>
              </a:spcBef>
              <a:buFont typeface="Wingdings" pitchFamily="2" charset="2"/>
              <a:buNone/>
              <a:tabLst>
                <a:tab pos="723900" algn="l"/>
                <a:tab pos="1257300" algn="l"/>
              </a:tabLst>
            </a:pPr>
            <a:endParaRPr lang="en-US" altLang="en-US" sz="2000" dirty="0">
              <a:latin typeface="Times New Roman" pitchFamily="18" charset="0"/>
            </a:endParaRPr>
          </a:p>
        </p:txBody>
      </p:sp>
      <p:sp>
        <p:nvSpPr>
          <p:cNvPr id="377860" name="AutoShape 4"/>
          <p:cNvSpPr>
            <a:spLocks/>
          </p:cNvSpPr>
          <p:nvPr/>
        </p:nvSpPr>
        <p:spPr bwMode="auto">
          <a:xfrm>
            <a:off x="5943600" y="3581400"/>
            <a:ext cx="1547812" cy="720725"/>
          </a:xfrm>
          <a:prstGeom prst="callout1">
            <a:avLst>
              <a:gd name="adj1" fmla="val 15861"/>
              <a:gd name="adj2" fmla="val -4921"/>
              <a:gd name="adj3" fmla="val 23130"/>
              <a:gd name="adj4" fmla="val -21231"/>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GB" altLang="en-US" sz="1800" dirty="0">
                <a:solidFill>
                  <a:schemeClr val="accent1">
                    <a:lumMod val="50000"/>
                  </a:schemeClr>
                </a:solidFill>
              </a:rPr>
              <a:t>i.e., shift elements one slot to the right</a:t>
            </a:r>
            <a:endParaRPr lang="en-US" altLang="en-US" sz="1800" dirty="0">
              <a:solidFill>
                <a:schemeClr val="accent1">
                  <a:lumMod val="50000"/>
                </a:schemeClr>
              </a:solidFill>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843121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7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z="3200" dirty="0"/>
              <a:t>Insertion </a:t>
            </a:r>
            <a:r>
              <a:rPr lang="en-US" altLang="en-US" sz="3200" i="1" dirty="0"/>
              <a:t>(2)</a:t>
            </a:r>
            <a:endParaRPr lang="en-GB" altLang="en-US" sz="3200" dirty="0"/>
          </a:p>
        </p:txBody>
      </p:sp>
      <p:sp>
        <p:nvSpPr>
          <p:cNvPr id="11267" name="Rectangle 3"/>
          <p:cNvSpPr>
            <a:spLocks noGrp="1" noChangeArrowheads="1"/>
          </p:cNvSpPr>
          <p:nvPr>
            <p:ph idx="1"/>
          </p:nvPr>
        </p:nvSpPr>
        <p:spPr>
          <a:xfrm>
            <a:off x="457200" y="1600200"/>
            <a:ext cx="8229600" cy="4038600"/>
          </a:xfrm>
          <a:noFill/>
        </p:spPr>
        <p:txBody>
          <a:bodyPr/>
          <a:lstStyle/>
          <a:p>
            <a:pPr eaLnBrk="1" hangingPunct="1">
              <a:tabLst>
                <a:tab pos="3594100" algn="l"/>
              </a:tabLst>
            </a:pPr>
            <a:r>
              <a:rPr lang="en-US" altLang="en-US"/>
              <a:t>Analysis (counting copies):</a:t>
            </a:r>
          </a:p>
          <a:p>
            <a:pPr eaLnBrk="1" hangingPunct="1">
              <a:spcBef>
                <a:spcPts val="900"/>
              </a:spcBef>
              <a:buFont typeface="Wingdings" pitchFamily="2" charset="2"/>
              <a:buNone/>
              <a:tabLst>
                <a:tab pos="3594100" algn="l"/>
              </a:tabLst>
            </a:pPr>
            <a:r>
              <a:rPr lang="en-US" altLang="en-US"/>
              <a:t>	Let </a:t>
            </a:r>
            <a:r>
              <a:rPr lang="en-US" altLang="en-US" i="1"/>
              <a:t>n</a:t>
            </a:r>
            <a:r>
              <a:rPr lang="en-US" altLang="en-US"/>
              <a:t> = </a:t>
            </a:r>
            <a:r>
              <a:rPr lang="en-US" altLang="en-US" i="1"/>
              <a:t>right </a:t>
            </a:r>
            <a:r>
              <a:rPr lang="en-US" altLang="en-US"/>
              <a:t>– </a:t>
            </a:r>
            <a:r>
              <a:rPr lang="en-US" altLang="en-US" i="1"/>
              <a:t>left </a:t>
            </a:r>
            <a:r>
              <a:rPr lang="en-US" altLang="en-US"/>
              <a:t>+ 1 be the length of the array.</a:t>
            </a:r>
          </a:p>
          <a:p>
            <a:pPr eaLnBrk="1" hangingPunct="1">
              <a:spcBef>
                <a:spcPts val="900"/>
              </a:spcBef>
              <a:buFont typeface="Wingdings" pitchFamily="2" charset="2"/>
              <a:buNone/>
              <a:tabLst>
                <a:tab pos="3594100" algn="l"/>
              </a:tabLst>
            </a:pPr>
            <a:r>
              <a:rPr lang="en-US" altLang="en-US"/>
              <a:t>	Step 1 performs between 0 and </a:t>
            </a:r>
            <a:r>
              <a:rPr lang="en-US" altLang="en-US" i="1"/>
              <a:t>n</a:t>
            </a:r>
            <a:r>
              <a:rPr lang="en-US" altLang="en-US"/>
              <a:t>–1 copies. On average it performs (</a:t>
            </a:r>
            <a:r>
              <a:rPr lang="en-US" altLang="en-US" i="1"/>
              <a:t>n</a:t>
            </a:r>
            <a:r>
              <a:rPr lang="en-US" altLang="en-US"/>
              <a:t>–1)/2 copies.</a:t>
            </a:r>
          </a:p>
          <a:p>
            <a:pPr eaLnBrk="1" hangingPunct="1">
              <a:spcBef>
                <a:spcPts val="900"/>
              </a:spcBef>
              <a:buFont typeface="Wingdings" pitchFamily="2" charset="2"/>
              <a:buNone/>
              <a:tabLst>
                <a:tab pos="3594100" algn="l"/>
              </a:tabLst>
            </a:pPr>
            <a:r>
              <a:rPr lang="en-US" altLang="en-US"/>
              <a:t>	Step 2 performs 1 copy.</a:t>
            </a:r>
          </a:p>
          <a:p>
            <a:pPr eaLnBrk="1" hangingPunct="1">
              <a:spcBef>
                <a:spcPts val="900"/>
              </a:spcBef>
              <a:buFont typeface="Wingdings" pitchFamily="2" charset="2"/>
              <a:buNone/>
              <a:tabLst>
                <a:tab pos="3594100" algn="l"/>
              </a:tabLst>
            </a:pPr>
            <a:r>
              <a:rPr lang="en-US" altLang="en-US"/>
              <a:t>	Average no. of copies	=  (</a:t>
            </a:r>
            <a:r>
              <a:rPr lang="en-US" altLang="en-US" i="1"/>
              <a:t>n </a:t>
            </a:r>
            <a:r>
              <a:rPr lang="en-US" altLang="en-US"/>
              <a:t>– 1)/2 + 1</a:t>
            </a:r>
            <a:br>
              <a:rPr lang="en-US" altLang="en-US"/>
            </a:br>
            <a:r>
              <a:rPr lang="en-US" altLang="en-US"/>
              <a:t>	=  </a:t>
            </a:r>
            <a:r>
              <a:rPr lang="en-US" altLang="en-US" i="1"/>
              <a:t>n</a:t>
            </a:r>
            <a:r>
              <a:rPr lang="en-US" altLang="en-US"/>
              <a:t>/2 + 1/2</a:t>
            </a:r>
            <a:br>
              <a:rPr lang="en-US" altLang="en-US"/>
            </a:br>
            <a:r>
              <a:rPr lang="en-US" altLang="en-US"/>
              <a:t>	</a:t>
            </a:r>
            <a:r>
              <a:rPr lang="en-US" altLang="en-US">
                <a:sym typeface="Symbol" pitchFamily="18" charset="2"/>
              </a:rPr>
              <a:t></a:t>
            </a:r>
            <a:r>
              <a:rPr lang="en-US" altLang="en-US"/>
              <a:t>  </a:t>
            </a:r>
            <a:r>
              <a:rPr lang="en-US" altLang="en-US" i="1"/>
              <a:t>n</a:t>
            </a:r>
            <a:r>
              <a:rPr lang="en-US" altLang="en-US"/>
              <a:t>/2</a:t>
            </a:r>
          </a:p>
          <a:p>
            <a:pPr eaLnBrk="1" hangingPunct="1">
              <a:spcBef>
                <a:spcPts val="900"/>
              </a:spcBef>
              <a:buFont typeface="Wingdings" pitchFamily="2" charset="2"/>
              <a:buNone/>
              <a:tabLst>
                <a:tab pos="3594100" algn="l"/>
              </a:tabLst>
            </a:pPr>
            <a:r>
              <a:rPr lang="en-US" altLang="en-US"/>
              <a:t>	Time complexity is </a:t>
            </a:r>
            <a:r>
              <a:rPr lang="en-US" altLang="en-US" i="1"/>
              <a:t>O</a:t>
            </a:r>
            <a:r>
              <a:rPr lang="en-US" altLang="en-US"/>
              <a:t>(</a:t>
            </a:r>
            <a:r>
              <a:rPr lang="en-US" altLang="en-US" i="1"/>
              <a:t>n</a:t>
            </a:r>
            <a:r>
              <a:rPr lang="en-US" altLang="en-US"/>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sp>
        <p:nvSpPr>
          <p:cNvPr id="3" name="Rectangle 2"/>
          <p:cNvSpPr/>
          <p:nvPr/>
        </p:nvSpPr>
        <p:spPr>
          <a:xfrm>
            <a:off x="3733800" y="5638800"/>
            <a:ext cx="5257800" cy="923330"/>
          </a:xfrm>
          <a:prstGeom prst="rect">
            <a:avLst/>
          </a:prstGeom>
          <a:ln>
            <a:solidFill>
              <a:schemeClr val="tx2"/>
            </a:solidFill>
          </a:ln>
        </p:spPr>
        <p:txBody>
          <a:bodyPr wrap="square">
            <a:spAutoFit/>
          </a:bodyPr>
          <a:lstStyle/>
          <a:p>
            <a:pPr>
              <a:spcBef>
                <a:spcPts val="900"/>
              </a:spcBef>
              <a:tabLst>
                <a:tab pos="723900" algn="l"/>
                <a:tab pos="1257300" algn="l"/>
              </a:tabLst>
            </a:pPr>
            <a:r>
              <a:rPr lang="en-US" altLang="en-US">
                <a:latin typeface="Times New Roman" pitchFamily="18" charset="0"/>
              </a:rPr>
              <a:t>1.	Copy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ins</a:t>
            </a:r>
            <a:r>
              <a:rPr lang="en-US" altLang="en-US">
                <a:latin typeface="Times New Roman" pitchFamily="18" charset="0"/>
              </a:rPr>
              <a:t>…</a:t>
            </a:r>
            <a:r>
              <a:rPr lang="en-US" altLang="en-US" i="1">
                <a:latin typeface="Times New Roman" pitchFamily="18" charset="0"/>
              </a:rPr>
              <a:t>right</a:t>
            </a:r>
            <a:r>
              <a:rPr lang="en-US" altLang="en-US">
                <a:latin typeface="Times New Roman" pitchFamily="18" charset="0"/>
              </a:rPr>
              <a:t>–1] into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ins</a:t>
            </a:r>
            <a:r>
              <a:rPr lang="en-US" altLang="en-US">
                <a:latin typeface="Times New Roman" pitchFamily="18" charset="0"/>
              </a:rPr>
              <a:t>+1…</a:t>
            </a:r>
            <a:r>
              <a:rPr lang="en-US" altLang="en-US" i="1">
                <a:latin typeface="Times New Roman" pitchFamily="18" charset="0"/>
              </a:rPr>
              <a:t>right</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2.	Copy </a:t>
            </a:r>
            <a:r>
              <a:rPr lang="en-US" altLang="en-US" i="1">
                <a:latin typeface="Times New Roman" pitchFamily="18" charset="0"/>
              </a:rPr>
              <a:t>elem</a:t>
            </a:r>
            <a:r>
              <a:rPr lang="en-US" altLang="en-US">
                <a:latin typeface="Times New Roman" pitchFamily="18" charset="0"/>
              </a:rPr>
              <a:t> into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ins</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3.	Terminate.</a:t>
            </a:r>
            <a:endParaRPr lang="en-US" altLang="en-US" dirty="0">
              <a:latin typeface="Times New Roman" pitchFamily="18" charset="0"/>
            </a:endParaRPr>
          </a:p>
        </p:txBody>
      </p:sp>
    </p:spTree>
    <p:extLst>
      <p:ext uri="{BB962C8B-B14F-4D97-AF65-F5344CB8AC3E}">
        <p14:creationId xmlns:p14="http://schemas.microsoft.com/office/powerpoint/2010/main" val="375024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sz="3200" dirty="0"/>
              <a:t>Deletion </a:t>
            </a:r>
            <a:r>
              <a:rPr lang="en-US" altLang="en-US" sz="3200" i="1" dirty="0"/>
              <a:t>(1)</a:t>
            </a:r>
            <a:endParaRPr lang="en-GB" altLang="en-US" sz="3200" dirty="0"/>
          </a:p>
        </p:txBody>
      </p:sp>
      <p:sp>
        <p:nvSpPr>
          <p:cNvPr id="12291" name="Rectangle 3"/>
          <p:cNvSpPr>
            <a:spLocks noGrp="1" noChangeArrowheads="1"/>
          </p:cNvSpPr>
          <p:nvPr>
            <p:ph idx="1"/>
          </p:nvPr>
        </p:nvSpPr>
        <p:spPr>
          <a:xfrm>
            <a:off x="318294" y="1600200"/>
            <a:ext cx="7620000" cy="4800600"/>
          </a:xfrm>
          <a:noFill/>
        </p:spPr>
        <p:txBody>
          <a:bodyPr/>
          <a:lstStyle/>
          <a:p>
            <a:pPr eaLnBrk="1" hangingPunct="1">
              <a:tabLst>
                <a:tab pos="723900" algn="l"/>
                <a:tab pos="1257300" algn="l"/>
              </a:tabLst>
            </a:pPr>
            <a:r>
              <a:rPr lang="en-US" altLang="en-US" dirty="0"/>
              <a:t>Problem: Given a (sub)array </a:t>
            </a:r>
            <a:r>
              <a:rPr lang="en-US" altLang="en-US" i="1" dirty="0"/>
              <a:t>a</a:t>
            </a:r>
            <a:r>
              <a:rPr lang="en-US" altLang="en-US" dirty="0"/>
              <a:t>[</a:t>
            </a:r>
            <a:r>
              <a:rPr lang="en-US" altLang="en-US" i="1" dirty="0"/>
              <a:t>left</a:t>
            </a:r>
            <a:r>
              <a:rPr lang="en-US" altLang="en-US" dirty="0"/>
              <a:t>…</a:t>
            </a:r>
            <a:r>
              <a:rPr lang="en-US" altLang="en-US" i="1" dirty="0"/>
              <a:t>right</a:t>
            </a:r>
            <a:r>
              <a:rPr lang="en-US" altLang="en-US" dirty="0"/>
              <a:t>], delete the element in the slot </a:t>
            </a:r>
            <a:r>
              <a:rPr lang="en-US" altLang="en-US" i="1" dirty="0"/>
              <a:t>a</a:t>
            </a:r>
            <a:r>
              <a:rPr lang="en-US" altLang="en-US" dirty="0"/>
              <a:t>[</a:t>
            </a:r>
            <a:r>
              <a:rPr lang="en-US" altLang="en-US" i="1" dirty="0"/>
              <a:t>del</a:t>
            </a:r>
            <a:r>
              <a:rPr lang="en-US" altLang="en-US" dirty="0"/>
              <a:t>]. If necessary, shift elements to fill the </a:t>
            </a:r>
            <a:r>
              <a:rPr lang="en-US" altLang="en-US"/>
              <a:t>gap.</a:t>
            </a:r>
          </a:p>
          <a:p>
            <a:pPr marL="0" indent="0" eaLnBrk="1" hangingPunct="1">
              <a:buNone/>
              <a:tabLst>
                <a:tab pos="723900" algn="l"/>
                <a:tab pos="1257300" algn="l"/>
              </a:tabLst>
            </a:pPr>
            <a:endParaRPr lang="en-US" altLang="en-US" dirty="0"/>
          </a:p>
          <a:p>
            <a:pPr eaLnBrk="1" hangingPunct="1">
              <a:tabLst>
                <a:tab pos="723900" algn="l"/>
                <a:tab pos="1257300" algn="l"/>
              </a:tabLst>
            </a:pPr>
            <a:r>
              <a:rPr lang="en-US" altLang="en-US" b="1" dirty="0"/>
              <a:t>Array deletion algorithm</a:t>
            </a:r>
            <a:r>
              <a:rPr lang="en-US" altLang="en-US" dirty="0"/>
              <a:t>:</a:t>
            </a:r>
          </a:p>
          <a:p>
            <a:pPr eaLnBrk="1" hangingPunct="1">
              <a:buFont typeface="Wingdings" pitchFamily="2" charset="2"/>
              <a:buNone/>
              <a:tabLst>
                <a:tab pos="723900" algn="l"/>
                <a:tab pos="1257300" algn="l"/>
              </a:tabLst>
            </a:pPr>
            <a:r>
              <a:rPr lang="en-US" altLang="en-US" sz="2000" dirty="0">
                <a:latin typeface="Times New Roman" pitchFamily="18" charset="0"/>
              </a:rPr>
              <a:t>	To delete the element at index </a:t>
            </a:r>
            <a:r>
              <a:rPr lang="en-US" altLang="en-US" sz="2000" i="1" dirty="0">
                <a:latin typeface="Times New Roman" pitchFamily="18" charset="0"/>
              </a:rPr>
              <a:t>del</a:t>
            </a:r>
            <a:r>
              <a:rPr lang="en-US" altLang="en-US" sz="2000" dirty="0">
                <a:latin typeface="Times New Roman" pitchFamily="18" charset="0"/>
              </a:rPr>
              <a:t> in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a:t>
            </a:r>
            <a:br>
              <a:rPr lang="en-US" altLang="en-US" sz="2000" dirty="0">
                <a:latin typeface="Times New Roman" pitchFamily="18" charset="0"/>
              </a:rPr>
            </a:br>
            <a:r>
              <a:rPr lang="en-US" altLang="en-US" sz="2000" dirty="0">
                <a:latin typeface="Times New Roman" pitchFamily="18" charset="0"/>
              </a:rPr>
              <a:t>(where </a:t>
            </a:r>
            <a:r>
              <a:rPr lang="en-US" altLang="en-US" sz="2000" i="1" dirty="0">
                <a:latin typeface="Times New Roman" pitchFamily="18" charset="0"/>
              </a:rPr>
              <a:t>left</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del</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right</a:t>
            </a:r>
            <a:r>
              <a:rPr lang="en-US" altLang="en-US" sz="2000" dirty="0">
                <a:latin typeface="Times New Roman" pitchFamily="18" charset="0"/>
              </a:rPr>
              <a:t>):</a:t>
            </a:r>
          </a:p>
          <a:p>
            <a:pPr eaLnBrk="1" hangingPunct="1">
              <a:spcBef>
                <a:spcPts val="900"/>
              </a:spcBef>
              <a:buFont typeface="Wingdings" pitchFamily="2" charset="2"/>
              <a:buNone/>
              <a:tabLst>
                <a:tab pos="723900" algn="l"/>
                <a:tab pos="1257300" algn="l"/>
              </a:tabLst>
            </a:pPr>
            <a:r>
              <a:rPr lang="en-US" altLang="en-US" sz="2000" dirty="0">
                <a:latin typeface="Times New Roman" pitchFamily="18" charset="0"/>
              </a:rPr>
              <a:t>	1.	Copy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del</a:t>
            </a:r>
            <a:r>
              <a:rPr lang="en-US" altLang="en-US" sz="2000" dirty="0">
                <a:latin typeface="Times New Roman" pitchFamily="18" charset="0"/>
              </a:rPr>
              <a:t>+1…</a:t>
            </a:r>
            <a:r>
              <a:rPr lang="en-US" altLang="en-US" sz="2000" i="1" dirty="0">
                <a:latin typeface="Times New Roman" pitchFamily="18" charset="0"/>
              </a:rPr>
              <a:t>right</a:t>
            </a:r>
            <a:r>
              <a:rPr lang="en-US" altLang="en-US" sz="2000" dirty="0">
                <a:latin typeface="Times New Roman" pitchFamily="18" charset="0"/>
              </a:rPr>
              <a:t>] into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del</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–1].</a:t>
            </a:r>
            <a:br>
              <a:rPr lang="en-US" altLang="en-US" sz="2000" dirty="0">
                <a:latin typeface="Times New Roman" pitchFamily="18" charset="0"/>
              </a:rPr>
            </a:br>
            <a:r>
              <a:rPr lang="en-US" altLang="en-US" sz="2000" dirty="0">
                <a:latin typeface="Times New Roman" pitchFamily="18" charset="0"/>
              </a:rPr>
              <a:t>2.	Make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unoccupied.</a:t>
            </a:r>
            <a:br>
              <a:rPr lang="en-US" altLang="en-US" sz="2000" dirty="0">
                <a:latin typeface="Times New Roman" pitchFamily="18" charset="0"/>
              </a:rPr>
            </a:br>
            <a:r>
              <a:rPr lang="en-US" altLang="en-US" sz="2000" dirty="0">
                <a:latin typeface="Times New Roman" pitchFamily="18" charset="0"/>
              </a:rPr>
              <a:t>3.	Terminate.</a:t>
            </a:r>
          </a:p>
        </p:txBody>
      </p:sp>
      <p:sp>
        <p:nvSpPr>
          <p:cNvPr id="416773" name="AutoShape 5"/>
          <p:cNvSpPr>
            <a:spLocks/>
          </p:cNvSpPr>
          <p:nvPr/>
        </p:nvSpPr>
        <p:spPr bwMode="auto">
          <a:xfrm>
            <a:off x="6019800" y="3500438"/>
            <a:ext cx="1547812" cy="720725"/>
          </a:xfrm>
          <a:prstGeom prst="callout1">
            <a:avLst>
              <a:gd name="adj1" fmla="val 15861"/>
              <a:gd name="adj2" fmla="val -4921"/>
              <a:gd name="adj3" fmla="val 23130"/>
              <a:gd name="adj4" fmla="val -21231"/>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GB" altLang="en-US" sz="1800" dirty="0">
                <a:solidFill>
                  <a:schemeClr val="accent1">
                    <a:lumMod val="50000"/>
                  </a:schemeClr>
                </a:solidFill>
              </a:rPr>
              <a:t>i.e., shift elements one slot to the left</a:t>
            </a:r>
            <a:endParaRPr lang="en-US" altLang="en-US" sz="1800" dirty="0">
              <a:solidFill>
                <a:schemeClr val="accent1">
                  <a:lumMod val="50000"/>
                </a:schemeClr>
              </a:solidFill>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6411044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6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z="3200" dirty="0"/>
              <a:t>Deletion </a:t>
            </a:r>
            <a:r>
              <a:rPr lang="en-US" altLang="en-US" sz="3200" i="1" dirty="0"/>
              <a:t>(2)</a:t>
            </a:r>
            <a:endParaRPr lang="en-GB" altLang="en-US" sz="3200" dirty="0"/>
          </a:p>
        </p:txBody>
      </p:sp>
      <p:sp>
        <p:nvSpPr>
          <p:cNvPr id="13315" name="Rectangle 3"/>
          <p:cNvSpPr>
            <a:spLocks noGrp="1" noChangeArrowheads="1"/>
          </p:cNvSpPr>
          <p:nvPr>
            <p:ph idx="1"/>
          </p:nvPr>
        </p:nvSpPr>
        <p:spPr>
          <a:xfrm>
            <a:off x="381000" y="1600200"/>
            <a:ext cx="7620000" cy="2743200"/>
          </a:xfrm>
          <a:noFill/>
        </p:spPr>
        <p:txBody>
          <a:bodyPr/>
          <a:lstStyle/>
          <a:p>
            <a:pPr eaLnBrk="1" hangingPunct="1">
              <a:tabLst>
                <a:tab pos="3594100" algn="l"/>
              </a:tabLst>
            </a:pPr>
            <a:r>
              <a:rPr lang="en-US" altLang="en-US" dirty="0"/>
              <a:t>Analysis (counting copies):</a:t>
            </a:r>
          </a:p>
          <a:p>
            <a:pPr eaLnBrk="1" hangingPunct="1">
              <a:spcBef>
                <a:spcPts val="900"/>
              </a:spcBef>
              <a:buFont typeface="Wingdings" pitchFamily="2" charset="2"/>
              <a:buNone/>
              <a:tabLst>
                <a:tab pos="3594100" algn="l"/>
              </a:tabLst>
            </a:pPr>
            <a:r>
              <a:rPr lang="en-US" altLang="en-US" dirty="0"/>
              <a:t>	Let </a:t>
            </a:r>
            <a:r>
              <a:rPr lang="en-US" altLang="en-US" i="1" dirty="0"/>
              <a:t>n</a:t>
            </a:r>
            <a:r>
              <a:rPr lang="en-US" altLang="en-US" dirty="0"/>
              <a:t> = </a:t>
            </a:r>
            <a:r>
              <a:rPr lang="en-US" altLang="en-US" i="1" dirty="0"/>
              <a:t>right </a:t>
            </a:r>
            <a:r>
              <a:rPr lang="en-US" altLang="en-US" dirty="0"/>
              <a:t>– </a:t>
            </a:r>
            <a:r>
              <a:rPr lang="en-US" altLang="en-US" i="1" dirty="0"/>
              <a:t>left </a:t>
            </a:r>
            <a:r>
              <a:rPr lang="en-US" altLang="en-US" dirty="0"/>
              <a:t>+ 1 be the length of the array.</a:t>
            </a:r>
          </a:p>
          <a:p>
            <a:pPr eaLnBrk="1" hangingPunct="1">
              <a:spcBef>
                <a:spcPts val="900"/>
              </a:spcBef>
              <a:buFont typeface="Wingdings" pitchFamily="2" charset="2"/>
              <a:buNone/>
              <a:tabLst>
                <a:tab pos="3594100" algn="l"/>
              </a:tabLst>
            </a:pPr>
            <a:r>
              <a:rPr lang="en-US" altLang="en-US" dirty="0"/>
              <a:t>	Step 1 performs between 0 and </a:t>
            </a:r>
            <a:r>
              <a:rPr lang="en-US" altLang="en-US" i="1" dirty="0"/>
              <a:t>n</a:t>
            </a:r>
            <a:r>
              <a:rPr lang="en-US" altLang="en-US" dirty="0"/>
              <a:t>–1 copies.</a:t>
            </a:r>
          </a:p>
          <a:p>
            <a:pPr eaLnBrk="1" hangingPunct="1">
              <a:spcBef>
                <a:spcPts val="900"/>
              </a:spcBef>
              <a:buFont typeface="Wingdings" pitchFamily="2" charset="2"/>
              <a:buNone/>
              <a:tabLst>
                <a:tab pos="3594100" algn="l"/>
              </a:tabLst>
            </a:pPr>
            <a:r>
              <a:rPr lang="en-US" altLang="en-US" dirty="0"/>
              <a:t>	Average no. of copies	=  (</a:t>
            </a:r>
            <a:r>
              <a:rPr lang="en-US" altLang="en-US" i="1" dirty="0"/>
              <a:t>n </a:t>
            </a:r>
            <a:r>
              <a:rPr lang="en-US" altLang="en-US" dirty="0"/>
              <a:t>– 1)/2</a:t>
            </a:r>
            <a:br>
              <a:rPr lang="en-US" altLang="en-US" dirty="0"/>
            </a:br>
            <a:r>
              <a:rPr lang="en-US" altLang="en-US" dirty="0"/>
              <a:t>	</a:t>
            </a:r>
            <a:r>
              <a:rPr lang="en-US" altLang="en-US" dirty="0">
                <a:sym typeface="Symbol" pitchFamily="18" charset="2"/>
              </a:rPr>
              <a:t></a:t>
            </a:r>
            <a:r>
              <a:rPr lang="en-US" altLang="en-US" dirty="0"/>
              <a:t>  </a:t>
            </a:r>
            <a:r>
              <a:rPr lang="en-US" altLang="en-US" i="1" dirty="0"/>
              <a:t>n</a:t>
            </a:r>
            <a:r>
              <a:rPr lang="en-US" altLang="en-US" dirty="0"/>
              <a:t>/2</a:t>
            </a:r>
          </a:p>
          <a:p>
            <a:pPr eaLnBrk="1" hangingPunct="1">
              <a:spcBef>
                <a:spcPts val="900"/>
              </a:spcBef>
              <a:buFont typeface="Wingdings" pitchFamily="2" charset="2"/>
              <a:buNone/>
              <a:tabLst>
                <a:tab pos="3594100" algn="l"/>
              </a:tabLst>
            </a:pPr>
            <a:r>
              <a:rPr lang="en-US" altLang="en-US" dirty="0"/>
              <a:t>	Time complexity is </a:t>
            </a:r>
            <a:r>
              <a:rPr lang="en-US" altLang="en-US" i="1" dirty="0"/>
              <a:t>O</a:t>
            </a:r>
            <a:r>
              <a:rPr lang="en-US" altLang="en-US" dirty="0"/>
              <a:t>(</a:t>
            </a:r>
            <a:r>
              <a:rPr lang="en-US" altLang="en-US" i="1" dirty="0"/>
              <a:t>n</a:t>
            </a:r>
            <a:r>
              <a:rPr lang="en-US" altLang="en-US" dirty="0"/>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13</a:t>
            </a:fld>
            <a:endParaRPr lang="en-US"/>
          </a:p>
        </p:txBody>
      </p:sp>
      <p:sp>
        <p:nvSpPr>
          <p:cNvPr id="3" name="Rectangle 2"/>
          <p:cNvSpPr/>
          <p:nvPr/>
        </p:nvSpPr>
        <p:spPr>
          <a:xfrm>
            <a:off x="3494314" y="5164294"/>
            <a:ext cx="5029200" cy="923330"/>
          </a:xfrm>
          <a:prstGeom prst="rect">
            <a:avLst/>
          </a:prstGeom>
          <a:ln>
            <a:solidFill>
              <a:schemeClr val="tx2"/>
            </a:solidFill>
          </a:ln>
        </p:spPr>
        <p:txBody>
          <a:bodyPr wrap="square">
            <a:spAutoFit/>
          </a:bodyPr>
          <a:lstStyle/>
          <a:p>
            <a:pPr>
              <a:spcBef>
                <a:spcPts val="900"/>
              </a:spcBef>
              <a:tabLst>
                <a:tab pos="723900" algn="l"/>
                <a:tab pos="1257300" algn="l"/>
              </a:tabLst>
            </a:pPr>
            <a:r>
              <a:rPr lang="en-US" altLang="en-US">
                <a:latin typeface="Times New Roman" pitchFamily="18" charset="0"/>
              </a:rPr>
              <a:t>1.	Copy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del</a:t>
            </a:r>
            <a:r>
              <a:rPr lang="en-US" altLang="en-US">
                <a:latin typeface="Times New Roman" pitchFamily="18" charset="0"/>
              </a:rPr>
              <a:t>+1…</a:t>
            </a:r>
            <a:r>
              <a:rPr lang="en-US" altLang="en-US" i="1">
                <a:latin typeface="Times New Roman" pitchFamily="18" charset="0"/>
              </a:rPr>
              <a:t>right</a:t>
            </a:r>
            <a:r>
              <a:rPr lang="en-US" altLang="en-US">
                <a:latin typeface="Times New Roman" pitchFamily="18" charset="0"/>
              </a:rPr>
              <a:t>] into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del</a:t>
            </a:r>
            <a:r>
              <a:rPr lang="en-US" altLang="en-US">
                <a:latin typeface="Times New Roman" pitchFamily="18" charset="0"/>
              </a:rPr>
              <a:t>…</a:t>
            </a:r>
            <a:r>
              <a:rPr lang="en-US" altLang="en-US" i="1">
                <a:latin typeface="Times New Roman" pitchFamily="18" charset="0"/>
              </a:rPr>
              <a:t>right</a:t>
            </a:r>
            <a:r>
              <a:rPr lang="en-US" altLang="en-US">
                <a:latin typeface="Times New Roman" pitchFamily="18" charset="0"/>
              </a:rPr>
              <a:t>–1].</a:t>
            </a:r>
            <a:br>
              <a:rPr lang="en-US" altLang="en-US">
                <a:latin typeface="Times New Roman" pitchFamily="18" charset="0"/>
              </a:rPr>
            </a:br>
            <a:r>
              <a:rPr lang="en-US" altLang="en-US">
                <a:latin typeface="Times New Roman" pitchFamily="18" charset="0"/>
              </a:rPr>
              <a:t>2.	Make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right</a:t>
            </a:r>
            <a:r>
              <a:rPr lang="en-US" altLang="en-US">
                <a:latin typeface="Times New Roman" pitchFamily="18" charset="0"/>
              </a:rPr>
              <a:t>] unoccupied.</a:t>
            </a:r>
            <a:br>
              <a:rPr lang="en-US" altLang="en-US">
                <a:latin typeface="Times New Roman" pitchFamily="18" charset="0"/>
              </a:rPr>
            </a:br>
            <a:r>
              <a:rPr lang="en-US" altLang="en-US">
                <a:latin typeface="Times New Roman" pitchFamily="18" charset="0"/>
              </a:rPr>
              <a:t>3.	Terminate.</a:t>
            </a:r>
            <a:endParaRPr lang="en-US" altLang="en-US" dirty="0">
              <a:latin typeface="Times New Roman" pitchFamily="18" charset="0"/>
            </a:endParaRPr>
          </a:p>
        </p:txBody>
      </p:sp>
    </p:spTree>
    <p:extLst>
      <p:ext uri="{BB962C8B-B14F-4D97-AF65-F5344CB8AC3E}">
        <p14:creationId xmlns:p14="http://schemas.microsoft.com/office/powerpoint/2010/main" val="744616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z="3200" dirty="0"/>
              <a:t>Searching</a:t>
            </a:r>
            <a:endParaRPr lang="en-GB" altLang="en-US" sz="3200" dirty="0"/>
          </a:p>
        </p:txBody>
      </p:sp>
      <p:sp>
        <p:nvSpPr>
          <p:cNvPr id="14339" name="Rectangle 3"/>
          <p:cNvSpPr>
            <a:spLocks noGrp="1" noChangeArrowheads="1"/>
          </p:cNvSpPr>
          <p:nvPr>
            <p:ph idx="1"/>
          </p:nvPr>
        </p:nvSpPr>
        <p:spPr>
          <a:noFill/>
        </p:spPr>
        <p:txBody>
          <a:bodyPr/>
          <a:lstStyle/>
          <a:p>
            <a:pPr eaLnBrk="1" hangingPunct="1"/>
            <a:r>
              <a:rPr lang="en-US" altLang="en-US" b="1"/>
              <a:t>Problem</a:t>
            </a:r>
            <a:r>
              <a:rPr lang="en-US" altLang="en-US"/>
              <a:t>: Given a (sub)array </a:t>
            </a:r>
            <a:r>
              <a:rPr lang="en-US" altLang="en-US" i="1"/>
              <a:t>a</a:t>
            </a:r>
            <a:r>
              <a:rPr lang="en-US" altLang="en-US"/>
              <a:t>[</a:t>
            </a:r>
            <a:r>
              <a:rPr lang="en-US" altLang="en-US" i="1"/>
              <a:t>left</a:t>
            </a:r>
            <a:r>
              <a:rPr lang="en-US" altLang="en-US"/>
              <a:t>…</a:t>
            </a:r>
            <a:r>
              <a:rPr lang="en-US" altLang="en-US" i="1"/>
              <a:t>right</a:t>
            </a:r>
            <a:r>
              <a:rPr lang="en-US" altLang="en-US"/>
              <a:t>], find which (if any) element equals a given target value.</a:t>
            </a:r>
          </a:p>
          <a:p>
            <a:pPr eaLnBrk="1" hangingPunct="1"/>
            <a:r>
              <a:rPr lang="en-US" altLang="en-US"/>
              <a:t>Choice of algorithms:</a:t>
            </a:r>
          </a:p>
          <a:p>
            <a:pPr lvl="1" eaLnBrk="1" hangingPunct="1"/>
            <a:r>
              <a:rPr lang="en-US" altLang="en-US" b="1"/>
              <a:t>linear</a:t>
            </a:r>
            <a:r>
              <a:rPr lang="en-US" altLang="en-US"/>
              <a:t> </a:t>
            </a:r>
            <a:r>
              <a:rPr lang="en-US" altLang="en-US" b="1"/>
              <a:t>search</a:t>
            </a:r>
            <a:r>
              <a:rPr lang="en-US" altLang="en-US"/>
              <a:t> (unsorted or sorted array)</a:t>
            </a:r>
          </a:p>
          <a:p>
            <a:pPr lvl="1" eaLnBrk="1" hangingPunct="1"/>
            <a:r>
              <a:rPr lang="en-US" altLang="en-US" b="1"/>
              <a:t>binary</a:t>
            </a:r>
            <a:r>
              <a:rPr lang="en-US" altLang="en-US"/>
              <a:t> </a:t>
            </a:r>
            <a:r>
              <a:rPr lang="en-US" altLang="en-US" b="1"/>
              <a:t>search</a:t>
            </a:r>
            <a:r>
              <a:rPr lang="en-US" altLang="en-US"/>
              <a:t> (sorted array).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205422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z="3200" dirty="0"/>
              <a:t>Linear search </a:t>
            </a:r>
            <a:r>
              <a:rPr lang="en-US" altLang="en-US" sz="3200" i="1" dirty="0"/>
              <a:t>(1)</a:t>
            </a:r>
            <a:endParaRPr lang="en-GB" altLang="en-US" sz="3200" dirty="0"/>
          </a:p>
        </p:txBody>
      </p:sp>
      <p:sp>
        <p:nvSpPr>
          <p:cNvPr id="15363" name="Rectangle 3"/>
          <p:cNvSpPr>
            <a:spLocks noGrp="1" noChangeArrowheads="1"/>
          </p:cNvSpPr>
          <p:nvPr>
            <p:ph idx="1"/>
          </p:nvPr>
        </p:nvSpPr>
        <p:spPr>
          <a:xfrm>
            <a:off x="393907" y="1447800"/>
            <a:ext cx="7620000" cy="4800600"/>
          </a:xfrm>
          <a:noFill/>
        </p:spPr>
        <p:txBody>
          <a:bodyPr/>
          <a:lstStyle/>
          <a:p>
            <a:pPr eaLnBrk="1" hangingPunct="1">
              <a:tabLst>
                <a:tab pos="723900" algn="l"/>
                <a:tab pos="1257300" algn="l"/>
              </a:tabLst>
            </a:pPr>
            <a:r>
              <a:rPr lang="en-US" altLang="en-US" b="1" dirty="0"/>
              <a:t>Linear search algorithm</a:t>
            </a:r>
            <a:r>
              <a:rPr lang="en-US" altLang="en-US" dirty="0"/>
              <a:t>:</a:t>
            </a:r>
          </a:p>
          <a:p>
            <a:pPr eaLnBrk="1" hangingPunct="1">
              <a:buFont typeface="Wingdings" pitchFamily="2" charset="2"/>
              <a:buNone/>
              <a:tabLst>
                <a:tab pos="723900" algn="l"/>
                <a:tab pos="1257300" algn="l"/>
              </a:tabLst>
            </a:pPr>
            <a:r>
              <a:rPr lang="en-US" altLang="en-US" sz="2000" dirty="0">
                <a:latin typeface="Times New Roman" pitchFamily="18" charset="0"/>
              </a:rPr>
              <a:t>	To find which (if any) element of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equals </a:t>
            </a:r>
            <a:r>
              <a:rPr lang="en-US" altLang="en-US" sz="2000" i="1" dirty="0">
                <a:latin typeface="Times New Roman" pitchFamily="18" charset="0"/>
              </a:rPr>
              <a:t>target</a:t>
            </a:r>
            <a:r>
              <a:rPr lang="en-US" altLang="en-US" sz="2000" dirty="0">
                <a:latin typeface="Times New Roman" pitchFamily="18" charset="0"/>
              </a:rPr>
              <a:t>:</a:t>
            </a:r>
          </a:p>
          <a:p>
            <a:pPr eaLnBrk="1" hangingPunct="1">
              <a:spcBef>
                <a:spcPts val="900"/>
              </a:spcBef>
              <a:buFont typeface="Wingdings" pitchFamily="2" charset="2"/>
              <a:buNone/>
              <a:tabLst>
                <a:tab pos="723900" algn="l"/>
                <a:tab pos="1257300" algn="l"/>
              </a:tabLst>
            </a:pPr>
            <a:r>
              <a:rPr lang="en-US" altLang="en-US" sz="2000" dirty="0">
                <a:latin typeface="Times New Roman" pitchFamily="18" charset="0"/>
              </a:rPr>
              <a:t>	1.	For </a:t>
            </a:r>
            <a:r>
              <a:rPr lang="en-US" altLang="en-US" sz="2000" i="1" dirty="0">
                <a:latin typeface="Times New Roman" pitchFamily="18" charset="0"/>
              </a:rPr>
              <a:t>p</a:t>
            </a:r>
            <a:r>
              <a:rPr lang="en-US" altLang="en-US" sz="2000" dirty="0">
                <a:latin typeface="Times New Roman" pitchFamily="18" charset="0"/>
              </a:rPr>
              <a:t> = </a:t>
            </a:r>
            <a:r>
              <a:rPr lang="en-US" altLang="en-US" sz="2000" i="1" dirty="0">
                <a:latin typeface="Times New Roman" pitchFamily="18" charset="0"/>
              </a:rPr>
              <a:t>left</a:t>
            </a:r>
            <a:r>
              <a:rPr lang="en-US" altLang="en-US" sz="2000" dirty="0">
                <a:latin typeface="Times New Roman" pitchFamily="18" charset="0"/>
              </a:rPr>
              <a:t>, …, </a:t>
            </a:r>
            <a:r>
              <a:rPr lang="en-US" altLang="en-US" sz="2000" i="1" dirty="0">
                <a:latin typeface="Times New Roman" pitchFamily="18" charset="0"/>
              </a:rPr>
              <a:t>right</a:t>
            </a:r>
            <a:r>
              <a:rPr lang="en-US" altLang="en-US" sz="2000" dirty="0">
                <a:latin typeface="Times New Roman" pitchFamily="18" charset="0"/>
              </a:rPr>
              <a:t>, repeat:</a:t>
            </a:r>
            <a:br>
              <a:rPr lang="en-US" altLang="en-US" sz="2000" dirty="0">
                <a:latin typeface="Times New Roman" pitchFamily="18" charset="0"/>
              </a:rPr>
            </a:br>
            <a:r>
              <a:rPr lang="en-US" altLang="en-US" sz="2000" dirty="0">
                <a:latin typeface="Times New Roman" pitchFamily="18" charset="0"/>
              </a:rPr>
              <a:t>	1.1.	If </a:t>
            </a:r>
            <a:r>
              <a:rPr lang="en-US" altLang="en-US" sz="2000" i="1" dirty="0">
                <a:latin typeface="Times New Roman" pitchFamily="18" charset="0"/>
              </a:rPr>
              <a:t>target</a:t>
            </a:r>
            <a:r>
              <a:rPr lang="en-US" altLang="en-US" sz="2000" dirty="0">
                <a:latin typeface="Times New Roman" pitchFamily="18" charset="0"/>
              </a:rPr>
              <a:t> equals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p</a:t>
            </a:r>
            <a:r>
              <a:rPr lang="en-US" altLang="en-US" sz="2000" dirty="0">
                <a:latin typeface="Times New Roman" pitchFamily="18" charset="0"/>
              </a:rPr>
              <a:t>], terminate yielding </a:t>
            </a:r>
            <a:r>
              <a:rPr lang="en-US" altLang="en-US" sz="2000" i="1" dirty="0">
                <a:latin typeface="Times New Roman" pitchFamily="18" charset="0"/>
              </a:rPr>
              <a:t>p</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a:p>
            <a:pPr eaLnBrk="1" hangingPunct="1">
              <a:spcBef>
                <a:spcPts val="900"/>
              </a:spcBef>
              <a:buFont typeface="Wingdings" pitchFamily="2" charset="2"/>
              <a:buNone/>
              <a:tabLst>
                <a:tab pos="723900" algn="l"/>
                <a:tab pos="1257300" algn="l"/>
              </a:tabLst>
            </a:pPr>
            <a:endParaRPr lang="en-US" altLang="en-US" sz="2000">
              <a:latin typeface="Times New Roman" pitchFamily="18" charset="0"/>
            </a:endParaRPr>
          </a:p>
          <a:p>
            <a:pPr eaLnBrk="1" hangingPunct="1">
              <a:spcBef>
                <a:spcPts val="900"/>
              </a:spcBef>
              <a:buFont typeface="Wingdings" pitchFamily="2" charset="2"/>
              <a:buNone/>
              <a:tabLst>
                <a:tab pos="723900" algn="l"/>
                <a:tab pos="1257300" algn="l"/>
              </a:tabLst>
            </a:pPr>
            <a:endParaRPr lang="en-US" altLang="en-US" sz="2000" dirty="0">
              <a:latin typeface="Times New Roman" pitchFamily="18" charset="0"/>
            </a:endParaRPr>
          </a:p>
          <a:p>
            <a:pPr eaLnBrk="1" hangingPunct="1">
              <a:tabLst>
                <a:tab pos="723900" algn="l"/>
                <a:tab pos="1257300" algn="l"/>
              </a:tabLst>
            </a:pPr>
            <a:r>
              <a:rPr lang="en-US" altLang="en-US"/>
              <a:t>Loop invariant (state of play whenever enter loop):</a:t>
            </a:r>
            <a:endParaRPr lang="en-US" altLang="en-US" dirty="0"/>
          </a:p>
        </p:txBody>
      </p:sp>
      <p:grpSp>
        <p:nvGrpSpPr>
          <p:cNvPr id="2" name="Group 36"/>
          <p:cNvGrpSpPr>
            <a:grpSpLocks/>
          </p:cNvGrpSpPr>
          <p:nvPr/>
        </p:nvGrpSpPr>
        <p:grpSpPr bwMode="auto">
          <a:xfrm>
            <a:off x="478972" y="5049839"/>
            <a:ext cx="6372225" cy="1187450"/>
            <a:chOff x="1338" y="2606"/>
            <a:chExt cx="4014" cy="748"/>
          </a:xfrm>
        </p:grpSpPr>
        <p:grpSp>
          <p:nvGrpSpPr>
            <p:cNvPr id="15365" name="Group 34"/>
            <p:cNvGrpSpPr>
              <a:grpSpLocks/>
            </p:cNvGrpSpPr>
            <p:nvPr/>
          </p:nvGrpSpPr>
          <p:grpSpPr bwMode="auto">
            <a:xfrm>
              <a:off x="1497" y="3090"/>
              <a:ext cx="1905" cy="264"/>
              <a:chOff x="1497" y="3090"/>
              <a:chExt cx="1905" cy="264"/>
            </a:xfrm>
          </p:grpSpPr>
          <p:sp>
            <p:nvSpPr>
              <p:cNvPr id="15387" name="Rectangle 7"/>
              <p:cNvSpPr>
                <a:spLocks noChangeArrowheads="1"/>
              </p:cNvSpPr>
              <p:nvPr/>
            </p:nvSpPr>
            <p:spPr bwMode="auto">
              <a:xfrm>
                <a:off x="1541" y="3181"/>
                <a:ext cx="18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dirty="0">
                    <a:solidFill>
                      <a:schemeClr val="accent1">
                        <a:lumMod val="50000"/>
                      </a:schemeClr>
                    </a:solidFill>
                  </a:rPr>
                  <a:t>known not to equal </a:t>
                </a:r>
                <a:r>
                  <a:rPr lang="en-US" altLang="en-US" sz="1800" i="1" dirty="0">
                    <a:solidFill>
                      <a:schemeClr val="accent1">
                        <a:lumMod val="50000"/>
                      </a:schemeClr>
                    </a:solidFill>
                  </a:rPr>
                  <a:t>target</a:t>
                </a:r>
              </a:p>
            </p:txBody>
          </p:sp>
          <p:sp>
            <p:nvSpPr>
              <p:cNvPr id="15388" name="Freeform 6"/>
              <p:cNvSpPr>
                <a:spLocks/>
              </p:cNvSpPr>
              <p:nvPr/>
            </p:nvSpPr>
            <p:spPr bwMode="auto">
              <a:xfrm>
                <a:off x="1497" y="3090"/>
                <a:ext cx="1905" cy="82"/>
              </a:xfrm>
              <a:custGeom>
                <a:avLst/>
                <a:gdLst>
                  <a:gd name="T0" fmla="*/ 0 w 2099"/>
                  <a:gd name="T1" fmla="*/ 0 h 137"/>
                  <a:gd name="T2" fmla="*/ 4 w 2099"/>
                  <a:gd name="T3" fmla="*/ 2 h 137"/>
                  <a:gd name="T4" fmla="*/ 9 w 2099"/>
                  <a:gd name="T5" fmla="*/ 4 h 137"/>
                  <a:gd name="T6" fmla="*/ 21 w 2099"/>
                  <a:gd name="T7" fmla="*/ 5 h 137"/>
                  <a:gd name="T8" fmla="*/ 35 w 2099"/>
                  <a:gd name="T9" fmla="*/ 7 h 137"/>
                  <a:gd name="T10" fmla="*/ 53 w 2099"/>
                  <a:gd name="T11" fmla="*/ 8 h 137"/>
                  <a:gd name="T12" fmla="*/ 73 w 2099"/>
                  <a:gd name="T13" fmla="*/ 8 h 137"/>
                  <a:gd name="T14" fmla="*/ 94 w 2099"/>
                  <a:gd name="T15" fmla="*/ 9 h 137"/>
                  <a:gd name="T16" fmla="*/ 119 w 2099"/>
                  <a:gd name="T17" fmla="*/ 9 h 137"/>
                  <a:gd name="T18" fmla="*/ 594 w 2099"/>
                  <a:gd name="T19" fmla="*/ 9 h 137"/>
                  <a:gd name="T20" fmla="*/ 617 w 2099"/>
                  <a:gd name="T21" fmla="*/ 9 h 137"/>
                  <a:gd name="T22" fmla="*/ 639 w 2099"/>
                  <a:gd name="T23" fmla="*/ 10 h 137"/>
                  <a:gd name="T24" fmla="*/ 660 w 2099"/>
                  <a:gd name="T25" fmla="*/ 10 h 137"/>
                  <a:gd name="T26" fmla="*/ 677 w 2099"/>
                  <a:gd name="T27" fmla="*/ 11 h 137"/>
                  <a:gd name="T28" fmla="*/ 692 w 2099"/>
                  <a:gd name="T29" fmla="*/ 13 h 137"/>
                  <a:gd name="T30" fmla="*/ 702 w 2099"/>
                  <a:gd name="T31" fmla="*/ 14 h 137"/>
                  <a:gd name="T32" fmla="*/ 709 w 2099"/>
                  <a:gd name="T33" fmla="*/ 16 h 137"/>
                  <a:gd name="T34" fmla="*/ 712 w 2099"/>
                  <a:gd name="T35" fmla="*/ 17 h 137"/>
                  <a:gd name="T36" fmla="*/ 715 w 2099"/>
                  <a:gd name="T37" fmla="*/ 16 h 137"/>
                  <a:gd name="T38" fmla="*/ 722 w 2099"/>
                  <a:gd name="T39" fmla="*/ 14 h 137"/>
                  <a:gd name="T40" fmla="*/ 732 w 2099"/>
                  <a:gd name="T41" fmla="*/ 13 h 137"/>
                  <a:gd name="T42" fmla="*/ 748 w 2099"/>
                  <a:gd name="T43" fmla="*/ 11 h 137"/>
                  <a:gd name="T44" fmla="*/ 764 w 2099"/>
                  <a:gd name="T45" fmla="*/ 10 h 137"/>
                  <a:gd name="T46" fmla="*/ 785 w 2099"/>
                  <a:gd name="T47" fmla="*/ 10 h 137"/>
                  <a:gd name="T48" fmla="*/ 807 w 2099"/>
                  <a:gd name="T49" fmla="*/ 9 h 137"/>
                  <a:gd name="T50" fmla="*/ 831 w 2099"/>
                  <a:gd name="T51" fmla="*/ 9 h 137"/>
                  <a:gd name="T52" fmla="*/ 1306 w 2099"/>
                  <a:gd name="T53" fmla="*/ 9 h 137"/>
                  <a:gd name="T54" fmla="*/ 1330 w 2099"/>
                  <a:gd name="T55" fmla="*/ 9 h 137"/>
                  <a:gd name="T56" fmla="*/ 1351 w 2099"/>
                  <a:gd name="T57" fmla="*/ 8 h 137"/>
                  <a:gd name="T58" fmla="*/ 1372 w 2099"/>
                  <a:gd name="T59" fmla="*/ 8 h 137"/>
                  <a:gd name="T60" fmla="*/ 1389 w 2099"/>
                  <a:gd name="T61" fmla="*/ 7 h 137"/>
                  <a:gd name="T62" fmla="*/ 1404 w 2099"/>
                  <a:gd name="T63" fmla="*/ 5 h 137"/>
                  <a:gd name="T64" fmla="*/ 1415 w 2099"/>
                  <a:gd name="T65" fmla="*/ 4 h 137"/>
                  <a:gd name="T66" fmla="*/ 1421 w 2099"/>
                  <a:gd name="T67" fmla="*/ 2 h 137"/>
                  <a:gd name="T68" fmla="*/ 1424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15366" name="Group 35"/>
            <p:cNvGrpSpPr>
              <a:grpSpLocks/>
            </p:cNvGrpSpPr>
            <p:nvPr/>
          </p:nvGrpSpPr>
          <p:grpSpPr bwMode="auto">
            <a:xfrm>
              <a:off x="3424" y="3090"/>
              <a:ext cx="1928" cy="264"/>
              <a:chOff x="3424" y="3090"/>
              <a:chExt cx="1928" cy="264"/>
            </a:xfrm>
          </p:grpSpPr>
          <p:sp>
            <p:nvSpPr>
              <p:cNvPr id="15385" name="Rectangle 10"/>
              <p:cNvSpPr>
                <a:spLocks noChangeArrowheads="1"/>
              </p:cNvSpPr>
              <p:nvPr/>
            </p:nvSpPr>
            <p:spPr bwMode="auto">
              <a:xfrm>
                <a:off x="3461" y="3181"/>
                <a:ext cx="18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dirty="0">
                    <a:solidFill>
                      <a:schemeClr val="accent1">
                        <a:lumMod val="50000"/>
                      </a:schemeClr>
                    </a:solidFill>
                  </a:rPr>
                  <a:t>still to be searched</a:t>
                </a:r>
              </a:p>
            </p:txBody>
          </p:sp>
          <p:sp>
            <p:nvSpPr>
              <p:cNvPr id="15386" name="Freeform 9"/>
              <p:cNvSpPr>
                <a:spLocks/>
              </p:cNvSpPr>
              <p:nvPr/>
            </p:nvSpPr>
            <p:spPr bwMode="auto">
              <a:xfrm>
                <a:off x="3424" y="3090"/>
                <a:ext cx="1928" cy="82"/>
              </a:xfrm>
              <a:custGeom>
                <a:avLst/>
                <a:gdLst>
                  <a:gd name="T0" fmla="*/ 0 w 1644"/>
                  <a:gd name="T1" fmla="*/ 0 h 137"/>
                  <a:gd name="T2" fmla="*/ 2 w 1644"/>
                  <a:gd name="T3" fmla="*/ 2 h 137"/>
                  <a:gd name="T4" fmla="*/ 22 w 1644"/>
                  <a:gd name="T5" fmla="*/ 4 h 137"/>
                  <a:gd name="T6" fmla="*/ 46 w 1644"/>
                  <a:gd name="T7" fmla="*/ 5 h 137"/>
                  <a:gd name="T8" fmla="*/ 77 w 1644"/>
                  <a:gd name="T9" fmla="*/ 7 h 137"/>
                  <a:gd name="T10" fmla="*/ 113 w 1644"/>
                  <a:gd name="T11" fmla="*/ 8 h 137"/>
                  <a:gd name="T12" fmla="*/ 157 w 1644"/>
                  <a:gd name="T13" fmla="*/ 8 h 137"/>
                  <a:gd name="T14" fmla="*/ 208 w 1644"/>
                  <a:gd name="T15" fmla="*/ 9 h 137"/>
                  <a:gd name="T16" fmla="*/ 260 w 1644"/>
                  <a:gd name="T17" fmla="*/ 9 h 137"/>
                  <a:gd name="T18" fmla="*/ 1296 w 1644"/>
                  <a:gd name="T19" fmla="*/ 9 h 137"/>
                  <a:gd name="T20" fmla="*/ 1351 w 1644"/>
                  <a:gd name="T21" fmla="*/ 9 h 137"/>
                  <a:gd name="T22" fmla="*/ 1399 w 1644"/>
                  <a:gd name="T23" fmla="*/ 10 h 137"/>
                  <a:gd name="T24" fmla="*/ 1441 w 1644"/>
                  <a:gd name="T25" fmla="*/ 10 h 137"/>
                  <a:gd name="T26" fmla="*/ 1481 w 1644"/>
                  <a:gd name="T27" fmla="*/ 11 h 137"/>
                  <a:gd name="T28" fmla="*/ 1513 w 1644"/>
                  <a:gd name="T29" fmla="*/ 13 h 137"/>
                  <a:gd name="T30" fmla="*/ 1535 w 1644"/>
                  <a:gd name="T31" fmla="*/ 14 h 137"/>
                  <a:gd name="T32" fmla="*/ 1555 w 1644"/>
                  <a:gd name="T33" fmla="*/ 16 h 137"/>
                  <a:gd name="T34" fmla="*/ 1557 w 1644"/>
                  <a:gd name="T35" fmla="*/ 17 h 137"/>
                  <a:gd name="T36" fmla="*/ 1561 w 1644"/>
                  <a:gd name="T37" fmla="*/ 16 h 137"/>
                  <a:gd name="T38" fmla="*/ 1579 w 1644"/>
                  <a:gd name="T39" fmla="*/ 14 h 137"/>
                  <a:gd name="T40" fmla="*/ 1602 w 1644"/>
                  <a:gd name="T41" fmla="*/ 13 h 137"/>
                  <a:gd name="T42" fmla="*/ 1634 w 1644"/>
                  <a:gd name="T43" fmla="*/ 11 h 137"/>
                  <a:gd name="T44" fmla="*/ 1671 w 1644"/>
                  <a:gd name="T45" fmla="*/ 10 h 137"/>
                  <a:gd name="T46" fmla="*/ 1715 w 1644"/>
                  <a:gd name="T47" fmla="*/ 10 h 137"/>
                  <a:gd name="T48" fmla="*/ 1765 w 1644"/>
                  <a:gd name="T49" fmla="*/ 9 h 137"/>
                  <a:gd name="T50" fmla="*/ 1817 w 1644"/>
                  <a:gd name="T51" fmla="*/ 9 h 137"/>
                  <a:gd name="T52" fmla="*/ 2853 w 1644"/>
                  <a:gd name="T53" fmla="*/ 9 h 137"/>
                  <a:gd name="T54" fmla="*/ 2904 w 1644"/>
                  <a:gd name="T55" fmla="*/ 9 h 137"/>
                  <a:gd name="T56" fmla="*/ 2954 w 1644"/>
                  <a:gd name="T57" fmla="*/ 8 h 137"/>
                  <a:gd name="T58" fmla="*/ 2999 w 1644"/>
                  <a:gd name="T59" fmla="*/ 8 h 137"/>
                  <a:gd name="T60" fmla="*/ 3034 w 1644"/>
                  <a:gd name="T61" fmla="*/ 7 h 137"/>
                  <a:gd name="T62" fmla="*/ 3066 w 1644"/>
                  <a:gd name="T63" fmla="*/ 5 h 137"/>
                  <a:gd name="T64" fmla="*/ 3089 w 1644"/>
                  <a:gd name="T65" fmla="*/ 4 h 137"/>
                  <a:gd name="T66" fmla="*/ 3108 w 1644"/>
                  <a:gd name="T67" fmla="*/ 2 h 137"/>
                  <a:gd name="T68" fmla="*/ 3110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grpSp>
        <p:grpSp>
          <p:nvGrpSpPr>
            <p:cNvPr id="15367" name="Group 30"/>
            <p:cNvGrpSpPr>
              <a:grpSpLocks/>
            </p:cNvGrpSpPr>
            <p:nvPr/>
          </p:nvGrpSpPr>
          <p:grpSpPr bwMode="auto">
            <a:xfrm>
              <a:off x="1338" y="2606"/>
              <a:ext cx="4014" cy="480"/>
              <a:chOff x="1338" y="2606"/>
              <a:chExt cx="4014" cy="480"/>
            </a:xfrm>
          </p:grpSpPr>
          <p:sp>
            <p:nvSpPr>
              <p:cNvPr id="15368" name="Rectangle 12"/>
              <p:cNvSpPr>
                <a:spLocks noChangeArrowheads="1"/>
              </p:cNvSpPr>
              <p:nvPr/>
            </p:nvSpPr>
            <p:spPr bwMode="auto">
              <a:xfrm>
                <a:off x="1954"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r>
                  <a:rPr lang="en-US" altLang="en-US" sz="1800">
                    <a:solidFill>
                      <a:srgbClr val="000000"/>
                    </a:solidFill>
                  </a:rPr>
                  <a:t>+1</a:t>
                </a:r>
              </a:p>
            </p:txBody>
          </p:sp>
          <p:sp>
            <p:nvSpPr>
              <p:cNvPr id="15369" name="Rectangle 14"/>
              <p:cNvSpPr>
                <a:spLocks noChangeArrowheads="1"/>
              </p:cNvSpPr>
              <p:nvPr/>
            </p:nvSpPr>
            <p:spPr bwMode="auto">
              <a:xfrm>
                <a:off x="1338" y="28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15370" name="Rectangle 15"/>
              <p:cNvSpPr>
                <a:spLocks noChangeArrowheads="1"/>
              </p:cNvSpPr>
              <p:nvPr/>
            </p:nvSpPr>
            <p:spPr bwMode="auto">
              <a:xfrm>
                <a:off x="1474"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1" name="Rectangle 16"/>
              <p:cNvSpPr>
                <a:spLocks noChangeArrowheads="1"/>
              </p:cNvSpPr>
              <p:nvPr/>
            </p:nvSpPr>
            <p:spPr bwMode="auto">
              <a:xfrm>
                <a:off x="1954"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2" name="Rectangle 17"/>
              <p:cNvSpPr>
                <a:spLocks noChangeArrowheads="1"/>
              </p:cNvSpPr>
              <p:nvPr/>
            </p:nvSpPr>
            <p:spPr bwMode="auto">
              <a:xfrm>
                <a:off x="2453"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3" name="Rectangle 18"/>
              <p:cNvSpPr>
                <a:spLocks noChangeArrowheads="1"/>
              </p:cNvSpPr>
              <p:nvPr/>
            </p:nvSpPr>
            <p:spPr bwMode="auto">
              <a:xfrm>
                <a:off x="2933"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4" name="Rectangle 19"/>
              <p:cNvSpPr>
                <a:spLocks noChangeArrowheads="1"/>
              </p:cNvSpPr>
              <p:nvPr/>
            </p:nvSpPr>
            <p:spPr bwMode="auto">
              <a:xfrm>
                <a:off x="3413"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5" name="Rectangle 20"/>
              <p:cNvSpPr>
                <a:spLocks noChangeArrowheads="1"/>
              </p:cNvSpPr>
              <p:nvPr/>
            </p:nvSpPr>
            <p:spPr bwMode="auto">
              <a:xfrm>
                <a:off x="4354"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76" name="Rectangle 21"/>
              <p:cNvSpPr>
                <a:spLocks noChangeArrowheads="1"/>
              </p:cNvSpPr>
              <p:nvPr/>
            </p:nvSpPr>
            <p:spPr bwMode="auto">
              <a:xfrm>
                <a:off x="3413"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15377" name="Rectangle 22"/>
              <p:cNvSpPr>
                <a:spLocks noChangeArrowheads="1"/>
              </p:cNvSpPr>
              <p:nvPr/>
            </p:nvSpPr>
            <p:spPr bwMode="auto">
              <a:xfrm>
                <a:off x="4354"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r>
                  <a:rPr lang="en-US" altLang="en-US" sz="1800">
                    <a:solidFill>
                      <a:srgbClr val="000000"/>
                    </a:solidFill>
                    <a:cs typeface="Times New Roman" pitchFamily="18" charset="0"/>
                  </a:rPr>
                  <a:t>–</a:t>
                </a:r>
                <a:r>
                  <a:rPr lang="en-US" altLang="en-US" sz="1800">
                    <a:solidFill>
                      <a:srgbClr val="000000"/>
                    </a:solidFill>
                  </a:rPr>
                  <a:t>1</a:t>
                </a:r>
              </a:p>
            </p:txBody>
          </p:sp>
          <p:sp>
            <p:nvSpPr>
              <p:cNvPr id="15378" name="Rectangle 23"/>
              <p:cNvSpPr>
                <a:spLocks noChangeArrowheads="1"/>
              </p:cNvSpPr>
              <p:nvPr/>
            </p:nvSpPr>
            <p:spPr bwMode="auto">
              <a:xfrm>
                <a:off x="1474"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15379" name="Rectangle 24"/>
              <p:cNvSpPr>
                <a:spLocks noChangeArrowheads="1"/>
              </p:cNvSpPr>
              <p:nvPr/>
            </p:nvSpPr>
            <p:spPr bwMode="auto">
              <a:xfrm>
                <a:off x="2933"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15380" name="Rectangle 25"/>
              <p:cNvSpPr>
                <a:spLocks noChangeArrowheads="1"/>
              </p:cNvSpPr>
              <p:nvPr/>
            </p:nvSpPr>
            <p:spPr bwMode="auto">
              <a:xfrm>
                <a:off x="3874"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81" name="Freeform 26"/>
              <p:cNvSpPr>
                <a:spLocks/>
              </p:cNvSpPr>
              <p:nvPr/>
            </p:nvSpPr>
            <p:spPr bwMode="auto">
              <a:xfrm>
                <a:off x="2597" y="275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15382" name="Freeform 27"/>
              <p:cNvSpPr>
                <a:spLocks/>
              </p:cNvSpPr>
              <p:nvPr/>
            </p:nvSpPr>
            <p:spPr bwMode="auto">
              <a:xfrm>
                <a:off x="4018" y="275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15383" name="Rectangle 28"/>
              <p:cNvSpPr>
                <a:spLocks noChangeArrowheads="1"/>
              </p:cNvSpPr>
              <p:nvPr/>
            </p:nvSpPr>
            <p:spPr bwMode="auto">
              <a:xfrm>
                <a:off x="4853"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5384" name="Rectangle 29"/>
              <p:cNvSpPr>
                <a:spLocks noChangeArrowheads="1"/>
              </p:cNvSpPr>
              <p:nvPr/>
            </p:nvSpPr>
            <p:spPr bwMode="auto">
              <a:xfrm>
                <a:off x="4853"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grpSp>
      </p:gr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652012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z="3200" dirty="0"/>
              <a:t>Aside: invariants</a:t>
            </a:r>
            <a:endParaRPr lang="en-GB" altLang="en-US" sz="3200" dirty="0"/>
          </a:p>
        </p:txBody>
      </p:sp>
      <p:sp>
        <p:nvSpPr>
          <p:cNvPr id="16387" name="Rectangle 3"/>
          <p:cNvSpPr>
            <a:spLocks noGrp="1" noChangeArrowheads="1"/>
          </p:cNvSpPr>
          <p:nvPr>
            <p:ph idx="1"/>
          </p:nvPr>
        </p:nvSpPr>
        <p:spPr>
          <a:xfrm>
            <a:off x="446335" y="1344788"/>
            <a:ext cx="7620000" cy="4800600"/>
          </a:xfrm>
          <a:noFill/>
        </p:spPr>
        <p:txBody>
          <a:bodyPr/>
          <a:lstStyle/>
          <a:p>
            <a:pPr eaLnBrk="1" hangingPunct="1"/>
            <a:r>
              <a:rPr lang="en-US" altLang="en-US" dirty="0"/>
              <a:t>An</a:t>
            </a:r>
            <a:r>
              <a:rPr lang="en-US" altLang="en-US" b="1" dirty="0"/>
              <a:t> invariant</a:t>
            </a:r>
            <a:r>
              <a:rPr lang="en-US" altLang="en-US" dirty="0"/>
              <a:t> is an assertion that always holds at a particular step in an algorithm or program.</a:t>
            </a:r>
          </a:p>
          <a:p>
            <a:pPr eaLnBrk="1" hangingPunct="1"/>
            <a:r>
              <a:rPr lang="en-US" altLang="en-US" dirty="0"/>
              <a:t>In particular, a </a:t>
            </a:r>
            <a:r>
              <a:rPr lang="en-US" altLang="en-US" b="1" dirty="0"/>
              <a:t>loop invariant</a:t>
            </a:r>
            <a:r>
              <a:rPr lang="en-US" altLang="en-US" dirty="0"/>
              <a:t> is one that holds at every iteration of a </a:t>
            </a:r>
            <a:r>
              <a:rPr lang="en-US" altLang="en-US"/>
              <a:t>loop.</a:t>
            </a:r>
          </a:p>
          <a:p>
            <a:pPr marL="0" indent="0" eaLnBrk="1" hangingPunct="1">
              <a:buNone/>
            </a:pPr>
            <a:endParaRPr lang="en-US" altLang="en-US" dirty="0"/>
          </a:p>
          <a:p>
            <a:pPr eaLnBrk="1" hangingPunct="1"/>
            <a:r>
              <a:rPr lang="en-US" altLang="en-US"/>
              <a:t>We’ll use schematic diagrams to illustrate, </a:t>
            </a:r>
            <a:r>
              <a:rPr lang="en-US" altLang="en-US" dirty="0"/>
              <a:t>e.g.:</a:t>
            </a:r>
          </a:p>
        </p:txBody>
      </p:sp>
      <p:grpSp>
        <p:nvGrpSpPr>
          <p:cNvPr id="2" name="Group 30"/>
          <p:cNvGrpSpPr>
            <a:grpSpLocks/>
          </p:cNvGrpSpPr>
          <p:nvPr/>
        </p:nvGrpSpPr>
        <p:grpSpPr bwMode="auto">
          <a:xfrm>
            <a:off x="937831" y="4547117"/>
            <a:ext cx="6372225" cy="1187450"/>
            <a:chOff x="1338" y="2606"/>
            <a:chExt cx="4014" cy="748"/>
          </a:xfrm>
        </p:grpSpPr>
        <p:grpSp>
          <p:nvGrpSpPr>
            <p:cNvPr id="16389" name="Group 31"/>
            <p:cNvGrpSpPr>
              <a:grpSpLocks/>
            </p:cNvGrpSpPr>
            <p:nvPr/>
          </p:nvGrpSpPr>
          <p:grpSpPr bwMode="auto">
            <a:xfrm>
              <a:off x="1497" y="3090"/>
              <a:ext cx="1905" cy="264"/>
              <a:chOff x="1497" y="3090"/>
              <a:chExt cx="1905" cy="264"/>
            </a:xfrm>
          </p:grpSpPr>
          <p:sp>
            <p:nvSpPr>
              <p:cNvPr id="16411" name="Rectangle 32"/>
              <p:cNvSpPr>
                <a:spLocks noChangeArrowheads="1"/>
              </p:cNvSpPr>
              <p:nvPr/>
            </p:nvSpPr>
            <p:spPr bwMode="auto">
              <a:xfrm>
                <a:off x="1541" y="3181"/>
                <a:ext cx="18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dirty="0">
                    <a:solidFill>
                      <a:schemeClr val="accent1">
                        <a:lumMod val="50000"/>
                      </a:schemeClr>
                    </a:solidFill>
                  </a:rPr>
                  <a:t>known not to equal </a:t>
                </a:r>
                <a:r>
                  <a:rPr lang="en-US" altLang="en-US" sz="1800" i="1" dirty="0">
                    <a:solidFill>
                      <a:schemeClr val="accent1">
                        <a:lumMod val="50000"/>
                      </a:schemeClr>
                    </a:solidFill>
                  </a:rPr>
                  <a:t>target</a:t>
                </a:r>
              </a:p>
            </p:txBody>
          </p:sp>
          <p:sp>
            <p:nvSpPr>
              <p:cNvPr id="16412" name="Freeform 33"/>
              <p:cNvSpPr>
                <a:spLocks/>
              </p:cNvSpPr>
              <p:nvPr/>
            </p:nvSpPr>
            <p:spPr bwMode="auto">
              <a:xfrm>
                <a:off x="1497" y="3090"/>
                <a:ext cx="1905" cy="82"/>
              </a:xfrm>
              <a:custGeom>
                <a:avLst/>
                <a:gdLst>
                  <a:gd name="T0" fmla="*/ 0 w 2099"/>
                  <a:gd name="T1" fmla="*/ 0 h 137"/>
                  <a:gd name="T2" fmla="*/ 4 w 2099"/>
                  <a:gd name="T3" fmla="*/ 2 h 137"/>
                  <a:gd name="T4" fmla="*/ 9 w 2099"/>
                  <a:gd name="T5" fmla="*/ 4 h 137"/>
                  <a:gd name="T6" fmla="*/ 21 w 2099"/>
                  <a:gd name="T7" fmla="*/ 5 h 137"/>
                  <a:gd name="T8" fmla="*/ 35 w 2099"/>
                  <a:gd name="T9" fmla="*/ 7 h 137"/>
                  <a:gd name="T10" fmla="*/ 53 w 2099"/>
                  <a:gd name="T11" fmla="*/ 8 h 137"/>
                  <a:gd name="T12" fmla="*/ 73 w 2099"/>
                  <a:gd name="T13" fmla="*/ 8 h 137"/>
                  <a:gd name="T14" fmla="*/ 94 w 2099"/>
                  <a:gd name="T15" fmla="*/ 9 h 137"/>
                  <a:gd name="T16" fmla="*/ 119 w 2099"/>
                  <a:gd name="T17" fmla="*/ 9 h 137"/>
                  <a:gd name="T18" fmla="*/ 594 w 2099"/>
                  <a:gd name="T19" fmla="*/ 9 h 137"/>
                  <a:gd name="T20" fmla="*/ 617 w 2099"/>
                  <a:gd name="T21" fmla="*/ 9 h 137"/>
                  <a:gd name="T22" fmla="*/ 639 w 2099"/>
                  <a:gd name="T23" fmla="*/ 10 h 137"/>
                  <a:gd name="T24" fmla="*/ 660 w 2099"/>
                  <a:gd name="T25" fmla="*/ 10 h 137"/>
                  <a:gd name="T26" fmla="*/ 677 w 2099"/>
                  <a:gd name="T27" fmla="*/ 11 h 137"/>
                  <a:gd name="T28" fmla="*/ 692 w 2099"/>
                  <a:gd name="T29" fmla="*/ 13 h 137"/>
                  <a:gd name="T30" fmla="*/ 702 w 2099"/>
                  <a:gd name="T31" fmla="*/ 14 h 137"/>
                  <a:gd name="T32" fmla="*/ 709 w 2099"/>
                  <a:gd name="T33" fmla="*/ 16 h 137"/>
                  <a:gd name="T34" fmla="*/ 712 w 2099"/>
                  <a:gd name="T35" fmla="*/ 17 h 137"/>
                  <a:gd name="T36" fmla="*/ 715 w 2099"/>
                  <a:gd name="T37" fmla="*/ 16 h 137"/>
                  <a:gd name="T38" fmla="*/ 722 w 2099"/>
                  <a:gd name="T39" fmla="*/ 14 h 137"/>
                  <a:gd name="T40" fmla="*/ 732 w 2099"/>
                  <a:gd name="T41" fmla="*/ 13 h 137"/>
                  <a:gd name="T42" fmla="*/ 748 w 2099"/>
                  <a:gd name="T43" fmla="*/ 11 h 137"/>
                  <a:gd name="T44" fmla="*/ 764 w 2099"/>
                  <a:gd name="T45" fmla="*/ 10 h 137"/>
                  <a:gd name="T46" fmla="*/ 785 w 2099"/>
                  <a:gd name="T47" fmla="*/ 10 h 137"/>
                  <a:gd name="T48" fmla="*/ 807 w 2099"/>
                  <a:gd name="T49" fmla="*/ 9 h 137"/>
                  <a:gd name="T50" fmla="*/ 831 w 2099"/>
                  <a:gd name="T51" fmla="*/ 9 h 137"/>
                  <a:gd name="T52" fmla="*/ 1306 w 2099"/>
                  <a:gd name="T53" fmla="*/ 9 h 137"/>
                  <a:gd name="T54" fmla="*/ 1330 w 2099"/>
                  <a:gd name="T55" fmla="*/ 9 h 137"/>
                  <a:gd name="T56" fmla="*/ 1351 w 2099"/>
                  <a:gd name="T57" fmla="*/ 8 h 137"/>
                  <a:gd name="T58" fmla="*/ 1372 w 2099"/>
                  <a:gd name="T59" fmla="*/ 8 h 137"/>
                  <a:gd name="T60" fmla="*/ 1389 w 2099"/>
                  <a:gd name="T61" fmla="*/ 7 h 137"/>
                  <a:gd name="T62" fmla="*/ 1404 w 2099"/>
                  <a:gd name="T63" fmla="*/ 5 h 137"/>
                  <a:gd name="T64" fmla="*/ 1415 w 2099"/>
                  <a:gd name="T65" fmla="*/ 4 h 137"/>
                  <a:gd name="T66" fmla="*/ 1421 w 2099"/>
                  <a:gd name="T67" fmla="*/ 2 h 137"/>
                  <a:gd name="T68" fmla="*/ 1424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16390" name="Group 34"/>
            <p:cNvGrpSpPr>
              <a:grpSpLocks/>
            </p:cNvGrpSpPr>
            <p:nvPr/>
          </p:nvGrpSpPr>
          <p:grpSpPr bwMode="auto">
            <a:xfrm>
              <a:off x="3424" y="3090"/>
              <a:ext cx="1928" cy="264"/>
              <a:chOff x="3424" y="3090"/>
              <a:chExt cx="1928" cy="264"/>
            </a:xfrm>
          </p:grpSpPr>
          <p:sp>
            <p:nvSpPr>
              <p:cNvPr id="16409" name="Rectangle 35"/>
              <p:cNvSpPr>
                <a:spLocks noChangeArrowheads="1"/>
              </p:cNvSpPr>
              <p:nvPr/>
            </p:nvSpPr>
            <p:spPr bwMode="auto">
              <a:xfrm>
                <a:off x="3461" y="3181"/>
                <a:ext cx="18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dirty="0">
                    <a:solidFill>
                      <a:schemeClr val="accent1">
                        <a:lumMod val="50000"/>
                      </a:schemeClr>
                    </a:solidFill>
                  </a:rPr>
                  <a:t>still to be searched</a:t>
                </a:r>
              </a:p>
            </p:txBody>
          </p:sp>
          <p:sp>
            <p:nvSpPr>
              <p:cNvPr id="16410" name="Freeform 36"/>
              <p:cNvSpPr>
                <a:spLocks/>
              </p:cNvSpPr>
              <p:nvPr/>
            </p:nvSpPr>
            <p:spPr bwMode="auto">
              <a:xfrm>
                <a:off x="3424" y="3090"/>
                <a:ext cx="1928" cy="82"/>
              </a:xfrm>
              <a:custGeom>
                <a:avLst/>
                <a:gdLst>
                  <a:gd name="T0" fmla="*/ 0 w 1644"/>
                  <a:gd name="T1" fmla="*/ 0 h 137"/>
                  <a:gd name="T2" fmla="*/ 2 w 1644"/>
                  <a:gd name="T3" fmla="*/ 2 h 137"/>
                  <a:gd name="T4" fmla="*/ 22 w 1644"/>
                  <a:gd name="T5" fmla="*/ 4 h 137"/>
                  <a:gd name="T6" fmla="*/ 46 w 1644"/>
                  <a:gd name="T7" fmla="*/ 5 h 137"/>
                  <a:gd name="T8" fmla="*/ 77 w 1644"/>
                  <a:gd name="T9" fmla="*/ 7 h 137"/>
                  <a:gd name="T10" fmla="*/ 113 w 1644"/>
                  <a:gd name="T11" fmla="*/ 8 h 137"/>
                  <a:gd name="T12" fmla="*/ 157 w 1644"/>
                  <a:gd name="T13" fmla="*/ 8 h 137"/>
                  <a:gd name="T14" fmla="*/ 208 w 1644"/>
                  <a:gd name="T15" fmla="*/ 9 h 137"/>
                  <a:gd name="T16" fmla="*/ 260 w 1644"/>
                  <a:gd name="T17" fmla="*/ 9 h 137"/>
                  <a:gd name="T18" fmla="*/ 1296 w 1644"/>
                  <a:gd name="T19" fmla="*/ 9 h 137"/>
                  <a:gd name="T20" fmla="*/ 1351 w 1644"/>
                  <a:gd name="T21" fmla="*/ 9 h 137"/>
                  <a:gd name="T22" fmla="*/ 1399 w 1644"/>
                  <a:gd name="T23" fmla="*/ 10 h 137"/>
                  <a:gd name="T24" fmla="*/ 1441 w 1644"/>
                  <a:gd name="T25" fmla="*/ 10 h 137"/>
                  <a:gd name="T26" fmla="*/ 1481 w 1644"/>
                  <a:gd name="T27" fmla="*/ 11 h 137"/>
                  <a:gd name="T28" fmla="*/ 1513 w 1644"/>
                  <a:gd name="T29" fmla="*/ 13 h 137"/>
                  <a:gd name="T30" fmla="*/ 1535 w 1644"/>
                  <a:gd name="T31" fmla="*/ 14 h 137"/>
                  <a:gd name="T32" fmla="*/ 1555 w 1644"/>
                  <a:gd name="T33" fmla="*/ 16 h 137"/>
                  <a:gd name="T34" fmla="*/ 1557 w 1644"/>
                  <a:gd name="T35" fmla="*/ 17 h 137"/>
                  <a:gd name="T36" fmla="*/ 1561 w 1644"/>
                  <a:gd name="T37" fmla="*/ 16 h 137"/>
                  <a:gd name="T38" fmla="*/ 1579 w 1644"/>
                  <a:gd name="T39" fmla="*/ 14 h 137"/>
                  <a:gd name="T40" fmla="*/ 1602 w 1644"/>
                  <a:gd name="T41" fmla="*/ 13 h 137"/>
                  <a:gd name="T42" fmla="*/ 1634 w 1644"/>
                  <a:gd name="T43" fmla="*/ 11 h 137"/>
                  <a:gd name="T44" fmla="*/ 1671 w 1644"/>
                  <a:gd name="T45" fmla="*/ 10 h 137"/>
                  <a:gd name="T46" fmla="*/ 1715 w 1644"/>
                  <a:gd name="T47" fmla="*/ 10 h 137"/>
                  <a:gd name="T48" fmla="*/ 1765 w 1644"/>
                  <a:gd name="T49" fmla="*/ 9 h 137"/>
                  <a:gd name="T50" fmla="*/ 1817 w 1644"/>
                  <a:gd name="T51" fmla="*/ 9 h 137"/>
                  <a:gd name="T52" fmla="*/ 2853 w 1644"/>
                  <a:gd name="T53" fmla="*/ 9 h 137"/>
                  <a:gd name="T54" fmla="*/ 2904 w 1644"/>
                  <a:gd name="T55" fmla="*/ 9 h 137"/>
                  <a:gd name="T56" fmla="*/ 2954 w 1644"/>
                  <a:gd name="T57" fmla="*/ 8 h 137"/>
                  <a:gd name="T58" fmla="*/ 2999 w 1644"/>
                  <a:gd name="T59" fmla="*/ 8 h 137"/>
                  <a:gd name="T60" fmla="*/ 3034 w 1644"/>
                  <a:gd name="T61" fmla="*/ 7 h 137"/>
                  <a:gd name="T62" fmla="*/ 3066 w 1644"/>
                  <a:gd name="T63" fmla="*/ 5 h 137"/>
                  <a:gd name="T64" fmla="*/ 3089 w 1644"/>
                  <a:gd name="T65" fmla="*/ 4 h 137"/>
                  <a:gd name="T66" fmla="*/ 3108 w 1644"/>
                  <a:gd name="T67" fmla="*/ 2 h 137"/>
                  <a:gd name="T68" fmla="*/ 3110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16391" name="Group 37"/>
            <p:cNvGrpSpPr>
              <a:grpSpLocks/>
            </p:cNvGrpSpPr>
            <p:nvPr/>
          </p:nvGrpSpPr>
          <p:grpSpPr bwMode="auto">
            <a:xfrm>
              <a:off x="1338" y="2606"/>
              <a:ext cx="4014" cy="480"/>
              <a:chOff x="1338" y="2606"/>
              <a:chExt cx="4014" cy="480"/>
            </a:xfrm>
          </p:grpSpPr>
          <p:sp>
            <p:nvSpPr>
              <p:cNvPr id="16392" name="Rectangle 38"/>
              <p:cNvSpPr>
                <a:spLocks noChangeArrowheads="1"/>
              </p:cNvSpPr>
              <p:nvPr/>
            </p:nvSpPr>
            <p:spPr bwMode="auto">
              <a:xfrm>
                <a:off x="1954"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r>
                  <a:rPr lang="en-US" altLang="en-US" sz="1800">
                    <a:solidFill>
                      <a:srgbClr val="000000"/>
                    </a:solidFill>
                  </a:rPr>
                  <a:t>+1</a:t>
                </a:r>
              </a:p>
            </p:txBody>
          </p:sp>
          <p:sp>
            <p:nvSpPr>
              <p:cNvPr id="16393" name="Rectangle 39"/>
              <p:cNvSpPr>
                <a:spLocks noChangeArrowheads="1"/>
              </p:cNvSpPr>
              <p:nvPr/>
            </p:nvSpPr>
            <p:spPr bwMode="auto">
              <a:xfrm>
                <a:off x="1338" y="28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16394" name="Rectangle 40"/>
              <p:cNvSpPr>
                <a:spLocks noChangeArrowheads="1"/>
              </p:cNvSpPr>
              <p:nvPr/>
            </p:nvSpPr>
            <p:spPr bwMode="auto">
              <a:xfrm>
                <a:off x="1474"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395" name="Rectangle 41"/>
              <p:cNvSpPr>
                <a:spLocks noChangeArrowheads="1"/>
              </p:cNvSpPr>
              <p:nvPr/>
            </p:nvSpPr>
            <p:spPr bwMode="auto">
              <a:xfrm>
                <a:off x="1954"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396" name="Rectangle 42"/>
              <p:cNvSpPr>
                <a:spLocks noChangeArrowheads="1"/>
              </p:cNvSpPr>
              <p:nvPr/>
            </p:nvSpPr>
            <p:spPr bwMode="auto">
              <a:xfrm>
                <a:off x="2453"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397" name="Rectangle 43"/>
              <p:cNvSpPr>
                <a:spLocks noChangeArrowheads="1"/>
              </p:cNvSpPr>
              <p:nvPr/>
            </p:nvSpPr>
            <p:spPr bwMode="auto">
              <a:xfrm>
                <a:off x="2933" y="2789"/>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398" name="Rectangle 44"/>
              <p:cNvSpPr>
                <a:spLocks noChangeArrowheads="1"/>
              </p:cNvSpPr>
              <p:nvPr/>
            </p:nvSpPr>
            <p:spPr bwMode="auto">
              <a:xfrm>
                <a:off x="3413"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399" name="Rectangle 45"/>
              <p:cNvSpPr>
                <a:spLocks noChangeArrowheads="1"/>
              </p:cNvSpPr>
              <p:nvPr/>
            </p:nvSpPr>
            <p:spPr bwMode="auto">
              <a:xfrm>
                <a:off x="4354"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400" name="Rectangle 46"/>
              <p:cNvSpPr>
                <a:spLocks noChangeArrowheads="1"/>
              </p:cNvSpPr>
              <p:nvPr/>
            </p:nvSpPr>
            <p:spPr bwMode="auto">
              <a:xfrm>
                <a:off x="3413"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16401" name="Rectangle 47"/>
              <p:cNvSpPr>
                <a:spLocks noChangeArrowheads="1"/>
              </p:cNvSpPr>
              <p:nvPr/>
            </p:nvSpPr>
            <p:spPr bwMode="auto">
              <a:xfrm>
                <a:off x="4354"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r>
                  <a:rPr lang="en-US" altLang="en-US" sz="1800">
                    <a:solidFill>
                      <a:srgbClr val="000000"/>
                    </a:solidFill>
                    <a:cs typeface="Times New Roman" pitchFamily="18" charset="0"/>
                  </a:rPr>
                  <a:t>–</a:t>
                </a:r>
                <a:r>
                  <a:rPr lang="en-US" altLang="en-US" sz="1800">
                    <a:solidFill>
                      <a:srgbClr val="000000"/>
                    </a:solidFill>
                  </a:rPr>
                  <a:t>1</a:t>
                </a:r>
              </a:p>
            </p:txBody>
          </p:sp>
          <p:sp>
            <p:nvSpPr>
              <p:cNvPr id="16402" name="Rectangle 48"/>
              <p:cNvSpPr>
                <a:spLocks noChangeArrowheads="1"/>
              </p:cNvSpPr>
              <p:nvPr/>
            </p:nvSpPr>
            <p:spPr bwMode="auto">
              <a:xfrm>
                <a:off x="1474"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16403" name="Rectangle 49"/>
              <p:cNvSpPr>
                <a:spLocks noChangeArrowheads="1"/>
              </p:cNvSpPr>
              <p:nvPr/>
            </p:nvSpPr>
            <p:spPr bwMode="auto">
              <a:xfrm>
                <a:off x="2933" y="261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16404" name="Rectangle 50"/>
              <p:cNvSpPr>
                <a:spLocks noChangeArrowheads="1"/>
              </p:cNvSpPr>
              <p:nvPr/>
            </p:nvSpPr>
            <p:spPr bwMode="auto">
              <a:xfrm>
                <a:off x="3874"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405" name="Freeform 51"/>
              <p:cNvSpPr>
                <a:spLocks/>
              </p:cNvSpPr>
              <p:nvPr/>
            </p:nvSpPr>
            <p:spPr bwMode="auto">
              <a:xfrm>
                <a:off x="2597" y="275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16406" name="Freeform 52"/>
              <p:cNvSpPr>
                <a:spLocks/>
              </p:cNvSpPr>
              <p:nvPr/>
            </p:nvSpPr>
            <p:spPr bwMode="auto">
              <a:xfrm>
                <a:off x="4018" y="275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16407" name="Rectangle 53"/>
              <p:cNvSpPr>
                <a:spLocks noChangeArrowheads="1"/>
              </p:cNvSpPr>
              <p:nvPr/>
            </p:nvSpPr>
            <p:spPr bwMode="auto">
              <a:xfrm>
                <a:off x="4853" y="278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6408" name="Rectangle 54"/>
              <p:cNvSpPr>
                <a:spLocks noChangeArrowheads="1"/>
              </p:cNvSpPr>
              <p:nvPr/>
            </p:nvSpPr>
            <p:spPr bwMode="auto">
              <a:xfrm>
                <a:off x="4853" y="260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grpSp>
      </p:gr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4063447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Linear search </a:t>
            </a:r>
            <a:r>
              <a:rPr lang="en-US" altLang="en-US" i="1"/>
              <a:t>(2)</a:t>
            </a:r>
            <a:endParaRPr lang="en-GB" altLang="en-US"/>
          </a:p>
        </p:txBody>
      </p:sp>
      <p:sp>
        <p:nvSpPr>
          <p:cNvPr id="17411" name="Rectangle 3"/>
          <p:cNvSpPr>
            <a:spLocks noGrp="1" noChangeArrowheads="1"/>
          </p:cNvSpPr>
          <p:nvPr>
            <p:ph type="body" idx="1"/>
          </p:nvPr>
        </p:nvSpPr>
        <p:spPr>
          <a:noFill/>
        </p:spPr>
        <p:txBody>
          <a:bodyPr/>
          <a:lstStyle/>
          <a:p>
            <a:pPr eaLnBrk="1" hangingPunct="1"/>
            <a:r>
              <a:rPr lang="en-US" altLang="en-US"/>
              <a:t>Animation (successful search):</a:t>
            </a:r>
          </a:p>
        </p:txBody>
      </p:sp>
      <p:grpSp>
        <p:nvGrpSpPr>
          <p:cNvPr id="2" name="Group 245"/>
          <p:cNvGrpSpPr>
            <a:grpSpLocks/>
          </p:cNvGrpSpPr>
          <p:nvPr/>
        </p:nvGrpSpPr>
        <p:grpSpPr bwMode="auto">
          <a:xfrm>
            <a:off x="613569" y="2260600"/>
            <a:ext cx="7086600" cy="3657600"/>
            <a:chOff x="1202" y="1344"/>
            <a:chExt cx="4464" cy="2304"/>
          </a:xfrm>
        </p:grpSpPr>
        <p:sp>
          <p:nvSpPr>
            <p:cNvPr id="17621" name="Rectangle 6"/>
            <p:cNvSpPr>
              <a:spLocks noChangeArrowheads="1"/>
            </p:cNvSpPr>
            <p:nvPr/>
          </p:nvSpPr>
          <p:spPr bwMode="auto">
            <a:xfrm>
              <a:off x="1202" y="1344"/>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622" name="Text Box 7"/>
            <p:cNvSpPr txBox="1">
              <a:spLocks noChangeArrowheads="1"/>
            </p:cNvSpPr>
            <p:nvPr/>
          </p:nvSpPr>
          <p:spPr bwMode="auto">
            <a:xfrm>
              <a:off x="1250" y="1392"/>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For </a:t>
              </a:r>
              <a:r>
                <a:rPr lang="en-US" altLang="en-US" sz="2000" i="1">
                  <a:latin typeface="Times New Roman" pitchFamily="18" charset="0"/>
                </a:rPr>
                <a:t>p</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623" name="Text Box 8"/>
            <p:cNvSpPr txBox="1">
              <a:spLocks noChangeArrowheads="1"/>
            </p:cNvSpPr>
            <p:nvPr/>
          </p:nvSpPr>
          <p:spPr bwMode="auto">
            <a:xfrm>
              <a:off x="1490"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624" name="Text Box 9"/>
            <p:cNvSpPr txBox="1">
              <a:spLocks noChangeArrowheads="1"/>
            </p:cNvSpPr>
            <p:nvPr/>
          </p:nvSpPr>
          <p:spPr bwMode="auto">
            <a:xfrm>
              <a:off x="1250" y="264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625" name="Text Box 10"/>
            <p:cNvSpPr txBox="1">
              <a:spLocks noChangeArrowheads="1"/>
            </p:cNvSpPr>
            <p:nvPr/>
          </p:nvSpPr>
          <p:spPr bwMode="auto">
            <a:xfrm>
              <a:off x="2070"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626" name="Text Box 11"/>
            <p:cNvSpPr txBox="1">
              <a:spLocks noChangeArrowheads="1"/>
            </p:cNvSpPr>
            <p:nvPr/>
          </p:nvSpPr>
          <p:spPr bwMode="auto">
            <a:xfrm>
              <a:off x="2498"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627" name="Text Box 12"/>
            <p:cNvSpPr txBox="1">
              <a:spLocks noChangeArrowheads="1"/>
            </p:cNvSpPr>
            <p:nvPr/>
          </p:nvSpPr>
          <p:spPr bwMode="auto">
            <a:xfrm>
              <a:off x="2930"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628" name="Text Box 13"/>
            <p:cNvSpPr txBox="1">
              <a:spLocks noChangeArrowheads="1"/>
            </p:cNvSpPr>
            <p:nvPr/>
          </p:nvSpPr>
          <p:spPr bwMode="auto">
            <a:xfrm>
              <a:off x="3362"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629" name="Text Box 14"/>
            <p:cNvSpPr txBox="1">
              <a:spLocks noChangeArrowheads="1"/>
            </p:cNvSpPr>
            <p:nvPr/>
          </p:nvSpPr>
          <p:spPr bwMode="auto">
            <a:xfrm>
              <a:off x="3794"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630" name="Text Box 15"/>
            <p:cNvSpPr txBox="1">
              <a:spLocks noChangeArrowheads="1"/>
            </p:cNvSpPr>
            <p:nvPr/>
          </p:nvSpPr>
          <p:spPr bwMode="auto">
            <a:xfrm>
              <a:off x="4994" y="264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631" name="Text Box 16"/>
            <p:cNvSpPr txBox="1">
              <a:spLocks noChangeArrowheads="1"/>
            </p:cNvSpPr>
            <p:nvPr/>
          </p:nvSpPr>
          <p:spPr bwMode="auto">
            <a:xfrm>
              <a:off x="1949"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632" name="Text Box 17"/>
            <p:cNvSpPr txBox="1">
              <a:spLocks noChangeArrowheads="1"/>
            </p:cNvSpPr>
            <p:nvPr/>
          </p:nvSpPr>
          <p:spPr bwMode="auto">
            <a:xfrm>
              <a:off x="2381"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633" name="Text Box 18"/>
            <p:cNvSpPr txBox="1">
              <a:spLocks noChangeArrowheads="1"/>
            </p:cNvSpPr>
            <p:nvPr/>
          </p:nvSpPr>
          <p:spPr bwMode="auto">
            <a:xfrm>
              <a:off x="2813"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634" name="Text Box 19"/>
            <p:cNvSpPr txBox="1">
              <a:spLocks noChangeArrowheads="1"/>
            </p:cNvSpPr>
            <p:nvPr/>
          </p:nvSpPr>
          <p:spPr bwMode="auto">
            <a:xfrm>
              <a:off x="3245"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635" name="Text Box 20"/>
            <p:cNvSpPr txBox="1">
              <a:spLocks noChangeArrowheads="1"/>
            </p:cNvSpPr>
            <p:nvPr/>
          </p:nvSpPr>
          <p:spPr bwMode="auto">
            <a:xfrm>
              <a:off x="3677"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636" name="Text Box 21"/>
            <p:cNvSpPr txBox="1">
              <a:spLocks noChangeArrowheads="1"/>
            </p:cNvSpPr>
            <p:nvPr/>
          </p:nvSpPr>
          <p:spPr bwMode="auto">
            <a:xfrm>
              <a:off x="4109"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637" name="Text Box 22"/>
            <p:cNvSpPr txBox="1">
              <a:spLocks noChangeArrowheads="1"/>
            </p:cNvSpPr>
            <p:nvPr/>
          </p:nvSpPr>
          <p:spPr bwMode="auto">
            <a:xfrm>
              <a:off x="1922" y="326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638" name="Text Box 23"/>
            <p:cNvSpPr txBox="1">
              <a:spLocks noChangeArrowheads="1"/>
            </p:cNvSpPr>
            <p:nvPr/>
          </p:nvSpPr>
          <p:spPr bwMode="auto">
            <a:xfrm>
              <a:off x="1298" y="283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639" name="Text Box 24"/>
            <p:cNvSpPr txBox="1">
              <a:spLocks noChangeArrowheads="1"/>
            </p:cNvSpPr>
            <p:nvPr/>
          </p:nvSpPr>
          <p:spPr bwMode="auto">
            <a:xfrm>
              <a:off x="1634" y="3264"/>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640" name="Text Box 25"/>
            <p:cNvSpPr txBox="1">
              <a:spLocks noChangeArrowheads="1"/>
            </p:cNvSpPr>
            <p:nvPr/>
          </p:nvSpPr>
          <p:spPr bwMode="auto">
            <a:xfrm>
              <a:off x="4541"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641" name="Text Box 26"/>
            <p:cNvSpPr txBox="1">
              <a:spLocks noChangeArrowheads="1"/>
            </p:cNvSpPr>
            <p:nvPr/>
          </p:nvSpPr>
          <p:spPr bwMode="auto">
            <a:xfrm>
              <a:off x="4973" y="28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642" name="Text Box 27"/>
            <p:cNvSpPr txBox="1">
              <a:spLocks noChangeArrowheads="1"/>
            </p:cNvSpPr>
            <p:nvPr/>
          </p:nvSpPr>
          <p:spPr bwMode="auto">
            <a:xfrm>
              <a:off x="4229"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643" name="Text Box 28"/>
            <p:cNvSpPr txBox="1">
              <a:spLocks noChangeArrowheads="1"/>
            </p:cNvSpPr>
            <p:nvPr/>
          </p:nvSpPr>
          <p:spPr bwMode="auto">
            <a:xfrm>
              <a:off x="4664" y="26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3" name="Group 244"/>
          <p:cNvGrpSpPr>
            <a:grpSpLocks/>
          </p:cNvGrpSpPr>
          <p:nvPr/>
        </p:nvGrpSpPr>
        <p:grpSpPr bwMode="auto">
          <a:xfrm>
            <a:off x="613569" y="2262188"/>
            <a:ext cx="7086600" cy="3657600"/>
            <a:chOff x="1202" y="1435"/>
            <a:chExt cx="4464" cy="2304"/>
          </a:xfrm>
        </p:grpSpPr>
        <p:sp>
          <p:nvSpPr>
            <p:cNvPr id="17596" name="Rectangle 30"/>
            <p:cNvSpPr>
              <a:spLocks noChangeArrowheads="1"/>
            </p:cNvSpPr>
            <p:nvPr/>
          </p:nvSpPr>
          <p:spPr bwMode="auto">
            <a:xfrm>
              <a:off x="1202" y="1435"/>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597" name="Text Box 31"/>
            <p:cNvSpPr txBox="1">
              <a:spLocks noChangeArrowheads="1"/>
            </p:cNvSpPr>
            <p:nvPr/>
          </p:nvSpPr>
          <p:spPr bwMode="auto">
            <a:xfrm>
              <a:off x="1250" y="1483"/>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1.1.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598" name="Text Box 32"/>
            <p:cNvSpPr txBox="1">
              <a:spLocks noChangeArrowheads="1"/>
            </p:cNvSpPr>
            <p:nvPr/>
          </p:nvSpPr>
          <p:spPr bwMode="auto">
            <a:xfrm>
              <a:off x="1490"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599" name="Text Box 33"/>
            <p:cNvSpPr txBox="1">
              <a:spLocks noChangeArrowheads="1"/>
            </p:cNvSpPr>
            <p:nvPr/>
          </p:nvSpPr>
          <p:spPr bwMode="auto">
            <a:xfrm>
              <a:off x="1250" y="27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600" name="Text Box 34"/>
            <p:cNvSpPr txBox="1">
              <a:spLocks noChangeArrowheads="1"/>
            </p:cNvSpPr>
            <p:nvPr/>
          </p:nvSpPr>
          <p:spPr bwMode="auto">
            <a:xfrm>
              <a:off x="207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601" name="Text Box 35"/>
            <p:cNvSpPr txBox="1">
              <a:spLocks noChangeArrowheads="1"/>
            </p:cNvSpPr>
            <p:nvPr/>
          </p:nvSpPr>
          <p:spPr bwMode="auto">
            <a:xfrm>
              <a:off x="2498"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602" name="Text Box 36"/>
            <p:cNvSpPr txBox="1">
              <a:spLocks noChangeArrowheads="1"/>
            </p:cNvSpPr>
            <p:nvPr/>
          </p:nvSpPr>
          <p:spPr bwMode="auto">
            <a:xfrm>
              <a:off x="293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603" name="Text Box 37"/>
            <p:cNvSpPr txBox="1">
              <a:spLocks noChangeArrowheads="1"/>
            </p:cNvSpPr>
            <p:nvPr/>
          </p:nvSpPr>
          <p:spPr bwMode="auto">
            <a:xfrm>
              <a:off x="3362"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604" name="Text Box 38"/>
            <p:cNvSpPr txBox="1">
              <a:spLocks noChangeArrowheads="1"/>
            </p:cNvSpPr>
            <p:nvPr/>
          </p:nvSpPr>
          <p:spPr bwMode="auto">
            <a:xfrm>
              <a:off x="379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605" name="Text Box 39"/>
            <p:cNvSpPr txBox="1">
              <a:spLocks noChangeArrowheads="1"/>
            </p:cNvSpPr>
            <p:nvPr/>
          </p:nvSpPr>
          <p:spPr bwMode="auto">
            <a:xfrm>
              <a:off x="4994" y="27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606" name="Text Box 40"/>
            <p:cNvSpPr txBox="1">
              <a:spLocks noChangeArrowheads="1"/>
            </p:cNvSpPr>
            <p:nvPr/>
          </p:nvSpPr>
          <p:spPr bwMode="auto">
            <a:xfrm>
              <a:off x="194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607" name="Text Box 41"/>
            <p:cNvSpPr txBox="1">
              <a:spLocks noChangeArrowheads="1"/>
            </p:cNvSpPr>
            <p:nvPr/>
          </p:nvSpPr>
          <p:spPr bwMode="auto">
            <a:xfrm>
              <a:off x="238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608" name="Text Box 42"/>
            <p:cNvSpPr txBox="1">
              <a:spLocks noChangeArrowheads="1"/>
            </p:cNvSpPr>
            <p:nvPr/>
          </p:nvSpPr>
          <p:spPr bwMode="auto">
            <a:xfrm>
              <a:off x="281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609" name="Text Box 43"/>
            <p:cNvSpPr txBox="1">
              <a:spLocks noChangeArrowheads="1"/>
            </p:cNvSpPr>
            <p:nvPr/>
          </p:nvSpPr>
          <p:spPr bwMode="auto">
            <a:xfrm>
              <a:off x="3245"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610" name="Text Box 44"/>
            <p:cNvSpPr txBox="1">
              <a:spLocks noChangeArrowheads="1"/>
            </p:cNvSpPr>
            <p:nvPr/>
          </p:nvSpPr>
          <p:spPr bwMode="auto">
            <a:xfrm>
              <a:off x="3677"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611" name="Text Box 45"/>
            <p:cNvSpPr txBox="1">
              <a:spLocks noChangeArrowheads="1"/>
            </p:cNvSpPr>
            <p:nvPr/>
          </p:nvSpPr>
          <p:spPr bwMode="auto">
            <a:xfrm>
              <a:off x="410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612" name="Text Box 46"/>
            <p:cNvSpPr txBox="1">
              <a:spLocks noChangeArrowheads="1"/>
            </p:cNvSpPr>
            <p:nvPr/>
          </p:nvSpPr>
          <p:spPr bwMode="auto">
            <a:xfrm>
              <a:off x="1922"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613" name="Text Box 47"/>
            <p:cNvSpPr txBox="1">
              <a:spLocks noChangeArrowheads="1"/>
            </p:cNvSpPr>
            <p:nvPr/>
          </p:nvSpPr>
          <p:spPr bwMode="auto">
            <a:xfrm>
              <a:off x="1298" y="29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614" name="Text Box 48"/>
            <p:cNvSpPr txBox="1">
              <a:spLocks noChangeArrowheads="1"/>
            </p:cNvSpPr>
            <p:nvPr/>
          </p:nvSpPr>
          <p:spPr bwMode="auto">
            <a:xfrm>
              <a:off x="1634"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615" name="Text Box 49"/>
            <p:cNvSpPr txBox="1">
              <a:spLocks noChangeArrowheads="1"/>
            </p:cNvSpPr>
            <p:nvPr/>
          </p:nvSpPr>
          <p:spPr bwMode="auto">
            <a:xfrm>
              <a:off x="454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616" name="Text Box 50"/>
            <p:cNvSpPr txBox="1">
              <a:spLocks noChangeArrowheads="1"/>
            </p:cNvSpPr>
            <p:nvPr/>
          </p:nvSpPr>
          <p:spPr bwMode="auto">
            <a:xfrm>
              <a:off x="497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617" name="Text Box 51"/>
            <p:cNvSpPr txBox="1">
              <a:spLocks noChangeArrowheads="1"/>
            </p:cNvSpPr>
            <p:nvPr/>
          </p:nvSpPr>
          <p:spPr bwMode="auto">
            <a:xfrm>
              <a:off x="4229"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618" name="Text Box 52"/>
            <p:cNvSpPr txBox="1">
              <a:spLocks noChangeArrowheads="1"/>
            </p:cNvSpPr>
            <p:nvPr/>
          </p:nvSpPr>
          <p:spPr bwMode="auto">
            <a:xfrm>
              <a:off x="466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619" name="Text Box 53"/>
            <p:cNvSpPr txBox="1">
              <a:spLocks noChangeArrowheads="1"/>
            </p:cNvSpPr>
            <p:nvPr/>
          </p:nvSpPr>
          <p:spPr bwMode="auto">
            <a:xfrm>
              <a:off x="2813"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17620" name="Text Box 54"/>
            <p:cNvSpPr txBox="1">
              <a:spLocks noChangeArrowheads="1"/>
            </p:cNvSpPr>
            <p:nvPr/>
          </p:nvSpPr>
          <p:spPr bwMode="auto">
            <a:xfrm>
              <a:off x="2525"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4" name="Group 243"/>
          <p:cNvGrpSpPr>
            <a:grpSpLocks/>
          </p:cNvGrpSpPr>
          <p:nvPr/>
        </p:nvGrpSpPr>
        <p:grpSpPr bwMode="auto">
          <a:xfrm>
            <a:off x="613569" y="2262188"/>
            <a:ext cx="7086600" cy="3657600"/>
            <a:chOff x="1202" y="1435"/>
            <a:chExt cx="4464" cy="2304"/>
          </a:xfrm>
        </p:grpSpPr>
        <p:sp>
          <p:nvSpPr>
            <p:cNvPr id="17571" name="Rectangle 56"/>
            <p:cNvSpPr>
              <a:spLocks noChangeArrowheads="1"/>
            </p:cNvSpPr>
            <p:nvPr/>
          </p:nvSpPr>
          <p:spPr bwMode="auto">
            <a:xfrm>
              <a:off x="1202" y="1435"/>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572" name="Text Box 57"/>
            <p:cNvSpPr txBox="1">
              <a:spLocks noChangeArrowheads="1"/>
            </p:cNvSpPr>
            <p:nvPr/>
          </p:nvSpPr>
          <p:spPr bwMode="auto">
            <a:xfrm>
              <a:off x="1250" y="1483"/>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For </a:t>
              </a:r>
              <a:r>
                <a:rPr lang="en-US" altLang="en-US" sz="2000" i="1">
                  <a:latin typeface="Times New Roman" pitchFamily="18" charset="0"/>
                </a:rPr>
                <a:t>p</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equals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573" name="Text Box 58"/>
            <p:cNvSpPr txBox="1">
              <a:spLocks noChangeArrowheads="1"/>
            </p:cNvSpPr>
            <p:nvPr/>
          </p:nvSpPr>
          <p:spPr bwMode="auto">
            <a:xfrm>
              <a:off x="1490"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574" name="Text Box 59"/>
            <p:cNvSpPr txBox="1">
              <a:spLocks noChangeArrowheads="1"/>
            </p:cNvSpPr>
            <p:nvPr/>
          </p:nvSpPr>
          <p:spPr bwMode="auto">
            <a:xfrm>
              <a:off x="1250" y="27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575" name="Text Box 60"/>
            <p:cNvSpPr txBox="1">
              <a:spLocks noChangeArrowheads="1"/>
            </p:cNvSpPr>
            <p:nvPr/>
          </p:nvSpPr>
          <p:spPr bwMode="auto">
            <a:xfrm>
              <a:off x="207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576" name="Text Box 61"/>
            <p:cNvSpPr txBox="1">
              <a:spLocks noChangeArrowheads="1"/>
            </p:cNvSpPr>
            <p:nvPr/>
          </p:nvSpPr>
          <p:spPr bwMode="auto">
            <a:xfrm>
              <a:off x="2498"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577" name="Text Box 62"/>
            <p:cNvSpPr txBox="1">
              <a:spLocks noChangeArrowheads="1"/>
            </p:cNvSpPr>
            <p:nvPr/>
          </p:nvSpPr>
          <p:spPr bwMode="auto">
            <a:xfrm>
              <a:off x="293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578" name="Text Box 63"/>
            <p:cNvSpPr txBox="1">
              <a:spLocks noChangeArrowheads="1"/>
            </p:cNvSpPr>
            <p:nvPr/>
          </p:nvSpPr>
          <p:spPr bwMode="auto">
            <a:xfrm>
              <a:off x="3362"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579" name="Text Box 64"/>
            <p:cNvSpPr txBox="1">
              <a:spLocks noChangeArrowheads="1"/>
            </p:cNvSpPr>
            <p:nvPr/>
          </p:nvSpPr>
          <p:spPr bwMode="auto">
            <a:xfrm>
              <a:off x="379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580" name="Text Box 65"/>
            <p:cNvSpPr txBox="1">
              <a:spLocks noChangeArrowheads="1"/>
            </p:cNvSpPr>
            <p:nvPr/>
          </p:nvSpPr>
          <p:spPr bwMode="auto">
            <a:xfrm>
              <a:off x="4994" y="27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581" name="Text Box 66"/>
            <p:cNvSpPr txBox="1">
              <a:spLocks noChangeArrowheads="1"/>
            </p:cNvSpPr>
            <p:nvPr/>
          </p:nvSpPr>
          <p:spPr bwMode="auto">
            <a:xfrm>
              <a:off x="194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582" name="Text Box 67"/>
            <p:cNvSpPr txBox="1">
              <a:spLocks noChangeArrowheads="1"/>
            </p:cNvSpPr>
            <p:nvPr/>
          </p:nvSpPr>
          <p:spPr bwMode="auto">
            <a:xfrm>
              <a:off x="238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583" name="Text Box 68"/>
            <p:cNvSpPr txBox="1">
              <a:spLocks noChangeArrowheads="1"/>
            </p:cNvSpPr>
            <p:nvPr/>
          </p:nvSpPr>
          <p:spPr bwMode="auto">
            <a:xfrm>
              <a:off x="281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84" name="Text Box 69"/>
            <p:cNvSpPr txBox="1">
              <a:spLocks noChangeArrowheads="1"/>
            </p:cNvSpPr>
            <p:nvPr/>
          </p:nvSpPr>
          <p:spPr bwMode="auto">
            <a:xfrm>
              <a:off x="3245"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585" name="Text Box 70"/>
            <p:cNvSpPr txBox="1">
              <a:spLocks noChangeArrowheads="1"/>
            </p:cNvSpPr>
            <p:nvPr/>
          </p:nvSpPr>
          <p:spPr bwMode="auto">
            <a:xfrm>
              <a:off x="3677"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586" name="Text Box 71"/>
            <p:cNvSpPr txBox="1">
              <a:spLocks noChangeArrowheads="1"/>
            </p:cNvSpPr>
            <p:nvPr/>
          </p:nvSpPr>
          <p:spPr bwMode="auto">
            <a:xfrm>
              <a:off x="410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587" name="Text Box 72"/>
            <p:cNvSpPr txBox="1">
              <a:spLocks noChangeArrowheads="1"/>
            </p:cNvSpPr>
            <p:nvPr/>
          </p:nvSpPr>
          <p:spPr bwMode="auto">
            <a:xfrm>
              <a:off x="1922"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88" name="Text Box 73"/>
            <p:cNvSpPr txBox="1">
              <a:spLocks noChangeArrowheads="1"/>
            </p:cNvSpPr>
            <p:nvPr/>
          </p:nvSpPr>
          <p:spPr bwMode="auto">
            <a:xfrm>
              <a:off x="1298" y="29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589" name="Text Box 74"/>
            <p:cNvSpPr txBox="1">
              <a:spLocks noChangeArrowheads="1"/>
            </p:cNvSpPr>
            <p:nvPr/>
          </p:nvSpPr>
          <p:spPr bwMode="auto">
            <a:xfrm>
              <a:off x="1634"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590" name="Text Box 75"/>
            <p:cNvSpPr txBox="1">
              <a:spLocks noChangeArrowheads="1"/>
            </p:cNvSpPr>
            <p:nvPr/>
          </p:nvSpPr>
          <p:spPr bwMode="auto">
            <a:xfrm>
              <a:off x="454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591" name="Text Box 76"/>
            <p:cNvSpPr txBox="1">
              <a:spLocks noChangeArrowheads="1"/>
            </p:cNvSpPr>
            <p:nvPr/>
          </p:nvSpPr>
          <p:spPr bwMode="auto">
            <a:xfrm>
              <a:off x="497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592" name="Text Box 77"/>
            <p:cNvSpPr txBox="1">
              <a:spLocks noChangeArrowheads="1"/>
            </p:cNvSpPr>
            <p:nvPr/>
          </p:nvSpPr>
          <p:spPr bwMode="auto">
            <a:xfrm>
              <a:off x="4229"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593" name="Text Box 78"/>
            <p:cNvSpPr txBox="1">
              <a:spLocks noChangeArrowheads="1"/>
            </p:cNvSpPr>
            <p:nvPr/>
          </p:nvSpPr>
          <p:spPr bwMode="auto">
            <a:xfrm>
              <a:off x="466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594" name="Text Box 79"/>
            <p:cNvSpPr txBox="1">
              <a:spLocks noChangeArrowheads="1"/>
            </p:cNvSpPr>
            <p:nvPr/>
          </p:nvSpPr>
          <p:spPr bwMode="auto">
            <a:xfrm>
              <a:off x="2813"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17595" name="Text Box 80"/>
            <p:cNvSpPr txBox="1">
              <a:spLocks noChangeArrowheads="1"/>
            </p:cNvSpPr>
            <p:nvPr/>
          </p:nvSpPr>
          <p:spPr bwMode="auto">
            <a:xfrm>
              <a:off x="2525"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5" name="Group 242"/>
          <p:cNvGrpSpPr>
            <a:grpSpLocks/>
          </p:cNvGrpSpPr>
          <p:nvPr/>
        </p:nvGrpSpPr>
        <p:grpSpPr bwMode="auto">
          <a:xfrm>
            <a:off x="613569" y="2260600"/>
            <a:ext cx="7086600" cy="3657600"/>
            <a:chOff x="1202" y="1434"/>
            <a:chExt cx="4464" cy="2304"/>
          </a:xfrm>
        </p:grpSpPr>
        <p:sp>
          <p:nvSpPr>
            <p:cNvPr id="17546" name="Rectangle 82"/>
            <p:cNvSpPr>
              <a:spLocks noChangeArrowheads="1"/>
            </p:cNvSpPr>
            <p:nvPr/>
          </p:nvSpPr>
          <p:spPr bwMode="auto">
            <a:xfrm>
              <a:off x="1202" y="1434"/>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547" name="Text Box 83"/>
            <p:cNvSpPr txBox="1">
              <a:spLocks noChangeArrowheads="1"/>
            </p:cNvSpPr>
            <p:nvPr/>
          </p:nvSpPr>
          <p:spPr bwMode="auto">
            <a:xfrm>
              <a:off x="1250" y="1482"/>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1.1.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548" name="Text Box 84"/>
            <p:cNvSpPr txBox="1">
              <a:spLocks noChangeArrowheads="1"/>
            </p:cNvSpPr>
            <p:nvPr/>
          </p:nvSpPr>
          <p:spPr bwMode="auto">
            <a:xfrm>
              <a:off x="1490" y="292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549" name="Text Box 85"/>
            <p:cNvSpPr txBox="1">
              <a:spLocks noChangeArrowheads="1"/>
            </p:cNvSpPr>
            <p:nvPr/>
          </p:nvSpPr>
          <p:spPr bwMode="auto">
            <a:xfrm>
              <a:off x="1250" y="273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550" name="Text Box 86"/>
            <p:cNvSpPr txBox="1">
              <a:spLocks noChangeArrowheads="1"/>
            </p:cNvSpPr>
            <p:nvPr/>
          </p:nvSpPr>
          <p:spPr bwMode="auto">
            <a:xfrm>
              <a:off x="2070"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551" name="Text Box 87"/>
            <p:cNvSpPr txBox="1">
              <a:spLocks noChangeArrowheads="1"/>
            </p:cNvSpPr>
            <p:nvPr/>
          </p:nvSpPr>
          <p:spPr bwMode="auto">
            <a:xfrm>
              <a:off x="2498"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552" name="Text Box 88"/>
            <p:cNvSpPr txBox="1">
              <a:spLocks noChangeArrowheads="1"/>
            </p:cNvSpPr>
            <p:nvPr/>
          </p:nvSpPr>
          <p:spPr bwMode="auto">
            <a:xfrm>
              <a:off x="2930"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553" name="Text Box 89"/>
            <p:cNvSpPr txBox="1">
              <a:spLocks noChangeArrowheads="1"/>
            </p:cNvSpPr>
            <p:nvPr/>
          </p:nvSpPr>
          <p:spPr bwMode="auto">
            <a:xfrm>
              <a:off x="3362"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554" name="Text Box 90"/>
            <p:cNvSpPr txBox="1">
              <a:spLocks noChangeArrowheads="1"/>
            </p:cNvSpPr>
            <p:nvPr/>
          </p:nvSpPr>
          <p:spPr bwMode="auto">
            <a:xfrm>
              <a:off x="3794"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555" name="Text Box 91"/>
            <p:cNvSpPr txBox="1">
              <a:spLocks noChangeArrowheads="1"/>
            </p:cNvSpPr>
            <p:nvPr/>
          </p:nvSpPr>
          <p:spPr bwMode="auto">
            <a:xfrm>
              <a:off x="4994" y="273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556" name="Text Box 92"/>
            <p:cNvSpPr txBox="1">
              <a:spLocks noChangeArrowheads="1"/>
            </p:cNvSpPr>
            <p:nvPr/>
          </p:nvSpPr>
          <p:spPr bwMode="auto">
            <a:xfrm>
              <a:off x="1949"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557" name="Text Box 93"/>
            <p:cNvSpPr txBox="1">
              <a:spLocks noChangeArrowheads="1"/>
            </p:cNvSpPr>
            <p:nvPr/>
          </p:nvSpPr>
          <p:spPr bwMode="auto">
            <a:xfrm>
              <a:off x="2381"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558" name="Text Box 94"/>
            <p:cNvSpPr txBox="1">
              <a:spLocks noChangeArrowheads="1"/>
            </p:cNvSpPr>
            <p:nvPr/>
          </p:nvSpPr>
          <p:spPr bwMode="auto">
            <a:xfrm>
              <a:off x="2813"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59" name="Text Box 95"/>
            <p:cNvSpPr txBox="1">
              <a:spLocks noChangeArrowheads="1"/>
            </p:cNvSpPr>
            <p:nvPr/>
          </p:nvSpPr>
          <p:spPr bwMode="auto">
            <a:xfrm>
              <a:off x="3245"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560" name="Text Box 96"/>
            <p:cNvSpPr txBox="1">
              <a:spLocks noChangeArrowheads="1"/>
            </p:cNvSpPr>
            <p:nvPr/>
          </p:nvSpPr>
          <p:spPr bwMode="auto">
            <a:xfrm>
              <a:off x="3677"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561" name="Text Box 97"/>
            <p:cNvSpPr txBox="1">
              <a:spLocks noChangeArrowheads="1"/>
            </p:cNvSpPr>
            <p:nvPr/>
          </p:nvSpPr>
          <p:spPr bwMode="auto">
            <a:xfrm>
              <a:off x="4109"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562" name="Text Box 98"/>
            <p:cNvSpPr txBox="1">
              <a:spLocks noChangeArrowheads="1"/>
            </p:cNvSpPr>
            <p:nvPr/>
          </p:nvSpPr>
          <p:spPr bwMode="auto">
            <a:xfrm>
              <a:off x="1922" y="33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63" name="Text Box 99"/>
            <p:cNvSpPr txBox="1">
              <a:spLocks noChangeArrowheads="1"/>
            </p:cNvSpPr>
            <p:nvPr/>
          </p:nvSpPr>
          <p:spPr bwMode="auto">
            <a:xfrm>
              <a:off x="1298" y="292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564" name="Text Box 100"/>
            <p:cNvSpPr txBox="1">
              <a:spLocks noChangeArrowheads="1"/>
            </p:cNvSpPr>
            <p:nvPr/>
          </p:nvSpPr>
          <p:spPr bwMode="auto">
            <a:xfrm>
              <a:off x="1634" y="3354"/>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565" name="Text Box 101"/>
            <p:cNvSpPr txBox="1">
              <a:spLocks noChangeArrowheads="1"/>
            </p:cNvSpPr>
            <p:nvPr/>
          </p:nvSpPr>
          <p:spPr bwMode="auto">
            <a:xfrm>
              <a:off x="4541"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566" name="Text Box 102"/>
            <p:cNvSpPr txBox="1">
              <a:spLocks noChangeArrowheads="1"/>
            </p:cNvSpPr>
            <p:nvPr/>
          </p:nvSpPr>
          <p:spPr bwMode="auto">
            <a:xfrm>
              <a:off x="4973" y="29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567" name="Text Box 103"/>
            <p:cNvSpPr txBox="1">
              <a:spLocks noChangeArrowheads="1"/>
            </p:cNvSpPr>
            <p:nvPr/>
          </p:nvSpPr>
          <p:spPr bwMode="auto">
            <a:xfrm>
              <a:off x="4229"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568" name="Text Box 104"/>
            <p:cNvSpPr txBox="1">
              <a:spLocks noChangeArrowheads="1"/>
            </p:cNvSpPr>
            <p:nvPr/>
          </p:nvSpPr>
          <p:spPr bwMode="auto">
            <a:xfrm>
              <a:off x="4664" y="27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569" name="Text Box 105"/>
            <p:cNvSpPr txBox="1">
              <a:spLocks noChangeArrowheads="1"/>
            </p:cNvSpPr>
            <p:nvPr/>
          </p:nvSpPr>
          <p:spPr bwMode="auto">
            <a:xfrm>
              <a:off x="2813" y="33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17570" name="Text Box 106"/>
            <p:cNvSpPr txBox="1">
              <a:spLocks noChangeArrowheads="1"/>
            </p:cNvSpPr>
            <p:nvPr/>
          </p:nvSpPr>
          <p:spPr bwMode="auto">
            <a:xfrm>
              <a:off x="2525" y="3354"/>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6" name="Group 241"/>
          <p:cNvGrpSpPr>
            <a:grpSpLocks/>
          </p:cNvGrpSpPr>
          <p:nvPr/>
        </p:nvGrpSpPr>
        <p:grpSpPr bwMode="auto">
          <a:xfrm>
            <a:off x="613569" y="2262188"/>
            <a:ext cx="7086600" cy="3657600"/>
            <a:chOff x="1202" y="1435"/>
            <a:chExt cx="4464" cy="2304"/>
          </a:xfrm>
        </p:grpSpPr>
        <p:sp>
          <p:nvSpPr>
            <p:cNvPr id="17521" name="Rectangle 108"/>
            <p:cNvSpPr>
              <a:spLocks noChangeArrowheads="1"/>
            </p:cNvSpPr>
            <p:nvPr/>
          </p:nvSpPr>
          <p:spPr bwMode="auto">
            <a:xfrm>
              <a:off x="1202" y="1435"/>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522" name="Text Box 109"/>
            <p:cNvSpPr txBox="1">
              <a:spLocks noChangeArrowheads="1"/>
            </p:cNvSpPr>
            <p:nvPr/>
          </p:nvSpPr>
          <p:spPr bwMode="auto">
            <a:xfrm>
              <a:off x="1250" y="1483"/>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For </a:t>
              </a:r>
              <a:r>
                <a:rPr lang="en-US" altLang="en-US" sz="2000" i="1">
                  <a:latin typeface="Times New Roman" pitchFamily="18" charset="0"/>
                </a:rPr>
                <a:t>p</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equals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523" name="Text Box 110"/>
            <p:cNvSpPr txBox="1">
              <a:spLocks noChangeArrowheads="1"/>
            </p:cNvSpPr>
            <p:nvPr/>
          </p:nvSpPr>
          <p:spPr bwMode="auto">
            <a:xfrm>
              <a:off x="1490" y="292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524" name="Text Box 111"/>
            <p:cNvSpPr txBox="1">
              <a:spLocks noChangeArrowheads="1"/>
            </p:cNvSpPr>
            <p:nvPr/>
          </p:nvSpPr>
          <p:spPr bwMode="auto">
            <a:xfrm>
              <a:off x="1250" y="27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525" name="Text Box 112"/>
            <p:cNvSpPr txBox="1">
              <a:spLocks noChangeArrowheads="1"/>
            </p:cNvSpPr>
            <p:nvPr/>
          </p:nvSpPr>
          <p:spPr bwMode="auto">
            <a:xfrm>
              <a:off x="207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526" name="Text Box 113"/>
            <p:cNvSpPr txBox="1">
              <a:spLocks noChangeArrowheads="1"/>
            </p:cNvSpPr>
            <p:nvPr/>
          </p:nvSpPr>
          <p:spPr bwMode="auto">
            <a:xfrm>
              <a:off x="2498"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527" name="Text Box 114"/>
            <p:cNvSpPr txBox="1">
              <a:spLocks noChangeArrowheads="1"/>
            </p:cNvSpPr>
            <p:nvPr/>
          </p:nvSpPr>
          <p:spPr bwMode="auto">
            <a:xfrm>
              <a:off x="293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528" name="Text Box 115"/>
            <p:cNvSpPr txBox="1">
              <a:spLocks noChangeArrowheads="1"/>
            </p:cNvSpPr>
            <p:nvPr/>
          </p:nvSpPr>
          <p:spPr bwMode="auto">
            <a:xfrm>
              <a:off x="3362"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529" name="Text Box 116"/>
            <p:cNvSpPr txBox="1">
              <a:spLocks noChangeArrowheads="1"/>
            </p:cNvSpPr>
            <p:nvPr/>
          </p:nvSpPr>
          <p:spPr bwMode="auto">
            <a:xfrm>
              <a:off x="379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530" name="Text Box 117"/>
            <p:cNvSpPr txBox="1">
              <a:spLocks noChangeArrowheads="1"/>
            </p:cNvSpPr>
            <p:nvPr/>
          </p:nvSpPr>
          <p:spPr bwMode="auto">
            <a:xfrm>
              <a:off x="4994" y="27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531" name="Text Box 118"/>
            <p:cNvSpPr txBox="1">
              <a:spLocks noChangeArrowheads="1"/>
            </p:cNvSpPr>
            <p:nvPr/>
          </p:nvSpPr>
          <p:spPr bwMode="auto">
            <a:xfrm>
              <a:off x="194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532" name="Text Box 119"/>
            <p:cNvSpPr txBox="1">
              <a:spLocks noChangeArrowheads="1"/>
            </p:cNvSpPr>
            <p:nvPr/>
          </p:nvSpPr>
          <p:spPr bwMode="auto">
            <a:xfrm>
              <a:off x="238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533" name="Text Box 120"/>
            <p:cNvSpPr txBox="1">
              <a:spLocks noChangeArrowheads="1"/>
            </p:cNvSpPr>
            <p:nvPr/>
          </p:nvSpPr>
          <p:spPr bwMode="auto">
            <a:xfrm>
              <a:off x="281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34" name="Text Box 121"/>
            <p:cNvSpPr txBox="1">
              <a:spLocks noChangeArrowheads="1"/>
            </p:cNvSpPr>
            <p:nvPr/>
          </p:nvSpPr>
          <p:spPr bwMode="auto">
            <a:xfrm>
              <a:off x="3245"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535" name="Text Box 122"/>
            <p:cNvSpPr txBox="1">
              <a:spLocks noChangeArrowheads="1"/>
            </p:cNvSpPr>
            <p:nvPr/>
          </p:nvSpPr>
          <p:spPr bwMode="auto">
            <a:xfrm>
              <a:off x="3677"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536" name="Text Box 123"/>
            <p:cNvSpPr txBox="1">
              <a:spLocks noChangeArrowheads="1"/>
            </p:cNvSpPr>
            <p:nvPr/>
          </p:nvSpPr>
          <p:spPr bwMode="auto">
            <a:xfrm>
              <a:off x="410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537" name="Text Box 124"/>
            <p:cNvSpPr txBox="1">
              <a:spLocks noChangeArrowheads="1"/>
            </p:cNvSpPr>
            <p:nvPr/>
          </p:nvSpPr>
          <p:spPr bwMode="auto">
            <a:xfrm>
              <a:off x="1922"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38" name="Text Box 125"/>
            <p:cNvSpPr txBox="1">
              <a:spLocks noChangeArrowheads="1"/>
            </p:cNvSpPr>
            <p:nvPr/>
          </p:nvSpPr>
          <p:spPr bwMode="auto">
            <a:xfrm>
              <a:off x="1298" y="29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539" name="Text Box 126"/>
            <p:cNvSpPr txBox="1">
              <a:spLocks noChangeArrowheads="1"/>
            </p:cNvSpPr>
            <p:nvPr/>
          </p:nvSpPr>
          <p:spPr bwMode="auto">
            <a:xfrm>
              <a:off x="1634"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540" name="Text Box 127"/>
            <p:cNvSpPr txBox="1">
              <a:spLocks noChangeArrowheads="1"/>
            </p:cNvSpPr>
            <p:nvPr/>
          </p:nvSpPr>
          <p:spPr bwMode="auto">
            <a:xfrm>
              <a:off x="454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541" name="Text Box 128"/>
            <p:cNvSpPr txBox="1">
              <a:spLocks noChangeArrowheads="1"/>
            </p:cNvSpPr>
            <p:nvPr/>
          </p:nvSpPr>
          <p:spPr bwMode="auto">
            <a:xfrm>
              <a:off x="497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542" name="Text Box 129"/>
            <p:cNvSpPr txBox="1">
              <a:spLocks noChangeArrowheads="1"/>
            </p:cNvSpPr>
            <p:nvPr/>
          </p:nvSpPr>
          <p:spPr bwMode="auto">
            <a:xfrm>
              <a:off x="4229"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543" name="Text Box 130"/>
            <p:cNvSpPr txBox="1">
              <a:spLocks noChangeArrowheads="1"/>
            </p:cNvSpPr>
            <p:nvPr/>
          </p:nvSpPr>
          <p:spPr bwMode="auto">
            <a:xfrm>
              <a:off x="466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544" name="Text Box 131"/>
            <p:cNvSpPr txBox="1">
              <a:spLocks noChangeArrowheads="1"/>
            </p:cNvSpPr>
            <p:nvPr/>
          </p:nvSpPr>
          <p:spPr bwMode="auto">
            <a:xfrm>
              <a:off x="2813"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17545" name="Text Box 132"/>
            <p:cNvSpPr txBox="1">
              <a:spLocks noChangeArrowheads="1"/>
            </p:cNvSpPr>
            <p:nvPr/>
          </p:nvSpPr>
          <p:spPr bwMode="auto">
            <a:xfrm>
              <a:off x="2525"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7" name="Group 240"/>
          <p:cNvGrpSpPr>
            <a:grpSpLocks/>
          </p:cNvGrpSpPr>
          <p:nvPr/>
        </p:nvGrpSpPr>
        <p:grpSpPr bwMode="auto">
          <a:xfrm>
            <a:off x="613569" y="2262188"/>
            <a:ext cx="7086600" cy="3657600"/>
            <a:chOff x="1202" y="1435"/>
            <a:chExt cx="4464" cy="2304"/>
          </a:xfrm>
        </p:grpSpPr>
        <p:sp>
          <p:nvSpPr>
            <p:cNvPr id="17496" name="Rectangle 134"/>
            <p:cNvSpPr>
              <a:spLocks noChangeArrowheads="1"/>
            </p:cNvSpPr>
            <p:nvPr/>
          </p:nvSpPr>
          <p:spPr bwMode="auto">
            <a:xfrm>
              <a:off x="1202" y="1435"/>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497" name="Text Box 135"/>
            <p:cNvSpPr txBox="1">
              <a:spLocks noChangeArrowheads="1"/>
            </p:cNvSpPr>
            <p:nvPr/>
          </p:nvSpPr>
          <p:spPr bwMode="auto">
            <a:xfrm>
              <a:off x="1250" y="1483"/>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 repeat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1.1.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498" name="Text Box 136"/>
            <p:cNvSpPr txBox="1">
              <a:spLocks noChangeArrowheads="1"/>
            </p:cNvSpPr>
            <p:nvPr/>
          </p:nvSpPr>
          <p:spPr bwMode="auto">
            <a:xfrm>
              <a:off x="1490" y="292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499" name="Text Box 137"/>
            <p:cNvSpPr txBox="1">
              <a:spLocks noChangeArrowheads="1"/>
            </p:cNvSpPr>
            <p:nvPr/>
          </p:nvSpPr>
          <p:spPr bwMode="auto">
            <a:xfrm>
              <a:off x="1250" y="27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500" name="Text Box 138"/>
            <p:cNvSpPr txBox="1">
              <a:spLocks noChangeArrowheads="1"/>
            </p:cNvSpPr>
            <p:nvPr/>
          </p:nvSpPr>
          <p:spPr bwMode="auto">
            <a:xfrm>
              <a:off x="207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501" name="Text Box 139"/>
            <p:cNvSpPr txBox="1">
              <a:spLocks noChangeArrowheads="1"/>
            </p:cNvSpPr>
            <p:nvPr/>
          </p:nvSpPr>
          <p:spPr bwMode="auto">
            <a:xfrm>
              <a:off x="2498"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502" name="Text Box 140"/>
            <p:cNvSpPr txBox="1">
              <a:spLocks noChangeArrowheads="1"/>
            </p:cNvSpPr>
            <p:nvPr/>
          </p:nvSpPr>
          <p:spPr bwMode="auto">
            <a:xfrm>
              <a:off x="2930"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503" name="Text Box 141"/>
            <p:cNvSpPr txBox="1">
              <a:spLocks noChangeArrowheads="1"/>
            </p:cNvSpPr>
            <p:nvPr/>
          </p:nvSpPr>
          <p:spPr bwMode="auto">
            <a:xfrm>
              <a:off x="3362"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504" name="Text Box 142"/>
            <p:cNvSpPr txBox="1">
              <a:spLocks noChangeArrowheads="1"/>
            </p:cNvSpPr>
            <p:nvPr/>
          </p:nvSpPr>
          <p:spPr bwMode="auto">
            <a:xfrm>
              <a:off x="379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505" name="Text Box 143"/>
            <p:cNvSpPr txBox="1">
              <a:spLocks noChangeArrowheads="1"/>
            </p:cNvSpPr>
            <p:nvPr/>
          </p:nvSpPr>
          <p:spPr bwMode="auto">
            <a:xfrm>
              <a:off x="4994" y="27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506" name="Text Box 144"/>
            <p:cNvSpPr txBox="1">
              <a:spLocks noChangeArrowheads="1"/>
            </p:cNvSpPr>
            <p:nvPr/>
          </p:nvSpPr>
          <p:spPr bwMode="auto">
            <a:xfrm>
              <a:off x="1949" y="292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507" name="Text Box 145"/>
            <p:cNvSpPr txBox="1">
              <a:spLocks noChangeArrowheads="1"/>
            </p:cNvSpPr>
            <p:nvPr/>
          </p:nvSpPr>
          <p:spPr bwMode="auto">
            <a:xfrm>
              <a:off x="238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508" name="Text Box 146"/>
            <p:cNvSpPr txBox="1">
              <a:spLocks noChangeArrowheads="1"/>
            </p:cNvSpPr>
            <p:nvPr/>
          </p:nvSpPr>
          <p:spPr bwMode="auto">
            <a:xfrm>
              <a:off x="281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09" name="Text Box 147"/>
            <p:cNvSpPr txBox="1">
              <a:spLocks noChangeArrowheads="1"/>
            </p:cNvSpPr>
            <p:nvPr/>
          </p:nvSpPr>
          <p:spPr bwMode="auto">
            <a:xfrm>
              <a:off x="3245"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510" name="Text Box 148"/>
            <p:cNvSpPr txBox="1">
              <a:spLocks noChangeArrowheads="1"/>
            </p:cNvSpPr>
            <p:nvPr/>
          </p:nvSpPr>
          <p:spPr bwMode="auto">
            <a:xfrm>
              <a:off x="3677"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511" name="Text Box 149"/>
            <p:cNvSpPr txBox="1">
              <a:spLocks noChangeArrowheads="1"/>
            </p:cNvSpPr>
            <p:nvPr/>
          </p:nvSpPr>
          <p:spPr bwMode="auto">
            <a:xfrm>
              <a:off x="4109"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512" name="Text Box 150"/>
            <p:cNvSpPr txBox="1">
              <a:spLocks noChangeArrowheads="1"/>
            </p:cNvSpPr>
            <p:nvPr/>
          </p:nvSpPr>
          <p:spPr bwMode="auto">
            <a:xfrm>
              <a:off x="1922"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513" name="Text Box 151"/>
            <p:cNvSpPr txBox="1">
              <a:spLocks noChangeArrowheads="1"/>
            </p:cNvSpPr>
            <p:nvPr/>
          </p:nvSpPr>
          <p:spPr bwMode="auto">
            <a:xfrm>
              <a:off x="1298" y="29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514" name="Text Box 152"/>
            <p:cNvSpPr txBox="1">
              <a:spLocks noChangeArrowheads="1"/>
            </p:cNvSpPr>
            <p:nvPr/>
          </p:nvSpPr>
          <p:spPr bwMode="auto">
            <a:xfrm>
              <a:off x="1634"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515" name="Text Box 153"/>
            <p:cNvSpPr txBox="1">
              <a:spLocks noChangeArrowheads="1"/>
            </p:cNvSpPr>
            <p:nvPr/>
          </p:nvSpPr>
          <p:spPr bwMode="auto">
            <a:xfrm>
              <a:off x="4541"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516" name="Text Box 154"/>
            <p:cNvSpPr txBox="1">
              <a:spLocks noChangeArrowheads="1"/>
            </p:cNvSpPr>
            <p:nvPr/>
          </p:nvSpPr>
          <p:spPr bwMode="auto">
            <a:xfrm>
              <a:off x="4973" y="29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517" name="Text Box 155"/>
            <p:cNvSpPr txBox="1">
              <a:spLocks noChangeArrowheads="1"/>
            </p:cNvSpPr>
            <p:nvPr/>
          </p:nvSpPr>
          <p:spPr bwMode="auto">
            <a:xfrm>
              <a:off x="4229"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518" name="Text Box 156"/>
            <p:cNvSpPr txBox="1">
              <a:spLocks noChangeArrowheads="1"/>
            </p:cNvSpPr>
            <p:nvPr/>
          </p:nvSpPr>
          <p:spPr bwMode="auto">
            <a:xfrm>
              <a:off x="4664" y="27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519" name="Text Box 157"/>
            <p:cNvSpPr txBox="1">
              <a:spLocks noChangeArrowheads="1"/>
            </p:cNvSpPr>
            <p:nvPr/>
          </p:nvSpPr>
          <p:spPr bwMode="auto">
            <a:xfrm>
              <a:off x="2813" y="33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17520" name="Text Box 158"/>
            <p:cNvSpPr txBox="1">
              <a:spLocks noChangeArrowheads="1"/>
            </p:cNvSpPr>
            <p:nvPr/>
          </p:nvSpPr>
          <p:spPr bwMode="auto">
            <a:xfrm>
              <a:off x="2525" y="33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8" name="Group 248"/>
          <p:cNvGrpSpPr>
            <a:grpSpLocks/>
          </p:cNvGrpSpPr>
          <p:nvPr/>
        </p:nvGrpSpPr>
        <p:grpSpPr bwMode="auto">
          <a:xfrm>
            <a:off x="613569" y="2260600"/>
            <a:ext cx="7086600" cy="3657600"/>
            <a:chOff x="1202" y="1888"/>
            <a:chExt cx="4464" cy="2304"/>
          </a:xfrm>
        </p:grpSpPr>
        <p:sp>
          <p:nvSpPr>
            <p:cNvPr id="17471" name="Rectangle 160"/>
            <p:cNvSpPr>
              <a:spLocks noChangeArrowheads="1"/>
            </p:cNvSpPr>
            <p:nvPr/>
          </p:nvSpPr>
          <p:spPr bwMode="auto">
            <a:xfrm>
              <a:off x="1202" y="1888"/>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472" name="Text Box 161"/>
            <p:cNvSpPr txBox="1">
              <a:spLocks noChangeArrowheads="1"/>
            </p:cNvSpPr>
            <p:nvPr/>
          </p:nvSpPr>
          <p:spPr bwMode="auto">
            <a:xfrm>
              <a:off x="1250" y="1936"/>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For </a:t>
              </a:r>
              <a:r>
                <a:rPr lang="en-US" altLang="en-US" sz="2000" i="1">
                  <a:latin typeface="Times New Roman" pitchFamily="18" charset="0"/>
                </a:rPr>
                <a:t>p</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equals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473" name="Text Box 162"/>
            <p:cNvSpPr txBox="1">
              <a:spLocks noChangeArrowheads="1"/>
            </p:cNvSpPr>
            <p:nvPr/>
          </p:nvSpPr>
          <p:spPr bwMode="auto">
            <a:xfrm>
              <a:off x="1490" y="33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474" name="Text Box 163"/>
            <p:cNvSpPr txBox="1">
              <a:spLocks noChangeArrowheads="1"/>
            </p:cNvSpPr>
            <p:nvPr/>
          </p:nvSpPr>
          <p:spPr bwMode="auto">
            <a:xfrm>
              <a:off x="1250" y="318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475" name="Text Box 164"/>
            <p:cNvSpPr txBox="1">
              <a:spLocks noChangeArrowheads="1"/>
            </p:cNvSpPr>
            <p:nvPr/>
          </p:nvSpPr>
          <p:spPr bwMode="auto">
            <a:xfrm>
              <a:off x="2070"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476" name="Text Box 165"/>
            <p:cNvSpPr txBox="1">
              <a:spLocks noChangeArrowheads="1"/>
            </p:cNvSpPr>
            <p:nvPr/>
          </p:nvSpPr>
          <p:spPr bwMode="auto">
            <a:xfrm>
              <a:off x="2498"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477" name="Text Box 166"/>
            <p:cNvSpPr txBox="1">
              <a:spLocks noChangeArrowheads="1"/>
            </p:cNvSpPr>
            <p:nvPr/>
          </p:nvSpPr>
          <p:spPr bwMode="auto">
            <a:xfrm>
              <a:off x="2930"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478" name="Text Box 167"/>
            <p:cNvSpPr txBox="1">
              <a:spLocks noChangeArrowheads="1"/>
            </p:cNvSpPr>
            <p:nvPr/>
          </p:nvSpPr>
          <p:spPr bwMode="auto">
            <a:xfrm>
              <a:off x="3362"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479" name="Text Box 168"/>
            <p:cNvSpPr txBox="1">
              <a:spLocks noChangeArrowheads="1"/>
            </p:cNvSpPr>
            <p:nvPr/>
          </p:nvSpPr>
          <p:spPr bwMode="auto">
            <a:xfrm>
              <a:off x="3794"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480" name="Text Box 169"/>
            <p:cNvSpPr txBox="1">
              <a:spLocks noChangeArrowheads="1"/>
            </p:cNvSpPr>
            <p:nvPr/>
          </p:nvSpPr>
          <p:spPr bwMode="auto">
            <a:xfrm>
              <a:off x="4994" y="318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481" name="Text Box 170"/>
            <p:cNvSpPr txBox="1">
              <a:spLocks noChangeArrowheads="1"/>
            </p:cNvSpPr>
            <p:nvPr/>
          </p:nvSpPr>
          <p:spPr bwMode="auto">
            <a:xfrm>
              <a:off x="1949" y="33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482" name="Text Box 171"/>
            <p:cNvSpPr txBox="1">
              <a:spLocks noChangeArrowheads="1"/>
            </p:cNvSpPr>
            <p:nvPr/>
          </p:nvSpPr>
          <p:spPr bwMode="auto">
            <a:xfrm>
              <a:off x="2381"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483" name="Text Box 172"/>
            <p:cNvSpPr txBox="1">
              <a:spLocks noChangeArrowheads="1"/>
            </p:cNvSpPr>
            <p:nvPr/>
          </p:nvSpPr>
          <p:spPr bwMode="auto">
            <a:xfrm>
              <a:off x="2813"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84" name="Text Box 173"/>
            <p:cNvSpPr txBox="1">
              <a:spLocks noChangeArrowheads="1"/>
            </p:cNvSpPr>
            <p:nvPr/>
          </p:nvSpPr>
          <p:spPr bwMode="auto">
            <a:xfrm>
              <a:off x="3245"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485" name="Text Box 174"/>
            <p:cNvSpPr txBox="1">
              <a:spLocks noChangeArrowheads="1"/>
            </p:cNvSpPr>
            <p:nvPr/>
          </p:nvSpPr>
          <p:spPr bwMode="auto">
            <a:xfrm>
              <a:off x="3677"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486" name="Text Box 175"/>
            <p:cNvSpPr txBox="1">
              <a:spLocks noChangeArrowheads="1"/>
            </p:cNvSpPr>
            <p:nvPr/>
          </p:nvSpPr>
          <p:spPr bwMode="auto">
            <a:xfrm>
              <a:off x="4109"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487" name="Text Box 176"/>
            <p:cNvSpPr txBox="1">
              <a:spLocks noChangeArrowheads="1"/>
            </p:cNvSpPr>
            <p:nvPr/>
          </p:nvSpPr>
          <p:spPr bwMode="auto">
            <a:xfrm>
              <a:off x="1922" y="380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88" name="Text Box 177"/>
            <p:cNvSpPr txBox="1">
              <a:spLocks noChangeArrowheads="1"/>
            </p:cNvSpPr>
            <p:nvPr/>
          </p:nvSpPr>
          <p:spPr bwMode="auto">
            <a:xfrm>
              <a:off x="1298" y="337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489" name="Text Box 178"/>
            <p:cNvSpPr txBox="1">
              <a:spLocks noChangeArrowheads="1"/>
            </p:cNvSpPr>
            <p:nvPr/>
          </p:nvSpPr>
          <p:spPr bwMode="auto">
            <a:xfrm>
              <a:off x="1634" y="3808"/>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490" name="Text Box 179"/>
            <p:cNvSpPr txBox="1">
              <a:spLocks noChangeArrowheads="1"/>
            </p:cNvSpPr>
            <p:nvPr/>
          </p:nvSpPr>
          <p:spPr bwMode="auto">
            <a:xfrm>
              <a:off x="4541"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491" name="Text Box 180"/>
            <p:cNvSpPr txBox="1">
              <a:spLocks noChangeArrowheads="1"/>
            </p:cNvSpPr>
            <p:nvPr/>
          </p:nvSpPr>
          <p:spPr bwMode="auto">
            <a:xfrm>
              <a:off x="4973" y="33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492" name="Text Box 181"/>
            <p:cNvSpPr txBox="1">
              <a:spLocks noChangeArrowheads="1"/>
            </p:cNvSpPr>
            <p:nvPr/>
          </p:nvSpPr>
          <p:spPr bwMode="auto">
            <a:xfrm>
              <a:off x="4229"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493" name="Text Box 182"/>
            <p:cNvSpPr txBox="1">
              <a:spLocks noChangeArrowheads="1"/>
            </p:cNvSpPr>
            <p:nvPr/>
          </p:nvSpPr>
          <p:spPr bwMode="auto">
            <a:xfrm>
              <a:off x="4664" y="31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494" name="Text Box 183"/>
            <p:cNvSpPr txBox="1">
              <a:spLocks noChangeArrowheads="1"/>
            </p:cNvSpPr>
            <p:nvPr/>
          </p:nvSpPr>
          <p:spPr bwMode="auto">
            <a:xfrm>
              <a:off x="2813" y="380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17495" name="Text Box 184"/>
            <p:cNvSpPr txBox="1">
              <a:spLocks noChangeArrowheads="1"/>
            </p:cNvSpPr>
            <p:nvPr/>
          </p:nvSpPr>
          <p:spPr bwMode="auto">
            <a:xfrm>
              <a:off x="2525" y="3808"/>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9" name="Group 247"/>
          <p:cNvGrpSpPr>
            <a:grpSpLocks/>
          </p:cNvGrpSpPr>
          <p:nvPr/>
        </p:nvGrpSpPr>
        <p:grpSpPr bwMode="auto">
          <a:xfrm>
            <a:off x="613569" y="2260600"/>
            <a:ext cx="7086600" cy="3657600"/>
            <a:chOff x="1202" y="1979"/>
            <a:chExt cx="4464" cy="2304"/>
          </a:xfrm>
        </p:grpSpPr>
        <p:sp>
          <p:nvSpPr>
            <p:cNvPr id="17446" name="Rectangle 186"/>
            <p:cNvSpPr>
              <a:spLocks noChangeArrowheads="1"/>
            </p:cNvSpPr>
            <p:nvPr/>
          </p:nvSpPr>
          <p:spPr bwMode="auto">
            <a:xfrm>
              <a:off x="1202" y="1979"/>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447" name="Text Box 187"/>
            <p:cNvSpPr txBox="1">
              <a:spLocks noChangeArrowheads="1"/>
            </p:cNvSpPr>
            <p:nvPr/>
          </p:nvSpPr>
          <p:spPr bwMode="auto">
            <a:xfrm>
              <a:off x="1250" y="2027"/>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1.1.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terminate yielding </a:t>
              </a:r>
              <a:r>
                <a:rPr lang="en-US" altLang="en-US" sz="2000" i="1">
                  <a:latin typeface="Times New Roman" pitchFamily="18" charset="0"/>
                </a:rPr>
                <a:t>p</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448" name="Text Box 188"/>
            <p:cNvSpPr txBox="1">
              <a:spLocks noChangeArrowheads="1"/>
            </p:cNvSpPr>
            <p:nvPr/>
          </p:nvSpPr>
          <p:spPr bwMode="auto">
            <a:xfrm>
              <a:off x="1490" y="34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17449" name="Text Box 189"/>
            <p:cNvSpPr txBox="1">
              <a:spLocks noChangeArrowheads="1"/>
            </p:cNvSpPr>
            <p:nvPr/>
          </p:nvSpPr>
          <p:spPr bwMode="auto">
            <a:xfrm>
              <a:off x="1250" y="327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450" name="Text Box 190"/>
            <p:cNvSpPr txBox="1">
              <a:spLocks noChangeArrowheads="1"/>
            </p:cNvSpPr>
            <p:nvPr/>
          </p:nvSpPr>
          <p:spPr bwMode="auto">
            <a:xfrm>
              <a:off x="2070"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451" name="Text Box 191"/>
            <p:cNvSpPr txBox="1">
              <a:spLocks noChangeArrowheads="1"/>
            </p:cNvSpPr>
            <p:nvPr/>
          </p:nvSpPr>
          <p:spPr bwMode="auto">
            <a:xfrm>
              <a:off x="2498"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452" name="Text Box 192"/>
            <p:cNvSpPr txBox="1">
              <a:spLocks noChangeArrowheads="1"/>
            </p:cNvSpPr>
            <p:nvPr/>
          </p:nvSpPr>
          <p:spPr bwMode="auto">
            <a:xfrm>
              <a:off x="2930"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453" name="Text Box 193"/>
            <p:cNvSpPr txBox="1">
              <a:spLocks noChangeArrowheads="1"/>
            </p:cNvSpPr>
            <p:nvPr/>
          </p:nvSpPr>
          <p:spPr bwMode="auto">
            <a:xfrm>
              <a:off x="3362"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454" name="Text Box 194"/>
            <p:cNvSpPr txBox="1">
              <a:spLocks noChangeArrowheads="1"/>
            </p:cNvSpPr>
            <p:nvPr/>
          </p:nvSpPr>
          <p:spPr bwMode="auto">
            <a:xfrm>
              <a:off x="3794"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455" name="Text Box 195"/>
            <p:cNvSpPr txBox="1">
              <a:spLocks noChangeArrowheads="1"/>
            </p:cNvSpPr>
            <p:nvPr/>
          </p:nvSpPr>
          <p:spPr bwMode="auto">
            <a:xfrm>
              <a:off x="4994" y="327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456" name="Text Box 196"/>
            <p:cNvSpPr txBox="1">
              <a:spLocks noChangeArrowheads="1"/>
            </p:cNvSpPr>
            <p:nvPr/>
          </p:nvSpPr>
          <p:spPr bwMode="auto">
            <a:xfrm>
              <a:off x="1949" y="34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17457" name="Text Box 197"/>
            <p:cNvSpPr txBox="1">
              <a:spLocks noChangeArrowheads="1"/>
            </p:cNvSpPr>
            <p:nvPr/>
          </p:nvSpPr>
          <p:spPr bwMode="auto">
            <a:xfrm>
              <a:off x="2381" y="34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17458" name="Text Box 198"/>
            <p:cNvSpPr txBox="1">
              <a:spLocks noChangeArrowheads="1"/>
            </p:cNvSpPr>
            <p:nvPr/>
          </p:nvSpPr>
          <p:spPr bwMode="auto">
            <a:xfrm>
              <a:off x="2813"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59" name="Text Box 199"/>
            <p:cNvSpPr txBox="1">
              <a:spLocks noChangeArrowheads="1"/>
            </p:cNvSpPr>
            <p:nvPr/>
          </p:nvSpPr>
          <p:spPr bwMode="auto">
            <a:xfrm>
              <a:off x="3245"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460" name="Text Box 200"/>
            <p:cNvSpPr txBox="1">
              <a:spLocks noChangeArrowheads="1"/>
            </p:cNvSpPr>
            <p:nvPr/>
          </p:nvSpPr>
          <p:spPr bwMode="auto">
            <a:xfrm>
              <a:off x="3677"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461" name="Text Box 201"/>
            <p:cNvSpPr txBox="1">
              <a:spLocks noChangeArrowheads="1"/>
            </p:cNvSpPr>
            <p:nvPr/>
          </p:nvSpPr>
          <p:spPr bwMode="auto">
            <a:xfrm>
              <a:off x="4109"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462" name="Text Box 202"/>
            <p:cNvSpPr txBox="1">
              <a:spLocks noChangeArrowheads="1"/>
            </p:cNvSpPr>
            <p:nvPr/>
          </p:nvSpPr>
          <p:spPr bwMode="auto">
            <a:xfrm>
              <a:off x="1922" y="38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63" name="Text Box 203"/>
            <p:cNvSpPr txBox="1">
              <a:spLocks noChangeArrowheads="1"/>
            </p:cNvSpPr>
            <p:nvPr/>
          </p:nvSpPr>
          <p:spPr bwMode="auto">
            <a:xfrm>
              <a:off x="1298" y="346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464" name="Text Box 204"/>
            <p:cNvSpPr txBox="1">
              <a:spLocks noChangeArrowheads="1"/>
            </p:cNvSpPr>
            <p:nvPr/>
          </p:nvSpPr>
          <p:spPr bwMode="auto">
            <a:xfrm>
              <a:off x="1634" y="3899"/>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465" name="Text Box 205"/>
            <p:cNvSpPr txBox="1">
              <a:spLocks noChangeArrowheads="1"/>
            </p:cNvSpPr>
            <p:nvPr/>
          </p:nvSpPr>
          <p:spPr bwMode="auto">
            <a:xfrm>
              <a:off x="4541"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466" name="Text Box 206"/>
            <p:cNvSpPr txBox="1">
              <a:spLocks noChangeArrowheads="1"/>
            </p:cNvSpPr>
            <p:nvPr/>
          </p:nvSpPr>
          <p:spPr bwMode="auto">
            <a:xfrm>
              <a:off x="4973" y="34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467" name="Text Box 207"/>
            <p:cNvSpPr txBox="1">
              <a:spLocks noChangeArrowheads="1"/>
            </p:cNvSpPr>
            <p:nvPr/>
          </p:nvSpPr>
          <p:spPr bwMode="auto">
            <a:xfrm>
              <a:off x="4229"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468" name="Text Box 208"/>
            <p:cNvSpPr txBox="1">
              <a:spLocks noChangeArrowheads="1"/>
            </p:cNvSpPr>
            <p:nvPr/>
          </p:nvSpPr>
          <p:spPr bwMode="auto">
            <a:xfrm>
              <a:off x="4664" y="32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469" name="Text Box 209"/>
            <p:cNvSpPr txBox="1">
              <a:spLocks noChangeArrowheads="1"/>
            </p:cNvSpPr>
            <p:nvPr/>
          </p:nvSpPr>
          <p:spPr bwMode="auto">
            <a:xfrm>
              <a:off x="2813" y="38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17470" name="Text Box 210"/>
            <p:cNvSpPr txBox="1">
              <a:spLocks noChangeArrowheads="1"/>
            </p:cNvSpPr>
            <p:nvPr/>
          </p:nvSpPr>
          <p:spPr bwMode="auto">
            <a:xfrm>
              <a:off x="2525" y="3899"/>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0" name="Group 246"/>
          <p:cNvGrpSpPr>
            <a:grpSpLocks/>
          </p:cNvGrpSpPr>
          <p:nvPr/>
        </p:nvGrpSpPr>
        <p:grpSpPr bwMode="auto">
          <a:xfrm>
            <a:off x="613569" y="2260600"/>
            <a:ext cx="7086600" cy="3657600"/>
            <a:chOff x="1202" y="2056"/>
            <a:chExt cx="4464" cy="2304"/>
          </a:xfrm>
        </p:grpSpPr>
        <p:sp>
          <p:nvSpPr>
            <p:cNvPr id="17421" name="Rectangle 212"/>
            <p:cNvSpPr>
              <a:spLocks noChangeArrowheads="1"/>
            </p:cNvSpPr>
            <p:nvPr/>
          </p:nvSpPr>
          <p:spPr bwMode="auto">
            <a:xfrm>
              <a:off x="1202" y="2056"/>
              <a:ext cx="4464" cy="230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17422" name="Text Box 213"/>
            <p:cNvSpPr txBox="1">
              <a:spLocks noChangeArrowheads="1"/>
            </p:cNvSpPr>
            <p:nvPr/>
          </p:nvSpPr>
          <p:spPr bwMode="auto">
            <a:xfrm>
              <a:off x="1250" y="2104"/>
              <a:ext cx="3648" cy="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p>
            <a:p>
              <a:pPr>
                <a:spcBef>
                  <a:spcPts val="1800"/>
                </a:spcBef>
                <a:buClrTx/>
                <a:buFontTx/>
                <a:buNone/>
              </a:pPr>
              <a:r>
                <a:rPr lang="en-US" altLang="en-US" sz="2000">
                  <a:latin typeface="Times New Roman" pitchFamily="18" charset="0"/>
                </a:rPr>
                <a:t>1.	For </a:t>
              </a:r>
              <a:r>
                <a:rPr lang="en-US" altLang="en-US" sz="2000" i="1">
                  <a:latin typeface="Times New Roman" pitchFamily="18" charset="0"/>
                </a:rPr>
                <a:t>p</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equals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terminate yielding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Terminate yielding </a:t>
              </a:r>
              <a:r>
                <a:rPr lang="en-US" altLang="en-US" sz="2000" i="1">
                  <a:latin typeface="Times New Roman" pitchFamily="18" charset="0"/>
                </a:rPr>
                <a:t>none</a:t>
              </a:r>
              <a:r>
                <a:rPr lang="en-US" altLang="en-US" sz="2000">
                  <a:latin typeface="Times New Roman" pitchFamily="18" charset="0"/>
                </a:rPr>
                <a:t>.</a:t>
              </a:r>
            </a:p>
          </p:txBody>
        </p:sp>
        <p:sp>
          <p:nvSpPr>
            <p:cNvPr id="17423" name="Text Box 214"/>
            <p:cNvSpPr txBox="1">
              <a:spLocks noChangeArrowheads="1"/>
            </p:cNvSpPr>
            <p:nvPr/>
          </p:nvSpPr>
          <p:spPr bwMode="auto">
            <a:xfrm>
              <a:off x="1490" y="3544"/>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rat</a:t>
              </a:r>
            </a:p>
          </p:txBody>
        </p:sp>
        <p:sp>
          <p:nvSpPr>
            <p:cNvPr id="17424" name="Text Box 215"/>
            <p:cNvSpPr txBox="1">
              <a:spLocks noChangeArrowheads="1"/>
            </p:cNvSpPr>
            <p:nvPr/>
          </p:nvSpPr>
          <p:spPr bwMode="auto">
            <a:xfrm>
              <a:off x="1250" y="335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17425" name="Text Box 216"/>
            <p:cNvSpPr txBox="1">
              <a:spLocks noChangeArrowheads="1"/>
            </p:cNvSpPr>
            <p:nvPr/>
          </p:nvSpPr>
          <p:spPr bwMode="auto">
            <a:xfrm>
              <a:off x="2070"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17426" name="Text Box 217"/>
            <p:cNvSpPr txBox="1">
              <a:spLocks noChangeArrowheads="1"/>
            </p:cNvSpPr>
            <p:nvPr/>
          </p:nvSpPr>
          <p:spPr bwMode="auto">
            <a:xfrm>
              <a:off x="2498"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17427" name="Text Box 218"/>
            <p:cNvSpPr txBox="1">
              <a:spLocks noChangeArrowheads="1"/>
            </p:cNvSpPr>
            <p:nvPr/>
          </p:nvSpPr>
          <p:spPr bwMode="auto">
            <a:xfrm>
              <a:off x="2930"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17428" name="Text Box 219"/>
            <p:cNvSpPr txBox="1">
              <a:spLocks noChangeArrowheads="1"/>
            </p:cNvSpPr>
            <p:nvPr/>
          </p:nvSpPr>
          <p:spPr bwMode="auto">
            <a:xfrm>
              <a:off x="3362"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17429" name="Text Box 220"/>
            <p:cNvSpPr txBox="1">
              <a:spLocks noChangeArrowheads="1"/>
            </p:cNvSpPr>
            <p:nvPr/>
          </p:nvSpPr>
          <p:spPr bwMode="auto">
            <a:xfrm>
              <a:off x="3794"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17430" name="Text Box 221"/>
            <p:cNvSpPr txBox="1">
              <a:spLocks noChangeArrowheads="1"/>
            </p:cNvSpPr>
            <p:nvPr/>
          </p:nvSpPr>
          <p:spPr bwMode="auto">
            <a:xfrm>
              <a:off x="4994" y="335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17431" name="Text Box 222"/>
            <p:cNvSpPr txBox="1">
              <a:spLocks noChangeArrowheads="1"/>
            </p:cNvSpPr>
            <p:nvPr/>
          </p:nvSpPr>
          <p:spPr bwMode="auto">
            <a:xfrm>
              <a:off x="1949" y="3544"/>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cat</a:t>
              </a:r>
            </a:p>
          </p:txBody>
        </p:sp>
        <p:sp>
          <p:nvSpPr>
            <p:cNvPr id="17432" name="Text Box 223"/>
            <p:cNvSpPr txBox="1">
              <a:spLocks noChangeArrowheads="1"/>
            </p:cNvSpPr>
            <p:nvPr/>
          </p:nvSpPr>
          <p:spPr bwMode="auto">
            <a:xfrm>
              <a:off x="2381" y="3544"/>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pig</a:t>
              </a:r>
            </a:p>
          </p:txBody>
        </p:sp>
        <p:sp>
          <p:nvSpPr>
            <p:cNvPr id="17433" name="Text Box 224"/>
            <p:cNvSpPr txBox="1">
              <a:spLocks noChangeArrowheads="1"/>
            </p:cNvSpPr>
            <p:nvPr/>
          </p:nvSpPr>
          <p:spPr bwMode="auto">
            <a:xfrm>
              <a:off x="2813"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34" name="Text Box 225"/>
            <p:cNvSpPr txBox="1">
              <a:spLocks noChangeArrowheads="1"/>
            </p:cNvSpPr>
            <p:nvPr/>
          </p:nvSpPr>
          <p:spPr bwMode="auto">
            <a:xfrm>
              <a:off x="3245"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17435" name="Text Box 226"/>
            <p:cNvSpPr txBox="1">
              <a:spLocks noChangeArrowheads="1"/>
            </p:cNvSpPr>
            <p:nvPr/>
          </p:nvSpPr>
          <p:spPr bwMode="auto">
            <a:xfrm>
              <a:off x="3677"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17436" name="Text Box 227"/>
            <p:cNvSpPr txBox="1">
              <a:spLocks noChangeArrowheads="1"/>
            </p:cNvSpPr>
            <p:nvPr/>
          </p:nvSpPr>
          <p:spPr bwMode="auto">
            <a:xfrm>
              <a:off x="4109"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17437" name="Text Box 228"/>
            <p:cNvSpPr txBox="1">
              <a:spLocks noChangeArrowheads="1"/>
            </p:cNvSpPr>
            <p:nvPr/>
          </p:nvSpPr>
          <p:spPr bwMode="auto">
            <a:xfrm>
              <a:off x="1922" y="39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17438" name="Text Box 229"/>
            <p:cNvSpPr txBox="1">
              <a:spLocks noChangeArrowheads="1"/>
            </p:cNvSpPr>
            <p:nvPr/>
          </p:nvSpPr>
          <p:spPr bwMode="auto">
            <a:xfrm>
              <a:off x="1298" y="354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17439" name="Text Box 230"/>
            <p:cNvSpPr txBox="1">
              <a:spLocks noChangeArrowheads="1"/>
            </p:cNvSpPr>
            <p:nvPr/>
          </p:nvSpPr>
          <p:spPr bwMode="auto">
            <a:xfrm>
              <a:off x="1634" y="397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17440" name="Text Box 231"/>
            <p:cNvSpPr txBox="1">
              <a:spLocks noChangeArrowheads="1"/>
            </p:cNvSpPr>
            <p:nvPr/>
          </p:nvSpPr>
          <p:spPr bwMode="auto">
            <a:xfrm>
              <a:off x="4541"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17441" name="Text Box 232"/>
            <p:cNvSpPr txBox="1">
              <a:spLocks noChangeArrowheads="1"/>
            </p:cNvSpPr>
            <p:nvPr/>
          </p:nvSpPr>
          <p:spPr bwMode="auto">
            <a:xfrm>
              <a:off x="4973" y="354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17442" name="Text Box 233"/>
            <p:cNvSpPr txBox="1">
              <a:spLocks noChangeArrowheads="1"/>
            </p:cNvSpPr>
            <p:nvPr/>
          </p:nvSpPr>
          <p:spPr bwMode="auto">
            <a:xfrm>
              <a:off x="4229"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17443" name="Text Box 234"/>
            <p:cNvSpPr txBox="1">
              <a:spLocks noChangeArrowheads="1"/>
            </p:cNvSpPr>
            <p:nvPr/>
          </p:nvSpPr>
          <p:spPr bwMode="auto">
            <a:xfrm>
              <a:off x="4664" y="335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17444" name="Text Box 235"/>
            <p:cNvSpPr txBox="1">
              <a:spLocks noChangeArrowheads="1"/>
            </p:cNvSpPr>
            <p:nvPr/>
          </p:nvSpPr>
          <p:spPr bwMode="auto">
            <a:xfrm>
              <a:off x="2813" y="39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17445" name="Text Box 236"/>
            <p:cNvSpPr txBox="1">
              <a:spLocks noChangeArrowheads="1"/>
            </p:cNvSpPr>
            <p:nvPr/>
          </p:nvSpPr>
          <p:spPr bwMode="auto">
            <a:xfrm>
              <a:off x="2525" y="397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sp>
        <p:nvSpPr>
          <p:cNvPr id="11" name="Slide Number Placeholder 10"/>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4405016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z="3200" dirty="0"/>
              <a:t>Linear search </a:t>
            </a:r>
            <a:r>
              <a:rPr lang="en-US" altLang="en-US" sz="3200" i="1" dirty="0"/>
              <a:t>(3)</a:t>
            </a:r>
            <a:endParaRPr lang="en-GB" altLang="en-US" sz="3200" dirty="0"/>
          </a:p>
        </p:txBody>
      </p:sp>
      <p:sp>
        <p:nvSpPr>
          <p:cNvPr id="18435" name="Rectangle 3"/>
          <p:cNvSpPr>
            <a:spLocks noGrp="1" noChangeArrowheads="1"/>
          </p:cNvSpPr>
          <p:nvPr>
            <p:ph idx="1"/>
          </p:nvPr>
        </p:nvSpPr>
        <p:spPr>
          <a:xfrm>
            <a:off x="381000" y="1600200"/>
            <a:ext cx="8534400" cy="3657600"/>
          </a:xfrm>
          <a:noFill/>
        </p:spPr>
        <p:txBody>
          <a:bodyPr/>
          <a:lstStyle/>
          <a:p>
            <a:pPr eaLnBrk="1" hangingPunct="1">
              <a:lnSpc>
                <a:spcPct val="90000"/>
              </a:lnSpc>
              <a:tabLst>
                <a:tab pos="4394200" algn="l"/>
              </a:tabLst>
            </a:pPr>
            <a:r>
              <a:rPr lang="en-US" altLang="en-US"/>
              <a:t>Analysis (counting comparisons):</a:t>
            </a:r>
          </a:p>
          <a:p>
            <a:pPr eaLnBrk="1" hangingPunct="1">
              <a:lnSpc>
                <a:spcPct val="90000"/>
              </a:lnSpc>
              <a:spcBef>
                <a:spcPts val="900"/>
              </a:spcBef>
              <a:buFont typeface="Wingdings" pitchFamily="2" charset="2"/>
              <a:buNone/>
              <a:tabLst>
                <a:tab pos="4394200" algn="l"/>
              </a:tabLst>
            </a:pPr>
            <a:r>
              <a:rPr lang="en-US" altLang="en-US"/>
              <a:t>	Let </a:t>
            </a:r>
            <a:r>
              <a:rPr lang="en-US" altLang="en-US" i="1"/>
              <a:t>n</a:t>
            </a:r>
            <a:r>
              <a:rPr lang="en-US" altLang="en-US"/>
              <a:t> = </a:t>
            </a:r>
            <a:r>
              <a:rPr lang="en-US" altLang="en-US" i="1"/>
              <a:t>right </a:t>
            </a:r>
            <a:r>
              <a:rPr lang="en-US" altLang="en-US"/>
              <a:t>– </a:t>
            </a:r>
            <a:r>
              <a:rPr lang="en-US" altLang="en-US" i="1"/>
              <a:t>left </a:t>
            </a:r>
            <a:r>
              <a:rPr lang="en-US" altLang="en-US"/>
              <a:t>+ 1 be the length of the array.</a:t>
            </a:r>
          </a:p>
          <a:p>
            <a:pPr eaLnBrk="1" hangingPunct="1">
              <a:lnSpc>
                <a:spcPct val="90000"/>
              </a:lnSpc>
              <a:tabLst>
                <a:tab pos="4394200" algn="l"/>
              </a:tabLst>
            </a:pPr>
            <a:r>
              <a:rPr lang="en-US" altLang="en-US"/>
              <a:t>If the search is </a:t>
            </a:r>
            <a:r>
              <a:rPr lang="en-US" altLang="en-US" b="1"/>
              <a:t>unsuccessful</a:t>
            </a:r>
            <a:r>
              <a:rPr lang="en-US" altLang="en-US"/>
              <a:t>, step 1.1 is repeated </a:t>
            </a:r>
            <a:r>
              <a:rPr lang="en-US" altLang="en-US" i="1"/>
              <a:t>n</a:t>
            </a:r>
            <a:r>
              <a:rPr lang="en-US" altLang="en-US"/>
              <a:t> times.</a:t>
            </a:r>
          </a:p>
          <a:p>
            <a:pPr eaLnBrk="1" hangingPunct="1">
              <a:lnSpc>
                <a:spcPct val="90000"/>
              </a:lnSpc>
              <a:spcBef>
                <a:spcPts val="900"/>
              </a:spcBef>
              <a:buFont typeface="Wingdings" pitchFamily="2" charset="2"/>
              <a:buNone/>
              <a:tabLst>
                <a:tab pos="4394200" algn="l"/>
              </a:tabLst>
            </a:pPr>
            <a:r>
              <a:rPr lang="en-US" altLang="en-US"/>
              <a:t>	No. of comparisons  =  </a:t>
            </a:r>
            <a:r>
              <a:rPr lang="en-US" altLang="en-US" i="1"/>
              <a:t>n</a:t>
            </a:r>
            <a:endParaRPr lang="en-US" altLang="en-US"/>
          </a:p>
          <a:p>
            <a:pPr eaLnBrk="1" hangingPunct="1">
              <a:lnSpc>
                <a:spcPct val="90000"/>
              </a:lnSpc>
              <a:tabLst>
                <a:tab pos="4394200" algn="l"/>
              </a:tabLst>
            </a:pPr>
            <a:r>
              <a:rPr lang="en-US" altLang="en-US"/>
              <a:t>If the search is </a:t>
            </a:r>
            <a:r>
              <a:rPr lang="en-US" altLang="en-US" b="1"/>
              <a:t>successful</a:t>
            </a:r>
            <a:r>
              <a:rPr lang="en-US" altLang="en-US"/>
              <a:t>, step 1.1 is repeated between 1 and </a:t>
            </a:r>
            <a:r>
              <a:rPr lang="en-US" altLang="en-US" i="1"/>
              <a:t>n</a:t>
            </a:r>
            <a:r>
              <a:rPr lang="en-US" altLang="en-US"/>
              <a:t> times.</a:t>
            </a:r>
          </a:p>
          <a:p>
            <a:pPr eaLnBrk="1" hangingPunct="1">
              <a:lnSpc>
                <a:spcPct val="90000"/>
              </a:lnSpc>
              <a:spcBef>
                <a:spcPts val="900"/>
              </a:spcBef>
              <a:buFont typeface="Wingdings" pitchFamily="2" charset="2"/>
              <a:buNone/>
              <a:tabLst>
                <a:tab pos="4394200" algn="l"/>
              </a:tabLst>
            </a:pPr>
            <a:r>
              <a:rPr lang="en-US" altLang="en-US"/>
              <a:t>	Average no. of comparisons	=  (</a:t>
            </a:r>
            <a:r>
              <a:rPr lang="en-US" altLang="en-US" i="1"/>
              <a:t>n</a:t>
            </a:r>
            <a:r>
              <a:rPr lang="en-US" altLang="en-US"/>
              <a:t> + 1)/2</a:t>
            </a:r>
            <a:br>
              <a:rPr lang="en-US" altLang="en-US"/>
            </a:br>
            <a:r>
              <a:rPr lang="en-US" altLang="en-US"/>
              <a:t>	</a:t>
            </a:r>
            <a:r>
              <a:rPr lang="en-US" altLang="en-US">
                <a:sym typeface="Symbol" pitchFamily="18" charset="2"/>
              </a:rPr>
              <a:t></a:t>
            </a:r>
            <a:r>
              <a:rPr lang="en-US" altLang="en-US"/>
              <a:t>  </a:t>
            </a:r>
            <a:r>
              <a:rPr lang="en-US" altLang="en-US" i="1"/>
              <a:t>n</a:t>
            </a:r>
            <a:r>
              <a:rPr lang="en-US" altLang="en-US"/>
              <a:t>/2</a:t>
            </a:r>
          </a:p>
          <a:p>
            <a:pPr eaLnBrk="1" hangingPunct="1">
              <a:lnSpc>
                <a:spcPct val="90000"/>
              </a:lnSpc>
              <a:buClr>
                <a:schemeClr val="tx1"/>
              </a:buClr>
              <a:tabLst>
                <a:tab pos="4394200" algn="l"/>
              </a:tabLst>
            </a:pPr>
            <a:r>
              <a:rPr lang="en-US" altLang="en-US"/>
              <a:t>In either case, time complexity is </a:t>
            </a:r>
            <a:r>
              <a:rPr lang="en-US" altLang="en-US" i="1"/>
              <a:t>O</a:t>
            </a:r>
            <a:r>
              <a:rPr lang="en-US" altLang="en-US"/>
              <a:t>(</a:t>
            </a:r>
            <a:r>
              <a:rPr lang="en-US" altLang="en-US" i="1"/>
              <a:t>n</a:t>
            </a:r>
            <a:r>
              <a:rPr lang="en-US" altLang="en-US"/>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a:p>
        </p:txBody>
      </p:sp>
      <p:sp>
        <p:nvSpPr>
          <p:cNvPr id="3" name="Rectangle 2"/>
          <p:cNvSpPr/>
          <p:nvPr/>
        </p:nvSpPr>
        <p:spPr>
          <a:xfrm>
            <a:off x="1371600" y="5486399"/>
            <a:ext cx="7086600" cy="923330"/>
          </a:xfrm>
          <a:prstGeom prst="rect">
            <a:avLst/>
          </a:prstGeom>
          <a:ln>
            <a:solidFill>
              <a:schemeClr val="tx2"/>
            </a:solidFill>
          </a:ln>
        </p:spPr>
        <p:txBody>
          <a:bodyPr wrap="square">
            <a:spAutoFit/>
          </a:bodyPr>
          <a:lstStyle/>
          <a:p>
            <a:r>
              <a:rPr lang="en-US" altLang="en-US">
                <a:latin typeface="Times New Roman" pitchFamily="18" charset="0"/>
              </a:rPr>
              <a:t>1.	For </a:t>
            </a:r>
            <a:r>
              <a:rPr lang="en-US" altLang="en-US" i="1">
                <a:latin typeface="Times New Roman" pitchFamily="18" charset="0"/>
              </a:rPr>
              <a:t>p</a:t>
            </a:r>
            <a:r>
              <a:rPr lang="en-US" altLang="en-US">
                <a:latin typeface="Times New Roman" pitchFamily="18" charset="0"/>
              </a:rPr>
              <a:t> = </a:t>
            </a:r>
            <a:r>
              <a:rPr lang="en-US" altLang="en-US" i="1">
                <a:latin typeface="Times New Roman" pitchFamily="18" charset="0"/>
              </a:rPr>
              <a:t>left</a:t>
            </a:r>
            <a:r>
              <a:rPr lang="en-US" altLang="en-US">
                <a:latin typeface="Times New Roman" pitchFamily="18" charset="0"/>
              </a:rPr>
              <a:t>, …, </a:t>
            </a:r>
            <a:r>
              <a:rPr lang="en-US" altLang="en-US" i="1">
                <a:latin typeface="Times New Roman" pitchFamily="18" charset="0"/>
              </a:rPr>
              <a:t>right</a:t>
            </a:r>
            <a:r>
              <a:rPr lang="en-US" altLang="en-US">
                <a:latin typeface="Times New Roman" pitchFamily="18" charset="0"/>
              </a:rPr>
              <a:t>, repeat:</a:t>
            </a:r>
            <a:br>
              <a:rPr lang="en-US" altLang="en-US">
                <a:latin typeface="Times New Roman" pitchFamily="18" charset="0"/>
              </a:rPr>
            </a:br>
            <a:r>
              <a:rPr lang="en-US" altLang="en-US">
                <a:latin typeface="Times New Roman" pitchFamily="18" charset="0"/>
              </a:rPr>
              <a:t>	1.1.	</a:t>
            </a:r>
            <a:r>
              <a:rPr lang="en-US" altLang="en-US">
                <a:solidFill>
                  <a:srgbClr val="FF0000"/>
                </a:solidFill>
                <a:latin typeface="Times New Roman" pitchFamily="18" charset="0"/>
              </a:rPr>
              <a:t>If </a:t>
            </a:r>
            <a:r>
              <a:rPr lang="en-US" altLang="en-US" i="1">
                <a:solidFill>
                  <a:srgbClr val="FF0000"/>
                </a:solidFill>
                <a:latin typeface="Times New Roman" pitchFamily="18" charset="0"/>
              </a:rPr>
              <a:t>target</a:t>
            </a:r>
            <a:r>
              <a:rPr lang="en-US" altLang="en-US">
                <a:solidFill>
                  <a:srgbClr val="FF0000"/>
                </a:solidFill>
                <a:latin typeface="Times New Roman" pitchFamily="18" charset="0"/>
              </a:rPr>
              <a:t> equals </a:t>
            </a:r>
            <a:r>
              <a:rPr lang="en-US" altLang="en-US" i="1">
                <a:solidFill>
                  <a:srgbClr val="FF0000"/>
                </a:solidFill>
                <a:latin typeface="Times New Roman" pitchFamily="18" charset="0"/>
              </a:rPr>
              <a:t>a</a:t>
            </a:r>
            <a:r>
              <a:rPr lang="en-US" altLang="en-US">
                <a:solidFill>
                  <a:srgbClr val="FF0000"/>
                </a:solidFill>
                <a:latin typeface="Times New Roman" pitchFamily="18" charset="0"/>
              </a:rPr>
              <a:t>[</a:t>
            </a:r>
            <a:r>
              <a:rPr lang="en-US" altLang="en-US" i="1">
                <a:solidFill>
                  <a:srgbClr val="FF0000"/>
                </a:solidFill>
                <a:latin typeface="Times New Roman" pitchFamily="18" charset="0"/>
              </a:rPr>
              <a:t>p</a:t>
            </a:r>
            <a:r>
              <a:rPr lang="en-US" altLang="en-US">
                <a:solidFill>
                  <a:srgbClr val="FF0000"/>
                </a:solidFill>
                <a:latin typeface="Times New Roman" pitchFamily="18" charset="0"/>
              </a:rPr>
              <a:t>], terminate yielding </a:t>
            </a:r>
            <a:r>
              <a:rPr lang="en-US" altLang="en-US" i="1">
                <a:solidFill>
                  <a:srgbClr val="FF0000"/>
                </a:solidFill>
                <a:latin typeface="Times New Roman" pitchFamily="18" charset="0"/>
              </a:rPr>
              <a:t>p</a:t>
            </a:r>
            <a:r>
              <a:rPr lang="en-US" altLang="en-US">
                <a:solidFill>
                  <a:srgbClr val="FF0000"/>
                </a:solidFill>
                <a:latin typeface="Times New Roman" pitchFamily="18" charset="0"/>
              </a:rPr>
              <a:t>.</a:t>
            </a:r>
            <a:br>
              <a:rPr lang="en-US" altLang="en-US">
                <a:latin typeface="Times New Roman" pitchFamily="18" charset="0"/>
              </a:rPr>
            </a:br>
            <a:r>
              <a:rPr lang="en-US" altLang="en-US">
                <a:latin typeface="Times New Roman" pitchFamily="18" charset="0"/>
              </a:rPr>
              <a:t>2.	Terminate yielding </a:t>
            </a:r>
            <a:r>
              <a:rPr lang="en-US" altLang="en-US" i="1">
                <a:latin typeface="Times New Roman" pitchFamily="18" charset="0"/>
              </a:rPr>
              <a:t>none</a:t>
            </a:r>
            <a:r>
              <a:rPr lang="en-US" altLang="en-US">
                <a:latin typeface="Times New Roman" pitchFamily="18" charset="0"/>
              </a:rPr>
              <a:t>.</a:t>
            </a:r>
            <a:endParaRPr lang="en-GB"/>
          </a:p>
        </p:txBody>
      </p:sp>
    </p:spTree>
    <p:extLst>
      <p:ext uri="{BB962C8B-B14F-4D97-AF65-F5344CB8AC3E}">
        <p14:creationId xmlns:p14="http://schemas.microsoft.com/office/powerpoint/2010/main" val="2872744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z="3200" dirty="0"/>
              <a:t>Linear search </a:t>
            </a:r>
            <a:r>
              <a:rPr lang="en-US" altLang="en-US" sz="3200" i="1" dirty="0"/>
              <a:t>(4)</a:t>
            </a:r>
            <a:endParaRPr lang="en-GB" altLang="en-US" sz="3200" dirty="0"/>
          </a:p>
        </p:txBody>
      </p:sp>
      <p:sp>
        <p:nvSpPr>
          <p:cNvPr id="19459" name="Rectangle 3"/>
          <p:cNvSpPr>
            <a:spLocks noGrp="1" noChangeArrowheads="1"/>
          </p:cNvSpPr>
          <p:nvPr>
            <p:ph idx="1"/>
          </p:nvPr>
        </p:nvSpPr>
        <p:spPr>
          <a:noFill/>
        </p:spPr>
        <p:txBody>
          <a:bodyPr/>
          <a:lstStyle/>
          <a:p>
            <a:pPr eaLnBrk="1" hangingPunct="1">
              <a:tabLst>
                <a:tab pos="723900" algn="l"/>
                <a:tab pos="1079500" algn="l"/>
                <a:tab pos="1435100" algn="l"/>
                <a:tab pos="1790700" algn="l"/>
                <a:tab pos="2159000" algn="l"/>
              </a:tabLst>
            </a:pPr>
            <a:r>
              <a:rPr lang="en-US" altLang="en-US" dirty="0"/>
              <a:t>Implementation in Java:</a:t>
            </a:r>
          </a:p>
          <a:p>
            <a:pPr eaLnBrk="1" hangingPunct="1">
              <a:buFont typeface="Wingdings" pitchFamily="2" charset="2"/>
              <a:buNone/>
              <a:tabLst>
                <a:tab pos="723900" algn="l"/>
                <a:tab pos="1079500" algn="l"/>
                <a:tab pos="1435100" algn="l"/>
                <a:tab pos="1790700" algn="l"/>
                <a:tab pos="2159000" algn="l"/>
              </a:tabLst>
            </a:pPr>
            <a:r>
              <a:rPr lang="en-US" altLang="en-US" sz="2000" dirty="0">
                <a:latin typeface="Courier New" pitchFamily="49" charset="0"/>
              </a:rPr>
              <a:t>	</a:t>
            </a:r>
            <a:r>
              <a:rPr lang="en-US" altLang="en-US" sz="2000" b="1" dirty="0">
                <a:latin typeface="Courier New" pitchFamily="49" charset="0"/>
              </a:rPr>
              <a:t>static</a:t>
            </a:r>
            <a:r>
              <a:rPr lang="en-US" altLang="en-US" sz="2000" dirty="0">
                <a:latin typeface="Courier New" pitchFamily="49" charset="0"/>
              </a:rPr>
              <a:t> &lt;E&gt; </a:t>
            </a:r>
            <a:r>
              <a:rPr lang="en-US" altLang="en-US" sz="2000" b="1" dirty="0">
                <a:latin typeface="Courier New" pitchFamily="49" charset="0"/>
              </a:rPr>
              <a:t>int</a:t>
            </a:r>
            <a:r>
              <a:rPr lang="en-US" altLang="en-US" sz="2000" dirty="0">
                <a:latin typeface="Courier New" pitchFamily="49" charset="0"/>
              </a:rPr>
              <a:t> </a:t>
            </a:r>
            <a:r>
              <a:rPr lang="en-US" altLang="en-US" sz="2000" dirty="0" err="1">
                <a:latin typeface="Courier New" pitchFamily="49" charset="0"/>
              </a:rPr>
              <a:t>linearSearch</a:t>
            </a:r>
            <a:r>
              <a:rPr lang="en-US" altLang="en-US" sz="2000" dirty="0">
                <a:latin typeface="Courier New" pitchFamily="49" charset="0"/>
              </a:rPr>
              <a:t> (E target,</a:t>
            </a:r>
            <a:br>
              <a:rPr lang="en-US" altLang="en-US" sz="2000" dirty="0">
                <a:latin typeface="Courier New" pitchFamily="49" charset="0"/>
              </a:rPr>
            </a:br>
            <a:r>
              <a:rPr lang="en-US" altLang="en-US" sz="2000" dirty="0">
                <a:latin typeface="Courier New" pitchFamily="49" charset="0"/>
              </a:rPr>
              <a:t>				E[] a, </a:t>
            </a:r>
            <a:r>
              <a:rPr lang="en-US" altLang="en-US" sz="2000" b="1" dirty="0">
                <a:latin typeface="Courier New" pitchFamily="49" charset="0"/>
              </a:rPr>
              <a:t>int</a:t>
            </a:r>
            <a:r>
              <a:rPr lang="en-US" altLang="en-US" sz="2000" dirty="0">
                <a:latin typeface="Courier New" pitchFamily="49" charset="0"/>
              </a:rPr>
              <a:t> left, </a:t>
            </a:r>
            <a:r>
              <a:rPr lang="en-US" altLang="en-US" sz="2000" b="1" dirty="0">
                <a:latin typeface="Courier New" pitchFamily="49" charset="0"/>
              </a:rPr>
              <a:t>int</a:t>
            </a:r>
            <a:r>
              <a:rPr lang="en-US" altLang="en-US" sz="2000" dirty="0">
                <a:latin typeface="Courier New" pitchFamily="49" charset="0"/>
              </a:rPr>
              <a:t> right) {</a:t>
            </a:r>
            <a:br>
              <a:rPr lang="en-US" altLang="en-US" sz="2000" dirty="0">
                <a:latin typeface="Courier New" pitchFamily="49" charset="0"/>
              </a:rPr>
            </a:br>
            <a:r>
              <a:rPr lang="en-US" altLang="en-US" sz="2000" dirty="0">
                <a:latin typeface="Courier New" pitchFamily="49" charset="0"/>
              </a:rPr>
              <a:t>// </a:t>
            </a:r>
            <a:r>
              <a:rPr lang="en-US" altLang="en-US" sz="2000" dirty="0"/>
              <a:t>Find which (if any) element of</a:t>
            </a:r>
            <a:r>
              <a:rPr lang="en-US" altLang="en-US" sz="2000" dirty="0">
                <a:latin typeface="Courier New" pitchFamily="49" charset="0"/>
              </a:rPr>
              <a:t> a[left</a:t>
            </a:r>
            <a:r>
              <a:rPr lang="en-US" altLang="en-US" sz="2000" dirty="0"/>
              <a:t>…</a:t>
            </a:r>
            <a:r>
              <a:rPr lang="en-US" altLang="en-US" sz="2000" dirty="0">
                <a:latin typeface="Courier New" pitchFamily="49" charset="0"/>
              </a:rPr>
              <a:t>right]</a:t>
            </a:r>
            <a:r>
              <a:rPr lang="en-US" altLang="en-US" sz="2000" dirty="0"/>
              <a:t> </a:t>
            </a:r>
            <a:br>
              <a:rPr lang="en-US" altLang="en-US" sz="2000" dirty="0">
                <a:latin typeface="Courier New" pitchFamily="49" charset="0"/>
              </a:rPr>
            </a:br>
            <a:r>
              <a:rPr lang="en-US" altLang="en-US" sz="2000" dirty="0">
                <a:latin typeface="Courier New" pitchFamily="49" charset="0"/>
              </a:rPr>
              <a:t>// </a:t>
            </a:r>
            <a:r>
              <a:rPr lang="en-US" altLang="en-US" sz="2000" dirty="0"/>
              <a:t>equals </a:t>
            </a:r>
            <a:r>
              <a:rPr lang="en-US" altLang="en-US" sz="2000" dirty="0">
                <a:latin typeface="Courier New" pitchFamily="49" charset="0"/>
              </a:rPr>
              <a:t>target</a:t>
            </a:r>
            <a:r>
              <a:rPr lang="en-US" altLang="en-US" sz="2000" dirty="0"/>
              <a:t>.</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for</a:t>
            </a:r>
            <a:r>
              <a:rPr lang="en-US" altLang="en-US" sz="2000" dirty="0">
                <a:latin typeface="Courier New" pitchFamily="49" charset="0"/>
              </a:rPr>
              <a:t> (</a:t>
            </a:r>
            <a:r>
              <a:rPr lang="en-US" altLang="en-US" sz="2000" b="1" dirty="0">
                <a:latin typeface="Courier New" pitchFamily="49" charset="0"/>
              </a:rPr>
              <a:t>int</a:t>
            </a:r>
            <a:r>
              <a:rPr lang="en-US" altLang="en-US" sz="2000" dirty="0">
                <a:latin typeface="Courier New" pitchFamily="49" charset="0"/>
              </a:rPr>
              <a:t> p = left; p &lt;= right; p++)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if</a:t>
            </a:r>
            <a:r>
              <a:rPr lang="en-US" altLang="en-US" sz="2000" dirty="0">
                <a:latin typeface="Courier New" pitchFamily="49" charset="0"/>
              </a:rPr>
              <a:t> (</a:t>
            </a:r>
            <a:r>
              <a:rPr lang="en-US" altLang="en-US" sz="2000" dirty="0" err="1">
                <a:latin typeface="Courier New" pitchFamily="49" charset="0"/>
              </a:rPr>
              <a:t>target.equals</a:t>
            </a:r>
            <a:r>
              <a:rPr lang="en-US" altLang="en-US" sz="2000" dirty="0">
                <a:latin typeface="Courier New" pitchFamily="49" charset="0"/>
              </a:rPr>
              <a:t>(a[p]))</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return</a:t>
            </a:r>
            <a:r>
              <a:rPr lang="en-US" altLang="en-US" sz="2000" dirty="0">
                <a:latin typeface="Courier New" pitchFamily="49" charset="0"/>
              </a:rPr>
              <a:t> p;</a:t>
            </a:r>
            <a:br>
              <a:rPr lang="en-US" altLang="en-US" sz="2000" dirty="0">
                <a:latin typeface="Courier New" pitchFamily="49" charset="0"/>
              </a:rPr>
            </a:b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return</a:t>
            </a:r>
            <a:r>
              <a:rPr lang="en-US" altLang="en-US" sz="2000" dirty="0">
                <a:latin typeface="Courier New" pitchFamily="49" charset="0"/>
              </a:rPr>
              <a:t> -1;</a:t>
            </a:r>
            <a:br>
              <a:rPr lang="en-US" altLang="en-US" sz="2000" dirty="0">
                <a:latin typeface="Courier New" pitchFamily="49" charset="0"/>
              </a:rPr>
            </a:br>
            <a:r>
              <a:rPr lang="en-US" altLang="en-US" sz="2000" dirty="0">
                <a:latin typeface="Courier New" pitchFamily="49"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87521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(1)</a:t>
            </a:r>
            <a:endParaRPr lang="en-GB" altLang="en-US" sz="3200" i="1" dirty="0"/>
          </a:p>
        </p:txBody>
      </p:sp>
      <p:sp>
        <p:nvSpPr>
          <p:cNvPr id="20483" name="Rectangle 3"/>
          <p:cNvSpPr>
            <a:spLocks noGrp="1" noChangeArrowheads="1"/>
          </p:cNvSpPr>
          <p:nvPr>
            <p:ph idx="1"/>
          </p:nvPr>
        </p:nvSpPr>
        <p:spPr>
          <a:xfrm>
            <a:off x="304800" y="1447800"/>
            <a:ext cx="7620000" cy="3505200"/>
          </a:xfrm>
          <a:noFill/>
        </p:spPr>
        <p:txBody>
          <a:bodyPr>
            <a:normAutofit fontScale="92500"/>
          </a:bodyPr>
          <a:lstStyle/>
          <a:p>
            <a:pPr eaLnBrk="1" hangingPunct="1"/>
            <a:r>
              <a:rPr lang="en-US" altLang="en-US" dirty="0"/>
              <a:t>Assume now that we are searching a </a:t>
            </a:r>
            <a:r>
              <a:rPr lang="en-US" altLang="en-US" b="1" dirty="0"/>
              <a:t>sorted</a:t>
            </a:r>
            <a:r>
              <a:rPr lang="en-US" altLang="en-US" dirty="0"/>
              <a:t> (sub)array.</a:t>
            </a:r>
          </a:p>
          <a:p>
            <a:pPr eaLnBrk="1" hangingPunct="1"/>
            <a:r>
              <a:rPr lang="en-US" altLang="en-US" dirty="0"/>
              <a:t>Consider searching a dictionary for a target word:</a:t>
            </a:r>
          </a:p>
          <a:p>
            <a:pPr lvl="1" eaLnBrk="1" hangingPunct="1"/>
            <a:r>
              <a:rPr lang="en-US" altLang="en-US" dirty="0"/>
              <a:t>Bad idea: Look at page 1, then page 2, etc., until you find the page containing the target word.</a:t>
            </a:r>
            <a:br>
              <a:rPr lang="en-US" altLang="en-US" dirty="0"/>
            </a:br>
            <a:r>
              <a:rPr lang="en-US" altLang="en-US" dirty="0"/>
              <a:t>This is linear search!</a:t>
            </a:r>
          </a:p>
          <a:p>
            <a:pPr lvl="1" eaLnBrk="1" hangingPunct="1"/>
            <a:r>
              <a:rPr lang="en-US" altLang="en-US" dirty="0"/>
              <a:t>Better idea: Choose a page near the middle. If the target word happens to be on that middle page, you’re finished. If the target word is less (greater) than the words on that middle page, focus on the pages before (after) that middle page, and repeat.</a:t>
            </a:r>
            <a:br>
              <a:rPr lang="en-US" altLang="en-US" dirty="0"/>
            </a:br>
            <a:r>
              <a:rPr lang="en-US" altLang="en-US" dirty="0"/>
              <a:t>This is </a:t>
            </a:r>
            <a:r>
              <a:rPr lang="en-US" altLang="en-US" b="1" dirty="0"/>
              <a:t>binary</a:t>
            </a:r>
            <a:r>
              <a:rPr lang="en-US" altLang="en-US" dirty="0"/>
              <a:t> </a:t>
            </a:r>
            <a:r>
              <a:rPr lang="en-US" altLang="en-US" b="1" dirty="0"/>
              <a:t>search</a:t>
            </a:r>
            <a:r>
              <a:rPr lang="en-US" altLang="en-US" dirty="0"/>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329068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(2)</a:t>
            </a:r>
            <a:endParaRPr lang="en-GB" altLang="en-US" sz="3200" i="1" dirty="0"/>
          </a:p>
        </p:txBody>
      </p:sp>
      <p:sp>
        <p:nvSpPr>
          <p:cNvPr id="21507" name="Rectangle 3"/>
          <p:cNvSpPr>
            <a:spLocks noGrp="1" noChangeArrowheads="1"/>
          </p:cNvSpPr>
          <p:nvPr>
            <p:ph idx="1"/>
          </p:nvPr>
        </p:nvSpPr>
        <p:spPr>
          <a:noFill/>
        </p:spPr>
        <p:txBody>
          <a:bodyPr/>
          <a:lstStyle/>
          <a:p>
            <a:pPr eaLnBrk="1" hangingPunct="1">
              <a:tabLst>
                <a:tab pos="723900" algn="l"/>
                <a:tab pos="1257300" algn="l"/>
              </a:tabLst>
            </a:pPr>
            <a:r>
              <a:rPr lang="en-US" altLang="en-US" b="1" dirty="0"/>
              <a:t>Binary search algorithm</a:t>
            </a:r>
            <a:r>
              <a:rPr lang="en-US" altLang="en-US" dirty="0"/>
              <a:t>:</a:t>
            </a:r>
          </a:p>
          <a:p>
            <a:pPr eaLnBrk="1" hangingPunct="1">
              <a:spcBef>
                <a:spcPts val="900"/>
              </a:spcBef>
              <a:buFont typeface="Wingdings" pitchFamily="2" charset="2"/>
              <a:buNone/>
              <a:tabLst>
                <a:tab pos="723900" algn="l"/>
                <a:tab pos="1257300" algn="l"/>
              </a:tabLst>
            </a:pPr>
            <a:r>
              <a:rPr lang="en-US" altLang="en-US" sz="2800" dirty="0"/>
              <a:t>	</a:t>
            </a:r>
            <a:r>
              <a:rPr lang="en-US" altLang="en-US" sz="2000" dirty="0">
                <a:latin typeface="Times New Roman" pitchFamily="18" charset="0"/>
              </a:rPr>
              <a:t>To find which (if any) element of the sorted (sub)array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equals </a:t>
            </a:r>
            <a:r>
              <a:rPr lang="en-US" altLang="en-US" sz="2000" i="1" dirty="0">
                <a:latin typeface="Times New Roman" pitchFamily="18" charset="0"/>
              </a:rPr>
              <a:t>target</a:t>
            </a:r>
            <a:r>
              <a:rPr lang="en-US" altLang="en-US" sz="2000" dirty="0">
                <a:latin typeface="Times New Roman" pitchFamily="18" charset="0"/>
              </a:rPr>
              <a:t>:</a:t>
            </a:r>
          </a:p>
          <a:p>
            <a:pPr eaLnBrk="1" hangingPunct="1">
              <a:spcBef>
                <a:spcPts val="900"/>
              </a:spcBef>
              <a:buFont typeface="Wingdings" pitchFamily="2" charset="2"/>
              <a:buNone/>
              <a:tabLst>
                <a:tab pos="723900" algn="l"/>
                <a:tab pos="1257300" algn="l"/>
              </a:tabLst>
            </a:pPr>
            <a:r>
              <a:rPr lang="en-US" altLang="en-US" sz="2000" dirty="0">
                <a:latin typeface="Times New Roman" pitchFamily="18" charset="0"/>
              </a:rPr>
              <a:t>	1.	Set </a:t>
            </a:r>
            <a:r>
              <a:rPr lang="en-US" altLang="en-US" sz="2000" i="1" dirty="0">
                <a:latin typeface="Times New Roman" pitchFamily="18" charset="0"/>
              </a:rPr>
              <a:t>l</a:t>
            </a:r>
            <a:r>
              <a:rPr lang="en-US" altLang="en-US" sz="2000" dirty="0">
                <a:latin typeface="Times New Roman" pitchFamily="18" charset="0"/>
              </a:rPr>
              <a:t> = </a:t>
            </a:r>
            <a:r>
              <a:rPr lang="en-US" altLang="en-US" sz="2000" i="1" dirty="0">
                <a:latin typeface="Times New Roman" pitchFamily="18" charset="0"/>
              </a:rPr>
              <a:t>left</a:t>
            </a:r>
            <a:r>
              <a:rPr lang="en-US" altLang="en-US" sz="2000" dirty="0">
                <a:latin typeface="Times New Roman" pitchFamily="18" charset="0"/>
              </a:rPr>
              <a:t>, and set </a:t>
            </a:r>
            <a:r>
              <a:rPr lang="en-US" altLang="en-US" sz="2000" i="1" dirty="0">
                <a:latin typeface="Times New Roman" pitchFamily="18" charset="0"/>
              </a:rPr>
              <a:t>r</a:t>
            </a:r>
            <a:r>
              <a:rPr lang="en-US" altLang="en-US" sz="2000" dirty="0">
                <a:latin typeface="Times New Roman" pitchFamily="18" charset="0"/>
              </a:rPr>
              <a:t> = </a:t>
            </a:r>
            <a:r>
              <a:rPr lang="en-US" altLang="en-US" sz="2000" i="1" dirty="0">
                <a:latin typeface="Times New Roman" pitchFamily="18" charset="0"/>
              </a:rPr>
              <a:t>right</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While </a:t>
            </a:r>
            <a:r>
              <a:rPr lang="en-US" altLang="en-US" sz="2000" i="1" dirty="0">
                <a:latin typeface="Times New Roman" pitchFamily="18" charset="0"/>
              </a:rPr>
              <a:t>l</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a:t>
            </a:r>
            <a:r>
              <a:rPr lang="en-US" altLang="en-US" sz="2000" dirty="0">
                <a:latin typeface="Times New Roman" pitchFamily="18" charset="0"/>
              </a:rPr>
              <a:t>, repeat:</a:t>
            </a:r>
            <a:br>
              <a:rPr lang="en-US" altLang="en-US" sz="2000" dirty="0">
                <a:latin typeface="Times New Roman" pitchFamily="18" charset="0"/>
              </a:rPr>
            </a:br>
            <a:r>
              <a:rPr lang="en-US" altLang="en-US" sz="2000" dirty="0">
                <a:latin typeface="Times New Roman" pitchFamily="18" charset="0"/>
              </a:rPr>
              <a:t>	2.1.	Let </a:t>
            </a:r>
            <a:r>
              <a:rPr lang="en-US" altLang="en-US" sz="2000" i="1" dirty="0">
                <a:latin typeface="Times New Roman" pitchFamily="18" charset="0"/>
              </a:rPr>
              <a:t>m</a:t>
            </a:r>
            <a:r>
              <a:rPr lang="en-US" altLang="en-US" sz="2000" dirty="0">
                <a:latin typeface="Times New Roman" pitchFamily="18" charset="0"/>
              </a:rPr>
              <a:t> be an integer about midway between </a:t>
            </a:r>
            <a:r>
              <a:rPr lang="en-US" altLang="en-US" sz="2000" i="1" dirty="0">
                <a:latin typeface="Times New Roman" pitchFamily="18" charset="0"/>
              </a:rPr>
              <a:t>l</a:t>
            </a:r>
            <a:r>
              <a:rPr lang="en-US" altLang="en-US" sz="2000" dirty="0">
                <a:latin typeface="Times New Roman" pitchFamily="18" charset="0"/>
              </a:rPr>
              <a:t> and </a:t>
            </a:r>
            <a:r>
              <a:rPr lang="en-US" altLang="en-US" sz="2000" i="1" dirty="0">
                <a:latin typeface="Times New Roman" pitchFamily="18" charset="0"/>
              </a:rPr>
              <a:t>r</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2.2.	If </a:t>
            </a:r>
            <a:r>
              <a:rPr lang="en-US" altLang="en-US" sz="2000" i="1" dirty="0">
                <a:latin typeface="Times New Roman" pitchFamily="18" charset="0"/>
              </a:rPr>
              <a:t>target</a:t>
            </a:r>
            <a:r>
              <a:rPr lang="en-US" altLang="en-US" sz="2000" dirty="0">
                <a:latin typeface="Times New Roman" pitchFamily="18" charset="0"/>
              </a:rPr>
              <a:t> equals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m</a:t>
            </a:r>
            <a:r>
              <a:rPr lang="en-US" altLang="en-US" sz="2000" dirty="0">
                <a:latin typeface="Times New Roman" pitchFamily="18" charset="0"/>
              </a:rPr>
              <a:t>], terminate yielding </a:t>
            </a:r>
            <a:r>
              <a:rPr lang="en-US" altLang="en-US" sz="2000" i="1" dirty="0">
                <a:latin typeface="Times New Roman" pitchFamily="18" charset="0"/>
              </a:rPr>
              <a:t>m</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2.3.	Else, if </a:t>
            </a:r>
            <a:r>
              <a:rPr lang="en-US" altLang="en-US" sz="2000" i="1" dirty="0">
                <a:latin typeface="Times New Roman" pitchFamily="18" charset="0"/>
              </a:rPr>
              <a:t>target</a:t>
            </a:r>
            <a:r>
              <a:rPr lang="en-US" altLang="en-US" sz="2000" dirty="0">
                <a:latin typeface="Times New Roman" pitchFamily="18" charset="0"/>
              </a:rPr>
              <a:t> is less than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m</a:t>
            </a:r>
            <a:r>
              <a:rPr lang="en-US" altLang="en-US" sz="2000" dirty="0">
                <a:latin typeface="Times New Roman" pitchFamily="18" charset="0"/>
              </a:rPr>
              <a:t>], set </a:t>
            </a:r>
            <a:r>
              <a:rPr lang="en-US" altLang="en-US" sz="2000" i="1" dirty="0">
                <a:latin typeface="Times New Roman" pitchFamily="18" charset="0"/>
              </a:rPr>
              <a:t>r</a:t>
            </a:r>
            <a:r>
              <a:rPr lang="en-US" altLang="en-US" sz="2000" dirty="0">
                <a:latin typeface="Times New Roman" pitchFamily="18" charset="0"/>
              </a:rPr>
              <a:t> = </a:t>
            </a:r>
            <a:r>
              <a:rPr lang="en-US" altLang="en-US" sz="2000" i="1" dirty="0">
                <a:latin typeface="Times New Roman" pitchFamily="18" charset="0"/>
              </a:rPr>
              <a:t>m</a:t>
            </a:r>
            <a:r>
              <a:rPr lang="en-US" altLang="en-US" sz="2000" dirty="0">
                <a:latin typeface="Times New Roman" pitchFamily="18" charset="0"/>
              </a:rPr>
              <a:t>–1.</a:t>
            </a:r>
            <a:br>
              <a:rPr lang="en-US" altLang="en-US" sz="2000" dirty="0">
                <a:latin typeface="Times New Roman" pitchFamily="18" charset="0"/>
              </a:rPr>
            </a:br>
            <a:r>
              <a:rPr lang="en-US" altLang="en-US" sz="2000" dirty="0">
                <a:latin typeface="Times New Roman" pitchFamily="18" charset="0"/>
              </a:rPr>
              <a:t>	2.4.	Else, if </a:t>
            </a:r>
            <a:r>
              <a:rPr lang="en-US" altLang="en-US" sz="2000" i="1" dirty="0">
                <a:latin typeface="Times New Roman" pitchFamily="18" charset="0"/>
              </a:rPr>
              <a:t>target</a:t>
            </a:r>
            <a:r>
              <a:rPr lang="en-US" altLang="en-US" sz="2000" dirty="0">
                <a:latin typeface="Times New Roman" pitchFamily="18" charset="0"/>
              </a:rPr>
              <a:t> is greater than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m</a:t>
            </a:r>
            <a:r>
              <a:rPr lang="en-US" altLang="en-US" sz="2000" dirty="0">
                <a:latin typeface="Times New Roman" pitchFamily="18" charset="0"/>
              </a:rPr>
              <a:t>], set </a:t>
            </a:r>
            <a:r>
              <a:rPr lang="en-US" altLang="en-US" sz="2000" i="1" dirty="0">
                <a:latin typeface="Times New Roman" pitchFamily="18" charset="0"/>
              </a:rPr>
              <a:t>l</a:t>
            </a:r>
            <a:r>
              <a:rPr lang="en-US" altLang="en-US" sz="2000" dirty="0">
                <a:latin typeface="Times New Roman" pitchFamily="18" charset="0"/>
              </a:rPr>
              <a:t> = </a:t>
            </a:r>
            <a:r>
              <a:rPr lang="en-US" altLang="en-US" sz="2000" i="1" dirty="0">
                <a:latin typeface="Times New Roman" pitchFamily="18" charset="0"/>
              </a:rPr>
              <a:t>m</a:t>
            </a:r>
            <a:r>
              <a:rPr lang="en-US" altLang="en-US" sz="2000" dirty="0">
                <a:latin typeface="Times New Roman" pitchFamily="18" charset="0"/>
              </a:rPr>
              <a:t>+1.</a:t>
            </a:r>
            <a:br>
              <a:rPr lang="en-US" altLang="en-US" sz="2000" dirty="0">
                <a:latin typeface="Times New Roman" pitchFamily="18" charset="0"/>
              </a:rPr>
            </a:br>
            <a:r>
              <a:rPr lang="en-US" altLang="en-US" sz="2000" dirty="0">
                <a:latin typeface="Times New Roman" pitchFamily="18" charset="0"/>
              </a:rPr>
              <a:t>3.	Terminate yielding </a:t>
            </a:r>
            <a:r>
              <a:rPr lang="en-US" altLang="en-US" sz="2000" i="1" dirty="0">
                <a:latin typeface="Times New Roman" pitchFamily="18" charset="0"/>
              </a:rPr>
              <a:t>none</a:t>
            </a:r>
            <a:r>
              <a:rPr lang="en-US" altLang="en-US" sz="2000" dirty="0">
                <a:latin typeface="Times New Roman" pitchFamily="18"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768180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(3)</a:t>
            </a:r>
            <a:endParaRPr lang="en-GB" altLang="en-US" sz="3200" i="1" dirty="0"/>
          </a:p>
        </p:txBody>
      </p:sp>
      <p:sp>
        <p:nvSpPr>
          <p:cNvPr id="22531" name="Rectangle 3"/>
          <p:cNvSpPr>
            <a:spLocks noGrp="1" noChangeArrowheads="1"/>
          </p:cNvSpPr>
          <p:nvPr>
            <p:ph idx="1"/>
          </p:nvPr>
        </p:nvSpPr>
        <p:spPr>
          <a:noFill/>
        </p:spPr>
        <p:txBody>
          <a:bodyPr/>
          <a:lstStyle/>
          <a:p>
            <a:pPr eaLnBrk="1" hangingPunct="1"/>
            <a:r>
              <a:rPr lang="en-US" altLang="en-US"/>
              <a:t>Loop invariant:</a:t>
            </a:r>
          </a:p>
        </p:txBody>
      </p:sp>
      <p:grpSp>
        <p:nvGrpSpPr>
          <p:cNvPr id="2" name="Group 38"/>
          <p:cNvGrpSpPr>
            <a:grpSpLocks/>
          </p:cNvGrpSpPr>
          <p:nvPr/>
        </p:nvGrpSpPr>
        <p:grpSpPr bwMode="auto">
          <a:xfrm>
            <a:off x="555152" y="2481263"/>
            <a:ext cx="6572250" cy="1393825"/>
            <a:chOff x="1202" y="1434"/>
            <a:chExt cx="4140" cy="878"/>
          </a:xfrm>
        </p:grpSpPr>
        <p:sp>
          <p:nvSpPr>
            <p:cNvPr id="22533" name="Freeform 6"/>
            <p:cNvSpPr>
              <a:spLocks/>
            </p:cNvSpPr>
            <p:nvPr/>
          </p:nvSpPr>
          <p:spPr bwMode="auto">
            <a:xfrm>
              <a:off x="1406" y="1911"/>
              <a:ext cx="1302" cy="91"/>
            </a:xfrm>
            <a:custGeom>
              <a:avLst/>
              <a:gdLst>
                <a:gd name="T0" fmla="*/ 0 w 2099"/>
                <a:gd name="T1" fmla="*/ 0 h 137"/>
                <a:gd name="T2" fmla="*/ 1 w 2099"/>
                <a:gd name="T3" fmla="*/ 3 h 137"/>
                <a:gd name="T4" fmla="*/ 2 w 2099"/>
                <a:gd name="T5" fmla="*/ 5 h 137"/>
                <a:gd name="T6" fmla="*/ 4 w 2099"/>
                <a:gd name="T7" fmla="*/ 7 h 137"/>
                <a:gd name="T8" fmla="*/ 7 w 2099"/>
                <a:gd name="T9" fmla="*/ 10 h 137"/>
                <a:gd name="T10" fmla="*/ 12 w 2099"/>
                <a:gd name="T11" fmla="*/ 11 h 137"/>
                <a:gd name="T12" fmla="*/ 16 w 2099"/>
                <a:gd name="T13" fmla="*/ 13 h 137"/>
                <a:gd name="T14" fmla="*/ 20 w 2099"/>
                <a:gd name="T15" fmla="*/ 13 h 137"/>
                <a:gd name="T16" fmla="*/ 26 w 2099"/>
                <a:gd name="T17" fmla="*/ 14 h 137"/>
                <a:gd name="T18" fmla="*/ 130 w 2099"/>
                <a:gd name="T19" fmla="*/ 14 h 137"/>
                <a:gd name="T20" fmla="*/ 135 w 2099"/>
                <a:gd name="T21" fmla="*/ 14 h 137"/>
                <a:gd name="T22" fmla="*/ 140 w 2099"/>
                <a:gd name="T23" fmla="*/ 15 h 137"/>
                <a:gd name="T24" fmla="*/ 145 w 2099"/>
                <a:gd name="T25" fmla="*/ 16 h 137"/>
                <a:gd name="T26" fmla="*/ 148 w 2099"/>
                <a:gd name="T27" fmla="*/ 17 h 137"/>
                <a:gd name="T28" fmla="*/ 151 w 2099"/>
                <a:gd name="T29" fmla="*/ 19 h 137"/>
                <a:gd name="T30" fmla="*/ 153 w 2099"/>
                <a:gd name="T31" fmla="*/ 22 h 137"/>
                <a:gd name="T32" fmla="*/ 155 w 2099"/>
                <a:gd name="T33" fmla="*/ 24 h 137"/>
                <a:gd name="T34" fmla="*/ 156 w 2099"/>
                <a:gd name="T35" fmla="*/ 27 h 137"/>
                <a:gd name="T36" fmla="*/ 156 w 2099"/>
                <a:gd name="T37" fmla="*/ 24 h 137"/>
                <a:gd name="T38" fmla="*/ 158 w 2099"/>
                <a:gd name="T39" fmla="*/ 22 h 137"/>
                <a:gd name="T40" fmla="*/ 160 w 2099"/>
                <a:gd name="T41" fmla="*/ 19 h 137"/>
                <a:gd name="T42" fmla="*/ 163 w 2099"/>
                <a:gd name="T43" fmla="*/ 17 h 137"/>
                <a:gd name="T44" fmla="*/ 167 w 2099"/>
                <a:gd name="T45" fmla="*/ 16 h 137"/>
                <a:gd name="T46" fmla="*/ 171 w 2099"/>
                <a:gd name="T47" fmla="*/ 15 h 137"/>
                <a:gd name="T48" fmla="*/ 176 w 2099"/>
                <a:gd name="T49" fmla="*/ 14 h 137"/>
                <a:gd name="T50" fmla="*/ 181 w 2099"/>
                <a:gd name="T51" fmla="*/ 14 h 137"/>
                <a:gd name="T52" fmla="*/ 285 w 2099"/>
                <a:gd name="T53" fmla="*/ 14 h 137"/>
                <a:gd name="T54" fmla="*/ 290 w 2099"/>
                <a:gd name="T55" fmla="*/ 13 h 137"/>
                <a:gd name="T56" fmla="*/ 295 w 2099"/>
                <a:gd name="T57" fmla="*/ 13 h 137"/>
                <a:gd name="T58" fmla="*/ 300 w 2099"/>
                <a:gd name="T59" fmla="*/ 11 h 137"/>
                <a:gd name="T60" fmla="*/ 303 w 2099"/>
                <a:gd name="T61" fmla="*/ 10 h 137"/>
                <a:gd name="T62" fmla="*/ 306 w 2099"/>
                <a:gd name="T63" fmla="*/ 7 h 137"/>
                <a:gd name="T64" fmla="*/ 309 w 2099"/>
                <a:gd name="T65" fmla="*/ 5 h 137"/>
                <a:gd name="T66" fmla="*/ 310 w 2099"/>
                <a:gd name="T67" fmla="*/ 3 h 137"/>
                <a:gd name="T68" fmla="*/ 311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534" name="Rectangle 7"/>
            <p:cNvSpPr>
              <a:spLocks noChangeArrowheads="1"/>
            </p:cNvSpPr>
            <p:nvPr/>
          </p:nvSpPr>
          <p:spPr bwMode="auto">
            <a:xfrm>
              <a:off x="1427" y="2024"/>
              <a:ext cx="1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known to be</a:t>
              </a:r>
              <a:br>
                <a:rPr lang="en-US" altLang="en-US" sz="1800" dirty="0">
                  <a:solidFill>
                    <a:schemeClr val="accent1">
                      <a:lumMod val="50000"/>
                    </a:schemeClr>
                  </a:solidFill>
                </a:rPr>
              </a:br>
              <a:r>
                <a:rPr lang="en-US" altLang="en-US" sz="1800" dirty="0">
                  <a:solidFill>
                    <a:schemeClr val="accent1">
                      <a:lumMod val="50000"/>
                    </a:schemeClr>
                  </a:solidFill>
                </a:rPr>
                <a:t>less than </a:t>
              </a:r>
              <a:r>
                <a:rPr lang="en-US" altLang="en-US" sz="1800" i="1" dirty="0">
                  <a:solidFill>
                    <a:schemeClr val="accent1">
                      <a:lumMod val="50000"/>
                    </a:schemeClr>
                  </a:solidFill>
                </a:rPr>
                <a:t>target</a:t>
              </a:r>
              <a:r>
                <a:rPr lang="en-US" altLang="en-US" sz="1800" dirty="0">
                  <a:solidFill>
                    <a:schemeClr val="accent1">
                      <a:lumMod val="50000"/>
                    </a:schemeClr>
                  </a:solidFill>
                </a:rPr>
                <a:t> </a:t>
              </a:r>
            </a:p>
          </p:txBody>
        </p:sp>
        <p:sp>
          <p:nvSpPr>
            <p:cNvPr id="22535" name="Freeform 9"/>
            <p:cNvSpPr>
              <a:spLocks/>
            </p:cNvSpPr>
            <p:nvPr/>
          </p:nvSpPr>
          <p:spPr bwMode="auto">
            <a:xfrm>
              <a:off x="2749" y="1911"/>
              <a:ext cx="1256" cy="91"/>
            </a:xfrm>
            <a:custGeom>
              <a:avLst/>
              <a:gdLst>
                <a:gd name="T0" fmla="*/ 0 w 1644"/>
                <a:gd name="T1" fmla="*/ 0 h 137"/>
                <a:gd name="T2" fmla="*/ 2 w 1644"/>
                <a:gd name="T3" fmla="*/ 3 h 137"/>
                <a:gd name="T4" fmla="*/ 4 w 1644"/>
                <a:gd name="T5" fmla="*/ 5 h 137"/>
                <a:gd name="T6" fmla="*/ 8 w 1644"/>
                <a:gd name="T7" fmla="*/ 7 h 137"/>
                <a:gd name="T8" fmla="*/ 14 w 1644"/>
                <a:gd name="T9" fmla="*/ 10 h 137"/>
                <a:gd name="T10" fmla="*/ 21 w 1644"/>
                <a:gd name="T11" fmla="*/ 11 h 137"/>
                <a:gd name="T12" fmla="*/ 28 w 1644"/>
                <a:gd name="T13" fmla="*/ 13 h 137"/>
                <a:gd name="T14" fmla="*/ 37 w 1644"/>
                <a:gd name="T15" fmla="*/ 13 h 137"/>
                <a:gd name="T16" fmla="*/ 47 w 1644"/>
                <a:gd name="T17" fmla="*/ 14 h 137"/>
                <a:gd name="T18" fmla="*/ 234 w 1644"/>
                <a:gd name="T19" fmla="*/ 14 h 137"/>
                <a:gd name="T20" fmla="*/ 243 w 1644"/>
                <a:gd name="T21" fmla="*/ 14 h 137"/>
                <a:gd name="T22" fmla="*/ 252 w 1644"/>
                <a:gd name="T23" fmla="*/ 15 h 137"/>
                <a:gd name="T24" fmla="*/ 260 w 1644"/>
                <a:gd name="T25" fmla="*/ 16 h 137"/>
                <a:gd name="T26" fmla="*/ 267 w 1644"/>
                <a:gd name="T27" fmla="*/ 17 h 137"/>
                <a:gd name="T28" fmla="*/ 273 w 1644"/>
                <a:gd name="T29" fmla="*/ 19 h 137"/>
                <a:gd name="T30" fmla="*/ 277 w 1644"/>
                <a:gd name="T31" fmla="*/ 22 h 137"/>
                <a:gd name="T32" fmla="*/ 280 w 1644"/>
                <a:gd name="T33" fmla="*/ 24 h 137"/>
                <a:gd name="T34" fmla="*/ 280 w 1644"/>
                <a:gd name="T35" fmla="*/ 27 h 137"/>
                <a:gd name="T36" fmla="*/ 280 w 1644"/>
                <a:gd name="T37" fmla="*/ 24 h 137"/>
                <a:gd name="T38" fmla="*/ 284 w 1644"/>
                <a:gd name="T39" fmla="*/ 22 h 137"/>
                <a:gd name="T40" fmla="*/ 288 w 1644"/>
                <a:gd name="T41" fmla="*/ 19 h 137"/>
                <a:gd name="T42" fmla="*/ 294 w 1644"/>
                <a:gd name="T43" fmla="*/ 17 h 137"/>
                <a:gd name="T44" fmla="*/ 301 w 1644"/>
                <a:gd name="T45" fmla="*/ 16 h 137"/>
                <a:gd name="T46" fmla="*/ 309 w 1644"/>
                <a:gd name="T47" fmla="*/ 15 h 137"/>
                <a:gd name="T48" fmla="*/ 318 w 1644"/>
                <a:gd name="T49" fmla="*/ 14 h 137"/>
                <a:gd name="T50" fmla="*/ 327 w 1644"/>
                <a:gd name="T51" fmla="*/ 14 h 137"/>
                <a:gd name="T52" fmla="*/ 513 w 1644"/>
                <a:gd name="T53" fmla="*/ 14 h 137"/>
                <a:gd name="T54" fmla="*/ 523 w 1644"/>
                <a:gd name="T55" fmla="*/ 13 h 137"/>
                <a:gd name="T56" fmla="*/ 532 w 1644"/>
                <a:gd name="T57" fmla="*/ 13 h 137"/>
                <a:gd name="T58" fmla="*/ 540 w 1644"/>
                <a:gd name="T59" fmla="*/ 11 h 137"/>
                <a:gd name="T60" fmla="*/ 546 w 1644"/>
                <a:gd name="T61" fmla="*/ 10 h 137"/>
                <a:gd name="T62" fmla="*/ 552 w 1644"/>
                <a:gd name="T63" fmla="*/ 7 h 137"/>
                <a:gd name="T64" fmla="*/ 556 w 1644"/>
                <a:gd name="T65" fmla="*/ 5 h 137"/>
                <a:gd name="T66" fmla="*/ 560 w 1644"/>
                <a:gd name="T67" fmla="*/ 3 h 137"/>
                <a:gd name="T68" fmla="*/ 560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536" name="Rectangle 10"/>
            <p:cNvSpPr>
              <a:spLocks noChangeArrowheads="1"/>
            </p:cNvSpPr>
            <p:nvPr/>
          </p:nvSpPr>
          <p:spPr bwMode="auto">
            <a:xfrm>
              <a:off x="2777" y="2024"/>
              <a:ext cx="12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still to be searched</a:t>
              </a:r>
            </a:p>
          </p:txBody>
        </p:sp>
        <p:sp>
          <p:nvSpPr>
            <p:cNvPr id="22537" name="Freeform 12"/>
            <p:cNvSpPr>
              <a:spLocks/>
            </p:cNvSpPr>
            <p:nvPr/>
          </p:nvSpPr>
          <p:spPr bwMode="auto">
            <a:xfrm>
              <a:off x="4045" y="1911"/>
              <a:ext cx="1256" cy="91"/>
            </a:xfrm>
            <a:custGeom>
              <a:avLst/>
              <a:gdLst>
                <a:gd name="T0" fmla="*/ 0 w 1644"/>
                <a:gd name="T1" fmla="*/ 0 h 137"/>
                <a:gd name="T2" fmla="*/ 2 w 1644"/>
                <a:gd name="T3" fmla="*/ 3 h 137"/>
                <a:gd name="T4" fmla="*/ 4 w 1644"/>
                <a:gd name="T5" fmla="*/ 5 h 137"/>
                <a:gd name="T6" fmla="*/ 8 w 1644"/>
                <a:gd name="T7" fmla="*/ 7 h 137"/>
                <a:gd name="T8" fmla="*/ 14 w 1644"/>
                <a:gd name="T9" fmla="*/ 10 h 137"/>
                <a:gd name="T10" fmla="*/ 21 w 1644"/>
                <a:gd name="T11" fmla="*/ 11 h 137"/>
                <a:gd name="T12" fmla="*/ 28 w 1644"/>
                <a:gd name="T13" fmla="*/ 13 h 137"/>
                <a:gd name="T14" fmla="*/ 37 w 1644"/>
                <a:gd name="T15" fmla="*/ 13 h 137"/>
                <a:gd name="T16" fmla="*/ 47 w 1644"/>
                <a:gd name="T17" fmla="*/ 14 h 137"/>
                <a:gd name="T18" fmla="*/ 234 w 1644"/>
                <a:gd name="T19" fmla="*/ 14 h 137"/>
                <a:gd name="T20" fmla="*/ 243 w 1644"/>
                <a:gd name="T21" fmla="*/ 14 h 137"/>
                <a:gd name="T22" fmla="*/ 252 w 1644"/>
                <a:gd name="T23" fmla="*/ 15 h 137"/>
                <a:gd name="T24" fmla="*/ 260 w 1644"/>
                <a:gd name="T25" fmla="*/ 16 h 137"/>
                <a:gd name="T26" fmla="*/ 267 w 1644"/>
                <a:gd name="T27" fmla="*/ 17 h 137"/>
                <a:gd name="T28" fmla="*/ 273 w 1644"/>
                <a:gd name="T29" fmla="*/ 19 h 137"/>
                <a:gd name="T30" fmla="*/ 277 w 1644"/>
                <a:gd name="T31" fmla="*/ 22 h 137"/>
                <a:gd name="T32" fmla="*/ 280 w 1644"/>
                <a:gd name="T33" fmla="*/ 24 h 137"/>
                <a:gd name="T34" fmla="*/ 280 w 1644"/>
                <a:gd name="T35" fmla="*/ 27 h 137"/>
                <a:gd name="T36" fmla="*/ 280 w 1644"/>
                <a:gd name="T37" fmla="*/ 24 h 137"/>
                <a:gd name="T38" fmla="*/ 284 w 1644"/>
                <a:gd name="T39" fmla="*/ 22 h 137"/>
                <a:gd name="T40" fmla="*/ 288 w 1644"/>
                <a:gd name="T41" fmla="*/ 19 h 137"/>
                <a:gd name="T42" fmla="*/ 294 w 1644"/>
                <a:gd name="T43" fmla="*/ 17 h 137"/>
                <a:gd name="T44" fmla="*/ 301 w 1644"/>
                <a:gd name="T45" fmla="*/ 16 h 137"/>
                <a:gd name="T46" fmla="*/ 309 w 1644"/>
                <a:gd name="T47" fmla="*/ 15 h 137"/>
                <a:gd name="T48" fmla="*/ 318 w 1644"/>
                <a:gd name="T49" fmla="*/ 14 h 137"/>
                <a:gd name="T50" fmla="*/ 327 w 1644"/>
                <a:gd name="T51" fmla="*/ 14 h 137"/>
                <a:gd name="T52" fmla="*/ 513 w 1644"/>
                <a:gd name="T53" fmla="*/ 14 h 137"/>
                <a:gd name="T54" fmla="*/ 523 w 1644"/>
                <a:gd name="T55" fmla="*/ 13 h 137"/>
                <a:gd name="T56" fmla="*/ 532 w 1644"/>
                <a:gd name="T57" fmla="*/ 13 h 137"/>
                <a:gd name="T58" fmla="*/ 540 w 1644"/>
                <a:gd name="T59" fmla="*/ 11 h 137"/>
                <a:gd name="T60" fmla="*/ 546 w 1644"/>
                <a:gd name="T61" fmla="*/ 10 h 137"/>
                <a:gd name="T62" fmla="*/ 552 w 1644"/>
                <a:gd name="T63" fmla="*/ 7 h 137"/>
                <a:gd name="T64" fmla="*/ 556 w 1644"/>
                <a:gd name="T65" fmla="*/ 5 h 137"/>
                <a:gd name="T66" fmla="*/ 560 w 1644"/>
                <a:gd name="T67" fmla="*/ 3 h 137"/>
                <a:gd name="T68" fmla="*/ 560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538" name="Rectangle 13"/>
            <p:cNvSpPr>
              <a:spLocks noChangeArrowheads="1"/>
            </p:cNvSpPr>
            <p:nvPr/>
          </p:nvSpPr>
          <p:spPr bwMode="auto">
            <a:xfrm>
              <a:off x="4073" y="2024"/>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known to be</a:t>
              </a:r>
              <a:br>
                <a:rPr lang="en-US" altLang="en-US" sz="1800">
                  <a:solidFill>
                    <a:schemeClr val="accent1">
                      <a:lumMod val="50000"/>
                    </a:schemeClr>
                  </a:solidFill>
                </a:rPr>
              </a:br>
              <a:r>
                <a:rPr lang="en-US" altLang="en-US" sz="1800">
                  <a:solidFill>
                    <a:schemeClr val="accent1">
                      <a:lumMod val="50000"/>
                    </a:schemeClr>
                  </a:solidFill>
                </a:rPr>
                <a:t>greater than </a:t>
              </a:r>
              <a:r>
                <a:rPr lang="en-US" altLang="en-US" sz="1800" i="1">
                  <a:solidFill>
                    <a:schemeClr val="accent1">
                      <a:lumMod val="50000"/>
                    </a:schemeClr>
                  </a:solidFill>
                </a:rPr>
                <a:t>target</a:t>
              </a:r>
              <a:r>
                <a:rPr lang="en-US" altLang="en-US" sz="1800">
                  <a:solidFill>
                    <a:schemeClr val="accent1">
                      <a:lumMod val="50000"/>
                    </a:schemeClr>
                  </a:solidFill>
                </a:rPr>
                <a:t> </a:t>
              </a:r>
            </a:p>
          </p:txBody>
        </p:sp>
        <p:sp>
          <p:nvSpPr>
            <p:cNvPr id="22539" name="Rectangle 15"/>
            <p:cNvSpPr>
              <a:spLocks noChangeArrowheads="1"/>
            </p:cNvSpPr>
            <p:nvPr/>
          </p:nvSpPr>
          <p:spPr bwMode="auto">
            <a:xfrm>
              <a:off x="2921" y="1434"/>
              <a:ext cx="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l</a:t>
              </a:r>
              <a:endParaRPr lang="en-US" altLang="en-US" sz="1800">
                <a:solidFill>
                  <a:srgbClr val="000000"/>
                </a:solidFill>
              </a:endParaRPr>
            </a:p>
          </p:txBody>
        </p:sp>
        <p:sp>
          <p:nvSpPr>
            <p:cNvPr id="22540" name="Rectangle 16"/>
            <p:cNvSpPr>
              <a:spLocks noChangeArrowheads="1"/>
            </p:cNvSpPr>
            <p:nvPr/>
          </p:nvSpPr>
          <p:spPr bwMode="auto">
            <a:xfrm>
              <a:off x="1535" y="1434"/>
              <a:ext cx="1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left</a:t>
              </a:r>
              <a:endParaRPr lang="en-US" altLang="en-US" sz="1800"/>
            </a:p>
          </p:txBody>
        </p:sp>
        <p:sp>
          <p:nvSpPr>
            <p:cNvPr id="22541" name="Rectangle 17"/>
            <p:cNvSpPr>
              <a:spLocks noChangeArrowheads="1"/>
            </p:cNvSpPr>
            <p:nvPr/>
          </p:nvSpPr>
          <p:spPr bwMode="auto">
            <a:xfrm>
              <a:off x="3785" y="1434"/>
              <a:ext cx="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r</a:t>
              </a:r>
              <a:endParaRPr lang="en-US" altLang="en-US" sz="1800"/>
            </a:p>
          </p:txBody>
        </p:sp>
        <p:sp>
          <p:nvSpPr>
            <p:cNvPr id="22542" name="Rectangle 18"/>
            <p:cNvSpPr>
              <a:spLocks noChangeArrowheads="1"/>
            </p:cNvSpPr>
            <p:nvPr/>
          </p:nvSpPr>
          <p:spPr bwMode="auto">
            <a:xfrm>
              <a:off x="2393" y="1434"/>
              <a:ext cx="1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l</a:t>
              </a:r>
              <a:r>
                <a:rPr lang="en-US" altLang="en-US" sz="1800">
                  <a:solidFill>
                    <a:srgbClr val="000000"/>
                  </a:solidFill>
                </a:rPr>
                <a:t>–1</a:t>
              </a:r>
            </a:p>
          </p:txBody>
        </p:sp>
        <p:sp>
          <p:nvSpPr>
            <p:cNvPr id="22543" name="Rectangle 19"/>
            <p:cNvSpPr>
              <a:spLocks noChangeArrowheads="1"/>
            </p:cNvSpPr>
            <p:nvPr/>
          </p:nvSpPr>
          <p:spPr bwMode="auto">
            <a:xfrm>
              <a:off x="1202" y="1647"/>
              <a:ext cx="1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1800" i="1">
                  <a:solidFill>
                    <a:srgbClr val="000000"/>
                  </a:solidFill>
                </a:rPr>
                <a:t>a</a:t>
              </a:r>
              <a:endParaRPr lang="en-US" altLang="en-US" sz="1800"/>
            </a:p>
          </p:txBody>
        </p:sp>
        <p:sp>
          <p:nvSpPr>
            <p:cNvPr id="22544" name="Rectangle 20"/>
            <p:cNvSpPr>
              <a:spLocks noChangeArrowheads="1"/>
            </p:cNvSpPr>
            <p:nvPr/>
          </p:nvSpPr>
          <p:spPr bwMode="auto">
            <a:xfrm>
              <a:off x="2297"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45" name="Rectangle 21"/>
            <p:cNvSpPr>
              <a:spLocks noChangeArrowheads="1"/>
            </p:cNvSpPr>
            <p:nvPr/>
          </p:nvSpPr>
          <p:spPr bwMode="auto">
            <a:xfrm>
              <a:off x="2729" y="1626"/>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46" name="Rectangle 22"/>
            <p:cNvSpPr>
              <a:spLocks noChangeArrowheads="1"/>
            </p:cNvSpPr>
            <p:nvPr/>
          </p:nvSpPr>
          <p:spPr bwMode="auto">
            <a:xfrm>
              <a:off x="3593" y="1626"/>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47" name="Rectangle 23"/>
            <p:cNvSpPr>
              <a:spLocks noChangeArrowheads="1"/>
            </p:cNvSpPr>
            <p:nvPr/>
          </p:nvSpPr>
          <p:spPr bwMode="auto">
            <a:xfrm>
              <a:off x="4985" y="143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right</a:t>
              </a:r>
              <a:endParaRPr lang="en-US" altLang="en-US" sz="1800"/>
            </a:p>
          </p:txBody>
        </p:sp>
        <p:sp>
          <p:nvSpPr>
            <p:cNvPr id="22548" name="Rectangle 24"/>
            <p:cNvSpPr>
              <a:spLocks noChangeArrowheads="1"/>
            </p:cNvSpPr>
            <p:nvPr/>
          </p:nvSpPr>
          <p:spPr bwMode="auto">
            <a:xfrm>
              <a:off x="4025"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49" name="Rectangle 25"/>
            <p:cNvSpPr>
              <a:spLocks noChangeArrowheads="1"/>
            </p:cNvSpPr>
            <p:nvPr/>
          </p:nvSpPr>
          <p:spPr bwMode="auto">
            <a:xfrm>
              <a:off x="4169" y="1434"/>
              <a:ext cx="2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r</a:t>
              </a:r>
              <a:r>
                <a:rPr lang="en-US" altLang="en-US" sz="1800">
                  <a:solidFill>
                    <a:srgbClr val="000000"/>
                  </a:solidFill>
                </a:rPr>
                <a:t>+1</a:t>
              </a:r>
            </a:p>
          </p:txBody>
        </p:sp>
        <p:sp>
          <p:nvSpPr>
            <p:cNvPr id="22550" name="Rectangle 26"/>
            <p:cNvSpPr>
              <a:spLocks noChangeArrowheads="1"/>
            </p:cNvSpPr>
            <p:nvPr/>
          </p:nvSpPr>
          <p:spPr bwMode="auto">
            <a:xfrm>
              <a:off x="4889"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51" name="Rectangle 27"/>
            <p:cNvSpPr>
              <a:spLocks noChangeArrowheads="1"/>
            </p:cNvSpPr>
            <p:nvPr/>
          </p:nvSpPr>
          <p:spPr bwMode="auto">
            <a:xfrm>
              <a:off x="1391"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52" name="Rectangle 28"/>
            <p:cNvSpPr>
              <a:spLocks noChangeArrowheads="1"/>
            </p:cNvSpPr>
            <p:nvPr/>
          </p:nvSpPr>
          <p:spPr bwMode="auto">
            <a:xfrm>
              <a:off x="1844"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53" name="Rectangle 29"/>
            <p:cNvSpPr>
              <a:spLocks noChangeArrowheads="1"/>
            </p:cNvSpPr>
            <p:nvPr/>
          </p:nvSpPr>
          <p:spPr bwMode="auto">
            <a:xfrm>
              <a:off x="3161" y="1626"/>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54" name="Rectangle 30"/>
            <p:cNvSpPr>
              <a:spLocks noChangeArrowheads="1"/>
            </p:cNvSpPr>
            <p:nvPr/>
          </p:nvSpPr>
          <p:spPr bwMode="auto">
            <a:xfrm>
              <a:off x="4457" y="1626"/>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2555" name="Freeform 31"/>
            <p:cNvSpPr>
              <a:spLocks/>
            </p:cNvSpPr>
            <p:nvPr/>
          </p:nvSpPr>
          <p:spPr bwMode="auto">
            <a:xfrm>
              <a:off x="1961" y="1578"/>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22556" name="Freeform 32"/>
            <p:cNvSpPr>
              <a:spLocks/>
            </p:cNvSpPr>
            <p:nvPr/>
          </p:nvSpPr>
          <p:spPr bwMode="auto">
            <a:xfrm>
              <a:off x="3305" y="1578"/>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22557" name="Freeform 33"/>
            <p:cNvSpPr>
              <a:spLocks/>
            </p:cNvSpPr>
            <p:nvPr/>
          </p:nvSpPr>
          <p:spPr bwMode="auto">
            <a:xfrm>
              <a:off x="4601" y="1578"/>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gr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4053145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(4)</a:t>
            </a:r>
            <a:endParaRPr lang="en-GB" altLang="en-US" sz="3200" i="1" dirty="0"/>
          </a:p>
        </p:txBody>
      </p:sp>
      <p:sp>
        <p:nvSpPr>
          <p:cNvPr id="23555" name="Rectangle 3"/>
          <p:cNvSpPr>
            <a:spLocks noGrp="1" noChangeArrowheads="1"/>
          </p:cNvSpPr>
          <p:nvPr>
            <p:ph idx="1"/>
          </p:nvPr>
        </p:nvSpPr>
        <p:spPr>
          <a:xfrm>
            <a:off x="370682" y="1295400"/>
            <a:ext cx="7620000" cy="4800600"/>
          </a:xfrm>
          <a:noFill/>
        </p:spPr>
        <p:txBody>
          <a:bodyPr/>
          <a:lstStyle/>
          <a:p>
            <a:pPr eaLnBrk="1" hangingPunct="1"/>
            <a:r>
              <a:rPr lang="en-US" altLang="en-US" dirty="0"/>
              <a:t>Animation (successful search):</a:t>
            </a:r>
          </a:p>
        </p:txBody>
      </p:sp>
      <p:grpSp>
        <p:nvGrpSpPr>
          <p:cNvPr id="2" name="Group 335"/>
          <p:cNvGrpSpPr>
            <a:grpSpLocks/>
          </p:cNvGrpSpPr>
          <p:nvPr/>
        </p:nvGrpSpPr>
        <p:grpSpPr bwMode="auto">
          <a:xfrm>
            <a:off x="768350" y="2036763"/>
            <a:ext cx="7086600" cy="4419600"/>
            <a:chOff x="1202" y="368"/>
            <a:chExt cx="4464" cy="2784"/>
          </a:xfrm>
        </p:grpSpPr>
        <p:sp>
          <p:nvSpPr>
            <p:cNvPr id="23853" name="Rectangle 6"/>
            <p:cNvSpPr>
              <a:spLocks noChangeArrowheads="1"/>
            </p:cNvSpPr>
            <p:nvPr/>
          </p:nvSpPr>
          <p:spPr bwMode="auto">
            <a:xfrm>
              <a:off x="1202" y="368"/>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854" name="Text Box 7"/>
            <p:cNvSpPr txBox="1">
              <a:spLocks noChangeArrowheads="1"/>
            </p:cNvSpPr>
            <p:nvPr/>
          </p:nvSpPr>
          <p:spPr bwMode="auto">
            <a:xfrm>
              <a:off x="1250" y="406"/>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855" name="Text Box 8"/>
            <p:cNvSpPr txBox="1">
              <a:spLocks noChangeArrowheads="1"/>
            </p:cNvSpPr>
            <p:nvPr/>
          </p:nvSpPr>
          <p:spPr bwMode="auto">
            <a:xfrm>
              <a:off x="1490"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856" name="Text Box 9"/>
            <p:cNvSpPr txBox="1">
              <a:spLocks noChangeArrowheads="1"/>
            </p:cNvSpPr>
            <p:nvPr/>
          </p:nvSpPr>
          <p:spPr bwMode="auto">
            <a:xfrm>
              <a:off x="1250" y="224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857" name="Text Box 10"/>
            <p:cNvSpPr txBox="1">
              <a:spLocks noChangeArrowheads="1"/>
            </p:cNvSpPr>
            <p:nvPr/>
          </p:nvSpPr>
          <p:spPr bwMode="auto">
            <a:xfrm>
              <a:off x="2070"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858" name="Text Box 11"/>
            <p:cNvSpPr txBox="1">
              <a:spLocks noChangeArrowheads="1"/>
            </p:cNvSpPr>
            <p:nvPr/>
          </p:nvSpPr>
          <p:spPr bwMode="auto">
            <a:xfrm>
              <a:off x="2498"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859" name="Text Box 12"/>
            <p:cNvSpPr txBox="1">
              <a:spLocks noChangeArrowheads="1"/>
            </p:cNvSpPr>
            <p:nvPr/>
          </p:nvSpPr>
          <p:spPr bwMode="auto">
            <a:xfrm>
              <a:off x="2930"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860" name="Text Box 13"/>
            <p:cNvSpPr txBox="1">
              <a:spLocks noChangeArrowheads="1"/>
            </p:cNvSpPr>
            <p:nvPr/>
          </p:nvSpPr>
          <p:spPr bwMode="auto">
            <a:xfrm>
              <a:off x="3362"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861" name="Text Box 14"/>
            <p:cNvSpPr txBox="1">
              <a:spLocks noChangeArrowheads="1"/>
            </p:cNvSpPr>
            <p:nvPr/>
          </p:nvSpPr>
          <p:spPr bwMode="auto">
            <a:xfrm>
              <a:off x="3794"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862" name="Text Box 15"/>
            <p:cNvSpPr txBox="1">
              <a:spLocks noChangeArrowheads="1"/>
            </p:cNvSpPr>
            <p:nvPr/>
          </p:nvSpPr>
          <p:spPr bwMode="auto">
            <a:xfrm>
              <a:off x="4994" y="224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863" name="Text Box 16"/>
            <p:cNvSpPr txBox="1">
              <a:spLocks noChangeArrowheads="1"/>
            </p:cNvSpPr>
            <p:nvPr/>
          </p:nvSpPr>
          <p:spPr bwMode="auto">
            <a:xfrm>
              <a:off x="1949"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864" name="Text Box 17"/>
            <p:cNvSpPr txBox="1">
              <a:spLocks noChangeArrowheads="1"/>
            </p:cNvSpPr>
            <p:nvPr/>
          </p:nvSpPr>
          <p:spPr bwMode="auto">
            <a:xfrm>
              <a:off x="2381"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865" name="Text Box 18"/>
            <p:cNvSpPr txBox="1">
              <a:spLocks noChangeArrowheads="1"/>
            </p:cNvSpPr>
            <p:nvPr/>
          </p:nvSpPr>
          <p:spPr bwMode="auto">
            <a:xfrm>
              <a:off x="2813"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866" name="Text Box 19"/>
            <p:cNvSpPr txBox="1">
              <a:spLocks noChangeArrowheads="1"/>
            </p:cNvSpPr>
            <p:nvPr/>
          </p:nvSpPr>
          <p:spPr bwMode="auto">
            <a:xfrm>
              <a:off x="3245"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867" name="Text Box 20"/>
            <p:cNvSpPr txBox="1">
              <a:spLocks noChangeArrowheads="1"/>
            </p:cNvSpPr>
            <p:nvPr/>
          </p:nvSpPr>
          <p:spPr bwMode="auto">
            <a:xfrm>
              <a:off x="3677"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68" name="Text Box 21"/>
            <p:cNvSpPr txBox="1">
              <a:spLocks noChangeArrowheads="1"/>
            </p:cNvSpPr>
            <p:nvPr/>
          </p:nvSpPr>
          <p:spPr bwMode="auto">
            <a:xfrm>
              <a:off x="4109"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869" name="Text Box 22"/>
            <p:cNvSpPr txBox="1">
              <a:spLocks noChangeArrowheads="1"/>
            </p:cNvSpPr>
            <p:nvPr/>
          </p:nvSpPr>
          <p:spPr bwMode="auto">
            <a:xfrm>
              <a:off x="1922" y="286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70" name="Text Box 23"/>
            <p:cNvSpPr txBox="1">
              <a:spLocks noChangeArrowheads="1"/>
            </p:cNvSpPr>
            <p:nvPr/>
          </p:nvSpPr>
          <p:spPr bwMode="auto">
            <a:xfrm>
              <a:off x="1298" y="243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871" name="Text Box 24"/>
            <p:cNvSpPr txBox="1">
              <a:spLocks noChangeArrowheads="1"/>
            </p:cNvSpPr>
            <p:nvPr/>
          </p:nvSpPr>
          <p:spPr bwMode="auto">
            <a:xfrm>
              <a:off x="1634" y="2864"/>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872" name="Text Box 25"/>
            <p:cNvSpPr txBox="1">
              <a:spLocks noChangeArrowheads="1"/>
            </p:cNvSpPr>
            <p:nvPr/>
          </p:nvSpPr>
          <p:spPr bwMode="auto">
            <a:xfrm>
              <a:off x="4541"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873" name="Text Box 26"/>
            <p:cNvSpPr txBox="1">
              <a:spLocks noChangeArrowheads="1"/>
            </p:cNvSpPr>
            <p:nvPr/>
          </p:nvSpPr>
          <p:spPr bwMode="auto">
            <a:xfrm>
              <a:off x="4973" y="243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874" name="Text Box 27"/>
            <p:cNvSpPr txBox="1">
              <a:spLocks noChangeArrowheads="1"/>
            </p:cNvSpPr>
            <p:nvPr/>
          </p:nvSpPr>
          <p:spPr bwMode="auto">
            <a:xfrm>
              <a:off x="4229"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875" name="Text Box 28"/>
            <p:cNvSpPr txBox="1">
              <a:spLocks noChangeArrowheads="1"/>
            </p:cNvSpPr>
            <p:nvPr/>
          </p:nvSpPr>
          <p:spPr bwMode="auto">
            <a:xfrm>
              <a:off x="4664" y="224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3" name="Group 334"/>
          <p:cNvGrpSpPr>
            <a:grpSpLocks/>
          </p:cNvGrpSpPr>
          <p:nvPr/>
        </p:nvGrpSpPr>
        <p:grpSpPr bwMode="auto">
          <a:xfrm>
            <a:off x="768350" y="2013858"/>
            <a:ext cx="7086600" cy="4419600"/>
            <a:chOff x="1202" y="459"/>
            <a:chExt cx="4464" cy="2784"/>
          </a:xfrm>
        </p:grpSpPr>
        <p:sp>
          <p:nvSpPr>
            <p:cNvPr id="23826" name="Rectangle 30"/>
            <p:cNvSpPr>
              <a:spLocks noChangeArrowheads="1"/>
            </p:cNvSpPr>
            <p:nvPr/>
          </p:nvSpPr>
          <p:spPr bwMode="auto">
            <a:xfrm>
              <a:off x="1202" y="459"/>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827" name="Text Box 31"/>
            <p:cNvSpPr txBox="1">
              <a:spLocks noChangeArrowheads="1"/>
            </p:cNvSpPr>
            <p:nvPr/>
          </p:nvSpPr>
          <p:spPr bwMode="auto">
            <a:xfrm>
              <a:off x="1250" y="507"/>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and set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828" name="Text Box 32"/>
            <p:cNvSpPr txBox="1">
              <a:spLocks noChangeArrowheads="1"/>
            </p:cNvSpPr>
            <p:nvPr/>
          </p:nvSpPr>
          <p:spPr bwMode="auto">
            <a:xfrm>
              <a:off x="1490"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829" name="Text Box 33"/>
            <p:cNvSpPr txBox="1">
              <a:spLocks noChangeArrowheads="1"/>
            </p:cNvSpPr>
            <p:nvPr/>
          </p:nvSpPr>
          <p:spPr bwMode="auto">
            <a:xfrm>
              <a:off x="1250" y="23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830" name="Text Box 34"/>
            <p:cNvSpPr txBox="1">
              <a:spLocks noChangeArrowheads="1"/>
            </p:cNvSpPr>
            <p:nvPr/>
          </p:nvSpPr>
          <p:spPr bwMode="auto">
            <a:xfrm>
              <a:off x="2070"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831" name="Text Box 35"/>
            <p:cNvSpPr txBox="1">
              <a:spLocks noChangeArrowheads="1"/>
            </p:cNvSpPr>
            <p:nvPr/>
          </p:nvSpPr>
          <p:spPr bwMode="auto">
            <a:xfrm>
              <a:off x="2498"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832" name="Text Box 36"/>
            <p:cNvSpPr txBox="1">
              <a:spLocks noChangeArrowheads="1"/>
            </p:cNvSpPr>
            <p:nvPr/>
          </p:nvSpPr>
          <p:spPr bwMode="auto">
            <a:xfrm>
              <a:off x="2930"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833" name="Text Box 37"/>
            <p:cNvSpPr txBox="1">
              <a:spLocks noChangeArrowheads="1"/>
            </p:cNvSpPr>
            <p:nvPr/>
          </p:nvSpPr>
          <p:spPr bwMode="auto">
            <a:xfrm>
              <a:off x="3362"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834" name="Text Box 38"/>
            <p:cNvSpPr txBox="1">
              <a:spLocks noChangeArrowheads="1"/>
            </p:cNvSpPr>
            <p:nvPr/>
          </p:nvSpPr>
          <p:spPr bwMode="auto">
            <a:xfrm>
              <a:off x="3794"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835" name="Text Box 39"/>
            <p:cNvSpPr txBox="1">
              <a:spLocks noChangeArrowheads="1"/>
            </p:cNvSpPr>
            <p:nvPr/>
          </p:nvSpPr>
          <p:spPr bwMode="auto">
            <a:xfrm>
              <a:off x="4994" y="23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836" name="Text Box 40"/>
            <p:cNvSpPr txBox="1">
              <a:spLocks noChangeArrowheads="1"/>
            </p:cNvSpPr>
            <p:nvPr/>
          </p:nvSpPr>
          <p:spPr bwMode="auto">
            <a:xfrm>
              <a:off x="1949"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837" name="Text Box 41"/>
            <p:cNvSpPr txBox="1">
              <a:spLocks noChangeArrowheads="1"/>
            </p:cNvSpPr>
            <p:nvPr/>
          </p:nvSpPr>
          <p:spPr bwMode="auto">
            <a:xfrm>
              <a:off x="2381"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838" name="Text Box 42"/>
            <p:cNvSpPr txBox="1">
              <a:spLocks noChangeArrowheads="1"/>
            </p:cNvSpPr>
            <p:nvPr/>
          </p:nvSpPr>
          <p:spPr bwMode="auto">
            <a:xfrm>
              <a:off x="2813"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839" name="Text Box 43"/>
            <p:cNvSpPr txBox="1">
              <a:spLocks noChangeArrowheads="1"/>
            </p:cNvSpPr>
            <p:nvPr/>
          </p:nvSpPr>
          <p:spPr bwMode="auto">
            <a:xfrm>
              <a:off x="3245"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840" name="Text Box 44"/>
            <p:cNvSpPr txBox="1">
              <a:spLocks noChangeArrowheads="1"/>
            </p:cNvSpPr>
            <p:nvPr/>
          </p:nvSpPr>
          <p:spPr bwMode="auto">
            <a:xfrm>
              <a:off x="3677"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41" name="Text Box 45"/>
            <p:cNvSpPr txBox="1">
              <a:spLocks noChangeArrowheads="1"/>
            </p:cNvSpPr>
            <p:nvPr/>
          </p:nvSpPr>
          <p:spPr bwMode="auto">
            <a:xfrm>
              <a:off x="4109"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842" name="Text Box 46"/>
            <p:cNvSpPr txBox="1">
              <a:spLocks noChangeArrowheads="1"/>
            </p:cNvSpPr>
            <p:nvPr/>
          </p:nvSpPr>
          <p:spPr bwMode="auto">
            <a:xfrm>
              <a:off x="1922"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43" name="Text Box 47"/>
            <p:cNvSpPr txBox="1">
              <a:spLocks noChangeArrowheads="1"/>
            </p:cNvSpPr>
            <p:nvPr/>
          </p:nvSpPr>
          <p:spPr bwMode="auto">
            <a:xfrm>
              <a:off x="1298" y="25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844" name="Text Box 48"/>
            <p:cNvSpPr txBox="1">
              <a:spLocks noChangeArrowheads="1"/>
            </p:cNvSpPr>
            <p:nvPr/>
          </p:nvSpPr>
          <p:spPr bwMode="auto">
            <a:xfrm>
              <a:off x="1634" y="29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845" name="Text Box 49"/>
            <p:cNvSpPr txBox="1">
              <a:spLocks noChangeArrowheads="1"/>
            </p:cNvSpPr>
            <p:nvPr/>
          </p:nvSpPr>
          <p:spPr bwMode="auto">
            <a:xfrm>
              <a:off x="4541"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846" name="Text Box 50"/>
            <p:cNvSpPr txBox="1">
              <a:spLocks noChangeArrowheads="1"/>
            </p:cNvSpPr>
            <p:nvPr/>
          </p:nvSpPr>
          <p:spPr bwMode="auto">
            <a:xfrm>
              <a:off x="4973"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847" name="Text Box 51"/>
            <p:cNvSpPr txBox="1">
              <a:spLocks noChangeArrowheads="1"/>
            </p:cNvSpPr>
            <p:nvPr/>
          </p:nvSpPr>
          <p:spPr bwMode="auto">
            <a:xfrm>
              <a:off x="4229"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848" name="Text Box 52"/>
            <p:cNvSpPr txBox="1">
              <a:spLocks noChangeArrowheads="1"/>
            </p:cNvSpPr>
            <p:nvPr/>
          </p:nvSpPr>
          <p:spPr bwMode="auto">
            <a:xfrm>
              <a:off x="4664"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849" name="Text Box 53"/>
            <p:cNvSpPr txBox="1">
              <a:spLocks noChangeArrowheads="1"/>
            </p:cNvSpPr>
            <p:nvPr/>
          </p:nvSpPr>
          <p:spPr bwMode="auto">
            <a:xfrm>
              <a:off x="2786"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23850" name="Text Box 54"/>
            <p:cNvSpPr txBox="1">
              <a:spLocks noChangeArrowheads="1"/>
            </p:cNvSpPr>
            <p:nvPr/>
          </p:nvSpPr>
          <p:spPr bwMode="auto">
            <a:xfrm>
              <a:off x="2594" y="295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851" name="Text Box 55"/>
            <p:cNvSpPr txBox="1">
              <a:spLocks noChangeArrowheads="1"/>
            </p:cNvSpPr>
            <p:nvPr/>
          </p:nvSpPr>
          <p:spPr bwMode="auto">
            <a:xfrm>
              <a:off x="3650"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852" name="Text Box 56"/>
            <p:cNvSpPr txBox="1">
              <a:spLocks noChangeArrowheads="1"/>
            </p:cNvSpPr>
            <p:nvPr/>
          </p:nvSpPr>
          <p:spPr bwMode="auto">
            <a:xfrm>
              <a:off x="3458" y="295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grpSp>
      <p:grpSp>
        <p:nvGrpSpPr>
          <p:cNvPr id="4" name="Group 333"/>
          <p:cNvGrpSpPr>
            <a:grpSpLocks/>
          </p:cNvGrpSpPr>
          <p:nvPr/>
        </p:nvGrpSpPr>
        <p:grpSpPr bwMode="auto">
          <a:xfrm>
            <a:off x="778680" y="2038598"/>
            <a:ext cx="7086600" cy="4419600"/>
            <a:chOff x="1202" y="459"/>
            <a:chExt cx="4464" cy="2784"/>
          </a:xfrm>
        </p:grpSpPr>
        <p:sp>
          <p:nvSpPr>
            <p:cNvPr id="23799" name="Rectangle 58"/>
            <p:cNvSpPr>
              <a:spLocks noChangeArrowheads="1"/>
            </p:cNvSpPr>
            <p:nvPr/>
          </p:nvSpPr>
          <p:spPr bwMode="auto">
            <a:xfrm>
              <a:off x="1202" y="459"/>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800" name="Text Box 59"/>
            <p:cNvSpPr txBox="1">
              <a:spLocks noChangeArrowheads="1"/>
            </p:cNvSpPr>
            <p:nvPr/>
          </p:nvSpPr>
          <p:spPr bwMode="auto">
            <a:xfrm>
              <a:off x="1250" y="507"/>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 repeat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801" name="Text Box 60"/>
            <p:cNvSpPr txBox="1">
              <a:spLocks noChangeArrowheads="1"/>
            </p:cNvSpPr>
            <p:nvPr/>
          </p:nvSpPr>
          <p:spPr bwMode="auto">
            <a:xfrm>
              <a:off x="1490"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802" name="Text Box 61"/>
            <p:cNvSpPr txBox="1">
              <a:spLocks noChangeArrowheads="1"/>
            </p:cNvSpPr>
            <p:nvPr/>
          </p:nvSpPr>
          <p:spPr bwMode="auto">
            <a:xfrm>
              <a:off x="1250" y="233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803" name="Text Box 62"/>
            <p:cNvSpPr txBox="1">
              <a:spLocks noChangeArrowheads="1"/>
            </p:cNvSpPr>
            <p:nvPr/>
          </p:nvSpPr>
          <p:spPr bwMode="auto">
            <a:xfrm>
              <a:off x="2070"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804" name="Text Box 63"/>
            <p:cNvSpPr txBox="1">
              <a:spLocks noChangeArrowheads="1"/>
            </p:cNvSpPr>
            <p:nvPr/>
          </p:nvSpPr>
          <p:spPr bwMode="auto">
            <a:xfrm>
              <a:off x="2498"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805" name="Text Box 64"/>
            <p:cNvSpPr txBox="1">
              <a:spLocks noChangeArrowheads="1"/>
            </p:cNvSpPr>
            <p:nvPr/>
          </p:nvSpPr>
          <p:spPr bwMode="auto">
            <a:xfrm>
              <a:off x="2930"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806" name="Text Box 65"/>
            <p:cNvSpPr txBox="1">
              <a:spLocks noChangeArrowheads="1"/>
            </p:cNvSpPr>
            <p:nvPr/>
          </p:nvSpPr>
          <p:spPr bwMode="auto">
            <a:xfrm>
              <a:off x="3362"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807" name="Text Box 66"/>
            <p:cNvSpPr txBox="1">
              <a:spLocks noChangeArrowheads="1"/>
            </p:cNvSpPr>
            <p:nvPr/>
          </p:nvSpPr>
          <p:spPr bwMode="auto">
            <a:xfrm>
              <a:off x="3794"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808" name="Text Box 67"/>
            <p:cNvSpPr txBox="1">
              <a:spLocks noChangeArrowheads="1"/>
            </p:cNvSpPr>
            <p:nvPr/>
          </p:nvSpPr>
          <p:spPr bwMode="auto">
            <a:xfrm>
              <a:off x="4994" y="23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809" name="Text Box 68"/>
            <p:cNvSpPr txBox="1">
              <a:spLocks noChangeArrowheads="1"/>
            </p:cNvSpPr>
            <p:nvPr/>
          </p:nvSpPr>
          <p:spPr bwMode="auto">
            <a:xfrm>
              <a:off x="1949"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810" name="Text Box 69"/>
            <p:cNvSpPr txBox="1">
              <a:spLocks noChangeArrowheads="1"/>
            </p:cNvSpPr>
            <p:nvPr/>
          </p:nvSpPr>
          <p:spPr bwMode="auto">
            <a:xfrm>
              <a:off x="2381"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811" name="Text Box 70"/>
            <p:cNvSpPr txBox="1">
              <a:spLocks noChangeArrowheads="1"/>
            </p:cNvSpPr>
            <p:nvPr/>
          </p:nvSpPr>
          <p:spPr bwMode="auto">
            <a:xfrm>
              <a:off x="2813"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812" name="Text Box 71"/>
            <p:cNvSpPr txBox="1">
              <a:spLocks noChangeArrowheads="1"/>
            </p:cNvSpPr>
            <p:nvPr/>
          </p:nvSpPr>
          <p:spPr bwMode="auto">
            <a:xfrm>
              <a:off x="3245"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813" name="Text Box 72"/>
            <p:cNvSpPr txBox="1">
              <a:spLocks noChangeArrowheads="1"/>
            </p:cNvSpPr>
            <p:nvPr/>
          </p:nvSpPr>
          <p:spPr bwMode="auto">
            <a:xfrm>
              <a:off x="3677"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14" name="Text Box 73"/>
            <p:cNvSpPr txBox="1">
              <a:spLocks noChangeArrowheads="1"/>
            </p:cNvSpPr>
            <p:nvPr/>
          </p:nvSpPr>
          <p:spPr bwMode="auto">
            <a:xfrm>
              <a:off x="4109"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815" name="Text Box 74"/>
            <p:cNvSpPr txBox="1">
              <a:spLocks noChangeArrowheads="1"/>
            </p:cNvSpPr>
            <p:nvPr/>
          </p:nvSpPr>
          <p:spPr bwMode="auto">
            <a:xfrm>
              <a:off x="1922"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816" name="Text Box 75"/>
            <p:cNvSpPr txBox="1">
              <a:spLocks noChangeArrowheads="1"/>
            </p:cNvSpPr>
            <p:nvPr/>
          </p:nvSpPr>
          <p:spPr bwMode="auto">
            <a:xfrm>
              <a:off x="1298" y="252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817" name="Text Box 76"/>
            <p:cNvSpPr txBox="1">
              <a:spLocks noChangeArrowheads="1"/>
            </p:cNvSpPr>
            <p:nvPr/>
          </p:nvSpPr>
          <p:spPr bwMode="auto">
            <a:xfrm>
              <a:off x="1634" y="2955"/>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818" name="Text Box 77"/>
            <p:cNvSpPr txBox="1">
              <a:spLocks noChangeArrowheads="1"/>
            </p:cNvSpPr>
            <p:nvPr/>
          </p:nvSpPr>
          <p:spPr bwMode="auto">
            <a:xfrm>
              <a:off x="4541"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819" name="Text Box 78"/>
            <p:cNvSpPr txBox="1">
              <a:spLocks noChangeArrowheads="1"/>
            </p:cNvSpPr>
            <p:nvPr/>
          </p:nvSpPr>
          <p:spPr bwMode="auto">
            <a:xfrm>
              <a:off x="4973" y="252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820" name="Text Box 79"/>
            <p:cNvSpPr txBox="1">
              <a:spLocks noChangeArrowheads="1"/>
            </p:cNvSpPr>
            <p:nvPr/>
          </p:nvSpPr>
          <p:spPr bwMode="auto">
            <a:xfrm>
              <a:off x="4229"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821" name="Text Box 80"/>
            <p:cNvSpPr txBox="1">
              <a:spLocks noChangeArrowheads="1"/>
            </p:cNvSpPr>
            <p:nvPr/>
          </p:nvSpPr>
          <p:spPr bwMode="auto">
            <a:xfrm>
              <a:off x="4664" y="233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822" name="Text Box 81"/>
            <p:cNvSpPr txBox="1">
              <a:spLocks noChangeArrowheads="1"/>
            </p:cNvSpPr>
            <p:nvPr/>
          </p:nvSpPr>
          <p:spPr bwMode="auto">
            <a:xfrm>
              <a:off x="2786"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23823" name="Text Box 82"/>
            <p:cNvSpPr txBox="1">
              <a:spLocks noChangeArrowheads="1"/>
            </p:cNvSpPr>
            <p:nvPr/>
          </p:nvSpPr>
          <p:spPr bwMode="auto">
            <a:xfrm>
              <a:off x="2594" y="295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824" name="Text Box 83"/>
            <p:cNvSpPr txBox="1">
              <a:spLocks noChangeArrowheads="1"/>
            </p:cNvSpPr>
            <p:nvPr/>
          </p:nvSpPr>
          <p:spPr bwMode="auto">
            <a:xfrm>
              <a:off x="3650" y="295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825" name="Text Box 84"/>
            <p:cNvSpPr txBox="1">
              <a:spLocks noChangeArrowheads="1"/>
            </p:cNvSpPr>
            <p:nvPr/>
          </p:nvSpPr>
          <p:spPr bwMode="auto">
            <a:xfrm>
              <a:off x="3458" y="295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grpSp>
      <p:grpSp>
        <p:nvGrpSpPr>
          <p:cNvPr id="5" name="Group 332"/>
          <p:cNvGrpSpPr>
            <a:grpSpLocks/>
          </p:cNvGrpSpPr>
          <p:nvPr/>
        </p:nvGrpSpPr>
        <p:grpSpPr bwMode="auto">
          <a:xfrm>
            <a:off x="792535" y="2013858"/>
            <a:ext cx="7086600" cy="4419600"/>
            <a:chOff x="1202" y="458"/>
            <a:chExt cx="4464" cy="2784"/>
          </a:xfrm>
        </p:grpSpPr>
        <p:sp>
          <p:nvSpPr>
            <p:cNvPr id="23770" name="Rectangle 86"/>
            <p:cNvSpPr>
              <a:spLocks noChangeArrowheads="1"/>
            </p:cNvSpPr>
            <p:nvPr/>
          </p:nvSpPr>
          <p:spPr bwMode="auto">
            <a:xfrm>
              <a:off x="1202" y="458"/>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771" name="Text Box 87"/>
            <p:cNvSpPr txBox="1">
              <a:spLocks noChangeArrowheads="1"/>
            </p:cNvSpPr>
            <p:nvPr/>
          </p:nvSpPr>
          <p:spPr bwMode="auto">
            <a:xfrm>
              <a:off x="1250" y="506"/>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a:t>
              </a:r>
              <a:r>
                <a:rPr lang="en-US" altLang="en-US" sz="2000">
                  <a:solidFill>
                    <a:srgbClr val="FF0000"/>
                  </a:solidFill>
                  <a:latin typeface="Times New Roman" pitchFamily="18" charset="0"/>
                </a:rPr>
                <a:t>Let </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 be an integer about midway between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772" name="Text Box 88"/>
            <p:cNvSpPr txBox="1">
              <a:spLocks noChangeArrowheads="1"/>
            </p:cNvSpPr>
            <p:nvPr/>
          </p:nvSpPr>
          <p:spPr bwMode="auto">
            <a:xfrm>
              <a:off x="1490"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773" name="Text Box 89"/>
            <p:cNvSpPr txBox="1">
              <a:spLocks noChangeArrowheads="1"/>
            </p:cNvSpPr>
            <p:nvPr/>
          </p:nvSpPr>
          <p:spPr bwMode="auto">
            <a:xfrm>
              <a:off x="1250" y="233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774" name="Text Box 90"/>
            <p:cNvSpPr txBox="1">
              <a:spLocks noChangeArrowheads="1"/>
            </p:cNvSpPr>
            <p:nvPr/>
          </p:nvSpPr>
          <p:spPr bwMode="auto">
            <a:xfrm>
              <a:off x="2070"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775" name="Text Box 91"/>
            <p:cNvSpPr txBox="1">
              <a:spLocks noChangeArrowheads="1"/>
            </p:cNvSpPr>
            <p:nvPr/>
          </p:nvSpPr>
          <p:spPr bwMode="auto">
            <a:xfrm>
              <a:off x="2498"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776" name="Text Box 92"/>
            <p:cNvSpPr txBox="1">
              <a:spLocks noChangeArrowheads="1"/>
            </p:cNvSpPr>
            <p:nvPr/>
          </p:nvSpPr>
          <p:spPr bwMode="auto">
            <a:xfrm>
              <a:off x="2930"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777" name="Text Box 93"/>
            <p:cNvSpPr txBox="1">
              <a:spLocks noChangeArrowheads="1"/>
            </p:cNvSpPr>
            <p:nvPr/>
          </p:nvSpPr>
          <p:spPr bwMode="auto">
            <a:xfrm>
              <a:off x="3362"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778" name="Text Box 94"/>
            <p:cNvSpPr txBox="1">
              <a:spLocks noChangeArrowheads="1"/>
            </p:cNvSpPr>
            <p:nvPr/>
          </p:nvSpPr>
          <p:spPr bwMode="auto">
            <a:xfrm>
              <a:off x="3794"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779" name="Text Box 95"/>
            <p:cNvSpPr txBox="1">
              <a:spLocks noChangeArrowheads="1"/>
            </p:cNvSpPr>
            <p:nvPr/>
          </p:nvSpPr>
          <p:spPr bwMode="auto">
            <a:xfrm>
              <a:off x="4994" y="233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780" name="Text Box 96"/>
            <p:cNvSpPr txBox="1">
              <a:spLocks noChangeArrowheads="1"/>
            </p:cNvSpPr>
            <p:nvPr/>
          </p:nvSpPr>
          <p:spPr bwMode="auto">
            <a:xfrm>
              <a:off x="1949"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781" name="Text Box 97"/>
            <p:cNvSpPr txBox="1">
              <a:spLocks noChangeArrowheads="1"/>
            </p:cNvSpPr>
            <p:nvPr/>
          </p:nvSpPr>
          <p:spPr bwMode="auto">
            <a:xfrm>
              <a:off x="2381"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782" name="Text Box 98"/>
            <p:cNvSpPr txBox="1">
              <a:spLocks noChangeArrowheads="1"/>
            </p:cNvSpPr>
            <p:nvPr/>
          </p:nvSpPr>
          <p:spPr bwMode="auto">
            <a:xfrm>
              <a:off x="2813"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783" name="Text Box 99"/>
            <p:cNvSpPr txBox="1">
              <a:spLocks noChangeArrowheads="1"/>
            </p:cNvSpPr>
            <p:nvPr/>
          </p:nvSpPr>
          <p:spPr bwMode="auto">
            <a:xfrm>
              <a:off x="3245"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784" name="Text Box 100"/>
            <p:cNvSpPr txBox="1">
              <a:spLocks noChangeArrowheads="1"/>
            </p:cNvSpPr>
            <p:nvPr/>
          </p:nvSpPr>
          <p:spPr bwMode="auto">
            <a:xfrm>
              <a:off x="3677"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85" name="Text Box 101"/>
            <p:cNvSpPr txBox="1">
              <a:spLocks noChangeArrowheads="1"/>
            </p:cNvSpPr>
            <p:nvPr/>
          </p:nvSpPr>
          <p:spPr bwMode="auto">
            <a:xfrm>
              <a:off x="4109"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786" name="Text Box 102"/>
            <p:cNvSpPr txBox="1">
              <a:spLocks noChangeArrowheads="1"/>
            </p:cNvSpPr>
            <p:nvPr/>
          </p:nvSpPr>
          <p:spPr bwMode="auto">
            <a:xfrm>
              <a:off x="1922" y="29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87" name="Text Box 103"/>
            <p:cNvSpPr txBox="1">
              <a:spLocks noChangeArrowheads="1"/>
            </p:cNvSpPr>
            <p:nvPr/>
          </p:nvSpPr>
          <p:spPr bwMode="auto">
            <a:xfrm>
              <a:off x="1298" y="252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788" name="Text Box 104"/>
            <p:cNvSpPr txBox="1">
              <a:spLocks noChangeArrowheads="1"/>
            </p:cNvSpPr>
            <p:nvPr/>
          </p:nvSpPr>
          <p:spPr bwMode="auto">
            <a:xfrm>
              <a:off x="1634" y="2954"/>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789" name="Text Box 105"/>
            <p:cNvSpPr txBox="1">
              <a:spLocks noChangeArrowheads="1"/>
            </p:cNvSpPr>
            <p:nvPr/>
          </p:nvSpPr>
          <p:spPr bwMode="auto">
            <a:xfrm>
              <a:off x="4541"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790" name="Text Box 106"/>
            <p:cNvSpPr txBox="1">
              <a:spLocks noChangeArrowheads="1"/>
            </p:cNvSpPr>
            <p:nvPr/>
          </p:nvSpPr>
          <p:spPr bwMode="auto">
            <a:xfrm>
              <a:off x="4973" y="252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791" name="Text Box 107"/>
            <p:cNvSpPr txBox="1">
              <a:spLocks noChangeArrowheads="1"/>
            </p:cNvSpPr>
            <p:nvPr/>
          </p:nvSpPr>
          <p:spPr bwMode="auto">
            <a:xfrm>
              <a:off x="4229"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792" name="Text Box 108"/>
            <p:cNvSpPr txBox="1">
              <a:spLocks noChangeArrowheads="1"/>
            </p:cNvSpPr>
            <p:nvPr/>
          </p:nvSpPr>
          <p:spPr bwMode="auto">
            <a:xfrm>
              <a:off x="4664" y="233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793" name="Text Box 109"/>
            <p:cNvSpPr txBox="1">
              <a:spLocks noChangeArrowheads="1"/>
            </p:cNvSpPr>
            <p:nvPr/>
          </p:nvSpPr>
          <p:spPr bwMode="auto">
            <a:xfrm>
              <a:off x="2786" y="29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23794" name="Text Box 110"/>
            <p:cNvSpPr txBox="1">
              <a:spLocks noChangeArrowheads="1"/>
            </p:cNvSpPr>
            <p:nvPr/>
          </p:nvSpPr>
          <p:spPr bwMode="auto">
            <a:xfrm>
              <a:off x="2594" y="295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795" name="Text Box 111"/>
            <p:cNvSpPr txBox="1">
              <a:spLocks noChangeArrowheads="1"/>
            </p:cNvSpPr>
            <p:nvPr/>
          </p:nvSpPr>
          <p:spPr bwMode="auto">
            <a:xfrm>
              <a:off x="3650" y="29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796" name="Text Box 112"/>
            <p:cNvSpPr txBox="1">
              <a:spLocks noChangeArrowheads="1"/>
            </p:cNvSpPr>
            <p:nvPr/>
          </p:nvSpPr>
          <p:spPr bwMode="auto">
            <a:xfrm>
              <a:off x="3458" y="295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797" name="Text Box 113"/>
            <p:cNvSpPr txBox="1">
              <a:spLocks noChangeArrowheads="1"/>
            </p:cNvSpPr>
            <p:nvPr/>
          </p:nvSpPr>
          <p:spPr bwMode="auto">
            <a:xfrm>
              <a:off x="4514" y="295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23798" name="Text Box 114"/>
            <p:cNvSpPr txBox="1">
              <a:spLocks noChangeArrowheads="1"/>
            </p:cNvSpPr>
            <p:nvPr/>
          </p:nvSpPr>
          <p:spPr bwMode="auto">
            <a:xfrm>
              <a:off x="4322" y="295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6" name="Group 331"/>
          <p:cNvGrpSpPr>
            <a:grpSpLocks/>
          </p:cNvGrpSpPr>
          <p:nvPr/>
        </p:nvGrpSpPr>
        <p:grpSpPr bwMode="auto">
          <a:xfrm>
            <a:off x="783535" y="2020929"/>
            <a:ext cx="7086600" cy="4419600"/>
            <a:chOff x="1179" y="1094"/>
            <a:chExt cx="4464" cy="2784"/>
          </a:xfrm>
        </p:grpSpPr>
        <p:sp>
          <p:nvSpPr>
            <p:cNvPr id="23741" name="Rectangle 116"/>
            <p:cNvSpPr>
              <a:spLocks noChangeArrowheads="1"/>
            </p:cNvSpPr>
            <p:nvPr/>
          </p:nvSpPr>
          <p:spPr bwMode="auto">
            <a:xfrm>
              <a:off x="1179" y="1094"/>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742" name="Text Box 117"/>
            <p:cNvSpPr txBox="1">
              <a:spLocks noChangeArrowheads="1"/>
            </p:cNvSpPr>
            <p:nvPr/>
          </p:nvSpPr>
          <p:spPr bwMode="auto">
            <a:xfrm>
              <a:off x="1227" y="1142"/>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a:t>
              </a:r>
              <a:r>
                <a:rPr lang="en-US" altLang="en-US" sz="2000">
                  <a:solidFill>
                    <a:srgbClr val="FF0000"/>
                  </a:solidFill>
                  <a:latin typeface="Times New Roman" pitchFamily="18" charset="0"/>
                </a:rPr>
                <a:t>Else, 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is greater than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 set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743" name="Text Box 118"/>
            <p:cNvSpPr txBox="1">
              <a:spLocks noChangeArrowheads="1"/>
            </p:cNvSpPr>
            <p:nvPr/>
          </p:nvSpPr>
          <p:spPr bwMode="auto">
            <a:xfrm>
              <a:off x="1467"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744" name="Text Box 119"/>
            <p:cNvSpPr txBox="1">
              <a:spLocks noChangeArrowheads="1"/>
            </p:cNvSpPr>
            <p:nvPr/>
          </p:nvSpPr>
          <p:spPr bwMode="auto">
            <a:xfrm>
              <a:off x="1227" y="296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745" name="Text Box 120"/>
            <p:cNvSpPr txBox="1">
              <a:spLocks noChangeArrowheads="1"/>
            </p:cNvSpPr>
            <p:nvPr/>
          </p:nvSpPr>
          <p:spPr bwMode="auto">
            <a:xfrm>
              <a:off x="204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746" name="Text Box 121"/>
            <p:cNvSpPr txBox="1">
              <a:spLocks noChangeArrowheads="1"/>
            </p:cNvSpPr>
            <p:nvPr/>
          </p:nvSpPr>
          <p:spPr bwMode="auto">
            <a:xfrm>
              <a:off x="2475"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747" name="Text Box 122"/>
            <p:cNvSpPr txBox="1">
              <a:spLocks noChangeArrowheads="1"/>
            </p:cNvSpPr>
            <p:nvPr/>
          </p:nvSpPr>
          <p:spPr bwMode="auto">
            <a:xfrm>
              <a:off x="290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748" name="Text Box 123"/>
            <p:cNvSpPr txBox="1">
              <a:spLocks noChangeArrowheads="1"/>
            </p:cNvSpPr>
            <p:nvPr/>
          </p:nvSpPr>
          <p:spPr bwMode="auto">
            <a:xfrm>
              <a:off x="3339"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749" name="Text Box 124"/>
            <p:cNvSpPr txBox="1">
              <a:spLocks noChangeArrowheads="1"/>
            </p:cNvSpPr>
            <p:nvPr/>
          </p:nvSpPr>
          <p:spPr bwMode="auto">
            <a:xfrm>
              <a:off x="377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750" name="Text Box 125"/>
            <p:cNvSpPr txBox="1">
              <a:spLocks noChangeArrowheads="1"/>
            </p:cNvSpPr>
            <p:nvPr/>
          </p:nvSpPr>
          <p:spPr bwMode="auto">
            <a:xfrm>
              <a:off x="4971" y="296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751" name="Text Box 126"/>
            <p:cNvSpPr txBox="1">
              <a:spLocks noChangeArrowheads="1"/>
            </p:cNvSpPr>
            <p:nvPr/>
          </p:nvSpPr>
          <p:spPr bwMode="auto">
            <a:xfrm>
              <a:off x="1926"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752" name="Text Box 127"/>
            <p:cNvSpPr txBox="1">
              <a:spLocks noChangeArrowheads="1"/>
            </p:cNvSpPr>
            <p:nvPr/>
          </p:nvSpPr>
          <p:spPr bwMode="auto">
            <a:xfrm>
              <a:off x="2358"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753" name="Text Box 128"/>
            <p:cNvSpPr txBox="1">
              <a:spLocks noChangeArrowheads="1"/>
            </p:cNvSpPr>
            <p:nvPr/>
          </p:nvSpPr>
          <p:spPr bwMode="auto">
            <a:xfrm>
              <a:off x="2790"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754" name="Text Box 129"/>
            <p:cNvSpPr txBox="1">
              <a:spLocks noChangeArrowheads="1"/>
            </p:cNvSpPr>
            <p:nvPr/>
          </p:nvSpPr>
          <p:spPr bwMode="auto">
            <a:xfrm>
              <a:off x="3222"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755" name="Text Box 130"/>
            <p:cNvSpPr txBox="1">
              <a:spLocks noChangeArrowheads="1"/>
            </p:cNvSpPr>
            <p:nvPr/>
          </p:nvSpPr>
          <p:spPr bwMode="auto">
            <a:xfrm>
              <a:off x="3654"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56" name="Text Box 131"/>
            <p:cNvSpPr txBox="1">
              <a:spLocks noChangeArrowheads="1"/>
            </p:cNvSpPr>
            <p:nvPr/>
          </p:nvSpPr>
          <p:spPr bwMode="auto">
            <a:xfrm>
              <a:off x="4086"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757" name="Text Box 132"/>
            <p:cNvSpPr txBox="1">
              <a:spLocks noChangeArrowheads="1"/>
            </p:cNvSpPr>
            <p:nvPr/>
          </p:nvSpPr>
          <p:spPr bwMode="auto">
            <a:xfrm>
              <a:off x="1899"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58" name="Text Box 133"/>
            <p:cNvSpPr txBox="1">
              <a:spLocks noChangeArrowheads="1"/>
            </p:cNvSpPr>
            <p:nvPr/>
          </p:nvSpPr>
          <p:spPr bwMode="auto">
            <a:xfrm>
              <a:off x="1275" y="315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759" name="Text Box 134"/>
            <p:cNvSpPr txBox="1">
              <a:spLocks noChangeArrowheads="1"/>
            </p:cNvSpPr>
            <p:nvPr/>
          </p:nvSpPr>
          <p:spPr bwMode="auto">
            <a:xfrm>
              <a:off x="1611" y="3590"/>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760" name="Text Box 135"/>
            <p:cNvSpPr txBox="1">
              <a:spLocks noChangeArrowheads="1"/>
            </p:cNvSpPr>
            <p:nvPr/>
          </p:nvSpPr>
          <p:spPr bwMode="auto">
            <a:xfrm>
              <a:off x="4518"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761" name="Text Box 136"/>
            <p:cNvSpPr txBox="1">
              <a:spLocks noChangeArrowheads="1"/>
            </p:cNvSpPr>
            <p:nvPr/>
          </p:nvSpPr>
          <p:spPr bwMode="auto">
            <a:xfrm>
              <a:off x="4950"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762" name="Text Box 137"/>
            <p:cNvSpPr txBox="1">
              <a:spLocks noChangeArrowheads="1"/>
            </p:cNvSpPr>
            <p:nvPr/>
          </p:nvSpPr>
          <p:spPr bwMode="auto">
            <a:xfrm>
              <a:off x="4206"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763" name="Text Box 138"/>
            <p:cNvSpPr txBox="1">
              <a:spLocks noChangeArrowheads="1"/>
            </p:cNvSpPr>
            <p:nvPr/>
          </p:nvSpPr>
          <p:spPr bwMode="auto">
            <a:xfrm>
              <a:off x="464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764" name="Text Box 139"/>
            <p:cNvSpPr txBox="1">
              <a:spLocks noChangeArrowheads="1"/>
            </p:cNvSpPr>
            <p:nvPr/>
          </p:nvSpPr>
          <p:spPr bwMode="auto">
            <a:xfrm>
              <a:off x="2763"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765" name="Text Box 140"/>
            <p:cNvSpPr txBox="1">
              <a:spLocks noChangeArrowheads="1"/>
            </p:cNvSpPr>
            <p:nvPr/>
          </p:nvSpPr>
          <p:spPr bwMode="auto">
            <a:xfrm>
              <a:off x="2571"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766" name="Text Box 141"/>
            <p:cNvSpPr txBox="1">
              <a:spLocks noChangeArrowheads="1"/>
            </p:cNvSpPr>
            <p:nvPr/>
          </p:nvSpPr>
          <p:spPr bwMode="auto">
            <a:xfrm>
              <a:off x="3627"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767" name="Text Box 142"/>
            <p:cNvSpPr txBox="1">
              <a:spLocks noChangeArrowheads="1"/>
            </p:cNvSpPr>
            <p:nvPr/>
          </p:nvSpPr>
          <p:spPr bwMode="auto">
            <a:xfrm>
              <a:off x="3435"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768" name="Text Box 143"/>
            <p:cNvSpPr txBox="1">
              <a:spLocks noChangeArrowheads="1"/>
            </p:cNvSpPr>
            <p:nvPr/>
          </p:nvSpPr>
          <p:spPr bwMode="auto">
            <a:xfrm>
              <a:off x="4491"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23769" name="Text Box 144"/>
            <p:cNvSpPr txBox="1">
              <a:spLocks noChangeArrowheads="1"/>
            </p:cNvSpPr>
            <p:nvPr/>
          </p:nvSpPr>
          <p:spPr bwMode="auto">
            <a:xfrm>
              <a:off x="4299"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7" name="Group 330"/>
          <p:cNvGrpSpPr>
            <a:grpSpLocks/>
          </p:cNvGrpSpPr>
          <p:nvPr/>
        </p:nvGrpSpPr>
        <p:grpSpPr bwMode="auto">
          <a:xfrm>
            <a:off x="756816" y="2013858"/>
            <a:ext cx="7086600" cy="4419600"/>
            <a:chOff x="1179" y="1094"/>
            <a:chExt cx="4464" cy="2784"/>
          </a:xfrm>
        </p:grpSpPr>
        <p:sp>
          <p:nvSpPr>
            <p:cNvPr id="23712" name="Rectangle 146"/>
            <p:cNvSpPr>
              <a:spLocks noChangeArrowheads="1"/>
            </p:cNvSpPr>
            <p:nvPr/>
          </p:nvSpPr>
          <p:spPr bwMode="auto">
            <a:xfrm>
              <a:off x="1179" y="1094"/>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713" name="Text Box 147"/>
            <p:cNvSpPr txBox="1">
              <a:spLocks noChangeArrowheads="1"/>
            </p:cNvSpPr>
            <p:nvPr/>
          </p:nvSpPr>
          <p:spPr bwMode="auto">
            <a:xfrm>
              <a:off x="1227" y="1142"/>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 repeat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714" name="Text Box 148"/>
            <p:cNvSpPr txBox="1">
              <a:spLocks noChangeArrowheads="1"/>
            </p:cNvSpPr>
            <p:nvPr/>
          </p:nvSpPr>
          <p:spPr bwMode="auto">
            <a:xfrm>
              <a:off x="1467"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715" name="Text Box 149"/>
            <p:cNvSpPr txBox="1">
              <a:spLocks noChangeArrowheads="1"/>
            </p:cNvSpPr>
            <p:nvPr/>
          </p:nvSpPr>
          <p:spPr bwMode="auto">
            <a:xfrm>
              <a:off x="1227" y="296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716" name="Text Box 150"/>
            <p:cNvSpPr txBox="1">
              <a:spLocks noChangeArrowheads="1"/>
            </p:cNvSpPr>
            <p:nvPr/>
          </p:nvSpPr>
          <p:spPr bwMode="auto">
            <a:xfrm>
              <a:off x="204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717" name="Text Box 151"/>
            <p:cNvSpPr txBox="1">
              <a:spLocks noChangeArrowheads="1"/>
            </p:cNvSpPr>
            <p:nvPr/>
          </p:nvSpPr>
          <p:spPr bwMode="auto">
            <a:xfrm>
              <a:off x="2475"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718" name="Text Box 152"/>
            <p:cNvSpPr txBox="1">
              <a:spLocks noChangeArrowheads="1"/>
            </p:cNvSpPr>
            <p:nvPr/>
          </p:nvSpPr>
          <p:spPr bwMode="auto">
            <a:xfrm>
              <a:off x="290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719" name="Text Box 153"/>
            <p:cNvSpPr txBox="1">
              <a:spLocks noChangeArrowheads="1"/>
            </p:cNvSpPr>
            <p:nvPr/>
          </p:nvSpPr>
          <p:spPr bwMode="auto">
            <a:xfrm>
              <a:off x="3339"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720" name="Text Box 154"/>
            <p:cNvSpPr txBox="1">
              <a:spLocks noChangeArrowheads="1"/>
            </p:cNvSpPr>
            <p:nvPr/>
          </p:nvSpPr>
          <p:spPr bwMode="auto">
            <a:xfrm>
              <a:off x="377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721" name="Text Box 155"/>
            <p:cNvSpPr txBox="1">
              <a:spLocks noChangeArrowheads="1"/>
            </p:cNvSpPr>
            <p:nvPr/>
          </p:nvSpPr>
          <p:spPr bwMode="auto">
            <a:xfrm>
              <a:off x="4971" y="296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722" name="Text Box 156"/>
            <p:cNvSpPr txBox="1">
              <a:spLocks noChangeArrowheads="1"/>
            </p:cNvSpPr>
            <p:nvPr/>
          </p:nvSpPr>
          <p:spPr bwMode="auto">
            <a:xfrm>
              <a:off x="1926"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723" name="Text Box 157"/>
            <p:cNvSpPr txBox="1">
              <a:spLocks noChangeArrowheads="1"/>
            </p:cNvSpPr>
            <p:nvPr/>
          </p:nvSpPr>
          <p:spPr bwMode="auto">
            <a:xfrm>
              <a:off x="2358"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724" name="Text Box 158"/>
            <p:cNvSpPr txBox="1">
              <a:spLocks noChangeArrowheads="1"/>
            </p:cNvSpPr>
            <p:nvPr/>
          </p:nvSpPr>
          <p:spPr bwMode="auto">
            <a:xfrm>
              <a:off x="2790"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725" name="Text Box 159"/>
            <p:cNvSpPr txBox="1">
              <a:spLocks noChangeArrowheads="1"/>
            </p:cNvSpPr>
            <p:nvPr/>
          </p:nvSpPr>
          <p:spPr bwMode="auto">
            <a:xfrm>
              <a:off x="3222"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726" name="Text Box 160"/>
            <p:cNvSpPr txBox="1">
              <a:spLocks noChangeArrowheads="1"/>
            </p:cNvSpPr>
            <p:nvPr/>
          </p:nvSpPr>
          <p:spPr bwMode="auto">
            <a:xfrm>
              <a:off x="3654"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27" name="Text Box 161"/>
            <p:cNvSpPr txBox="1">
              <a:spLocks noChangeArrowheads="1"/>
            </p:cNvSpPr>
            <p:nvPr/>
          </p:nvSpPr>
          <p:spPr bwMode="auto">
            <a:xfrm>
              <a:off x="4086"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728" name="Text Box 162"/>
            <p:cNvSpPr txBox="1">
              <a:spLocks noChangeArrowheads="1"/>
            </p:cNvSpPr>
            <p:nvPr/>
          </p:nvSpPr>
          <p:spPr bwMode="auto">
            <a:xfrm>
              <a:off x="1899"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29" name="Text Box 163"/>
            <p:cNvSpPr txBox="1">
              <a:spLocks noChangeArrowheads="1"/>
            </p:cNvSpPr>
            <p:nvPr/>
          </p:nvSpPr>
          <p:spPr bwMode="auto">
            <a:xfrm>
              <a:off x="1275" y="315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730" name="Text Box 164"/>
            <p:cNvSpPr txBox="1">
              <a:spLocks noChangeArrowheads="1"/>
            </p:cNvSpPr>
            <p:nvPr/>
          </p:nvSpPr>
          <p:spPr bwMode="auto">
            <a:xfrm>
              <a:off x="1611" y="3590"/>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731" name="Text Box 165"/>
            <p:cNvSpPr txBox="1">
              <a:spLocks noChangeArrowheads="1"/>
            </p:cNvSpPr>
            <p:nvPr/>
          </p:nvSpPr>
          <p:spPr bwMode="auto">
            <a:xfrm>
              <a:off x="4518"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732" name="Text Box 166"/>
            <p:cNvSpPr txBox="1">
              <a:spLocks noChangeArrowheads="1"/>
            </p:cNvSpPr>
            <p:nvPr/>
          </p:nvSpPr>
          <p:spPr bwMode="auto">
            <a:xfrm>
              <a:off x="4950"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733" name="Text Box 167"/>
            <p:cNvSpPr txBox="1">
              <a:spLocks noChangeArrowheads="1"/>
            </p:cNvSpPr>
            <p:nvPr/>
          </p:nvSpPr>
          <p:spPr bwMode="auto">
            <a:xfrm>
              <a:off x="4206"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734" name="Text Box 168"/>
            <p:cNvSpPr txBox="1">
              <a:spLocks noChangeArrowheads="1"/>
            </p:cNvSpPr>
            <p:nvPr/>
          </p:nvSpPr>
          <p:spPr bwMode="auto">
            <a:xfrm>
              <a:off x="464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735" name="Text Box 169"/>
            <p:cNvSpPr txBox="1">
              <a:spLocks noChangeArrowheads="1"/>
            </p:cNvSpPr>
            <p:nvPr/>
          </p:nvSpPr>
          <p:spPr bwMode="auto">
            <a:xfrm>
              <a:off x="2763"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736" name="Text Box 170"/>
            <p:cNvSpPr txBox="1">
              <a:spLocks noChangeArrowheads="1"/>
            </p:cNvSpPr>
            <p:nvPr/>
          </p:nvSpPr>
          <p:spPr bwMode="auto">
            <a:xfrm>
              <a:off x="2571"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737" name="Text Box 171"/>
            <p:cNvSpPr txBox="1">
              <a:spLocks noChangeArrowheads="1"/>
            </p:cNvSpPr>
            <p:nvPr/>
          </p:nvSpPr>
          <p:spPr bwMode="auto">
            <a:xfrm>
              <a:off x="3627"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738" name="Text Box 172"/>
            <p:cNvSpPr txBox="1">
              <a:spLocks noChangeArrowheads="1"/>
            </p:cNvSpPr>
            <p:nvPr/>
          </p:nvSpPr>
          <p:spPr bwMode="auto">
            <a:xfrm>
              <a:off x="3435"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739" name="Text Box 173"/>
            <p:cNvSpPr txBox="1">
              <a:spLocks noChangeArrowheads="1"/>
            </p:cNvSpPr>
            <p:nvPr/>
          </p:nvSpPr>
          <p:spPr bwMode="auto">
            <a:xfrm>
              <a:off x="4491"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23740" name="Text Box 174"/>
            <p:cNvSpPr txBox="1">
              <a:spLocks noChangeArrowheads="1"/>
            </p:cNvSpPr>
            <p:nvPr/>
          </p:nvSpPr>
          <p:spPr bwMode="auto">
            <a:xfrm>
              <a:off x="4299"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8" name="Group 329"/>
          <p:cNvGrpSpPr>
            <a:grpSpLocks/>
          </p:cNvGrpSpPr>
          <p:nvPr/>
        </p:nvGrpSpPr>
        <p:grpSpPr bwMode="auto">
          <a:xfrm>
            <a:off x="768350" y="2053442"/>
            <a:ext cx="7086600" cy="4419600"/>
            <a:chOff x="1179" y="1094"/>
            <a:chExt cx="4464" cy="2784"/>
          </a:xfrm>
        </p:grpSpPr>
        <p:sp>
          <p:nvSpPr>
            <p:cNvPr id="23683" name="Rectangle 176"/>
            <p:cNvSpPr>
              <a:spLocks noChangeArrowheads="1"/>
            </p:cNvSpPr>
            <p:nvPr/>
          </p:nvSpPr>
          <p:spPr bwMode="auto">
            <a:xfrm>
              <a:off x="1179" y="1094"/>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684" name="Text Box 177"/>
            <p:cNvSpPr txBox="1">
              <a:spLocks noChangeArrowheads="1"/>
            </p:cNvSpPr>
            <p:nvPr/>
          </p:nvSpPr>
          <p:spPr bwMode="auto">
            <a:xfrm>
              <a:off x="1227" y="1142"/>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a:t>
              </a:r>
              <a:r>
                <a:rPr lang="en-US" altLang="en-US" sz="2000">
                  <a:solidFill>
                    <a:srgbClr val="FF0000"/>
                  </a:solidFill>
                  <a:latin typeface="Times New Roman" pitchFamily="18" charset="0"/>
                </a:rPr>
                <a:t>Let </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 be an integer about midway between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685" name="Text Box 178"/>
            <p:cNvSpPr txBox="1">
              <a:spLocks noChangeArrowheads="1"/>
            </p:cNvSpPr>
            <p:nvPr/>
          </p:nvSpPr>
          <p:spPr bwMode="auto">
            <a:xfrm>
              <a:off x="1467"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686" name="Text Box 179"/>
            <p:cNvSpPr txBox="1">
              <a:spLocks noChangeArrowheads="1"/>
            </p:cNvSpPr>
            <p:nvPr/>
          </p:nvSpPr>
          <p:spPr bwMode="auto">
            <a:xfrm>
              <a:off x="1227" y="296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687" name="Text Box 180"/>
            <p:cNvSpPr txBox="1">
              <a:spLocks noChangeArrowheads="1"/>
            </p:cNvSpPr>
            <p:nvPr/>
          </p:nvSpPr>
          <p:spPr bwMode="auto">
            <a:xfrm>
              <a:off x="204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688" name="Text Box 181"/>
            <p:cNvSpPr txBox="1">
              <a:spLocks noChangeArrowheads="1"/>
            </p:cNvSpPr>
            <p:nvPr/>
          </p:nvSpPr>
          <p:spPr bwMode="auto">
            <a:xfrm>
              <a:off x="2475"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689" name="Text Box 182"/>
            <p:cNvSpPr txBox="1">
              <a:spLocks noChangeArrowheads="1"/>
            </p:cNvSpPr>
            <p:nvPr/>
          </p:nvSpPr>
          <p:spPr bwMode="auto">
            <a:xfrm>
              <a:off x="2907"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690" name="Text Box 183"/>
            <p:cNvSpPr txBox="1">
              <a:spLocks noChangeArrowheads="1"/>
            </p:cNvSpPr>
            <p:nvPr/>
          </p:nvSpPr>
          <p:spPr bwMode="auto">
            <a:xfrm>
              <a:off x="3339"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691" name="Text Box 184"/>
            <p:cNvSpPr txBox="1">
              <a:spLocks noChangeArrowheads="1"/>
            </p:cNvSpPr>
            <p:nvPr/>
          </p:nvSpPr>
          <p:spPr bwMode="auto">
            <a:xfrm>
              <a:off x="377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692" name="Text Box 185"/>
            <p:cNvSpPr txBox="1">
              <a:spLocks noChangeArrowheads="1"/>
            </p:cNvSpPr>
            <p:nvPr/>
          </p:nvSpPr>
          <p:spPr bwMode="auto">
            <a:xfrm>
              <a:off x="4971" y="296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693" name="Text Box 186"/>
            <p:cNvSpPr txBox="1">
              <a:spLocks noChangeArrowheads="1"/>
            </p:cNvSpPr>
            <p:nvPr/>
          </p:nvSpPr>
          <p:spPr bwMode="auto">
            <a:xfrm>
              <a:off x="1926"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694" name="Text Box 187"/>
            <p:cNvSpPr txBox="1">
              <a:spLocks noChangeArrowheads="1"/>
            </p:cNvSpPr>
            <p:nvPr/>
          </p:nvSpPr>
          <p:spPr bwMode="auto">
            <a:xfrm>
              <a:off x="2358"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695" name="Text Box 188"/>
            <p:cNvSpPr txBox="1">
              <a:spLocks noChangeArrowheads="1"/>
            </p:cNvSpPr>
            <p:nvPr/>
          </p:nvSpPr>
          <p:spPr bwMode="auto">
            <a:xfrm>
              <a:off x="2790"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696" name="Text Box 189"/>
            <p:cNvSpPr txBox="1">
              <a:spLocks noChangeArrowheads="1"/>
            </p:cNvSpPr>
            <p:nvPr/>
          </p:nvSpPr>
          <p:spPr bwMode="auto">
            <a:xfrm>
              <a:off x="3222" y="31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697" name="Text Box 190"/>
            <p:cNvSpPr txBox="1">
              <a:spLocks noChangeArrowheads="1"/>
            </p:cNvSpPr>
            <p:nvPr/>
          </p:nvSpPr>
          <p:spPr bwMode="auto">
            <a:xfrm>
              <a:off x="3654"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98" name="Text Box 191"/>
            <p:cNvSpPr txBox="1">
              <a:spLocks noChangeArrowheads="1"/>
            </p:cNvSpPr>
            <p:nvPr/>
          </p:nvSpPr>
          <p:spPr bwMode="auto">
            <a:xfrm>
              <a:off x="4086"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699" name="Text Box 192"/>
            <p:cNvSpPr txBox="1">
              <a:spLocks noChangeArrowheads="1"/>
            </p:cNvSpPr>
            <p:nvPr/>
          </p:nvSpPr>
          <p:spPr bwMode="auto">
            <a:xfrm>
              <a:off x="1899"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700" name="Text Box 193"/>
            <p:cNvSpPr txBox="1">
              <a:spLocks noChangeArrowheads="1"/>
            </p:cNvSpPr>
            <p:nvPr/>
          </p:nvSpPr>
          <p:spPr bwMode="auto">
            <a:xfrm>
              <a:off x="1275" y="315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701" name="Text Box 194"/>
            <p:cNvSpPr txBox="1">
              <a:spLocks noChangeArrowheads="1"/>
            </p:cNvSpPr>
            <p:nvPr/>
          </p:nvSpPr>
          <p:spPr bwMode="auto">
            <a:xfrm>
              <a:off x="1611" y="3590"/>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702" name="Text Box 195"/>
            <p:cNvSpPr txBox="1">
              <a:spLocks noChangeArrowheads="1"/>
            </p:cNvSpPr>
            <p:nvPr/>
          </p:nvSpPr>
          <p:spPr bwMode="auto">
            <a:xfrm>
              <a:off x="4518"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703" name="Text Box 196"/>
            <p:cNvSpPr txBox="1">
              <a:spLocks noChangeArrowheads="1"/>
            </p:cNvSpPr>
            <p:nvPr/>
          </p:nvSpPr>
          <p:spPr bwMode="auto">
            <a:xfrm>
              <a:off x="4950" y="31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704" name="Text Box 197"/>
            <p:cNvSpPr txBox="1">
              <a:spLocks noChangeArrowheads="1"/>
            </p:cNvSpPr>
            <p:nvPr/>
          </p:nvSpPr>
          <p:spPr bwMode="auto">
            <a:xfrm>
              <a:off x="4206"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705" name="Text Box 198"/>
            <p:cNvSpPr txBox="1">
              <a:spLocks noChangeArrowheads="1"/>
            </p:cNvSpPr>
            <p:nvPr/>
          </p:nvSpPr>
          <p:spPr bwMode="auto">
            <a:xfrm>
              <a:off x="4641" y="29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706" name="Text Box 199"/>
            <p:cNvSpPr txBox="1">
              <a:spLocks noChangeArrowheads="1"/>
            </p:cNvSpPr>
            <p:nvPr/>
          </p:nvSpPr>
          <p:spPr bwMode="auto">
            <a:xfrm>
              <a:off x="2763"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707" name="Text Box 200"/>
            <p:cNvSpPr txBox="1">
              <a:spLocks noChangeArrowheads="1"/>
            </p:cNvSpPr>
            <p:nvPr/>
          </p:nvSpPr>
          <p:spPr bwMode="auto">
            <a:xfrm>
              <a:off x="2571"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708" name="Text Box 201"/>
            <p:cNvSpPr txBox="1">
              <a:spLocks noChangeArrowheads="1"/>
            </p:cNvSpPr>
            <p:nvPr/>
          </p:nvSpPr>
          <p:spPr bwMode="auto">
            <a:xfrm>
              <a:off x="3627"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23709" name="Text Box 202"/>
            <p:cNvSpPr txBox="1">
              <a:spLocks noChangeArrowheads="1"/>
            </p:cNvSpPr>
            <p:nvPr/>
          </p:nvSpPr>
          <p:spPr bwMode="auto">
            <a:xfrm>
              <a:off x="3435"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710" name="Text Box 203"/>
            <p:cNvSpPr txBox="1">
              <a:spLocks noChangeArrowheads="1"/>
            </p:cNvSpPr>
            <p:nvPr/>
          </p:nvSpPr>
          <p:spPr bwMode="auto">
            <a:xfrm>
              <a:off x="4491" y="35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23711" name="Text Box 204"/>
            <p:cNvSpPr txBox="1">
              <a:spLocks noChangeArrowheads="1"/>
            </p:cNvSpPr>
            <p:nvPr/>
          </p:nvSpPr>
          <p:spPr bwMode="auto">
            <a:xfrm>
              <a:off x="4299" y="35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9" name="Group 328"/>
          <p:cNvGrpSpPr>
            <a:grpSpLocks/>
          </p:cNvGrpSpPr>
          <p:nvPr/>
        </p:nvGrpSpPr>
        <p:grpSpPr bwMode="auto">
          <a:xfrm>
            <a:off x="762000" y="2053442"/>
            <a:ext cx="7086600" cy="4419600"/>
            <a:chOff x="1179" y="1093"/>
            <a:chExt cx="4464" cy="2784"/>
          </a:xfrm>
        </p:grpSpPr>
        <p:sp>
          <p:nvSpPr>
            <p:cNvPr id="23654" name="Rectangle 206"/>
            <p:cNvSpPr>
              <a:spLocks noChangeArrowheads="1"/>
            </p:cNvSpPr>
            <p:nvPr/>
          </p:nvSpPr>
          <p:spPr bwMode="auto">
            <a:xfrm>
              <a:off x="1179" y="1093"/>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655" name="Text Box 207"/>
            <p:cNvSpPr txBox="1">
              <a:spLocks noChangeArrowheads="1"/>
            </p:cNvSpPr>
            <p:nvPr/>
          </p:nvSpPr>
          <p:spPr bwMode="auto">
            <a:xfrm>
              <a:off x="1227" y="1141"/>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a:t>
              </a:r>
              <a:r>
                <a:rPr lang="en-US" altLang="en-US" sz="2000">
                  <a:solidFill>
                    <a:srgbClr val="FF0000"/>
                  </a:solidFill>
                  <a:latin typeface="Times New Roman" pitchFamily="18" charset="0"/>
                </a:rPr>
                <a:t>Else, if </a:t>
              </a:r>
              <a:r>
                <a:rPr lang="en-US" altLang="en-US" sz="2000" i="1">
                  <a:solidFill>
                    <a:srgbClr val="FF0000"/>
                  </a:solidFill>
                  <a:latin typeface="Times New Roman" pitchFamily="18" charset="0"/>
                </a:rPr>
                <a:t>target</a:t>
              </a:r>
              <a:r>
                <a:rPr lang="en-US" altLang="en-US" sz="2000">
                  <a:solidFill>
                    <a:srgbClr val="FF0000"/>
                  </a:solidFill>
                  <a:latin typeface="Times New Roman" pitchFamily="18" charset="0"/>
                </a:rPr>
                <a:t> is less than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 set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656" name="Text Box 208"/>
            <p:cNvSpPr txBox="1">
              <a:spLocks noChangeArrowheads="1"/>
            </p:cNvSpPr>
            <p:nvPr/>
          </p:nvSpPr>
          <p:spPr bwMode="auto">
            <a:xfrm>
              <a:off x="1467"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657" name="Text Box 209"/>
            <p:cNvSpPr txBox="1">
              <a:spLocks noChangeArrowheads="1"/>
            </p:cNvSpPr>
            <p:nvPr/>
          </p:nvSpPr>
          <p:spPr bwMode="auto">
            <a:xfrm>
              <a:off x="1227" y="296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658" name="Text Box 210"/>
            <p:cNvSpPr txBox="1">
              <a:spLocks noChangeArrowheads="1"/>
            </p:cNvSpPr>
            <p:nvPr/>
          </p:nvSpPr>
          <p:spPr bwMode="auto">
            <a:xfrm>
              <a:off x="2047"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659" name="Text Box 211"/>
            <p:cNvSpPr txBox="1">
              <a:spLocks noChangeArrowheads="1"/>
            </p:cNvSpPr>
            <p:nvPr/>
          </p:nvSpPr>
          <p:spPr bwMode="auto">
            <a:xfrm>
              <a:off x="2475"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660" name="Text Box 212"/>
            <p:cNvSpPr txBox="1">
              <a:spLocks noChangeArrowheads="1"/>
            </p:cNvSpPr>
            <p:nvPr/>
          </p:nvSpPr>
          <p:spPr bwMode="auto">
            <a:xfrm>
              <a:off x="2907"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661" name="Text Box 213"/>
            <p:cNvSpPr txBox="1">
              <a:spLocks noChangeArrowheads="1"/>
            </p:cNvSpPr>
            <p:nvPr/>
          </p:nvSpPr>
          <p:spPr bwMode="auto">
            <a:xfrm>
              <a:off x="3339"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662" name="Text Box 214"/>
            <p:cNvSpPr txBox="1">
              <a:spLocks noChangeArrowheads="1"/>
            </p:cNvSpPr>
            <p:nvPr/>
          </p:nvSpPr>
          <p:spPr bwMode="auto">
            <a:xfrm>
              <a:off x="3771"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663" name="Text Box 215"/>
            <p:cNvSpPr txBox="1">
              <a:spLocks noChangeArrowheads="1"/>
            </p:cNvSpPr>
            <p:nvPr/>
          </p:nvSpPr>
          <p:spPr bwMode="auto">
            <a:xfrm>
              <a:off x="4971" y="296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664" name="Text Box 216"/>
            <p:cNvSpPr txBox="1">
              <a:spLocks noChangeArrowheads="1"/>
            </p:cNvSpPr>
            <p:nvPr/>
          </p:nvSpPr>
          <p:spPr bwMode="auto">
            <a:xfrm>
              <a:off x="1926"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665" name="Text Box 217"/>
            <p:cNvSpPr txBox="1">
              <a:spLocks noChangeArrowheads="1"/>
            </p:cNvSpPr>
            <p:nvPr/>
          </p:nvSpPr>
          <p:spPr bwMode="auto">
            <a:xfrm>
              <a:off x="2358"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666" name="Text Box 218"/>
            <p:cNvSpPr txBox="1">
              <a:spLocks noChangeArrowheads="1"/>
            </p:cNvSpPr>
            <p:nvPr/>
          </p:nvSpPr>
          <p:spPr bwMode="auto">
            <a:xfrm>
              <a:off x="2790"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667" name="Text Box 219"/>
            <p:cNvSpPr txBox="1">
              <a:spLocks noChangeArrowheads="1"/>
            </p:cNvSpPr>
            <p:nvPr/>
          </p:nvSpPr>
          <p:spPr bwMode="auto">
            <a:xfrm>
              <a:off x="3222"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668" name="Text Box 220"/>
            <p:cNvSpPr txBox="1">
              <a:spLocks noChangeArrowheads="1"/>
            </p:cNvSpPr>
            <p:nvPr/>
          </p:nvSpPr>
          <p:spPr bwMode="auto">
            <a:xfrm>
              <a:off x="3654" y="315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69" name="Text Box 221"/>
            <p:cNvSpPr txBox="1">
              <a:spLocks noChangeArrowheads="1"/>
            </p:cNvSpPr>
            <p:nvPr/>
          </p:nvSpPr>
          <p:spPr bwMode="auto">
            <a:xfrm>
              <a:off x="4086"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670" name="Text Box 222"/>
            <p:cNvSpPr txBox="1">
              <a:spLocks noChangeArrowheads="1"/>
            </p:cNvSpPr>
            <p:nvPr/>
          </p:nvSpPr>
          <p:spPr bwMode="auto">
            <a:xfrm>
              <a:off x="1899" y="358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71" name="Text Box 223"/>
            <p:cNvSpPr txBox="1">
              <a:spLocks noChangeArrowheads="1"/>
            </p:cNvSpPr>
            <p:nvPr/>
          </p:nvSpPr>
          <p:spPr bwMode="auto">
            <a:xfrm>
              <a:off x="1275" y="315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672" name="Text Box 224"/>
            <p:cNvSpPr txBox="1">
              <a:spLocks noChangeArrowheads="1"/>
            </p:cNvSpPr>
            <p:nvPr/>
          </p:nvSpPr>
          <p:spPr bwMode="auto">
            <a:xfrm>
              <a:off x="1611" y="3589"/>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673" name="Text Box 225"/>
            <p:cNvSpPr txBox="1">
              <a:spLocks noChangeArrowheads="1"/>
            </p:cNvSpPr>
            <p:nvPr/>
          </p:nvSpPr>
          <p:spPr bwMode="auto">
            <a:xfrm>
              <a:off x="4518"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674" name="Text Box 226"/>
            <p:cNvSpPr txBox="1">
              <a:spLocks noChangeArrowheads="1"/>
            </p:cNvSpPr>
            <p:nvPr/>
          </p:nvSpPr>
          <p:spPr bwMode="auto">
            <a:xfrm>
              <a:off x="4950" y="31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675" name="Text Box 227"/>
            <p:cNvSpPr txBox="1">
              <a:spLocks noChangeArrowheads="1"/>
            </p:cNvSpPr>
            <p:nvPr/>
          </p:nvSpPr>
          <p:spPr bwMode="auto">
            <a:xfrm>
              <a:off x="4206"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676" name="Text Box 228"/>
            <p:cNvSpPr txBox="1">
              <a:spLocks noChangeArrowheads="1"/>
            </p:cNvSpPr>
            <p:nvPr/>
          </p:nvSpPr>
          <p:spPr bwMode="auto">
            <a:xfrm>
              <a:off x="4641" y="29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677" name="Text Box 229"/>
            <p:cNvSpPr txBox="1">
              <a:spLocks noChangeArrowheads="1"/>
            </p:cNvSpPr>
            <p:nvPr/>
          </p:nvSpPr>
          <p:spPr bwMode="auto">
            <a:xfrm>
              <a:off x="2763" y="358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78" name="Text Box 230"/>
            <p:cNvSpPr txBox="1">
              <a:spLocks noChangeArrowheads="1"/>
            </p:cNvSpPr>
            <p:nvPr/>
          </p:nvSpPr>
          <p:spPr bwMode="auto">
            <a:xfrm>
              <a:off x="2571" y="358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679" name="Text Box 231"/>
            <p:cNvSpPr txBox="1">
              <a:spLocks noChangeArrowheads="1"/>
            </p:cNvSpPr>
            <p:nvPr/>
          </p:nvSpPr>
          <p:spPr bwMode="auto">
            <a:xfrm>
              <a:off x="3627" y="358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80" name="Text Box 232"/>
            <p:cNvSpPr txBox="1">
              <a:spLocks noChangeArrowheads="1"/>
            </p:cNvSpPr>
            <p:nvPr/>
          </p:nvSpPr>
          <p:spPr bwMode="auto">
            <a:xfrm>
              <a:off x="3435" y="358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681" name="Text Box 233"/>
            <p:cNvSpPr txBox="1">
              <a:spLocks noChangeArrowheads="1"/>
            </p:cNvSpPr>
            <p:nvPr/>
          </p:nvSpPr>
          <p:spPr bwMode="auto">
            <a:xfrm>
              <a:off x="4491" y="358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23682" name="Text Box 234"/>
            <p:cNvSpPr txBox="1">
              <a:spLocks noChangeArrowheads="1"/>
            </p:cNvSpPr>
            <p:nvPr/>
          </p:nvSpPr>
          <p:spPr bwMode="auto">
            <a:xfrm>
              <a:off x="4299" y="358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10" name="Group 327"/>
          <p:cNvGrpSpPr>
            <a:grpSpLocks/>
          </p:cNvGrpSpPr>
          <p:nvPr/>
        </p:nvGrpSpPr>
        <p:grpSpPr bwMode="auto">
          <a:xfrm>
            <a:off x="756816" y="2045669"/>
            <a:ext cx="7086600" cy="4419600"/>
            <a:chOff x="1179" y="1077"/>
            <a:chExt cx="4464" cy="2784"/>
          </a:xfrm>
        </p:grpSpPr>
        <p:sp>
          <p:nvSpPr>
            <p:cNvPr id="23625" name="Rectangle 236"/>
            <p:cNvSpPr>
              <a:spLocks noChangeArrowheads="1"/>
            </p:cNvSpPr>
            <p:nvPr/>
          </p:nvSpPr>
          <p:spPr bwMode="auto">
            <a:xfrm>
              <a:off x="1179" y="1077"/>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626" name="Text Box 237"/>
            <p:cNvSpPr txBox="1">
              <a:spLocks noChangeArrowheads="1"/>
            </p:cNvSpPr>
            <p:nvPr/>
          </p:nvSpPr>
          <p:spPr bwMode="auto">
            <a:xfrm>
              <a:off x="1227" y="1125"/>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 repeat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	Let </a:t>
              </a:r>
              <a:r>
                <a:rPr lang="en-US" altLang="en-US" sz="2000" i="1">
                  <a:latin typeface="Times New Roman" pitchFamily="18" charset="0"/>
                </a:rPr>
                <a:t>m</a:t>
              </a:r>
              <a:r>
                <a:rPr lang="en-US" altLang="en-US" sz="2000">
                  <a:latin typeface="Times New Roman" pitchFamily="18" charset="0"/>
                </a:rPr>
                <a:t> be an integer about midway between </a:t>
              </a:r>
              <a:r>
                <a:rPr lang="en-US" altLang="en-US" sz="2000" i="1">
                  <a:latin typeface="Times New Roman" pitchFamily="18" charset="0"/>
                </a:rPr>
                <a:t>l</a:t>
              </a:r>
              <a:r>
                <a:rPr lang="en-US" altLang="en-US" sz="2000">
                  <a:latin typeface="Times New Roman" pitchFamily="18" charset="0"/>
                </a:rPr>
                <a:t> and </a:t>
              </a:r>
              <a:r>
                <a:rPr lang="en-US" altLang="en-US" sz="2000" i="1">
                  <a:latin typeface="Times New Roman" pitchFamily="18" charset="0"/>
                </a:rPr>
                <a:t>r</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627" name="Text Box 238"/>
            <p:cNvSpPr txBox="1">
              <a:spLocks noChangeArrowheads="1"/>
            </p:cNvSpPr>
            <p:nvPr/>
          </p:nvSpPr>
          <p:spPr bwMode="auto">
            <a:xfrm>
              <a:off x="1467"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628" name="Text Box 239"/>
            <p:cNvSpPr txBox="1">
              <a:spLocks noChangeArrowheads="1"/>
            </p:cNvSpPr>
            <p:nvPr/>
          </p:nvSpPr>
          <p:spPr bwMode="auto">
            <a:xfrm>
              <a:off x="1227" y="294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629" name="Text Box 240"/>
            <p:cNvSpPr txBox="1">
              <a:spLocks noChangeArrowheads="1"/>
            </p:cNvSpPr>
            <p:nvPr/>
          </p:nvSpPr>
          <p:spPr bwMode="auto">
            <a:xfrm>
              <a:off x="2047"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630" name="Text Box 241"/>
            <p:cNvSpPr txBox="1">
              <a:spLocks noChangeArrowheads="1"/>
            </p:cNvSpPr>
            <p:nvPr/>
          </p:nvSpPr>
          <p:spPr bwMode="auto">
            <a:xfrm>
              <a:off x="2475"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631" name="Text Box 242"/>
            <p:cNvSpPr txBox="1">
              <a:spLocks noChangeArrowheads="1"/>
            </p:cNvSpPr>
            <p:nvPr/>
          </p:nvSpPr>
          <p:spPr bwMode="auto">
            <a:xfrm>
              <a:off x="2907"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632" name="Text Box 243"/>
            <p:cNvSpPr txBox="1">
              <a:spLocks noChangeArrowheads="1"/>
            </p:cNvSpPr>
            <p:nvPr/>
          </p:nvSpPr>
          <p:spPr bwMode="auto">
            <a:xfrm>
              <a:off x="3339"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633" name="Text Box 244"/>
            <p:cNvSpPr txBox="1">
              <a:spLocks noChangeArrowheads="1"/>
            </p:cNvSpPr>
            <p:nvPr/>
          </p:nvSpPr>
          <p:spPr bwMode="auto">
            <a:xfrm>
              <a:off x="3771"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634" name="Text Box 245"/>
            <p:cNvSpPr txBox="1">
              <a:spLocks noChangeArrowheads="1"/>
            </p:cNvSpPr>
            <p:nvPr/>
          </p:nvSpPr>
          <p:spPr bwMode="auto">
            <a:xfrm>
              <a:off x="4971" y="294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635" name="Text Box 246"/>
            <p:cNvSpPr txBox="1">
              <a:spLocks noChangeArrowheads="1"/>
            </p:cNvSpPr>
            <p:nvPr/>
          </p:nvSpPr>
          <p:spPr bwMode="auto">
            <a:xfrm>
              <a:off x="1926"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636" name="Text Box 247"/>
            <p:cNvSpPr txBox="1">
              <a:spLocks noChangeArrowheads="1"/>
            </p:cNvSpPr>
            <p:nvPr/>
          </p:nvSpPr>
          <p:spPr bwMode="auto">
            <a:xfrm>
              <a:off x="2358"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637" name="Text Box 248"/>
            <p:cNvSpPr txBox="1">
              <a:spLocks noChangeArrowheads="1"/>
            </p:cNvSpPr>
            <p:nvPr/>
          </p:nvSpPr>
          <p:spPr bwMode="auto">
            <a:xfrm>
              <a:off x="2790"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638" name="Text Box 249"/>
            <p:cNvSpPr txBox="1">
              <a:spLocks noChangeArrowheads="1"/>
            </p:cNvSpPr>
            <p:nvPr/>
          </p:nvSpPr>
          <p:spPr bwMode="auto">
            <a:xfrm>
              <a:off x="3222"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639" name="Text Box 250"/>
            <p:cNvSpPr txBox="1">
              <a:spLocks noChangeArrowheads="1"/>
            </p:cNvSpPr>
            <p:nvPr/>
          </p:nvSpPr>
          <p:spPr bwMode="auto">
            <a:xfrm>
              <a:off x="3654" y="314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40" name="Text Box 251"/>
            <p:cNvSpPr txBox="1">
              <a:spLocks noChangeArrowheads="1"/>
            </p:cNvSpPr>
            <p:nvPr/>
          </p:nvSpPr>
          <p:spPr bwMode="auto">
            <a:xfrm>
              <a:off x="4086"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641" name="Text Box 252"/>
            <p:cNvSpPr txBox="1">
              <a:spLocks noChangeArrowheads="1"/>
            </p:cNvSpPr>
            <p:nvPr/>
          </p:nvSpPr>
          <p:spPr bwMode="auto">
            <a:xfrm>
              <a:off x="1899"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42" name="Text Box 253"/>
            <p:cNvSpPr txBox="1">
              <a:spLocks noChangeArrowheads="1"/>
            </p:cNvSpPr>
            <p:nvPr/>
          </p:nvSpPr>
          <p:spPr bwMode="auto">
            <a:xfrm>
              <a:off x="1275" y="314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643" name="Text Box 254"/>
            <p:cNvSpPr txBox="1">
              <a:spLocks noChangeArrowheads="1"/>
            </p:cNvSpPr>
            <p:nvPr/>
          </p:nvSpPr>
          <p:spPr bwMode="auto">
            <a:xfrm>
              <a:off x="1611" y="3573"/>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644" name="Text Box 255"/>
            <p:cNvSpPr txBox="1">
              <a:spLocks noChangeArrowheads="1"/>
            </p:cNvSpPr>
            <p:nvPr/>
          </p:nvSpPr>
          <p:spPr bwMode="auto">
            <a:xfrm>
              <a:off x="4518"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645" name="Text Box 256"/>
            <p:cNvSpPr txBox="1">
              <a:spLocks noChangeArrowheads="1"/>
            </p:cNvSpPr>
            <p:nvPr/>
          </p:nvSpPr>
          <p:spPr bwMode="auto">
            <a:xfrm>
              <a:off x="4950" y="314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646" name="Text Box 257"/>
            <p:cNvSpPr txBox="1">
              <a:spLocks noChangeArrowheads="1"/>
            </p:cNvSpPr>
            <p:nvPr/>
          </p:nvSpPr>
          <p:spPr bwMode="auto">
            <a:xfrm>
              <a:off x="4206"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647" name="Text Box 258"/>
            <p:cNvSpPr txBox="1">
              <a:spLocks noChangeArrowheads="1"/>
            </p:cNvSpPr>
            <p:nvPr/>
          </p:nvSpPr>
          <p:spPr bwMode="auto">
            <a:xfrm>
              <a:off x="4641"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648" name="Text Box 259"/>
            <p:cNvSpPr txBox="1">
              <a:spLocks noChangeArrowheads="1"/>
            </p:cNvSpPr>
            <p:nvPr/>
          </p:nvSpPr>
          <p:spPr bwMode="auto">
            <a:xfrm>
              <a:off x="2763"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49" name="Text Box 260"/>
            <p:cNvSpPr txBox="1">
              <a:spLocks noChangeArrowheads="1"/>
            </p:cNvSpPr>
            <p:nvPr/>
          </p:nvSpPr>
          <p:spPr bwMode="auto">
            <a:xfrm>
              <a:off x="2571"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650" name="Text Box 261"/>
            <p:cNvSpPr txBox="1">
              <a:spLocks noChangeArrowheads="1"/>
            </p:cNvSpPr>
            <p:nvPr/>
          </p:nvSpPr>
          <p:spPr bwMode="auto">
            <a:xfrm>
              <a:off x="3627"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51" name="Text Box 262"/>
            <p:cNvSpPr txBox="1">
              <a:spLocks noChangeArrowheads="1"/>
            </p:cNvSpPr>
            <p:nvPr/>
          </p:nvSpPr>
          <p:spPr bwMode="auto">
            <a:xfrm>
              <a:off x="3435"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652" name="Text Box 263"/>
            <p:cNvSpPr txBox="1">
              <a:spLocks noChangeArrowheads="1"/>
            </p:cNvSpPr>
            <p:nvPr/>
          </p:nvSpPr>
          <p:spPr bwMode="auto">
            <a:xfrm>
              <a:off x="4491"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23653" name="Text Box 264"/>
            <p:cNvSpPr txBox="1">
              <a:spLocks noChangeArrowheads="1"/>
            </p:cNvSpPr>
            <p:nvPr/>
          </p:nvSpPr>
          <p:spPr bwMode="auto">
            <a:xfrm>
              <a:off x="4299"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11" name="Group 326"/>
          <p:cNvGrpSpPr>
            <a:grpSpLocks/>
          </p:cNvGrpSpPr>
          <p:nvPr/>
        </p:nvGrpSpPr>
        <p:grpSpPr bwMode="auto">
          <a:xfrm>
            <a:off x="756816" y="2036763"/>
            <a:ext cx="7086600" cy="4419600"/>
            <a:chOff x="1179" y="1116"/>
            <a:chExt cx="4464" cy="2784"/>
          </a:xfrm>
        </p:grpSpPr>
        <p:sp>
          <p:nvSpPr>
            <p:cNvPr id="23596" name="Rectangle 266"/>
            <p:cNvSpPr>
              <a:spLocks noChangeArrowheads="1"/>
            </p:cNvSpPr>
            <p:nvPr/>
          </p:nvSpPr>
          <p:spPr bwMode="auto">
            <a:xfrm>
              <a:off x="1179" y="1116"/>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597" name="Text Box 267"/>
            <p:cNvSpPr txBox="1">
              <a:spLocks noChangeArrowheads="1"/>
            </p:cNvSpPr>
            <p:nvPr/>
          </p:nvSpPr>
          <p:spPr bwMode="auto">
            <a:xfrm>
              <a:off x="1227" y="1164"/>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find which (if any) element of the sorted (sub)array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equals </a:t>
              </a:r>
              <a:r>
                <a:rPr lang="en-US" altLang="en-US" sz="2000" i="1">
                  <a:latin typeface="Times New Roman" pitchFamily="18" charset="0"/>
                </a:rPr>
                <a:t>target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and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l</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a:t>
              </a:r>
              <a:r>
                <a:rPr lang="en-US" altLang="en-US" sz="2000">
                  <a:solidFill>
                    <a:srgbClr val="FF0000"/>
                  </a:solidFill>
                  <a:latin typeface="Times New Roman" pitchFamily="18" charset="0"/>
                </a:rPr>
                <a:t>Let </a:t>
              </a:r>
              <a:r>
                <a:rPr lang="en-US" altLang="en-US" sz="2000" i="1">
                  <a:solidFill>
                    <a:srgbClr val="FF0000"/>
                  </a:solidFill>
                  <a:latin typeface="Times New Roman" pitchFamily="18" charset="0"/>
                </a:rPr>
                <a:t>m</a:t>
              </a:r>
              <a:r>
                <a:rPr lang="en-US" altLang="en-US" sz="2000">
                  <a:solidFill>
                    <a:srgbClr val="FF0000"/>
                  </a:solidFill>
                  <a:latin typeface="Times New Roman" pitchFamily="18" charset="0"/>
                </a:rPr>
                <a:t> be an integer about midway between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r</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2.2.	If </a:t>
              </a:r>
              <a:r>
                <a:rPr lang="en-US" altLang="en-US" sz="2000" i="1">
                  <a:latin typeface="Times New Roman" pitchFamily="18" charset="0"/>
                </a:rPr>
                <a:t>target</a:t>
              </a:r>
              <a:r>
                <a:rPr lang="en-US" altLang="en-US" sz="2000">
                  <a:latin typeface="Times New Roman" pitchFamily="18" charset="0"/>
                </a:rPr>
                <a:t> equals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terminate yielding </a:t>
              </a:r>
              <a:r>
                <a:rPr lang="en-US" altLang="en-US" sz="2000" i="1">
                  <a:latin typeface="Times New Roman" pitchFamily="18" charset="0"/>
                </a:rPr>
                <a:t>m</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2.3.	Else, if </a:t>
              </a:r>
              <a:r>
                <a:rPr lang="en-US" altLang="en-US" sz="2000" i="1">
                  <a:latin typeface="Times New Roman" pitchFamily="18" charset="0"/>
                </a:rPr>
                <a:t>target</a:t>
              </a:r>
              <a:r>
                <a:rPr lang="en-US" altLang="en-US" sz="2000">
                  <a:latin typeface="Times New Roman" pitchFamily="18" charset="0"/>
                </a:rPr>
                <a:t> is less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r</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	2.4.	Else, if </a:t>
              </a:r>
              <a:r>
                <a:rPr lang="en-US" altLang="en-US" sz="2000" i="1">
                  <a:latin typeface="Times New Roman" pitchFamily="18" charset="0"/>
                </a:rPr>
                <a:t>target</a:t>
              </a:r>
              <a:r>
                <a:rPr lang="en-US" altLang="en-US" sz="2000">
                  <a:latin typeface="Times New Roman" pitchFamily="18" charset="0"/>
                </a:rPr>
                <a:t> is greater than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m</a:t>
              </a:r>
              <a:r>
                <a:rPr lang="en-US" altLang="en-US" sz="2000">
                  <a:latin typeface="Times New Roman" pitchFamily="18" charset="0"/>
                </a:rPr>
                <a:t>], set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m</a:t>
              </a:r>
              <a:r>
                <a:rPr lang="en-US" altLang="en-US" sz="2000">
                  <a:latin typeface="Times New Roman" pitchFamily="18" charset="0"/>
                </a:rPr>
                <a:t>+1.</a:t>
              </a:r>
              <a:br>
                <a:rPr lang="en-US" altLang="en-US" sz="2000">
                  <a:latin typeface="Times New Roman" pitchFamily="18" charset="0"/>
                </a:rPr>
              </a:br>
              <a:r>
                <a:rPr lang="en-US" altLang="en-US" sz="2000">
                  <a:latin typeface="Times New Roman" pitchFamily="18" charset="0"/>
                </a:rPr>
                <a:t>3.	Terminate yielding </a:t>
              </a:r>
              <a:r>
                <a:rPr lang="en-US" altLang="en-US" sz="2000" i="1">
                  <a:latin typeface="Times New Roman" pitchFamily="18" charset="0"/>
                </a:rPr>
                <a:t>none</a:t>
              </a:r>
              <a:r>
                <a:rPr lang="en-US" altLang="en-US" sz="2000">
                  <a:latin typeface="Times New Roman" pitchFamily="18" charset="0"/>
                </a:rPr>
                <a:t>.</a:t>
              </a:r>
            </a:p>
          </p:txBody>
        </p:sp>
        <p:sp>
          <p:nvSpPr>
            <p:cNvPr id="23598" name="Text Box 268"/>
            <p:cNvSpPr txBox="1">
              <a:spLocks noChangeArrowheads="1"/>
            </p:cNvSpPr>
            <p:nvPr/>
          </p:nvSpPr>
          <p:spPr bwMode="auto">
            <a:xfrm>
              <a:off x="1467"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23599" name="Text Box 269"/>
            <p:cNvSpPr txBox="1">
              <a:spLocks noChangeArrowheads="1"/>
            </p:cNvSpPr>
            <p:nvPr/>
          </p:nvSpPr>
          <p:spPr bwMode="auto">
            <a:xfrm>
              <a:off x="1227" y="298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600" name="Text Box 270"/>
            <p:cNvSpPr txBox="1">
              <a:spLocks noChangeArrowheads="1"/>
            </p:cNvSpPr>
            <p:nvPr/>
          </p:nvSpPr>
          <p:spPr bwMode="auto">
            <a:xfrm>
              <a:off x="2047"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601" name="Text Box 271"/>
            <p:cNvSpPr txBox="1">
              <a:spLocks noChangeArrowheads="1"/>
            </p:cNvSpPr>
            <p:nvPr/>
          </p:nvSpPr>
          <p:spPr bwMode="auto">
            <a:xfrm>
              <a:off x="2475"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602" name="Text Box 272"/>
            <p:cNvSpPr txBox="1">
              <a:spLocks noChangeArrowheads="1"/>
            </p:cNvSpPr>
            <p:nvPr/>
          </p:nvSpPr>
          <p:spPr bwMode="auto">
            <a:xfrm>
              <a:off x="2907"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603" name="Text Box 273"/>
            <p:cNvSpPr txBox="1">
              <a:spLocks noChangeArrowheads="1"/>
            </p:cNvSpPr>
            <p:nvPr/>
          </p:nvSpPr>
          <p:spPr bwMode="auto">
            <a:xfrm>
              <a:off x="3339"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604" name="Text Box 274"/>
            <p:cNvSpPr txBox="1">
              <a:spLocks noChangeArrowheads="1"/>
            </p:cNvSpPr>
            <p:nvPr/>
          </p:nvSpPr>
          <p:spPr bwMode="auto">
            <a:xfrm>
              <a:off x="3771"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605" name="Text Box 275"/>
            <p:cNvSpPr txBox="1">
              <a:spLocks noChangeArrowheads="1"/>
            </p:cNvSpPr>
            <p:nvPr/>
          </p:nvSpPr>
          <p:spPr bwMode="auto">
            <a:xfrm>
              <a:off x="4971" y="298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606" name="Text Box 276"/>
            <p:cNvSpPr txBox="1">
              <a:spLocks noChangeArrowheads="1"/>
            </p:cNvSpPr>
            <p:nvPr/>
          </p:nvSpPr>
          <p:spPr bwMode="auto">
            <a:xfrm>
              <a:off x="1926"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607" name="Text Box 277"/>
            <p:cNvSpPr txBox="1">
              <a:spLocks noChangeArrowheads="1"/>
            </p:cNvSpPr>
            <p:nvPr/>
          </p:nvSpPr>
          <p:spPr bwMode="auto">
            <a:xfrm>
              <a:off x="2358"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608" name="Text Box 278"/>
            <p:cNvSpPr txBox="1">
              <a:spLocks noChangeArrowheads="1"/>
            </p:cNvSpPr>
            <p:nvPr/>
          </p:nvSpPr>
          <p:spPr bwMode="auto">
            <a:xfrm>
              <a:off x="2790"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609" name="Text Box 279"/>
            <p:cNvSpPr txBox="1">
              <a:spLocks noChangeArrowheads="1"/>
            </p:cNvSpPr>
            <p:nvPr/>
          </p:nvSpPr>
          <p:spPr bwMode="auto">
            <a:xfrm>
              <a:off x="3222"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610" name="Text Box 280"/>
            <p:cNvSpPr txBox="1">
              <a:spLocks noChangeArrowheads="1"/>
            </p:cNvSpPr>
            <p:nvPr/>
          </p:nvSpPr>
          <p:spPr bwMode="auto">
            <a:xfrm>
              <a:off x="3654" y="318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11" name="Text Box 281"/>
            <p:cNvSpPr txBox="1">
              <a:spLocks noChangeArrowheads="1"/>
            </p:cNvSpPr>
            <p:nvPr/>
          </p:nvSpPr>
          <p:spPr bwMode="auto">
            <a:xfrm>
              <a:off x="4086"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612" name="Text Box 282"/>
            <p:cNvSpPr txBox="1">
              <a:spLocks noChangeArrowheads="1"/>
            </p:cNvSpPr>
            <p:nvPr/>
          </p:nvSpPr>
          <p:spPr bwMode="auto">
            <a:xfrm>
              <a:off x="1899" y="361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613" name="Text Box 283"/>
            <p:cNvSpPr txBox="1">
              <a:spLocks noChangeArrowheads="1"/>
            </p:cNvSpPr>
            <p:nvPr/>
          </p:nvSpPr>
          <p:spPr bwMode="auto">
            <a:xfrm>
              <a:off x="1275" y="318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614" name="Text Box 284"/>
            <p:cNvSpPr txBox="1">
              <a:spLocks noChangeArrowheads="1"/>
            </p:cNvSpPr>
            <p:nvPr/>
          </p:nvSpPr>
          <p:spPr bwMode="auto">
            <a:xfrm>
              <a:off x="1611" y="3612"/>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615" name="Text Box 285"/>
            <p:cNvSpPr txBox="1">
              <a:spLocks noChangeArrowheads="1"/>
            </p:cNvSpPr>
            <p:nvPr/>
          </p:nvSpPr>
          <p:spPr bwMode="auto">
            <a:xfrm>
              <a:off x="4518"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616" name="Text Box 286"/>
            <p:cNvSpPr txBox="1">
              <a:spLocks noChangeArrowheads="1"/>
            </p:cNvSpPr>
            <p:nvPr/>
          </p:nvSpPr>
          <p:spPr bwMode="auto">
            <a:xfrm>
              <a:off x="4950" y="318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23617" name="Text Box 287"/>
            <p:cNvSpPr txBox="1">
              <a:spLocks noChangeArrowheads="1"/>
            </p:cNvSpPr>
            <p:nvPr/>
          </p:nvSpPr>
          <p:spPr bwMode="auto">
            <a:xfrm>
              <a:off x="4206"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618" name="Text Box 288"/>
            <p:cNvSpPr txBox="1">
              <a:spLocks noChangeArrowheads="1"/>
            </p:cNvSpPr>
            <p:nvPr/>
          </p:nvSpPr>
          <p:spPr bwMode="auto">
            <a:xfrm>
              <a:off x="4641" y="298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619" name="Text Box 289"/>
            <p:cNvSpPr txBox="1">
              <a:spLocks noChangeArrowheads="1"/>
            </p:cNvSpPr>
            <p:nvPr/>
          </p:nvSpPr>
          <p:spPr bwMode="auto">
            <a:xfrm>
              <a:off x="2763" y="361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20" name="Text Box 290"/>
            <p:cNvSpPr txBox="1">
              <a:spLocks noChangeArrowheads="1"/>
            </p:cNvSpPr>
            <p:nvPr/>
          </p:nvSpPr>
          <p:spPr bwMode="auto">
            <a:xfrm>
              <a:off x="2571" y="361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621" name="Text Box 291"/>
            <p:cNvSpPr txBox="1">
              <a:spLocks noChangeArrowheads="1"/>
            </p:cNvSpPr>
            <p:nvPr/>
          </p:nvSpPr>
          <p:spPr bwMode="auto">
            <a:xfrm>
              <a:off x="3627" y="361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22" name="Text Box 292"/>
            <p:cNvSpPr txBox="1">
              <a:spLocks noChangeArrowheads="1"/>
            </p:cNvSpPr>
            <p:nvPr/>
          </p:nvSpPr>
          <p:spPr bwMode="auto">
            <a:xfrm>
              <a:off x="3435" y="361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623" name="Text Box 293"/>
            <p:cNvSpPr txBox="1">
              <a:spLocks noChangeArrowheads="1"/>
            </p:cNvSpPr>
            <p:nvPr/>
          </p:nvSpPr>
          <p:spPr bwMode="auto">
            <a:xfrm>
              <a:off x="4491" y="361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624" name="Text Box 294"/>
            <p:cNvSpPr txBox="1">
              <a:spLocks noChangeArrowheads="1"/>
            </p:cNvSpPr>
            <p:nvPr/>
          </p:nvSpPr>
          <p:spPr bwMode="auto">
            <a:xfrm>
              <a:off x="4299" y="361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12" name="Group 325"/>
          <p:cNvGrpSpPr>
            <a:grpSpLocks/>
          </p:cNvGrpSpPr>
          <p:nvPr/>
        </p:nvGrpSpPr>
        <p:grpSpPr bwMode="auto">
          <a:xfrm>
            <a:off x="757238" y="2020929"/>
            <a:ext cx="7086600" cy="4419600"/>
            <a:chOff x="1179" y="1077"/>
            <a:chExt cx="4464" cy="2784"/>
          </a:xfrm>
        </p:grpSpPr>
        <p:sp>
          <p:nvSpPr>
            <p:cNvPr id="23567" name="Rectangle 296"/>
            <p:cNvSpPr>
              <a:spLocks noChangeArrowheads="1"/>
            </p:cNvSpPr>
            <p:nvPr/>
          </p:nvSpPr>
          <p:spPr bwMode="auto">
            <a:xfrm>
              <a:off x="1179" y="1077"/>
              <a:ext cx="4464" cy="2784"/>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23568" name="Text Box 297"/>
            <p:cNvSpPr txBox="1">
              <a:spLocks noChangeArrowheads="1"/>
            </p:cNvSpPr>
            <p:nvPr/>
          </p:nvSpPr>
          <p:spPr bwMode="auto">
            <a:xfrm>
              <a:off x="1227" y="1125"/>
              <a:ext cx="4368"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Lst>
                <a:defRPr sz="1600">
                  <a:solidFill>
                    <a:schemeClr val="tx1"/>
                  </a:solidFill>
                  <a:latin typeface="Arial" charset="0"/>
                </a:defRPr>
              </a:lvl9pPr>
            </a:lstStyle>
            <a:p>
              <a:pPr>
                <a:spcBef>
                  <a:spcPts val="1800"/>
                </a:spcBef>
                <a:buClrTx/>
                <a:buFontTx/>
                <a:buNone/>
              </a:pPr>
              <a:r>
                <a:rPr lang="en-US" altLang="en-US" sz="2000" dirty="0">
                  <a:latin typeface="Times New Roman" pitchFamily="18" charset="0"/>
                </a:rPr>
                <a:t>To find which (if any) element of the sorted (sub)array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equals </a:t>
              </a:r>
              <a:r>
                <a:rPr lang="en-US" altLang="en-US" sz="2000" i="1" dirty="0">
                  <a:latin typeface="Times New Roman" pitchFamily="18" charset="0"/>
                </a:rPr>
                <a:t>target</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1.	Set </a:t>
              </a:r>
              <a:r>
                <a:rPr lang="en-US" altLang="en-US" sz="2000" i="1" dirty="0">
                  <a:latin typeface="Times New Roman" pitchFamily="18" charset="0"/>
                </a:rPr>
                <a:t>l</a:t>
              </a:r>
              <a:r>
                <a:rPr lang="en-US" altLang="en-US" sz="2000" dirty="0">
                  <a:latin typeface="Times New Roman" pitchFamily="18" charset="0"/>
                </a:rPr>
                <a:t> = </a:t>
              </a:r>
              <a:r>
                <a:rPr lang="en-US" altLang="en-US" sz="2000" i="1" dirty="0">
                  <a:latin typeface="Times New Roman" pitchFamily="18" charset="0"/>
                </a:rPr>
                <a:t>left</a:t>
              </a:r>
              <a:r>
                <a:rPr lang="en-US" altLang="en-US" sz="2000" dirty="0">
                  <a:latin typeface="Times New Roman" pitchFamily="18" charset="0"/>
                </a:rPr>
                <a:t>, and set </a:t>
              </a:r>
              <a:r>
                <a:rPr lang="en-US" altLang="en-US" sz="2000" i="1" dirty="0">
                  <a:latin typeface="Times New Roman" pitchFamily="18" charset="0"/>
                </a:rPr>
                <a:t>r</a:t>
              </a:r>
              <a:r>
                <a:rPr lang="en-US" altLang="en-US" sz="2000" dirty="0">
                  <a:latin typeface="Times New Roman" pitchFamily="18" charset="0"/>
                </a:rPr>
                <a:t> = </a:t>
              </a:r>
              <a:r>
                <a:rPr lang="en-US" altLang="en-US" sz="2000" i="1" dirty="0">
                  <a:latin typeface="Times New Roman" pitchFamily="18" charset="0"/>
                </a:rPr>
                <a:t>right</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While </a:t>
              </a:r>
              <a:r>
                <a:rPr lang="en-US" altLang="en-US" sz="2000" i="1" dirty="0">
                  <a:latin typeface="Times New Roman" pitchFamily="18" charset="0"/>
                </a:rPr>
                <a:t>l</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a:t>
              </a:r>
              <a:r>
                <a:rPr lang="en-US" altLang="en-US" sz="2000" dirty="0">
                  <a:latin typeface="Times New Roman" pitchFamily="18" charset="0"/>
                </a:rPr>
                <a:t>, repeat:</a:t>
              </a:r>
              <a:br>
                <a:rPr lang="en-US" altLang="en-US" sz="2000" dirty="0">
                  <a:latin typeface="Times New Roman" pitchFamily="18" charset="0"/>
                </a:rPr>
              </a:br>
              <a:r>
                <a:rPr lang="en-US" altLang="en-US" sz="2000" dirty="0">
                  <a:latin typeface="Times New Roman" pitchFamily="18" charset="0"/>
                </a:rPr>
                <a:t>	2.1.	Let </a:t>
              </a:r>
              <a:r>
                <a:rPr lang="en-US" altLang="en-US" sz="2000" i="1" dirty="0">
                  <a:latin typeface="Times New Roman" pitchFamily="18" charset="0"/>
                </a:rPr>
                <a:t>m</a:t>
              </a:r>
              <a:r>
                <a:rPr lang="en-US" altLang="en-US" sz="2000" dirty="0">
                  <a:latin typeface="Times New Roman" pitchFamily="18" charset="0"/>
                </a:rPr>
                <a:t> be an integer about midway between </a:t>
              </a:r>
              <a:r>
                <a:rPr lang="en-US" altLang="en-US" sz="2000" i="1" dirty="0">
                  <a:latin typeface="Times New Roman" pitchFamily="18" charset="0"/>
                </a:rPr>
                <a:t>l</a:t>
              </a:r>
              <a:r>
                <a:rPr lang="en-US" altLang="en-US" sz="2000" dirty="0">
                  <a:latin typeface="Times New Roman" pitchFamily="18" charset="0"/>
                </a:rPr>
                <a:t> and </a:t>
              </a:r>
              <a:r>
                <a:rPr lang="en-US" altLang="en-US" sz="2000" i="1" dirty="0">
                  <a:latin typeface="Times New Roman" pitchFamily="18" charset="0"/>
                </a:rPr>
                <a:t>r</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2.2.	</a:t>
              </a:r>
              <a:r>
                <a:rPr lang="en-US" altLang="en-US" sz="2000" dirty="0">
                  <a:solidFill>
                    <a:srgbClr val="FF0000"/>
                  </a:solidFill>
                  <a:latin typeface="Times New Roman" pitchFamily="18" charset="0"/>
                </a:rPr>
                <a:t>If </a:t>
              </a:r>
              <a:r>
                <a:rPr lang="en-US" altLang="en-US" sz="2000" i="1" dirty="0">
                  <a:solidFill>
                    <a:srgbClr val="FF0000"/>
                  </a:solidFill>
                  <a:latin typeface="Times New Roman" pitchFamily="18" charset="0"/>
                </a:rPr>
                <a:t>target</a:t>
              </a:r>
              <a:r>
                <a:rPr lang="en-US" altLang="en-US" sz="2000" dirty="0">
                  <a:solidFill>
                    <a:srgbClr val="FF0000"/>
                  </a:solidFill>
                  <a:latin typeface="Times New Roman" pitchFamily="18" charset="0"/>
                </a:rPr>
                <a:t> equals </a:t>
              </a:r>
              <a:r>
                <a:rPr lang="en-US" altLang="en-US" sz="2000" i="1" dirty="0">
                  <a:solidFill>
                    <a:srgbClr val="FF0000"/>
                  </a:solidFill>
                  <a:latin typeface="Times New Roman" pitchFamily="18" charset="0"/>
                </a:rPr>
                <a:t>a</a:t>
              </a:r>
              <a:r>
                <a:rPr lang="en-US" altLang="en-US" sz="2000" dirty="0">
                  <a:solidFill>
                    <a:srgbClr val="FF0000"/>
                  </a:solidFill>
                  <a:latin typeface="Times New Roman" pitchFamily="18" charset="0"/>
                </a:rPr>
                <a:t>[</a:t>
              </a:r>
              <a:r>
                <a:rPr lang="en-US" altLang="en-US" sz="2000" i="1" dirty="0">
                  <a:solidFill>
                    <a:srgbClr val="FF0000"/>
                  </a:solidFill>
                  <a:latin typeface="Times New Roman" pitchFamily="18" charset="0"/>
                </a:rPr>
                <a:t>m</a:t>
              </a:r>
              <a:r>
                <a:rPr lang="en-US" altLang="en-US" sz="2000" dirty="0">
                  <a:solidFill>
                    <a:srgbClr val="FF0000"/>
                  </a:solidFill>
                  <a:latin typeface="Times New Roman" pitchFamily="18" charset="0"/>
                </a:rPr>
                <a:t>], terminate yielding </a:t>
              </a:r>
              <a:r>
                <a:rPr lang="en-US" altLang="en-US" sz="2000" i="1" dirty="0">
                  <a:solidFill>
                    <a:srgbClr val="FF0000"/>
                  </a:solidFill>
                  <a:latin typeface="Times New Roman" pitchFamily="18" charset="0"/>
                </a:rPr>
                <a:t>m</a:t>
              </a:r>
              <a:r>
                <a:rPr lang="en-US" altLang="en-US" sz="2000" dirty="0">
                  <a:solidFill>
                    <a:srgbClr val="FF0000"/>
                  </a:solidFill>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2.3.	Else, if </a:t>
              </a:r>
              <a:r>
                <a:rPr lang="en-US" altLang="en-US" sz="2000" i="1" dirty="0">
                  <a:latin typeface="Times New Roman" pitchFamily="18" charset="0"/>
                </a:rPr>
                <a:t>target</a:t>
              </a:r>
              <a:r>
                <a:rPr lang="en-US" altLang="en-US" sz="2000" dirty="0">
                  <a:latin typeface="Times New Roman" pitchFamily="18" charset="0"/>
                </a:rPr>
                <a:t> is less than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m</a:t>
              </a:r>
              <a:r>
                <a:rPr lang="en-US" altLang="en-US" sz="2000" dirty="0">
                  <a:latin typeface="Times New Roman" pitchFamily="18" charset="0"/>
                </a:rPr>
                <a:t>], set </a:t>
              </a:r>
              <a:r>
                <a:rPr lang="en-US" altLang="en-US" sz="2000" i="1" dirty="0">
                  <a:latin typeface="Times New Roman" pitchFamily="18" charset="0"/>
                </a:rPr>
                <a:t>r</a:t>
              </a:r>
              <a:r>
                <a:rPr lang="en-US" altLang="en-US" sz="2000" dirty="0">
                  <a:latin typeface="Times New Roman" pitchFamily="18" charset="0"/>
                </a:rPr>
                <a:t> = </a:t>
              </a:r>
              <a:r>
                <a:rPr lang="en-US" altLang="en-US" sz="2000" i="1" dirty="0">
                  <a:latin typeface="Times New Roman" pitchFamily="18" charset="0"/>
                </a:rPr>
                <a:t>m</a:t>
              </a:r>
              <a:r>
                <a:rPr lang="en-US" altLang="en-US" sz="2000" dirty="0">
                  <a:latin typeface="Times New Roman" pitchFamily="18" charset="0"/>
                </a:rPr>
                <a:t>–1.</a:t>
              </a:r>
              <a:br>
                <a:rPr lang="en-US" altLang="en-US" sz="2000" dirty="0">
                  <a:latin typeface="Times New Roman" pitchFamily="18" charset="0"/>
                </a:rPr>
              </a:br>
              <a:r>
                <a:rPr lang="en-US" altLang="en-US" sz="2000" dirty="0">
                  <a:latin typeface="Times New Roman" pitchFamily="18" charset="0"/>
                </a:rPr>
                <a:t>	2.4.	Else, if </a:t>
              </a:r>
              <a:r>
                <a:rPr lang="en-US" altLang="en-US" sz="2000" i="1" dirty="0">
                  <a:latin typeface="Times New Roman" pitchFamily="18" charset="0"/>
                </a:rPr>
                <a:t>target</a:t>
              </a:r>
              <a:r>
                <a:rPr lang="en-US" altLang="en-US" sz="2000" dirty="0">
                  <a:latin typeface="Times New Roman" pitchFamily="18" charset="0"/>
                </a:rPr>
                <a:t> is greater than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m</a:t>
              </a:r>
              <a:r>
                <a:rPr lang="en-US" altLang="en-US" sz="2000" dirty="0">
                  <a:latin typeface="Times New Roman" pitchFamily="18" charset="0"/>
                </a:rPr>
                <a:t>], set </a:t>
              </a:r>
              <a:r>
                <a:rPr lang="en-US" altLang="en-US" sz="2000" i="1" dirty="0">
                  <a:latin typeface="Times New Roman" pitchFamily="18" charset="0"/>
                </a:rPr>
                <a:t>l</a:t>
              </a:r>
              <a:r>
                <a:rPr lang="en-US" altLang="en-US" sz="2000" dirty="0">
                  <a:latin typeface="Times New Roman" pitchFamily="18" charset="0"/>
                </a:rPr>
                <a:t> = </a:t>
              </a:r>
              <a:r>
                <a:rPr lang="en-US" altLang="en-US" sz="2000" i="1" dirty="0">
                  <a:latin typeface="Times New Roman" pitchFamily="18" charset="0"/>
                </a:rPr>
                <a:t>m</a:t>
              </a:r>
              <a:r>
                <a:rPr lang="en-US" altLang="en-US" sz="2000" dirty="0">
                  <a:latin typeface="Times New Roman" pitchFamily="18" charset="0"/>
                </a:rPr>
                <a:t>+1.</a:t>
              </a:r>
              <a:br>
                <a:rPr lang="en-US" altLang="en-US" sz="2000" dirty="0">
                  <a:latin typeface="Times New Roman" pitchFamily="18" charset="0"/>
                </a:rPr>
              </a:br>
              <a:r>
                <a:rPr lang="en-US" altLang="en-US" sz="2000" dirty="0">
                  <a:latin typeface="Times New Roman" pitchFamily="18" charset="0"/>
                </a:rPr>
                <a:t>3.	Terminate yielding </a:t>
              </a:r>
              <a:r>
                <a:rPr lang="en-US" altLang="en-US" sz="2000" i="1" dirty="0">
                  <a:latin typeface="Times New Roman" pitchFamily="18" charset="0"/>
                </a:rPr>
                <a:t>none</a:t>
              </a:r>
              <a:r>
                <a:rPr lang="en-US" altLang="en-US" sz="2000" dirty="0">
                  <a:latin typeface="Times New Roman" pitchFamily="18" charset="0"/>
                </a:rPr>
                <a:t>.</a:t>
              </a:r>
            </a:p>
          </p:txBody>
        </p:sp>
        <p:sp>
          <p:nvSpPr>
            <p:cNvPr id="23569" name="Text Box 298"/>
            <p:cNvSpPr txBox="1">
              <a:spLocks noChangeArrowheads="1"/>
            </p:cNvSpPr>
            <p:nvPr/>
          </p:nvSpPr>
          <p:spPr bwMode="auto">
            <a:xfrm>
              <a:off x="1467"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cat</a:t>
              </a:r>
            </a:p>
          </p:txBody>
        </p:sp>
        <p:sp>
          <p:nvSpPr>
            <p:cNvPr id="23570" name="Text Box 299"/>
            <p:cNvSpPr txBox="1">
              <a:spLocks noChangeArrowheads="1"/>
            </p:cNvSpPr>
            <p:nvPr/>
          </p:nvSpPr>
          <p:spPr bwMode="auto">
            <a:xfrm>
              <a:off x="1227" y="294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23571" name="Text Box 300"/>
            <p:cNvSpPr txBox="1">
              <a:spLocks noChangeArrowheads="1"/>
            </p:cNvSpPr>
            <p:nvPr/>
          </p:nvSpPr>
          <p:spPr bwMode="auto">
            <a:xfrm>
              <a:off x="2047"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23572" name="Text Box 301"/>
            <p:cNvSpPr txBox="1">
              <a:spLocks noChangeArrowheads="1"/>
            </p:cNvSpPr>
            <p:nvPr/>
          </p:nvSpPr>
          <p:spPr bwMode="auto">
            <a:xfrm>
              <a:off x="2475"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23573" name="Text Box 302"/>
            <p:cNvSpPr txBox="1">
              <a:spLocks noChangeArrowheads="1"/>
            </p:cNvSpPr>
            <p:nvPr/>
          </p:nvSpPr>
          <p:spPr bwMode="auto">
            <a:xfrm>
              <a:off x="2907"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23574" name="Text Box 303"/>
            <p:cNvSpPr txBox="1">
              <a:spLocks noChangeArrowheads="1"/>
            </p:cNvSpPr>
            <p:nvPr/>
          </p:nvSpPr>
          <p:spPr bwMode="auto">
            <a:xfrm>
              <a:off x="3339"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23575" name="Text Box 304"/>
            <p:cNvSpPr txBox="1">
              <a:spLocks noChangeArrowheads="1"/>
            </p:cNvSpPr>
            <p:nvPr/>
          </p:nvSpPr>
          <p:spPr bwMode="auto">
            <a:xfrm>
              <a:off x="3771"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23576" name="Text Box 305"/>
            <p:cNvSpPr txBox="1">
              <a:spLocks noChangeArrowheads="1"/>
            </p:cNvSpPr>
            <p:nvPr/>
          </p:nvSpPr>
          <p:spPr bwMode="auto">
            <a:xfrm>
              <a:off x="4971" y="294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23577" name="Text Box 306"/>
            <p:cNvSpPr txBox="1">
              <a:spLocks noChangeArrowheads="1"/>
            </p:cNvSpPr>
            <p:nvPr/>
          </p:nvSpPr>
          <p:spPr bwMode="auto">
            <a:xfrm>
              <a:off x="1926"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23578" name="Text Box 307"/>
            <p:cNvSpPr txBox="1">
              <a:spLocks noChangeArrowheads="1"/>
            </p:cNvSpPr>
            <p:nvPr/>
          </p:nvSpPr>
          <p:spPr bwMode="auto">
            <a:xfrm>
              <a:off x="2358"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23579" name="Text Box 308"/>
            <p:cNvSpPr txBox="1">
              <a:spLocks noChangeArrowheads="1"/>
            </p:cNvSpPr>
            <p:nvPr/>
          </p:nvSpPr>
          <p:spPr bwMode="auto">
            <a:xfrm>
              <a:off x="2790"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23580" name="Text Box 309"/>
            <p:cNvSpPr txBox="1">
              <a:spLocks noChangeArrowheads="1"/>
            </p:cNvSpPr>
            <p:nvPr/>
          </p:nvSpPr>
          <p:spPr bwMode="auto">
            <a:xfrm>
              <a:off x="3222"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23581" name="Text Box 310"/>
            <p:cNvSpPr txBox="1">
              <a:spLocks noChangeArrowheads="1"/>
            </p:cNvSpPr>
            <p:nvPr/>
          </p:nvSpPr>
          <p:spPr bwMode="auto">
            <a:xfrm>
              <a:off x="3654" y="314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582" name="Text Box 311"/>
            <p:cNvSpPr txBox="1">
              <a:spLocks noChangeArrowheads="1"/>
            </p:cNvSpPr>
            <p:nvPr/>
          </p:nvSpPr>
          <p:spPr bwMode="auto">
            <a:xfrm>
              <a:off x="4086"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23583" name="Text Box 312"/>
            <p:cNvSpPr txBox="1">
              <a:spLocks noChangeArrowheads="1"/>
            </p:cNvSpPr>
            <p:nvPr/>
          </p:nvSpPr>
          <p:spPr bwMode="auto">
            <a:xfrm>
              <a:off x="1899"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23584" name="Text Box 313"/>
            <p:cNvSpPr txBox="1">
              <a:spLocks noChangeArrowheads="1"/>
            </p:cNvSpPr>
            <p:nvPr/>
          </p:nvSpPr>
          <p:spPr bwMode="auto">
            <a:xfrm>
              <a:off x="1275" y="314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23585" name="Text Box 314"/>
            <p:cNvSpPr txBox="1">
              <a:spLocks noChangeArrowheads="1"/>
            </p:cNvSpPr>
            <p:nvPr/>
          </p:nvSpPr>
          <p:spPr bwMode="auto">
            <a:xfrm>
              <a:off x="1611" y="3573"/>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target</a:t>
              </a:r>
            </a:p>
          </p:txBody>
        </p:sp>
        <p:sp>
          <p:nvSpPr>
            <p:cNvPr id="23586" name="Text Box 315"/>
            <p:cNvSpPr txBox="1">
              <a:spLocks noChangeArrowheads="1"/>
            </p:cNvSpPr>
            <p:nvPr/>
          </p:nvSpPr>
          <p:spPr bwMode="auto">
            <a:xfrm>
              <a:off x="4518"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23587" name="Text Box 316"/>
            <p:cNvSpPr txBox="1">
              <a:spLocks noChangeArrowheads="1"/>
            </p:cNvSpPr>
            <p:nvPr/>
          </p:nvSpPr>
          <p:spPr bwMode="auto">
            <a:xfrm>
              <a:off x="4950" y="314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tiger</a:t>
              </a:r>
            </a:p>
          </p:txBody>
        </p:sp>
        <p:sp>
          <p:nvSpPr>
            <p:cNvPr id="23588" name="Text Box 317"/>
            <p:cNvSpPr txBox="1">
              <a:spLocks noChangeArrowheads="1"/>
            </p:cNvSpPr>
            <p:nvPr/>
          </p:nvSpPr>
          <p:spPr bwMode="auto">
            <a:xfrm>
              <a:off x="4206"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23589" name="Text Box 318"/>
            <p:cNvSpPr txBox="1">
              <a:spLocks noChangeArrowheads="1"/>
            </p:cNvSpPr>
            <p:nvPr/>
          </p:nvSpPr>
          <p:spPr bwMode="auto">
            <a:xfrm>
              <a:off x="4641" y="294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23590" name="Text Box 319"/>
            <p:cNvSpPr txBox="1">
              <a:spLocks noChangeArrowheads="1"/>
            </p:cNvSpPr>
            <p:nvPr/>
          </p:nvSpPr>
          <p:spPr bwMode="auto">
            <a:xfrm>
              <a:off x="2763"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591" name="Text Box 320"/>
            <p:cNvSpPr txBox="1">
              <a:spLocks noChangeArrowheads="1"/>
            </p:cNvSpPr>
            <p:nvPr/>
          </p:nvSpPr>
          <p:spPr bwMode="auto">
            <a:xfrm>
              <a:off x="2571"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23592" name="Text Box 321"/>
            <p:cNvSpPr txBox="1">
              <a:spLocks noChangeArrowheads="1"/>
            </p:cNvSpPr>
            <p:nvPr/>
          </p:nvSpPr>
          <p:spPr bwMode="auto">
            <a:xfrm>
              <a:off x="3627"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593" name="Text Box 322"/>
            <p:cNvSpPr txBox="1">
              <a:spLocks noChangeArrowheads="1"/>
            </p:cNvSpPr>
            <p:nvPr/>
          </p:nvSpPr>
          <p:spPr bwMode="auto">
            <a:xfrm>
              <a:off x="3435"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r</a:t>
              </a:r>
            </a:p>
          </p:txBody>
        </p:sp>
        <p:sp>
          <p:nvSpPr>
            <p:cNvPr id="23594" name="Text Box 323"/>
            <p:cNvSpPr txBox="1">
              <a:spLocks noChangeArrowheads="1"/>
            </p:cNvSpPr>
            <p:nvPr/>
          </p:nvSpPr>
          <p:spPr bwMode="auto">
            <a:xfrm>
              <a:off x="4491" y="357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23595" name="Text Box 324"/>
            <p:cNvSpPr txBox="1">
              <a:spLocks noChangeArrowheads="1"/>
            </p:cNvSpPr>
            <p:nvPr/>
          </p:nvSpPr>
          <p:spPr bwMode="auto">
            <a:xfrm>
              <a:off x="4299" y="357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sp>
        <p:nvSpPr>
          <p:cNvPr id="13" name="Slide Number Placeholder 12"/>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2381142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(5)</a:t>
            </a:r>
            <a:endParaRPr lang="en-GB" altLang="en-US" sz="3200" i="1" dirty="0"/>
          </a:p>
        </p:txBody>
      </p:sp>
      <p:sp>
        <p:nvSpPr>
          <p:cNvPr id="24579" name="Rectangle 3"/>
          <p:cNvSpPr>
            <a:spLocks noGrp="1" noChangeArrowheads="1"/>
          </p:cNvSpPr>
          <p:nvPr>
            <p:ph idx="1"/>
          </p:nvPr>
        </p:nvSpPr>
        <p:spPr>
          <a:xfrm>
            <a:off x="609600" y="1219200"/>
            <a:ext cx="8305800" cy="3581400"/>
          </a:xfrm>
          <a:noFill/>
        </p:spPr>
        <p:txBody>
          <a:bodyPr>
            <a:normAutofit/>
          </a:bodyPr>
          <a:lstStyle/>
          <a:p>
            <a:pPr eaLnBrk="1" hangingPunct="1">
              <a:lnSpc>
                <a:spcPct val="90000"/>
              </a:lnSpc>
            </a:pPr>
            <a:r>
              <a:rPr lang="en-US" altLang="en-US" dirty="0"/>
              <a:t>Analysis (counting comparisons):  n is length of the array.</a:t>
            </a:r>
            <a:br>
              <a:rPr lang="en-US" altLang="en-US" dirty="0"/>
            </a:br>
            <a:r>
              <a:rPr lang="en-US" altLang="en-US" dirty="0"/>
              <a:t>Assume steps 2.2–4 perform 1 comparison.</a:t>
            </a:r>
          </a:p>
          <a:p>
            <a:pPr eaLnBrk="1" hangingPunct="1">
              <a:lnSpc>
                <a:spcPct val="90000"/>
              </a:lnSpc>
            </a:pPr>
            <a:r>
              <a:rPr lang="en-US" altLang="en-US" dirty="0"/>
              <a:t>If the search is </a:t>
            </a:r>
            <a:r>
              <a:rPr lang="en-US" altLang="en-US" b="1" dirty="0"/>
              <a:t>unsuccessful</a:t>
            </a:r>
            <a:r>
              <a:rPr lang="en-US" altLang="en-US" dirty="0"/>
              <a:t>, these steps are repeated as often as we must halve </a:t>
            </a:r>
            <a:r>
              <a:rPr lang="en-US" altLang="en-US" i="1" dirty="0"/>
              <a:t>n</a:t>
            </a:r>
            <a:r>
              <a:rPr lang="en-US" altLang="en-US" dirty="0"/>
              <a:t> to reach 0:</a:t>
            </a:r>
          </a:p>
          <a:p>
            <a:pPr>
              <a:lnSpc>
                <a:spcPct val="90000"/>
              </a:lnSpc>
              <a:spcBef>
                <a:spcPts val="900"/>
              </a:spcBef>
              <a:buNone/>
            </a:pPr>
            <a:r>
              <a:rPr lang="en-US" altLang="en-US" dirty="0"/>
              <a:t>	No. of comparisons </a:t>
            </a:r>
            <a:r>
              <a:rPr lang="en-US" altLang="en-US" dirty="0">
                <a:sym typeface="Symbol" pitchFamily="18" charset="2"/>
              </a:rPr>
              <a:t></a:t>
            </a:r>
            <a:r>
              <a:rPr lang="en-US" altLang="en-US" dirty="0"/>
              <a:t> log</a:t>
            </a:r>
            <a:r>
              <a:rPr lang="en-US" altLang="en-US" baseline="-25000" dirty="0"/>
              <a:t>2</a:t>
            </a:r>
            <a:r>
              <a:rPr lang="en-US" altLang="en-US" dirty="0"/>
              <a:t> </a:t>
            </a:r>
            <a:r>
              <a:rPr lang="en-US" altLang="en-US" i="1" dirty="0"/>
              <a:t>n</a:t>
            </a:r>
            <a:r>
              <a:rPr lang="en-US" altLang="en-US" dirty="0"/>
              <a:t> + 1</a:t>
            </a:r>
          </a:p>
          <a:p>
            <a:pPr eaLnBrk="1" hangingPunct="1">
              <a:lnSpc>
                <a:spcPct val="90000"/>
              </a:lnSpc>
            </a:pPr>
            <a:r>
              <a:rPr lang="en-US" altLang="en-US" dirty="0"/>
              <a:t>If the search is </a:t>
            </a:r>
            <a:r>
              <a:rPr lang="en-US" altLang="en-US" b="1" dirty="0"/>
              <a:t>successful</a:t>
            </a:r>
            <a:r>
              <a:rPr lang="en-US" altLang="en-US" dirty="0"/>
              <a:t>, these steps are repeated </a:t>
            </a:r>
            <a:r>
              <a:rPr lang="en-US" altLang="en-US" i="1" dirty="0"/>
              <a:t>at most</a:t>
            </a:r>
            <a:r>
              <a:rPr lang="en-US" altLang="en-US" dirty="0"/>
              <a:t> that many times:</a:t>
            </a:r>
          </a:p>
          <a:p>
            <a:pPr>
              <a:lnSpc>
                <a:spcPct val="90000"/>
              </a:lnSpc>
              <a:spcBef>
                <a:spcPts val="900"/>
              </a:spcBef>
              <a:buNone/>
            </a:pPr>
            <a:r>
              <a:rPr lang="en-US" altLang="en-US" dirty="0"/>
              <a:t>	Max. no. of comparisons </a:t>
            </a:r>
            <a:r>
              <a:rPr lang="en-US" altLang="en-US" dirty="0">
                <a:sym typeface="Symbol" pitchFamily="18" charset="2"/>
              </a:rPr>
              <a:t> </a:t>
            </a:r>
            <a:r>
              <a:rPr lang="en-US" altLang="en-US" dirty="0"/>
              <a:t> log</a:t>
            </a:r>
            <a:r>
              <a:rPr lang="en-US" altLang="en-US" baseline="-25000" dirty="0"/>
              <a:t>2</a:t>
            </a:r>
            <a:r>
              <a:rPr lang="en-US" altLang="en-US" dirty="0"/>
              <a:t> </a:t>
            </a:r>
            <a:r>
              <a:rPr lang="en-US" altLang="en-US" i="1" dirty="0"/>
              <a:t>n</a:t>
            </a:r>
            <a:r>
              <a:rPr lang="en-US" altLang="en-US" dirty="0"/>
              <a:t> + 1</a:t>
            </a:r>
          </a:p>
          <a:p>
            <a:pPr eaLnBrk="1" hangingPunct="1">
              <a:lnSpc>
                <a:spcPct val="90000"/>
              </a:lnSpc>
            </a:pPr>
            <a:r>
              <a:rPr lang="en-US" altLang="en-US" dirty="0"/>
              <a:t>In either case, the time complexity is </a:t>
            </a:r>
            <a:r>
              <a:rPr lang="en-US" altLang="en-US" i="1" dirty="0"/>
              <a:t>O</a:t>
            </a:r>
            <a:r>
              <a:rPr lang="en-US" altLang="en-US" dirty="0"/>
              <a:t>(log </a:t>
            </a:r>
            <a:r>
              <a:rPr lang="en-US" altLang="en-US" i="1" dirty="0"/>
              <a:t>n</a:t>
            </a:r>
            <a:r>
              <a:rPr lang="en-US" altLang="en-US" dirty="0"/>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24</a:t>
            </a:fld>
            <a:endParaRPr lang="en-US"/>
          </a:p>
        </p:txBody>
      </p:sp>
      <p:sp>
        <p:nvSpPr>
          <p:cNvPr id="3" name="Rectangle 2"/>
          <p:cNvSpPr/>
          <p:nvPr/>
        </p:nvSpPr>
        <p:spPr>
          <a:xfrm>
            <a:off x="2002971" y="4713515"/>
            <a:ext cx="6934200" cy="2031325"/>
          </a:xfrm>
          <a:prstGeom prst="rect">
            <a:avLst/>
          </a:prstGeom>
          <a:ln>
            <a:solidFill>
              <a:schemeClr val="tx2"/>
            </a:solidFill>
          </a:ln>
        </p:spPr>
        <p:txBody>
          <a:bodyPr wrap="square">
            <a:spAutoFit/>
          </a:bodyPr>
          <a:lstStyle/>
          <a:p>
            <a:pPr>
              <a:spcBef>
                <a:spcPts val="1800"/>
              </a:spcBef>
              <a:buClrTx/>
              <a:buFontTx/>
              <a:buNone/>
            </a:pPr>
            <a:r>
              <a:rPr lang="en-US" altLang="en-US">
                <a:latin typeface="Times New Roman" pitchFamily="18" charset="0"/>
              </a:rPr>
              <a:t>1.	Set </a:t>
            </a:r>
            <a:r>
              <a:rPr lang="en-US" altLang="en-US" i="1">
                <a:latin typeface="Times New Roman" pitchFamily="18" charset="0"/>
              </a:rPr>
              <a:t>l</a:t>
            </a:r>
            <a:r>
              <a:rPr lang="en-US" altLang="en-US">
                <a:latin typeface="Times New Roman" pitchFamily="18" charset="0"/>
              </a:rPr>
              <a:t> = </a:t>
            </a:r>
            <a:r>
              <a:rPr lang="en-US" altLang="en-US" i="1">
                <a:latin typeface="Times New Roman" pitchFamily="18" charset="0"/>
              </a:rPr>
              <a:t>left</a:t>
            </a:r>
            <a:r>
              <a:rPr lang="en-US" altLang="en-US">
                <a:latin typeface="Times New Roman" pitchFamily="18" charset="0"/>
              </a:rPr>
              <a:t>, and set </a:t>
            </a:r>
            <a:r>
              <a:rPr lang="en-US" altLang="en-US" i="1">
                <a:latin typeface="Times New Roman" pitchFamily="18" charset="0"/>
              </a:rPr>
              <a:t>r</a:t>
            </a:r>
            <a:r>
              <a:rPr lang="en-US" altLang="en-US">
                <a:latin typeface="Times New Roman" pitchFamily="18" charset="0"/>
              </a:rPr>
              <a:t> = </a:t>
            </a:r>
            <a:r>
              <a:rPr lang="en-US" altLang="en-US" i="1">
                <a:latin typeface="Times New Roman" pitchFamily="18" charset="0"/>
              </a:rPr>
              <a:t>right</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2.	While </a:t>
            </a:r>
            <a:r>
              <a:rPr lang="en-US" altLang="en-US" i="1">
                <a:latin typeface="Times New Roman" pitchFamily="18" charset="0"/>
              </a:rPr>
              <a:t>l</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r</a:t>
            </a:r>
            <a:r>
              <a:rPr lang="en-US" altLang="en-US">
                <a:latin typeface="Times New Roman" pitchFamily="18" charset="0"/>
              </a:rPr>
              <a:t>, repeat:</a:t>
            </a:r>
            <a:br>
              <a:rPr lang="en-US" altLang="en-US">
                <a:latin typeface="Times New Roman" pitchFamily="18" charset="0"/>
              </a:rPr>
            </a:br>
            <a:r>
              <a:rPr lang="en-US" altLang="en-US">
                <a:latin typeface="Times New Roman" pitchFamily="18" charset="0"/>
              </a:rPr>
              <a:t>	2.1.	Let </a:t>
            </a:r>
            <a:r>
              <a:rPr lang="en-US" altLang="en-US" i="1">
                <a:latin typeface="Times New Roman" pitchFamily="18" charset="0"/>
              </a:rPr>
              <a:t>m</a:t>
            </a:r>
            <a:r>
              <a:rPr lang="en-US" altLang="en-US">
                <a:latin typeface="Times New Roman" pitchFamily="18" charset="0"/>
              </a:rPr>
              <a:t> be an integer about midway between </a:t>
            </a:r>
            <a:r>
              <a:rPr lang="en-US" altLang="en-US" i="1">
                <a:latin typeface="Times New Roman" pitchFamily="18" charset="0"/>
              </a:rPr>
              <a:t>l</a:t>
            </a:r>
            <a:r>
              <a:rPr lang="en-US" altLang="en-US">
                <a:latin typeface="Times New Roman" pitchFamily="18" charset="0"/>
              </a:rPr>
              <a:t> and  </a:t>
            </a:r>
            <a:r>
              <a:rPr lang="en-US" altLang="en-US" i="1">
                <a:latin typeface="Times New Roman" pitchFamily="18" charset="0"/>
              </a:rPr>
              <a:t>r</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	2.2.	</a:t>
            </a:r>
            <a:r>
              <a:rPr lang="en-US" altLang="en-US">
                <a:solidFill>
                  <a:srgbClr val="FF0000"/>
                </a:solidFill>
                <a:latin typeface="Times New Roman" pitchFamily="18" charset="0"/>
              </a:rPr>
              <a:t>If </a:t>
            </a:r>
            <a:r>
              <a:rPr lang="en-US" altLang="en-US" i="1">
                <a:solidFill>
                  <a:srgbClr val="FF0000"/>
                </a:solidFill>
                <a:latin typeface="Times New Roman" pitchFamily="18" charset="0"/>
              </a:rPr>
              <a:t>target</a:t>
            </a:r>
            <a:r>
              <a:rPr lang="en-US" altLang="en-US">
                <a:solidFill>
                  <a:srgbClr val="FF0000"/>
                </a:solidFill>
                <a:latin typeface="Times New Roman" pitchFamily="18" charset="0"/>
              </a:rPr>
              <a:t> equals </a:t>
            </a:r>
            <a:r>
              <a:rPr lang="en-US" altLang="en-US" i="1">
                <a:solidFill>
                  <a:srgbClr val="FF0000"/>
                </a:solidFill>
                <a:latin typeface="Times New Roman" pitchFamily="18" charset="0"/>
              </a:rPr>
              <a:t>a</a:t>
            </a:r>
            <a:r>
              <a:rPr lang="en-US" altLang="en-US">
                <a:solidFill>
                  <a:srgbClr val="FF0000"/>
                </a:solidFill>
                <a:latin typeface="Times New Roman" pitchFamily="18" charset="0"/>
              </a:rPr>
              <a:t>[</a:t>
            </a:r>
            <a:r>
              <a:rPr lang="en-US" altLang="en-US" i="1">
                <a:solidFill>
                  <a:srgbClr val="FF0000"/>
                </a:solidFill>
                <a:latin typeface="Times New Roman" pitchFamily="18" charset="0"/>
              </a:rPr>
              <a:t>m</a:t>
            </a:r>
            <a:r>
              <a:rPr lang="en-US" altLang="en-US">
                <a:solidFill>
                  <a:srgbClr val="FF0000"/>
                </a:solidFill>
                <a:latin typeface="Times New Roman" pitchFamily="18" charset="0"/>
              </a:rPr>
              <a:t>], terminate yielding </a:t>
            </a:r>
            <a:r>
              <a:rPr lang="en-US" altLang="en-US" i="1">
                <a:solidFill>
                  <a:srgbClr val="FF0000"/>
                </a:solidFill>
                <a:latin typeface="Times New Roman" pitchFamily="18" charset="0"/>
              </a:rPr>
              <a:t>m</a:t>
            </a:r>
            <a:r>
              <a:rPr lang="en-US" altLang="en-US">
                <a:solidFill>
                  <a:srgbClr val="FF0000"/>
                </a:solidFill>
                <a:latin typeface="Times New Roman" pitchFamily="18" charset="0"/>
              </a:rPr>
              <a:t>.</a:t>
            </a:r>
            <a:br>
              <a:rPr lang="en-US" altLang="en-US">
                <a:latin typeface="Times New Roman" pitchFamily="18" charset="0"/>
              </a:rPr>
            </a:br>
            <a:r>
              <a:rPr lang="en-US" altLang="en-US">
                <a:latin typeface="Times New Roman" pitchFamily="18" charset="0"/>
              </a:rPr>
              <a:t>	2.3.	Else, if </a:t>
            </a:r>
            <a:r>
              <a:rPr lang="en-US" altLang="en-US" i="1">
                <a:latin typeface="Times New Roman" pitchFamily="18" charset="0"/>
              </a:rPr>
              <a:t>target</a:t>
            </a:r>
            <a:r>
              <a:rPr lang="en-US" altLang="en-US">
                <a:latin typeface="Times New Roman" pitchFamily="18" charset="0"/>
              </a:rPr>
              <a:t> is less than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m</a:t>
            </a:r>
            <a:r>
              <a:rPr lang="en-US" altLang="en-US">
                <a:latin typeface="Times New Roman" pitchFamily="18" charset="0"/>
              </a:rPr>
              <a:t>], set </a:t>
            </a:r>
            <a:r>
              <a:rPr lang="en-US" altLang="en-US" i="1">
                <a:latin typeface="Times New Roman" pitchFamily="18" charset="0"/>
              </a:rPr>
              <a:t>r</a:t>
            </a:r>
            <a:r>
              <a:rPr lang="en-US" altLang="en-US">
                <a:latin typeface="Times New Roman" pitchFamily="18" charset="0"/>
              </a:rPr>
              <a:t> = </a:t>
            </a:r>
            <a:r>
              <a:rPr lang="en-US" altLang="en-US" i="1">
                <a:latin typeface="Times New Roman" pitchFamily="18" charset="0"/>
              </a:rPr>
              <a:t>m</a:t>
            </a:r>
            <a:r>
              <a:rPr lang="en-US" altLang="en-US">
                <a:latin typeface="Times New Roman" pitchFamily="18" charset="0"/>
              </a:rPr>
              <a:t>–1.</a:t>
            </a:r>
            <a:br>
              <a:rPr lang="en-US" altLang="en-US">
                <a:latin typeface="Times New Roman" pitchFamily="18" charset="0"/>
              </a:rPr>
            </a:br>
            <a:r>
              <a:rPr lang="en-US" altLang="en-US">
                <a:latin typeface="Times New Roman" pitchFamily="18" charset="0"/>
              </a:rPr>
              <a:t>	2.4.	Else, if </a:t>
            </a:r>
            <a:r>
              <a:rPr lang="en-US" altLang="en-US" i="1">
                <a:latin typeface="Times New Roman" pitchFamily="18" charset="0"/>
              </a:rPr>
              <a:t>target</a:t>
            </a:r>
            <a:r>
              <a:rPr lang="en-US" altLang="en-US">
                <a:latin typeface="Times New Roman" pitchFamily="18" charset="0"/>
              </a:rPr>
              <a:t> is greater than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m</a:t>
            </a:r>
            <a:r>
              <a:rPr lang="en-US" altLang="en-US">
                <a:latin typeface="Times New Roman" pitchFamily="18" charset="0"/>
              </a:rPr>
              <a:t>], set </a:t>
            </a:r>
            <a:r>
              <a:rPr lang="en-US" altLang="en-US" i="1">
                <a:latin typeface="Times New Roman" pitchFamily="18" charset="0"/>
              </a:rPr>
              <a:t>l</a:t>
            </a:r>
            <a:r>
              <a:rPr lang="en-US" altLang="en-US">
                <a:latin typeface="Times New Roman" pitchFamily="18" charset="0"/>
              </a:rPr>
              <a:t> = </a:t>
            </a:r>
            <a:r>
              <a:rPr lang="en-US" altLang="en-US" i="1">
                <a:latin typeface="Times New Roman" pitchFamily="18" charset="0"/>
              </a:rPr>
              <a:t>m</a:t>
            </a:r>
            <a:r>
              <a:rPr lang="en-US" altLang="en-US">
                <a:latin typeface="Times New Roman" pitchFamily="18" charset="0"/>
              </a:rPr>
              <a:t>+1.</a:t>
            </a:r>
            <a:br>
              <a:rPr lang="en-US" altLang="en-US">
                <a:latin typeface="Times New Roman" pitchFamily="18" charset="0"/>
              </a:rPr>
            </a:br>
            <a:r>
              <a:rPr lang="en-US" altLang="en-US">
                <a:latin typeface="Times New Roman" pitchFamily="18" charset="0"/>
              </a:rPr>
              <a:t>3.	Terminate yielding </a:t>
            </a:r>
            <a:r>
              <a:rPr lang="en-US" altLang="en-US" i="1">
                <a:latin typeface="Times New Roman" pitchFamily="18" charset="0"/>
              </a:rPr>
              <a:t>none</a:t>
            </a:r>
            <a:r>
              <a:rPr lang="en-US" altLang="en-US">
                <a:latin typeface="Times New Roman" pitchFamily="18" charset="0"/>
              </a:rPr>
              <a:t>.</a:t>
            </a:r>
            <a:endParaRPr lang="en-US" altLang="en-US" dirty="0">
              <a:latin typeface="Times New Roman" pitchFamily="18" charset="0"/>
            </a:endParaRPr>
          </a:p>
        </p:txBody>
      </p:sp>
    </p:spTree>
    <p:extLst>
      <p:ext uri="{BB962C8B-B14F-4D97-AF65-F5344CB8AC3E}">
        <p14:creationId xmlns:p14="http://schemas.microsoft.com/office/powerpoint/2010/main" val="108645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sz="3200" dirty="0"/>
              <a:t>Binary search </a:t>
            </a:r>
            <a:r>
              <a:rPr lang="en-US" altLang="en-US" sz="3200" i="1" dirty="0"/>
              <a:t>(6)</a:t>
            </a:r>
            <a:endParaRPr lang="en-GB" altLang="en-US" sz="3200" i="1" dirty="0"/>
          </a:p>
        </p:txBody>
      </p:sp>
      <p:sp>
        <p:nvSpPr>
          <p:cNvPr id="25603" name="Rectangle 3"/>
          <p:cNvSpPr>
            <a:spLocks noGrp="1" noChangeArrowheads="1"/>
          </p:cNvSpPr>
          <p:nvPr>
            <p:ph idx="1"/>
          </p:nvPr>
        </p:nvSpPr>
        <p:spPr>
          <a:xfrm>
            <a:off x="457200" y="1524000"/>
            <a:ext cx="8458200" cy="4419600"/>
          </a:xfrm>
          <a:noFill/>
        </p:spPr>
        <p:txBody>
          <a:bodyPr>
            <a:normAutofit fontScale="92500" lnSpcReduction="10000"/>
          </a:bodyPr>
          <a:lstStyle/>
          <a:p>
            <a:pPr eaLnBrk="1" hangingPunct="1">
              <a:lnSpc>
                <a:spcPct val="90000"/>
              </a:lnSpc>
              <a:tabLst>
                <a:tab pos="723900" algn="l"/>
                <a:tab pos="1079500" algn="l"/>
                <a:tab pos="1435100" algn="l"/>
                <a:tab pos="1790700" algn="l"/>
                <a:tab pos="2159000" algn="l"/>
              </a:tabLst>
            </a:pPr>
            <a:r>
              <a:rPr lang="en-US" altLang="en-US" dirty="0"/>
              <a:t>Implementation in Java:</a:t>
            </a:r>
          </a:p>
          <a:p>
            <a:pPr>
              <a:lnSpc>
                <a:spcPct val="90000"/>
              </a:lnSpc>
              <a:buNone/>
              <a:tabLst>
                <a:tab pos="723900" algn="l"/>
                <a:tab pos="1079500" algn="l"/>
                <a:tab pos="1435100" algn="l"/>
                <a:tab pos="1790700" algn="l"/>
                <a:tab pos="2159000" algn="l"/>
              </a:tabLst>
            </a:pPr>
            <a:r>
              <a:rPr lang="en-US" altLang="en-US" dirty="0">
                <a:latin typeface="Courier New" pitchFamily="49" charset="0"/>
              </a:rPr>
              <a:t>	</a:t>
            </a:r>
            <a:r>
              <a:rPr lang="en-US" altLang="en-US" sz="2000" b="1" dirty="0">
                <a:latin typeface="Courier New" pitchFamily="49" charset="0"/>
              </a:rPr>
              <a:t>public</a:t>
            </a:r>
            <a:r>
              <a:rPr lang="en-US" altLang="en-US" dirty="0">
                <a:latin typeface="Courier New" pitchFamily="49" charset="0"/>
              </a:rPr>
              <a:t> </a:t>
            </a:r>
            <a:r>
              <a:rPr lang="en-US" altLang="en-US" sz="2000" b="1" dirty="0">
                <a:latin typeface="Courier New" pitchFamily="49" charset="0"/>
              </a:rPr>
              <a:t>static</a:t>
            </a:r>
            <a:r>
              <a:rPr lang="en-US" altLang="en-US" sz="2000" dirty="0">
                <a:latin typeface="Courier New" pitchFamily="49" charset="0"/>
              </a:rPr>
              <a:t> </a:t>
            </a:r>
            <a:r>
              <a:rPr lang="en-US" altLang="en-US" sz="2000" b="1" dirty="0">
                <a:latin typeface="Courier New" pitchFamily="49" charset="0"/>
              </a:rPr>
              <a:t>&lt;E extends Comparable&lt;E</a:t>
            </a:r>
            <a:r>
              <a:rPr lang="en-US" altLang="en-US" sz="2000" b="1">
                <a:latin typeface="Courier New" pitchFamily="49" charset="0"/>
              </a:rPr>
              <a:t>&gt;&gt;</a:t>
            </a:r>
            <a:r>
              <a:rPr lang="en-US" altLang="en-US" sz="2000">
                <a:latin typeface="Courier New" pitchFamily="49" charset="0"/>
              </a:rPr>
              <a:t> int    </a:t>
            </a:r>
            <a:br>
              <a:rPr lang="en-US" altLang="en-US" sz="2000" dirty="0">
                <a:latin typeface="Courier New" pitchFamily="49" charset="0"/>
              </a:rPr>
            </a:br>
            <a:r>
              <a:rPr lang="en-US" altLang="en-US" sz="2000" dirty="0">
                <a:latin typeface="Courier New" pitchFamily="49" charset="0"/>
              </a:rPr>
              <a:t>    </a:t>
            </a:r>
            <a:r>
              <a:rPr lang="en-US" altLang="en-US" sz="2000" dirty="0" err="1">
                <a:latin typeface="Courier New" pitchFamily="49" charset="0"/>
              </a:rPr>
              <a:t>binarySearch</a:t>
            </a:r>
            <a:r>
              <a:rPr lang="en-US" altLang="en-US" sz="2000" dirty="0">
                <a:latin typeface="Courier New" pitchFamily="49" charset="0"/>
              </a:rPr>
              <a:t> (E target,</a:t>
            </a:r>
            <a:br>
              <a:rPr lang="en-US" altLang="en-US" sz="2000" dirty="0">
                <a:latin typeface="Courier New" pitchFamily="49" charset="0"/>
              </a:rPr>
            </a:br>
            <a:r>
              <a:rPr lang="en-US" altLang="en-US" sz="2000" dirty="0">
                <a:latin typeface="Courier New" pitchFamily="49" charset="0"/>
              </a:rPr>
              <a:t>		E[] a, </a:t>
            </a:r>
            <a:r>
              <a:rPr lang="en-US" altLang="en-US" sz="2000" b="1" dirty="0">
                <a:latin typeface="Courier New" pitchFamily="49" charset="0"/>
              </a:rPr>
              <a:t>int</a:t>
            </a:r>
            <a:r>
              <a:rPr lang="en-US" altLang="en-US" sz="2000" dirty="0">
                <a:latin typeface="Courier New" pitchFamily="49" charset="0"/>
              </a:rPr>
              <a:t> left, </a:t>
            </a:r>
            <a:r>
              <a:rPr lang="en-US" altLang="en-US" sz="2000" b="1" dirty="0">
                <a:latin typeface="Courier New" pitchFamily="49" charset="0"/>
              </a:rPr>
              <a:t>int</a:t>
            </a:r>
            <a:r>
              <a:rPr lang="en-US" altLang="en-US" sz="2000" dirty="0">
                <a:latin typeface="Courier New" pitchFamily="49" charset="0"/>
              </a:rPr>
              <a:t> right) {</a:t>
            </a:r>
            <a:br>
              <a:rPr lang="en-US" altLang="en-US" sz="2000" dirty="0">
                <a:latin typeface="Courier New" pitchFamily="49" charset="0"/>
              </a:rPr>
            </a:br>
            <a:r>
              <a:rPr lang="en-US" altLang="en-US" sz="2000" dirty="0">
                <a:solidFill>
                  <a:srgbClr val="00B050"/>
                </a:solidFill>
                <a:latin typeface="Courier New" pitchFamily="49" charset="0"/>
              </a:rPr>
              <a:t>// </a:t>
            </a:r>
            <a:r>
              <a:rPr lang="en-US" altLang="en-US" sz="2200" dirty="0">
                <a:solidFill>
                  <a:srgbClr val="00B050"/>
                </a:solidFill>
                <a:latin typeface="Courier New" panose="02070309020205020404" pitchFamily="49" charset="0"/>
                <a:cs typeface="Courier New" panose="02070309020205020404" pitchFamily="49" charset="0"/>
              </a:rPr>
              <a:t>Find which (if any) element of the sorted //(sub)array  </a:t>
            </a:r>
            <a:br>
              <a:rPr lang="en-US" altLang="en-US" sz="2200" dirty="0">
                <a:solidFill>
                  <a:srgbClr val="00B050"/>
                </a:solidFill>
                <a:latin typeface="Courier New" panose="02070309020205020404" pitchFamily="49" charset="0"/>
                <a:cs typeface="Courier New" panose="02070309020205020404" pitchFamily="49" charset="0"/>
              </a:rPr>
            </a:br>
            <a:r>
              <a:rPr lang="en-US" altLang="en-US" sz="2200" dirty="0">
                <a:solidFill>
                  <a:srgbClr val="00B050"/>
                </a:solidFill>
                <a:latin typeface="Courier New" panose="02070309020205020404" pitchFamily="49" charset="0"/>
                <a:cs typeface="Courier New" panose="02070309020205020404" pitchFamily="49" charset="0"/>
              </a:rPr>
              <a:t>// a[left…right] equals target</a:t>
            </a:r>
            <a:r>
              <a:rPr lang="en-US" altLang="en-US" sz="2000" dirty="0">
                <a:solidFill>
                  <a:srgbClr val="00B050"/>
                </a:solidFill>
              </a:rPr>
              <a:t>.</a:t>
            </a:r>
            <a:br>
              <a:rPr lang="en-US" altLang="en-US" sz="2000" dirty="0">
                <a:solidFill>
                  <a:srgbClr val="00B050"/>
                </a:solidFill>
                <a:latin typeface="Courier New" pitchFamily="49" charset="0"/>
              </a:rPr>
            </a:br>
            <a:r>
              <a:rPr lang="en-US" altLang="en-US" sz="2000" dirty="0">
                <a:latin typeface="Courier New" pitchFamily="49" charset="0"/>
              </a:rPr>
              <a:t>	</a:t>
            </a:r>
            <a:r>
              <a:rPr lang="en-US" altLang="en-US" sz="2000" b="1" dirty="0">
                <a:latin typeface="Courier New" pitchFamily="49" charset="0"/>
              </a:rPr>
              <a:t>int</a:t>
            </a:r>
            <a:r>
              <a:rPr lang="en-US" altLang="en-US" sz="2000" dirty="0">
                <a:latin typeface="Courier New" pitchFamily="49" charset="0"/>
              </a:rPr>
              <a:t> l = left, r = right;</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while</a:t>
            </a:r>
            <a:r>
              <a:rPr lang="en-US" altLang="en-US" sz="2000" dirty="0">
                <a:latin typeface="Courier New" pitchFamily="49" charset="0"/>
              </a:rPr>
              <a:t> (l &lt;= r)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int</a:t>
            </a:r>
            <a:r>
              <a:rPr lang="en-US" altLang="en-US" sz="2000" dirty="0">
                <a:latin typeface="Courier New" pitchFamily="49" charset="0"/>
              </a:rPr>
              <a:t> m = (l + r)/2;</a:t>
            </a:r>
            <a:r>
              <a:rPr lang="en-US" altLang="en-US" sz="2000" dirty="0">
                <a:solidFill>
                  <a:srgbClr val="00B050"/>
                </a:solidFill>
                <a:latin typeface="Courier New" panose="02070309020205020404" pitchFamily="49" charset="0"/>
                <a:cs typeface="Courier New" panose="02070309020205020404" pitchFamily="49" charset="0"/>
              </a:rPr>
              <a:t> // roughly middle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int</a:t>
            </a:r>
            <a:r>
              <a:rPr lang="en-US" altLang="en-US" sz="2000" dirty="0">
                <a:latin typeface="Courier New" pitchFamily="49" charset="0"/>
              </a:rPr>
              <a:t> comp = </a:t>
            </a:r>
            <a:r>
              <a:rPr lang="en-US" altLang="en-US" sz="2000" dirty="0" err="1">
                <a:latin typeface="Courier New" pitchFamily="49" charset="0"/>
              </a:rPr>
              <a:t>target.compareTo</a:t>
            </a:r>
            <a:r>
              <a:rPr lang="en-US" altLang="en-US" sz="2000" dirty="0">
                <a:latin typeface="Courier New" pitchFamily="49" charset="0"/>
              </a:rPr>
              <a:t>(a[m]);</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if</a:t>
            </a:r>
            <a:r>
              <a:rPr lang="en-US" altLang="en-US" sz="2000" dirty="0">
                <a:latin typeface="Courier New" pitchFamily="49" charset="0"/>
              </a:rPr>
              <a:t> (comp == 0)     </a:t>
            </a:r>
            <a:r>
              <a:rPr lang="en-US" altLang="en-US" sz="2000" b="1" dirty="0">
                <a:latin typeface="Courier New" pitchFamily="49" charset="0"/>
              </a:rPr>
              <a:t>return</a:t>
            </a:r>
            <a:r>
              <a:rPr lang="en-US" altLang="en-US" sz="2000" dirty="0">
                <a:latin typeface="Courier New" pitchFamily="49" charset="0"/>
              </a:rPr>
              <a:t> m;</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else</a:t>
            </a:r>
            <a:r>
              <a:rPr lang="en-US" altLang="en-US" sz="2000" dirty="0">
                <a:latin typeface="Courier New" pitchFamily="49" charset="0"/>
              </a:rPr>
              <a:t> </a:t>
            </a:r>
            <a:r>
              <a:rPr lang="en-US" altLang="en-US" sz="2000" b="1" dirty="0">
                <a:latin typeface="Courier New" pitchFamily="49" charset="0"/>
              </a:rPr>
              <a:t>if</a:t>
            </a:r>
            <a:r>
              <a:rPr lang="en-US" altLang="en-US" sz="2000" dirty="0">
                <a:latin typeface="Courier New" pitchFamily="49" charset="0"/>
              </a:rPr>
              <a:t> (comp &lt; 0) r = m - 1;</a:t>
            </a:r>
            <a:r>
              <a:rPr lang="en-US" altLang="en-US" sz="2000" dirty="0">
                <a:solidFill>
                  <a:srgbClr val="00B050"/>
                </a:solidFill>
                <a:latin typeface="Courier New" panose="02070309020205020404" pitchFamily="49" charset="0"/>
                <a:cs typeface="Courier New" panose="02070309020205020404" pitchFamily="49" charset="0"/>
              </a:rPr>
              <a:t> //move right up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else</a:t>
            </a:r>
            <a:r>
              <a:rPr lang="en-US" altLang="en-US" sz="2000" dirty="0">
                <a:latin typeface="Courier New" pitchFamily="49" charset="0"/>
              </a:rPr>
              <a:t>               l = m + 1; </a:t>
            </a:r>
            <a:r>
              <a:rPr lang="en-US" altLang="en-US" sz="2000" dirty="0">
                <a:solidFill>
                  <a:srgbClr val="00B050"/>
                </a:solidFill>
                <a:latin typeface="Courier New" panose="02070309020205020404" pitchFamily="49" charset="0"/>
                <a:cs typeface="Courier New" panose="02070309020205020404" pitchFamily="49" charset="0"/>
              </a:rPr>
              <a:t>// move left down </a:t>
            </a:r>
            <a:br>
              <a:rPr lang="en-US" altLang="en-US" sz="2000" dirty="0">
                <a:latin typeface="Courier New" pitchFamily="49" charset="0"/>
              </a:rPr>
            </a:br>
            <a:r>
              <a:rPr lang="en-US" altLang="en-US" sz="2000" dirty="0">
                <a:latin typeface="Courier New" pitchFamily="49" charset="0"/>
              </a:rPr>
              <a:t>	}</a:t>
            </a:r>
            <a:br>
              <a:rPr lang="en-US" altLang="en-US" sz="2000" dirty="0">
                <a:latin typeface="Courier New" pitchFamily="49" charset="0"/>
              </a:rPr>
            </a:br>
            <a:r>
              <a:rPr lang="en-US" altLang="en-US" sz="2000" dirty="0">
                <a:latin typeface="Courier New" pitchFamily="49" charset="0"/>
              </a:rPr>
              <a:t>	</a:t>
            </a:r>
            <a:r>
              <a:rPr lang="en-US" altLang="en-US" sz="2000" b="1" dirty="0">
                <a:latin typeface="Courier New" pitchFamily="49" charset="0"/>
              </a:rPr>
              <a:t>return</a:t>
            </a:r>
            <a:r>
              <a:rPr lang="en-US" altLang="en-US" sz="2000" dirty="0">
                <a:latin typeface="Courier New" pitchFamily="49" charset="0"/>
              </a:rPr>
              <a:t> -1;</a:t>
            </a:r>
            <a:br>
              <a:rPr lang="en-US" altLang="en-US" sz="2000" dirty="0">
                <a:latin typeface="Courier New" pitchFamily="49" charset="0"/>
              </a:rPr>
            </a:br>
            <a:r>
              <a:rPr lang="en-US" altLang="en-US" sz="2000" dirty="0">
                <a:latin typeface="Courier New" pitchFamily="49"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616106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533400"/>
            <a:ext cx="6142038" cy="719137"/>
          </a:xfrm>
        </p:spPr>
        <p:txBody>
          <a:bodyPr>
            <a:normAutofit fontScale="90000"/>
          </a:bodyPr>
          <a:lstStyle/>
          <a:p>
            <a:pPr eaLnBrk="1" hangingPunct="1"/>
            <a:r>
              <a:rPr lang="en-US" altLang="en-US" sz="3200" dirty="0"/>
              <a:t>Comparison of searching algorithms</a:t>
            </a:r>
            <a:endParaRPr lang="en-GB" altLang="en-US" sz="3200" dirty="0"/>
          </a:p>
        </p:txBody>
      </p:sp>
      <p:graphicFrame>
        <p:nvGraphicFramePr>
          <p:cNvPr id="385128" name="Group 104"/>
          <p:cNvGraphicFramePr>
            <a:graphicFrameLocks noGrp="1"/>
          </p:cNvGraphicFramePr>
          <p:nvPr>
            <p:ph sz="half" idx="2"/>
            <p:extLst>
              <p:ext uri="{D42A27DB-BD31-4B8C-83A1-F6EECF244321}">
                <p14:modId xmlns:p14="http://schemas.microsoft.com/office/powerpoint/2010/main" val="2978345669"/>
              </p:ext>
            </p:extLst>
          </p:nvPr>
        </p:nvGraphicFramePr>
        <p:xfrm>
          <a:off x="457200" y="1981200"/>
          <a:ext cx="7669213" cy="2194296"/>
        </p:xfrm>
        <a:graphic>
          <a:graphicData uri="http://schemas.openxmlformats.org/drawingml/2006/table">
            <a:tbl>
              <a:tblPr/>
              <a:tblGrid>
                <a:gridCol w="3671888">
                  <a:extLst>
                    <a:ext uri="{9D8B030D-6E8A-4147-A177-3AD203B41FA5}">
                      <a16:colId xmlns:a16="http://schemas.microsoft.com/office/drawing/2014/main" val="20000"/>
                    </a:ext>
                  </a:extLst>
                </a:gridCol>
                <a:gridCol w="2592387">
                  <a:extLst>
                    <a:ext uri="{9D8B030D-6E8A-4147-A177-3AD203B41FA5}">
                      <a16:colId xmlns:a16="http://schemas.microsoft.com/office/drawing/2014/main" val="20001"/>
                    </a:ext>
                  </a:extLst>
                </a:gridCol>
                <a:gridCol w="1404938">
                  <a:extLst>
                    <a:ext uri="{9D8B030D-6E8A-4147-A177-3AD203B41FA5}">
                      <a16:colId xmlns:a16="http://schemas.microsoft.com/office/drawing/2014/main" val="20002"/>
                    </a:ext>
                  </a:extLst>
                </a:gridCol>
              </a:tblGrid>
              <a:tr h="700850">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Algorithm</a:t>
                      </a:r>
                    </a:p>
                  </a:txBody>
                  <a:tcPr marT="45687" marB="45687"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No. of comparisons</a:t>
                      </a:r>
                    </a:p>
                  </a:txBody>
                  <a:tcPr marT="45687" marB="45687"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Time complexity</a:t>
                      </a:r>
                    </a:p>
                  </a:txBody>
                  <a:tcPr marT="45687" marB="45687"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700850">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Linear search (unsorted array)</a:t>
                      </a:r>
                    </a:p>
                  </a:txBody>
                  <a:tcPr marT="45687" marB="45687"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tab pos="2336800" algn="r"/>
                        </a:tabLst>
                      </a:pPr>
                      <a:r>
                        <a:rPr kumimoji="0" lang="en-US" sz="2000" b="0" i="0" u="none" strike="noStrike" cap="none" normalizeH="0" baseline="0">
                          <a:ln>
                            <a:noFill/>
                          </a:ln>
                          <a:solidFill>
                            <a:schemeClr val="tx1"/>
                          </a:solidFill>
                          <a:effectLst/>
                          <a:latin typeface="Arial" charset="0"/>
                        </a:rPr>
                        <a:t> ~ </a:t>
                      </a:r>
                      <a:r>
                        <a:rPr kumimoji="0" lang="en-US" sz="2000" b="0" i="1" u="none" strike="noStrike" cap="none" normalizeH="0" baseline="0">
                          <a:ln>
                            <a:noFill/>
                          </a:ln>
                          <a:solidFill>
                            <a:schemeClr val="tx1"/>
                          </a:solidFill>
                          <a:effectLst/>
                          <a:latin typeface="Arial" charset="0"/>
                        </a:rPr>
                        <a:t>n</a:t>
                      </a:r>
                      <a:r>
                        <a:rPr kumimoji="0" lang="en-US" sz="2000" b="0" i="0" u="none" strike="noStrike" cap="none" normalizeH="0" baseline="0">
                          <a:ln>
                            <a:noFill/>
                          </a:ln>
                          <a:solidFill>
                            <a:schemeClr val="tx1"/>
                          </a:solidFill>
                          <a:effectLst/>
                          <a:latin typeface="Arial" charset="0"/>
                        </a:rPr>
                        <a:t>/2	(successful)</a:t>
                      </a:r>
                      <a:br>
                        <a:rPr kumimoji="0" lang="en-US" sz="2000" b="0" i="0" u="none" strike="noStrike" cap="none" normalizeH="0" baseline="0">
                          <a:ln>
                            <a:noFill/>
                          </a:ln>
                          <a:solidFill>
                            <a:schemeClr val="tx1"/>
                          </a:solidFill>
                          <a:effectLst/>
                          <a:latin typeface="Arial" charset="0"/>
                        </a:rPr>
                      </a:br>
                      <a:r>
                        <a:rPr kumimoji="0" lang="en-US" sz="2000" b="0" i="0" u="none" strike="noStrike" cap="none" normalizeH="0" baseline="0">
                          <a:ln>
                            <a:noFill/>
                          </a:ln>
                          <a:solidFill>
                            <a:schemeClr val="tx1"/>
                          </a:solidFill>
                          <a:effectLst/>
                          <a:latin typeface="Arial" charset="0"/>
                        </a:rPr>
                        <a:t>    </a:t>
                      </a:r>
                      <a:r>
                        <a:rPr kumimoji="0" lang="en-US" sz="2000" b="0" i="1" u="none" strike="noStrike" cap="none" normalizeH="0" baseline="0">
                          <a:ln>
                            <a:noFill/>
                          </a:ln>
                          <a:solidFill>
                            <a:schemeClr val="tx1"/>
                          </a:solidFill>
                          <a:effectLst/>
                          <a:latin typeface="Arial" charset="0"/>
                        </a:rPr>
                        <a:t>n</a:t>
                      </a:r>
                      <a:r>
                        <a:rPr kumimoji="0" lang="en-US" sz="2000" b="0" i="0" u="none" strike="noStrike" cap="none" normalizeH="0" baseline="0">
                          <a:ln>
                            <a:noFill/>
                          </a:ln>
                          <a:solidFill>
                            <a:schemeClr val="tx1"/>
                          </a:solidFill>
                          <a:effectLst/>
                          <a:latin typeface="Arial" charset="0"/>
                        </a:rPr>
                        <a:t>	(unsuccessful)</a:t>
                      </a:r>
                      <a:endParaRPr kumimoji="0" lang="en-GB" sz="2000" b="0" i="0" u="none" strike="noStrike" cap="none" normalizeH="0" baseline="0">
                        <a:ln>
                          <a:noFill/>
                        </a:ln>
                        <a:solidFill>
                          <a:schemeClr val="tx1"/>
                        </a:solidFill>
                        <a:effectLst/>
                        <a:latin typeface="Arial" charset="0"/>
                      </a:endParaRPr>
                    </a:p>
                  </a:txBody>
                  <a:tcPr marT="45687" marB="45687"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a:t>
                      </a:r>
                    </a:p>
                  </a:txBody>
                  <a:tcPr marT="45687" marB="45687"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96112">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Linear search (sorted array)</a:t>
                      </a:r>
                    </a:p>
                  </a:txBody>
                  <a:tcPr marT="45687" marB="45687"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 </a:t>
                      </a:r>
                      <a:r>
                        <a:rPr kumimoji="0" lang="en-US" sz="2000" b="0" i="1" u="none" strike="noStrike" cap="none" normalizeH="0" baseline="0">
                          <a:ln>
                            <a:noFill/>
                          </a:ln>
                          <a:solidFill>
                            <a:schemeClr val="tx1"/>
                          </a:solidFill>
                          <a:effectLst/>
                          <a:latin typeface="Arial" charset="0"/>
                        </a:rPr>
                        <a:t>n</a:t>
                      </a:r>
                      <a:r>
                        <a:rPr kumimoji="0" lang="en-US" sz="2000" b="0" i="0" u="none" strike="noStrike" cap="none" normalizeH="0" baseline="0">
                          <a:ln>
                            <a:noFill/>
                          </a:ln>
                          <a:solidFill>
                            <a:schemeClr val="tx1"/>
                          </a:solidFill>
                          <a:effectLst/>
                          <a:latin typeface="Arial" charset="0"/>
                        </a:rPr>
                        <a:t>/2</a:t>
                      </a:r>
                      <a:endParaRPr kumimoji="0" lang="en-GB" sz="2000" b="0" i="0" u="none" strike="noStrike" cap="none" normalizeH="0" baseline="0">
                        <a:ln>
                          <a:noFill/>
                        </a:ln>
                        <a:solidFill>
                          <a:schemeClr val="tx1"/>
                        </a:solidFill>
                        <a:effectLst/>
                        <a:latin typeface="Arial" charset="0"/>
                      </a:endParaRPr>
                    </a:p>
                  </a:txBody>
                  <a:tcPr marT="45687" marB="45687"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a:t>
                      </a:r>
                    </a:p>
                  </a:txBody>
                  <a:tcPr marT="45687" marB="45687"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396112">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Binary search (sorted array)</a:t>
                      </a:r>
                    </a:p>
                  </a:txBody>
                  <a:tcPr marT="45687" marB="45687"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 log</a:t>
                      </a:r>
                      <a:r>
                        <a:rPr kumimoji="0" lang="en-US" sz="2000" b="0" i="0" u="none" strike="noStrike" cap="none" normalizeH="0" baseline="-25000">
                          <a:ln>
                            <a:noFill/>
                          </a:ln>
                          <a:solidFill>
                            <a:schemeClr val="tx1"/>
                          </a:solidFill>
                          <a:effectLst/>
                          <a:latin typeface="Arial" charset="0"/>
                        </a:rPr>
                        <a:t>2</a:t>
                      </a:r>
                      <a:r>
                        <a:rPr kumimoji="0" lang="en-US" sz="2000" b="0" i="0" u="none" strike="noStrike" cap="none" normalizeH="0" baseline="0">
                          <a:ln>
                            <a:noFill/>
                          </a:ln>
                          <a:solidFill>
                            <a:schemeClr val="tx1"/>
                          </a:solidFill>
                          <a:effectLst/>
                          <a:latin typeface="Arial" charset="0"/>
                        </a:rPr>
                        <a:t> </a:t>
                      </a:r>
                      <a:r>
                        <a:rPr kumimoji="0" lang="en-US" sz="2000" b="0" i="1" u="none" strike="noStrike" cap="none" normalizeH="0" baseline="0">
                          <a:ln>
                            <a:noFill/>
                          </a:ln>
                          <a:solidFill>
                            <a:schemeClr val="tx1"/>
                          </a:solidFill>
                          <a:effectLst/>
                          <a:latin typeface="Arial" charset="0"/>
                        </a:rPr>
                        <a:t>n</a:t>
                      </a:r>
                      <a:endParaRPr kumimoji="0" lang="en-GB" sz="2000" b="0" i="1" u="none" strike="noStrike" cap="none" normalizeH="0" baseline="0">
                        <a:ln>
                          <a:noFill/>
                        </a:ln>
                        <a:solidFill>
                          <a:schemeClr val="tx1"/>
                        </a:solidFill>
                        <a:effectLst/>
                        <a:latin typeface="Arial" charset="0"/>
                      </a:endParaRPr>
                    </a:p>
                  </a:txBody>
                  <a:tcPr marT="45687" marB="45687"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US" sz="2000" b="0" i="1" u="none" strike="noStrike" cap="none" normalizeH="0" baseline="0" dirty="0">
                          <a:ln>
                            <a:noFill/>
                          </a:ln>
                          <a:solidFill>
                            <a:schemeClr val="tx1"/>
                          </a:solidFill>
                          <a:effectLst/>
                          <a:latin typeface="Arial" charset="0"/>
                        </a:rPr>
                        <a:t>O</a:t>
                      </a:r>
                      <a:r>
                        <a:rPr kumimoji="0" lang="en-US" sz="2000" b="0" i="0" u="none" strike="noStrike" cap="none" normalizeH="0" baseline="0" dirty="0">
                          <a:ln>
                            <a:noFill/>
                          </a:ln>
                          <a:solidFill>
                            <a:schemeClr val="tx1"/>
                          </a:solidFill>
                          <a:effectLst/>
                          <a:latin typeface="Arial" charset="0"/>
                        </a:rPr>
                        <a:t>(log </a:t>
                      </a:r>
                      <a:r>
                        <a:rPr kumimoji="0" lang="en-US" sz="2000" b="0" i="1" u="none" strike="noStrike" cap="none" normalizeH="0" baseline="0" dirty="0">
                          <a:ln>
                            <a:noFill/>
                          </a:ln>
                          <a:solidFill>
                            <a:schemeClr val="tx1"/>
                          </a:solidFill>
                          <a:effectLst/>
                          <a:latin typeface="Arial" charset="0"/>
                        </a:rPr>
                        <a:t>n</a:t>
                      </a:r>
                      <a:r>
                        <a:rPr kumimoji="0" lang="en-US" sz="2000" b="0" i="0" u="none" strike="noStrike" cap="none" normalizeH="0" baseline="0" dirty="0">
                          <a:ln>
                            <a:noFill/>
                          </a:ln>
                          <a:solidFill>
                            <a:schemeClr val="tx1"/>
                          </a:solidFill>
                          <a:effectLst/>
                          <a:latin typeface="Arial" charset="0"/>
                        </a:rPr>
                        <a:t>)</a:t>
                      </a:r>
                      <a:endParaRPr kumimoji="0" lang="en-GB" sz="2000" b="0" i="0" u="none" strike="noStrike" cap="none" normalizeH="0" baseline="0" dirty="0">
                        <a:ln>
                          <a:noFill/>
                        </a:ln>
                        <a:solidFill>
                          <a:schemeClr val="tx1"/>
                        </a:solidFill>
                        <a:effectLst/>
                        <a:latin typeface="Arial" charset="0"/>
                      </a:endParaRPr>
                    </a:p>
                  </a:txBody>
                  <a:tcPr marT="45687" marB="45687"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3075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5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5800</TotalTime>
  <Words>5201</Words>
  <Application>Microsoft Office PowerPoint</Application>
  <PresentationFormat>On-screen Show (4:3)</PresentationFormat>
  <Paragraphs>781</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Courier New</vt:lpstr>
      <vt:lpstr>Symbol</vt:lpstr>
      <vt:lpstr>Times New Roman</vt:lpstr>
      <vt:lpstr>Wingdings</vt:lpstr>
      <vt:lpstr>Clarity</vt:lpstr>
      <vt:lpstr> 3.1. Array Data Structure</vt:lpstr>
      <vt:lpstr>Properties (1)</vt:lpstr>
      <vt:lpstr>Properties (2)</vt:lpstr>
      <vt:lpstr>Properties: subarrays</vt:lpstr>
      <vt:lpstr>Properties: sorted arrays</vt:lpstr>
      <vt:lpstr>Aside: Java’s Comparable interface (1)</vt:lpstr>
      <vt:lpstr>Aside: Java’s Comparable interface (2)</vt:lpstr>
      <vt:lpstr>Aside: Java’s Comparable&lt;E&gt; interface (2)</vt:lpstr>
      <vt:lpstr>The Arrays class in Java </vt:lpstr>
      <vt:lpstr>Insertion (1)</vt:lpstr>
      <vt:lpstr>Insertion (2)</vt:lpstr>
      <vt:lpstr>Deletion (1)</vt:lpstr>
      <vt:lpstr>Deletion (2)</vt:lpstr>
      <vt:lpstr>Searching</vt:lpstr>
      <vt:lpstr>Linear search (1)</vt:lpstr>
      <vt:lpstr>Aside: invariants</vt:lpstr>
      <vt:lpstr>Linear search (2)</vt:lpstr>
      <vt:lpstr>Linear search (3)</vt:lpstr>
      <vt:lpstr>Linear search (4)</vt:lpstr>
      <vt:lpstr>Binary search (1)</vt:lpstr>
      <vt:lpstr>Binary search (2)</vt:lpstr>
      <vt:lpstr>Binary search (3)</vt:lpstr>
      <vt:lpstr>Binary search (4)</vt:lpstr>
      <vt:lpstr>Binary search (5)</vt:lpstr>
      <vt:lpstr>Binary search (6)</vt:lpstr>
      <vt:lpstr>Comparison of searching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Array Data Structure</dc:title>
  <dc:creator>Alice</dc:creator>
  <cp:lastModifiedBy>Ivaylo Valkov</cp:lastModifiedBy>
  <cp:revision>85</cp:revision>
  <dcterms:created xsi:type="dcterms:W3CDTF">2006-08-16T00:00:00Z</dcterms:created>
  <dcterms:modified xsi:type="dcterms:W3CDTF">2025-01-24T12:03:23Z</dcterms:modified>
</cp:coreProperties>
</file>