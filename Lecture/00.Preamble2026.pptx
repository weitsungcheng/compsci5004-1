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2"/>
  </p:notesMasterIdLst>
  <p:sldIdLst>
    <p:sldId id="257" r:id="rId2"/>
    <p:sldId id="258" r:id="rId3"/>
    <p:sldId id="269" r:id="rId4"/>
    <p:sldId id="259" r:id="rId5"/>
    <p:sldId id="265" r:id="rId6"/>
    <p:sldId id="266" r:id="rId7"/>
    <p:sldId id="268" r:id="rId8"/>
    <p:sldId id="267" r:id="rId9"/>
    <p:sldId id="274" r:id="rId10"/>
    <p:sldId id="263" r:id="rId11"/>
    <p:sldId id="276" r:id="rId12"/>
    <p:sldId id="270" r:id="rId13"/>
    <p:sldId id="277" r:id="rId14"/>
    <p:sldId id="260" r:id="rId15"/>
    <p:sldId id="271" r:id="rId16"/>
    <p:sldId id="272" r:id="rId17"/>
    <p:sldId id="273" r:id="rId18"/>
    <p:sldId id="261" r:id="rId19"/>
    <p:sldId id="262" r:id="rId20"/>
    <p:sldId id="27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6F68"/>
    <a:srgbClr val="FFFC00"/>
    <a:srgbClr val="A64DEC"/>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B87553-2A08-2840-9EF6-87B67C364A1C}" v="7" dt="2026-01-05T16:06:02.5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4468"/>
  </p:normalViewPr>
  <p:slideViewPr>
    <p:cSldViewPr>
      <p:cViewPr varScale="1">
        <p:scale>
          <a:sx n="115" d="100"/>
          <a:sy n="115" d="100"/>
        </p:scale>
        <p:origin x="744"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ce Miller" userId="4bebc58b-94a5-432f-bbf0-38bbaea904dc" providerId="ADAL" clId="{41F48EA6-C98D-50A1-B214-0CAE3A0FCAD9}"/>
    <pc:docChg chg="undo custSel modSld">
      <pc:chgData name="Alice Miller" userId="4bebc58b-94a5-432f-bbf0-38bbaea904dc" providerId="ADAL" clId="{41F48EA6-C98D-50A1-B214-0CAE3A0FCAD9}" dt="2026-01-12T13:40:11.926" v="928" actId="207"/>
      <pc:docMkLst>
        <pc:docMk/>
      </pc:docMkLst>
      <pc:sldChg chg="modSp mod">
        <pc:chgData name="Alice Miller" userId="4bebc58b-94a5-432f-bbf0-38bbaea904dc" providerId="ADAL" clId="{41F48EA6-C98D-50A1-B214-0CAE3A0FCAD9}" dt="2026-01-05T13:56:23.089" v="19" actId="20577"/>
        <pc:sldMkLst>
          <pc:docMk/>
          <pc:sldMk cId="710240223" sldId="257"/>
        </pc:sldMkLst>
        <pc:spChg chg="mod">
          <ac:chgData name="Alice Miller" userId="4bebc58b-94a5-432f-bbf0-38bbaea904dc" providerId="ADAL" clId="{41F48EA6-C98D-50A1-B214-0CAE3A0FCAD9}" dt="2026-01-05T13:56:23.089" v="19" actId="20577"/>
          <ac:spMkLst>
            <pc:docMk/>
            <pc:sldMk cId="710240223" sldId="257"/>
            <ac:spMk id="3075" creationId="{00000000-0000-0000-0000-000000000000}"/>
          </ac:spMkLst>
        </pc:spChg>
      </pc:sldChg>
      <pc:sldChg chg="modSp mod">
        <pc:chgData name="Alice Miller" userId="4bebc58b-94a5-432f-bbf0-38bbaea904dc" providerId="ADAL" clId="{41F48EA6-C98D-50A1-B214-0CAE3A0FCAD9}" dt="2026-01-05T14:21:56.359" v="676" actId="20577"/>
        <pc:sldMkLst>
          <pc:docMk/>
          <pc:sldMk cId="739079230" sldId="260"/>
        </pc:sldMkLst>
        <pc:spChg chg="mod">
          <ac:chgData name="Alice Miller" userId="4bebc58b-94a5-432f-bbf0-38bbaea904dc" providerId="ADAL" clId="{41F48EA6-C98D-50A1-B214-0CAE3A0FCAD9}" dt="2026-01-05T14:21:56.359" v="676" actId="20577"/>
          <ac:spMkLst>
            <pc:docMk/>
            <pc:sldMk cId="739079230" sldId="260"/>
            <ac:spMk id="6147" creationId="{00000000-0000-0000-0000-000000000000}"/>
          </ac:spMkLst>
        </pc:spChg>
      </pc:sldChg>
      <pc:sldChg chg="modSp mod">
        <pc:chgData name="Alice Miller" userId="4bebc58b-94a5-432f-bbf0-38bbaea904dc" providerId="ADAL" clId="{41F48EA6-C98D-50A1-B214-0CAE3A0FCAD9}" dt="2026-01-05T14:18:16.855" v="486"/>
        <pc:sldMkLst>
          <pc:docMk/>
          <pc:sldMk cId="2136291728" sldId="263"/>
        </pc:sldMkLst>
        <pc:spChg chg="mod">
          <ac:chgData name="Alice Miller" userId="4bebc58b-94a5-432f-bbf0-38bbaea904dc" providerId="ADAL" clId="{41F48EA6-C98D-50A1-B214-0CAE3A0FCAD9}" dt="2026-01-05T14:18:16.855" v="486"/>
          <ac:spMkLst>
            <pc:docMk/>
            <pc:sldMk cId="2136291728" sldId="263"/>
            <ac:spMk id="6147" creationId="{00000000-0000-0000-0000-000000000000}"/>
          </ac:spMkLst>
        </pc:spChg>
      </pc:sldChg>
      <pc:sldChg chg="modSp mod">
        <pc:chgData name="Alice Miller" userId="4bebc58b-94a5-432f-bbf0-38bbaea904dc" providerId="ADAL" clId="{41F48EA6-C98D-50A1-B214-0CAE3A0FCAD9}" dt="2026-01-05T14:10:23.889" v="175" actId="20577"/>
        <pc:sldMkLst>
          <pc:docMk/>
          <pc:sldMk cId="3967490670" sldId="265"/>
        </pc:sldMkLst>
        <pc:spChg chg="mod">
          <ac:chgData name="Alice Miller" userId="4bebc58b-94a5-432f-bbf0-38bbaea904dc" providerId="ADAL" clId="{41F48EA6-C98D-50A1-B214-0CAE3A0FCAD9}" dt="2026-01-05T14:10:23.889" v="175" actId="20577"/>
          <ac:spMkLst>
            <pc:docMk/>
            <pc:sldMk cId="3967490670" sldId="265"/>
            <ac:spMk id="6147" creationId="{00000000-0000-0000-0000-000000000000}"/>
          </ac:spMkLst>
        </pc:spChg>
      </pc:sldChg>
      <pc:sldChg chg="modSp mod">
        <pc:chgData name="Alice Miller" userId="4bebc58b-94a5-432f-bbf0-38bbaea904dc" providerId="ADAL" clId="{41F48EA6-C98D-50A1-B214-0CAE3A0FCAD9}" dt="2026-01-05T14:19:32.389" v="581" actId="20577"/>
        <pc:sldMkLst>
          <pc:docMk/>
          <pc:sldMk cId="827204316" sldId="270"/>
        </pc:sldMkLst>
        <pc:spChg chg="mod">
          <ac:chgData name="Alice Miller" userId="4bebc58b-94a5-432f-bbf0-38bbaea904dc" providerId="ADAL" clId="{41F48EA6-C98D-50A1-B214-0CAE3A0FCAD9}" dt="2026-01-05T14:19:32.389" v="581" actId="20577"/>
          <ac:spMkLst>
            <pc:docMk/>
            <pc:sldMk cId="827204316" sldId="270"/>
            <ac:spMk id="6147" creationId="{00000000-0000-0000-0000-000000000000}"/>
          </ac:spMkLst>
        </pc:spChg>
      </pc:sldChg>
      <pc:sldChg chg="addSp delSp modSp mod">
        <pc:chgData name="Alice Miller" userId="4bebc58b-94a5-432f-bbf0-38bbaea904dc" providerId="ADAL" clId="{41F48EA6-C98D-50A1-B214-0CAE3A0FCAD9}" dt="2026-01-05T15:24:55.034" v="694" actId="14100"/>
        <pc:sldMkLst>
          <pc:docMk/>
          <pc:sldMk cId="1056303749" sldId="271"/>
        </pc:sldMkLst>
        <pc:picChg chg="add mod">
          <ac:chgData name="Alice Miller" userId="4bebc58b-94a5-432f-bbf0-38bbaea904dc" providerId="ADAL" clId="{41F48EA6-C98D-50A1-B214-0CAE3A0FCAD9}" dt="2026-01-05T15:24:55.034" v="694" actId="14100"/>
          <ac:picMkLst>
            <pc:docMk/>
            <pc:sldMk cId="1056303749" sldId="271"/>
            <ac:picMk id="11" creationId="{917C4B15-52B8-0EF4-E1C9-C8E92D8E1F91}"/>
          </ac:picMkLst>
        </pc:picChg>
      </pc:sldChg>
      <pc:sldChg chg="addSp delSp modSp mod">
        <pc:chgData name="Alice Miller" userId="4bebc58b-94a5-432f-bbf0-38bbaea904dc" providerId="ADAL" clId="{41F48EA6-C98D-50A1-B214-0CAE3A0FCAD9}" dt="2026-01-05T16:29:27.213" v="869" actId="1076"/>
        <pc:sldMkLst>
          <pc:docMk/>
          <pc:sldMk cId="3939503255" sldId="272"/>
        </pc:sldMkLst>
        <pc:spChg chg="mod">
          <ac:chgData name="Alice Miller" userId="4bebc58b-94a5-432f-bbf0-38bbaea904dc" providerId="ADAL" clId="{41F48EA6-C98D-50A1-B214-0CAE3A0FCAD9}" dt="2026-01-05T16:06:02.537" v="866"/>
          <ac:spMkLst>
            <pc:docMk/>
            <pc:sldMk cId="3939503255" sldId="272"/>
            <ac:spMk id="6147" creationId="{00000000-0000-0000-0000-000000000000}"/>
          </ac:spMkLst>
        </pc:spChg>
        <pc:picChg chg="add mod">
          <ac:chgData name="Alice Miller" userId="4bebc58b-94a5-432f-bbf0-38bbaea904dc" providerId="ADAL" clId="{41F48EA6-C98D-50A1-B214-0CAE3A0FCAD9}" dt="2026-01-05T16:29:27.213" v="869" actId="1076"/>
          <ac:picMkLst>
            <pc:docMk/>
            <pc:sldMk cId="3939503255" sldId="272"/>
            <ac:picMk id="3" creationId="{D41585A6-AB52-8636-C3DA-8E9AFD7C9C6D}"/>
          </ac:picMkLst>
        </pc:picChg>
      </pc:sldChg>
      <pc:sldChg chg="modSp mod">
        <pc:chgData name="Alice Miller" userId="4bebc58b-94a5-432f-bbf0-38bbaea904dc" providerId="ADAL" clId="{41F48EA6-C98D-50A1-B214-0CAE3A0FCAD9}" dt="2026-01-05T15:45:04.530" v="865" actId="207"/>
        <pc:sldMkLst>
          <pc:docMk/>
          <pc:sldMk cId="3476587928" sldId="273"/>
        </pc:sldMkLst>
        <pc:spChg chg="mod">
          <ac:chgData name="Alice Miller" userId="4bebc58b-94a5-432f-bbf0-38bbaea904dc" providerId="ADAL" clId="{41F48EA6-C98D-50A1-B214-0CAE3A0FCAD9}" dt="2026-01-05T15:45:04.530" v="865" actId="207"/>
          <ac:spMkLst>
            <pc:docMk/>
            <pc:sldMk cId="3476587928" sldId="273"/>
            <ac:spMk id="6147" creationId="{00000000-0000-0000-0000-000000000000}"/>
          </ac:spMkLst>
        </pc:spChg>
      </pc:sldChg>
      <pc:sldChg chg="modSp mod">
        <pc:chgData name="Alice Miller" userId="4bebc58b-94a5-432f-bbf0-38bbaea904dc" providerId="ADAL" clId="{41F48EA6-C98D-50A1-B214-0CAE3A0FCAD9}" dt="2026-01-05T14:12:10.415" v="181" actId="20577"/>
        <pc:sldMkLst>
          <pc:docMk/>
          <pc:sldMk cId="222887984" sldId="274"/>
        </pc:sldMkLst>
        <pc:spChg chg="mod">
          <ac:chgData name="Alice Miller" userId="4bebc58b-94a5-432f-bbf0-38bbaea904dc" providerId="ADAL" clId="{41F48EA6-C98D-50A1-B214-0CAE3A0FCAD9}" dt="2026-01-05T14:12:10.415" v="181" actId="20577"/>
          <ac:spMkLst>
            <pc:docMk/>
            <pc:sldMk cId="222887984" sldId="274"/>
            <ac:spMk id="6147" creationId="{00000000-0000-0000-0000-000000000000}"/>
          </ac:spMkLst>
        </pc:spChg>
      </pc:sldChg>
      <pc:sldChg chg="modSp mod">
        <pc:chgData name="Alice Miller" userId="4bebc58b-94a5-432f-bbf0-38bbaea904dc" providerId="ADAL" clId="{41F48EA6-C98D-50A1-B214-0CAE3A0FCAD9}" dt="2026-01-12T13:40:11.926" v="928" actId="207"/>
        <pc:sldMkLst>
          <pc:docMk/>
          <pc:sldMk cId="2198103496" sldId="276"/>
        </pc:sldMkLst>
        <pc:spChg chg="mod">
          <ac:chgData name="Alice Miller" userId="4bebc58b-94a5-432f-bbf0-38bbaea904dc" providerId="ADAL" clId="{41F48EA6-C98D-50A1-B214-0CAE3A0FCAD9}" dt="2026-01-12T13:40:11.926" v="928" actId="207"/>
          <ac:spMkLst>
            <pc:docMk/>
            <pc:sldMk cId="2198103496" sldId="276"/>
            <ac:spMk id="614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A43536-9A67-4139-89B0-FE32005CD1C0}" type="datetimeFigureOut">
              <a:rPr lang="en-GB" smtClean="0"/>
              <a:t>12/01/2026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FDAE03E-591F-4E70-93CD-EF4B71CF62D4}" type="slidenum">
              <a:rPr lang="en-GB" smtClean="0"/>
              <a:t>‹#›</a:t>
            </a:fld>
            <a:endParaRPr lang="en-GB"/>
          </a:p>
        </p:txBody>
      </p:sp>
    </p:spTree>
    <p:extLst>
      <p:ext uri="{BB962C8B-B14F-4D97-AF65-F5344CB8AC3E}">
        <p14:creationId xmlns:p14="http://schemas.microsoft.com/office/powerpoint/2010/main" val="1784314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a:ln/>
        </p:spPr>
      </p:sp>
      <p:sp>
        <p:nvSpPr>
          <p:cNvPr id="10243"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DAE03E-591F-4E70-93CD-EF4B71CF62D4}" type="slidenum">
              <a:rPr lang="en-GB" smtClean="0"/>
              <a:t>11</a:t>
            </a:fld>
            <a:endParaRPr lang="en-GB"/>
          </a:p>
        </p:txBody>
      </p:sp>
    </p:spTree>
    <p:extLst>
      <p:ext uri="{BB962C8B-B14F-4D97-AF65-F5344CB8AC3E}">
        <p14:creationId xmlns:p14="http://schemas.microsoft.com/office/powerpoint/2010/main" val="673654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DAE03E-591F-4E70-93CD-EF4B71CF62D4}" type="slidenum">
              <a:rPr lang="en-GB" smtClean="0"/>
              <a:t>15</a:t>
            </a:fld>
            <a:endParaRPr lang="en-GB"/>
          </a:p>
        </p:txBody>
      </p:sp>
    </p:spTree>
    <p:extLst>
      <p:ext uri="{BB962C8B-B14F-4D97-AF65-F5344CB8AC3E}">
        <p14:creationId xmlns:p14="http://schemas.microsoft.com/office/powerpoint/2010/main" val="2468286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1D8BD707-D9CF-40AE-B4C6-C98DA3205C09}" type="datetimeFigureOut">
              <a:rPr lang="en-US" smtClean="0"/>
              <a:pPr/>
              <a:t>1/12/26</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0" y="1752600"/>
            <a:ext cx="9144000" cy="1533525"/>
          </a:xfrm>
          <a:ln>
            <a:noFill/>
          </a:ln>
        </p:spPr>
        <p:txBody>
          <a:bodyPr/>
          <a:lstStyle/>
          <a:p>
            <a:pPr algn="ctr" eaLnBrk="1" hangingPunct="1"/>
            <a:r>
              <a:rPr lang="en-GB" altLang="en-US" sz="4400" dirty="0">
                <a:solidFill>
                  <a:schemeClr val="accent1">
                    <a:lumMod val="75000"/>
                  </a:schemeClr>
                </a:solidFill>
              </a:rPr>
              <a:t>Algorithms &amp; Data Structures (M)</a:t>
            </a:r>
          </a:p>
        </p:txBody>
      </p:sp>
      <p:sp>
        <p:nvSpPr>
          <p:cNvPr id="3075" name="Rectangle 3"/>
          <p:cNvSpPr>
            <a:spLocks noGrp="1" noChangeArrowheads="1"/>
          </p:cNvSpPr>
          <p:nvPr>
            <p:ph type="subTitle" idx="1"/>
          </p:nvPr>
        </p:nvSpPr>
        <p:spPr>
          <a:xfrm>
            <a:off x="403225" y="3644900"/>
            <a:ext cx="8345488" cy="1512888"/>
          </a:xfrm>
        </p:spPr>
        <p:txBody>
          <a:bodyPr>
            <a:normAutofit fontScale="85000" lnSpcReduction="20000"/>
          </a:bodyPr>
          <a:lstStyle/>
          <a:p>
            <a:pPr algn="ctr" eaLnBrk="1" hangingPunct="1"/>
            <a:r>
              <a:rPr lang="en-GB" altLang="en-US" sz="3600" b="0" dirty="0"/>
              <a:t>2025-2026</a:t>
            </a:r>
          </a:p>
          <a:p>
            <a:pPr algn="ctr" eaLnBrk="1" hangingPunct="1"/>
            <a:r>
              <a:rPr lang="en-GB" altLang="en-US" sz="3600" dirty="0"/>
              <a:t>P</a:t>
            </a:r>
            <a:r>
              <a:rPr lang="en-GB" altLang="en-US" sz="3600" b="0" dirty="0"/>
              <a:t>rof Alice Miller</a:t>
            </a:r>
          </a:p>
          <a:p>
            <a:pPr algn="ctr" eaLnBrk="1" hangingPunct="1"/>
            <a:r>
              <a:rPr lang="en-GB" altLang="en-US" sz="3600" dirty="0"/>
              <a:t>Office: S133 (second floor, </a:t>
            </a:r>
            <a:r>
              <a:rPr lang="en-GB" altLang="en-US" sz="3600" dirty="0" err="1"/>
              <a:t>Lilybank</a:t>
            </a:r>
            <a:r>
              <a:rPr lang="en-GB" altLang="en-US" sz="3600" dirty="0"/>
              <a:t> Gardens)</a:t>
            </a:r>
            <a:endParaRPr lang="en-GB" altLang="en-US" sz="3600" b="0" dirty="0"/>
          </a:p>
        </p:txBody>
      </p:sp>
      <p:sp>
        <p:nvSpPr>
          <p:cNvPr id="3076" name="Rectangle 4"/>
          <p:cNvSpPr>
            <a:spLocks noChangeArrowheads="1"/>
          </p:cNvSpPr>
          <p:nvPr/>
        </p:nvSpPr>
        <p:spPr bwMode="auto">
          <a:xfrm>
            <a:off x="34925" y="5661025"/>
            <a:ext cx="9109075" cy="4333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eaLnBrk="1" hangingPunct="1">
              <a:buFont typeface="Wingdings" pitchFamily="2" charset="2"/>
              <a:buNone/>
            </a:pPr>
            <a:r>
              <a:rPr lang="en-GB" altLang="en-US" sz="2000" dirty="0">
                <a:solidFill>
                  <a:schemeClr val="bg1"/>
                </a:solidFill>
                <a:cs typeface="Arial" charset="0"/>
              </a:rPr>
              <a:t>Moodle:  </a:t>
            </a:r>
            <a:r>
              <a:rPr lang="en-GB" altLang="en-US" sz="2000" dirty="0">
                <a:solidFill>
                  <a:srgbClr val="66CCFF"/>
                </a:solidFill>
                <a:cs typeface="Arial" charset="0"/>
              </a:rPr>
              <a:t>Computing Science → Algorithms &amp; Data Structures (M)</a:t>
            </a:r>
          </a:p>
        </p:txBody>
      </p:sp>
      <p:sp>
        <p:nvSpPr>
          <p:cNvPr id="3077" name="Rectangle 5"/>
          <p:cNvSpPr>
            <a:spLocks noChangeArrowheads="1"/>
          </p:cNvSpPr>
          <p:nvPr/>
        </p:nvSpPr>
        <p:spPr bwMode="auto">
          <a:xfrm>
            <a:off x="1979613" y="6380163"/>
            <a:ext cx="5256212" cy="433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eaLnBrk="1" hangingPunct="1">
              <a:buFont typeface="Wingdings" pitchFamily="2" charset="2"/>
              <a:buNone/>
            </a:pPr>
            <a:r>
              <a:rPr lang="en-GB" altLang="en-US" sz="2000">
                <a:solidFill>
                  <a:schemeClr val="bg1"/>
                </a:solidFill>
                <a:cs typeface="Arial" charset="0"/>
              </a:rPr>
              <a:t>© 2008 David A Watt, University of Glasgow</a:t>
            </a:r>
          </a:p>
        </p:txBody>
      </p:sp>
    </p:spTree>
    <p:extLst>
      <p:ext uri="{BB962C8B-B14F-4D97-AF65-F5344CB8AC3E}">
        <p14:creationId xmlns:p14="http://schemas.microsoft.com/office/powerpoint/2010/main" val="710240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GB" altLang="en-US"/>
              <a:t>Aims</a:t>
            </a:r>
          </a:p>
        </p:txBody>
      </p:sp>
      <p:sp>
        <p:nvSpPr>
          <p:cNvPr id="4099" name="Rectangle 3"/>
          <p:cNvSpPr>
            <a:spLocks noGrp="1" noChangeArrowheads="1"/>
          </p:cNvSpPr>
          <p:nvPr>
            <p:ph idx="1"/>
          </p:nvPr>
        </p:nvSpPr>
        <p:spPr>
          <a:noFill/>
        </p:spPr>
        <p:txBody>
          <a:bodyPr>
            <a:normAutofit/>
          </a:bodyPr>
          <a:lstStyle/>
          <a:p>
            <a:pPr marL="0" indent="0" eaLnBrk="1" hangingPunct="1">
              <a:buNone/>
            </a:pPr>
            <a:r>
              <a:rPr lang="en-US" altLang="en-US" dirty="0"/>
              <a:t>To study the concepts of:</a:t>
            </a:r>
          </a:p>
          <a:p>
            <a:pPr marL="0" indent="0" eaLnBrk="1" hangingPunct="1">
              <a:buNone/>
            </a:pPr>
            <a:endParaRPr lang="en-US" altLang="en-US" dirty="0"/>
          </a:p>
          <a:p>
            <a:pPr eaLnBrk="1" hangingPunct="1"/>
            <a:r>
              <a:rPr lang="en-US" altLang="en-US" b="1" dirty="0"/>
              <a:t> algorithms</a:t>
            </a:r>
            <a:endParaRPr lang="en-US" altLang="en-US" dirty="0"/>
          </a:p>
          <a:p>
            <a:pPr lvl="1"/>
            <a:r>
              <a:rPr lang="en-US" altLang="en-US" dirty="0"/>
              <a:t>and how to </a:t>
            </a:r>
            <a:r>
              <a:rPr lang="en-US" altLang="en-US" dirty="0" err="1"/>
              <a:t>analyse</a:t>
            </a:r>
            <a:r>
              <a:rPr lang="en-US" altLang="en-US" dirty="0"/>
              <a:t> their efficiency.</a:t>
            </a:r>
          </a:p>
          <a:p>
            <a:pPr eaLnBrk="1" hangingPunct="1"/>
            <a:r>
              <a:rPr lang="en-US" altLang="en-US" b="1" dirty="0"/>
              <a:t> abstract data types (ADTs)</a:t>
            </a:r>
            <a:endParaRPr lang="en-US" altLang="en-US" dirty="0"/>
          </a:p>
          <a:p>
            <a:pPr lvl="1"/>
            <a:r>
              <a:rPr lang="en-US" altLang="en-US" dirty="0"/>
              <a:t>the ADTs most commonly used in software development (stacks, queues, lists, sets, maps).</a:t>
            </a:r>
          </a:p>
          <a:p>
            <a:pPr eaLnBrk="1" hangingPunct="1"/>
            <a:r>
              <a:rPr lang="en-US" altLang="en-US" dirty="0"/>
              <a:t> </a:t>
            </a:r>
            <a:r>
              <a:rPr lang="en-US" altLang="en-US" b="1" dirty="0"/>
              <a:t>data structures</a:t>
            </a:r>
            <a:r>
              <a:rPr lang="en-US" altLang="en-US" dirty="0"/>
              <a:t> </a:t>
            </a:r>
          </a:p>
          <a:p>
            <a:pPr lvl="1"/>
            <a:r>
              <a:rPr lang="en-US" altLang="en-US" dirty="0"/>
              <a:t>most commonly used to represent these ADTs (arrays, linked-lists, binary-search-trees, hash-tables)</a:t>
            </a:r>
          </a:p>
          <a:p>
            <a:pPr lvl="1"/>
            <a:r>
              <a:rPr lang="en-US" altLang="en-US" dirty="0"/>
              <a:t>+ algorithms operating on these data structures.</a:t>
            </a:r>
            <a:endParaRPr lang="en-GB" altLang="en-US" dirty="0"/>
          </a:p>
        </p:txBody>
      </p:sp>
    </p:spTree>
    <p:extLst>
      <p:ext uri="{BB962C8B-B14F-4D97-AF65-F5344CB8AC3E}">
        <p14:creationId xmlns:p14="http://schemas.microsoft.com/office/powerpoint/2010/main" val="927694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5B9-E78E-E146-A991-6A8996B295A1}"/>
              </a:ext>
            </a:extLst>
          </p:cNvPr>
          <p:cNvSpPr>
            <a:spLocks noGrp="1"/>
          </p:cNvSpPr>
          <p:nvPr>
            <p:ph type="title"/>
          </p:nvPr>
        </p:nvSpPr>
        <p:spPr/>
        <p:txBody>
          <a:bodyPr/>
          <a:lstStyle/>
          <a:p>
            <a:r>
              <a:rPr lang="en-US" dirty="0"/>
              <a:t>This is what the course leads to…</a:t>
            </a:r>
          </a:p>
        </p:txBody>
      </p:sp>
      <p:grpSp>
        <p:nvGrpSpPr>
          <p:cNvPr id="3" name="Group 2">
            <a:extLst>
              <a:ext uri="{FF2B5EF4-FFF2-40B4-BE49-F238E27FC236}">
                <a16:creationId xmlns:a16="http://schemas.microsoft.com/office/drawing/2014/main" id="{99335D6F-7699-AC47-9227-577D8C482D8A}"/>
              </a:ext>
            </a:extLst>
          </p:cNvPr>
          <p:cNvGrpSpPr/>
          <p:nvPr/>
        </p:nvGrpSpPr>
        <p:grpSpPr>
          <a:xfrm>
            <a:off x="-95766" y="1752600"/>
            <a:ext cx="8782566" cy="3776580"/>
            <a:chOff x="-77811" y="1494544"/>
            <a:chExt cx="8782566" cy="3776580"/>
          </a:xfrm>
        </p:grpSpPr>
        <p:grpSp>
          <p:nvGrpSpPr>
            <p:cNvPr id="4" name="Group 3">
              <a:extLst>
                <a:ext uri="{FF2B5EF4-FFF2-40B4-BE49-F238E27FC236}">
                  <a16:creationId xmlns:a16="http://schemas.microsoft.com/office/drawing/2014/main" id="{B06908E8-DB45-5C4D-8B6F-0FED140BCE81}"/>
                </a:ext>
              </a:extLst>
            </p:cNvPr>
            <p:cNvGrpSpPr/>
            <p:nvPr/>
          </p:nvGrpSpPr>
          <p:grpSpPr>
            <a:xfrm>
              <a:off x="1241827" y="1494544"/>
              <a:ext cx="6660346" cy="3776580"/>
              <a:chOff x="2445565" y="1378708"/>
              <a:chExt cx="6660346" cy="3776580"/>
            </a:xfrm>
          </p:grpSpPr>
          <p:sp>
            <p:nvSpPr>
              <p:cNvPr id="16" name="TextBox 15">
                <a:extLst>
                  <a:ext uri="{FF2B5EF4-FFF2-40B4-BE49-F238E27FC236}">
                    <a16:creationId xmlns:a16="http://schemas.microsoft.com/office/drawing/2014/main" id="{1E0A4FE3-0276-EB47-BF0B-76273B5C5A07}"/>
                  </a:ext>
                </a:extLst>
              </p:cNvPr>
              <p:cNvSpPr txBox="1"/>
              <p:nvPr/>
            </p:nvSpPr>
            <p:spPr>
              <a:xfrm>
                <a:off x="2730262" y="2822585"/>
                <a:ext cx="870706" cy="369332"/>
              </a:xfrm>
              <a:prstGeom prst="rect">
                <a:avLst/>
              </a:prstGeom>
              <a:noFill/>
              <a:ln>
                <a:solidFill>
                  <a:srgbClr val="3366FF"/>
                </a:solidFill>
              </a:ln>
            </p:spPr>
            <p:txBody>
              <a:bodyPr wrap="square" rtlCol="0">
                <a:spAutoFit/>
              </a:bodyPr>
              <a:lstStyle/>
              <a:p>
                <a:r>
                  <a:rPr lang="en-US" dirty="0"/>
                  <a:t>stack                      </a:t>
                </a:r>
              </a:p>
            </p:txBody>
          </p:sp>
          <p:sp>
            <p:nvSpPr>
              <p:cNvPr id="17" name="TextBox 16">
                <a:extLst>
                  <a:ext uri="{FF2B5EF4-FFF2-40B4-BE49-F238E27FC236}">
                    <a16:creationId xmlns:a16="http://schemas.microsoft.com/office/drawing/2014/main" id="{BA613CFF-EB50-E943-8A8E-D3ED0E7B6A7B}"/>
                  </a:ext>
                </a:extLst>
              </p:cNvPr>
              <p:cNvSpPr txBox="1"/>
              <p:nvPr/>
            </p:nvSpPr>
            <p:spPr>
              <a:xfrm>
                <a:off x="2445565" y="1378708"/>
                <a:ext cx="1440100" cy="646331"/>
              </a:xfrm>
              <a:prstGeom prst="rect">
                <a:avLst/>
              </a:prstGeom>
              <a:noFill/>
              <a:ln>
                <a:solidFill>
                  <a:srgbClr val="FF0000"/>
                </a:solidFill>
              </a:ln>
            </p:spPr>
            <p:txBody>
              <a:bodyPr wrap="square" rtlCol="0">
                <a:spAutoFit/>
              </a:bodyPr>
              <a:lstStyle/>
              <a:p>
                <a:r>
                  <a:rPr lang="en-US" dirty="0"/>
                  <a:t>e.g. </a:t>
                </a:r>
              </a:p>
              <a:p>
                <a:r>
                  <a:rPr lang="en-US" dirty="0"/>
                  <a:t>push, pop</a:t>
                </a:r>
              </a:p>
            </p:txBody>
          </p:sp>
          <p:sp>
            <p:nvSpPr>
              <p:cNvPr id="18" name="TextBox 17">
                <a:extLst>
                  <a:ext uri="{FF2B5EF4-FFF2-40B4-BE49-F238E27FC236}">
                    <a16:creationId xmlns:a16="http://schemas.microsoft.com/office/drawing/2014/main" id="{79BED9C7-DB42-4049-AB19-7E65D730E44B}"/>
                  </a:ext>
                </a:extLst>
              </p:cNvPr>
              <p:cNvSpPr txBox="1"/>
              <p:nvPr/>
            </p:nvSpPr>
            <p:spPr>
              <a:xfrm>
                <a:off x="4266125" y="1390439"/>
                <a:ext cx="1261242" cy="923330"/>
              </a:xfrm>
              <a:prstGeom prst="rect">
                <a:avLst/>
              </a:prstGeom>
              <a:noFill/>
              <a:ln>
                <a:solidFill>
                  <a:srgbClr val="FF0000"/>
                </a:solidFill>
              </a:ln>
            </p:spPr>
            <p:txBody>
              <a:bodyPr wrap="square" rtlCol="0">
                <a:spAutoFit/>
              </a:bodyPr>
              <a:lstStyle/>
              <a:p>
                <a:r>
                  <a:rPr lang="en-US" dirty="0"/>
                  <a:t>e.g. </a:t>
                </a:r>
              </a:p>
              <a:p>
                <a:r>
                  <a:rPr lang="en-US" dirty="0" err="1"/>
                  <a:t>getFirst</a:t>
                </a:r>
                <a:r>
                  <a:rPr lang="en-US" dirty="0"/>
                  <a:t>, </a:t>
                </a:r>
                <a:r>
                  <a:rPr lang="en-US" dirty="0" err="1"/>
                  <a:t>addLast</a:t>
                </a:r>
                <a:endParaRPr lang="en-US" dirty="0"/>
              </a:p>
            </p:txBody>
          </p:sp>
          <p:sp>
            <p:nvSpPr>
              <p:cNvPr id="19" name="TextBox 18">
                <a:extLst>
                  <a:ext uri="{FF2B5EF4-FFF2-40B4-BE49-F238E27FC236}">
                    <a16:creationId xmlns:a16="http://schemas.microsoft.com/office/drawing/2014/main" id="{3811203E-1B2E-9541-984D-D163D200C972}"/>
                  </a:ext>
                </a:extLst>
              </p:cNvPr>
              <p:cNvSpPr txBox="1"/>
              <p:nvPr/>
            </p:nvSpPr>
            <p:spPr>
              <a:xfrm>
                <a:off x="2667805" y="4247846"/>
                <a:ext cx="1011824" cy="369332"/>
              </a:xfrm>
              <a:prstGeom prst="rect">
                <a:avLst/>
              </a:prstGeom>
              <a:noFill/>
              <a:ln>
                <a:solidFill>
                  <a:srgbClr val="008000"/>
                </a:solidFill>
              </a:ln>
            </p:spPr>
            <p:txBody>
              <a:bodyPr wrap="square" rtlCol="0">
                <a:spAutoFit/>
              </a:bodyPr>
              <a:lstStyle/>
              <a:p>
                <a:r>
                  <a:rPr lang="en-US" dirty="0"/>
                  <a:t>array</a:t>
                </a:r>
              </a:p>
            </p:txBody>
          </p:sp>
          <p:sp>
            <p:nvSpPr>
              <p:cNvPr id="20" name="TextBox 19">
                <a:extLst>
                  <a:ext uri="{FF2B5EF4-FFF2-40B4-BE49-F238E27FC236}">
                    <a16:creationId xmlns:a16="http://schemas.microsoft.com/office/drawing/2014/main" id="{56F19E2B-1E46-3A4B-B47F-15FF076E5E9D}"/>
                  </a:ext>
                </a:extLst>
              </p:cNvPr>
              <p:cNvSpPr txBox="1"/>
              <p:nvPr/>
            </p:nvSpPr>
            <p:spPr>
              <a:xfrm>
                <a:off x="4484352" y="4294013"/>
                <a:ext cx="1011824" cy="646331"/>
              </a:xfrm>
              <a:prstGeom prst="rect">
                <a:avLst/>
              </a:prstGeom>
              <a:noFill/>
              <a:ln>
                <a:solidFill>
                  <a:srgbClr val="008000"/>
                </a:solidFill>
              </a:ln>
            </p:spPr>
            <p:txBody>
              <a:bodyPr wrap="square" rtlCol="0">
                <a:spAutoFit/>
              </a:bodyPr>
              <a:lstStyle/>
              <a:p>
                <a:r>
                  <a:rPr lang="en-US" dirty="0"/>
                  <a:t>linked list</a:t>
                </a:r>
              </a:p>
            </p:txBody>
          </p:sp>
          <p:cxnSp>
            <p:nvCxnSpPr>
              <p:cNvPr id="21" name="Straight Arrow Connector 20">
                <a:extLst>
                  <a:ext uri="{FF2B5EF4-FFF2-40B4-BE49-F238E27FC236}">
                    <a16:creationId xmlns:a16="http://schemas.microsoft.com/office/drawing/2014/main" id="{EB43FEEB-7F85-A147-A04F-A81CBB399DA1}"/>
                  </a:ext>
                </a:extLst>
              </p:cNvPr>
              <p:cNvCxnSpPr>
                <a:stCxn id="17" idx="2"/>
              </p:cNvCxnSpPr>
              <p:nvPr/>
            </p:nvCxnSpPr>
            <p:spPr>
              <a:xfrm>
                <a:off x="3165615" y="2025039"/>
                <a:ext cx="0" cy="797546"/>
              </a:xfrm>
              <a:prstGeom prst="straightConnector1">
                <a:avLst/>
              </a:prstGeom>
              <a:ln>
                <a:solidFill>
                  <a:srgbClr val="0000FF"/>
                </a:solidFill>
                <a:prstDash val="solid"/>
                <a:headEnd type="triangle" w="lg" len="lg"/>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ABFC1AF1-7AAA-8045-9195-4D96B494A329}"/>
                  </a:ext>
                </a:extLst>
              </p:cNvPr>
              <p:cNvCxnSpPr>
                <a:cxnSpLocks/>
                <a:endCxn id="23" idx="0"/>
              </p:cNvCxnSpPr>
              <p:nvPr/>
            </p:nvCxnSpPr>
            <p:spPr>
              <a:xfrm>
                <a:off x="4844742" y="2313769"/>
                <a:ext cx="0" cy="509384"/>
              </a:xfrm>
              <a:prstGeom prst="straightConnector1">
                <a:avLst/>
              </a:prstGeom>
              <a:ln>
                <a:solidFill>
                  <a:srgbClr val="0000FF"/>
                </a:solidFill>
                <a:prstDash val="solid"/>
                <a:headEnd type="triangle" w="lg" len="lg"/>
                <a:tailEnd type="arrow"/>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50A6FDDB-A28A-F841-AFC3-647A998A91B1}"/>
                  </a:ext>
                </a:extLst>
              </p:cNvPr>
              <p:cNvSpPr txBox="1"/>
              <p:nvPr/>
            </p:nvSpPr>
            <p:spPr>
              <a:xfrm>
                <a:off x="4338830" y="2823153"/>
                <a:ext cx="1011824" cy="369332"/>
              </a:xfrm>
              <a:prstGeom prst="rect">
                <a:avLst/>
              </a:prstGeom>
              <a:noFill/>
              <a:ln>
                <a:solidFill>
                  <a:srgbClr val="3366FF"/>
                </a:solidFill>
              </a:ln>
            </p:spPr>
            <p:txBody>
              <a:bodyPr wrap="square" rtlCol="0">
                <a:spAutoFit/>
              </a:bodyPr>
              <a:lstStyle/>
              <a:p>
                <a:r>
                  <a:rPr lang="en-US" dirty="0"/>
                  <a:t>queue                      </a:t>
                </a:r>
              </a:p>
            </p:txBody>
          </p:sp>
          <p:cxnSp>
            <p:nvCxnSpPr>
              <p:cNvPr id="24" name="Straight Arrow Connector 23">
                <a:extLst>
                  <a:ext uri="{FF2B5EF4-FFF2-40B4-BE49-F238E27FC236}">
                    <a16:creationId xmlns:a16="http://schemas.microsoft.com/office/drawing/2014/main" id="{D891771D-C6CB-0A4D-BBF6-7849B5A2D641}"/>
                  </a:ext>
                </a:extLst>
              </p:cNvPr>
              <p:cNvCxnSpPr>
                <a:stCxn id="16" idx="2"/>
                <a:endCxn id="19" idx="0"/>
              </p:cNvCxnSpPr>
              <p:nvPr/>
            </p:nvCxnSpPr>
            <p:spPr>
              <a:xfrm>
                <a:off x="3165615" y="3191917"/>
                <a:ext cx="8102" cy="1055929"/>
              </a:xfrm>
              <a:prstGeom prst="straightConnector1">
                <a:avLst/>
              </a:prstGeom>
              <a:ln>
                <a:solidFill>
                  <a:srgbClr val="FFC000"/>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D8E69EF9-2161-914F-84BF-2F99BCE6171B}"/>
                  </a:ext>
                </a:extLst>
              </p:cNvPr>
              <p:cNvCxnSpPr>
                <a:cxnSpLocks/>
              </p:cNvCxnSpPr>
              <p:nvPr/>
            </p:nvCxnSpPr>
            <p:spPr>
              <a:xfrm>
                <a:off x="3217457" y="3222695"/>
                <a:ext cx="1472657" cy="1039473"/>
              </a:xfrm>
              <a:prstGeom prst="straightConnector1">
                <a:avLst/>
              </a:prstGeom>
              <a:ln>
                <a:solidFill>
                  <a:srgbClr val="FFC000"/>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D3BAA76B-B995-DC45-944B-D7577676A344}"/>
                  </a:ext>
                </a:extLst>
              </p:cNvPr>
              <p:cNvCxnSpPr>
                <a:cxnSpLocks/>
                <a:endCxn id="20" idx="0"/>
              </p:cNvCxnSpPr>
              <p:nvPr/>
            </p:nvCxnSpPr>
            <p:spPr>
              <a:xfrm>
                <a:off x="4921011" y="3184533"/>
                <a:ext cx="69253" cy="1109480"/>
              </a:xfrm>
              <a:prstGeom prst="straightConnector1">
                <a:avLst/>
              </a:prstGeom>
              <a:ln>
                <a:solidFill>
                  <a:srgbClr val="FFC000"/>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A4DAAA0-CF3D-4946-B8CE-2AE683728598}"/>
                  </a:ext>
                </a:extLst>
              </p:cNvPr>
              <p:cNvCxnSpPr>
                <a:stCxn id="23" idx="2"/>
              </p:cNvCxnSpPr>
              <p:nvPr/>
            </p:nvCxnSpPr>
            <p:spPr>
              <a:xfrm flipH="1">
                <a:off x="2856732" y="3192485"/>
                <a:ext cx="1988010" cy="1040041"/>
              </a:xfrm>
              <a:prstGeom prst="straightConnector1">
                <a:avLst/>
              </a:prstGeom>
              <a:ln>
                <a:solidFill>
                  <a:srgbClr val="FFC000"/>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B33E7176-9312-0A4F-AA44-9F078C772034}"/>
                  </a:ext>
                </a:extLst>
              </p:cNvPr>
              <p:cNvSpPr txBox="1"/>
              <p:nvPr/>
            </p:nvSpPr>
            <p:spPr>
              <a:xfrm>
                <a:off x="6002582" y="2822585"/>
                <a:ext cx="870706" cy="369332"/>
              </a:xfrm>
              <a:prstGeom prst="rect">
                <a:avLst/>
              </a:prstGeom>
              <a:noFill/>
              <a:ln>
                <a:solidFill>
                  <a:srgbClr val="3366FF"/>
                </a:solidFill>
              </a:ln>
            </p:spPr>
            <p:txBody>
              <a:bodyPr wrap="square" rtlCol="0">
                <a:spAutoFit/>
              </a:bodyPr>
              <a:lstStyle/>
              <a:p>
                <a:pPr algn="ctr"/>
                <a:r>
                  <a:rPr lang="en-US"/>
                  <a:t>list                      </a:t>
                </a:r>
                <a:endParaRPr lang="en-US" dirty="0"/>
              </a:p>
            </p:txBody>
          </p:sp>
          <p:sp>
            <p:nvSpPr>
              <p:cNvPr id="29" name="TextBox 28">
                <a:extLst>
                  <a:ext uri="{FF2B5EF4-FFF2-40B4-BE49-F238E27FC236}">
                    <a16:creationId xmlns:a16="http://schemas.microsoft.com/office/drawing/2014/main" id="{CBC70911-14E3-2748-879D-854A61A8D39F}"/>
                  </a:ext>
                </a:extLst>
              </p:cNvPr>
              <p:cNvSpPr txBox="1"/>
              <p:nvPr/>
            </p:nvSpPr>
            <p:spPr>
              <a:xfrm>
                <a:off x="7489625" y="2784815"/>
                <a:ext cx="692228" cy="369332"/>
              </a:xfrm>
              <a:prstGeom prst="rect">
                <a:avLst/>
              </a:prstGeom>
              <a:noFill/>
              <a:ln>
                <a:solidFill>
                  <a:srgbClr val="3366FF"/>
                </a:solidFill>
              </a:ln>
            </p:spPr>
            <p:txBody>
              <a:bodyPr wrap="square" rtlCol="0">
                <a:spAutoFit/>
              </a:bodyPr>
              <a:lstStyle/>
              <a:p>
                <a:pPr algn="ctr"/>
                <a:r>
                  <a:rPr lang="en-US" dirty="0"/>
                  <a:t>set*                     </a:t>
                </a:r>
              </a:p>
            </p:txBody>
          </p:sp>
          <p:sp>
            <p:nvSpPr>
              <p:cNvPr id="30" name="TextBox 29">
                <a:extLst>
                  <a:ext uri="{FF2B5EF4-FFF2-40B4-BE49-F238E27FC236}">
                    <a16:creationId xmlns:a16="http://schemas.microsoft.com/office/drawing/2014/main" id="{257E0673-009E-C34C-8593-C84655CCF487}"/>
                  </a:ext>
                </a:extLst>
              </p:cNvPr>
              <p:cNvSpPr txBox="1"/>
              <p:nvPr/>
            </p:nvSpPr>
            <p:spPr>
              <a:xfrm>
                <a:off x="5941176" y="1409196"/>
                <a:ext cx="932109" cy="923330"/>
              </a:xfrm>
              <a:prstGeom prst="rect">
                <a:avLst/>
              </a:prstGeom>
              <a:noFill/>
              <a:ln>
                <a:solidFill>
                  <a:srgbClr val="FF0000"/>
                </a:solidFill>
              </a:ln>
            </p:spPr>
            <p:txBody>
              <a:bodyPr wrap="square" rtlCol="0">
                <a:spAutoFit/>
              </a:bodyPr>
              <a:lstStyle/>
              <a:p>
                <a:r>
                  <a:rPr lang="en-US" dirty="0"/>
                  <a:t>e.g. </a:t>
                </a:r>
              </a:p>
              <a:p>
                <a:r>
                  <a:rPr lang="en-US" dirty="0"/>
                  <a:t>get(</a:t>
                </a:r>
                <a:r>
                  <a:rPr lang="en-US" dirty="0" err="1"/>
                  <a:t>i</a:t>
                </a:r>
                <a:r>
                  <a:rPr lang="en-US" dirty="0"/>
                  <a:t>), </a:t>
                </a:r>
              </a:p>
              <a:p>
                <a:r>
                  <a:rPr lang="en-US" dirty="0"/>
                  <a:t>iterate</a:t>
                </a:r>
              </a:p>
            </p:txBody>
          </p:sp>
          <p:sp>
            <p:nvSpPr>
              <p:cNvPr id="31" name="TextBox 30">
                <a:extLst>
                  <a:ext uri="{FF2B5EF4-FFF2-40B4-BE49-F238E27FC236}">
                    <a16:creationId xmlns:a16="http://schemas.microsoft.com/office/drawing/2014/main" id="{F85C6127-989D-4147-922F-EAEC51152311}"/>
                  </a:ext>
                </a:extLst>
              </p:cNvPr>
              <p:cNvSpPr txBox="1"/>
              <p:nvPr/>
            </p:nvSpPr>
            <p:spPr>
              <a:xfrm>
                <a:off x="7317447" y="1429000"/>
                <a:ext cx="1107887" cy="923330"/>
              </a:xfrm>
              <a:prstGeom prst="rect">
                <a:avLst/>
              </a:prstGeom>
              <a:noFill/>
              <a:ln>
                <a:solidFill>
                  <a:srgbClr val="FF0000"/>
                </a:solidFill>
              </a:ln>
            </p:spPr>
            <p:txBody>
              <a:bodyPr wrap="square" rtlCol="0">
                <a:spAutoFit/>
              </a:bodyPr>
              <a:lstStyle/>
              <a:p>
                <a:r>
                  <a:rPr lang="en-US" dirty="0"/>
                  <a:t>e.g. </a:t>
                </a:r>
              </a:p>
              <a:p>
                <a:r>
                  <a:rPr lang="en-US" dirty="0"/>
                  <a:t>contains, </a:t>
                </a:r>
                <a:r>
                  <a:rPr lang="en-US" dirty="0" err="1"/>
                  <a:t>addAll</a:t>
                </a:r>
                <a:endParaRPr lang="en-US" dirty="0"/>
              </a:p>
            </p:txBody>
          </p:sp>
          <p:cxnSp>
            <p:nvCxnSpPr>
              <p:cNvPr id="32" name="Straight Arrow Connector 31">
                <a:extLst>
                  <a:ext uri="{FF2B5EF4-FFF2-40B4-BE49-F238E27FC236}">
                    <a16:creationId xmlns:a16="http://schemas.microsoft.com/office/drawing/2014/main" id="{1D6FF648-2B2B-D84F-B3DC-5602AFE36CD1}"/>
                  </a:ext>
                </a:extLst>
              </p:cNvPr>
              <p:cNvCxnSpPr>
                <a:cxnSpLocks/>
              </p:cNvCxnSpPr>
              <p:nvPr/>
            </p:nvCxnSpPr>
            <p:spPr>
              <a:xfrm>
                <a:off x="6385338" y="2332526"/>
                <a:ext cx="0" cy="520837"/>
              </a:xfrm>
              <a:prstGeom prst="straightConnector1">
                <a:avLst/>
              </a:prstGeom>
              <a:ln>
                <a:solidFill>
                  <a:srgbClr val="0000FF"/>
                </a:solidFill>
                <a:prstDash val="solid"/>
                <a:headEnd type="triangle" w="lg" len="lg"/>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BBAB07DC-F085-7049-8E5C-0ABA487FCD6E}"/>
                  </a:ext>
                </a:extLst>
              </p:cNvPr>
              <p:cNvCxnSpPr/>
              <p:nvPr/>
            </p:nvCxnSpPr>
            <p:spPr>
              <a:xfrm>
                <a:off x="7871390" y="2367135"/>
                <a:ext cx="0" cy="428214"/>
              </a:xfrm>
              <a:prstGeom prst="straightConnector1">
                <a:avLst/>
              </a:prstGeom>
              <a:ln>
                <a:solidFill>
                  <a:srgbClr val="0000FF"/>
                </a:solidFill>
                <a:prstDash val="solid"/>
                <a:headEnd type="triangle" w="lg" len="lg"/>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9BFA9EC1-51C1-C043-BEC7-648A1759A036}"/>
                  </a:ext>
                </a:extLst>
              </p:cNvPr>
              <p:cNvCxnSpPr>
                <a:cxnSpLocks/>
              </p:cNvCxnSpPr>
              <p:nvPr/>
            </p:nvCxnSpPr>
            <p:spPr>
              <a:xfrm flipH="1">
                <a:off x="3054921" y="3197247"/>
                <a:ext cx="3142430" cy="1050599"/>
              </a:xfrm>
              <a:prstGeom prst="straightConnector1">
                <a:avLst/>
              </a:prstGeom>
              <a:ln>
                <a:solidFill>
                  <a:srgbClr val="FFC000"/>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D8825242-DFAF-1F4D-BE91-9406326B4732}"/>
                  </a:ext>
                </a:extLst>
              </p:cNvPr>
              <p:cNvCxnSpPr>
                <a:cxnSpLocks/>
              </p:cNvCxnSpPr>
              <p:nvPr/>
            </p:nvCxnSpPr>
            <p:spPr>
              <a:xfrm flipH="1">
                <a:off x="5122049" y="3204591"/>
                <a:ext cx="1331255" cy="1087095"/>
              </a:xfrm>
              <a:prstGeom prst="straightConnector1">
                <a:avLst/>
              </a:prstGeom>
              <a:ln>
                <a:solidFill>
                  <a:srgbClr val="FFC000"/>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BE123A7D-2461-BC45-ACBB-EE63E6215686}"/>
                  </a:ext>
                </a:extLst>
              </p:cNvPr>
              <p:cNvCxnSpPr>
                <a:cxnSpLocks/>
              </p:cNvCxnSpPr>
              <p:nvPr/>
            </p:nvCxnSpPr>
            <p:spPr>
              <a:xfrm flipH="1">
                <a:off x="3430295" y="3182365"/>
                <a:ext cx="4323007" cy="1065481"/>
              </a:xfrm>
              <a:prstGeom prst="straightConnector1">
                <a:avLst/>
              </a:prstGeom>
              <a:ln>
                <a:solidFill>
                  <a:srgbClr val="FFC000"/>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C123F595-CCFF-944D-A664-C62FB6EF3CA3}"/>
                  </a:ext>
                </a:extLst>
              </p:cNvPr>
              <p:cNvCxnSpPr>
                <a:cxnSpLocks/>
                <a:stCxn id="29" idx="2"/>
              </p:cNvCxnSpPr>
              <p:nvPr/>
            </p:nvCxnSpPr>
            <p:spPr>
              <a:xfrm flipH="1">
                <a:off x="7347707" y="3154147"/>
                <a:ext cx="488032" cy="1073049"/>
              </a:xfrm>
              <a:prstGeom prst="straightConnector1">
                <a:avLst/>
              </a:prstGeom>
              <a:ln w="26424">
                <a:solidFill>
                  <a:srgbClr val="FFC000"/>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9FB9A358-3161-8846-90A9-807B18236C33}"/>
                  </a:ext>
                </a:extLst>
              </p:cNvPr>
              <p:cNvSpPr txBox="1"/>
              <p:nvPr/>
            </p:nvSpPr>
            <p:spPr>
              <a:xfrm>
                <a:off x="6741478" y="4231958"/>
                <a:ext cx="1011824" cy="923330"/>
              </a:xfrm>
              <a:prstGeom prst="rect">
                <a:avLst/>
              </a:prstGeom>
              <a:noFill/>
              <a:ln>
                <a:solidFill>
                  <a:srgbClr val="008000"/>
                </a:solidFill>
              </a:ln>
            </p:spPr>
            <p:txBody>
              <a:bodyPr wrap="square" rtlCol="0">
                <a:spAutoFit/>
              </a:bodyPr>
              <a:lstStyle/>
              <a:p>
                <a:r>
                  <a:rPr lang="en-US" dirty="0"/>
                  <a:t>binary search tree</a:t>
                </a:r>
              </a:p>
            </p:txBody>
          </p:sp>
          <p:sp>
            <p:nvSpPr>
              <p:cNvPr id="39" name="TextBox 38">
                <a:extLst>
                  <a:ext uri="{FF2B5EF4-FFF2-40B4-BE49-F238E27FC236}">
                    <a16:creationId xmlns:a16="http://schemas.microsoft.com/office/drawing/2014/main" id="{5AB6B567-C761-A94F-98B2-C39E1AC64E18}"/>
                  </a:ext>
                </a:extLst>
              </p:cNvPr>
              <p:cNvSpPr txBox="1"/>
              <p:nvPr/>
            </p:nvSpPr>
            <p:spPr>
              <a:xfrm>
                <a:off x="8094087" y="4227196"/>
                <a:ext cx="1011824" cy="646331"/>
              </a:xfrm>
              <a:prstGeom prst="rect">
                <a:avLst/>
              </a:prstGeom>
              <a:noFill/>
              <a:ln>
                <a:solidFill>
                  <a:srgbClr val="008000"/>
                </a:solidFill>
              </a:ln>
            </p:spPr>
            <p:txBody>
              <a:bodyPr wrap="square" rtlCol="0">
                <a:spAutoFit/>
              </a:bodyPr>
              <a:lstStyle/>
              <a:p>
                <a:r>
                  <a:rPr lang="en-US" dirty="0"/>
                  <a:t>hash table</a:t>
                </a:r>
              </a:p>
            </p:txBody>
          </p:sp>
          <p:cxnSp>
            <p:nvCxnSpPr>
              <p:cNvPr id="40" name="Straight Arrow Connector 39">
                <a:extLst>
                  <a:ext uri="{FF2B5EF4-FFF2-40B4-BE49-F238E27FC236}">
                    <a16:creationId xmlns:a16="http://schemas.microsoft.com/office/drawing/2014/main" id="{9466DBD0-0565-C44B-8D8D-7D0B391B0D10}"/>
                  </a:ext>
                </a:extLst>
              </p:cNvPr>
              <p:cNvCxnSpPr>
                <a:cxnSpLocks/>
                <a:endCxn id="39" idx="0"/>
              </p:cNvCxnSpPr>
              <p:nvPr/>
            </p:nvCxnSpPr>
            <p:spPr>
              <a:xfrm>
                <a:off x="8094087" y="3182365"/>
                <a:ext cx="505912" cy="1044831"/>
              </a:xfrm>
              <a:prstGeom prst="straightConnector1">
                <a:avLst/>
              </a:prstGeom>
              <a:ln w="26424">
                <a:solidFill>
                  <a:srgbClr val="FFC000"/>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A52603E4-37C6-034C-9128-66D9C94B45B4}"/>
                  </a:ext>
                </a:extLst>
              </p:cNvPr>
              <p:cNvCxnSpPr>
                <a:cxnSpLocks/>
                <a:stCxn id="29" idx="2"/>
              </p:cNvCxnSpPr>
              <p:nvPr/>
            </p:nvCxnSpPr>
            <p:spPr>
              <a:xfrm flipH="1">
                <a:off x="5336374" y="3154147"/>
                <a:ext cx="2499365" cy="1137539"/>
              </a:xfrm>
              <a:prstGeom prst="straightConnector1">
                <a:avLst/>
              </a:prstGeom>
              <a:ln>
                <a:solidFill>
                  <a:srgbClr val="FFC000"/>
                </a:solidFill>
                <a:prstDash val="dash"/>
                <a:tailEnd type="arrow"/>
              </a:ln>
            </p:spPr>
            <p:style>
              <a:lnRef idx="2">
                <a:schemeClr val="accent1"/>
              </a:lnRef>
              <a:fillRef idx="0">
                <a:schemeClr val="accent1"/>
              </a:fillRef>
              <a:effectRef idx="1">
                <a:schemeClr val="accent1"/>
              </a:effectRef>
              <a:fontRef idx="minor">
                <a:schemeClr val="tx1"/>
              </a:fontRef>
            </p:style>
          </p:cxnSp>
        </p:grpSp>
        <p:sp>
          <p:nvSpPr>
            <p:cNvPr id="5" name="TextBox 4">
              <a:extLst>
                <a:ext uri="{FF2B5EF4-FFF2-40B4-BE49-F238E27FC236}">
                  <a16:creationId xmlns:a16="http://schemas.microsoft.com/office/drawing/2014/main" id="{EE199521-E91E-2543-AF96-EC072A3858BF}"/>
                </a:ext>
              </a:extLst>
            </p:cNvPr>
            <p:cNvSpPr txBox="1"/>
            <p:nvPr/>
          </p:nvSpPr>
          <p:spPr>
            <a:xfrm>
              <a:off x="-77811" y="1688047"/>
              <a:ext cx="1440100" cy="369332"/>
            </a:xfrm>
            <a:prstGeom prst="rect">
              <a:avLst/>
            </a:prstGeom>
            <a:noFill/>
          </p:spPr>
          <p:txBody>
            <a:bodyPr wrap="square" rtlCol="0">
              <a:spAutoFit/>
            </a:bodyPr>
            <a:lstStyle/>
            <a:p>
              <a:r>
                <a:rPr lang="en-US" dirty="0"/>
                <a:t>operations:</a:t>
              </a:r>
            </a:p>
          </p:txBody>
        </p:sp>
        <p:sp>
          <p:nvSpPr>
            <p:cNvPr id="6" name="TextBox 5">
              <a:extLst>
                <a:ext uri="{FF2B5EF4-FFF2-40B4-BE49-F238E27FC236}">
                  <a16:creationId xmlns:a16="http://schemas.microsoft.com/office/drawing/2014/main" id="{D888A02E-EF7B-954D-BA5A-65203CEAC3FB}"/>
                </a:ext>
              </a:extLst>
            </p:cNvPr>
            <p:cNvSpPr txBox="1"/>
            <p:nvPr/>
          </p:nvSpPr>
          <p:spPr>
            <a:xfrm>
              <a:off x="41220" y="2969199"/>
              <a:ext cx="1217142" cy="369332"/>
            </a:xfrm>
            <a:prstGeom prst="rect">
              <a:avLst/>
            </a:prstGeom>
            <a:noFill/>
          </p:spPr>
          <p:txBody>
            <a:bodyPr wrap="square" rtlCol="0">
              <a:spAutoFit/>
            </a:bodyPr>
            <a:lstStyle/>
            <a:p>
              <a:r>
                <a:rPr lang="en-US" dirty="0"/>
                <a:t>ADTs:</a:t>
              </a:r>
            </a:p>
          </p:txBody>
        </p:sp>
        <p:sp>
          <p:nvSpPr>
            <p:cNvPr id="7" name="TextBox 6">
              <a:extLst>
                <a:ext uri="{FF2B5EF4-FFF2-40B4-BE49-F238E27FC236}">
                  <a16:creationId xmlns:a16="http://schemas.microsoft.com/office/drawing/2014/main" id="{740E6550-C04C-4645-888D-45630252D4CD}"/>
                </a:ext>
              </a:extLst>
            </p:cNvPr>
            <p:cNvSpPr txBox="1"/>
            <p:nvPr/>
          </p:nvSpPr>
          <p:spPr>
            <a:xfrm>
              <a:off x="1024" y="3588611"/>
              <a:ext cx="2040801" cy="369332"/>
            </a:xfrm>
            <a:prstGeom prst="rect">
              <a:avLst/>
            </a:prstGeom>
            <a:noFill/>
          </p:spPr>
          <p:txBody>
            <a:bodyPr wrap="square" rtlCol="0">
              <a:spAutoFit/>
            </a:bodyPr>
            <a:lstStyle/>
            <a:p>
              <a:r>
                <a:rPr lang="en-US" dirty="0"/>
                <a:t>implementation</a:t>
              </a:r>
            </a:p>
          </p:txBody>
        </p:sp>
        <p:sp>
          <p:nvSpPr>
            <p:cNvPr id="8" name="TextBox 7">
              <a:extLst>
                <a:ext uri="{FF2B5EF4-FFF2-40B4-BE49-F238E27FC236}">
                  <a16:creationId xmlns:a16="http://schemas.microsoft.com/office/drawing/2014/main" id="{52BB266C-E9F5-5340-89A8-E8CEDE80F6D4}"/>
                </a:ext>
              </a:extLst>
            </p:cNvPr>
            <p:cNvSpPr txBox="1"/>
            <p:nvPr/>
          </p:nvSpPr>
          <p:spPr>
            <a:xfrm>
              <a:off x="41371" y="4257077"/>
              <a:ext cx="1440100" cy="646331"/>
            </a:xfrm>
            <a:prstGeom prst="rect">
              <a:avLst/>
            </a:prstGeom>
            <a:noFill/>
          </p:spPr>
          <p:txBody>
            <a:bodyPr wrap="square" rtlCol="0">
              <a:spAutoFit/>
            </a:bodyPr>
            <a:lstStyle/>
            <a:p>
              <a:r>
                <a:rPr lang="en-US" dirty="0"/>
                <a:t>data structure:</a:t>
              </a:r>
            </a:p>
          </p:txBody>
        </p:sp>
        <p:sp>
          <p:nvSpPr>
            <p:cNvPr id="9" name="TextBox 8">
              <a:extLst>
                <a:ext uri="{FF2B5EF4-FFF2-40B4-BE49-F238E27FC236}">
                  <a16:creationId xmlns:a16="http://schemas.microsoft.com/office/drawing/2014/main" id="{DDF71891-DC5D-DD4D-840A-C7E538FC3B09}"/>
                </a:ext>
              </a:extLst>
            </p:cNvPr>
            <p:cNvSpPr txBox="1"/>
            <p:nvPr/>
          </p:nvSpPr>
          <p:spPr>
            <a:xfrm>
              <a:off x="7782357" y="2900651"/>
              <a:ext cx="851476" cy="369332"/>
            </a:xfrm>
            <a:prstGeom prst="rect">
              <a:avLst/>
            </a:prstGeom>
            <a:noFill/>
            <a:ln>
              <a:solidFill>
                <a:srgbClr val="3366FF"/>
              </a:solidFill>
            </a:ln>
          </p:spPr>
          <p:txBody>
            <a:bodyPr wrap="square" rtlCol="0">
              <a:spAutoFit/>
            </a:bodyPr>
            <a:lstStyle/>
            <a:p>
              <a:pPr algn="ctr"/>
              <a:r>
                <a:rPr lang="en-US" dirty="0"/>
                <a:t>map*                     </a:t>
              </a:r>
            </a:p>
          </p:txBody>
        </p:sp>
        <p:sp>
          <p:nvSpPr>
            <p:cNvPr id="10" name="TextBox 9">
              <a:extLst>
                <a:ext uri="{FF2B5EF4-FFF2-40B4-BE49-F238E27FC236}">
                  <a16:creationId xmlns:a16="http://schemas.microsoft.com/office/drawing/2014/main" id="{1D0C23F4-9FFA-6442-9EA5-FCB4F8D8F43F}"/>
                </a:ext>
              </a:extLst>
            </p:cNvPr>
            <p:cNvSpPr txBox="1"/>
            <p:nvPr/>
          </p:nvSpPr>
          <p:spPr>
            <a:xfrm>
              <a:off x="7596868" y="1559641"/>
              <a:ext cx="1107887" cy="923330"/>
            </a:xfrm>
            <a:prstGeom prst="rect">
              <a:avLst/>
            </a:prstGeom>
            <a:noFill/>
            <a:ln>
              <a:solidFill>
                <a:srgbClr val="FF0000"/>
              </a:solidFill>
            </a:ln>
          </p:spPr>
          <p:txBody>
            <a:bodyPr wrap="square" rtlCol="0">
              <a:spAutoFit/>
            </a:bodyPr>
            <a:lstStyle/>
            <a:p>
              <a:r>
                <a:rPr lang="en-US" dirty="0">
                  <a:solidFill>
                    <a:schemeClr val="bg1">
                      <a:lumMod val="75000"/>
                    </a:schemeClr>
                  </a:solidFill>
                </a:rPr>
                <a:t> </a:t>
              </a:r>
              <a:r>
                <a:rPr lang="en-US" dirty="0"/>
                <a:t>e.g.</a:t>
              </a:r>
            </a:p>
            <a:p>
              <a:r>
                <a:rPr lang="en-US" dirty="0"/>
                <a:t>put, </a:t>
              </a:r>
              <a:r>
                <a:rPr lang="en-US" dirty="0" err="1"/>
                <a:t>putAll</a:t>
              </a:r>
              <a:endParaRPr lang="en-US" dirty="0"/>
            </a:p>
          </p:txBody>
        </p:sp>
        <p:cxnSp>
          <p:nvCxnSpPr>
            <p:cNvPr id="11" name="Straight Arrow Connector 10">
              <a:extLst>
                <a:ext uri="{FF2B5EF4-FFF2-40B4-BE49-F238E27FC236}">
                  <a16:creationId xmlns:a16="http://schemas.microsoft.com/office/drawing/2014/main" id="{5DCF8F69-ED2C-CD42-A631-62E73AAB5C81}"/>
                </a:ext>
              </a:extLst>
            </p:cNvPr>
            <p:cNvCxnSpPr>
              <a:cxnSpLocks/>
            </p:cNvCxnSpPr>
            <p:nvPr/>
          </p:nvCxnSpPr>
          <p:spPr>
            <a:xfrm flipH="1">
              <a:off x="6275779" y="3262731"/>
              <a:ext cx="1852692" cy="1100951"/>
            </a:xfrm>
            <a:prstGeom prst="straightConnector1">
              <a:avLst/>
            </a:prstGeom>
            <a:ln>
              <a:solidFill>
                <a:srgbClr val="FFC000"/>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792C680-638C-5C41-8EE7-50A359D72FCC}"/>
                </a:ext>
              </a:extLst>
            </p:cNvPr>
            <p:cNvCxnSpPr>
              <a:cxnSpLocks/>
            </p:cNvCxnSpPr>
            <p:nvPr/>
          </p:nvCxnSpPr>
          <p:spPr>
            <a:xfrm flipH="1">
              <a:off x="2427921" y="3285303"/>
              <a:ext cx="5386486" cy="1140200"/>
            </a:xfrm>
            <a:prstGeom prst="straightConnector1">
              <a:avLst/>
            </a:prstGeom>
            <a:ln>
              <a:solidFill>
                <a:srgbClr val="FFC000"/>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34306AE2-6837-1347-AD1F-101F2710F8DF}"/>
                </a:ext>
              </a:extLst>
            </p:cNvPr>
            <p:cNvCxnSpPr>
              <a:cxnSpLocks/>
            </p:cNvCxnSpPr>
            <p:nvPr/>
          </p:nvCxnSpPr>
          <p:spPr>
            <a:xfrm flipH="1">
              <a:off x="4323629" y="3290065"/>
              <a:ext cx="3658276" cy="1162116"/>
            </a:xfrm>
            <a:prstGeom prst="straightConnector1">
              <a:avLst/>
            </a:prstGeom>
            <a:ln>
              <a:solidFill>
                <a:srgbClr val="FFC000"/>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6CA4A15-07AF-544A-8AE6-E1F4D5570FF1}"/>
                </a:ext>
              </a:extLst>
            </p:cNvPr>
            <p:cNvCxnSpPr>
              <a:cxnSpLocks/>
            </p:cNvCxnSpPr>
            <p:nvPr/>
          </p:nvCxnSpPr>
          <p:spPr>
            <a:xfrm flipH="1">
              <a:off x="7782357" y="3307436"/>
              <a:ext cx="511307" cy="1042848"/>
            </a:xfrm>
            <a:prstGeom prst="straightConnector1">
              <a:avLst/>
            </a:prstGeom>
            <a:ln>
              <a:solidFill>
                <a:srgbClr val="FFC000"/>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6D059845-A834-FA46-8744-F0653792D1D8}"/>
                </a:ext>
              </a:extLst>
            </p:cNvPr>
            <p:cNvCxnSpPr/>
            <p:nvPr/>
          </p:nvCxnSpPr>
          <p:spPr>
            <a:xfrm>
              <a:off x="8150811" y="2472437"/>
              <a:ext cx="0" cy="428214"/>
            </a:xfrm>
            <a:prstGeom prst="straightConnector1">
              <a:avLst/>
            </a:prstGeom>
            <a:ln>
              <a:solidFill>
                <a:srgbClr val="0000FF"/>
              </a:solidFill>
              <a:prstDash val="solid"/>
              <a:headEnd type="triangle" w="lg" len="lg"/>
              <a:tailEnd type="arrow"/>
            </a:ln>
          </p:spPr>
          <p:style>
            <a:lnRef idx="2">
              <a:schemeClr val="accent1"/>
            </a:lnRef>
            <a:fillRef idx="0">
              <a:schemeClr val="accent1"/>
            </a:fillRef>
            <a:effectRef idx="1">
              <a:schemeClr val="accent1"/>
            </a:effectRef>
            <a:fontRef idx="minor">
              <a:schemeClr val="tx1"/>
            </a:fontRef>
          </p:style>
        </p:cxnSp>
      </p:grpSp>
      <p:sp>
        <p:nvSpPr>
          <p:cNvPr id="81" name="Rectangle 3">
            <a:extLst>
              <a:ext uri="{FF2B5EF4-FFF2-40B4-BE49-F238E27FC236}">
                <a16:creationId xmlns:a16="http://schemas.microsoft.com/office/drawing/2014/main" id="{AB8BB462-AA94-3842-B81F-FEEEA9517EE9}"/>
              </a:ext>
            </a:extLst>
          </p:cNvPr>
          <p:cNvSpPr txBox="1">
            <a:spLocks noChangeArrowheads="1"/>
          </p:cNvSpPr>
          <p:nvPr/>
        </p:nvSpPr>
        <p:spPr>
          <a:xfrm>
            <a:off x="386278" y="5825210"/>
            <a:ext cx="8229600" cy="948044"/>
          </a:xfrm>
          <a:prstGeom prst="rect">
            <a:avLst/>
          </a:prstGeom>
          <a:noFill/>
          <a:ln>
            <a:solidFill>
              <a:srgbClr val="7030A0"/>
            </a:solidFill>
          </a:ln>
        </p:spPr>
        <p:txBody>
          <a:bodyPr>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Font typeface="Arial" pitchFamily="34" charset="0"/>
              <a:buNone/>
            </a:pPr>
            <a:r>
              <a:rPr lang="en-US" altLang="en-US" dirty="0"/>
              <a:t>It won’t mean anything now – but print it out and put it on your wall – we will gradually get there!</a:t>
            </a:r>
          </a:p>
          <a:p>
            <a:pPr marL="0" indent="0">
              <a:buFont typeface="Arial" pitchFamily="34" charset="0"/>
              <a:buNone/>
            </a:pPr>
            <a:endParaRPr lang="en-US" altLang="en-US" dirty="0"/>
          </a:p>
          <a:p>
            <a:endParaRPr lang="en-GB" altLang="en-US" dirty="0"/>
          </a:p>
        </p:txBody>
      </p:sp>
    </p:spTree>
    <p:extLst>
      <p:ext uri="{BB962C8B-B14F-4D97-AF65-F5344CB8AC3E}">
        <p14:creationId xmlns:p14="http://schemas.microsoft.com/office/powerpoint/2010/main" val="3577490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GB" altLang="en-US" dirty="0"/>
              <a:t>Contents (Rough plan)</a:t>
            </a:r>
          </a:p>
        </p:txBody>
      </p:sp>
      <p:sp>
        <p:nvSpPr>
          <p:cNvPr id="5123" name="Rectangle 3"/>
          <p:cNvSpPr>
            <a:spLocks noGrp="1" noChangeArrowheads="1"/>
          </p:cNvSpPr>
          <p:nvPr>
            <p:ph idx="1"/>
          </p:nvPr>
        </p:nvSpPr>
        <p:spPr>
          <a:xfrm>
            <a:off x="228600" y="1676400"/>
            <a:ext cx="8610600" cy="4876800"/>
          </a:xfrm>
          <a:noFill/>
          <a:ln>
            <a:solidFill>
              <a:schemeClr val="accent1"/>
            </a:solidFill>
          </a:ln>
        </p:spPr>
        <p:txBody>
          <a:bodyPr>
            <a:normAutofit/>
          </a:bodyPr>
          <a:lstStyle/>
          <a:p>
            <a:pPr marL="0" indent="0" eaLnBrk="1" hangingPunct="1">
              <a:lnSpc>
                <a:spcPts val="2400"/>
              </a:lnSpc>
              <a:spcBef>
                <a:spcPct val="0"/>
              </a:spcBef>
              <a:buNone/>
              <a:tabLst>
                <a:tab pos="7000875" algn="r"/>
              </a:tabLst>
            </a:pPr>
            <a:r>
              <a:rPr lang="en-US" altLang="en-US" dirty="0"/>
              <a:t>     </a:t>
            </a:r>
            <a:r>
              <a:rPr lang="en-US" altLang="en-US" dirty="0">
                <a:solidFill>
                  <a:schemeClr val="tx2"/>
                </a:solidFill>
              </a:rPr>
              <a:t>Topic</a:t>
            </a:r>
          </a:p>
          <a:p>
            <a:pPr marL="457200" indent="-457200" eaLnBrk="1" hangingPunct="1">
              <a:lnSpc>
                <a:spcPts val="2400"/>
              </a:lnSpc>
              <a:spcBef>
                <a:spcPct val="0"/>
              </a:spcBef>
              <a:buFont typeface="Wingdings" pitchFamily="2" charset="2"/>
              <a:buAutoNum type="arabicPeriod"/>
              <a:tabLst>
                <a:tab pos="7000875" algn="r"/>
              </a:tabLst>
            </a:pPr>
            <a:r>
              <a:rPr lang="en-US" altLang="en-US" dirty="0"/>
              <a:t>Introduction                                                 </a:t>
            </a:r>
            <a:r>
              <a:rPr lang="en-US" altLang="en-US" dirty="0">
                <a:solidFill>
                  <a:srgbClr val="FFC000"/>
                </a:solidFill>
              </a:rPr>
              <a:t>Week 1</a:t>
            </a:r>
            <a:endParaRPr lang="en-US" altLang="en-US" i="1" dirty="0">
              <a:solidFill>
                <a:srgbClr val="FFC000"/>
              </a:solidFill>
            </a:endParaRPr>
          </a:p>
          <a:p>
            <a:pPr marL="457200" indent="-457200" eaLnBrk="1" hangingPunct="1">
              <a:lnSpc>
                <a:spcPts val="2400"/>
              </a:lnSpc>
              <a:spcBef>
                <a:spcPct val="0"/>
              </a:spcBef>
              <a:buFont typeface="Wingdings" pitchFamily="2" charset="2"/>
              <a:buAutoNum type="arabicPeriod"/>
              <a:tabLst>
                <a:tab pos="7000875" algn="r"/>
              </a:tabLst>
            </a:pPr>
            <a:r>
              <a:rPr lang="en-US" altLang="en-US" dirty="0"/>
              <a:t>Algorithms and Complexity                         </a:t>
            </a:r>
            <a:r>
              <a:rPr lang="en-US" altLang="en-US" dirty="0">
                <a:solidFill>
                  <a:srgbClr val="FFC000"/>
                </a:solidFill>
              </a:rPr>
              <a:t>Week 1-2</a:t>
            </a:r>
          </a:p>
          <a:p>
            <a:pPr marL="457200" indent="-457200" eaLnBrk="1" hangingPunct="1">
              <a:lnSpc>
                <a:spcPts val="2400"/>
              </a:lnSpc>
              <a:spcBef>
                <a:spcPct val="0"/>
              </a:spcBef>
              <a:buFont typeface="Wingdings" pitchFamily="2" charset="2"/>
              <a:buAutoNum type="arabicPeriod"/>
              <a:tabLst>
                <a:tab pos="7000875" algn="r"/>
              </a:tabLst>
            </a:pPr>
            <a:r>
              <a:rPr lang="en-US" altLang="en-US" dirty="0"/>
              <a:t>The Array Data Structure                            </a:t>
            </a:r>
            <a:r>
              <a:rPr lang="en-US" altLang="en-US" dirty="0">
                <a:solidFill>
                  <a:srgbClr val="FF0000"/>
                </a:solidFill>
              </a:rPr>
              <a:t>Week 2-3</a:t>
            </a:r>
            <a:endParaRPr lang="en-GB" altLang="en-US" dirty="0">
              <a:solidFill>
                <a:srgbClr val="FF0000"/>
              </a:solidFill>
            </a:endParaRPr>
          </a:p>
          <a:p>
            <a:pPr marL="457200" indent="-457200" eaLnBrk="1" hangingPunct="1">
              <a:lnSpc>
                <a:spcPts val="2400"/>
              </a:lnSpc>
              <a:spcBef>
                <a:spcPct val="0"/>
              </a:spcBef>
              <a:buFont typeface="Wingdings" pitchFamily="2" charset="2"/>
              <a:buAutoNum type="arabicPeriod"/>
              <a:tabLst>
                <a:tab pos="7000875" algn="r"/>
              </a:tabLst>
            </a:pPr>
            <a:r>
              <a:rPr lang="en-US" altLang="en-US" dirty="0"/>
              <a:t> Linked-List Data Structures                        </a:t>
            </a:r>
            <a:r>
              <a:rPr lang="en-US" altLang="en-US" dirty="0">
                <a:solidFill>
                  <a:srgbClr val="92D050"/>
                </a:solidFill>
              </a:rPr>
              <a:t>Week 4</a:t>
            </a:r>
            <a:endParaRPr lang="en-GB" altLang="en-US" dirty="0">
              <a:solidFill>
                <a:srgbClr val="92D050"/>
              </a:solidFill>
            </a:endParaRPr>
          </a:p>
          <a:p>
            <a:pPr marL="457200" indent="-457200" eaLnBrk="1" hangingPunct="1">
              <a:lnSpc>
                <a:spcPts val="2400"/>
              </a:lnSpc>
              <a:spcBef>
                <a:spcPct val="0"/>
              </a:spcBef>
              <a:buFont typeface="Wingdings" pitchFamily="2" charset="2"/>
              <a:buAutoNum type="arabicPeriod"/>
              <a:tabLst>
                <a:tab pos="7000875" algn="r"/>
              </a:tabLst>
            </a:pPr>
            <a:r>
              <a:rPr lang="en-US" altLang="en-US" dirty="0"/>
              <a:t> Abstract Data Types (ADTs)                       </a:t>
            </a:r>
            <a:r>
              <a:rPr lang="en-US" altLang="en-US" dirty="0">
                <a:solidFill>
                  <a:srgbClr val="00B0F0"/>
                </a:solidFill>
              </a:rPr>
              <a:t>Week 5</a:t>
            </a:r>
            <a:r>
              <a:rPr lang="en-US" altLang="en-US" dirty="0"/>
              <a:t> 	</a:t>
            </a:r>
            <a:endParaRPr lang="en-GB" altLang="en-US" dirty="0"/>
          </a:p>
          <a:p>
            <a:pPr marL="457200" indent="-457200" eaLnBrk="1" hangingPunct="1">
              <a:lnSpc>
                <a:spcPts val="2400"/>
              </a:lnSpc>
              <a:spcBef>
                <a:spcPct val="0"/>
              </a:spcBef>
              <a:buFont typeface="Wingdings" pitchFamily="2" charset="2"/>
              <a:buAutoNum type="arabicPeriod"/>
              <a:tabLst>
                <a:tab pos="7000875" algn="r"/>
              </a:tabLst>
            </a:pPr>
            <a:r>
              <a:rPr lang="en-US" altLang="en-US" dirty="0"/>
              <a:t> Stack ADT                                                   </a:t>
            </a:r>
            <a:r>
              <a:rPr lang="en-US" altLang="en-US" dirty="0">
                <a:solidFill>
                  <a:srgbClr val="00B0F0"/>
                </a:solidFill>
              </a:rPr>
              <a:t>Week 5</a:t>
            </a:r>
            <a:endParaRPr lang="en-GB" altLang="en-US" dirty="0">
              <a:solidFill>
                <a:srgbClr val="00B0F0"/>
              </a:solidFill>
            </a:endParaRPr>
          </a:p>
          <a:p>
            <a:pPr marL="457200" indent="-457200" eaLnBrk="1" hangingPunct="1">
              <a:lnSpc>
                <a:spcPts val="2400"/>
              </a:lnSpc>
              <a:spcBef>
                <a:spcPct val="0"/>
              </a:spcBef>
              <a:buFont typeface="Wingdings" pitchFamily="2" charset="2"/>
              <a:buAutoNum type="arabicPeriod"/>
              <a:tabLst>
                <a:tab pos="7000875" algn="r"/>
              </a:tabLst>
            </a:pPr>
            <a:r>
              <a:rPr lang="en-US" altLang="en-US" dirty="0"/>
              <a:t> Queue ADT                                                 </a:t>
            </a:r>
            <a:r>
              <a:rPr lang="en-US" altLang="en-US" dirty="0">
                <a:solidFill>
                  <a:srgbClr val="00B0F0"/>
                </a:solidFill>
              </a:rPr>
              <a:t>Week 5</a:t>
            </a:r>
            <a:r>
              <a:rPr lang="en-US" altLang="en-US" dirty="0"/>
              <a:t>	</a:t>
            </a:r>
            <a:endParaRPr lang="en-GB" altLang="en-US" dirty="0"/>
          </a:p>
          <a:p>
            <a:pPr marL="457200" indent="-457200" eaLnBrk="1" hangingPunct="1">
              <a:lnSpc>
                <a:spcPts val="2400"/>
              </a:lnSpc>
              <a:spcBef>
                <a:spcPct val="0"/>
              </a:spcBef>
              <a:buFont typeface="Wingdings" pitchFamily="2" charset="2"/>
              <a:buAutoNum type="arabicPeriod"/>
              <a:tabLst>
                <a:tab pos="7000875" algn="r"/>
              </a:tabLst>
            </a:pPr>
            <a:r>
              <a:rPr lang="en-US" altLang="en-US" dirty="0"/>
              <a:t> List and Iterator ADTs                                 </a:t>
            </a:r>
            <a:r>
              <a:rPr lang="en-US" altLang="en-US" dirty="0">
                <a:solidFill>
                  <a:srgbClr val="A64DEC"/>
                </a:solidFill>
              </a:rPr>
              <a:t>Week 6</a:t>
            </a:r>
            <a:endParaRPr lang="en-GB" altLang="en-US" dirty="0">
              <a:solidFill>
                <a:srgbClr val="A64DEC"/>
              </a:solidFill>
            </a:endParaRPr>
          </a:p>
          <a:p>
            <a:pPr marL="457200" indent="-457200" eaLnBrk="1" hangingPunct="1">
              <a:lnSpc>
                <a:spcPts val="2400"/>
              </a:lnSpc>
              <a:spcBef>
                <a:spcPct val="0"/>
              </a:spcBef>
              <a:buFont typeface="Wingdings" pitchFamily="2" charset="2"/>
              <a:buAutoNum type="arabicPeriod"/>
              <a:tabLst>
                <a:tab pos="7000875" algn="r"/>
              </a:tabLst>
            </a:pPr>
            <a:r>
              <a:rPr lang="en-US" altLang="en-US" dirty="0"/>
              <a:t> Set ADT                                                      </a:t>
            </a:r>
            <a:r>
              <a:rPr lang="en-US" altLang="en-US" dirty="0">
                <a:solidFill>
                  <a:srgbClr val="FFFC00"/>
                </a:solidFill>
              </a:rPr>
              <a:t>Week 7</a:t>
            </a:r>
            <a:r>
              <a:rPr lang="en-US" altLang="en-US" dirty="0"/>
              <a:t>  	</a:t>
            </a:r>
            <a:endParaRPr lang="en-GB" altLang="en-US" dirty="0"/>
          </a:p>
          <a:p>
            <a:pPr marL="457200" indent="-457200" eaLnBrk="1" hangingPunct="1">
              <a:lnSpc>
                <a:spcPts val="2400"/>
              </a:lnSpc>
              <a:spcBef>
                <a:spcPct val="0"/>
              </a:spcBef>
              <a:buFont typeface="Wingdings" pitchFamily="2" charset="2"/>
              <a:buAutoNum type="arabicPeriod"/>
              <a:tabLst>
                <a:tab pos="7000875" algn="r"/>
              </a:tabLst>
            </a:pPr>
            <a:r>
              <a:rPr lang="en-US" altLang="en-US" dirty="0"/>
              <a:t> The Binary-Search-Tree Data Structure    </a:t>
            </a:r>
            <a:r>
              <a:rPr lang="en-US" altLang="en-US" dirty="0">
                <a:solidFill>
                  <a:srgbClr val="FF00FF"/>
                </a:solidFill>
              </a:rPr>
              <a:t> Week 8</a:t>
            </a:r>
          </a:p>
          <a:p>
            <a:pPr marL="0" indent="0" eaLnBrk="1" hangingPunct="1">
              <a:lnSpc>
                <a:spcPts val="2400"/>
              </a:lnSpc>
              <a:spcBef>
                <a:spcPct val="0"/>
              </a:spcBef>
              <a:buNone/>
              <a:tabLst>
                <a:tab pos="7000875" algn="r"/>
              </a:tabLst>
            </a:pPr>
            <a:r>
              <a:rPr lang="en-US" altLang="en-US" sz="2000" dirty="0">
                <a:solidFill>
                  <a:schemeClr val="accent1"/>
                </a:solidFill>
              </a:rPr>
              <a:t>10A. </a:t>
            </a:r>
            <a:r>
              <a:rPr lang="en-US" altLang="en-US" dirty="0"/>
              <a:t>AVL trees                                                    </a:t>
            </a:r>
            <a:r>
              <a:rPr lang="en-US" altLang="en-US" dirty="0">
                <a:solidFill>
                  <a:schemeClr val="accent2">
                    <a:lumMod val="75000"/>
                  </a:schemeClr>
                </a:solidFill>
              </a:rPr>
              <a:t>Week 9</a:t>
            </a:r>
            <a:r>
              <a:rPr lang="en-US" altLang="en-US" dirty="0"/>
              <a:t>	</a:t>
            </a:r>
            <a:endParaRPr lang="en-GB" altLang="en-US" dirty="0"/>
          </a:p>
          <a:p>
            <a:pPr marL="0" indent="0" eaLnBrk="1" hangingPunct="1">
              <a:lnSpc>
                <a:spcPts val="2400"/>
              </a:lnSpc>
              <a:spcBef>
                <a:spcPct val="0"/>
              </a:spcBef>
              <a:buNone/>
              <a:tabLst>
                <a:tab pos="7000875" algn="r"/>
              </a:tabLst>
            </a:pPr>
            <a:r>
              <a:rPr lang="en-US" altLang="en-US" dirty="0">
                <a:solidFill>
                  <a:schemeClr val="accent1"/>
                </a:solidFill>
              </a:rPr>
              <a:t>11</a:t>
            </a:r>
            <a:r>
              <a:rPr lang="en-US" altLang="en-US" dirty="0"/>
              <a:t>.  Map ADT                                                     </a:t>
            </a:r>
            <a:r>
              <a:rPr lang="en-US" altLang="en-US" dirty="0">
                <a:solidFill>
                  <a:schemeClr val="accent5">
                    <a:lumMod val="75000"/>
                  </a:schemeClr>
                </a:solidFill>
              </a:rPr>
              <a:t>Week 10</a:t>
            </a:r>
            <a:endParaRPr lang="en-GB" altLang="en-US" dirty="0">
              <a:solidFill>
                <a:schemeClr val="accent5">
                  <a:lumMod val="75000"/>
                </a:schemeClr>
              </a:solidFill>
            </a:endParaRPr>
          </a:p>
          <a:p>
            <a:pPr marL="0" indent="0" eaLnBrk="1" hangingPunct="1">
              <a:lnSpc>
                <a:spcPts val="2400"/>
              </a:lnSpc>
              <a:spcBef>
                <a:spcPct val="0"/>
              </a:spcBef>
              <a:buNone/>
              <a:tabLst>
                <a:tab pos="7000875" algn="r"/>
              </a:tabLst>
            </a:pPr>
            <a:r>
              <a:rPr lang="en-US" altLang="en-US" dirty="0">
                <a:solidFill>
                  <a:schemeClr val="accent1"/>
                </a:solidFill>
              </a:rPr>
              <a:t>12</a:t>
            </a:r>
            <a:r>
              <a:rPr lang="en-US" altLang="en-US" dirty="0"/>
              <a:t>.  Hash-Table Data Structures                       </a:t>
            </a:r>
            <a:r>
              <a:rPr lang="en-US" altLang="en-US" dirty="0">
                <a:solidFill>
                  <a:schemeClr val="accent5">
                    <a:lumMod val="75000"/>
                  </a:schemeClr>
                </a:solidFill>
              </a:rPr>
              <a:t>Week 10</a:t>
            </a:r>
            <a:r>
              <a:rPr lang="en-US" altLang="en-US" dirty="0"/>
              <a:t>	</a:t>
            </a:r>
            <a:endParaRPr lang="en-US" altLang="en-US" i="1" dirty="0"/>
          </a:p>
        </p:txBody>
      </p:sp>
    </p:spTree>
    <p:extLst>
      <p:ext uri="{BB962C8B-B14F-4D97-AF65-F5344CB8AC3E}">
        <p14:creationId xmlns:p14="http://schemas.microsoft.com/office/powerpoint/2010/main" val="3371632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05946" y="533400"/>
            <a:ext cx="8938054" cy="990600"/>
          </a:xfrm>
        </p:spPr>
        <p:txBody>
          <a:bodyPr/>
          <a:lstStyle/>
          <a:p>
            <a:pPr eaLnBrk="1" hangingPunct="1"/>
            <a:r>
              <a:rPr lang="en-GB" altLang="en-US" dirty="0"/>
              <a:t>Course operation: synchronous sessions</a:t>
            </a:r>
          </a:p>
        </p:txBody>
      </p:sp>
      <p:sp>
        <p:nvSpPr>
          <p:cNvPr id="6147" name="Rectangle 3"/>
          <p:cNvSpPr>
            <a:spLocks noGrp="1" noChangeArrowheads="1"/>
          </p:cNvSpPr>
          <p:nvPr>
            <p:ph idx="1"/>
          </p:nvPr>
        </p:nvSpPr>
        <p:spPr>
          <a:xfrm>
            <a:off x="205946" y="1371600"/>
            <a:ext cx="8328454" cy="4953000"/>
          </a:xfrm>
          <a:noFill/>
        </p:spPr>
        <p:txBody>
          <a:bodyPr>
            <a:normAutofit/>
          </a:bodyPr>
          <a:lstStyle/>
          <a:p>
            <a:pPr eaLnBrk="1" hangingPunct="1"/>
            <a:r>
              <a:rPr lang="en-GB" altLang="en-US" dirty="0"/>
              <a:t>One live session with me:</a:t>
            </a:r>
          </a:p>
          <a:p>
            <a:pPr marL="0" indent="0" eaLnBrk="1" hangingPunct="1">
              <a:buNone/>
            </a:pPr>
            <a:r>
              <a:rPr lang="en-GB" altLang="en-US" dirty="0"/>
              <a:t>   Monday 15:00-17:00. Live lecture summaries (i.e. not dwelling on code),  Q&amp;A and examples. </a:t>
            </a:r>
          </a:p>
          <a:p>
            <a:pPr marL="0" indent="0" eaLnBrk="1" hangingPunct="1">
              <a:buNone/>
            </a:pPr>
            <a:r>
              <a:rPr lang="en-GB" altLang="en-US" dirty="0"/>
              <a:t>   </a:t>
            </a:r>
          </a:p>
          <a:p>
            <a:r>
              <a:rPr lang="en-GB" altLang="en-US" dirty="0"/>
              <a:t>Thurs 15:00-16:00 and 17:00-18:00</a:t>
            </a:r>
          </a:p>
          <a:p>
            <a:pPr lvl="1"/>
            <a:r>
              <a:rPr lang="en-GB" altLang="en-US" dirty="0"/>
              <a:t>Labs Labs</a:t>
            </a:r>
          </a:p>
          <a:p>
            <a:r>
              <a:rPr lang="en-GB" altLang="en-US" dirty="0">
                <a:solidFill>
                  <a:schemeClr val="tx2"/>
                </a:solidFill>
              </a:rPr>
              <a:t>Class rep: ?</a:t>
            </a:r>
            <a:endParaRPr lang="en-GB" altLang="en-US" dirty="0"/>
          </a:p>
        </p:txBody>
      </p:sp>
    </p:spTree>
    <p:extLst>
      <p:ext uri="{BB962C8B-B14F-4D97-AF65-F5344CB8AC3E}">
        <p14:creationId xmlns:p14="http://schemas.microsoft.com/office/powerpoint/2010/main" val="3967490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pPr eaLnBrk="1" hangingPunct="1"/>
            <a:r>
              <a:rPr lang="en-GB" altLang="en-US" sz="3200" dirty="0"/>
              <a:t>Course operation: asynchronous delivery 1</a:t>
            </a:r>
          </a:p>
        </p:txBody>
      </p:sp>
      <p:sp>
        <p:nvSpPr>
          <p:cNvPr id="6147" name="Rectangle 3"/>
          <p:cNvSpPr>
            <a:spLocks noGrp="1" noChangeArrowheads="1"/>
          </p:cNvSpPr>
          <p:nvPr>
            <p:ph idx="1"/>
          </p:nvPr>
        </p:nvSpPr>
        <p:spPr>
          <a:xfrm>
            <a:off x="609600" y="2057400"/>
            <a:ext cx="8229600" cy="1371600"/>
          </a:xfrm>
          <a:noFill/>
        </p:spPr>
        <p:txBody>
          <a:bodyPr>
            <a:normAutofit/>
          </a:bodyPr>
          <a:lstStyle/>
          <a:p>
            <a:pPr eaLnBrk="1" hangingPunct="1"/>
            <a:r>
              <a:rPr lang="en-GB" altLang="en-US" dirty="0"/>
              <a:t>Lecture slides and videos and lab (tutorial) questions </a:t>
            </a:r>
          </a:p>
          <a:p>
            <a:pPr lvl="1"/>
            <a:r>
              <a:rPr lang="en-GB" altLang="en-US" dirty="0"/>
              <a:t>All available via Moodle</a:t>
            </a:r>
          </a:p>
          <a:p>
            <a:pPr lvl="1"/>
            <a:r>
              <a:rPr lang="en-GB" altLang="en-US" dirty="0"/>
              <a:t>Material divided into sections (see next slide for example)</a:t>
            </a:r>
          </a:p>
          <a:p>
            <a:pPr marL="0" indent="0" eaLnBrk="1" hangingPunct="1">
              <a:buNone/>
            </a:pPr>
            <a:endParaRPr lang="en-GB" altLang="en-US" dirty="0"/>
          </a:p>
        </p:txBody>
      </p:sp>
    </p:spTree>
    <p:extLst>
      <p:ext uri="{BB962C8B-B14F-4D97-AF65-F5344CB8AC3E}">
        <p14:creationId xmlns:p14="http://schemas.microsoft.com/office/powerpoint/2010/main" val="2224979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 text, application, email&#10;&#10;Description automatically generated">
            <a:extLst>
              <a:ext uri="{FF2B5EF4-FFF2-40B4-BE49-F238E27FC236}">
                <a16:creationId xmlns:a16="http://schemas.microsoft.com/office/drawing/2014/main" id="{C9297195-2C3E-B847-A4FD-10D214C46F3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38141"/>
            <a:ext cx="9144000" cy="5581717"/>
          </a:xfrm>
          <a:prstGeom prst="rect">
            <a:avLst/>
          </a:prstGeom>
        </p:spPr>
      </p:pic>
    </p:spTree>
    <p:extLst>
      <p:ext uri="{BB962C8B-B14F-4D97-AF65-F5344CB8AC3E}">
        <p14:creationId xmlns:p14="http://schemas.microsoft.com/office/powerpoint/2010/main" val="3065937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pPr eaLnBrk="1" hangingPunct="1"/>
            <a:r>
              <a:rPr lang="en-GB" altLang="en-US" sz="3200" dirty="0"/>
              <a:t>Course operation: asynchronous delivery 2</a:t>
            </a:r>
          </a:p>
        </p:txBody>
      </p:sp>
      <p:sp>
        <p:nvSpPr>
          <p:cNvPr id="6147" name="Rectangle 3"/>
          <p:cNvSpPr>
            <a:spLocks noGrp="1" noChangeArrowheads="1"/>
          </p:cNvSpPr>
          <p:nvPr>
            <p:ph idx="1"/>
          </p:nvPr>
        </p:nvSpPr>
        <p:spPr>
          <a:xfrm>
            <a:off x="455141" y="1752600"/>
            <a:ext cx="8229600" cy="4953000"/>
          </a:xfrm>
          <a:noFill/>
        </p:spPr>
        <p:txBody>
          <a:bodyPr>
            <a:normAutofit/>
          </a:bodyPr>
          <a:lstStyle/>
          <a:p>
            <a:pPr eaLnBrk="1" hangingPunct="1"/>
            <a:r>
              <a:rPr lang="en-GB" altLang="en-US" dirty="0"/>
              <a:t>Lecture slides and videos. </a:t>
            </a:r>
          </a:p>
          <a:p>
            <a:pPr lvl="1"/>
            <a:r>
              <a:rPr lang="en-GB" altLang="en-US" dirty="0"/>
              <a:t>You should work through these at your own pace. A </a:t>
            </a:r>
            <a:r>
              <a:rPr lang="en-GB" altLang="en-US" dirty="0">
                <a:solidFill>
                  <a:schemeClr val="tx2"/>
                </a:solidFill>
              </a:rPr>
              <a:t>suggested schedule</a:t>
            </a:r>
            <a:r>
              <a:rPr lang="en-GB" altLang="en-US" dirty="0"/>
              <a:t> (colour codes) is given on slides 4 and 15, but you may wish to go faster one week and slower the next. </a:t>
            </a:r>
          </a:p>
          <a:p>
            <a:pPr lvl="1"/>
            <a:r>
              <a:rPr lang="en-GB" altLang="en-US" dirty="0"/>
              <a:t>I will make material available for several weeks ahead.</a:t>
            </a:r>
          </a:p>
          <a:p>
            <a:r>
              <a:rPr lang="en-US" altLang="en-US" dirty="0"/>
              <a:t>Tutorial questions</a:t>
            </a:r>
          </a:p>
          <a:p>
            <a:pPr lvl="1"/>
            <a:r>
              <a:rPr lang="en-US" altLang="en-US" dirty="0"/>
              <a:t>There are a lot of these (provided for each section)</a:t>
            </a:r>
          </a:p>
          <a:p>
            <a:pPr lvl="1"/>
            <a:r>
              <a:rPr lang="en-US" altLang="en-US" dirty="0"/>
              <a:t>Suggestions given for which to do</a:t>
            </a:r>
          </a:p>
          <a:p>
            <a:pPr lvl="1"/>
            <a:r>
              <a:rPr lang="en-US" altLang="en-US" dirty="0"/>
              <a:t>Will be used in the tutorial/labs, but they are </a:t>
            </a:r>
            <a:r>
              <a:rPr lang="en-US" altLang="en-US" dirty="0">
                <a:solidFill>
                  <a:schemeClr val="tx2"/>
                </a:solidFill>
              </a:rPr>
              <a:t>there for you to look at </a:t>
            </a:r>
            <a:r>
              <a:rPr lang="en-US" altLang="en-US" dirty="0"/>
              <a:t>when you have been through the videos/slides for each section. </a:t>
            </a:r>
            <a:r>
              <a:rPr lang="en-US" altLang="en-US" dirty="0">
                <a:solidFill>
                  <a:schemeClr val="tx2"/>
                </a:solidFill>
              </a:rPr>
              <a:t>They are not compulsory</a:t>
            </a:r>
            <a:r>
              <a:rPr lang="en-US" altLang="en-US" dirty="0"/>
              <a:t>. Don’t prepare complete solutions for them all, just use them to force you to think about the material (and sketch out solutions). Solutions provided if you get stuck.</a:t>
            </a:r>
            <a:endParaRPr lang="en-US" altLang="en-US" dirty="0">
              <a:solidFill>
                <a:schemeClr val="tx2"/>
              </a:solidFill>
            </a:endParaRPr>
          </a:p>
        </p:txBody>
      </p:sp>
    </p:spTree>
    <p:extLst>
      <p:ext uri="{BB962C8B-B14F-4D97-AF65-F5344CB8AC3E}">
        <p14:creationId xmlns:p14="http://schemas.microsoft.com/office/powerpoint/2010/main" val="4051630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a:bodyPr>
          <a:lstStyle/>
          <a:p>
            <a:pPr eaLnBrk="1" hangingPunct="1"/>
            <a:r>
              <a:rPr lang="en-GB" altLang="en-US" sz="3200" dirty="0"/>
              <a:t>Course operation important points: </a:t>
            </a:r>
          </a:p>
        </p:txBody>
      </p:sp>
      <p:sp>
        <p:nvSpPr>
          <p:cNvPr id="6147" name="Rectangle 3"/>
          <p:cNvSpPr>
            <a:spLocks noGrp="1" noChangeArrowheads="1"/>
          </p:cNvSpPr>
          <p:nvPr>
            <p:ph idx="1"/>
          </p:nvPr>
        </p:nvSpPr>
        <p:spPr>
          <a:xfrm>
            <a:off x="457200" y="1495168"/>
            <a:ext cx="8229600" cy="4953000"/>
          </a:xfrm>
          <a:noFill/>
        </p:spPr>
        <p:txBody>
          <a:bodyPr>
            <a:normAutofit fontScale="92500"/>
          </a:bodyPr>
          <a:lstStyle/>
          <a:p>
            <a:r>
              <a:rPr lang="en-GB" altLang="en-US" dirty="0"/>
              <a:t>The videos include a lot more clarification than the slides themselves, so make sure you watch them the first-time round.</a:t>
            </a:r>
          </a:p>
          <a:p>
            <a:pPr marL="0" indent="0">
              <a:buNone/>
            </a:pPr>
            <a:endParaRPr lang="en-GB" altLang="en-US" dirty="0"/>
          </a:p>
          <a:p>
            <a:r>
              <a:rPr lang="en-GB" altLang="en-US" dirty="0"/>
              <a:t>A 10-credit course demands 100 hours of effort (not including exams). So, you should be spending more than the allotted 3 hours a week going through the material</a:t>
            </a:r>
          </a:p>
          <a:p>
            <a:pPr lvl="1"/>
            <a:endParaRPr lang="en-GB" altLang="en-US" dirty="0"/>
          </a:p>
          <a:p>
            <a:r>
              <a:rPr lang="en-GB" altLang="en-US" dirty="0"/>
              <a:t>Tutorials/labs (see next slide) are very different to </a:t>
            </a:r>
            <a:r>
              <a:rPr lang="en-GB" altLang="en-US" dirty="0" err="1"/>
              <a:t>ProgIT</a:t>
            </a:r>
            <a:r>
              <a:rPr lang="en-GB" altLang="en-US" dirty="0"/>
              <a:t> labs. It is:</a:t>
            </a:r>
          </a:p>
          <a:p>
            <a:pPr lvl="2"/>
            <a:r>
              <a:rPr lang="en-GB" altLang="en-US" dirty="0"/>
              <a:t>not a case of “here is a sheet of questions you must do them and sit at a computer writing Java”</a:t>
            </a:r>
          </a:p>
          <a:p>
            <a:pPr lvl="2"/>
            <a:r>
              <a:rPr lang="en-GB" altLang="en-US" dirty="0"/>
              <a:t>More a case of “think about how things are working and draw pictures/sketch out some algorithms”</a:t>
            </a:r>
          </a:p>
          <a:p>
            <a:pPr lvl="2"/>
            <a:r>
              <a:rPr lang="en-GB" altLang="en-US" dirty="0"/>
              <a:t>Programming/Coding should </a:t>
            </a:r>
            <a:r>
              <a:rPr lang="en-GB" altLang="en-US" dirty="0">
                <a:solidFill>
                  <a:srgbClr val="FF0000"/>
                </a:solidFill>
              </a:rPr>
              <a:t>not </a:t>
            </a:r>
            <a:r>
              <a:rPr lang="en-GB" altLang="en-US" dirty="0"/>
              <a:t>be done in the lab sessions.</a:t>
            </a:r>
          </a:p>
          <a:p>
            <a:pPr lvl="1"/>
            <a:endParaRPr lang="en-GB" altLang="en-US" dirty="0"/>
          </a:p>
          <a:p>
            <a:endParaRPr lang="en-GB" altLang="en-US" dirty="0"/>
          </a:p>
        </p:txBody>
      </p:sp>
    </p:spTree>
    <p:extLst>
      <p:ext uri="{BB962C8B-B14F-4D97-AF65-F5344CB8AC3E}">
        <p14:creationId xmlns:p14="http://schemas.microsoft.com/office/powerpoint/2010/main" val="222887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GB" altLang="en-US" dirty="0"/>
              <a:t>Tutorials/labs</a:t>
            </a:r>
          </a:p>
        </p:txBody>
      </p:sp>
      <p:sp>
        <p:nvSpPr>
          <p:cNvPr id="6147" name="Rectangle 3"/>
          <p:cNvSpPr>
            <a:spLocks noGrp="1" noChangeArrowheads="1"/>
          </p:cNvSpPr>
          <p:nvPr>
            <p:ph idx="1"/>
          </p:nvPr>
        </p:nvSpPr>
        <p:spPr>
          <a:xfrm>
            <a:off x="457200" y="1600200"/>
            <a:ext cx="8458200" cy="4876800"/>
          </a:xfrm>
          <a:noFill/>
        </p:spPr>
        <p:txBody>
          <a:bodyPr>
            <a:normAutofit lnSpcReduction="10000"/>
          </a:bodyPr>
          <a:lstStyle/>
          <a:p>
            <a:pPr marL="0" indent="0" eaLnBrk="1" hangingPunct="1">
              <a:buNone/>
            </a:pPr>
            <a:r>
              <a:rPr lang="en-GB" altLang="en-US" dirty="0"/>
              <a:t>You will have </a:t>
            </a:r>
            <a:r>
              <a:rPr lang="en-GB" altLang="en-US" dirty="0">
                <a:solidFill>
                  <a:schemeClr val="tx2"/>
                </a:solidFill>
              </a:rPr>
              <a:t>1 hour per week </a:t>
            </a:r>
            <a:r>
              <a:rPr lang="en-GB" altLang="en-US" dirty="0"/>
              <a:t>for lab/tutorial class</a:t>
            </a:r>
            <a:r>
              <a:rPr lang="en-GB" altLang="en-US" dirty="0">
                <a:solidFill>
                  <a:schemeClr val="tx2"/>
                </a:solidFill>
              </a:rPr>
              <a:t> (Thursdays)</a:t>
            </a:r>
            <a:r>
              <a:rPr lang="en-GB" altLang="en-US" dirty="0"/>
              <a:t>.</a:t>
            </a:r>
          </a:p>
          <a:p>
            <a:r>
              <a:rPr lang="en-GB" altLang="en-US" dirty="0"/>
              <a:t>Although it’s referred to as a lab (as it’s in the lab), it’s more of a </a:t>
            </a:r>
            <a:r>
              <a:rPr lang="en-GB" altLang="en-US" dirty="0">
                <a:solidFill>
                  <a:schemeClr val="tx2"/>
                </a:solidFill>
              </a:rPr>
              <a:t>tutorial</a:t>
            </a:r>
          </a:p>
          <a:p>
            <a:r>
              <a:rPr lang="en-GB" altLang="en-US" dirty="0"/>
              <a:t>Your tutor may go through </a:t>
            </a:r>
            <a:r>
              <a:rPr lang="en-GB" altLang="en-US" dirty="0">
                <a:solidFill>
                  <a:schemeClr val="tx2"/>
                </a:solidFill>
              </a:rPr>
              <a:t>some </a:t>
            </a:r>
            <a:r>
              <a:rPr lang="en-GB" altLang="en-US" dirty="0"/>
              <a:t>of the tutorial questions on the board </a:t>
            </a:r>
            <a:r>
              <a:rPr lang="en-GB" altLang="en-US" dirty="0">
                <a:solidFill>
                  <a:schemeClr val="tx2"/>
                </a:solidFill>
              </a:rPr>
              <a:t>ASK THEM if you want them to do this</a:t>
            </a:r>
            <a:endParaRPr lang="en-GB" altLang="en-US" dirty="0">
              <a:solidFill>
                <a:srgbClr val="9D6F68"/>
              </a:solidFill>
            </a:endParaRPr>
          </a:p>
          <a:p>
            <a:r>
              <a:rPr lang="en-GB" altLang="en-US" dirty="0"/>
              <a:t>Will be as </a:t>
            </a:r>
            <a:r>
              <a:rPr lang="en-GB" altLang="en-US" dirty="0">
                <a:solidFill>
                  <a:schemeClr val="tx2"/>
                </a:solidFill>
              </a:rPr>
              <a:t>interactive</a:t>
            </a:r>
            <a:r>
              <a:rPr lang="en-GB" altLang="en-US" dirty="0"/>
              <a:t> as possible (that’s up to you!)</a:t>
            </a:r>
          </a:p>
          <a:p>
            <a:r>
              <a:rPr lang="en-GB" altLang="en-US" dirty="0"/>
              <a:t>First labs are </a:t>
            </a:r>
            <a:r>
              <a:rPr lang="en-GB" altLang="en-US" dirty="0">
                <a:solidFill>
                  <a:schemeClr val="tx2"/>
                </a:solidFill>
              </a:rPr>
              <a:t>this Thursday </a:t>
            </a:r>
            <a:r>
              <a:rPr lang="en-GB" altLang="en-US" dirty="0"/>
              <a:t>(Thursday 15</a:t>
            </a:r>
            <a:r>
              <a:rPr lang="en-GB" altLang="en-US" baseline="30000" dirty="0"/>
              <a:t>th</a:t>
            </a:r>
            <a:r>
              <a:rPr lang="en-GB" altLang="en-US" dirty="0"/>
              <a:t>)</a:t>
            </a:r>
          </a:p>
          <a:p>
            <a:pPr lvl="1"/>
            <a:r>
              <a:rPr lang="en-GB" altLang="en-US" dirty="0"/>
              <a:t>All labs are live – the tutor will roam amongst you and ask you questions about what you are doing. They may also go through some of the solutions on the board or in a small group</a:t>
            </a:r>
          </a:p>
          <a:p>
            <a:pPr marL="0" indent="0">
              <a:buNone/>
            </a:pPr>
            <a:r>
              <a:rPr lang="en-GB" altLang="en-US" dirty="0"/>
              <a:t>. </a:t>
            </a:r>
            <a:r>
              <a:rPr lang="en-GB" altLang="en-US" dirty="0">
                <a:solidFill>
                  <a:schemeClr val="tx2"/>
                </a:solidFill>
              </a:rPr>
              <a:t>This Thursday</a:t>
            </a:r>
            <a:r>
              <a:rPr lang="en-GB" altLang="en-US" dirty="0"/>
              <a:t>, start looking at the questions in the </a:t>
            </a:r>
            <a:r>
              <a:rPr lang="en-GB" altLang="en-US" dirty="0">
                <a:solidFill>
                  <a:schemeClr val="tx2"/>
                </a:solidFill>
              </a:rPr>
              <a:t>Introduction</a:t>
            </a:r>
            <a:r>
              <a:rPr lang="en-GB" altLang="en-US" dirty="0"/>
              <a:t> section. </a:t>
            </a:r>
            <a:r>
              <a:rPr lang="en-GB" dirty="0"/>
              <a:t>1A, 1B, 1D, 1F</a:t>
            </a:r>
            <a:endParaRPr lang="en-GB" altLang="en-US" dirty="0"/>
          </a:p>
          <a:p>
            <a:endParaRPr lang="en-GB" altLang="en-US" dirty="0"/>
          </a:p>
          <a:p>
            <a:pPr eaLnBrk="1" hangingPunct="1"/>
            <a:endParaRPr lang="en-GB" altLang="en-US" dirty="0"/>
          </a:p>
          <a:p>
            <a:pPr marL="274320" lvl="1" indent="0" eaLnBrk="1" hangingPunct="1">
              <a:buNone/>
            </a:pPr>
            <a:endParaRPr lang="en-GB" altLang="en-US" dirty="0"/>
          </a:p>
        </p:txBody>
      </p:sp>
    </p:spTree>
    <p:extLst>
      <p:ext uri="{BB962C8B-B14F-4D97-AF65-F5344CB8AC3E}">
        <p14:creationId xmlns:p14="http://schemas.microsoft.com/office/powerpoint/2010/main" val="2136291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GB" altLang="en-US" dirty="0"/>
              <a:t>Tutorials/labs continued</a:t>
            </a:r>
          </a:p>
        </p:txBody>
      </p:sp>
      <p:sp>
        <p:nvSpPr>
          <p:cNvPr id="6147" name="Rectangle 3"/>
          <p:cNvSpPr>
            <a:spLocks noGrp="1" noChangeArrowheads="1"/>
          </p:cNvSpPr>
          <p:nvPr>
            <p:ph idx="1"/>
          </p:nvPr>
        </p:nvSpPr>
        <p:spPr>
          <a:xfrm>
            <a:off x="457200" y="1600200"/>
            <a:ext cx="8458200" cy="4876800"/>
          </a:xfrm>
          <a:noFill/>
        </p:spPr>
        <p:txBody>
          <a:bodyPr>
            <a:normAutofit/>
          </a:bodyPr>
          <a:lstStyle/>
          <a:p>
            <a:r>
              <a:rPr lang="en-GB" altLang="en-US" dirty="0"/>
              <a:t>There are two tutors: </a:t>
            </a:r>
            <a:r>
              <a:rPr lang="en-GB" altLang="en-US" dirty="0">
                <a:solidFill>
                  <a:srgbClr val="C00000"/>
                </a:solidFill>
              </a:rPr>
              <a:t>Danielius </a:t>
            </a:r>
            <a:r>
              <a:rPr lang="en-GB" altLang="en-US" dirty="0" err="1">
                <a:solidFill>
                  <a:srgbClr val="C00000"/>
                </a:solidFill>
              </a:rPr>
              <a:t>Sukys</a:t>
            </a:r>
            <a:r>
              <a:rPr lang="en-GB" altLang="en-US" dirty="0">
                <a:solidFill>
                  <a:srgbClr val="C00000"/>
                </a:solidFill>
              </a:rPr>
              <a:t> </a:t>
            </a:r>
            <a:r>
              <a:rPr lang="en-GB" altLang="en-US" dirty="0"/>
              <a:t>and </a:t>
            </a:r>
            <a:r>
              <a:rPr lang="en-GB" altLang="en-US" dirty="0" err="1">
                <a:solidFill>
                  <a:srgbClr val="C00000"/>
                </a:solidFill>
              </a:rPr>
              <a:t>Frekerik</a:t>
            </a:r>
            <a:r>
              <a:rPr lang="en-GB" altLang="en-US" dirty="0">
                <a:solidFill>
                  <a:srgbClr val="C00000"/>
                </a:solidFill>
              </a:rPr>
              <a:t> </a:t>
            </a:r>
            <a:r>
              <a:rPr lang="en-GB" altLang="en-US" dirty="0" err="1">
                <a:solidFill>
                  <a:srgbClr val="C00000"/>
                </a:solidFill>
              </a:rPr>
              <a:t>Glitzner</a:t>
            </a:r>
            <a:r>
              <a:rPr lang="en-GB" altLang="en-US" dirty="0"/>
              <a:t>. </a:t>
            </a:r>
            <a:endParaRPr lang="en-GB" altLang="en-US" dirty="0">
              <a:solidFill>
                <a:schemeClr val="tx2"/>
              </a:solidFill>
            </a:endParaRPr>
          </a:p>
          <a:p>
            <a:r>
              <a:rPr lang="en-GB" altLang="en-US" dirty="0"/>
              <a:t>All tutors will be in both lab groups</a:t>
            </a:r>
          </a:p>
          <a:p>
            <a:r>
              <a:rPr lang="en-GB" altLang="en-US" dirty="0"/>
              <a:t>I will also come along to the labs and help out if busy</a:t>
            </a:r>
          </a:p>
          <a:p>
            <a:r>
              <a:rPr lang="en-GB" altLang="en-US" dirty="0"/>
              <a:t>Don’t just sit in lab and work on an assessment for another course</a:t>
            </a:r>
          </a:p>
          <a:p>
            <a:pPr lvl="1"/>
            <a:r>
              <a:rPr lang="en-GB" altLang="en-US" sz="2400" dirty="0"/>
              <a:t>Or far away from the rest of the class – or I might not know you are part of the class</a:t>
            </a:r>
          </a:p>
          <a:p>
            <a:pPr lvl="1"/>
            <a:r>
              <a:rPr lang="en-GB" altLang="en-US" sz="2400" dirty="0"/>
              <a:t>We will throw people out of the lab if they are not doing ADSIT work and the lab is busy</a:t>
            </a:r>
          </a:p>
        </p:txBody>
      </p:sp>
    </p:spTree>
    <p:extLst>
      <p:ext uri="{BB962C8B-B14F-4D97-AF65-F5344CB8AC3E}">
        <p14:creationId xmlns:p14="http://schemas.microsoft.com/office/powerpoint/2010/main" val="2198103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GB" altLang="en-US" dirty="0"/>
              <a:t>Office hours</a:t>
            </a:r>
          </a:p>
        </p:txBody>
      </p:sp>
      <p:sp>
        <p:nvSpPr>
          <p:cNvPr id="6147" name="Rectangle 3"/>
          <p:cNvSpPr>
            <a:spLocks noGrp="1" noChangeArrowheads="1"/>
          </p:cNvSpPr>
          <p:nvPr>
            <p:ph idx="1"/>
          </p:nvPr>
        </p:nvSpPr>
        <p:spPr>
          <a:xfrm>
            <a:off x="457200" y="1295400"/>
            <a:ext cx="8458200" cy="5334000"/>
          </a:xfrm>
          <a:noFill/>
        </p:spPr>
        <p:txBody>
          <a:bodyPr>
            <a:normAutofit fontScale="92500"/>
          </a:bodyPr>
          <a:lstStyle/>
          <a:p>
            <a:pPr marL="0" indent="0" eaLnBrk="1" hangingPunct="1">
              <a:buNone/>
            </a:pPr>
            <a:endParaRPr lang="en-GB" altLang="en-US" dirty="0"/>
          </a:p>
          <a:p>
            <a:r>
              <a:rPr lang="en-GB" altLang="en-US" dirty="0"/>
              <a:t>I will be available Thursday 12:00-13:00 for office hour. Just come along to my office – (S133) or pre-arrange a teams meeting.  See map on next slide. </a:t>
            </a:r>
          </a:p>
          <a:p>
            <a:endParaRPr lang="en-GB" altLang="en-US" dirty="0"/>
          </a:p>
          <a:p>
            <a:r>
              <a:rPr lang="en-GB" altLang="en-US" dirty="0"/>
              <a:t>But I can only guarantee to be free if you let me know that you are coming at a certain time (email me or send me a message via teams). Happy to meet at other times by appointment.</a:t>
            </a:r>
          </a:p>
          <a:p>
            <a:endParaRPr lang="en-GB" altLang="en-US" dirty="0"/>
          </a:p>
          <a:p>
            <a:r>
              <a:rPr lang="en-GB" altLang="en-US" dirty="0"/>
              <a:t>Meanwhile you can leave questions on the Q&amp;A </a:t>
            </a:r>
            <a:r>
              <a:rPr lang="en-GB" altLang="en-US" dirty="0" err="1"/>
              <a:t>padlet</a:t>
            </a:r>
            <a:r>
              <a:rPr lang="en-GB" altLang="en-US" dirty="0"/>
              <a:t> for me, but </a:t>
            </a:r>
            <a:r>
              <a:rPr lang="en-GB" altLang="en-US" dirty="0">
                <a:solidFill>
                  <a:schemeClr val="tx2"/>
                </a:solidFill>
              </a:rPr>
              <a:t>I will only answer when free (I won’t be available 24 hours a day!). </a:t>
            </a:r>
            <a:r>
              <a:rPr lang="en-GB" altLang="en-US" dirty="0"/>
              <a:t>You can also answer questions on there, and I will pick questions from there to address in the Q&amp;A sessions</a:t>
            </a:r>
          </a:p>
          <a:p>
            <a:pPr marL="0" indent="0">
              <a:buNone/>
            </a:pPr>
            <a:endParaRPr lang="en-GB" altLang="en-US" dirty="0">
              <a:solidFill>
                <a:schemeClr val="tx2"/>
              </a:solidFill>
            </a:endParaRPr>
          </a:p>
          <a:p>
            <a:pPr marL="274320" lvl="1" indent="0" eaLnBrk="1" hangingPunct="1">
              <a:buNone/>
            </a:pPr>
            <a:endParaRPr lang="en-GB" altLang="en-US" dirty="0"/>
          </a:p>
        </p:txBody>
      </p:sp>
    </p:spTree>
    <p:extLst>
      <p:ext uri="{BB962C8B-B14F-4D97-AF65-F5344CB8AC3E}">
        <p14:creationId xmlns:p14="http://schemas.microsoft.com/office/powerpoint/2010/main" val="827204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3C009-FA9D-9283-5663-7FC7E9157813}"/>
              </a:ext>
            </a:extLst>
          </p:cNvPr>
          <p:cNvSpPr>
            <a:spLocks noGrp="1"/>
          </p:cNvSpPr>
          <p:nvPr>
            <p:ph type="title"/>
          </p:nvPr>
        </p:nvSpPr>
        <p:spPr>
          <a:xfrm>
            <a:off x="119680" y="410263"/>
            <a:ext cx="8229600" cy="990600"/>
          </a:xfrm>
        </p:spPr>
        <p:txBody>
          <a:bodyPr/>
          <a:lstStyle/>
          <a:p>
            <a:r>
              <a:rPr lang="en-US" dirty="0"/>
              <a:t>Map to my office</a:t>
            </a:r>
          </a:p>
        </p:txBody>
      </p:sp>
      <p:sp>
        <p:nvSpPr>
          <p:cNvPr id="56" name="TextBox 55">
            <a:extLst>
              <a:ext uri="{FF2B5EF4-FFF2-40B4-BE49-F238E27FC236}">
                <a16:creationId xmlns:a16="http://schemas.microsoft.com/office/drawing/2014/main" id="{B7BDD878-DB64-563E-77EA-0C98F0A6E227}"/>
              </a:ext>
            </a:extLst>
          </p:cNvPr>
          <p:cNvSpPr txBox="1"/>
          <p:nvPr/>
        </p:nvSpPr>
        <p:spPr>
          <a:xfrm>
            <a:off x="63974" y="5827615"/>
            <a:ext cx="669387" cy="307777"/>
          </a:xfrm>
          <a:prstGeom prst="rect">
            <a:avLst/>
          </a:prstGeom>
          <a:noFill/>
        </p:spPr>
        <p:txBody>
          <a:bodyPr wrap="square" rtlCol="0">
            <a:spAutoFit/>
          </a:bodyPr>
          <a:lstStyle/>
          <a:p>
            <a:r>
              <a:rPr lang="en-US" sz="1400" dirty="0"/>
              <a:t>stairs</a:t>
            </a:r>
          </a:p>
        </p:txBody>
      </p:sp>
      <p:grpSp>
        <p:nvGrpSpPr>
          <p:cNvPr id="69" name="Group 68">
            <a:extLst>
              <a:ext uri="{FF2B5EF4-FFF2-40B4-BE49-F238E27FC236}">
                <a16:creationId xmlns:a16="http://schemas.microsoft.com/office/drawing/2014/main" id="{CAEA7F72-E4BD-E384-C4CA-F165DB3F58A7}"/>
              </a:ext>
            </a:extLst>
          </p:cNvPr>
          <p:cNvGrpSpPr/>
          <p:nvPr/>
        </p:nvGrpSpPr>
        <p:grpSpPr>
          <a:xfrm>
            <a:off x="76200" y="1475259"/>
            <a:ext cx="8751889" cy="2496615"/>
            <a:chOff x="63974" y="1770585"/>
            <a:chExt cx="8751889" cy="2496615"/>
          </a:xfrm>
        </p:grpSpPr>
        <p:grpSp>
          <p:nvGrpSpPr>
            <p:cNvPr id="22" name="Group 21">
              <a:extLst>
                <a:ext uri="{FF2B5EF4-FFF2-40B4-BE49-F238E27FC236}">
                  <a16:creationId xmlns:a16="http://schemas.microsoft.com/office/drawing/2014/main" id="{CD44E6A4-D1DC-7FED-0678-24F239962C65}"/>
                </a:ext>
              </a:extLst>
            </p:cNvPr>
            <p:cNvGrpSpPr/>
            <p:nvPr/>
          </p:nvGrpSpPr>
          <p:grpSpPr>
            <a:xfrm>
              <a:off x="451338" y="1770585"/>
              <a:ext cx="6165836" cy="2203538"/>
              <a:chOff x="451338" y="1770585"/>
              <a:chExt cx="6165836" cy="2203538"/>
            </a:xfrm>
          </p:grpSpPr>
          <p:sp>
            <p:nvSpPr>
              <p:cNvPr id="4" name="Rectangle 3">
                <a:extLst>
                  <a:ext uri="{FF2B5EF4-FFF2-40B4-BE49-F238E27FC236}">
                    <a16:creationId xmlns:a16="http://schemas.microsoft.com/office/drawing/2014/main" id="{46330598-0ED3-8F60-8314-32CA120784D8}"/>
                  </a:ext>
                </a:extLst>
              </p:cNvPr>
              <p:cNvSpPr/>
              <p:nvPr/>
            </p:nvSpPr>
            <p:spPr>
              <a:xfrm>
                <a:off x="457200" y="2514600"/>
                <a:ext cx="2438400" cy="1447800"/>
              </a:xfrm>
              <a:prstGeom prst="rect">
                <a:avLst/>
              </a:prstGeom>
              <a:noFill/>
              <a:ln w="26424"/>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A88D52A-E442-6759-CC72-DC20E0920AB7}"/>
                  </a:ext>
                </a:extLst>
              </p:cNvPr>
              <p:cNvSpPr/>
              <p:nvPr/>
            </p:nvSpPr>
            <p:spPr>
              <a:xfrm>
                <a:off x="1676400" y="2502877"/>
                <a:ext cx="1216855" cy="46892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328BF43-5B5C-4441-7668-80A176F23EBE}"/>
                  </a:ext>
                </a:extLst>
              </p:cNvPr>
              <p:cNvSpPr/>
              <p:nvPr/>
            </p:nvSpPr>
            <p:spPr>
              <a:xfrm>
                <a:off x="1664677" y="3505200"/>
                <a:ext cx="926123" cy="46892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DA18CF4-B039-AEA9-0852-13B4F3331317}"/>
                  </a:ext>
                </a:extLst>
              </p:cNvPr>
              <p:cNvSpPr/>
              <p:nvPr/>
            </p:nvSpPr>
            <p:spPr>
              <a:xfrm>
                <a:off x="871611" y="2362199"/>
                <a:ext cx="456028" cy="152401"/>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4C0F6AD-BDFA-CCDA-02A6-2E406326C752}"/>
                  </a:ext>
                </a:extLst>
              </p:cNvPr>
              <p:cNvSpPr txBox="1"/>
              <p:nvPr/>
            </p:nvSpPr>
            <p:spPr>
              <a:xfrm>
                <a:off x="451338" y="1770585"/>
                <a:ext cx="1676400" cy="523220"/>
              </a:xfrm>
              <a:prstGeom prst="rect">
                <a:avLst/>
              </a:prstGeom>
              <a:noFill/>
            </p:spPr>
            <p:txBody>
              <a:bodyPr wrap="square" rtlCol="0">
                <a:spAutoFit/>
              </a:bodyPr>
              <a:lstStyle/>
              <a:p>
                <a:r>
                  <a:rPr lang="en-US" sz="1400" dirty="0"/>
                  <a:t>Entrance Sir Alwyn Williams Building</a:t>
                </a:r>
              </a:p>
            </p:txBody>
          </p:sp>
          <p:sp>
            <p:nvSpPr>
              <p:cNvPr id="9" name="Rectangle 8">
                <a:extLst>
                  <a:ext uri="{FF2B5EF4-FFF2-40B4-BE49-F238E27FC236}">
                    <a16:creationId xmlns:a16="http://schemas.microsoft.com/office/drawing/2014/main" id="{B9CE5464-2440-1370-3258-D7551E2ADD47}"/>
                  </a:ext>
                </a:extLst>
              </p:cNvPr>
              <p:cNvSpPr/>
              <p:nvPr/>
            </p:nvSpPr>
            <p:spPr>
              <a:xfrm>
                <a:off x="2893255" y="3505200"/>
                <a:ext cx="154746" cy="3810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47C4AA6-D628-23A7-15CC-25AF389EDEB1}"/>
                  </a:ext>
                </a:extLst>
              </p:cNvPr>
              <p:cNvSpPr/>
              <p:nvPr/>
            </p:nvSpPr>
            <p:spPr>
              <a:xfrm>
                <a:off x="2893255" y="2955388"/>
                <a:ext cx="154746" cy="3810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424C8E0-C716-2D5E-BB5C-29561C54757B}"/>
                  </a:ext>
                </a:extLst>
              </p:cNvPr>
              <p:cNvSpPr txBox="1"/>
              <p:nvPr/>
            </p:nvSpPr>
            <p:spPr>
              <a:xfrm>
                <a:off x="3064413" y="2971800"/>
                <a:ext cx="669387" cy="307777"/>
              </a:xfrm>
              <a:prstGeom prst="rect">
                <a:avLst/>
              </a:prstGeom>
              <a:noFill/>
            </p:spPr>
            <p:txBody>
              <a:bodyPr wrap="square" rtlCol="0">
                <a:spAutoFit/>
              </a:bodyPr>
              <a:lstStyle/>
              <a:p>
                <a:r>
                  <a:rPr lang="en-US" sz="1400" dirty="0"/>
                  <a:t>Stairs</a:t>
                </a:r>
              </a:p>
            </p:txBody>
          </p:sp>
          <p:sp>
            <p:nvSpPr>
              <p:cNvPr id="12" name="TextBox 11">
                <a:extLst>
                  <a:ext uri="{FF2B5EF4-FFF2-40B4-BE49-F238E27FC236}">
                    <a16:creationId xmlns:a16="http://schemas.microsoft.com/office/drawing/2014/main" id="{0E61B036-CD66-5C22-CB5E-1CFA1A705F97}"/>
                  </a:ext>
                </a:extLst>
              </p:cNvPr>
              <p:cNvSpPr txBox="1"/>
              <p:nvPr/>
            </p:nvSpPr>
            <p:spPr>
              <a:xfrm>
                <a:off x="3128890" y="3585772"/>
                <a:ext cx="669387" cy="307777"/>
              </a:xfrm>
              <a:prstGeom prst="rect">
                <a:avLst/>
              </a:prstGeom>
              <a:noFill/>
            </p:spPr>
            <p:txBody>
              <a:bodyPr wrap="square" rtlCol="0">
                <a:spAutoFit/>
              </a:bodyPr>
              <a:lstStyle/>
              <a:p>
                <a:r>
                  <a:rPr lang="en-US" sz="1400" dirty="0"/>
                  <a:t>Lift</a:t>
                </a:r>
              </a:p>
            </p:txBody>
          </p:sp>
          <p:sp>
            <p:nvSpPr>
              <p:cNvPr id="13" name="TextBox 12">
                <a:extLst>
                  <a:ext uri="{FF2B5EF4-FFF2-40B4-BE49-F238E27FC236}">
                    <a16:creationId xmlns:a16="http://schemas.microsoft.com/office/drawing/2014/main" id="{504B7AC9-6602-6588-E4D6-D8CE4F399ABC}"/>
                  </a:ext>
                </a:extLst>
              </p:cNvPr>
              <p:cNvSpPr txBox="1"/>
              <p:nvPr/>
            </p:nvSpPr>
            <p:spPr>
              <a:xfrm>
                <a:off x="3967090" y="3167390"/>
                <a:ext cx="2650084" cy="523220"/>
              </a:xfrm>
              <a:prstGeom prst="rect">
                <a:avLst/>
              </a:prstGeom>
              <a:noFill/>
            </p:spPr>
            <p:txBody>
              <a:bodyPr wrap="square" rtlCol="0">
                <a:spAutoFit/>
              </a:bodyPr>
              <a:lstStyle/>
              <a:p>
                <a:r>
                  <a:rPr lang="en-US" sz="1400" dirty="0"/>
                  <a:t>Stairs (or lift) to level S (LBG)</a:t>
                </a:r>
              </a:p>
              <a:p>
                <a:r>
                  <a:rPr lang="en-US" sz="1400" dirty="0"/>
                  <a:t>(second floor – not 2)</a:t>
                </a:r>
              </a:p>
            </p:txBody>
          </p:sp>
          <p:cxnSp>
            <p:nvCxnSpPr>
              <p:cNvPr id="15" name="Straight Arrow Connector 14">
                <a:extLst>
                  <a:ext uri="{FF2B5EF4-FFF2-40B4-BE49-F238E27FC236}">
                    <a16:creationId xmlns:a16="http://schemas.microsoft.com/office/drawing/2014/main" id="{121892B7-B232-5891-1EFE-3053D25EB829}"/>
                  </a:ext>
                </a:extLst>
              </p:cNvPr>
              <p:cNvCxnSpPr>
                <a:cxnSpLocks/>
              </p:cNvCxnSpPr>
              <p:nvPr/>
            </p:nvCxnSpPr>
            <p:spPr>
              <a:xfrm>
                <a:off x="3204000" y="3420000"/>
                <a:ext cx="690490" cy="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1CF71DD-DDD7-0789-A6EC-5181A479BFF6}"/>
                  </a:ext>
                </a:extLst>
              </p:cNvPr>
              <p:cNvSpPr txBox="1"/>
              <p:nvPr/>
            </p:nvSpPr>
            <p:spPr>
              <a:xfrm>
                <a:off x="1664677" y="2505189"/>
                <a:ext cx="1338692" cy="523220"/>
              </a:xfrm>
              <a:prstGeom prst="rect">
                <a:avLst/>
              </a:prstGeom>
              <a:noFill/>
            </p:spPr>
            <p:txBody>
              <a:bodyPr wrap="square" rtlCol="0">
                <a:spAutoFit/>
              </a:bodyPr>
              <a:lstStyle/>
              <a:p>
                <a:r>
                  <a:rPr lang="en-US" sz="1400" dirty="0"/>
                  <a:t>Teaching office</a:t>
                </a:r>
              </a:p>
            </p:txBody>
          </p:sp>
          <p:sp>
            <p:nvSpPr>
              <p:cNvPr id="18" name="TextBox 17">
                <a:extLst>
                  <a:ext uri="{FF2B5EF4-FFF2-40B4-BE49-F238E27FC236}">
                    <a16:creationId xmlns:a16="http://schemas.microsoft.com/office/drawing/2014/main" id="{DD316EFB-CEBC-6E6E-3B6F-3876504574D9}"/>
                  </a:ext>
                </a:extLst>
              </p:cNvPr>
              <p:cNvSpPr txBox="1"/>
              <p:nvPr/>
            </p:nvSpPr>
            <p:spPr>
              <a:xfrm>
                <a:off x="1761519" y="3559981"/>
                <a:ext cx="908455" cy="307777"/>
              </a:xfrm>
              <a:prstGeom prst="rect">
                <a:avLst/>
              </a:prstGeom>
              <a:noFill/>
            </p:spPr>
            <p:txBody>
              <a:bodyPr wrap="square" rtlCol="0">
                <a:spAutoFit/>
              </a:bodyPr>
              <a:lstStyle/>
              <a:p>
                <a:r>
                  <a:rPr lang="en-US" sz="1400" dirty="0"/>
                  <a:t>robot</a:t>
                </a:r>
              </a:p>
            </p:txBody>
          </p:sp>
          <p:sp>
            <p:nvSpPr>
              <p:cNvPr id="21" name="Freeform 20">
                <a:extLst>
                  <a:ext uri="{FF2B5EF4-FFF2-40B4-BE49-F238E27FC236}">
                    <a16:creationId xmlns:a16="http://schemas.microsoft.com/office/drawing/2014/main" id="{BBDE8186-4B29-4D0D-C88E-7E6340A765B6}"/>
                  </a:ext>
                </a:extLst>
              </p:cNvPr>
              <p:cNvSpPr/>
              <p:nvPr/>
            </p:nvSpPr>
            <p:spPr>
              <a:xfrm>
                <a:off x="1023100" y="2630658"/>
                <a:ext cx="1537220" cy="633047"/>
              </a:xfrm>
              <a:custGeom>
                <a:avLst/>
                <a:gdLst>
                  <a:gd name="connsiteX0" fmla="*/ 17909 w 1537220"/>
                  <a:gd name="connsiteY0" fmla="*/ 0 h 633047"/>
                  <a:gd name="connsiteX1" fmla="*/ 17909 w 1537220"/>
                  <a:gd name="connsiteY1" fmla="*/ 379828 h 633047"/>
                  <a:gd name="connsiteX2" fmla="*/ 88248 w 1537220"/>
                  <a:gd name="connsiteY2" fmla="*/ 478302 h 633047"/>
                  <a:gd name="connsiteX3" fmla="*/ 172654 w 1537220"/>
                  <a:gd name="connsiteY3" fmla="*/ 534573 h 633047"/>
                  <a:gd name="connsiteX4" fmla="*/ 214857 w 1537220"/>
                  <a:gd name="connsiteY4" fmla="*/ 562708 h 633047"/>
                  <a:gd name="connsiteX5" fmla="*/ 299263 w 1537220"/>
                  <a:gd name="connsiteY5" fmla="*/ 590844 h 633047"/>
                  <a:gd name="connsiteX6" fmla="*/ 580617 w 1537220"/>
                  <a:gd name="connsiteY6" fmla="*/ 618979 h 633047"/>
                  <a:gd name="connsiteX7" fmla="*/ 1537220 w 1537220"/>
                  <a:gd name="connsiteY7" fmla="*/ 633047 h 633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37220" h="633047">
                    <a:moveTo>
                      <a:pt x="17909" y="0"/>
                    </a:moveTo>
                    <a:cubicBezTo>
                      <a:pt x="-6886" y="173574"/>
                      <a:pt x="-5038" y="115931"/>
                      <a:pt x="17909" y="379828"/>
                    </a:cubicBezTo>
                    <a:cubicBezTo>
                      <a:pt x="22186" y="429017"/>
                      <a:pt x="54012" y="444066"/>
                      <a:pt x="88248" y="478302"/>
                    </a:cubicBezTo>
                    <a:cubicBezTo>
                      <a:pt x="168249" y="558303"/>
                      <a:pt x="91219" y="493856"/>
                      <a:pt x="172654" y="534573"/>
                    </a:cubicBezTo>
                    <a:cubicBezTo>
                      <a:pt x="187776" y="542134"/>
                      <a:pt x="199407" y="555841"/>
                      <a:pt x="214857" y="562708"/>
                    </a:cubicBezTo>
                    <a:cubicBezTo>
                      <a:pt x="241958" y="574753"/>
                      <a:pt x="270182" y="585028"/>
                      <a:pt x="299263" y="590844"/>
                    </a:cubicBezTo>
                    <a:cubicBezTo>
                      <a:pt x="419446" y="614879"/>
                      <a:pt x="402591" y="614689"/>
                      <a:pt x="580617" y="618979"/>
                    </a:cubicBezTo>
                    <a:lnTo>
                      <a:pt x="1537220" y="633047"/>
                    </a:lnTo>
                  </a:path>
                </a:pathLst>
              </a:custGeom>
              <a:noFill/>
              <a:ln>
                <a:prstDash val="sysDash"/>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8" name="Rectangle 67">
              <a:extLst>
                <a:ext uri="{FF2B5EF4-FFF2-40B4-BE49-F238E27FC236}">
                  <a16:creationId xmlns:a16="http://schemas.microsoft.com/office/drawing/2014/main" id="{A5EE2F0B-8BDD-C9E0-B8E0-53750FBD7BF2}"/>
                </a:ext>
              </a:extLst>
            </p:cNvPr>
            <p:cNvSpPr/>
            <p:nvPr/>
          </p:nvSpPr>
          <p:spPr>
            <a:xfrm>
              <a:off x="63974" y="1770585"/>
              <a:ext cx="8751889" cy="2496615"/>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2" name="TextBox 71">
            <a:extLst>
              <a:ext uri="{FF2B5EF4-FFF2-40B4-BE49-F238E27FC236}">
                <a16:creationId xmlns:a16="http://schemas.microsoft.com/office/drawing/2014/main" id="{8E8C1D1D-315F-F8C5-AE6D-91A122024B4C}"/>
              </a:ext>
            </a:extLst>
          </p:cNvPr>
          <p:cNvSpPr txBox="1"/>
          <p:nvPr/>
        </p:nvSpPr>
        <p:spPr>
          <a:xfrm>
            <a:off x="6447355" y="1614057"/>
            <a:ext cx="1676400" cy="523220"/>
          </a:xfrm>
          <a:prstGeom prst="rect">
            <a:avLst/>
          </a:prstGeom>
          <a:noFill/>
          <a:ln w="19050">
            <a:solidFill>
              <a:schemeClr val="accent1">
                <a:shade val="50000"/>
              </a:schemeClr>
            </a:solidFill>
          </a:ln>
        </p:spPr>
        <p:txBody>
          <a:bodyPr wrap="square" rtlCol="0">
            <a:spAutoFit/>
          </a:bodyPr>
          <a:lstStyle/>
          <a:p>
            <a:r>
              <a:rPr lang="en-US" sz="1400" dirty="0"/>
              <a:t>Level 0 Sir Alwyn Williams Building</a:t>
            </a:r>
          </a:p>
        </p:txBody>
      </p:sp>
      <p:sp>
        <p:nvSpPr>
          <p:cNvPr id="73" name="TextBox 72">
            <a:extLst>
              <a:ext uri="{FF2B5EF4-FFF2-40B4-BE49-F238E27FC236}">
                <a16:creationId xmlns:a16="http://schemas.microsoft.com/office/drawing/2014/main" id="{9AF8CDC3-9EC3-6B2D-5AC8-92EE2BF63C42}"/>
              </a:ext>
            </a:extLst>
          </p:cNvPr>
          <p:cNvSpPr txBox="1"/>
          <p:nvPr/>
        </p:nvSpPr>
        <p:spPr>
          <a:xfrm>
            <a:off x="7288887" y="4304004"/>
            <a:ext cx="1676400" cy="523220"/>
          </a:xfrm>
          <a:prstGeom prst="rect">
            <a:avLst/>
          </a:prstGeom>
          <a:noFill/>
          <a:ln w="19050">
            <a:solidFill>
              <a:schemeClr val="accent1">
                <a:shade val="50000"/>
              </a:schemeClr>
            </a:solidFill>
          </a:ln>
        </p:spPr>
        <p:txBody>
          <a:bodyPr wrap="square" rtlCol="0">
            <a:spAutoFit/>
          </a:bodyPr>
          <a:lstStyle/>
          <a:p>
            <a:r>
              <a:rPr lang="en-US" sz="1400" dirty="0"/>
              <a:t>Level S </a:t>
            </a:r>
            <a:r>
              <a:rPr lang="en-US" sz="1400" dirty="0" err="1"/>
              <a:t>Lilybank</a:t>
            </a:r>
            <a:r>
              <a:rPr lang="en-US" sz="1400" dirty="0"/>
              <a:t> Gardens</a:t>
            </a:r>
          </a:p>
        </p:txBody>
      </p:sp>
      <p:grpSp>
        <p:nvGrpSpPr>
          <p:cNvPr id="76" name="Group 75">
            <a:extLst>
              <a:ext uri="{FF2B5EF4-FFF2-40B4-BE49-F238E27FC236}">
                <a16:creationId xmlns:a16="http://schemas.microsoft.com/office/drawing/2014/main" id="{CADF75F9-BA8D-C794-B151-4B12BF448043}"/>
              </a:ext>
            </a:extLst>
          </p:cNvPr>
          <p:cNvGrpSpPr/>
          <p:nvPr/>
        </p:nvGrpSpPr>
        <p:grpSpPr>
          <a:xfrm>
            <a:off x="63973" y="4215534"/>
            <a:ext cx="9016053" cy="2496615"/>
            <a:chOff x="63973" y="4215534"/>
            <a:chExt cx="9016053" cy="2496615"/>
          </a:xfrm>
        </p:grpSpPr>
        <p:grpSp>
          <p:nvGrpSpPr>
            <p:cNvPr id="71" name="Group 70">
              <a:extLst>
                <a:ext uri="{FF2B5EF4-FFF2-40B4-BE49-F238E27FC236}">
                  <a16:creationId xmlns:a16="http://schemas.microsoft.com/office/drawing/2014/main" id="{264C451C-6275-C1EE-0ECC-EAFFD29B5947}"/>
                </a:ext>
              </a:extLst>
            </p:cNvPr>
            <p:cNvGrpSpPr/>
            <p:nvPr/>
          </p:nvGrpSpPr>
          <p:grpSpPr>
            <a:xfrm>
              <a:off x="63973" y="4215534"/>
              <a:ext cx="9016053" cy="2496615"/>
              <a:chOff x="63973" y="4215534"/>
              <a:chExt cx="9016053" cy="2496615"/>
            </a:xfrm>
          </p:grpSpPr>
          <p:grpSp>
            <p:nvGrpSpPr>
              <p:cNvPr id="67" name="Group 66">
                <a:extLst>
                  <a:ext uri="{FF2B5EF4-FFF2-40B4-BE49-F238E27FC236}">
                    <a16:creationId xmlns:a16="http://schemas.microsoft.com/office/drawing/2014/main" id="{4A7172A7-9D7B-1936-4F79-6B682141A229}"/>
                  </a:ext>
                </a:extLst>
              </p:cNvPr>
              <p:cNvGrpSpPr/>
              <p:nvPr/>
            </p:nvGrpSpPr>
            <p:grpSpPr>
              <a:xfrm>
                <a:off x="661244" y="4505695"/>
                <a:ext cx="8368264" cy="1775566"/>
                <a:chOff x="661244" y="4505695"/>
                <a:chExt cx="8368264" cy="1775566"/>
              </a:xfrm>
            </p:grpSpPr>
            <p:grpSp>
              <p:nvGrpSpPr>
                <p:cNvPr id="55" name="Group 54">
                  <a:extLst>
                    <a:ext uri="{FF2B5EF4-FFF2-40B4-BE49-F238E27FC236}">
                      <a16:creationId xmlns:a16="http://schemas.microsoft.com/office/drawing/2014/main" id="{A7458812-997F-1350-5A99-9A49020110C7}"/>
                    </a:ext>
                  </a:extLst>
                </p:cNvPr>
                <p:cNvGrpSpPr/>
                <p:nvPr/>
              </p:nvGrpSpPr>
              <p:grpSpPr>
                <a:xfrm>
                  <a:off x="661244" y="4505695"/>
                  <a:ext cx="8368264" cy="1699418"/>
                  <a:chOff x="225041" y="4648200"/>
                  <a:chExt cx="8368264" cy="1699418"/>
                </a:xfrm>
              </p:grpSpPr>
              <p:sp>
                <p:nvSpPr>
                  <p:cNvPr id="23" name="Rectangle 22">
                    <a:extLst>
                      <a:ext uri="{FF2B5EF4-FFF2-40B4-BE49-F238E27FC236}">
                        <a16:creationId xmlns:a16="http://schemas.microsoft.com/office/drawing/2014/main" id="{D0D059D2-031F-21BC-CB25-F31F20526C7E}"/>
                      </a:ext>
                    </a:extLst>
                  </p:cNvPr>
                  <p:cNvSpPr/>
                  <p:nvPr/>
                </p:nvSpPr>
                <p:spPr>
                  <a:xfrm>
                    <a:off x="489753" y="5878695"/>
                    <a:ext cx="533347" cy="46892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9E80143-D5B9-3A7E-9023-533305FC64B5}"/>
                      </a:ext>
                    </a:extLst>
                  </p:cNvPr>
                  <p:cNvSpPr/>
                  <p:nvPr/>
                </p:nvSpPr>
                <p:spPr>
                  <a:xfrm>
                    <a:off x="225041" y="5970120"/>
                    <a:ext cx="226297" cy="324000"/>
                  </a:xfrm>
                  <a:prstGeom prst="rect">
                    <a:avLst/>
                  </a:prstGeom>
                  <a:pattFill prst="dk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FAEE97F2-C317-C736-068F-44D8807B6B9C}"/>
                      </a:ext>
                    </a:extLst>
                  </p:cNvPr>
                  <p:cNvCxnSpPr/>
                  <p:nvPr/>
                </p:nvCxnSpPr>
                <p:spPr>
                  <a:xfrm flipV="1">
                    <a:off x="489753" y="4648200"/>
                    <a:ext cx="0" cy="123049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F81587C-4301-F1F3-15C4-148E7BE85671}"/>
                      </a:ext>
                    </a:extLst>
                  </p:cNvPr>
                  <p:cNvCxnSpPr>
                    <a:cxnSpLocks/>
                  </p:cNvCxnSpPr>
                  <p:nvPr/>
                </p:nvCxnSpPr>
                <p:spPr>
                  <a:xfrm>
                    <a:off x="871611" y="5878695"/>
                    <a:ext cx="3319389"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E9672A8-955C-8B3E-0024-886EE00ACD05}"/>
                      </a:ext>
                    </a:extLst>
                  </p:cNvPr>
                  <p:cNvCxnSpPr>
                    <a:cxnSpLocks/>
                  </p:cNvCxnSpPr>
                  <p:nvPr/>
                </p:nvCxnSpPr>
                <p:spPr>
                  <a:xfrm flipV="1">
                    <a:off x="1004071" y="4648200"/>
                    <a:ext cx="0" cy="8382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F0602D1-C61C-32B4-786B-E4B6A1E88587}"/>
                      </a:ext>
                    </a:extLst>
                  </p:cNvPr>
                  <p:cNvCxnSpPr>
                    <a:cxnSpLocks/>
                  </p:cNvCxnSpPr>
                  <p:nvPr/>
                </p:nvCxnSpPr>
                <p:spPr>
                  <a:xfrm>
                    <a:off x="1023100" y="5486400"/>
                    <a:ext cx="277517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99CFDDD-C596-5FDC-7D54-146FBEBEF5F6}"/>
                      </a:ext>
                    </a:extLst>
                  </p:cNvPr>
                  <p:cNvCxnSpPr>
                    <a:cxnSpLocks/>
                  </p:cNvCxnSpPr>
                  <p:nvPr/>
                </p:nvCxnSpPr>
                <p:spPr>
                  <a:xfrm flipV="1">
                    <a:off x="3787130" y="4876800"/>
                    <a:ext cx="11147" cy="6096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7C0A8B4-EB49-CE45-752B-C215C6254A7F}"/>
                      </a:ext>
                    </a:extLst>
                  </p:cNvPr>
                  <p:cNvCxnSpPr>
                    <a:cxnSpLocks/>
                  </p:cNvCxnSpPr>
                  <p:nvPr/>
                </p:nvCxnSpPr>
                <p:spPr>
                  <a:xfrm flipV="1">
                    <a:off x="4191000" y="5334000"/>
                    <a:ext cx="0" cy="54469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AE42A32-4D04-9E7E-DA36-5BF4F2414C36}"/>
                      </a:ext>
                    </a:extLst>
                  </p:cNvPr>
                  <p:cNvCxnSpPr>
                    <a:cxnSpLocks/>
                  </p:cNvCxnSpPr>
                  <p:nvPr/>
                </p:nvCxnSpPr>
                <p:spPr>
                  <a:xfrm>
                    <a:off x="3787130" y="4874455"/>
                    <a:ext cx="2994670" cy="2579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7D7A9C5-0C4A-6981-B51E-B220D819457E}"/>
                      </a:ext>
                    </a:extLst>
                  </p:cNvPr>
                  <p:cNvCxnSpPr>
                    <a:cxnSpLocks/>
                  </p:cNvCxnSpPr>
                  <p:nvPr/>
                </p:nvCxnSpPr>
                <p:spPr>
                  <a:xfrm>
                    <a:off x="4191000" y="5282418"/>
                    <a:ext cx="209433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C583630-4FF8-53B8-5165-4E8798496B6F}"/>
                      </a:ext>
                    </a:extLst>
                  </p:cNvPr>
                  <p:cNvCxnSpPr>
                    <a:cxnSpLocks/>
                  </p:cNvCxnSpPr>
                  <p:nvPr/>
                </p:nvCxnSpPr>
                <p:spPr>
                  <a:xfrm flipV="1">
                    <a:off x="6781800" y="4900245"/>
                    <a:ext cx="0" cy="43375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21885A7-4F53-73ED-CDDA-C37E1C37382A}"/>
                      </a:ext>
                    </a:extLst>
                  </p:cNvPr>
                  <p:cNvCxnSpPr>
                    <a:cxnSpLocks/>
                  </p:cNvCxnSpPr>
                  <p:nvPr/>
                </p:nvCxnSpPr>
                <p:spPr>
                  <a:xfrm flipV="1">
                    <a:off x="6285330" y="5277729"/>
                    <a:ext cx="0" cy="54469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76F5A97-FE14-63E0-7D91-0E7C82054EAE}"/>
                      </a:ext>
                    </a:extLst>
                  </p:cNvPr>
                  <p:cNvCxnSpPr>
                    <a:cxnSpLocks/>
                  </p:cNvCxnSpPr>
                  <p:nvPr/>
                </p:nvCxnSpPr>
                <p:spPr>
                  <a:xfrm>
                    <a:off x="6285330" y="5846599"/>
                    <a:ext cx="209433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250F95A-0647-4411-CD15-4FD6884BBAEE}"/>
                      </a:ext>
                    </a:extLst>
                  </p:cNvPr>
                  <p:cNvCxnSpPr>
                    <a:cxnSpLocks/>
                  </p:cNvCxnSpPr>
                  <p:nvPr/>
                </p:nvCxnSpPr>
                <p:spPr>
                  <a:xfrm>
                    <a:off x="6781800" y="5334000"/>
                    <a:ext cx="1811505"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33816847-F2F5-9D2C-F19D-0C89790D343B}"/>
                      </a:ext>
                    </a:extLst>
                  </p:cNvPr>
                  <p:cNvSpPr txBox="1"/>
                  <p:nvPr/>
                </p:nvSpPr>
                <p:spPr>
                  <a:xfrm>
                    <a:off x="3569174" y="5953092"/>
                    <a:ext cx="669387" cy="307777"/>
                  </a:xfrm>
                  <a:prstGeom prst="rect">
                    <a:avLst/>
                  </a:prstGeom>
                  <a:noFill/>
                </p:spPr>
                <p:txBody>
                  <a:bodyPr wrap="square" rtlCol="0">
                    <a:spAutoFit/>
                  </a:bodyPr>
                  <a:lstStyle/>
                  <a:p>
                    <a:r>
                      <a:rPr lang="en-US" sz="1400" dirty="0"/>
                      <a:t>S162</a:t>
                    </a:r>
                  </a:p>
                </p:txBody>
              </p:sp>
              <p:sp>
                <p:nvSpPr>
                  <p:cNvPr id="54" name="TextBox 53">
                    <a:extLst>
                      <a:ext uri="{FF2B5EF4-FFF2-40B4-BE49-F238E27FC236}">
                        <a16:creationId xmlns:a16="http://schemas.microsoft.com/office/drawing/2014/main" id="{83D0D84D-C5B8-98B7-A694-5C509B8A5434}"/>
                      </a:ext>
                    </a:extLst>
                  </p:cNvPr>
                  <p:cNvSpPr txBox="1"/>
                  <p:nvPr/>
                </p:nvSpPr>
                <p:spPr>
                  <a:xfrm>
                    <a:off x="6285330" y="5920996"/>
                    <a:ext cx="669387" cy="307777"/>
                  </a:xfrm>
                  <a:prstGeom prst="rect">
                    <a:avLst/>
                  </a:prstGeom>
                  <a:noFill/>
                </p:spPr>
                <p:txBody>
                  <a:bodyPr wrap="square" rtlCol="0">
                    <a:spAutoFit/>
                  </a:bodyPr>
                  <a:lstStyle/>
                  <a:p>
                    <a:r>
                      <a:rPr lang="en-US" sz="1400" dirty="0"/>
                      <a:t>S133</a:t>
                    </a:r>
                  </a:p>
                </p:txBody>
              </p:sp>
            </p:grpSp>
            <p:grpSp>
              <p:nvGrpSpPr>
                <p:cNvPr id="66" name="Group 65">
                  <a:extLst>
                    <a:ext uri="{FF2B5EF4-FFF2-40B4-BE49-F238E27FC236}">
                      <a16:creationId xmlns:a16="http://schemas.microsoft.com/office/drawing/2014/main" id="{B1E50A31-1EED-597D-3933-AEE89E280134}"/>
                    </a:ext>
                  </a:extLst>
                </p:cNvPr>
                <p:cNvGrpSpPr/>
                <p:nvPr/>
              </p:nvGrpSpPr>
              <p:grpSpPr>
                <a:xfrm>
                  <a:off x="6883310" y="6042741"/>
                  <a:ext cx="334693" cy="238520"/>
                  <a:chOff x="5950637" y="6371126"/>
                  <a:chExt cx="334693" cy="238520"/>
                </a:xfrm>
              </p:grpSpPr>
              <p:cxnSp>
                <p:nvCxnSpPr>
                  <p:cNvPr id="59" name="Straight Connector 58">
                    <a:extLst>
                      <a:ext uri="{FF2B5EF4-FFF2-40B4-BE49-F238E27FC236}">
                        <a16:creationId xmlns:a16="http://schemas.microsoft.com/office/drawing/2014/main" id="{D6065637-2F2C-8ED4-5293-A5F14B2A7B76}"/>
                      </a:ext>
                    </a:extLst>
                  </p:cNvPr>
                  <p:cNvCxnSpPr/>
                  <p:nvPr/>
                </p:nvCxnSpPr>
                <p:spPr>
                  <a:xfrm>
                    <a:off x="5950637" y="6400346"/>
                    <a:ext cx="334693" cy="195687"/>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62D1398-9F67-189A-27A8-4F6924D15660}"/>
                      </a:ext>
                    </a:extLst>
                  </p:cNvPr>
                  <p:cNvCxnSpPr>
                    <a:cxnSpLocks/>
                  </p:cNvCxnSpPr>
                  <p:nvPr/>
                </p:nvCxnSpPr>
                <p:spPr>
                  <a:xfrm flipH="1">
                    <a:off x="5950637" y="6371126"/>
                    <a:ext cx="320733" cy="23852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70" name="Rectangle 69">
                <a:extLst>
                  <a:ext uri="{FF2B5EF4-FFF2-40B4-BE49-F238E27FC236}">
                    <a16:creationId xmlns:a16="http://schemas.microsoft.com/office/drawing/2014/main" id="{5E847466-1514-FED8-1288-A29E1667FBFD}"/>
                  </a:ext>
                </a:extLst>
              </p:cNvPr>
              <p:cNvSpPr/>
              <p:nvPr/>
            </p:nvSpPr>
            <p:spPr>
              <a:xfrm>
                <a:off x="63973" y="4215534"/>
                <a:ext cx="9016053" cy="2496615"/>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Freeform 74">
              <a:extLst>
                <a:ext uri="{FF2B5EF4-FFF2-40B4-BE49-F238E27FC236}">
                  <a16:creationId xmlns:a16="http://schemas.microsoft.com/office/drawing/2014/main" id="{CA794AA9-E52D-151E-E85F-B70D705B2603}"/>
                </a:ext>
              </a:extLst>
            </p:cNvPr>
            <p:cNvSpPr/>
            <p:nvPr/>
          </p:nvSpPr>
          <p:spPr>
            <a:xfrm>
              <a:off x="886265" y="4951828"/>
              <a:ext cx="6175892" cy="1097280"/>
            </a:xfrm>
            <a:custGeom>
              <a:avLst/>
              <a:gdLst>
                <a:gd name="connsiteX0" fmla="*/ 0 w 6175892"/>
                <a:gd name="connsiteY0" fmla="*/ 1083212 h 1097280"/>
                <a:gd name="connsiteX1" fmla="*/ 98473 w 6175892"/>
                <a:gd name="connsiteY1" fmla="*/ 1097280 h 1097280"/>
                <a:gd name="connsiteX2" fmla="*/ 211015 w 6175892"/>
                <a:gd name="connsiteY2" fmla="*/ 1069144 h 1097280"/>
                <a:gd name="connsiteX3" fmla="*/ 239150 w 6175892"/>
                <a:gd name="connsiteY3" fmla="*/ 942535 h 1097280"/>
                <a:gd name="connsiteX4" fmla="*/ 267286 w 6175892"/>
                <a:gd name="connsiteY4" fmla="*/ 829994 h 1097280"/>
                <a:gd name="connsiteX5" fmla="*/ 323557 w 6175892"/>
                <a:gd name="connsiteY5" fmla="*/ 745587 h 1097280"/>
                <a:gd name="connsiteX6" fmla="*/ 365760 w 6175892"/>
                <a:gd name="connsiteY6" fmla="*/ 717452 h 1097280"/>
                <a:gd name="connsiteX7" fmla="*/ 478301 w 6175892"/>
                <a:gd name="connsiteY7" fmla="*/ 689317 h 1097280"/>
                <a:gd name="connsiteX8" fmla="*/ 787790 w 6175892"/>
                <a:gd name="connsiteY8" fmla="*/ 661181 h 1097280"/>
                <a:gd name="connsiteX9" fmla="*/ 1055077 w 6175892"/>
                <a:gd name="connsiteY9" fmla="*/ 633046 h 1097280"/>
                <a:gd name="connsiteX10" fmla="*/ 1209821 w 6175892"/>
                <a:gd name="connsiteY10" fmla="*/ 618978 h 1097280"/>
                <a:gd name="connsiteX11" fmla="*/ 1406769 w 6175892"/>
                <a:gd name="connsiteY11" fmla="*/ 590843 h 1097280"/>
                <a:gd name="connsiteX12" fmla="*/ 1589649 w 6175892"/>
                <a:gd name="connsiteY12" fmla="*/ 576775 h 1097280"/>
                <a:gd name="connsiteX13" fmla="*/ 2349304 w 6175892"/>
                <a:gd name="connsiteY13" fmla="*/ 590843 h 1097280"/>
                <a:gd name="connsiteX14" fmla="*/ 2532184 w 6175892"/>
                <a:gd name="connsiteY14" fmla="*/ 604910 h 1097280"/>
                <a:gd name="connsiteX15" fmla="*/ 3165230 w 6175892"/>
                <a:gd name="connsiteY15" fmla="*/ 590843 h 1097280"/>
                <a:gd name="connsiteX16" fmla="*/ 3249637 w 6175892"/>
                <a:gd name="connsiteY16" fmla="*/ 562707 h 1097280"/>
                <a:gd name="connsiteX17" fmla="*/ 3291840 w 6175892"/>
                <a:gd name="connsiteY17" fmla="*/ 534572 h 1097280"/>
                <a:gd name="connsiteX18" fmla="*/ 3376246 w 6175892"/>
                <a:gd name="connsiteY18" fmla="*/ 492369 h 1097280"/>
                <a:gd name="connsiteX19" fmla="*/ 3404381 w 6175892"/>
                <a:gd name="connsiteY19" fmla="*/ 450166 h 1097280"/>
                <a:gd name="connsiteX20" fmla="*/ 3432517 w 6175892"/>
                <a:gd name="connsiteY20" fmla="*/ 422030 h 1097280"/>
                <a:gd name="connsiteX21" fmla="*/ 3446584 w 6175892"/>
                <a:gd name="connsiteY21" fmla="*/ 379827 h 1097280"/>
                <a:gd name="connsiteX22" fmla="*/ 3474720 w 6175892"/>
                <a:gd name="connsiteY22" fmla="*/ 337624 h 1097280"/>
                <a:gd name="connsiteX23" fmla="*/ 3545058 w 6175892"/>
                <a:gd name="connsiteY23" fmla="*/ 211015 h 1097280"/>
                <a:gd name="connsiteX24" fmla="*/ 3587261 w 6175892"/>
                <a:gd name="connsiteY24" fmla="*/ 168812 h 1097280"/>
                <a:gd name="connsiteX25" fmla="*/ 3615397 w 6175892"/>
                <a:gd name="connsiteY25" fmla="*/ 126609 h 1097280"/>
                <a:gd name="connsiteX26" fmla="*/ 3742006 w 6175892"/>
                <a:gd name="connsiteY26" fmla="*/ 56270 h 1097280"/>
                <a:gd name="connsiteX27" fmla="*/ 3995224 w 6175892"/>
                <a:gd name="connsiteY27" fmla="*/ 42203 h 1097280"/>
                <a:gd name="connsiteX28" fmla="*/ 4417255 w 6175892"/>
                <a:gd name="connsiteY28" fmla="*/ 0 h 1097280"/>
                <a:gd name="connsiteX29" fmla="*/ 5373858 w 6175892"/>
                <a:gd name="connsiteY29" fmla="*/ 14067 h 1097280"/>
                <a:gd name="connsiteX30" fmla="*/ 5992837 w 6175892"/>
                <a:gd name="connsiteY30" fmla="*/ 42203 h 1097280"/>
                <a:gd name="connsiteX31" fmla="*/ 6119446 w 6175892"/>
                <a:gd name="connsiteY31" fmla="*/ 98474 h 1097280"/>
                <a:gd name="connsiteX32" fmla="*/ 6161649 w 6175892"/>
                <a:gd name="connsiteY32" fmla="*/ 140677 h 1097280"/>
                <a:gd name="connsiteX33" fmla="*/ 6175717 w 6175892"/>
                <a:gd name="connsiteY33" fmla="*/ 590843 h 109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175892" h="1097280">
                  <a:moveTo>
                    <a:pt x="0" y="1083212"/>
                  </a:moveTo>
                  <a:cubicBezTo>
                    <a:pt x="32824" y="1087901"/>
                    <a:pt x="65315" y="1097280"/>
                    <a:pt x="98473" y="1097280"/>
                  </a:cubicBezTo>
                  <a:cubicBezTo>
                    <a:pt x="132425" y="1097280"/>
                    <a:pt x="177712" y="1080245"/>
                    <a:pt x="211015" y="1069144"/>
                  </a:cubicBezTo>
                  <a:cubicBezTo>
                    <a:pt x="249724" y="836893"/>
                    <a:pt x="204520" y="1081055"/>
                    <a:pt x="239150" y="942535"/>
                  </a:cubicBezTo>
                  <a:cubicBezTo>
                    <a:pt x="244819" y="919857"/>
                    <a:pt x="252669" y="856305"/>
                    <a:pt x="267286" y="829994"/>
                  </a:cubicBezTo>
                  <a:cubicBezTo>
                    <a:pt x="283708" y="800435"/>
                    <a:pt x="295421" y="764344"/>
                    <a:pt x="323557" y="745587"/>
                  </a:cubicBezTo>
                  <a:cubicBezTo>
                    <a:pt x="337625" y="736209"/>
                    <a:pt x="350638" y="725013"/>
                    <a:pt x="365760" y="717452"/>
                  </a:cubicBezTo>
                  <a:cubicBezTo>
                    <a:pt x="390808" y="704928"/>
                    <a:pt x="457658" y="691611"/>
                    <a:pt x="478301" y="689317"/>
                  </a:cubicBezTo>
                  <a:cubicBezTo>
                    <a:pt x="581256" y="677878"/>
                    <a:pt x="684771" y="672025"/>
                    <a:pt x="787790" y="661181"/>
                  </a:cubicBezTo>
                  <a:lnTo>
                    <a:pt x="1055077" y="633046"/>
                  </a:lnTo>
                  <a:cubicBezTo>
                    <a:pt x="1106614" y="627892"/>
                    <a:pt x="1158732" y="627493"/>
                    <a:pt x="1209821" y="618978"/>
                  </a:cubicBezTo>
                  <a:cubicBezTo>
                    <a:pt x="1287253" y="606072"/>
                    <a:pt x="1324595" y="598669"/>
                    <a:pt x="1406769" y="590843"/>
                  </a:cubicBezTo>
                  <a:cubicBezTo>
                    <a:pt x="1467634" y="585046"/>
                    <a:pt x="1528689" y="581464"/>
                    <a:pt x="1589649" y="576775"/>
                  </a:cubicBezTo>
                  <a:lnTo>
                    <a:pt x="2349304" y="590843"/>
                  </a:lnTo>
                  <a:cubicBezTo>
                    <a:pt x="2410417" y="592667"/>
                    <a:pt x="2471044" y="604910"/>
                    <a:pt x="2532184" y="604910"/>
                  </a:cubicBezTo>
                  <a:cubicBezTo>
                    <a:pt x="2743251" y="604910"/>
                    <a:pt x="2954215" y="595532"/>
                    <a:pt x="3165230" y="590843"/>
                  </a:cubicBezTo>
                  <a:cubicBezTo>
                    <a:pt x="3193366" y="581464"/>
                    <a:pt x="3224960" y="579158"/>
                    <a:pt x="3249637" y="562707"/>
                  </a:cubicBezTo>
                  <a:cubicBezTo>
                    <a:pt x="3263705" y="553329"/>
                    <a:pt x="3276718" y="542133"/>
                    <a:pt x="3291840" y="534572"/>
                  </a:cubicBezTo>
                  <a:cubicBezTo>
                    <a:pt x="3408325" y="476329"/>
                    <a:pt x="3255298" y="573000"/>
                    <a:pt x="3376246" y="492369"/>
                  </a:cubicBezTo>
                  <a:cubicBezTo>
                    <a:pt x="3385624" y="478301"/>
                    <a:pt x="3393819" y="463368"/>
                    <a:pt x="3404381" y="450166"/>
                  </a:cubicBezTo>
                  <a:cubicBezTo>
                    <a:pt x="3412667" y="439809"/>
                    <a:pt x="3425693" y="433403"/>
                    <a:pt x="3432517" y="422030"/>
                  </a:cubicBezTo>
                  <a:cubicBezTo>
                    <a:pt x="3440146" y="409315"/>
                    <a:pt x="3439952" y="393090"/>
                    <a:pt x="3446584" y="379827"/>
                  </a:cubicBezTo>
                  <a:cubicBezTo>
                    <a:pt x="3454145" y="364705"/>
                    <a:pt x="3465341" y="351692"/>
                    <a:pt x="3474720" y="337624"/>
                  </a:cubicBezTo>
                  <a:cubicBezTo>
                    <a:pt x="3492409" y="284553"/>
                    <a:pt x="3496684" y="259389"/>
                    <a:pt x="3545058" y="211015"/>
                  </a:cubicBezTo>
                  <a:cubicBezTo>
                    <a:pt x="3559126" y="196947"/>
                    <a:pt x="3574525" y="184095"/>
                    <a:pt x="3587261" y="168812"/>
                  </a:cubicBezTo>
                  <a:cubicBezTo>
                    <a:pt x="3598085" y="155823"/>
                    <a:pt x="3602673" y="137743"/>
                    <a:pt x="3615397" y="126609"/>
                  </a:cubicBezTo>
                  <a:cubicBezTo>
                    <a:pt x="3634570" y="109832"/>
                    <a:pt x="3701741" y="60105"/>
                    <a:pt x="3742006" y="56270"/>
                  </a:cubicBezTo>
                  <a:cubicBezTo>
                    <a:pt x="3826161" y="48255"/>
                    <a:pt x="3910818" y="46892"/>
                    <a:pt x="3995224" y="42203"/>
                  </a:cubicBezTo>
                  <a:cubicBezTo>
                    <a:pt x="4304563" y="7831"/>
                    <a:pt x="4163811" y="21119"/>
                    <a:pt x="4417255" y="0"/>
                  </a:cubicBezTo>
                  <a:lnTo>
                    <a:pt x="5373858" y="14067"/>
                  </a:lnTo>
                  <a:cubicBezTo>
                    <a:pt x="5874105" y="23687"/>
                    <a:pt x="5722568" y="8419"/>
                    <a:pt x="5992837" y="42203"/>
                  </a:cubicBezTo>
                  <a:cubicBezTo>
                    <a:pt x="6054181" y="62651"/>
                    <a:pt x="6074858" y="61317"/>
                    <a:pt x="6119446" y="98474"/>
                  </a:cubicBezTo>
                  <a:cubicBezTo>
                    <a:pt x="6134729" y="111210"/>
                    <a:pt x="6147581" y="126609"/>
                    <a:pt x="6161649" y="140677"/>
                  </a:cubicBezTo>
                  <a:cubicBezTo>
                    <a:pt x="6178527" y="478231"/>
                    <a:pt x="6175717" y="328129"/>
                    <a:pt x="6175717" y="590843"/>
                  </a:cubicBezTo>
                </a:path>
              </a:pathLst>
            </a:custGeom>
            <a:noFill/>
            <a:ln>
              <a:prstDash val="sysDash"/>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40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GB" altLang="en-US" dirty="0"/>
              <a:t>Assessment</a:t>
            </a:r>
          </a:p>
        </p:txBody>
      </p:sp>
      <p:sp>
        <p:nvSpPr>
          <p:cNvPr id="6147" name="Rectangle 3"/>
          <p:cNvSpPr>
            <a:spLocks noGrp="1" noChangeArrowheads="1"/>
          </p:cNvSpPr>
          <p:nvPr>
            <p:ph idx="1"/>
          </p:nvPr>
        </p:nvSpPr>
        <p:spPr>
          <a:xfrm>
            <a:off x="304800" y="1371600"/>
            <a:ext cx="8229600" cy="3962400"/>
          </a:xfrm>
          <a:noFill/>
        </p:spPr>
        <p:txBody>
          <a:bodyPr>
            <a:normAutofit fontScale="92500" lnSpcReduction="10000"/>
          </a:bodyPr>
          <a:lstStyle/>
          <a:p>
            <a:pPr marL="0" indent="0" eaLnBrk="1" hangingPunct="1">
              <a:buNone/>
            </a:pPr>
            <a:endParaRPr lang="en-GB" altLang="en-US" dirty="0"/>
          </a:p>
          <a:p>
            <a:r>
              <a:rPr lang="en-GB" altLang="en-US" dirty="0"/>
              <a:t>Assessed E</a:t>
            </a:r>
            <a:r>
              <a:rPr lang="en-US" altLang="en-US" dirty="0" err="1"/>
              <a:t>xercise</a:t>
            </a:r>
            <a:r>
              <a:rPr lang="en-US" altLang="en-US" dirty="0"/>
              <a:t>  – single exercise, will be handed out </a:t>
            </a:r>
            <a:r>
              <a:rPr lang="en-US" altLang="en-US" dirty="0">
                <a:solidFill>
                  <a:schemeClr val="tx2"/>
                </a:solidFill>
              </a:rPr>
              <a:t>9/3/2025</a:t>
            </a:r>
            <a:r>
              <a:rPr lang="en-US" altLang="en-US" baseline="30000" dirty="0"/>
              <a:t>*</a:t>
            </a:r>
            <a:r>
              <a:rPr lang="en-US" altLang="en-US" dirty="0"/>
              <a:t>. Hand in </a:t>
            </a:r>
            <a:r>
              <a:rPr lang="en-US" altLang="en-US" dirty="0">
                <a:solidFill>
                  <a:srgbClr val="C00000"/>
                </a:solidFill>
              </a:rPr>
              <a:t>Mon 23/3/2025</a:t>
            </a:r>
            <a:r>
              <a:rPr lang="en-US" altLang="en-US" dirty="0"/>
              <a:t> by 16.30 (but it should take you around 6-8 hours to complete)</a:t>
            </a:r>
          </a:p>
          <a:p>
            <a:pPr lvl="1"/>
            <a:r>
              <a:rPr lang="en-US" altLang="en-US" dirty="0"/>
              <a:t> weight = </a:t>
            </a:r>
            <a:r>
              <a:rPr lang="en-US" altLang="en-US" b="1" dirty="0"/>
              <a:t>0.2</a:t>
            </a:r>
            <a:r>
              <a:rPr lang="en-US" altLang="en-US" dirty="0"/>
              <a:t> </a:t>
            </a:r>
          </a:p>
          <a:p>
            <a:pPr marL="274320" lvl="1" indent="0">
              <a:buNone/>
            </a:pPr>
            <a:endParaRPr lang="en-US" altLang="en-US" dirty="0"/>
          </a:p>
          <a:p>
            <a:pPr eaLnBrk="1" hangingPunct="1"/>
            <a:r>
              <a:rPr lang="en-US" altLang="en-US" dirty="0"/>
              <a:t>Examination (this will be computer based but supervised in the lab)</a:t>
            </a:r>
          </a:p>
          <a:p>
            <a:pPr lvl="1" eaLnBrk="1" hangingPunct="1"/>
            <a:r>
              <a:rPr lang="en-US" altLang="en-US" dirty="0"/>
              <a:t>weighting </a:t>
            </a:r>
            <a:r>
              <a:rPr lang="en-US" altLang="en-US" b="1" dirty="0"/>
              <a:t>0.8</a:t>
            </a:r>
            <a:r>
              <a:rPr lang="en-US" altLang="en-US" dirty="0"/>
              <a:t>.</a:t>
            </a:r>
          </a:p>
          <a:p>
            <a:pPr lvl="1" eaLnBrk="1" hangingPunct="1"/>
            <a:r>
              <a:rPr lang="en-US" altLang="en-US" dirty="0"/>
              <a:t>Probably quiz/multiple choice (sample exam will be available on Moodle). Will let you know nearer the time. The </a:t>
            </a:r>
            <a:r>
              <a:rPr lang="en-US" altLang="en-US" dirty="0" err="1"/>
              <a:t>resit</a:t>
            </a:r>
            <a:r>
              <a:rPr lang="en-US" altLang="en-US" dirty="0"/>
              <a:t> will be non-multiple choice.</a:t>
            </a:r>
          </a:p>
        </p:txBody>
      </p:sp>
      <p:sp>
        <p:nvSpPr>
          <p:cNvPr id="2" name="TextBox 1">
            <a:extLst>
              <a:ext uri="{FF2B5EF4-FFF2-40B4-BE49-F238E27FC236}">
                <a16:creationId xmlns:a16="http://schemas.microsoft.com/office/drawing/2014/main" id="{B5D5AABC-BC4B-946A-524F-539543A8490F}"/>
              </a:ext>
            </a:extLst>
          </p:cNvPr>
          <p:cNvSpPr txBox="1"/>
          <p:nvPr/>
        </p:nvSpPr>
        <p:spPr>
          <a:xfrm>
            <a:off x="457200" y="5710535"/>
            <a:ext cx="5867400" cy="646331"/>
          </a:xfrm>
          <a:prstGeom prst="rect">
            <a:avLst/>
          </a:prstGeom>
          <a:noFill/>
        </p:spPr>
        <p:txBody>
          <a:bodyPr wrap="square" rtlCol="0">
            <a:spAutoFit/>
          </a:bodyPr>
          <a:lstStyle/>
          <a:p>
            <a:r>
              <a:rPr lang="en-US" baseline="30000" dirty="0"/>
              <a:t>*</a:t>
            </a:r>
            <a:r>
              <a:rPr lang="en-US" dirty="0"/>
              <a:t> Subject to change. Waiting on confirmation from the school. Will probably release earlier than that date.</a:t>
            </a:r>
          </a:p>
        </p:txBody>
      </p:sp>
    </p:spTree>
    <p:extLst>
      <p:ext uri="{BB962C8B-B14F-4D97-AF65-F5344CB8AC3E}">
        <p14:creationId xmlns:p14="http://schemas.microsoft.com/office/powerpoint/2010/main" val="739079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B477D-B5EC-3542-A507-0D65119E042E}"/>
              </a:ext>
            </a:extLst>
          </p:cNvPr>
          <p:cNvSpPr>
            <a:spLocks noGrp="1"/>
          </p:cNvSpPr>
          <p:nvPr>
            <p:ph type="title"/>
          </p:nvPr>
        </p:nvSpPr>
        <p:spPr>
          <a:xfrm>
            <a:off x="66674" y="487522"/>
            <a:ext cx="8924925" cy="762000"/>
          </a:xfrm>
        </p:spPr>
        <p:txBody>
          <a:bodyPr>
            <a:normAutofit fontScale="90000"/>
          </a:bodyPr>
          <a:lstStyle/>
          <a:p>
            <a:r>
              <a:rPr lang="en-US" dirty="0"/>
              <a:t>Timetable will be on Moodle (it might change)</a:t>
            </a:r>
          </a:p>
        </p:txBody>
      </p:sp>
      <p:pic>
        <p:nvPicPr>
          <p:cNvPr id="11" name="Picture 10">
            <a:extLst>
              <a:ext uri="{FF2B5EF4-FFF2-40B4-BE49-F238E27FC236}">
                <a16:creationId xmlns:a16="http://schemas.microsoft.com/office/drawing/2014/main" id="{917C4B15-52B8-0EF4-E1C9-C8E92D8E1F91}"/>
              </a:ext>
            </a:extLst>
          </p:cNvPr>
          <p:cNvPicPr>
            <a:picLocks noChangeAspect="1"/>
          </p:cNvPicPr>
          <p:nvPr/>
        </p:nvPicPr>
        <p:blipFill>
          <a:blip r:embed="rId3"/>
          <a:stretch>
            <a:fillRect/>
          </a:stretch>
        </p:blipFill>
        <p:spPr>
          <a:xfrm>
            <a:off x="838200" y="2057399"/>
            <a:ext cx="7620000" cy="3735939"/>
          </a:xfrm>
          <a:prstGeom prst="rect">
            <a:avLst/>
          </a:prstGeom>
        </p:spPr>
      </p:pic>
    </p:spTree>
    <p:extLst>
      <p:ext uri="{BB962C8B-B14F-4D97-AF65-F5344CB8AC3E}">
        <p14:creationId xmlns:p14="http://schemas.microsoft.com/office/powerpoint/2010/main" val="1056303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04800" y="76200"/>
            <a:ext cx="8229600" cy="990600"/>
          </a:xfrm>
        </p:spPr>
        <p:txBody>
          <a:bodyPr>
            <a:normAutofit/>
          </a:bodyPr>
          <a:lstStyle/>
          <a:p>
            <a:pPr eaLnBrk="1" hangingPunct="1"/>
            <a:r>
              <a:rPr lang="en-GB" altLang="en-US" sz="3200" dirty="0"/>
              <a:t>Q&amp;As via </a:t>
            </a:r>
            <a:r>
              <a:rPr lang="en-GB" altLang="en-US" sz="3200" dirty="0" err="1"/>
              <a:t>padlet</a:t>
            </a:r>
            <a:endParaRPr lang="en-GB" altLang="en-US" sz="3200" dirty="0"/>
          </a:p>
        </p:txBody>
      </p:sp>
      <p:sp>
        <p:nvSpPr>
          <p:cNvPr id="6147" name="Rectangle 3"/>
          <p:cNvSpPr>
            <a:spLocks noGrp="1" noChangeArrowheads="1"/>
          </p:cNvSpPr>
          <p:nvPr>
            <p:ph idx="1"/>
          </p:nvPr>
        </p:nvSpPr>
        <p:spPr>
          <a:xfrm>
            <a:off x="284204" y="838200"/>
            <a:ext cx="8783595" cy="2133600"/>
          </a:xfrm>
          <a:noFill/>
        </p:spPr>
        <p:txBody>
          <a:bodyPr>
            <a:normAutofit lnSpcReduction="10000"/>
          </a:bodyPr>
          <a:lstStyle/>
          <a:p>
            <a:pPr lvl="1"/>
            <a:r>
              <a:rPr lang="en-US" altLang="en-US" sz="1600" dirty="0"/>
              <a:t>For you to ask general questions, or questions about any of the topics</a:t>
            </a:r>
          </a:p>
          <a:p>
            <a:pPr lvl="1"/>
            <a:r>
              <a:rPr lang="en-US" altLang="en-US" sz="1600" dirty="0"/>
              <a:t>Ask in the correct column</a:t>
            </a:r>
          </a:p>
          <a:p>
            <a:pPr lvl="1"/>
            <a:r>
              <a:rPr lang="en-US" altLang="en-US" sz="1600" dirty="0"/>
              <a:t>If a longer answer or explanation required, I may defer to lecture/Q&amp;A session on the following Friday</a:t>
            </a:r>
          </a:p>
          <a:p>
            <a:pPr lvl="1"/>
            <a:r>
              <a:rPr lang="en-US" altLang="en-US" sz="1600" dirty="0"/>
              <a:t>You can answer questions as well as ask them (I’ll monitor your answers…). I will respond when I am available, tutors will too</a:t>
            </a:r>
          </a:p>
          <a:p>
            <a:pPr lvl="1"/>
            <a:r>
              <a:rPr lang="en-US" altLang="en-US" sz="1600" dirty="0"/>
              <a:t>Keep it polite and respectful! Link is: https://</a:t>
            </a:r>
            <a:r>
              <a:rPr lang="en-US" altLang="en-US" sz="1600" dirty="0" err="1"/>
              <a:t>padlet.com</a:t>
            </a:r>
            <a:r>
              <a:rPr lang="en-US" altLang="en-US" sz="1600" dirty="0"/>
              <a:t>/alicemiller3/ads-q-a-2025-2026-fnbhdf932ndafahv</a:t>
            </a:r>
          </a:p>
          <a:p>
            <a:endParaRPr lang="en-US" altLang="en-US" sz="1600" dirty="0"/>
          </a:p>
        </p:txBody>
      </p:sp>
      <p:pic>
        <p:nvPicPr>
          <p:cNvPr id="3" name="Picture 2" descr="A screenshot of ADS padlet">
            <a:extLst>
              <a:ext uri="{FF2B5EF4-FFF2-40B4-BE49-F238E27FC236}">
                <a16:creationId xmlns:a16="http://schemas.microsoft.com/office/drawing/2014/main" id="{D41585A6-AB52-8636-C3DA-8E9AFD7C9C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112" y="2960371"/>
            <a:ext cx="7772400" cy="3843731"/>
          </a:xfrm>
          <a:prstGeom prst="rect">
            <a:avLst/>
          </a:prstGeom>
        </p:spPr>
      </p:pic>
    </p:spTree>
    <p:extLst>
      <p:ext uri="{BB962C8B-B14F-4D97-AF65-F5344CB8AC3E}">
        <p14:creationId xmlns:p14="http://schemas.microsoft.com/office/powerpoint/2010/main" val="3939503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GB" altLang="en-US" dirty="0"/>
              <a:t>What should I do now?</a:t>
            </a:r>
          </a:p>
        </p:txBody>
      </p:sp>
      <p:sp>
        <p:nvSpPr>
          <p:cNvPr id="6147" name="Rectangle 3"/>
          <p:cNvSpPr>
            <a:spLocks noGrp="1" noChangeArrowheads="1"/>
          </p:cNvSpPr>
          <p:nvPr>
            <p:ph idx="1"/>
          </p:nvPr>
        </p:nvSpPr>
        <p:spPr>
          <a:xfrm>
            <a:off x="381000" y="1447800"/>
            <a:ext cx="8229600" cy="5334000"/>
          </a:xfrm>
          <a:noFill/>
        </p:spPr>
        <p:txBody>
          <a:bodyPr>
            <a:normAutofit/>
          </a:bodyPr>
          <a:lstStyle/>
          <a:p>
            <a:r>
              <a:rPr lang="en-US" altLang="en-US" sz="1800" dirty="0"/>
              <a:t>After this lecture start going through the </a:t>
            </a:r>
            <a:r>
              <a:rPr lang="en-US" altLang="en-US" sz="1800" dirty="0">
                <a:solidFill>
                  <a:schemeClr val="tx2"/>
                </a:solidFill>
              </a:rPr>
              <a:t>slides and videos</a:t>
            </a:r>
          </a:p>
          <a:p>
            <a:pPr lvl="1" eaLnBrk="1" hangingPunct="1"/>
            <a:r>
              <a:rPr lang="en-US" altLang="en-US" sz="1800" dirty="0"/>
              <a:t>There are also revision slides – (adding, logs, generics) refer to these when you need to (most people will be unfamiliar with </a:t>
            </a:r>
            <a:r>
              <a:rPr lang="en-US" altLang="en-US" sz="1800" dirty="0">
                <a:solidFill>
                  <a:schemeClr val="tx2"/>
                </a:solidFill>
              </a:rPr>
              <a:t>logs</a:t>
            </a:r>
            <a:r>
              <a:rPr lang="en-US" altLang="en-US" sz="1800" dirty="0"/>
              <a:t> so read this one first if that is you)</a:t>
            </a:r>
          </a:p>
          <a:p>
            <a:pPr lvl="1" eaLnBrk="1" hangingPunct="1"/>
            <a:r>
              <a:rPr lang="en-US" altLang="en-US" sz="1800" dirty="0"/>
              <a:t>This week’s lab will be on the introduction and the start of the arrays – so take a look at the relevant questions beforehand. The assumption is that you will have also looked at the first part of the arrays slides before the lecture next week (I’ll clarify every week at the lecture).</a:t>
            </a:r>
          </a:p>
          <a:p>
            <a:pPr lvl="1" eaLnBrk="1" hangingPunct="1"/>
            <a:r>
              <a:rPr lang="en-US" altLang="en-US" sz="1800" dirty="0"/>
              <a:t>Remember the schedule is only a </a:t>
            </a:r>
            <a:r>
              <a:rPr lang="en-US" altLang="en-US" sz="1800" dirty="0">
                <a:solidFill>
                  <a:schemeClr val="tx2"/>
                </a:solidFill>
              </a:rPr>
              <a:t>guide</a:t>
            </a:r>
          </a:p>
          <a:p>
            <a:pPr marL="274320" lvl="1" indent="0" eaLnBrk="1" hangingPunct="1">
              <a:buNone/>
            </a:pPr>
            <a:endParaRPr lang="en-US" altLang="en-US" sz="1800" dirty="0">
              <a:solidFill>
                <a:schemeClr val="tx2"/>
              </a:solidFill>
            </a:endParaRPr>
          </a:p>
          <a:p>
            <a:r>
              <a:rPr lang="en-US" altLang="en-US" sz="1800" dirty="0"/>
              <a:t>Drop into my </a:t>
            </a:r>
            <a:r>
              <a:rPr lang="en-US" altLang="en-US" sz="1800" dirty="0">
                <a:solidFill>
                  <a:schemeClr val="tx2"/>
                </a:solidFill>
              </a:rPr>
              <a:t>office hour </a:t>
            </a:r>
            <a:r>
              <a:rPr lang="en-US" altLang="en-US" sz="1800" dirty="0"/>
              <a:t>on</a:t>
            </a:r>
            <a:r>
              <a:rPr lang="en-US" altLang="en-US" sz="1800" dirty="0">
                <a:solidFill>
                  <a:schemeClr val="tx2"/>
                </a:solidFill>
              </a:rPr>
              <a:t> Thursday</a:t>
            </a:r>
            <a:r>
              <a:rPr lang="en-US" altLang="en-US" sz="1800" dirty="0"/>
              <a:t> if you want a chat (helps if you let me know when you are coming, to make sure I am there).</a:t>
            </a:r>
          </a:p>
          <a:p>
            <a:endParaRPr lang="en-US" altLang="en-US" sz="1800" dirty="0"/>
          </a:p>
          <a:p>
            <a:pPr lvl="1"/>
            <a:r>
              <a:rPr lang="en-US" altLang="en-US" sz="1800" dirty="0"/>
              <a:t>Will be nice to meet you. I can see how you are getting on – and sort out any early problems, </a:t>
            </a:r>
            <a:endParaRPr lang="en-US" altLang="en-US" sz="1800" dirty="0">
              <a:solidFill>
                <a:schemeClr val="tx2"/>
              </a:solidFill>
            </a:endParaRPr>
          </a:p>
          <a:p>
            <a:pPr lvl="1"/>
            <a:endParaRPr lang="en-US" altLang="en-US" sz="1800" dirty="0"/>
          </a:p>
          <a:p>
            <a:r>
              <a:rPr lang="en-US" altLang="en-US" sz="1800" dirty="0">
                <a:solidFill>
                  <a:schemeClr val="tx2"/>
                </a:solidFill>
              </a:rPr>
              <a:t>This Thursday: </a:t>
            </a:r>
            <a:r>
              <a:rPr lang="en-US" altLang="en-US" sz="1800" dirty="0"/>
              <a:t>labs,</a:t>
            </a:r>
            <a:r>
              <a:rPr lang="en-US" altLang="en-US" sz="1800" dirty="0">
                <a:solidFill>
                  <a:schemeClr val="tx2"/>
                </a:solidFill>
              </a:rPr>
              <a:t> Next Monday:</a:t>
            </a:r>
            <a:r>
              <a:rPr lang="en-US" altLang="en-US" sz="1800" dirty="0"/>
              <a:t> </a:t>
            </a:r>
            <a:r>
              <a:rPr lang="en-US" altLang="en-US" sz="1800" dirty="0" err="1"/>
              <a:t>Q&amp;A+lecture</a:t>
            </a:r>
            <a:endParaRPr lang="en-US" altLang="en-US" sz="1800" dirty="0"/>
          </a:p>
          <a:p>
            <a:pPr marL="0" indent="0">
              <a:buNone/>
            </a:pPr>
            <a:endParaRPr lang="en-US" altLang="en-US" sz="1800" dirty="0"/>
          </a:p>
          <a:p>
            <a:pPr marL="0" indent="0">
              <a:buNone/>
            </a:pPr>
            <a:endParaRPr lang="en-US" altLang="en-US" sz="1800" dirty="0"/>
          </a:p>
        </p:txBody>
      </p:sp>
    </p:spTree>
    <p:extLst>
      <p:ext uri="{BB962C8B-B14F-4D97-AF65-F5344CB8AC3E}">
        <p14:creationId xmlns:p14="http://schemas.microsoft.com/office/powerpoint/2010/main" val="3476587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GB" altLang="en-US"/>
              <a:t>Reading </a:t>
            </a:r>
            <a:r>
              <a:rPr lang="en-GB" altLang="en-US" i="1"/>
              <a:t>(1)</a:t>
            </a:r>
            <a:endParaRPr lang="en-GB" altLang="en-US"/>
          </a:p>
        </p:txBody>
      </p:sp>
      <p:sp>
        <p:nvSpPr>
          <p:cNvPr id="7171" name="Rectangle 3"/>
          <p:cNvSpPr>
            <a:spLocks noGrp="1" noChangeArrowheads="1"/>
          </p:cNvSpPr>
          <p:nvPr>
            <p:ph idx="1"/>
          </p:nvPr>
        </p:nvSpPr>
        <p:spPr>
          <a:noFill/>
        </p:spPr>
        <p:txBody>
          <a:bodyPr/>
          <a:lstStyle/>
          <a:p>
            <a:pPr eaLnBrk="1" hangingPunct="1"/>
            <a:r>
              <a:rPr lang="en-US" altLang="en-US" dirty="0"/>
              <a:t>D.A. Watt &amp; D.F. Brown</a:t>
            </a:r>
            <a:br>
              <a:rPr lang="en-US" altLang="en-US" dirty="0"/>
            </a:br>
            <a:r>
              <a:rPr lang="en-US" altLang="en-US" b="1" i="1" dirty="0"/>
              <a:t>Java Collections</a:t>
            </a:r>
            <a:br>
              <a:rPr lang="en-US" altLang="en-US" dirty="0"/>
            </a:br>
            <a:r>
              <a:rPr lang="en-US" altLang="en-US" dirty="0"/>
              <a:t>Wiley (2002)</a:t>
            </a:r>
            <a:endParaRPr lang="en-GB" altLang="en-US" dirty="0"/>
          </a:p>
          <a:p>
            <a:pPr lvl="1" eaLnBrk="1" hangingPunct="1"/>
            <a:r>
              <a:rPr lang="en-US" altLang="en-US" dirty="0"/>
              <a:t>Useful if you can get hold of a 2</a:t>
            </a:r>
            <a:r>
              <a:rPr lang="en-US" altLang="en-US" baseline="30000" dirty="0"/>
              <a:t>nd</a:t>
            </a:r>
            <a:r>
              <a:rPr lang="en-US" altLang="en-US" dirty="0"/>
              <a:t> </a:t>
            </a:r>
          </a:p>
          <a:p>
            <a:pPr marL="274320" lvl="1" indent="0" eaLnBrk="1" hangingPunct="1">
              <a:buNone/>
            </a:pPr>
            <a:r>
              <a:rPr lang="en-US" altLang="en-US" dirty="0"/>
              <a:t>   hand copy but I </a:t>
            </a:r>
            <a:r>
              <a:rPr lang="en-US" altLang="en-US" dirty="0">
                <a:solidFill>
                  <a:srgbClr val="FF6600"/>
                </a:solidFill>
              </a:rPr>
              <a:t>wouldn’t rush out and</a:t>
            </a:r>
          </a:p>
          <a:p>
            <a:pPr marL="274320" lvl="1" indent="0" eaLnBrk="1" hangingPunct="1">
              <a:buNone/>
            </a:pPr>
            <a:r>
              <a:rPr lang="en-US" altLang="en-US" dirty="0">
                <a:solidFill>
                  <a:srgbClr val="FF6600"/>
                </a:solidFill>
              </a:rPr>
              <a:t>   buy</a:t>
            </a:r>
          </a:p>
          <a:p>
            <a:pPr lvl="2"/>
            <a:r>
              <a:rPr lang="en-GB" altLang="en-US" dirty="0"/>
              <a:t>Doesn’t cover  generic classes</a:t>
            </a:r>
          </a:p>
          <a:p>
            <a:pPr lvl="2"/>
            <a:r>
              <a:rPr lang="en-GB" altLang="en-US" dirty="0"/>
              <a:t>Some of the later example programs </a:t>
            </a:r>
          </a:p>
          <a:p>
            <a:pPr marL="274320" lvl="1" indent="0" eaLnBrk="1" hangingPunct="1">
              <a:buNone/>
            </a:pPr>
            <a:r>
              <a:rPr lang="en-GB" altLang="en-US" sz="1800" dirty="0"/>
              <a:t>       are not “correct” (we’ll discuss this later</a:t>
            </a:r>
          </a:p>
          <a:p>
            <a:pPr marL="274320" lvl="1" indent="0" eaLnBrk="1" hangingPunct="1">
              <a:buNone/>
            </a:pPr>
            <a:r>
              <a:rPr lang="en-GB" altLang="en-US" sz="1800" dirty="0"/>
              <a:t>       in the course). </a:t>
            </a:r>
            <a:endParaRPr lang="en-US" altLang="en-US" sz="1800" dirty="0"/>
          </a:p>
        </p:txBody>
      </p:sp>
      <p:grpSp>
        <p:nvGrpSpPr>
          <p:cNvPr id="2" name="Group 9"/>
          <p:cNvGrpSpPr>
            <a:grpSpLocks/>
          </p:cNvGrpSpPr>
          <p:nvPr/>
        </p:nvGrpSpPr>
        <p:grpSpPr bwMode="auto">
          <a:xfrm>
            <a:off x="5292725" y="1524000"/>
            <a:ext cx="3743325" cy="4784725"/>
            <a:chOff x="2736" y="960"/>
            <a:chExt cx="2592" cy="3228"/>
          </a:xfrm>
        </p:grpSpPr>
        <p:pic>
          <p:nvPicPr>
            <p:cNvPr id="7173" name="Picture 10" descr="cov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6" y="960"/>
              <a:ext cx="2589" cy="32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174" name="Rectangle 11"/>
            <p:cNvSpPr>
              <a:spLocks noChangeArrowheads="1"/>
            </p:cNvSpPr>
            <p:nvPr/>
          </p:nvSpPr>
          <p:spPr bwMode="auto">
            <a:xfrm>
              <a:off x="2736" y="960"/>
              <a:ext cx="2592" cy="3216"/>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bg2"/>
                </a:solidFill>
              </a:endParaRPr>
            </a:p>
          </p:txBody>
        </p:sp>
      </p:grpSp>
    </p:spTree>
    <p:extLst>
      <p:ext uri="{BB962C8B-B14F-4D97-AF65-F5344CB8AC3E}">
        <p14:creationId xmlns:p14="http://schemas.microsoft.com/office/powerpoint/2010/main" val="12547779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GB" altLang="en-US"/>
              <a:t>Reading </a:t>
            </a:r>
            <a:r>
              <a:rPr lang="en-GB" altLang="en-US" i="1"/>
              <a:t>(2)</a:t>
            </a:r>
            <a:endParaRPr lang="en-GB" altLang="en-US"/>
          </a:p>
        </p:txBody>
      </p:sp>
      <p:sp>
        <p:nvSpPr>
          <p:cNvPr id="8195" name="Rectangle 3"/>
          <p:cNvSpPr>
            <a:spLocks noGrp="1" noChangeArrowheads="1"/>
          </p:cNvSpPr>
          <p:nvPr>
            <p:ph idx="1"/>
          </p:nvPr>
        </p:nvSpPr>
        <p:spPr>
          <a:noFill/>
        </p:spPr>
        <p:txBody>
          <a:bodyPr>
            <a:normAutofit lnSpcReduction="10000"/>
          </a:bodyPr>
          <a:lstStyle/>
          <a:p>
            <a:pPr eaLnBrk="1" hangingPunct="1"/>
            <a:r>
              <a:rPr lang="en-US" altLang="en-US" dirty="0"/>
              <a:t>M.T. Goodrich &amp; R. </a:t>
            </a:r>
            <a:r>
              <a:rPr lang="en-US" altLang="en-US" dirty="0" err="1"/>
              <a:t>Tamassia</a:t>
            </a:r>
            <a:r>
              <a:rPr lang="en-US" altLang="en-US" dirty="0"/>
              <a:t> </a:t>
            </a:r>
            <a:br>
              <a:rPr lang="en-US" altLang="en-US" dirty="0"/>
            </a:br>
            <a:r>
              <a:rPr lang="en-US" altLang="en-US" i="1" dirty="0"/>
              <a:t>Data Structures and Algorithms in Java</a:t>
            </a:r>
            <a:r>
              <a:rPr lang="en-US" altLang="en-US" dirty="0"/>
              <a:t> (4</a:t>
            </a:r>
            <a:r>
              <a:rPr lang="en-US" altLang="en-US" baseline="30000" dirty="0"/>
              <a:t>th</a:t>
            </a:r>
            <a:r>
              <a:rPr lang="en-US" altLang="en-US" dirty="0"/>
              <a:t> </a:t>
            </a:r>
            <a:r>
              <a:rPr lang="en-US" altLang="en-US" dirty="0" err="1"/>
              <a:t>edn</a:t>
            </a:r>
            <a:r>
              <a:rPr lang="en-US" altLang="en-US" dirty="0"/>
              <a:t>)</a:t>
            </a:r>
            <a:br>
              <a:rPr lang="en-US" altLang="en-US" dirty="0"/>
            </a:br>
            <a:r>
              <a:rPr lang="en-US" altLang="en-US" dirty="0"/>
              <a:t>Wiley (4</a:t>
            </a:r>
            <a:r>
              <a:rPr lang="en-US" altLang="en-US" baseline="30000" dirty="0"/>
              <a:t>th</a:t>
            </a:r>
            <a:r>
              <a:rPr lang="en-US" altLang="en-US" dirty="0"/>
              <a:t> edition 2006 or later)</a:t>
            </a:r>
          </a:p>
          <a:p>
            <a:pPr lvl="1" eaLnBrk="1" hangingPunct="1">
              <a:buFont typeface="Times New Roman" pitchFamily="18" charset="0"/>
              <a:buChar char="–"/>
            </a:pPr>
            <a:r>
              <a:rPr lang="en-GB" altLang="en-US" dirty="0"/>
              <a:t>optional background reading</a:t>
            </a:r>
            <a:br>
              <a:rPr lang="en-GB" altLang="en-US" dirty="0"/>
            </a:br>
            <a:r>
              <a:rPr lang="en-GB" altLang="en-US" dirty="0"/>
              <a:t>(more advanced and mathematical)</a:t>
            </a:r>
          </a:p>
          <a:p>
            <a:pPr marL="0" indent="0">
              <a:buNone/>
            </a:pPr>
            <a:endParaRPr lang="en-GB" altLang="en-US" dirty="0"/>
          </a:p>
          <a:p>
            <a:r>
              <a:rPr lang="en-GB" altLang="en-US" dirty="0"/>
              <a:t>Any algorithms and data structures book using Java from the library</a:t>
            </a:r>
          </a:p>
          <a:p>
            <a:pPr marL="0" indent="0">
              <a:buNone/>
            </a:pPr>
            <a:endParaRPr lang="en-GB" altLang="en-US" dirty="0"/>
          </a:p>
          <a:p>
            <a:pPr eaLnBrk="1" hangingPunct="1"/>
            <a:r>
              <a:rPr lang="en-US" altLang="en-US" dirty="0"/>
              <a:t>C. </a:t>
            </a:r>
            <a:r>
              <a:rPr lang="en-US" altLang="en-US" dirty="0" err="1"/>
              <a:t>Horstmann</a:t>
            </a:r>
            <a:r>
              <a:rPr lang="en-US" altLang="en-US" dirty="0"/>
              <a:t>, </a:t>
            </a:r>
            <a:r>
              <a:rPr lang="en-US" altLang="en-US" i="1" dirty="0"/>
              <a:t>Big Java </a:t>
            </a:r>
            <a:r>
              <a:rPr lang="en-US" altLang="en-US" dirty="0">
                <a:cs typeface="Times New Roman" pitchFamily="18" charset="0"/>
              </a:rPr>
              <a:t>(3</a:t>
            </a:r>
            <a:r>
              <a:rPr lang="en-US" altLang="en-US" baseline="30000" dirty="0">
                <a:cs typeface="Times New Roman" pitchFamily="18" charset="0"/>
              </a:rPr>
              <a:t>rd</a:t>
            </a:r>
            <a:r>
              <a:rPr lang="en-US" altLang="en-US" dirty="0">
                <a:cs typeface="Times New Roman" pitchFamily="18" charset="0"/>
              </a:rPr>
              <a:t> </a:t>
            </a:r>
            <a:r>
              <a:rPr lang="en-US" altLang="en-US" dirty="0" err="1">
                <a:cs typeface="Times New Roman" pitchFamily="18" charset="0"/>
              </a:rPr>
              <a:t>edn</a:t>
            </a:r>
            <a:r>
              <a:rPr lang="en-US" altLang="en-US" dirty="0">
                <a:cs typeface="Times New Roman" pitchFamily="18" charset="0"/>
              </a:rPr>
              <a:t>), Wiley (2008)</a:t>
            </a:r>
          </a:p>
          <a:p>
            <a:pPr lvl="1" eaLnBrk="1" hangingPunct="1">
              <a:buFont typeface="Times New Roman" pitchFamily="18" charset="0"/>
              <a:buChar char="–"/>
            </a:pPr>
            <a:r>
              <a:rPr lang="en-GB" altLang="en-US" dirty="0"/>
              <a:t>supplementary reading on Java</a:t>
            </a:r>
            <a:br>
              <a:rPr lang="en-GB" altLang="en-US" dirty="0"/>
            </a:br>
            <a:r>
              <a:rPr lang="en-GB" altLang="en-US" dirty="0"/>
              <a:t>(covers interfaces, collections, inner classes, generic classes, etc.)</a:t>
            </a:r>
          </a:p>
          <a:p>
            <a:pPr lvl="1" eaLnBrk="1" hangingPunct="1">
              <a:buFont typeface="Times New Roman" pitchFamily="18" charset="0"/>
              <a:buChar char="–"/>
            </a:pPr>
            <a:r>
              <a:rPr lang="en-GB" altLang="en-US" dirty="0"/>
              <a:t>You might have this already</a:t>
            </a:r>
            <a:endParaRPr lang="en-US" altLang="en-US" dirty="0"/>
          </a:p>
        </p:txBody>
      </p:sp>
    </p:spTree>
    <p:extLst>
      <p:ext uri="{BB962C8B-B14F-4D97-AF65-F5344CB8AC3E}">
        <p14:creationId xmlns:p14="http://schemas.microsoft.com/office/powerpoint/2010/main" val="19221739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GB" altLang="en-US" dirty="0"/>
              <a:t>Summary of chapters 1&amp;2</a:t>
            </a:r>
          </a:p>
        </p:txBody>
      </p:sp>
      <p:sp>
        <p:nvSpPr>
          <p:cNvPr id="8195" name="Rectangle 3"/>
          <p:cNvSpPr>
            <a:spLocks noGrp="1" noChangeArrowheads="1"/>
          </p:cNvSpPr>
          <p:nvPr>
            <p:ph idx="1"/>
          </p:nvPr>
        </p:nvSpPr>
        <p:spPr>
          <a:xfrm>
            <a:off x="304800" y="1524000"/>
            <a:ext cx="8229600" cy="4876800"/>
          </a:xfrm>
          <a:noFill/>
        </p:spPr>
        <p:txBody>
          <a:bodyPr>
            <a:normAutofit fontScale="92500" lnSpcReduction="10000"/>
          </a:bodyPr>
          <a:lstStyle/>
          <a:p>
            <a:pPr eaLnBrk="1" hangingPunct="1"/>
            <a:r>
              <a:rPr lang="en-GB" altLang="en-US" dirty="0"/>
              <a:t>Chapter 1: introduction</a:t>
            </a:r>
          </a:p>
          <a:p>
            <a:pPr lvl="1"/>
            <a:r>
              <a:rPr lang="en-GB" altLang="en-US" sz="1600" dirty="0"/>
              <a:t>Whistle-stop tour of the concepts of algorithms, data structures and ADTs.</a:t>
            </a:r>
          </a:p>
          <a:p>
            <a:pPr lvl="1"/>
            <a:r>
              <a:rPr lang="en-GB" altLang="en-US" sz="1600" dirty="0"/>
              <a:t>Don’t expect to understand this in detail – but refer back to this lecture throughout the course</a:t>
            </a:r>
          </a:p>
          <a:p>
            <a:pPr lvl="1"/>
            <a:r>
              <a:rPr lang="en-GB" altLang="en-US" sz="1600" dirty="0"/>
              <a:t>Some example algorithms and algorithm notation (will do algorithms in chapter 2)</a:t>
            </a:r>
          </a:p>
          <a:p>
            <a:pPr lvl="1"/>
            <a:r>
              <a:rPr lang="en-GB" altLang="en-US" sz="1600" dirty="0"/>
              <a:t>Some example data structures – we will introduce linked lists in chapter 4</a:t>
            </a:r>
          </a:p>
          <a:p>
            <a:pPr lvl="1"/>
            <a:r>
              <a:rPr lang="en-GB" altLang="en-US" sz="1600" dirty="0"/>
              <a:t>Brief introduction to the idea of ADTs – will do this properly in chapter 5</a:t>
            </a:r>
          </a:p>
          <a:p>
            <a:pPr lvl="1"/>
            <a:r>
              <a:rPr lang="en-GB" altLang="en-US" sz="1600" dirty="0"/>
              <a:t>Example ADTs (list and set) and how we use Java versions of them – very advanced (chapters 8 and 9) – novice programmers think they understand it when they don’t</a:t>
            </a:r>
          </a:p>
          <a:p>
            <a:pPr marL="0" indent="0">
              <a:buNone/>
            </a:pPr>
            <a:endParaRPr lang="en-GB" altLang="en-US" dirty="0"/>
          </a:p>
          <a:p>
            <a:r>
              <a:rPr lang="en-GB" altLang="en-US" dirty="0"/>
              <a:t>Chapter 2: algorithms and complexity</a:t>
            </a:r>
          </a:p>
          <a:p>
            <a:pPr lvl="1"/>
            <a:r>
              <a:rPr lang="en-GB" altLang="en-US" sz="1600" dirty="0"/>
              <a:t>Introduction to principles of algorithms (some repetition from </a:t>
            </a:r>
            <a:r>
              <a:rPr lang="en-GB" altLang="en-US" sz="1600" dirty="0" err="1"/>
              <a:t>ProgIT</a:t>
            </a:r>
            <a:r>
              <a:rPr lang="en-GB" altLang="en-US" sz="1600" dirty="0"/>
              <a:t>)</a:t>
            </a:r>
          </a:p>
          <a:p>
            <a:pPr lvl="1"/>
            <a:r>
              <a:rPr lang="en-GB" altLang="en-US" sz="1600" dirty="0"/>
              <a:t>Gentle informal intro to efficiency analysis (how can we compare two algorithms)</a:t>
            </a:r>
          </a:p>
          <a:p>
            <a:pPr lvl="1"/>
            <a:r>
              <a:rPr lang="en-GB" altLang="en-US" sz="1600" dirty="0"/>
              <a:t>More formal approach</a:t>
            </a:r>
          </a:p>
          <a:p>
            <a:pPr lvl="1"/>
            <a:r>
              <a:rPr lang="en-GB" altLang="en-US" sz="1600" dirty="0"/>
              <a:t>Lots of examples – refer back to the revision lectures on adding and logs if you get confused</a:t>
            </a:r>
          </a:p>
          <a:p>
            <a:pPr lvl="1"/>
            <a:r>
              <a:rPr lang="en-GB" altLang="en-US" sz="1600" dirty="0"/>
              <a:t>Big O notation</a:t>
            </a:r>
          </a:p>
        </p:txBody>
      </p:sp>
    </p:spTree>
    <p:extLst>
      <p:ext uri="{BB962C8B-B14F-4D97-AF65-F5344CB8AC3E}">
        <p14:creationId xmlns:p14="http://schemas.microsoft.com/office/powerpoint/2010/main" val="30320730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3230</TotalTime>
  <Words>1767</Words>
  <Application>Microsoft Macintosh PowerPoint</Application>
  <PresentationFormat>On-screen Show (4:3)</PresentationFormat>
  <Paragraphs>183</Paragraphs>
  <Slides>20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Wingdings</vt:lpstr>
      <vt:lpstr>Clarity</vt:lpstr>
      <vt:lpstr>Algorithms &amp; Data Structures (M)</vt:lpstr>
      <vt:lpstr>Aims</vt:lpstr>
      <vt:lpstr>This is what the course leads to…</vt:lpstr>
      <vt:lpstr>Contents (Rough plan)</vt:lpstr>
      <vt:lpstr>Course operation: synchronous sessions</vt:lpstr>
      <vt:lpstr>Course operation: asynchronous delivery 1</vt:lpstr>
      <vt:lpstr>PowerPoint Presentation</vt:lpstr>
      <vt:lpstr>Course operation: asynchronous delivery 2</vt:lpstr>
      <vt:lpstr>Course operation important points: </vt:lpstr>
      <vt:lpstr>Tutorials/labs</vt:lpstr>
      <vt:lpstr>Tutorials/labs continued</vt:lpstr>
      <vt:lpstr>Office hours</vt:lpstr>
      <vt:lpstr>Map to my office</vt:lpstr>
      <vt:lpstr>Assessment</vt:lpstr>
      <vt:lpstr>Timetable will be on Moodle (it might change)</vt:lpstr>
      <vt:lpstr>Q&amp;As via padlet</vt:lpstr>
      <vt:lpstr>What should I do now?</vt:lpstr>
      <vt:lpstr>Reading (1)</vt:lpstr>
      <vt:lpstr>Reading (2)</vt:lpstr>
      <vt:lpstr>Summary of chapters 1&amp;2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Algorithms &amp; Data Structures (M)</dc:title>
  <dc:creator>Alice</dc:creator>
  <cp:lastModifiedBy>Alice Miller</cp:lastModifiedBy>
  <cp:revision>107</cp:revision>
  <dcterms:created xsi:type="dcterms:W3CDTF">2006-08-16T00:00:00Z</dcterms:created>
  <dcterms:modified xsi:type="dcterms:W3CDTF">2026-01-12T13:40:13Z</dcterms:modified>
</cp:coreProperties>
</file>