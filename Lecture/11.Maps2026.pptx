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8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9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8" r:id="rId28"/>
    <p:sldId id="281" r:id="rId29"/>
    <p:sldId id="28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9D804-5139-3D4C-B4C3-FA6519041DC9}" v="89" dt="2026-03-09T10:33:58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e Miller" userId="4bebc58b-94a5-432f-bbf0-38bbaea904dc" providerId="ADAL" clId="{41F48EA6-C98D-50A1-B214-0CAE3A0FCAD9}"/>
    <pc:docChg chg="custSel modSld">
      <pc:chgData name="Alice Miller" userId="4bebc58b-94a5-432f-bbf0-38bbaea904dc" providerId="ADAL" clId="{41F48EA6-C98D-50A1-B214-0CAE3A0FCAD9}" dt="2026-03-09T10:34:25.817" v="162" actId="14100"/>
      <pc:docMkLst>
        <pc:docMk/>
      </pc:docMkLst>
      <pc:sldChg chg="modSp mod">
        <pc:chgData name="Alice Miller" userId="4bebc58b-94a5-432f-bbf0-38bbaea904dc" providerId="ADAL" clId="{41F48EA6-C98D-50A1-B214-0CAE3A0FCAD9}" dt="2026-03-09T10:16:40.895" v="0" actId="20577"/>
        <pc:sldMkLst>
          <pc:docMk/>
          <pc:sldMk cId="1912509936" sldId="263"/>
        </pc:sldMkLst>
        <pc:spChg chg="mod">
          <ac:chgData name="Alice Miller" userId="4bebc58b-94a5-432f-bbf0-38bbaea904dc" providerId="ADAL" clId="{41F48EA6-C98D-50A1-B214-0CAE3A0FCAD9}" dt="2026-03-09T10:16:40.895" v="0" actId="20577"/>
          <ac:spMkLst>
            <pc:docMk/>
            <pc:sldMk cId="1912509936" sldId="263"/>
            <ac:spMk id="9219" creationId="{00000000-0000-0000-0000-000000000000}"/>
          </ac:spMkLst>
        </pc:spChg>
      </pc:sldChg>
      <pc:sldChg chg="addSp modSp mod modAnim">
        <pc:chgData name="Alice Miller" userId="4bebc58b-94a5-432f-bbf0-38bbaea904dc" providerId="ADAL" clId="{41F48EA6-C98D-50A1-B214-0CAE3A0FCAD9}" dt="2026-03-09T10:33:58.728" v="144"/>
        <pc:sldMkLst>
          <pc:docMk/>
          <pc:sldMk cId="2941194827" sldId="279"/>
        </pc:sldMkLst>
        <pc:spChg chg="add mod">
          <ac:chgData name="Alice Miller" userId="4bebc58b-94a5-432f-bbf0-38bbaea904dc" providerId="ADAL" clId="{41F48EA6-C98D-50A1-B214-0CAE3A0FCAD9}" dt="2026-03-09T10:33:58.728" v="144"/>
          <ac:spMkLst>
            <pc:docMk/>
            <pc:sldMk cId="2941194827" sldId="279"/>
            <ac:spMk id="2" creationId="{CC8F7EF7-0A41-9D55-79DB-851CEF2D59E5}"/>
          </ac:spMkLst>
        </pc:spChg>
        <pc:spChg chg="mod">
          <ac:chgData name="Alice Miller" userId="4bebc58b-94a5-432f-bbf0-38bbaea904dc" providerId="ADAL" clId="{41F48EA6-C98D-50A1-B214-0CAE3A0FCAD9}" dt="2026-03-09T10:27:51.247" v="55" actId="14100"/>
          <ac:spMkLst>
            <pc:docMk/>
            <pc:sldMk cId="2941194827" sldId="279"/>
            <ac:spMk id="25603" creationId="{00000000-0000-0000-0000-000000000000}"/>
          </ac:spMkLst>
        </pc:spChg>
        <pc:graphicFrameChg chg="mod modGraphic">
          <ac:chgData name="Alice Miller" userId="4bebc58b-94a5-432f-bbf0-38bbaea904dc" providerId="ADAL" clId="{41F48EA6-C98D-50A1-B214-0CAE3A0FCAD9}" dt="2026-03-09T10:27:46.445" v="54" actId="1076"/>
          <ac:graphicFrameMkLst>
            <pc:docMk/>
            <pc:sldMk cId="2941194827" sldId="279"/>
            <ac:graphicFrameMk id="420910" creationId="{00000000-0000-0000-0000-000000000000}"/>
          </ac:graphicFrameMkLst>
        </pc:graphicFrameChg>
      </pc:sldChg>
      <pc:sldChg chg="addSp delSp modSp mod modAnim">
        <pc:chgData name="Alice Miller" userId="4bebc58b-94a5-432f-bbf0-38bbaea904dc" providerId="ADAL" clId="{41F48EA6-C98D-50A1-B214-0CAE3A0FCAD9}" dt="2026-03-09T10:34:25.817" v="162" actId="14100"/>
        <pc:sldMkLst>
          <pc:docMk/>
          <pc:sldMk cId="1752950921" sldId="280"/>
        </pc:sldMkLst>
        <pc:spChg chg="add del mod">
          <ac:chgData name="Alice Miller" userId="4bebc58b-94a5-432f-bbf0-38bbaea904dc" providerId="ADAL" clId="{41F48EA6-C98D-50A1-B214-0CAE3A0FCAD9}" dt="2026-03-09T10:33:54.186" v="143" actId="21"/>
          <ac:spMkLst>
            <pc:docMk/>
            <pc:sldMk cId="1752950921" sldId="280"/>
            <ac:spMk id="2" creationId="{F9A4AF7C-E847-4A4B-8D0C-5743098948FA}"/>
          </ac:spMkLst>
        </pc:spChg>
        <pc:graphicFrameChg chg="modGraphic">
          <ac:chgData name="Alice Miller" userId="4bebc58b-94a5-432f-bbf0-38bbaea904dc" providerId="ADAL" clId="{41F48EA6-C98D-50A1-B214-0CAE3A0FCAD9}" dt="2026-03-09T10:34:25.817" v="162" actId="14100"/>
          <ac:graphicFrameMkLst>
            <pc:docMk/>
            <pc:sldMk cId="1752950921" sldId="280"/>
            <ac:graphicFrameMk id="394399" creationId="{00000000-0000-0000-0000-000000000000}"/>
          </ac:graphicFrameMkLst>
        </pc:graphicFrameChg>
      </pc:sldChg>
      <pc:sldChg chg="modSp mod">
        <pc:chgData name="Alice Miller" userId="4bebc58b-94a5-432f-bbf0-38bbaea904dc" providerId="ADAL" clId="{41F48EA6-C98D-50A1-B214-0CAE3A0FCAD9}" dt="2026-03-09T10:24:08.726" v="5" actId="20577"/>
        <pc:sldMkLst>
          <pc:docMk/>
          <pc:sldMk cId="3285335953" sldId="289"/>
        </pc:sldMkLst>
        <pc:spChg chg="mod">
          <ac:chgData name="Alice Miller" userId="4bebc58b-94a5-432f-bbf0-38bbaea904dc" providerId="ADAL" clId="{41F48EA6-C98D-50A1-B214-0CAE3A0FCAD9}" dt="2026-03-09T10:24:08.726" v="5" actId="20577"/>
          <ac:spMkLst>
            <pc:docMk/>
            <pc:sldMk cId="3285335953" sldId="289"/>
            <ac:spMk id="3" creationId="{05479CB5-2919-B6FE-B29E-C9EFBA29C0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7B19B-B145-44C7-A644-812E07E4ABA5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959F7-B4A8-47D3-B469-366D3865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68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D3B7-83BE-4862-81E0-81D4BC518040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3CE9-E5E0-470E-AB6B-0A664E272C3B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EF82-612A-413D-B175-4210FD982C89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C0506-1748-4C52-8221-3E9DF4FEB092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55C5-4A9A-48A0-82A5-15C63377D4AB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11C7-A6CE-4E38-A0FD-A3F8B395A697}" type="datetime1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97F1-45DD-4754-9D50-F6834CA43FEB}" type="datetime1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E9411-14A9-4F89-B3EC-39B5694B9A23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4467-3980-4B91-BE47-D780A393DC45}" type="datetime1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E6772-07BA-4FCF-836B-E15A2694B865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4D388-7382-462B-B60A-3FA9C0597A6A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34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2C13859-8CB7-4E1A-AFC3-BD13002F5D3D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990600"/>
            <a:ext cx="8280400" cy="1295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11. Map ADT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88218" y="3810000"/>
            <a:ext cx="7096125" cy="3635375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Map concepts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Map applications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A map ADT: requirements, contract.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maps: using key-indexed arrays, entry arrays, linked-lists, BSTs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Maps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743200" y="453136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3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0486-AEFD-684F-B44B-309CBB18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142038" cy="719137"/>
          </a:xfrm>
        </p:spPr>
        <p:txBody>
          <a:bodyPr>
            <a:normAutofit/>
          </a:bodyPr>
          <a:lstStyle/>
          <a:p>
            <a:r>
              <a:rPr lang="en-US" sz="2800" dirty="0"/>
              <a:t>Update on diagram - what is missing?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7AD334-9DA2-8C4F-A7F0-3FB37D3B72A8}"/>
              </a:ext>
            </a:extLst>
          </p:cNvPr>
          <p:cNvGrpSpPr/>
          <p:nvPr/>
        </p:nvGrpSpPr>
        <p:grpSpPr>
          <a:xfrm>
            <a:off x="1241827" y="1494544"/>
            <a:ext cx="6660346" cy="3776580"/>
            <a:chOff x="2445565" y="1378708"/>
            <a:chExt cx="6660346" cy="37765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317893-3D55-7D40-82DC-6094758A68A0}"/>
                </a:ext>
              </a:extLst>
            </p:cNvPr>
            <p:cNvSpPr txBox="1"/>
            <p:nvPr/>
          </p:nvSpPr>
          <p:spPr>
            <a:xfrm>
              <a:off x="2730262" y="2822585"/>
              <a:ext cx="87070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               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C31A36-D3BC-6D40-8B8D-225C884F3335}"/>
                </a:ext>
              </a:extLst>
            </p:cNvPr>
            <p:cNvSpPr txBox="1"/>
            <p:nvPr/>
          </p:nvSpPr>
          <p:spPr>
            <a:xfrm>
              <a:off x="2445565" y="1378708"/>
              <a:ext cx="1440100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push, pop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E6F78D-C920-7746-A588-0555D6EFE526}"/>
                </a:ext>
              </a:extLst>
            </p:cNvPr>
            <p:cNvSpPr txBox="1"/>
            <p:nvPr/>
          </p:nvSpPr>
          <p:spPr>
            <a:xfrm>
              <a:off x="4266125" y="1390439"/>
              <a:ext cx="1261242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 err="1"/>
                <a:t>getFirst</a:t>
              </a:r>
              <a:r>
                <a:rPr lang="en-US" dirty="0"/>
                <a:t>, </a:t>
              </a:r>
              <a:r>
                <a:rPr lang="en-US" dirty="0" err="1"/>
                <a:t>addLast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EF258C-5561-9147-967E-C1D6CE1A7CD6}"/>
                </a:ext>
              </a:extLst>
            </p:cNvPr>
            <p:cNvSpPr txBox="1"/>
            <p:nvPr/>
          </p:nvSpPr>
          <p:spPr>
            <a:xfrm>
              <a:off x="2667805" y="4247846"/>
              <a:ext cx="1011824" cy="369332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array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C930DD-5BAF-B741-A922-6904B9CE68BB}"/>
                </a:ext>
              </a:extLst>
            </p:cNvPr>
            <p:cNvSpPr txBox="1"/>
            <p:nvPr/>
          </p:nvSpPr>
          <p:spPr>
            <a:xfrm>
              <a:off x="4484352" y="4294013"/>
              <a:ext cx="1011824" cy="646331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linked list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3CD70BF-B04B-9E4B-876A-43360AA4B18D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3165615" y="2025039"/>
              <a:ext cx="0" cy="797546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1F8D0E4-64FD-EC48-A63B-C62CC2DCEEB8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844742" y="2313769"/>
              <a:ext cx="0" cy="50938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38780D-F5ED-A34C-B92B-B4C73F077002}"/>
                </a:ext>
              </a:extLst>
            </p:cNvPr>
            <p:cNvSpPr txBox="1"/>
            <p:nvPr/>
          </p:nvSpPr>
          <p:spPr>
            <a:xfrm>
              <a:off x="4338830" y="2823153"/>
              <a:ext cx="1011824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queue                     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4EE4F5-2577-1E4E-9C10-5F180968EF24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>
              <a:off x="3165615" y="3191917"/>
              <a:ext cx="8102" cy="105592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F0E7882-B864-0542-883B-C2E8A7ECCB59}"/>
                </a:ext>
              </a:extLst>
            </p:cNvPr>
            <p:cNvCxnSpPr>
              <a:cxnSpLocks/>
            </p:cNvCxnSpPr>
            <p:nvPr/>
          </p:nvCxnSpPr>
          <p:spPr>
            <a:xfrm>
              <a:off x="3217457" y="3222695"/>
              <a:ext cx="1472657" cy="1039473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AE6E4BE-526F-D540-889C-C5070C68BCF0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921011" y="3184533"/>
              <a:ext cx="69253" cy="1109480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196ADD8-7C99-B845-B564-045FE1FB7DF2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2856732" y="3192485"/>
              <a:ext cx="1988010" cy="104004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BA12FE-49FE-0F4F-8688-B962D8A99EF5}"/>
                </a:ext>
              </a:extLst>
            </p:cNvPr>
            <p:cNvSpPr txBox="1"/>
            <p:nvPr/>
          </p:nvSpPr>
          <p:spPr>
            <a:xfrm>
              <a:off x="6002582" y="2822585"/>
              <a:ext cx="87070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list                      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808989-4FB8-BA46-BEB6-861C2262841A}"/>
                </a:ext>
              </a:extLst>
            </p:cNvPr>
            <p:cNvSpPr txBox="1"/>
            <p:nvPr/>
          </p:nvSpPr>
          <p:spPr>
            <a:xfrm>
              <a:off x="7489625" y="2784815"/>
              <a:ext cx="692228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set*                   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2A7802-6276-434A-9720-11CF343907BA}"/>
                </a:ext>
              </a:extLst>
            </p:cNvPr>
            <p:cNvSpPr txBox="1"/>
            <p:nvPr/>
          </p:nvSpPr>
          <p:spPr>
            <a:xfrm>
              <a:off x="5941176" y="1409196"/>
              <a:ext cx="932109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get(</a:t>
              </a:r>
              <a:r>
                <a:rPr lang="en-US" dirty="0" err="1"/>
                <a:t>i</a:t>
              </a:r>
              <a:r>
                <a:rPr lang="en-US" dirty="0"/>
                <a:t>), </a:t>
              </a:r>
            </a:p>
            <a:p>
              <a:r>
                <a:rPr lang="en-US" dirty="0"/>
                <a:t>iterate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1D4A8F-7F8B-A04A-A33B-389B7FE3D568}"/>
                </a:ext>
              </a:extLst>
            </p:cNvPr>
            <p:cNvSpPr txBox="1"/>
            <p:nvPr/>
          </p:nvSpPr>
          <p:spPr>
            <a:xfrm>
              <a:off x="7317447" y="1429000"/>
              <a:ext cx="110788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contains, </a:t>
              </a:r>
              <a:r>
                <a:rPr lang="en-US" dirty="0" err="1"/>
                <a:t>addAll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7D64642-8A38-834A-AE4D-BA77F47FF815}"/>
                </a:ext>
              </a:extLst>
            </p:cNvPr>
            <p:cNvCxnSpPr>
              <a:cxnSpLocks/>
            </p:cNvCxnSpPr>
            <p:nvPr/>
          </p:nvCxnSpPr>
          <p:spPr>
            <a:xfrm>
              <a:off x="6385338" y="2332526"/>
              <a:ext cx="0" cy="520837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852D8B0-9D11-6943-8D43-04696D344710}"/>
                </a:ext>
              </a:extLst>
            </p:cNvPr>
            <p:cNvCxnSpPr/>
            <p:nvPr/>
          </p:nvCxnSpPr>
          <p:spPr>
            <a:xfrm>
              <a:off x="7871390" y="2367135"/>
              <a:ext cx="0" cy="42821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90BB1CB-D2B7-3244-B787-C6547FB71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4921" y="3197247"/>
              <a:ext cx="3142430" cy="105059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10E0890-95AB-8744-B76B-A7DE783C9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2049" y="3204591"/>
              <a:ext cx="1331255" cy="1087095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A4236DB-6924-164A-B7E8-D9715251F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0295" y="3182365"/>
              <a:ext cx="4323007" cy="106548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6E3FC61-9D42-8748-888C-3DD18D6C5533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7347707" y="3154147"/>
              <a:ext cx="488032" cy="1073049"/>
            </a:xfrm>
            <a:prstGeom prst="straightConnector1">
              <a:avLst/>
            </a:prstGeom>
            <a:ln w="26424"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8F9AAC-D44F-A640-8A94-7E6557971E1C}"/>
                </a:ext>
              </a:extLst>
            </p:cNvPr>
            <p:cNvSpPr txBox="1"/>
            <p:nvPr/>
          </p:nvSpPr>
          <p:spPr>
            <a:xfrm>
              <a:off x="6741478" y="4231958"/>
              <a:ext cx="1011824" cy="923330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binary search tree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97247C-5E9D-A143-9292-708ADBE264A5}"/>
                </a:ext>
              </a:extLst>
            </p:cNvPr>
            <p:cNvSpPr txBox="1"/>
            <p:nvPr/>
          </p:nvSpPr>
          <p:spPr>
            <a:xfrm>
              <a:off x="8094087" y="4227196"/>
              <a:ext cx="1011824" cy="646331"/>
            </a:xfrm>
            <a:prstGeom prst="rect">
              <a:avLst/>
            </a:prstGeom>
            <a:noFill/>
            <a:ln>
              <a:solidFill>
                <a:srgbClr val="008000">
                  <a:alpha val="3000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hash table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C580E30-0793-BE48-BB54-C514E571327E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8094087" y="3182365"/>
              <a:ext cx="505912" cy="1044831"/>
            </a:xfrm>
            <a:prstGeom prst="straightConnector1">
              <a:avLst/>
            </a:prstGeom>
            <a:ln>
              <a:solidFill>
                <a:srgbClr val="FFC000">
                  <a:alpha val="30000"/>
                </a:srgbClr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5196FB5-5013-B64E-9584-0E9D48315887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5336374" y="3154147"/>
              <a:ext cx="2499365" cy="113753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D559F91-C48C-434F-A49D-62FCD6C9E8F8}"/>
              </a:ext>
            </a:extLst>
          </p:cNvPr>
          <p:cNvSpPr txBox="1"/>
          <p:nvPr/>
        </p:nvSpPr>
        <p:spPr>
          <a:xfrm>
            <a:off x="-77811" y="1688047"/>
            <a:ext cx="144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F6821-F70A-834C-A32F-17411EF991AF}"/>
              </a:ext>
            </a:extLst>
          </p:cNvPr>
          <p:cNvSpPr txBox="1"/>
          <p:nvPr/>
        </p:nvSpPr>
        <p:spPr>
          <a:xfrm>
            <a:off x="-20570" y="2969199"/>
            <a:ext cx="121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ADTs: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70C7E1-B7E3-3347-9247-D600F16F6B37}"/>
              </a:ext>
            </a:extLst>
          </p:cNvPr>
          <p:cNvSpPr txBox="1"/>
          <p:nvPr/>
        </p:nvSpPr>
        <p:spPr>
          <a:xfrm>
            <a:off x="-84587" y="3563363"/>
            <a:ext cx="204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1F0CDF-774D-6642-95C9-BAB224D4A8C6}"/>
              </a:ext>
            </a:extLst>
          </p:cNvPr>
          <p:cNvSpPr txBox="1"/>
          <p:nvPr/>
        </p:nvSpPr>
        <p:spPr>
          <a:xfrm>
            <a:off x="-57449" y="4240571"/>
            <a:ext cx="14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structure: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48F244-2770-F74D-9C4B-259476B66057}"/>
              </a:ext>
            </a:extLst>
          </p:cNvPr>
          <p:cNvSpPr txBox="1"/>
          <p:nvPr/>
        </p:nvSpPr>
        <p:spPr>
          <a:xfrm>
            <a:off x="7782357" y="2900651"/>
            <a:ext cx="851476" cy="369332"/>
          </a:xfrm>
          <a:prstGeom prst="rect">
            <a:avLst/>
          </a:prstGeom>
          <a:noFill/>
          <a:ln>
            <a:solidFill>
              <a:srgbClr val="3366FF">
                <a:alpha val="3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map*</a:t>
            </a:r>
            <a:r>
              <a:rPr lang="en-US" dirty="0"/>
              <a:t>                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3D8806-ADFD-A84C-B13E-35050F1E29A1}"/>
              </a:ext>
            </a:extLst>
          </p:cNvPr>
          <p:cNvSpPr txBox="1"/>
          <p:nvPr/>
        </p:nvSpPr>
        <p:spPr>
          <a:xfrm>
            <a:off x="7596868" y="1559641"/>
            <a:ext cx="1107887" cy="923330"/>
          </a:xfrm>
          <a:prstGeom prst="rect">
            <a:avLst/>
          </a:prstGeom>
          <a:noFill/>
          <a:ln>
            <a:solidFill>
              <a:srgbClr val="FF0000">
                <a:alpha val="30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e.g.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put,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putAll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FA2FAA-55E9-6B41-B72E-EAD232D2D200}"/>
              </a:ext>
            </a:extLst>
          </p:cNvPr>
          <p:cNvCxnSpPr>
            <a:cxnSpLocks/>
          </p:cNvCxnSpPr>
          <p:nvPr/>
        </p:nvCxnSpPr>
        <p:spPr>
          <a:xfrm flipH="1">
            <a:off x="6275779" y="3262731"/>
            <a:ext cx="1852692" cy="1100951"/>
          </a:xfrm>
          <a:prstGeom prst="straightConnector1">
            <a:avLst/>
          </a:prstGeom>
          <a:ln>
            <a:solidFill>
              <a:srgbClr val="FFC000">
                <a:alpha val="3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54C185-4FF8-8540-ACF0-30E25F9D1AFD}"/>
              </a:ext>
            </a:extLst>
          </p:cNvPr>
          <p:cNvCxnSpPr>
            <a:cxnSpLocks/>
          </p:cNvCxnSpPr>
          <p:nvPr/>
        </p:nvCxnSpPr>
        <p:spPr>
          <a:xfrm flipH="1">
            <a:off x="2427921" y="3285303"/>
            <a:ext cx="5386486" cy="1140200"/>
          </a:xfrm>
          <a:prstGeom prst="straightConnector1">
            <a:avLst/>
          </a:prstGeom>
          <a:ln>
            <a:solidFill>
              <a:srgbClr val="FFC000">
                <a:alpha val="3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D5F423-6BB4-9948-86EA-50EA07C0120E}"/>
              </a:ext>
            </a:extLst>
          </p:cNvPr>
          <p:cNvCxnSpPr>
            <a:cxnSpLocks/>
          </p:cNvCxnSpPr>
          <p:nvPr/>
        </p:nvCxnSpPr>
        <p:spPr>
          <a:xfrm flipH="1">
            <a:off x="4323629" y="3290065"/>
            <a:ext cx="3658276" cy="1162116"/>
          </a:xfrm>
          <a:prstGeom prst="straightConnector1">
            <a:avLst/>
          </a:prstGeom>
          <a:ln>
            <a:solidFill>
              <a:srgbClr val="FFC000">
                <a:alpha val="2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324965-6A42-C84D-A124-08177A3FAD6E}"/>
              </a:ext>
            </a:extLst>
          </p:cNvPr>
          <p:cNvCxnSpPr>
            <a:cxnSpLocks/>
          </p:cNvCxnSpPr>
          <p:nvPr/>
        </p:nvCxnSpPr>
        <p:spPr>
          <a:xfrm flipH="1">
            <a:off x="7782357" y="3307436"/>
            <a:ext cx="511307" cy="1042848"/>
          </a:xfrm>
          <a:prstGeom prst="straightConnector1">
            <a:avLst/>
          </a:prstGeom>
          <a:ln>
            <a:solidFill>
              <a:srgbClr val="FFC000">
                <a:alpha val="3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1271644-746F-7E4A-A85A-7B4D17D1E4D4}"/>
              </a:ext>
            </a:extLst>
          </p:cNvPr>
          <p:cNvCxnSpPr/>
          <p:nvPr/>
        </p:nvCxnSpPr>
        <p:spPr>
          <a:xfrm>
            <a:off x="8150811" y="2472437"/>
            <a:ext cx="0" cy="428214"/>
          </a:xfrm>
          <a:prstGeom prst="straightConnector1">
            <a:avLst/>
          </a:prstGeom>
          <a:ln>
            <a:solidFill>
              <a:srgbClr val="0000FF">
                <a:alpha val="20000"/>
              </a:srgbClr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4C6F65-F4CE-8340-B6A2-79CEEF435383}"/>
              </a:ext>
            </a:extLst>
          </p:cNvPr>
          <p:cNvSpPr txBox="1"/>
          <p:nvPr/>
        </p:nvSpPr>
        <p:spPr>
          <a:xfrm>
            <a:off x="4602919" y="5715000"/>
            <a:ext cx="3405581" cy="830997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  + special </a:t>
            </a:r>
            <a:r>
              <a:rPr lang="en-US" sz="1600" dirty="0" err="1"/>
              <a:t>boolean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/value </a:t>
            </a:r>
            <a:r>
              <a:rPr lang="en-US" sz="1600" dirty="0"/>
              <a:t>array implementations when entries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/keys </a:t>
            </a:r>
            <a:r>
              <a:rPr lang="en-US" sz="1600" dirty="0"/>
              <a:t>are small integers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9935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concepts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map</a:t>
            </a:r>
            <a:r>
              <a:rPr lang="en-US" altLang="en-US">
                <a:cs typeface="Times New Roman" pitchFamily="18" charset="0"/>
              </a:rPr>
              <a:t> is a collection of entries, in no fixed order, in which all entries have distinct keys.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Each </a:t>
            </a:r>
            <a:r>
              <a:rPr lang="en-US" altLang="en-US" b="1">
                <a:cs typeface="Times New Roman" pitchFamily="18" charset="0"/>
              </a:rPr>
              <a:t>entry</a:t>
            </a:r>
            <a:r>
              <a:rPr lang="en-US" altLang="en-US">
                <a:cs typeface="Times New Roman" pitchFamily="18" charset="0"/>
              </a:rPr>
              <a:t> is a tuple that consists of a </a:t>
            </a:r>
            <a:r>
              <a:rPr lang="en-US" altLang="en-US" b="1">
                <a:cs typeface="Times New Roman" pitchFamily="18" charset="0"/>
              </a:rPr>
              <a:t>key field</a:t>
            </a:r>
            <a:r>
              <a:rPr lang="en-US" altLang="en-US">
                <a:cs typeface="Times New Roman" pitchFamily="18" charset="0"/>
              </a:rPr>
              <a:t> and a </a:t>
            </a:r>
            <a:r>
              <a:rPr lang="en-US" altLang="en-US" b="1">
                <a:cs typeface="Times New Roman" pitchFamily="18" charset="0"/>
              </a:rPr>
              <a:t>value field</a:t>
            </a:r>
            <a:r>
              <a:rPr lang="en-US" altLang="en-US">
                <a:cs typeface="Times New Roman" pitchFamily="18" charset="0"/>
              </a:rPr>
              <a:t>.</a:t>
            </a:r>
          </a:p>
        </p:txBody>
      </p:sp>
      <p:sp>
        <p:nvSpPr>
          <p:cNvPr id="4" name="AutoShape 188"/>
          <p:cNvSpPr>
            <a:spLocks/>
          </p:cNvSpPr>
          <p:nvPr/>
        </p:nvSpPr>
        <p:spPr bwMode="auto">
          <a:xfrm>
            <a:off x="4859338" y="3752850"/>
            <a:ext cx="3744912" cy="720725"/>
          </a:xfrm>
          <a:prstGeom prst="callout1">
            <a:avLst>
              <a:gd name="adj1" fmla="val 13815"/>
              <a:gd name="adj2" fmla="val -1199"/>
              <a:gd name="adj3" fmla="val -88350"/>
              <a:gd name="adj4" fmla="val -54382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More generally, an entry is a tuple consisting of one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or more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key fields and one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or more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value fields.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maps</a:t>
            </a:r>
            <a:endParaRPr lang="en-GB" altLang="en-US" i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1313" y="1700213"/>
            <a:ext cx="3529012" cy="4621212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Map with (letter, value) entries:</a:t>
            </a:r>
          </a:p>
        </p:txBody>
      </p:sp>
      <p:sp>
        <p:nvSpPr>
          <p:cNvPr id="384004" name="Rectangle 4"/>
          <p:cNvSpPr>
            <a:spLocks noChangeArrowheads="1"/>
          </p:cNvSpPr>
          <p:nvPr/>
        </p:nvSpPr>
        <p:spPr bwMode="auto">
          <a:xfrm>
            <a:off x="5256213" y="1700213"/>
            <a:ext cx="3489325" cy="462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cs typeface="Times New Roman" pitchFamily="18" charset="0"/>
              </a:rPr>
              <a:t>Maps with (country, currency) entries:</a:t>
            </a:r>
          </a:p>
        </p:txBody>
      </p:sp>
      <p:graphicFrame>
        <p:nvGraphicFramePr>
          <p:cNvPr id="384186" name="Group 186"/>
          <p:cNvGraphicFramePr>
            <a:graphicFrameLocks noGrp="1"/>
          </p:cNvGraphicFramePr>
          <p:nvPr/>
        </p:nvGraphicFramePr>
        <p:xfrm>
          <a:off x="2798763" y="3494088"/>
          <a:ext cx="1601787" cy="2598738"/>
        </p:xfrm>
        <a:graphic>
          <a:graphicData uri="http://schemas.openxmlformats.org/drawingml/2006/table">
            <a:tbl>
              <a:tblPr/>
              <a:tblGrid>
                <a:gridCol w="77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letter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4034" name="Rectangle 34"/>
          <p:cNvSpPr>
            <a:spLocks noChangeArrowheads="1"/>
          </p:cNvSpPr>
          <p:nvPr/>
        </p:nvSpPr>
        <p:spPr bwMode="auto">
          <a:xfrm>
            <a:off x="1579563" y="3494088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 i="1"/>
              <a:t>Roman</a:t>
            </a:r>
            <a:r>
              <a:rPr lang="en-GB" altLang="en-US" sz="2000"/>
              <a:t> =</a:t>
            </a:r>
          </a:p>
        </p:txBody>
      </p:sp>
      <p:sp>
        <p:nvSpPr>
          <p:cNvPr id="384065" name="Rectangle 65"/>
          <p:cNvSpPr>
            <a:spLocks noChangeArrowheads="1"/>
          </p:cNvSpPr>
          <p:nvPr/>
        </p:nvSpPr>
        <p:spPr bwMode="auto">
          <a:xfrm>
            <a:off x="5432425" y="5151438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 i="1"/>
              <a:t>NAFTA</a:t>
            </a:r>
            <a:r>
              <a:rPr lang="en-GB" altLang="en-US" sz="2000"/>
              <a:t> =</a:t>
            </a:r>
          </a:p>
        </p:txBody>
      </p:sp>
      <p:graphicFrame>
        <p:nvGraphicFramePr>
          <p:cNvPr id="384119" name="Group 119"/>
          <p:cNvGraphicFramePr>
            <a:graphicFrameLocks noGrp="1"/>
          </p:cNvGraphicFramePr>
          <p:nvPr/>
        </p:nvGraphicFramePr>
        <p:xfrm>
          <a:off x="6651625" y="5094288"/>
          <a:ext cx="2097088" cy="1287463"/>
        </p:xfrm>
        <a:graphic>
          <a:graphicData uri="http://schemas.openxmlformats.org/drawingml/2006/table">
            <a:tbl>
              <a:tblPr/>
              <a:tblGrid>
                <a:gridCol w="9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dollar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dollar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1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MX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peso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36699"/>
              </p:ext>
            </p:extLst>
          </p:nvPr>
        </p:nvGraphicFramePr>
        <p:xfrm>
          <a:off x="6651625" y="2708275"/>
          <a:ext cx="2097088" cy="1941468"/>
        </p:xfrm>
        <a:graphic>
          <a:graphicData uri="http://schemas.openxmlformats.org/drawingml/2006/table">
            <a:tbl>
              <a:tblPr/>
              <a:tblGrid>
                <a:gridCol w="944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country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currency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euro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euro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euro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DK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krone</a:t>
                      </a: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euro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00" name="Rectangle 64"/>
          <p:cNvSpPr>
            <a:spLocks noChangeArrowheads="1"/>
          </p:cNvSpPr>
          <p:nvPr/>
        </p:nvSpPr>
        <p:spPr bwMode="auto">
          <a:xfrm>
            <a:off x="5432425" y="2727325"/>
            <a:ext cx="1066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 i="1"/>
              <a:t>EU</a:t>
            </a:r>
            <a:r>
              <a:rPr lang="en-GB" altLang="en-US" sz="2000"/>
              <a:t> =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095625" y="2852738"/>
            <a:ext cx="2043113" cy="254000"/>
            <a:chOff x="3095625" y="2852337"/>
            <a:chExt cx="2042866" cy="254401"/>
          </a:xfrm>
          <a:noFill/>
        </p:grpSpPr>
        <p:sp>
          <p:nvSpPr>
            <p:cNvPr id="5201" name="AutoShape 187"/>
            <p:cNvSpPr>
              <a:spLocks/>
            </p:cNvSpPr>
            <p:nvPr/>
          </p:nvSpPr>
          <p:spPr bwMode="auto">
            <a:xfrm>
              <a:off x="3095625" y="2852337"/>
              <a:ext cx="863530" cy="252627"/>
            </a:xfrm>
            <a:prstGeom prst="callout1">
              <a:avLst>
                <a:gd name="adj1" fmla="val 101690"/>
                <a:gd name="adj2" fmla="val 47565"/>
                <a:gd name="adj3" fmla="val 236704"/>
                <a:gd name="adj4" fmla="val 22319"/>
              </a:avLst>
            </a:prstGeom>
            <a:grp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key field</a:t>
              </a:r>
            </a:p>
          </p:txBody>
        </p:sp>
        <p:sp>
          <p:nvSpPr>
            <p:cNvPr id="5202" name="AutoShape 188"/>
            <p:cNvSpPr>
              <a:spLocks/>
            </p:cNvSpPr>
            <p:nvPr/>
          </p:nvSpPr>
          <p:spPr bwMode="auto">
            <a:xfrm>
              <a:off x="4067015" y="2854111"/>
              <a:ext cx="1071476" cy="252627"/>
            </a:xfrm>
            <a:prstGeom prst="callout1">
              <a:avLst>
                <a:gd name="adj1" fmla="val 96991"/>
                <a:gd name="adj2" fmla="val 17273"/>
                <a:gd name="adj3" fmla="val 219699"/>
                <a:gd name="adj4" fmla="val -2556"/>
              </a:avLst>
            </a:prstGeom>
            <a:grp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chemeClr val="accent1">
                      <a:lumMod val="75000"/>
                    </a:schemeClr>
                  </a:solidFill>
                </a:rPr>
                <a:t>value field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8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/>
      <p:bldP spid="384034" grpId="0" autoUpdateAnimBg="0"/>
      <p:bldP spid="384065" grpId="0" autoUpdateAnimBg="0"/>
      <p:bldP spid="52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concepts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/>
              <a:t>size</a:t>
            </a:r>
            <a:r>
              <a:rPr lang="en-US" altLang="en-US" dirty="0"/>
              <a:t> (or </a:t>
            </a:r>
            <a:r>
              <a:rPr lang="en-US" altLang="en-US" b="1" dirty="0"/>
              <a:t>cardinality</a:t>
            </a:r>
            <a:r>
              <a:rPr lang="zh-TW" altLang="en-US" b="1" dirty="0"/>
              <a:t> </a:t>
            </a:r>
            <a:r>
              <a:rPr lang="zh-TW" altLang="en-US" dirty="0"/>
              <a:t>集合的大小</a:t>
            </a:r>
            <a:r>
              <a:rPr lang="en-US" altLang="en-US" dirty="0"/>
              <a:t>) of a map </a:t>
            </a:r>
            <a:r>
              <a:rPr lang="en-US" altLang="en-US" i="1" dirty="0"/>
              <a:t>m</a:t>
            </a:r>
            <a:r>
              <a:rPr lang="en-US" altLang="en-US" dirty="0"/>
              <a:t> is the number of entries in </a:t>
            </a:r>
            <a:r>
              <a:rPr lang="en-US" altLang="en-US" i="1" dirty="0"/>
              <a:t>m</a:t>
            </a:r>
            <a:r>
              <a:rPr lang="en-US" altLang="en-US" dirty="0"/>
              <a:t>. This is written #</a:t>
            </a:r>
            <a:r>
              <a:rPr lang="en-US" altLang="en-US" i="1" dirty="0"/>
              <a:t>m</a:t>
            </a:r>
            <a:r>
              <a:rPr lang="en-US" altLang="en-US" dirty="0"/>
              <a:t>. E.g.: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#</a:t>
            </a:r>
            <a:r>
              <a:rPr lang="en-US" altLang="en-US" i="1" dirty="0"/>
              <a:t>NAFTA</a:t>
            </a:r>
            <a:r>
              <a:rPr lang="en-US" altLang="en-US" dirty="0"/>
              <a:t>  =  3</a:t>
            </a:r>
          </a:p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empty</a:t>
            </a:r>
            <a:r>
              <a:rPr lang="en-US" altLang="en-US" dirty="0"/>
              <a:t> map has no entries.</a:t>
            </a:r>
          </a:p>
          <a:p>
            <a:pPr eaLnBrk="1" hangingPunct="1"/>
            <a:r>
              <a:rPr lang="en-US" altLang="en-US" dirty="0"/>
              <a:t>We can </a:t>
            </a:r>
            <a:r>
              <a:rPr lang="en-US" altLang="en-US" b="1" dirty="0"/>
              <a:t>lookup</a:t>
            </a:r>
            <a:r>
              <a:rPr lang="en-US" altLang="en-US" dirty="0"/>
              <a:t> a map for a given key, to obtain the corresponding value (if any). E.g.: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looking up </a:t>
            </a:r>
            <a:r>
              <a:rPr lang="en-US" altLang="en-US" i="1" dirty="0"/>
              <a:t>NAFTA</a:t>
            </a:r>
            <a:r>
              <a:rPr lang="en-US" altLang="en-US" dirty="0"/>
              <a:t> for US gives “dollar”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looking up </a:t>
            </a:r>
            <a:r>
              <a:rPr lang="en-US" altLang="en-US" i="1" dirty="0"/>
              <a:t>NAFTA</a:t>
            </a:r>
            <a:r>
              <a:rPr lang="en-US" altLang="en-US" dirty="0"/>
              <a:t> for UK gives nothing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8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concepts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We can </a:t>
            </a:r>
            <a:r>
              <a:rPr lang="en-US" altLang="en-US" b="1">
                <a:cs typeface="Times New Roman" pitchFamily="18" charset="0"/>
              </a:rPr>
              <a:t>overlay</a:t>
            </a:r>
            <a:r>
              <a:rPr lang="en-US" altLang="en-US">
                <a:cs typeface="Times New Roman" pitchFamily="18" charset="0"/>
              </a:rPr>
              <a:t> map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 sz="1800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 by map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 sz="1800" baseline="-25000">
                <a:cs typeface="Times New Roman" pitchFamily="18" charset="0"/>
              </a:rPr>
              <a:t>2</a:t>
            </a:r>
            <a:r>
              <a:rPr lang="en-US" altLang="en-US">
                <a:cs typeface="Times New Roman" pitchFamily="18" charset="0"/>
              </a:rPr>
              <a:t>. The result contains all entries from both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 sz="1800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 and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 sz="1800" baseline="-25000">
                <a:cs typeface="Times New Roman" pitchFamily="18" charset="0"/>
              </a:rPr>
              <a:t>2</a:t>
            </a:r>
            <a:r>
              <a:rPr lang="en-US" altLang="en-US">
                <a:cs typeface="Times New Roman" pitchFamily="18" charset="0"/>
              </a:rPr>
              <a:t>, except that where both maps contain entries with the same key, the result contains the entry from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 sz="1800" baseline="-25000">
                <a:cs typeface="Times New Roman" pitchFamily="18" charset="0"/>
              </a:rPr>
              <a:t>2</a:t>
            </a:r>
            <a:r>
              <a:rPr lang="en-US" altLang="en-US">
                <a:cs typeface="Times New Roman" pitchFamily="18" charset="0"/>
              </a:rPr>
              <a:t> only. E.g.:</a:t>
            </a:r>
          </a:p>
        </p:txBody>
      </p:sp>
      <p:sp>
        <p:nvSpPr>
          <p:cNvPr id="386086" name="Rectangle 38"/>
          <p:cNvSpPr>
            <a:spLocks noChangeArrowheads="1"/>
          </p:cNvSpPr>
          <p:nvPr/>
        </p:nvSpPr>
        <p:spPr bwMode="auto">
          <a:xfrm>
            <a:off x="2011363" y="375285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 i="1"/>
              <a:t>count1</a:t>
            </a:r>
            <a:r>
              <a:rPr lang="en-GB" altLang="en-US" sz="2000"/>
              <a:t> =</a:t>
            </a:r>
          </a:p>
        </p:txBody>
      </p:sp>
      <p:sp>
        <p:nvSpPr>
          <p:cNvPr id="386087" name="Rectangle 39"/>
          <p:cNvSpPr>
            <a:spLocks noChangeArrowheads="1"/>
          </p:cNvSpPr>
          <p:nvPr/>
        </p:nvSpPr>
        <p:spPr bwMode="auto">
          <a:xfrm>
            <a:off x="2011363" y="532765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 i="1"/>
              <a:t>count2</a:t>
            </a:r>
            <a:r>
              <a:rPr lang="en-GB" altLang="en-US" sz="2000"/>
              <a:t> =</a:t>
            </a:r>
          </a:p>
        </p:txBody>
      </p:sp>
      <p:sp>
        <p:nvSpPr>
          <p:cNvPr id="386088" name="Rectangle 40"/>
          <p:cNvSpPr>
            <a:spLocks noChangeArrowheads="1"/>
          </p:cNvSpPr>
          <p:nvPr/>
        </p:nvSpPr>
        <p:spPr bwMode="auto">
          <a:xfrm>
            <a:off x="6300788" y="4041775"/>
            <a:ext cx="23209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2000"/>
              <a:t>Result of overlaying </a:t>
            </a:r>
            <a:r>
              <a:rPr lang="en-GB" altLang="en-US" sz="2000" i="1"/>
              <a:t>count1</a:t>
            </a:r>
            <a:r>
              <a:rPr lang="en-GB" altLang="en-US" sz="2000"/>
              <a:t> by </a:t>
            </a:r>
            <a:r>
              <a:rPr lang="en-GB" altLang="en-US" sz="2000" i="1"/>
              <a:t>count2</a:t>
            </a:r>
            <a:r>
              <a:rPr lang="en-GB" altLang="en-US" sz="2000"/>
              <a:t> =</a:t>
            </a:r>
          </a:p>
        </p:txBody>
      </p:sp>
      <p:graphicFrame>
        <p:nvGraphicFramePr>
          <p:cNvPr id="386128" name="Group 80"/>
          <p:cNvGraphicFramePr>
            <a:graphicFrameLocks noGrp="1"/>
          </p:cNvGraphicFramePr>
          <p:nvPr/>
        </p:nvGraphicFramePr>
        <p:xfrm>
          <a:off x="3149600" y="3752850"/>
          <a:ext cx="2286000" cy="1289197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winner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 York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Gore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Texas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1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Florida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Gore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6146" name="Group 98"/>
          <p:cNvGraphicFramePr>
            <a:graphicFrameLocks noGrp="1"/>
          </p:cNvGraphicFramePr>
          <p:nvPr/>
        </p:nvGraphicFramePr>
        <p:xfrm>
          <a:off x="3132138" y="5272088"/>
          <a:ext cx="2286000" cy="96812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winner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Ohio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Florida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6168" name="Group 120"/>
          <p:cNvGraphicFramePr>
            <a:graphicFrameLocks noGrp="1"/>
          </p:cNvGraphicFramePr>
          <p:nvPr/>
        </p:nvGraphicFramePr>
        <p:xfrm>
          <a:off x="6372225" y="4665663"/>
          <a:ext cx="2286000" cy="160929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winner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 York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Gore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Texas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Ohio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8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Florida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Bush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5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86" grpId="0" autoUpdateAnimBg="0"/>
      <p:bldP spid="386087" grpId="0" autoUpdateAnimBg="0"/>
      <p:bldP spid="38608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applications </a:t>
            </a:r>
            <a:r>
              <a:rPr lang="en-US" altLang="en-US" i="1"/>
              <a:t>(1)</a:t>
            </a:r>
            <a:endParaRPr lang="en-GB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Relational database (RDB):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RDB table is a collection of tuples, in no particular order.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If an RDB table has a key field, all tuples must have distinct keys. So an RDB relation with a key field is in fact a map.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0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applications </a:t>
            </a:r>
            <a:r>
              <a:rPr lang="en-US" altLang="en-US" i="1"/>
              <a:t>(2)</a:t>
            </a:r>
            <a:endParaRPr lang="en-GB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Phone book: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entry consists of a name, address, and phone number.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Several entries may share the same name or the same address, but each entry must have a unique name-and-address combination.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entries could be in any order. (They are typically sorted by name and address, to make lookup fast, but that is not essential.)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Thus, a phone book is a map in which the key field is the name-and-address combination.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0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ADT: requirements</a:t>
            </a:r>
            <a:endParaRPr lang="en-GB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Times New Roman" pitchFamily="18" charset="0"/>
              </a:rPr>
              <a:t>R</a:t>
            </a:r>
            <a:r>
              <a:rPr lang="en-US" altLang="en-US" sz="2000" dirty="0"/>
              <a:t>equirements: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make a map empty.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test whether a map is empty.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test whether a map contains an entry with a given key.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look up the value corresponding to a given key in a map.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add a new entry to a map or to replace an existing entry.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remove an entry from a map, given its key.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test whether two maps are equal.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compute the overlay of two maps.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traverse a map.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ADT: contract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for homogeneous maps: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Map&lt;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cs typeface="Times New Roman" pitchFamily="18" charset="0"/>
              </a:rPr>
              <a:t>Each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Map&lt;K,V&gt;</a:t>
            </a:r>
            <a:r>
              <a:rPr lang="en-US" altLang="en-US" sz="2000" dirty="0">
                <a:cs typeface="Times New Roman" pitchFamily="18" charset="0"/>
              </a:rPr>
              <a:t> object is a homogeneous map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whose keys and values are of types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cs typeface="Times New Roman" pitchFamily="18" charset="0"/>
              </a:rPr>
              <a:t> and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cs typeface="Times New Roman" pitchFamily="18" charset="0"/>
              </a:rPr>
              <a:t>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respectively.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 err="1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map is 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size of this map.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5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ADT: contract </a:t>
            </a:r>
            <a:r>
              <a:rPr lang="en-US" altLang="en-US" i="1"/>
              <a:t>(2)</a:t>
            </a:r>
            <a:endParaRPr lang="en-GB" altLang="en-US" i="1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get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key);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value in the entry with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key</a:t>
            </a:r>
            <a:r>
              <a:rPr lang="en-US" altLang="en-US" sz="2000" dirty="0">
                <a:cs typeface="Times New Roman" pitchFamily="18" charset="0"/>
              </a:rPr>
              <a:t> in this map,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or null if there is no such entry.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equals (Map&lt;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this map is equal to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Set&lt;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keySet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set of all keys in this map.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map empty.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 ADT: contract </a:t>
            </a:r>
            <a:r>
              <a:rPr lang="en-US" altLang="en-US" i="1"/>
              <a:t>(3)</a:t>
            </a:r>
            <a:endParaRPr lang="en-GB" altLang="en-US" i="1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remove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key);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Remove the entry with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key</a:t>
            </a:r>
            <a:r>
              <a:rPr lang="en-US" altLang="en-US" sz="2000" dirty="0">
                <a:cs typeface="Times New Roman" pitchFamily="18" charset="0"/>
              </a:rPr>
              <a:t> (if any) from this map.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value in that entry, or null if there was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no such entry.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put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key,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val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Add the entry (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key</a:t>
            </a:r>
            <a:r>
              <a:rPr lang="en-US" altLang="en-US" sz="2000" dirty="0">
                <a:cs typeface="Times New Roman" pitchFamily="18" charset="0"/>
              </a:rPr>
              <a:t>,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val</a:t>
            </a:r>
            <a:r>
              <a:rPr lang="en-US" altLang="en-US" sz="2000" dirty="0">
                <a:cs typeface="Times New Roman" pitchFamily="18" charset="0"/>
              </a:rPr>
              <a:t>) to this map, replacing any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existing entry whose key is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key</a:t>
            </a:r>
            <a:r>
              <a:rPr lang="en-US" altLang="en-US" sz="2000" dirty="0">
                <a:cs typeface="Times New Roman" pitchFamily="18" charset="0"/>
              </a:rPr>
              <a:t>. Return the value in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that entry, or null if there was no such entry.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putAll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(Map&lt;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K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V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Overlay this map with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cs typeface="Times New Roman" pitchFamily="18" charset="0"/>
              </a:rPr>
              <a:t>, i.e., add all entries of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that</a:t>
            </a:r>
            <a:r>
              <a:rPr lang="en-US" altLang="en-US" sz="2000" dirty="0">
                <a:cs typeface="Times New Roman" pitchFamily="18" charset="0"/>
              </a:rPr>
              <a:t> to this map, replacing any existing entries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with the same keys.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6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small-integer-key maps using key-indexed arrays </a:t>
            </a:r>
            <a:r>
              <a:rPr lang="en-US" altLang="en-US" sz="2000" i="1"/>
              <a:t>(1)</a:t>
            </a:r>
            <a:endParaRPr lang="en-GB" altLang="en-US" sz="2000" i="1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If the keys are known to be small </a:t>
            </a:r>
            <a:r>
              <a:rPr lang="en-US" altLang="en-US" b="1">
                <a:cs typeface="Times New Roman" pitchFamily="18" charset="0"/>
              </a:rPr>
              <a:t>integers</a:t>
            </a:r>
            <a:r>
              <a:rPr lang="en-US" altLang="en-US">
                <a:cs typeface="Times New Roman" pitchFamily="18" charset="0"/>
              </a:rPr>
              <a:t>, in the range 0…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>
                <a:cs typeface="Times New Roman" pitchFamily="18" charset="0"/>
              </a:rPr>
              <a:t>–1, represent the map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array </a:t>
            </a:r>
            <a:r>
              <a:rPr lang="en-US" altLang="en-US" i="1">
                <a:cs typeface="Times New Roman" pitchFamily="18" charset="0"/>
              </a:rPr>
              <a:t>vals</a:t>
            </a:r>
            <a:r>
              <a:rPr lang="en-US" altLang="en-US">
                <a:cs typeface="Times New Roman" pitchFamily="18" charset="0"/>
              </a:rPr>
              <a:t> of length </a:t>
            </a:r>
            <a:r>
              <a:rPr lang="en-US" altLang="en-US" i="1">
                <a:cs typeface="Times New Roman" pitchFamily="18" charset="0"/>
              </a:rPr>
              <a:t>m</a:t>
            </a:r>
            <a:r>
              <a:rPr lang="en-US" altLang="en-US">
                <a:cs typeface="Times New Roman" pitchFamily="18" charset="0"/>
              </a:rPr>
              <a:t>, such that </a:t>
            </a:r>
            <a:r>
              <a:rPr lang="en-US" altLang="en-US" i="1">
                <a:cs typeface="Times New Roman" pitchFamily="18" charset="0"/>
              </a:rPr>
              <a:t>vals</a:t>
            </a:r>
            <a:r>
              <a:rPr lang="en-US" altLang="en-US">
                <a:cs typeface="Times New Roman" pitchFamily="18" charset="0"/>
              </a:rPr>
              <a:t>[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] contains a value </a:t>
            </a:r>
            <a:r>
              <a:rPr lang="en-US" altLang="en-US" i="1">
                <a:cs typeface="Times New Roman" pitchFamily="18" charset="0"/>
              </a:rPr>
              <a:t>v</a:t>
            </a:r>
            <a:r>
              <a:rPr lang="en-US" altLang="en-US">
                <a:cs typeface="Times New Roman" pitchFamily="18" charset="0"/>
              </a:rPr>
              <a:t> if and only if (</a:t>
            </a:r>
            <a:r>
              <a:rPr lang="en-US" altLang="en-US" i="1">
                <a:cs typeface="Times New Roman" pitchFamily="18" charset="0"/>
              </a:rPr>
              <a:t>k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 i="1">
                <a:cs typeface="Times New Roman" pitchFamily="18" charset="0"/>
              </a:rPr>
              <a:t>v</a:t>
            </a:r>
            <a:r>
              <a:rPr lang="en-US" altLang="en-US">
                <a:cs typeface="Times New Roman" pitchFamily="18" charset="0"/>
              </a:rPr>
              <a:t>) is a entry of the map.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089150" y="3438525"/>
            <a:ext cx="5146675" cy="628650"/>
            <a:chOff x="1316" y="2166"/>
            <a:chExt cx="3242" cy="396"/>
          </a:xfrm>
        </p:grpSpPr>
        <p:sp>
          <p:nvSpPr>
            <p:cNvPr id="14353" name="Rectangle 5"/>
            <p:cNvSpPr>
              <a:spLocks noChangeArrowheads="1"/>
            </p:cNvSpPr>
            <p:nvPr/>
          </p:nvSpPr>
          <p:spPr bwMode="auto">
            <a:xfrm>
              <a:off x="2158" y="2166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4354" name="Rectangle 6"/>
            <p:cNvSpPr>
              <a:spLocks noChangeArrowheads="1"/>
            </p:cNvSpPr>
            <p:nvPr/>
          </p:nvSpPr>
          <p:spPr bwMode="auto">
            <a:xfrm>
              <a:off x="2638" y="2166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4355" name="Rectangle 7"/>
            <p:cNvSpPr>
              <a:spLocks noChangeArrowheads="1"/>
            </p:cNvSpPr>
            <p:nvPr/>
          </p:nvSpPr>
          <p:spPr bwMode="auto">
            <a:xfrm>
              <a:off x="4078" y="2166"/>
              <a:ext cx="4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m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4356" name="Rectangle 8"/>
            <p:cNvSpPr>
              <a:spLocks noChangeArrowheads="1"/>
            </p:cNvSpPr>
            <p:nvPr/>
          </p:nvSpPr>
          <p:spPr bwMode="auto">
            <a:xfrm>
              <a:off x="1316" y="2323"/>
              <a:ext cx="7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14357" name="Rectangle 9"/>
            <p:cNvSpPr>
              <a:spLocks noChangeArrowheads="1"/>
            </p:cNvSpPr>
            <p:nvPr/>
          </p:nvSpPr>
          <p:spPr bwMode="auto">
            <a:xfrm>
              <a:off x="2638" y="23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value?</a:t>
              </a:r>
            </a:p>
          </p:txBody>
        </p:sp>
        <p:sp>
          <p:nvSpPr>
            <p:cNvPr id="14358" name="Rectangle 10"/>
            <p:cNvSpPr>
              <a:spLocks noChangeArrowheads="1"/>
            </p:cNvSpPr>
            <p:nvPr/>
          </p:nvSpPr>
          <p:spPr bwMode="auto">
            <a:xfrm>
              <a:off x="2158" y="23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value?</a:t>
              </a:r>
            </a:p>
          </p:txBody>
        </p:sp>
        <p:sp>
          <p:nvSpPr>
            <p:cNvPr id="14359" name="Rectangle 11"/>
            <p:cNvSpPr>
              <a:spLocks noChangeArrowheads="1"/>
            </p:cNvSpPr>
            <p:nvPr/>
          </p:nvSpPr>
          <p:spPr bwMode="auto">
            <a:xfrm>
              <a:off x="4078" y="23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value?</a:t>
              </a:r>
            </a:p>
          </p:txBody>
        </p:sp>
        <p:sp>
          <p:nvSpPr>
            <p:cNvPr id="14360" name="Rectangle 12"/>
            <p:cNvSpPr>
              <a:spLocks noChangeArrowheads="1"/>
            </p:cNvSpPr>
            <p:nvPr/>
          </p:nvSpPr>
          <p:spPr bwMode="auto">
            <a:xfrm>
              <a:off x="3598" y="23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4361" name="Freeform 13"/>
            <p:cNvSpPr>
              <a:spLocks/>
            </p:cNvSpPr>
            <p:nvPr/>
          </p:nvSpPr>
          <p:spPr bwMode="auto">
            <a:xfrm>
              <a:off x="3742" y="2226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62" name="Rectangle 14"/>
            <p:cNvSpPr>
              <a:spLocks noChangeArrowheads="1"/>
            </p:cNvSpPr>
            <p:nvPr/>
          </p:nvSpPr>
          <p:spPr bwMode="auto">
            <a:xfrm>
              <a:off x="3118" y="2166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4363" name="Rectangle 15"/>
            <p:cNvSpPr>
              <a:spLocks noChangeArrowheads="1"/>
            </p:cNvSpPr>
            <p:nvPr/>
          </p:nvSpPr>
          <p:spPr bwMode="auto">
            <a:xfrm>
              <a:off x="3118" y="23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value?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089150" y="4276725"/>
            <a:ext cx="5146675" cy="628650"/>
            <a:chOff x="1316" y="2694"/>
            <a:chExt cx="3242" cy="396"/>
          </a:xfrm>
        </p:grpSpPr>
        <p:sp>
          <p:nvSpPr>
            <p:cNvPr id="14342" name="Rectangle 17"/>
            <p:cNvSpPr>
              <a:spLocks noChangeArrowheads="1"/>
            </p:cNvSpPr>
            <p:nvPr/>
          </p:nvSpPr>
          <p:spPr bwMode="auto">
            <a:xfrm>
              <a:off x="1316" y="2855"/>
              <a:ext cx="7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map:</a:t>
              </a:r>
              <a:endParaRPr lang="en-US" altLang="en-US" sz="1800"/>
            </a:p>
          </p:txBody>
        </p:sp>
        <p:sp>
          <p:nvSpPr>
            <p:cNvPr id="14343" name="Rectangle 18"/>
            <p:cNvSpPr>
              <a:spLocks noChangeArrowheads="1"/>
            </p:cNvSpPr>
            <p:nvPr/>
          </p:nvSpPr>
          <p:spPr bwMode="auto">
            <a:xfrm>
              <a:off x="2158" y="2694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4344" name="Rectangle 19"/>
            <p:cNvSpPr>
              <a:spLocks noChangeArrowheads="1"/>
            </p:cNvSpPr>
            <p:nvPr/>
          </p:nvSpPr>
          <p:spPr bwMode="auto">
            <a:xfrm>
              <a:off x="2638" y="2694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4345" name="Rectangle 20"/>
            <p:cNvSpPr>
              <a:spLocks noChangeArrowheads="1"/>
            </p:cNvSpPr>
            <p:nvPr/>
          </p:nvSpPr>
          <p:spPr bwMode="auto">
            <a:xfrm>
              <a:off x="4078" y="2694"/>
              <a:ext cx="46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m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4346" name="Rectangle 21"/>
            <p:cNvSpPr>
              <a:spLocks noChangeArrowheads="1"/>
            </p:cNvSpPr>
            <p:nvPr/>
          </p:nvSpPr>
          <p:spPr bwMode="auto">
            <a:xfrm>
              <a:off x="2638" y="2844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4347" name="Rectangle 22"/>
            <p:cNvSpPr>
              <a:spLocks noChangeArrowheads="1"/>
            </p:cNvSpPr>
            <p:nvPr/>
          </p:nvSpPr>
          <p:spPr bwMode="auto">
            <a:xfrm>
              <a:off x="2158" y="2844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4348" name="Rectangle 23"/>
            <p:cNvSpPr>
              <a:spLocks noChangeArrowheads="1"/>
            </p:cNvSpPr>
            <p:nvPr/>
          </p:nvSpPr>
          <p:spPr bwMode="auto">
            <a:xfrm>
              <a:off x="4078" y="2844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14349" name="Rectangle 24"/>
            <p:cNvSpPr>
              <a:spLocks noChangeArrowheads="1"/>
            </p:cNvSpPr>
            <p:nvPr/>
          </p:nvSpPr>
          <p:spPr bwMode="auto">
            <a:xfrm>
              <a:off x="3598" y="2844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4350" name="Freeform 25"/>
            <p:cNvSpPr>
              <a:spLocks/>
            </p:cNvSpPr>
            <p:nvPr/>
          </p:nvSpPr>
          <p:spPr bwMode="auto">
            <a:xfrm>
              <a:off x="3742" y="2754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1" name="Rectangle 26"/>
            <p:cNvSpPr>
              <a:spLocks noChangeArrowheads="1"/>
            </p:cNvSpPr>
            <p:nvPr/>
          </p:nvSpPr>
          <p:spPr bwMode="auto">
            <a:xfrm>
              <a:off x="3118" y="2694"/>
              <a:ext cx="4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4352" name="Rectangle 27"/>
            <p:cNvSpPr>
              <a:spLocks noChangeArrowheads="1"/>
            </p:cNvSpPr>
            <p:nvPr/>
          </p:nvSpPr>
          <p:spPr bwMode="auto">
            <a:xfrm>
              <a:off x="3118" y="2844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4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small-integer-key maps using key-indexed arrays </a:t>
            </a:r>
            <a:r>
              <a:rPr lang="en-US" altLang="en-US" sz="2000" i="1"/>
              <a:t>(2)</a:t>
            </a:r>
            <a:endParaRPr lang="en-GB" altLang="en-US" sz="2000" i="1"/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2020888" y="1844675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Illustration (</a:t>
            </a:r>
            <a:r>
              <a:rPr lang="en-US" altLang="en-US" sz="1800" i="1">
                <a:solidFill>
                  <a:srgbClr val="000000"/>
                </a:solidFill>
              </a:rPr>
              <a:t>m</a:t>
            </a:r>
            <a:r>
              <a:rPr lang="en-US" altLang="en-US" sz="1800">
                <a:solidFill>
                  <a:srgbClr val="000000"/>
                </a:solidFill>
              </a:rPr>
              <a:t> = 20):</a:t>
            </a:r>
            <a:endParaRPr lang="en-US" altLang="en-US" sz="1800"/>
          </a:p>
        </p:txBody>
      </p:sp>
      <p:graphicFrame>
        <p:nvGraphicFramePr>
          <p:cNvPr id="410730" name="Group 106"/>
          <p:cNvGraphicFramePr>
            <a:graphicFrameLocks noGrp="1"/>
          </p:cNvGraphicFramePr>
          <p:nvPr/>
        </p:nvGraphicFramePr>
        <p:xfrm>
          <a:off x="3513138" y="1920875"/>
          <a:ext cx="1828800" cy="259238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module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CS2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DB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OOP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ADS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OS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1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HCI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1000125" y="4741863"/>
            <a:ext cx="8001000" cy="984250"/>
            <a:chOff x="630" y="2987"/>
            <a:chExt cx="5040" cy="620"/>
          </a:xfrm>
        </p:grpSpPr>
        <p:grpSp>
          <p:nvGrpSpPr>
            <p:cNvPr id="15394" name="Group 68"/>
            <p:cNvGrpSpPr>
              <a:grpSpLocks/>
            </p:cNvGrpSpPr>
            <p:nvPr/>
          </p:nvGrpSpPr>
          <p:grpSpPr bwMode="auto">
            <a:xfrm>
              <a:off x="630" y="3211"/>
              <a:ext cx="5040" cy="396"/>
              <a:chOff x="630" y="3510"/>
              <a:chExt cx="5040" cy="396"/>
            </a:xfrm>
          </p:grpSpPr>
          <p:sp>
            <p:nvSpPr>
              <p:cNvPr id="15396" name="Rectangle 7"/>
              <p:cNvSpPr>
                <a:spLocks noChangeArrowheads="1"/>
              </p:cNvSpPr>
              <p:nvPr/>
            </p:nvSpPr>
            <p:spPr bwMode="auto">
              <a:xfrm>
                <a:off x="966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CS1</a:t>
                </a:r>
                <a:endParaRPr lang="en-GB" altLang="en-US" sz="1800"/>
              </a:p>
            </p:txBody>
          </p:sp>
          <p:sp>
            <p:nvSpPr>
              <p:cNvPr id="15397" name="Rectangle 8"/>
              <p:cNvSpPr>
                <a:spLocks noChangeArrowheads="1"/>
              </p:cNvSpPr>
              <p:nvPr/>
            </p:nvSpPr>
            <p:spPr bwMode="auto">
              <a:xfrm>
                <a:off x="1302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CS2</a:t>
                </a:r>
              </a:p>
            </p:txBody>
          </p:sp>
          <p:sp>
            <p:nvSpPr>
              <p:cNvPr id="15398" name="Rectangle 9"/>
              <p:cNvSpPr>
                <a:spLocks noChangeArrowheads="1"/>
              </p:cNvSpPr>
              <p:nvPr/>
            </p:nvSpPr>
            <p:spPr bwMode="auto">
              <a:xfrm>
                <a:off x="1638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399" name="Rectangle 10"/>
              <p:cNvSpPr>
                <a:spLocks noChangeArrowheads="1"/>
              </p:cNvSpPr>
              <p:nvPr/>
            </p:nvSpPr>
            <p:spPr bwMode="auto">
              <a:xfrm>
                <a:off x="630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00" name="Rectangle 11"/>
              <p:cNvSpPr>
                <a:spLocks noChangeArrowheads="1"/>
              </p:cNvSpPr>
              <p:nvPr/>
            </p:nvSpPr>
            <p:spPr bwMode="auto">
              <a:xfrm>
                <a:off x="630" y="3510"/>
                <a:ext cx="350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0</a:t>
                </a:r>
              </a:p>
            </p:txBody>
          </p:sp>
          <p:sp>
            <p:nvSpPr>
              <p:cNvPr id="15401" name="Rectangle 12"/>
              <p:cNvSpPr>
                <a:spLocks noChangeArrowheads="1"/>
              </p:cNvSpPr>
              <p:nvPr/>
            </p:nvSpPr>
            <p:spPr bwMode="auto">
              <a:xfrm>
                <a:off x="966" y="3510"/>
                <a:ext cx="350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</a:t>
                </a:r>
              </a:p>
            </p:txBody>
          </p:sp>
          <p:sp>
            <p:nvSpPr>
              <p:cNvPr id="15402" name="Rectangle 13"/>
              <p:cNvSpPr>
                <a:spLocks noChangeArrowheads="1"/>
              </p:cNvSpPr>
              <p:nvPr/>
            </p:nvSpPr>
            <p:spPr bwMode="auto">
              <a:xfrm>
                <a:off x="1302" y="3510"/>
                <a:ext cx="350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2</a:t>
                </a:r>
              </a:p>
            </p:txBody>
          </p:sp>
          <p:sp>
            <p:nvSpPr>
              <p:cNvPr id="15403" name="Rectangle 14"/>
              <p:cNvSpPr>
                <a:spLocks noChangeArrowheads="1"/>
              </p:cNvSpPr>
              <p:nvPr/>
            </p:nvSpPr>
            <p:spPr bwMode="auto">
              <a:xfrm>
                <a:off x="1638" y="3516"/>
                <a:ext cx="350" cy="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3</a:t>
                </a:r>
              </a:p>
            </p:txBody>
          </p:sp>
          <p:sp>
            <p:nvSpPr>
              <p:cNvPr id="15404" name="Rectangle 15"/>
              <p:cNvSpPr>
                <a:spLocks noChangeArrowheads="1"/>
              </p:cNvSpPr>
              <p:nvPr/>
            </p:nvSpPr>
            <p:spPr bwMode="auto">
              <a:xfrm>
                <a:off x="2646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OOP</a:t>
                </a:r>
              </a:p>
            </p:txBody>
          </p:sp>
          <p:sp>
            <p:nvSpPr>
              <p:cNvPr id="15405" name="Rectangle 16"/>
              <p:cNvSpPr>
                <a:spLocks noChangeArrowheads="1"/>
              </p:cNvSpPr>
              <p:nvPr/>
            </p:nvSpPr>
            <p:spPr bwMode="auto">
              <a:xfrm>
                <a:off x="2982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ADS</a:t>
                </a:r>
              </a:p>
            </p:txBody>
          </p:sp>
          <p:sp>
            <p:nvSpPr>
              <p:cNvPr id="15406" name="Rectangle 17"/>
              <p:cNvSpPr>
                <a:spLocks noChangeArrowheads="1"/>
              </p:cNvSpPr>
              <p:nvPr/>
            </p:nvSpPr>
            <p:spPr bwMode="auto">
              <a:xfrm>
                <a:off x="3318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07" name="Rectangle 18"/>
              <p:cNvSpPr>
                <a:spLocks noChangeArrowheads="1"/>
              </p:cNvSpPr>
              <p:nvPr/>
            </p:nvSpPr>
            <p:spPr bwMode="auto">
              <a:xfrm>
                <a:off x="3654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1800"/>
                  <a:t>OS</a:t>
                </a:r>
              </a:p>
            </p:txBody>
          </p:sp>
          <p:sp>
            <p:nvSpPr>
              <p:cNvPr id="15408" name="Rectangle 19"/>
              <p:cNvSpPr>
                <a:spLocks noChangeArrowheads="1"/>
              </p:cNvSpPr>
              <p:nvPr/>
            </p:nvSpPr>
            <p:spPr bwMode="auto">
              <a:xfrm>
                <a:off x="2310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DB</a:t>
                </a:r>
              </a:p>
            </p:txBody>
          </p:sp>
          <p:sp>
            <p:nvSpPr>
              <p:cNvPr id="15409" name="Rectangle 20"/>
              <p:cNvSpPr>
                <a:spLocks noChangeArrowheads="1"/>
              </p:cNvSpPr>
              <p:nvPr/>
            </p:nvSpPr>
            <p:spPr bwMode="auto">
              <a:xfrm>
                <a:off x="2310" y="3510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10</a:t>
                </a:r>
              </a:p>
            </p:txBody>
          </p:sp>
          <p:sp>
            <p:nvSpPr>
              <p:cNvPr id="15410" name="Rectangle 21"/>
              <p:cNvSpPr>
                <a:spLocks noChangeArrowheads="1"/>
              </p:cNvSpPr>
              <p:nvPr/>
            </p:nvSpPr>
            <p:spPr bwMode="auto">
              <a:xfrm>
                <a:off x="2646" y="3510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11</a:t>
                </a:r>
              </a:p>
            </p:txBody>
          </p:sp>
          <p:sp>
            <p:nvSpPr>
              <p:cNvPr id="15411" name="Rectangle 22"/>
              <p:cNvSpPr>
                <a:spLocks noChangeArrowheads="1"/>
              </p:cNvSpPr>
              <p:nvPr/>
            </p:nvSpPr>
            <p:spPr bwMode="auto">
              <a:xfrm>
                <a:off x="2982" y="3510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12</a:t>
                </a:r>
              </a:p>
            </p:txBody>
          </p:sp>
          <p:sp>
            <p:nvSpPr>
              <p:cNvPr id="15412" name="Rectangle 23"/>
              <p:cNvSpPr>
                <a:spLocks noChangeArrowheads="1"/>
              </p:cNvSpPr>
              <p:nvPr/>
            </p:nvSpPr>
            <p:spPr bwMode="auto">
              <a:xfrm>
                <a:off x="3654" y="3516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14</a:t>
                </a:r>
              </a:p>
            </p:txBody>
          </p:sp>
          <p:sp>
            <p:nvSpPr>
              <p:cNvPr id="15413" name="Rectangle 24"/>
              <p:cNvSpPr>
                <a:spLocks noChangeArrowheads="1"/>
              </p:cNvSpPr>
              <p:nvPr/>
            </p:nvSpPr>
            <p:spPr bwMode="auto">
              <a:xfrm>
                <a:off x="3990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14" name="Rectangle 25"/>
              <p:cNvSpPr>
                <a:spLocks noChangeArrowheads="1"/>
              </p:cNvSpPr>
              <p:nvPr/>
            </p:nvSpPr>
            <p:spPr bwMode="auto">
              <a:xfrm>
                <a:off x="3990" y="3510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15</a:t>
                </a:r>
              </a:p>
            </p:txBody>
          </p:sp>
          <p:sp>
            <p:nvSpPr>
              <p:cNvPr id="15415" name="Rectangle 26"/>
              <p:cNvSpPr>
                <a:spLocks noChangeArrowheads="1"/>
              </p:cNvSpPr>
              <p:nvPr/>
            </p:nvSpPr>
            <p:spPr bwMode="auto">
              <a:xfrm>
                <a:off x="3318" y="3516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13</a:t>
                </a:r>
              </a:p>
            </p:txBody>
          </p:sp>
          <p:sp>
            <p:nvSpPr>
              <p:cNvPr id="15416" name="Rectangle 27"/>
              <p:cNvSpPr>
                <a:spLocks noChangeArrowheads="1"/>
              </p:cNvSpPr>
              <p:nvPr/>
            </p:nvSpPr>
            <p:spPr bwMode="auto">
              <a:xfrm>
                <a:off x="4326" y="3660"/>
                <a:ext cx="336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1800"/>
                  <a:t>HCI</a:t>
                </a:r>
              </a:p>
            </p:txBody>
          </p:sp>
          <p:sp>
            <p:nvSpPr>
              <p:cNvPr id="15417" name="Rectangle 28"/>
              <p:cNvSpPr>
                <a:spLocks noChangeArrowheads="1"/>
              </p:cNvSpPr>
              <p:nvPr/>
            </p:nvSpPr>
            <p:spPr bwMode="auto">
              <a:xfrm>
                <a:off x="4326" y="3516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16</a:t>
                </a:r>
              </a:p>
            </p:txBody>
          </p:sp>
          <p:sp>
            <p:nvSpPr>
              <p:cNvPr id="15418" name="Rectangle 29"/>
              <p:cNvSpPr>
                <a:spLocks noChangeArrowheads="1"/>
              </p:cNvSpPr>
              <p:nvPr/>
            </p:nvSpPr>
            <p:spPr bwMode="auto">
              <a:xfrm>
                <a:off x="4662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19" name="Rectangle 30"/>
              <p:cNvSpPr>
                <a:spLocks noChangeArrowheads="1"/>
              </p:cNvSpPr>
              <p:nvPr/>
            </p:nvSpPr>
            <p:spPr bwMode="auto">
              <a:xfrm>
                <a:off x="4662" y="3522"/>
                <a:ext cx="35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17</a:t>
                </a:r>
              </a:p>
            </p:txBody>
          </p:sp>
          <p:sp>
            <p:nvSpPr>
              <p:cNvPr id="15420" name="Rectangle 31"/>
              <p:cNvSpPr>
                <a:spLocks noChangeArrowheads="1"/>
              </p:cNvSpPr>
              <p:nvPr/>
            </p:nvSpPr>
            <p:spPr bwMode="auto">
              <a:xfrm>
                <a:off x="4998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21" name="Rectangle 32"/>
              <p:cNvSpPr>
                <a:spLocks noChangeArrowheads="1"/>
              </p:cNvSpPr>
              <p:nvPr/>
            </p:nvSpPr>
            <p:spPr bwMode="auto">
              <a:xfrm>
                <a:off x="4998" y="3516"/>
                <a:ext cx="268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18</a:t>
                </a:r>
              </a:p>
            </p:txBody>
          </p:sp>
          <p:sp>
            <p:nvSpPr>
              <p:cNvPr id="15422" name="Rectangle 33"/>
              <p:cNvSpPr>
                <a:spLocks noChangeArrowheads="1"/>
              </p:cNvSpPr>
              <p:nvPr/>
            </p:nvSpPr>
            <p:spPr bwMode="auto">
              <a:xfrm>
                <a:off x="5334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23" name="Rectangle 34"/>
              <p:cNvSpPr>
                <a:spLocks noChangeArrowheads="1"/>
              </p:cNvSpPr>
              <p:nvPr/>
            </p:nvSpPr>
            <p:spPr bwMode="auto">
              <a:xfrm>
                <a:off x="5334" y="3510"/>
                <a:ext cx="268" cy="1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19</a:t>
                </a:r>
              </a:p>
            </p:txBody>
          </p:sp>
          <p:sp>
            <p:nvSpPr>
              <p:cNvPr id="15424" name="Rectangle 35"/>
              <p:cNvSpPr>
                <a:spLocks noChangeArrowheads="1"/>
              </p:cNvSpPr>
              <p:nvPr/>
            </p:nvSpPr>
            <p:spPr bwMode="auto">
              <a:xfrm>
                <a:off x="1974" y="3660"/>
                <a:ext cx="336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>
                  <a:latin typeface="Times New Roman" pitchFamily="18" charset="0"/>
                </a:endParaRPr>
              </a:p>
            </p:txBody>
          </p:sp>
          <p:sp>
            <p:nvSpPr>
              <p:cNvPr id="15425" name="Freeform 36"/>
              <p:cNvSpPr>
                <a:spLocks/>
              </p:cNvSpPr>
              <p:nvPr/>
            </p:nvSpPr>
            <p:spPr bwMode="auto">
              <a:xfrm>
                <a:off x="2022" y="3570"/>
                <a:ext cx="240" cy="336"/>
              </a:xfrm>
              <a:custGeom>
                <a:avLst/>
                <a:gdLst>
                  <a:gd name="T0" fmla="*/ 144 w 240"/>
                  <a:gd name="T1" fmla="*/ 0 h 336"/>
                  <a:gd name="T2" fmla="*/ 0 w 240"/>
                  <a:gd name="T3" fmla="*/ 336 h 336"/>
                  <a:gd name="T4" fmla="*/ 96 w 240"/>
                  <a:gd name="T5" fmla="*/ 336 h 336"/>
                  <a:gd name="T6" fmla="*/ 240 w 240"/>
                  <a:gd name="T7" fmla="*/ 0 h 336"/>
                  <a:gd name="T8" fmla="*/ 144 w 240"/>
                  <a:gd name="T9" fmla="*/ 0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336"/>
                  <a:gd name="T17" fmla="*/ 240 w 240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336">
                    <a:moveTo>
                      <a:pt x="144" y="0"/>
                    </a:moveTo>
                    <a:lnTo>
                      <a:pt x="0" y="336"/>
                    </a:lnTo>
                    <a:lnTo>
                      <a:pt x="96" y="336"/>
                    </a:lnTo>
                    <a:lnTo>
                      <a:pt x="240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5395" name="Rectangle 107"/>
            <p:cNvSpPr>
              <a:spLocks noChangeArrowheads="1"/>
            </p:cNvSpPr>
            <p:nvPr/>
          </p:nvSpPr>
          <p:spPr bwMode="auto">
            <a:xfrm>
              <a:off x="2200" y="2987"/>
              <a:ext cx="115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is represented by</a:t>
              </a:r>
              <a:endParaRPr lang="en-US" altLang="en-US" sz="180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9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Implementation of small-integer-key maps using key-indexed arrays </a:t>
            </a:r>
            <a:r>
              <a:rPr lang="en-US" altLang="en-US" sz="2000" i="1" dirty="0"/>
              <a:t>(3)</a:t>
            </a:r>
            <a:endParaRPr lang="en-GB" altLang="en-US" sz="20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700213"/>
            <a:ext cx="7681913" cy="46212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</a:t>
            </a:r>
          </a:p>
          <a:p>
            <a:pPr marL="0" indent="0" eaLnBrk="1" hangingPunct="1">
              <a:buNone/>
            </a:pPr>
            <a:r>
              <a:rPr lang="en-US" altLang="en-US" dirty="0">
                <a:cs typeface="Times New Roman" pitchFamily="18" charset="0"/>
              </a:rPr>
              <a:t>  (m is size of array, can assume second Map has at most this size, as keys will be within range).</a:t>
            </a:r>
          </a:p>
          <a:p>
            <a:pPr marL="0" indent="0" eaLnBrk="1" hangingPunct="1">
              <a:buNone/>
            </a:pPr>
            <a:endParaRPr lang="en-US" altLang="en-US" dirty="0">
              <a:cs typeface="Times New Roman" pitchFamily="18" charset="0"/>
            </a:endParaRPr>
          </a:p>
        </p:txBody>
      </p:sp>
      <p:graphicFrame>
        <p:nvGraphicFramePr>
          <p:cNvPr id="411741" name="Group 9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72970913"/>
              </p:ext>
            </p:extLst>
          </p:nvPr>
        </p:nvGraphicFramePr>
        <p:xfrm>
          <a:off x="1219200" y="3200400"/>
          <a:ext cx="7561262" cy="23780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inspect array element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make array element null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update array element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putAll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update all array elements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equality test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36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maps using entry arrays </a:t>
            </a:r>
            <a:r>
              <a:rPr lang="en-US" altLang="en-US" sz="2000" i="1"/>
              <a:t>(1)</a:t>
            </a:r>
            <a:endParaRPr lang="en-GB" altLang="en-US" sz="2000" i="1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Represent a </a:t>
            </a:r>
            <a:r>
              <a:rPr lang="en-US" altLang="en-US" b="1">
                <a:cs typeface="Times New Roman" pitchFamily="18" charset="0"/>
              </a:rPr>
              <a:t>bounded</a:t>
            </a:r>
            <a:r>
              <a:rPr lang="en-US" altLang="en-US">
                <a:cs typeface="Times New Roman" pitchFamily="18" charset="0"/>
              </a:rPr>
              <a:t> map (size </a:t>
            </a:r>
            <a:r>
              <a:rPr lang="en-US" altLang="en-US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 i="1">
                <a:cs typeface="Times New Roman" pitchFamily="18" charset="0"/>
              </a:rPr>
              <a:t>cap</a:t>
            </a:r>
            <a:r>
              <a:rPr lang="en-US" altLang="en-US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variable </a:t>
            </a:r>
            <a:r>
              <a:rPr lang="en-US" altLang="en-US" i="1">
                <a:cs typeface="Times New Roman" pitchFamily="18" charset="0"/>
              </a:rPr>
              <a:t>size</a:t>
            </a:r>
            <a:endParaRPr lang="en-US" altLang="en-US">
              <a:cs typeface="Times New Roman" pitchFamily="18" charset="0"/>
            </a:endParaRP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array </a:t>
            </a:r>
            <a:r>
              <a:rPr lang="en-US" altLang="en-US" i="1">
                <a:cs typeface="Times New Roman" pitchFamily="18" charset="0"/>
              </a:rPr>
              <a:t>entries</a:t>
            </a:r>
            <a:r>
              <a:rPr lang="en-US" altLang="en-US">
                <a:cs typeface="Times New Roman" pitchFamily="18" charset="0"/>
              </a:rPr>
              <a:t> of length </a:t>
            </a:r>
            <a:r>
              <a:rPr lang="en-US" altLang="en-US" i="1">
                <a:cs typeface="Times New Roman" pitchFamily="18" charset="0"/>
              </a:rPr>
              <a:t>cap</a:t>
            </a:r>
            <a:r>
              <a:rPr lang="en-US" altLang="en-US">
                <a:cs typeface="Times New Roman" pitchFamily="18" charset="0"/>
              </a:rPr>
              <a:t>, containing the map entries in </a:t>
            </a:r>
            <a:r>
              <a:rPr lang="en-US" altLang="en-US" i="1">
                <a:cs typeface="Times New Roman" pitchFamily="18" charset="0"/>
              </a:rPr>
              <a:t>entries</a:t>
            </a:r>
            <a:r>
              <a:rPr lang="en-US" altLang="en-US">
                <a:cs typeface="Times New Roman" pitchFamily="18" charset="0"/>
              </a:rPr>
              <a:t>[0…</a:t>
            </a:r>
            <a:r>
              <a:rPr lang="en-US" altLang="en-US" i="1">
                <a:cs typeface="Times New Roman" pitchFamily="18" charset="0"/>
              </a:rPr>
              <a:t>size</a:t>
            </a:r>
            <a:r>
              <a:rPr lang="en-US" altLang="en-US">
                <a:cs typeface="Times New Roman" pitchFamily="18" charset="0"/>
              </a:rPr>
              <a:t>–1],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which is kept sorted by key.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025650" y="4995863"/>
            <a:ext cx="6878638" cy="628650"/>
            <a:chOff x="1276" y="3079"/>
            <a:chExt cx="4333" cy="396"/>
          </a:xfrm>
        </p:grpSpPr>
        <p:sp>
          <p:nvSpPr>
            <p:cNvPr id="17434" name="Rectangle 24"/>
            <p:cNvSpPr>
              <a:spLocks noChangeArrowheads="1"/>
            </p:cNvSpPr>
            <p:nvPr/>
          </p:nvSpPr>
          <p:spPr bwMode="auto">
            <a:xfrm>
              <a:off x="1276" y="3235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map:</a:t>
              </a:r>
              <a:endParaRPr lang="en-US" altLang="en-US" sz="1800"/>
            </a:p>
          </p:txBody>
        </p:sp>
        <p:sp>
          <p:nvSpPr>
            <p:cNvPr id="17435" name="Rectangle 25"/>
            <p:cNvSpPr>
              <a:spLocks noChangeArrowheads="1"/>
            </p:cNvSpPr>
            <p:nvPr/>
          </p:nvSpPr>
          <p:spPr bwMode="auto">
            <a:xfrm>
              <a:off x="272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36" name="Rectangle 26"/>
            <p:cNvSpPr>
              <a:spLocks noChangeArrowheads="1"/>
            </p:cNvSpPr>
            <p:nvPr/>
          </p:nvSpPr>
          <p:spPr bwMode="auto">
            <a:xfrm>
              <a:off x="224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37" name="Rectangle 27"/>
            <p:cNvSpPr>
              <a:spLocks noChangeArrowheads="1"/>
            </p:cNvSpPr>
            <p:nvPr/>
          </p:nvSpPr>
          <p:spPr bwMode="auto">
            <a:xfrm>
              <a:off x="2721" y="3079"/>
              <a:ext cx="488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7438" name="Rectangle 28"/>
            <p:cNvSpPr>
              <a:spLocks noChangeArrowheads="1"/>
            </p:cNvSpPr>
            <p:nvPr/>
          </p:nvSpPr>
          <p:spPr bwMode="auto">
            <a:xfrm>
              <a:off x="368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39" name="Rectangle 29"/>
            <p:cNvSpPr>
              <a:spLocks noChangeArrowheads="1"/>
            </p:cNvSpPr>
            <p:nvPr/>
          </p:nvSpPr>
          <p:spPr bwMode="auto">
            <a:xfrm>
              <a:off x="416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40" name="Rectangle 30"/>
            <p:cNvSpPr>
              <a:spLocks noChangeArrowheads="1"/>
            </p:cNvSpPr>
            <p:nvPr/>
          </p:nvSpPr>
          <p:spPr bwMode="auto">
            <a:xfrm>
              <a:off x="512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41" name="Rectangle 31"/>
            <p:cNvSpPr>
              <a:spLocks noChangeArrowheads="1"/>
            </p:cNvSpPr>
            <p:nvPr/>
          </p:nvSpPr>
          <p:spPr bwMode="auto">
            <a:xfrm>
              <a:off x="464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42" name="Rectangle 32"/>
            <p:cNvSpPr>
              <a:spLocks noChangeArrowheads="1"/>
            </p:cNvSpPr>
            <p:nvPr/>
          </p:nvSpPr>
          <p:spPr bwMode="auto">
            <a:xfrm>
              <a:off x="3201" y="322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43" name="Freeform 33"/>
            <p:cNvSpPr>
              <a:spLocks/>
            </p:cNvSpPr>
            <p:nvPr/>
          </p:nvSpPr>
          <p:spPr bwMode="auto">
            <a:xfrm>
              <a:off x="3345" y="3139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44" name="Rectangle 34"/>
            <p:cNvSpPr>
              <a:spLocks noChangeArrowheads="1"/>
            </p:cNvSpPr>
            <p:nvPr/>
          </p:nvSpPr>
          <p:spPr bwMode="auto">
            <a:xfrm>
              <a:off x="2241" y="3091"/>
              <a:ext cx="5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=0</a:t>
              </a:r>
            </a:p>
          </p:txBody>
        </p:sp>
        <p:sp>
          <p:nvSpPr>
            <p:cNvPr id="17445" name="Freeform 35"/>
            <p:cNvSpPr>
              <a:spLocks/>
            </p:cNvSpPr>
            <p:nvPr/>
          </p:nvSpPr>
          <p:spPr bwMode="auto">
            <a:xfrm>
              <a:off x="4785" y="3139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46" name="Rectangle 36"/>
            <p:cNvSpPr>
              <a:spLocks noChangeArrowheads="1"/>
            </p:cNvSpPr>
            <p:nvPr/>
          </p:nvSpPr>
          <p:spPr bwMode="auto">
            <a:xfrm>
              <a:off x="5121" y="3079"/>
              <a:ext cx="488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2025650" y="3824288"/>
            <a:ext cx="6878638" cy="1095375"/>
            <a:chOff x="2025650" y="4148481"/>
            <a:chExt cx="6878638" cy="1095949"/>
          </a:xfrm>
        </p:grpSpPr>
        <p:sp>
          <p:nvSpPr>
            <p:cNvPr id="17414" name="Rectangle 5"/>
            <p:cNvSpPr>
              <a:spLocks noChangeArrowheads="1"/>
            </p:cNvSpPr>
            <p:nvPr/>
          </p:nvSpPr>
          <p:spPr bwMode="auto">
            <a:xfrm>
              <a:off x="3557588" y="4615780"/>
              <a:ext cx="774700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7415" name="Rectangle 6"/>
            <p:cNvSpPr>
              <a:spLocks noChangeArrowheads="1"/>
            </p:cNvSpPr>
            <p:nvPr/>
          </p:nvSpPr>
          <p:spPr bwMode="auto">
            <a:xfrm>
              <a:off x="4319588" y="4615780"/>
              <a:ext cx="774700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7416" name="Rectangle 7"/>
            <p:cNvSpPr>
              <a:spLocks noChangeArrowheads="1"/>
            </p:cNvSpPr>
            <p:nvPr/>
          </p:nvSpPr>
          <p:spPr bwMode="auto">
            <a:xfrm>
              <a:off x="5767388" y="4615780"/>
              <a:ext cx="930275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7417" name="Rectangle 8"/>
            <p:cNvSpPr>
              <a:spLocks noChangeArrowheads="1"/>
            </p:cNvSpPr>
            <p:nvPr/>
          </p:nvSpPr>
          <p:spPr bwMode="auto">
            <a:xfrm>
              <a:off x="6605588" y="4615780"/>
              <a:ext cx="774700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</a:p>
          </p:txBody>
        </p:sp>
        <p:sp>
          <p:nvSpPr>
            <p:cNvPr id="17418" name="Rectangle 9"/>
            <p:cNvSpPr>
              <a:spLocks noChangeArrowheads="1"/>
            </p:cNvSpPr>
            <p:nvPr/>
          </p:nvSpPr>
          <p:spPr bwMode="auto">
            <a:xfrm>
              <a:off x="2025650" y="4865018"/>
              <a:ext cx="133508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17419" name="Rectangle 10"/>
            <p:cNvSpPr>
              <a:spLocks noChangeArrowheads="1"/>
            </p:cNvSpPr>
            <p:nvPr/>
          </p:nvSpPr>
          <p:spPr bwMode="auto">
            <a:xfrm>
              <a:off x="4343400" y="4842867"/>
              <a:ext cx="762000" cy="3143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key</a:t>
              </a:r>
            </a:p>
          </p:txBody>
        </p:sp>
        <p:sp>
          <p:nvSpPr>
            <p:cNvPr id="17420" name="Rectangle 13"/>
            <p:cNvSpPr>
              <a:spLocks noChangeArrowheads="1"/>
            </p:cNvSpPr>
            <p:nvPr/>
          </p:nvSpPr>
          <p:spPr bwMode="auto">
            <a:xfrm>
              <a:off x="6605588" y="4842867"/>
              <a:ext cx="762000" cy="314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21" name="Rectangle 14"/>
            <p:cNvSpPr>
              <a:spLocks noChangeArrowheads="1"/>
            </p:cNvSpPr>
            <p:nvPr/>
          </p:nvSpPr>
          <p:spPr bwMode="auto">
            <a:xfrm>
              <a:off x="8129588" y="4842867"/>
              <a:ext cx="762000" cy="314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22" name="Rectangle 15"/>
            <p:cNvSpPr>
              <a:spLocks noChangeArrowheads="1"/>
            </p:cNvSpPr>
            <p:nvPr/>
          </p:nvSpPr>
          <p:spPr bwMode="auto">
            <a:xfrm>
              <a:off x="7367588" y="4842867"/>
              <a:ext cx="762000" cy="314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23" name="Freeform 16"/>
            <p:cNvSpPr>
              <a:spLocks/>
            </p:cNvSpPr>
            <p:nvPr/>
          </p:nvSpPr>
          <p:spPr bwMode="auto">
            <a:xfrm>
              <a:off x="7596188" y="4711030"/>
              <a:ext cx="381000" cy="533400"/>
            </a:xfrm>
            <a:custGeom>
              <a:avLst/>
              <a:gdLst>
                <a:gd name="T0" fmla="*/ 2147483647 w 240"/>
                <a:gd name="T1" fmla="*/ 0 h 336"/>
                <a:gd name="T2" fmla="*/ 0 w 240"/>
                <a:gd name="T3" fmla="*/ 2147483647 h 336"/>
                <a:gd name="T4" fmla="*/ 2147483647 w 240"/>
                <a:gd name="T5" fmla="*/ 2147483647 h 336"/>
                <a:gd name="T6" fmla="*/ 2147483647 w 240"/>
                <a:gd name="T7" fmla="*/ 0 h 336"/>
                <a:gd name="T8" fmla="*/ 2147483647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4" name="Rectangle 17"/>
            <p:cNvSpPr>
              <a:spLocks noChangeArrowheads="1"/>
            </p:cNvSpPr>
            <p:nvPr/>
          </p:nvSpPr>
          <p:spPr bwMode="auto">
            <a:xfrm>
              <a:off x="5105400" y="4842867"/>
              <a:ext cx="762000" cy="3143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7425" name="Freeform 18"/>
            <p:cNvSpPr>
              <a:spLocks/>
            </p:cNvSpPr>
            <p:nvPr/>
          </p:nvSpPr>
          <p:spPr bwMode="auto">
            <a:xfrm>
              <a:off x="5368925" y="4711030"/>
              <a:ext cx="381000" cy="533400"/>
            </a:xfrm>
            <a:custGeom>
              <a:avLst/>
              <a:gdLst>
                <a:gd name="T0" fmla="*/ 2147483647 w 240"/>
                <a:gd name="T1" fmla="*/ 0 h 336"/>
                <a:gd name="T2" fmla="*/ 0 w 240"/>
                <a:gd name="T3" fmla="*/ 2147483647 h 336"/>
                <a:gd name="T4" fmla="*/ 2147483647 w 240"/>
                <a:gd name="T5" fmla="*/ 2147483647 h 336"/>
                <a:gd name="T6" fmla="*/ 2147483647 w 240"/>
                <a:gd name="T7" fmla="*/ 0 h 336"/>
                <a:gd name="T8" fmla="*/ 2147483647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426" name="Rectangle 19"/>
            <p:cNvSpPr>
              <a:spLocks noChangeArrowheads="1"/>
            </p:cNvSpPr>
            <p:nvPr/>
          </p:nvSpPr>
          <p:spPr bwMode="auto">
            <a:xfrm>
              <a:off x="8129588" y="4634830"/>
              <a:ext cx="774700" cy="223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7427" name="Rectangle 39"/>
            <p:cNvSpPr>
              <a:spLocks noChangeArrowheads="1"/>
            </p:cNvSpPr>
            <p:nvPr/>
          </p:nvSpPr>
          <p:spPr bwMode="auto">
            <a:xfrm>
              <a:off x="4740275" y="4852392"/>
              <a:ext cx="3286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</a:t>
              </a:r>
            </a:p>
          </p:txBody>
        </p:sp>
        <p:sp>
          <p:nvSpPr>
            <p:cNvPr id="17428" name="Rectangle 10"/>
            <p:cNvSpPr>
              <a:spLocks noChangeArrowheads="1"/>
            </p:cNvSpPr>
            <p:nvPr/>
          </p:nvSpPr>
          <p:spPr bwMode="auto">
            <a:xfrm>
              <a:off x="3593976" y="4842867"/>
              <a:ext cx="762000" cy="3143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key</a:t>
              </a:r>
            </a:p>
          </p:txBody>
        </p:sp>
        <p:sp>
          <p:nvSpPr>
            <p:cNvPr id="17429" name="Rectangle 39"/>
            <p:cNvSpPr>
              <a:spLocks noChangeArrowheads="1"/>
            </p:cNvSpPr>
            <p:nvPr/>
          </p:nvSpPr>
          <p:spPr bwMode="auto">
            <a:xfrm>
              <a:off x="3990851" y="4852392"/>
              <a:ext cx="3286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</a:t>
              </a:r>
            </a:p>
          </p:txBody>
        </p:sp>
        <p:sp>
          <p:nvSpPr>
            <p:cNvPr id="17430" name="Rectangle 10"/>
            <p:cNvSpPr>
              <a:spLocks noChangeArrowheads="1"/>
            </p:cNvSpPr>
            <p:nvPr/>
          </p:nvSpPr>
          <p:spPr bwMode="auto">
            <a:xfrm>
              <a:off x="5868144" y="4842867"/>
              <a:ext cx="762000" cy="31432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key</a:t>
              </a:r>
            </a:p>
          </p:txBody>
        </p:sp>
        <p:sp>
          <p:nvSpPr>
            <p:cNvPr id="17431" name="Rectangle 41"/>
            <p:cNvSpPr>
              <a:spLocks noChangeArrowheads="1"/>
            </p:cNvSpPr>
            <p:nvPr/>
          </p:nvSpPr>
          <p:spPr bwMode="auto">
            <a:xfrm>
              <a:off x="6265019" y="4852392"/>
              <a:ext cx="3286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val</a:t>
              </a:r>
            </a:p>
          </p:txBody>
        </p:sp>
        <p:sp>
          <p:nvSpPr>
            <p:cNvPr id="17432" name="AutoShape 188"/>
            <p:cNvSpPr>
              <a:spLocks/>
            </p:cNvSpPr>
            <p:nvPr/>
          </p:nvSpPr>
          <p:spPr bwMode="auto">
            <a:xfrm>
              <a:off x="3239852" y="4148481"/>
              <a:ext cx="936873" cy="252627"/>
            </a:xfrm>
            <a:prstGeom prst="callout1">
              <a:avLst>
                <a:gd name="adj1" fmla="val 87588"/>
                <a:gd name="adj2" fmla="val 46426"/>
                <a:gd name="adj3" fmla="val 290208"/>
                <a:gd name="adj4" fmla="val 51949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least key</a:t>
              </a:r>
            </a:p>
          </p:txBody>
        </p:sp>
        <p:sp>
          <p:nvSpPr>
            <p:cNvPr id="17433" name="AutoShape 188"/>
            <p:cNvSpPr>
              <a:spLocks/>
            </p:cNvSpPr>
            <p:nvPr/>
          </p:nvSpPr>
          <p:spPr bwMode="auto">
            <a:xfrm>
              <a:off x="5004048" y="4149080"/>
              <a:ext cx="1287444" cy="252028"/>
            </a:xfrm>
            <a:prstGeom prst="callout1">
              <a:avLst>
                <a:gd name="adj1" fmla="val 96991"/>
                <a:gd name="adj2" fmla="val 51403"/>
                <a:gd name="adj3" fmla="val 285662"/>
                <a:gd name="adj4" fmla="val 71236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chemeClr val="accent1">
                      <a:lumMod val="75000"/>
                    </a:schemeClr>
                  </a:solidFill>
                </a:rPr>
                <a:t>greatest key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2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maps using entry arrays </a:t>
            </a:r>
            <a:r>
              <a:rPr lang="en-US" altLang="en-US" sz="2000" i="1"/>
              <a:t>(2)</a:t>
            </a:r>
            <a:endParaRPr lang="en-GB" altLang="en-US" sz="2000" i="1"/>
          </a:p>
        </p:txBody>
      </p:sp>
      <p:graphicFrame>
        <p:nvGraphicFramePr>
          <p:cNvPr id="413787" name="Group 91"/>
          <p:cNvGraphicFramePr>
            <a:graphicFrameLocks noGrp="1"/>
          </p:cNvGraphicFramePr>
          <p:nvPr/>
        </p:nvGraphicFramePr>
        <p:xfrm>
          <a:off x="4633913" y="1763713"/>
          <a:ext cx="2025650" cy="2271713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3726" name="Rectangle 30"/>
          <p:cNvSpPr>
            <a:spLocks noChangeArrowheads="1"/>
          </p:cNvSpPr>
          <p:nvPr/>
        </p:nvSpPr>
        <p:spPr bwMode="auto">
          <a:xfrm>
            <a:off x="1973263" y="1763713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Illustration (</a:t>
            </a:r>
            <a:r>
              <a:rPr lang="en-US" altLang="en-US" sz="1800" i="1">
                <a:solidFill>
                  <a:srgbClr val="000000"/>
                </a:solidFill>
              </a:rPr>
              <a:t>cap</a:t>
            </a:r>
            <a:r>
              <a:rPr lang="en-US" altLang="en-US" sz="1800">
                <a:solidFill>
                  <a:srgbClr val="000000"/>
                </a:solidFill>
              </a:rPr>
              <a:t> = 9):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2195513" y="4202113"/>
            <a:ext cx="6858000" cy="990600"/>
            <a:chOff x="1383" y="2647"/>
            <a:chExt cx="4320" cy="624"/>
          </a:xfrm>
        </p:grpSpPr>
        <p:sp>
          <p:nvSpPr>
            <p:cNvPr id="18463" name="Rectangle 32"/>
            <p:cNvSpPr>
              <a:spLocks noChangeArrowheads="1"/>
            </p:cNvSpPr>
            <p:nvPr/>
          </p:nvSpPr>
          <p:spPr bwMode="auto">
            <a:xfrm>
              <a:off x="2967" y="2647"/>
              <a:ext cx="1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is represented by</a:t>
              </a:r>
            </a:p>
          </p:txBody>
        </p:sp>
        <p:grpSp>
          <p:nvGrpSpPr>
            <p:cNvPr id="18464" name="Group 92"/>
            <p:cNvGrpSpPr>
              <a:grpSpLocks/>
            </p:cNvGrpSpPr>
            <p:nvPr/>
          </p:nvGrpSpPr>
          <p:grpSpPr bwMode="auto">
            <a:xfrm>
              <a:off x="1383" y="2887"/>
              <a:ext cx="4320" cy="384"/>
              <a:chOff x="1383" y="2887"/>
              <a:chExt cx="4320" cy="384"/>
            </a:xfrm>
          </p:grpSpPr>
          <p:sp>
            <p:nvSpPr>
              <p:cNvPr id="18465" name="Rectangle 33"/>
              <p:cNvSpPr>
                <a:spLocks noChangeArrowheads="1"/>
              </p:cNvSpPr>
              <p:nvPr/>
            </p:nvSpPr>
            <p:spPr bwMode="auto">
              <a:xfrm>
                <a:off x="3303" y="2887"/>
                <a:ext cx="48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4</a:t>
                </a:r>
              </a:p>
            </p:txBody>
          </p:sp>
          <p:sp>
            <p:nvSpPr>
              <p:cNvPr id="18466" name="Rectangle 34"/>
              <p:cNvSpPr>
                <a:spLocks noChangeArrowheads="1"/>
              </p:cNvSpPr>
              <p:nvPr/>
            </p:nvSpPr>
            <p:spPr bwMode="auto">
              <a:xfrm>
                <a:off x="3783" y="2887"/>
                <a:ext cx="48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5</a:t>
                </a:r>
              </a:p>
            </p:txBody>
          </p:sp>
          <p:sp>
            <p:nvSpPr>
              <p:cNvPr id="18467" name="Rectangle 35"/>
              <p:cNvSpPr>
                <a:spLocks noChangeArrowheads="1"/>
              </p:cNvSpPr>
              <p:nvPr/>
            </p:nvSpPr>
            <p:spPr bwMode="auto">
              <a:xfrm>
                <a:off x="378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Xe	54</a:t>
                </a:r>
              </a:p>
            </p:txBody>
          </p:sp>
          <p:sp>
            <p:nvSpPr>
              <p:cNvPr id="18468" name="Rectangle 36"/>
              <p:cNvSpPr>
                <a:spLocks noChangeArrowheads="1"/>
              </p:cNvSpPr>
              <p:nvPr/>
            </p:nvSpPr>
            <p:spPr bwMode="auto">
              <a:xfrm>
                <a:off x="330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Rn	86</a:t>
                </a:r>
              </a:p>
            </p:txBody>
          </p:sp>
          <p:sp>
            <p:nvSpPr>
              <p:cNvPr id="18469" name="Rectangle 37"/>
              <p:cNvSpPr>
                <a:spLocks noChangeArrowheads="1"/>
              </p:cNvSpPr>
              <p:nvPr/>
            </p:nvSpPr>
            <p:spPr bwMode="auto">
              <a:xfrm>
                <a:off x="4263" y="3037"/>
                <a:ext cx="480" cy="23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18470" name="Rectangle 38"/>
              <p:cNvSpPr>
                <a:spLocks noChangeArrowheads="1"/>
              </p:cNvSpPr>
              <p:nvPr/>
            </p:nvSpPr>
            <p:spPr bwMode="auto">
              <a:xfrm>
                <a:off x="4263" y="2893"/>
                <a:ext cx="47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 i="1"/>
                  <a:t>size</a:t>
                </a:r>
                <a:r>
                  <a:rPr lang="en-US" altLang="en-US" sz="1800"/>
                  <a:t>=6</a:t>
                </a:r>
              </a:p>
            </p:txBody>
          </p:sp>
          <p:sp>
            <p:nvSpPr>
              <p:cNvPr id="18471" name="Rectangle 39"/>
              <p:cNvSpPr>
                <a:spLocks noChangeArrowheads="1"/>
              </p:cNvSpPr>
              <p:nvPr/>
            </p:nvSpPr>
            <p:spPr bwMode="auto">
              <a:xfrm>
                <a:off x="4743" y="3037"/>
                <a:ext cx="480" cy="23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18472" name="Rectangle 40"/>
              <p:cNvSpPr>
                <a:spLocks noChangeArrowheads="1"/>
              </p:cNvSpPr>
              <p:nvPr/>
            </p:nvSpPr>
            <p:spPr bwMode="auto">
              <a:xfrm>
                <a:off x="4717" y="2893"/>
                <a:ext cx="473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7</a:t>
                </a:r>
              </a:p>
            </p:txBody>
          </p:sp>
          <p:sp>
            <p:nvSpPr>
              <p:cNvPr id="18473" name="Rectangle 41"/>
              <p:cNvSpPr>
                <a:spLocks noChangeArrowheads="1"/>
              </p:cNvSpPr>
              <p:nvPr/>
            </p:nvSpPr>
            <p:spPr bwMode="auto">
              <a:xfrm>
                <a:off x="2343" y="2887"/>
                <a:ext cx="469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2</a:t>
                </a:r>
              </a:p>
            </p:txBody>
          </p:sp>
          <p:sp>
            <p:nvSpPr>
              <p:cNvPr id="18474" name="Rectangle 42"/>
              <p:cNvSpPr>
                <a:spLocks noChangeArrowheads="1"/>
              </p:cNvSpPr>
              <p:nvPr/>
            </p:nvSpPr>
            <p:spPr bwMode="auto">
              <a:xfrm>
                <a:off x="2823" y="2887"/>
                <a:ext cx="48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3</a:t>
                </a:r>
              </a:p>
            </p:txBody>
          </p:sp>
          <p:sp>
            <p:nvSpPr>
              <p:cNvPr id="18475" name="Rectangle 43"/>
              <p:cNvSpPr>
                <a:spLocks noChangeArrowheads="1"/>
              </p:cNvSpPr>
              <p:nvPr/>
            </p:nvSpPr>
            <p:spPr bwMode="auto">
              <a:xfrm>
                <a:off x="282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Ne	10</a:t>
                </a:r>
              </a:p>
            </p:txBody>
          </p:sp>
          <p:sp>
            <p:nvSpPr>
              <p:cNvPr id="18476" name="Rectangle 44"/>
              <p:cNvSpPr>
                <a:spLocks noChangeArrowheads="1"/>
              </p:cNvSpPr>
              <p:nvPr/>
            </p:nvSpPr>
            <p:spPr bwMode="auto">
              <a:xfrm>
                <a:off x="234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Kr	36</a:t>
                </a:r>
              </a:p>
            </p:txBody>
          </p:sp>
          <p:sp>
            <p:nvSpPr>
              <p:cNvPr id="18477" name="Rectangle 45"/>
              <p:cNvSpPr>
                <a:spLocks noChangeArrowheads="1"/>
              </p:cNvSpPr>
              <p:nvPr/>
            </p:nvSpPr>
            <p:spPr bwMode="auto">
              <a:xfrm>
                <a:off x="1383" y="2887"/>
                <a:ext cx="476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0</a:t>
                </a:r>
              </a:p>
            </p:txBody>
          </p:sp>
          <p:sp>
            <p:nvSpPr>
              <p:cNvPr id="18478" name="Rectangle 46"/>
              <p:cNvSpPr>
                <a:spLocks noChangeArrowheads="1"/>
              </p:cNvSpPr>
              <p:nvPr/>
            </p:nvSpPr>
            <p:spPr bwMode="auto">
              <a:xfrm>
                <a:off x="1863" y="2887"/>
                <a:ext cx="473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1</a:t>
                </a:r>
              </a:p>
            </p:txBody>
          </p:sp>
          <p:sp>
            <p:nvSpPr>
              <p:cNvPr id="18479" name="Rectangle 47"/>
              <p:cNvSpPr>
                <a:spLocks noChangeArrowheads="1"/>
              </p:cNvSpPr>
              <p:nvPr/>
            </p:nvSpPr>
            <p:spPr bwMode="auto">
              <a:xfrm>
                <a:off x="186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He	2</a:t>
                </a:r>
              </a:p>
            </p:txBody>
          </p:sp>
          <p:sp>
            <p:nvSpPr>
              <p:cNvPr id="18480" name="Rectangle 48"/>
              <p:cNvSpPr>
                <a:spLocks noChangeArrowheads="1"/>
              </p:cNvSpPr>
              <p:nvPr/>
            </p:nvSpPr>
            <p:spPr bwMode="auto">
              <a:xfrm>
                <a:off x="1383" y="3037"/>
                <a:ext cx="480" cy="23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6731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6731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6731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Ar	18</a:t>
                </a:r>
              </a:p>
            </p:txBody>
          </p:sp>
          <p:sp>
            <p:nvSpPr>
              <p:cNvPr id="18481" name="Rectangle 49"/>
              <p:cNvSpPr>
                <a:spLocks noChangeArrowheads="1"/>
              </p:cNvSpPr>
              <p:nvPr/>
            </p:nvSpPr>
            <p:spPr bwMode="auto">
              <a:xfrm>
                <a:off x="5223" y="3037"/>
                <a:ext cx="480" cy="23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2000" i="1">
                  <a:latin typeface="Times New Roman" pitchFamily="18" charset="0"/>
                </a:endParaRPr>
              </a:p>
            </p:txBody>
          </p:sp>
          <p:sp>
            <p:nvSpPr>
              <p:cNvPr id="18482" name="Rectangle 50"/>
              <p:cNvSpPr>
                <a:spLocks noChangeArrowheads="1"/>
              </p:cNvSpPr>
              <p:nvPr/>
            </p:nvSpPr>
            <p:spPr bwMode="auto">
              <a:xfrm>
                <a:off x="5197" y="2893"/>
                <a:ext cx="473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8</a:t>
                </a: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0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2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Implementation of maps using entry arrays </a:t>
            </a:r>
            <a:r>
              <a:rPr lang="en-US" altLang="en-US" sz="2000" i="1"/>
              <a:t>(3)</a:t>
            </a:r>
            <a:endParaRPr lang="en-GB" altLang="en-US" sz="2000" i="1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7813" y="1700213"/>
            <a:ext cx="7200900" cy="46212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415781" name="Group 37"/>
          <p:cNvGraphicFramePr>
            <a:graphicFrameLocks noGrp="1"/>
          </p:cNvGraphicFramePr>
          <p:nvPr>
            <p:ph sz="half" idx="2"/>
          </p:nvPr>
        </p:nvGraphicFramePr>
        <p:xfrm>
          <a:off x="1511300" y="2349500"/>
          <a:ext cx="7524750" cy="23780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binary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binary search, then array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binary search, then array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putAll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variant of array merge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equality test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38600" y="5099333"/>
            <a:ext cx="367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/>
              <a:t>where </a:t>
            </a:r>
            <a:r>
              <a:rPr lang="en-GB" altLang="en-US" i="1" dirty="0"/>
              <a:t>n'</a:t>
            </a:r>
            <a:r>
              <a:rPr lang="en-GB" altLang="en-US" dirty="0"/>
              <a:t> is the size of the 2</a:t>
            </a:r>
            <a:r>
              <a:rPr lang="en-GB" altLang="en-US" baseline="30000" dirty="0"/>
              <a:t>nd</a:t>
            </a:r>
            <a:r>
              <a:rPr lang="en-GB" altLang="en-US" dirty="0"/>
              <a:t> map</a:t>
            </a:r>
          </a:p>
        </p:txBody>
      </p:sp>
    </p:spTree>
    <p:extLst>
      <p:ext uri="{BB962C8B-B14F-4D97-AF65-F5344CB8AC3E}">
        <p14:creationId xmlns:p14="http://schemas.microsoft.com/office/powerpoint/2010/main" val="69250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B47E-ECFE-3C94-BA6C-428FF4C1D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74" y="560388"/>
            <a:ext cx="6142038" cy="719137"/>
          </a:xfrm>
        </p:spPr>
        <p:txBody>
          <a:bodyPr/>
          <a:lstStyle/>
          <a:p>
            <a:r>
              <a:rPr lang="en-US" dirty="0"/>
              <a:t>Implementation on Moodle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79CB5-2919-B6FE-B29E-C9EFBA29C0F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2399" y="1676400"/>
            <a:ext cx="8596313" cy="4621212"/>
          </a:xfrm>
        </p:spPr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ArrayMap</a:t>
            </a:r>
            <a:r>
              <a:rPr lang="en-US" dirty="0"/>
              <a:t> on Moodle. Note</a:t>
            </a:r>
          </a:p>
          <a:p>
            <a:endParaRPr lang="en-US" dirty="0"/>
          </a:p>
          <a:p>
            <a:r>
              <a:rPr lang="en-US" dirty="0"/>
              <a:t>To instantiate an array of </a:t>
            </a:r>
            <a:r>
              <a:rPr lang="en-US" b="1" dirty="0"/>
              <a:t>Entries of generic type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have to use wildcards.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Entries = new (Entry&lt;K,V&gt;[]) new Entry&lt;?,?&gt;[</a:t>
            </a:r>
            <a:r>
              <a:rPr lang="en-GB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maxCard</a:t>
            </a:r>
            <a:r>
              <a:rPr lang="en-GB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3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Implementation of maps using SLLs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Represent an (unbounded) map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variable </a:t>
            </a:r>
            <a:r>
              <a:rPr lang="en-US" altLang="en-US" i="1">
                <a:cs typeface="Times New Roman" pitchFamily="18" charset="0"/>
              </a:rPr>
              <a:t>size</a:t>
            </a:r>
            <a:endParaRPr lang="en-US" altLang="en-US">
              <a:cs typeface="Times New Roman" pitchFamily="18" charset="0"/>
            </a:endParaRP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SLL, containing one entry per node,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which is kept sorted by key.</a:t>
            </a:r>
            <a:endParaRPr lang="en-US" alt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763713" y="5051425"/>
            <a:ext cx="1752600" cy="609600"/>
            <a:chOff x="1111" y="3001"/>
            <a:chExt cx="1104" cy="384"/>
          </a:xfrm>
        </p:grpSpPr>
        <p:sp>
          <p:nvSpPr>
            <p:cNvPr id="20501" name="Rectangle 5"/>
            <p:cNvSpPr>
              <a:spLocks noChangeArrowheads="1"/>
            </p:cNvSpPr>
            <p:nvPr/>
          </p:nvSpPr>
          <p:spPr bwMode="auto">
            <a:xfrm>
              <a:off x="1111" y="3001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map:</a:t>
              </a:r>
              <a:endParaRPr lang="en-US" altLang="en-US" sz="1800"/>
            </a:p>
          </p:txBody>
        </p:sp>
        <p:sp>
          <p:nvSpPr>
            <p:cNvPr id="20502" name="Rectangle 6"/>
            <p:cNvSpPr>
              <a:spLocks noChangeArrowheads="1"/>
            </p:cNvSpPr>
            <p:nvPr/>
          </p:nvSpPr>
          <p:spPr bwMode="auto">
            <a:xfrm>
              <a:off x="2018" y="3001"/>
              <a:ext cx="197" cy="20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03" name="Line 7"/>
            <p:cNvSpPr>
              <a:spLocks noChangeShapeType="1"/>
            </p:cNvSpPr>
            <p:nvPr/>
          </p:nvSpPr>
          <p:spPr bwMode="auto">
            <a:xfrm>
              <a:off x="2119" y="309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4" name="Rectangle 23"/>
            <p:cNvSpPr>
              <a:spLocks noChangeArrowheads="1"/>
            </p:cNvSpPr>
            <p:nvPr/>
          </p:nvSpPr>
          <p:spPr bwMode="auto">
            <a:xfrm>
              <a:off x="2018" y="319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505" name="Rectangle 24"/>
            <p:cNvSpPr>
              <a:spLocks noChangeArrowheads="1"/>
            </p:cNvSpPr>
            <p:nvPr/>
          </p:nvSpPr>
          <p:spPr bwMode="auto">
            <a:xfrm>
              <a:off x="2018" y="3215"/>
              <a:ext cx="1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763713" y="3573463"/>
            <a:ext cx="7272337" cy="1258887"/>
            <a:chOff x="1763713" y="3573016"/>
            <a:chExt cx="7272783" cy="1259557"/>
          </a:xfrm>
        </p:grpSpPr>
        <p:sp>
          <p:nvSpPr>
            <p:cNvPr id="20486" name="Rectangle 9"/>
            <p:cNvSpPr>
              <a:spLocks noChangeArrowheads="1"/>
            </p:cNvSpPr>
            <p:nvPr/>
          </p:nvSpPr>
          <p:spPr bwMode="auto">
            <a:xfrm>
              <a:off x="1763713" y="4211803"/>
              <a:ext cx="1335088" cy="228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20487" name="Rectangle 10"/>
            <p:cNvSpPr>
              <a:spLocks noChangeArrowheads="1"/>
            </p:cNvSpPr>
            <p:nvPr/>
          </p:nvSpPr>
          <p:spPr bwMode="auto">
            <a:xfrm>
              <a:off x="3203576" y="4202277"/>
              <a:ext cx="312738" cy="30641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488" name="Text Box 12"/>
            <p:cNvSpPr txBox="1">
              <a:spLocks noChangeArrowheads="1"/>
            </p:cNvSpPr>
            <p:nvPr/>
          </p:nvSpPr>
          <p:spPr bwMode="auto">
            <a:xfrm>
              <a:off x="5645151" y="4202277"/>
              <a:ext cx="1071563" cy="2841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800"/>
                <a:t>key val</a:t>
              </a:r>
            </a:p>
          </p:txBody>
        </p:sp>
        <p:sp>
          <p:nvSpPr>
            <p:cNvPr id="20489" name="Line 14"/>
            <p:cNvSpPr>
              <a:spLocks noChangeShapeType="1"/>
            </p:cNvSpPr>
            <p:nvPr/>
          </p:nvSpPr>
          <p:spPr bwMode="auto">
            <a:xfrm>
              <a:off x="6564313" y="4341990"/>
              <a:ext cx="609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0" name="Line 16"/>
            <p:cNvSpPr>
              <a:spLocks noChangeShapeType="1"/>
            </p:cNvSpPr>
            <p:nvPr/>
          </p:nvSpPr>
          <p:spPr bwMode="auto">
            <a:xfrm>
              <a:off x="7173913" y="4341990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1" name="Line 17"/>
            <p:cNvSpPr>
              <a:spLocks noChangeShapeType="1"/>
            </p:cNvSpPr>
            <p:nvPr/>
          </p:nvSpPr>
          <p:spPr bwMode="auto">
            <a:xfrm>
              <a:off x="3360738" y="4341990"/>
              <a:ext cx="684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2" name="Line 19"/>
            <p:cNvSpPr>
              <a:spLocks noChangeShapeType="1"/>
            </p:cNvSpPr>
            <p:nvPr/>
          </p:nvSpPr>
          <p:spPr bwMode="auto">
            <a:xfrm flipV="1">
              <a:off x="7573963" y="4341990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3" name="Rectangle 25"/>
            <p:cNvSpPr>
              <a:spLocks noChangeArrowheads="1"/>
            </p:cNvSpPr>
            <p:nvPr/>
          </p:nvSpPr>
          <p:spPr bwMode="auto">
            <a:xfrm>
              <a:off x="3203576" y="4508693"/>
              <a:ext cx="304800" cy="3238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0494" name="Rectangle 26"/>
            <p:cNvSpPr>
              <a:spLocks noChangeArrowheads="1"/>
            </p:cNvSpPr>
            <p:nvPr/>
          </p:nvSpPr>
          <p:spPr bwMode="auto">
            <a:xfrm>
              <a:off x="3203576" y="4543621"/>
              <a:ext cx="252413" cy="228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US" altLang="en-US" sz="1800" i="1"/>
            </a:p>
          </p:txBody>
        </p:sp>
        <p:sp>
          <p:nvSpPr>
            <p:cNvPr id="20495" name="Text Box 12"/>
            <p:cNvSpPr txBox="1">
              <a:spLocks noChangeArrowheads="1"/>
            </p:cNvSpPr>
            <p:nvPr/>
          </p:nvSpPr>
          <p:spPr bwMode="auto">
            <a:xfrm>
              <a:off x="4031940" y="4185084"/>
              <a:ext cx="1071563" cy="2841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800"/>
                <a:t>key val</a:t>
              </a:r>
            </a:p>
          </p:txBody>
        </p:sp>
        <p:sp>
          <p:nvSpPr>
            <p:cNvPr id="20496" name="Text Box 12"/>
            <p:cNvSpPr txBox="1">
              <a:spLocks noChangeArrowheads="1"/>
            </p:cNvSpPr>
            <p:nvPr/>
          </p:nvSpPr>
          <p:spPr bwMode="auto">
            <a:xfrm>
              <a:off x="7964933" y="4221088"/>
              <a:ext cx="1071563" cy="28419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marL="101600"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1800"/>
                <a:t>key val</a:t>
              </a:r>
            </a:p>
          </p:txBody>
        </p:sp>
        <p:sp>
          <p:nvSpPr>
            <p:cNvPr id="20497" name="AutoShape 188"/>
            <p:cNvSpPr>
              <a:spLocks/>
            </p:cNvSpPr>
            <p:nvPr/>
          </p:nvSpPr>
          <p:spPr bwMode="auto">
            <a:xfrm>
              <a:off x="3788612" y="3573016"/>
              <a:ext cx="936873" cy="252627"/>
            </a:xfrm>
            <a:prstGeom prst="callout1">
              <a:avLst>
                <a:gd name="adj1" fmla="val 87588"/>
                <a:gd name="adj2" fmla="val 46426"/>
                <a:gd name="adj3" fmla="val 290208"/>
                <a:gd name="adj4" fmla="val 51949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least key</a:t>
              </a:r>
            </a:p>
          </p:txBody>
        </p:sp>
        <p:sp>
          <p:nvSpPr>
            <p:cNvPr id="20498" name="AutoShape 188"/>
            <p:cNvSpPr>
              <a:spLocks/>
            </p:cNvSpPr>
            <p:nvPr/>
          </p:nvSpPr>
          <p:spPr bwMode="auto">
            <a:xfrm>
              <a:off x="7317004" y="3573615"/>
              <a:ext cx="1287444" cy="252028"/>
            </a:xfrm>
            <a:prstGeom prst="callout1">
              <a:avLst>
                <a:gd name="adj1" fmla="val 96991"/>
                <a:gd name="adj2" fmla="val 51403"/>
                <a:gd name="adj3" fmla="val 285662"/>
                <a:gd name="adj4" fmla="val 71236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greatest key</a:t>
              </a:r>
            </a:p>
          </p:txBody>
        </p:sp>
        <p:sp>
          <p:nvSpPr>
            <p:cNvPr id="20499" name="Line 18"/>
            <p:cNvSpPr>
              <a:spLocks noChangeShapeType="1"/>
            </p:cNvSpPr>
            <p:nvPr/>
          </p:nvSpPr>
          <p:spPr bwMode="auto">
            <a:xfrm>
              <a:off x="4981576" y="4341990"/>
              <a:ext cx="684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0" name="Line 15"/>
            <p:cNvSpPr>
              <a:spLocks noChangeShapeType="1"/>
            </p:cNvSpPr>
            <p:nvPr/>
          </p:nvSpPr>
          <p:spPr bwMode="auto">
            <a:xfrm>
              <a:off x="8971074" y="4354691"/>
              <a:ext cx="365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7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Implementation of maps using SLLs </a:t>
            </a:r>
            <a:r>
              <a:rPr lang="en-US" altLang="en-US" i="1"/>
              <a:t>(2)</a:t>
            </a:r>
            <a:endParaRPr lang="en-GB" altLang="en-US" i="1"/>
          </a:p>
        </p:txBody>
      </p:sp>
      <p:graphicFrame>
        <p:nvGraphicFramePr>
          <p:cNvPr id="416773" name="Group 5"/>
          <p:cNvGraphicFramePr>
            <a:graphicFrameLocks noGrp="1"/>
          </p:cNvGraphicFramePr>
          <p:nvPr/>
        </p:nvGraphicFramePr>
        <p:xfrm>
          <a:off x="4813300" y="1808163"/>
          <a:ext cx="2025650" cy="2271713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6799" name="Rectangle 31"/>
          <p:cNvSpPr>
            <a:spLocks noChangeArrowheads="1"/>
          </p:cNvSpPr>
          <p:nvPr/>
        </p:nvSpPr>
        <p:spPr bwMode="auto">
          <a:xfrm>
            <a:off x="2152650" y="1808163"/>
            <a:ext cx="1371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Illustration: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1403350" y="4246563"/>
            <a:ext cx="7632700" cy="990600"/>
            <a:chOff x="884" y="2675"/>
            <a:chExt cx="4808" cy="624"/>
          </a:xfrm>
        </p:grpSpPr>
        <p:sp>
          <p:nvSpPr>
            <p:cNvPr id="21535" name="Rectangle 32"/>
            <p:cNvSpPr>
              <a:spLocks noChangeArrowheads="1"/>
            </p:cNvSpPr>
            <p:nvPr/>
          </p:nvSpPr>
          <p:spPr bwMode="auto">
            <a:xfrm>
              <a:off x="3080" y="2675"/>
              <a:ext cx="115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is represented by</a:t>
              </a:r>
            </a:p>
          </p:txBody>
        </p:sp>
        <p:grpSp>
          <p:nvGrpSpPr>
            <p:cNvPr id="21536" name="Group 57"/>
            <p:cNvGrpSpPr>
              <a:grpSpLocks/>
            </p:cNvGrpSpPr>
            <p:nvPr/>
          </p:nvGrpSpPr>
          <p:grpSpPr bwMode="auto">
            <a:xfrm>
              <a:off x="884" y="2914"/>
              <a:ext cx="4808" cy="385"/>
              <a:chOff x="884" y="2999"/>
              <a:chExt cx="4808" cy="385"/>
            </a:xfrm>
          </p:grpSpPr>
          <p:sp>
            <p:nvSpPr>
              <p:cNvPr id="21537" name="Rectangle 35"/>
              <p:cNvSpPr>
                <a:spLocks noChangeArrowheads="1"/>
              </p:cNvSpPr>
              <p:nvPr/>
            </p:nvSpPr>
            <p:spPr bwMode="auto">
              <a:xfrm>
                <a:off x="5212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Xe	54</a:t>
                </a:r>
              </a:p>
            </p:txBody>
          </p:sp>
          <p:sp>
            <p:nvSpPr>
              <p:cNvPr id="21538" name="Rectangle 36"/>
              <p:cNvSpPr>
                <a:spLocks noChangeArrowheads="1"/>
              </p:cNvSpPr>
              <p:nvPr/>
            </p:nvSpPr>
            <p:spPr bwMode="auto">
              <a:xfrm>
                <a:off x="4444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Rn	86</a:t>
                </a:r>
              </a:p>
            </p:txBody>
          </p:sp>
          <p:sp>
            <p:nvSpPr>
              <p:cNvPr id="21539" name="Rectangle 37"/>
              <p:cNvSpPr>
                <a:spLocks noChangeArrowheads="1"/>
              </p:cNvSpPr>
              <p:nvPr/>
            </p:nvSpPr>
            <p:spPr bwMode="auto">
              <a:xfrm>
                <a:off x="3676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Ne	10</a:t>
                </a:r>
              </a:p>
            </p:txBody>
          </p:sp>
          <p:sp>
            <p:nvSpPr>
              <p:cNvPr id="21540" name="Rectangle 38"/>
              <p:cNvSpPr>
                <a:spLocks noChangeArrowheads="1"/>
              </p:cNvSpPr>
              <p:nvPr/>
            </p:nvSpPr>
            <p:spPr bwMode="auto">
              <a:xfrm>
                <a:off x="2908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Kr	36</a:t>
                </a:r>
              </a:p>
            </p:txBody>
          </p:sp>
          <p:sp>
            <p:nvSpPr>
              <p:cNvPr id="21541" name="Rectangle 39"/>
              <p:cNvSpPr>
                <a:spLocks noChangeArrowheads="1"/>
              </p:cNvSpPr>
              <p:nvPr/>
            </p:nvSpPr>
            <p:spPr bwMode="auto">
              <a:xfrm>
                <a:off x="2140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He	2</a:t>
                </a:r>
              </a:p>
            </p:txBody>
          </p:sp>
          <p:sp>
            <p:nvSpPr>
              <p:cNvPr id="21542" name="Rectangle 40"/>
              <p:cNvSpPr>
                <a:spLocks noChangeArrowheads="1"/>
              </p:cNvSpPr>
              <p:nvPr/>
            </p:nvSpPr>
            <p:spPr bwMode="auto">
              <a:xfrm>
                <a:off x="1372" y="2999"/>
                <a:ext cx="480" cy="198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571500" algn="r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571500" algn="r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571500" algn="r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/>
                  <a:t>Ar 18</a:t>
                </a:r>
              </a:p>
            </p:txBody>
          </p:sp>
          <p:sp>
            <p:nvSpPr>
              <p:cNvPr id="21543" name="Rectangle 41"/>
              <p:cNvSpPr>
                <a:spLocks noChangeArrowheads="1"/>
              </p:cNvSpPr>
              <p:nvPr/>
            </p:nvSpPr>
            <p:spPr bwMode="auto">
              <a:xfrm>
                <a:off x="884" y="2999"/>
                <a:ext cx="200" cy="181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544" name="Line 42"/>
              <p:cNvSpPr>
                <a:spLocks noChangeShapeType="1"/>
              </p:cNvSpPr>
              <p:nvPr/>
            </p:nvSpPr>
            <p:spPr bwMode="auto">
              <a:xfrm>
                <a:off x="1756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5" name="Line 43"/>
              <p:cNvSpPr>
                <a:spLocks noChangeShapeType="1"/>
              </p:cNvSpPr>
              <p:nvPr/>
            </p:nvSpPr>
            <p:spPr bwMode="auto">
              <a:xfrm>
                <a:off x="2524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6" name="Line 44"/>
              <p:cNvSpPr>
                <a:spLocks noChangeShapeType="1"/>
              </p:cNvSpPr>
              <p:nvPr/>
            </p:nvSpPr>
            <p:spPr bwMode="auto">
              <a:xfrm>
                <a:off x="5596" y="3101"/>
                <a:ext cx="2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7" name="Line 45"/>
              <p:cNvSpPr>
                <a:spLocks noChangeShapeType="1"/>
              </p:cNvSpPr>
              <p:nvPr/>
            </p:nvSpPr>
            <p:spPr bwMode="auto">
              <a:xfrm>
                <a:off x="3292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8" name="Line 46"/>
              <p:cNvSpPr>
                <a:spLocks noChangeShapeType="1"/>
              </p:cNvSpPr>
              <p:nvPr/>
            </p:nvSpPr>
            <p:spPr bwMode="auto">
              <a:xfrm>
                <a:off x="4060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49" name="Line 47"/>
              <p:cNvSpPr>
                <a:spLocks noChangeShapeType="1"/>
              </p:cNvSpPr>
              <p:nvPr/>
            </p:nvSpPr>
            <p:spPr bwMode="auto">
              <a:xfrm>
                <a:off x="4828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0" name="Line 48"/>
              <p:cNvSpPr>
                <a:spLocks noChangeShapeType="1"/>
              </p:cNvSpPr>
              <p:nvPr/>
            </p:nvSpPr>
            <p:spPr bwMode="auto">
              <a:xfrm>
                <a:off x="988" y="3101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1" name="Rectangle 54"/>
              <p:cNvSpPr>
                <a:spLocks noChangeArrowheads="1"/>
              </p:cNvSpPr>
              <p:nvPr/>
            </p:nvSpPr>
            <p:spPr bwMode="auto">
              <a:xfrm>
                <a:off x="884" y="3180"/>
                <a:ext cx="204" cy="20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552" name="Rectangle 55"/>
              <p:cNvSpPr>
                <a:spLocks noChangeArrowheads="1"/>
              </p:cNvSpPr>
              <p:nvPr/>
            </p:nvSpPr>
            <p:spPr bwMode="auto">
              <a:xfrm>
                <a:off x="907" y="3202"/>
                <a:ext cx="159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lnSpc>
                    <a:spcPts val="18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6</a:t>
                </a:r>
                <a:endParaRPr lang="en-US" altLang="en-US" sz="1800"/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2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9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533400"/>
            <a:ext cx="6142038" cy="7191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Implementation of maps using SLLs </a:t>
            </a:r>
            <a:r>
              <a:rPr lang="en-US" altLang="en-US" i="1" dirty="0"/>
              <a:t>(3)</a:t>
            </a:r>
            <a:endParaRPr lang="en-GB" altLang="en-US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7813" y="1700213"/>
            <a:ext cx="7200900" cy="4621212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418852" name="Group 36"/>
          <p:cNvGraphicFramePr>
            <a:graphicFrameLocks noGrp="1"/>
          </p:cNvGraphicFramePr>
          <p:nvPr>
            <p:ph sz="half" idx="2"/>
          </p:nvPr>
        </p:nvGraphicFramePr>
        <p:xfrm>
          <a:off x="1692275" y="2349500"/>
          <a:ext cx="7343775" cy="2378076"/>
        </p:xfrm>
        <a:graphic>
          <a:graphicData uri="http://schemas.openxmlformats.org/drawingml/2006/table">
            <a:tbl>
              <a:tblPr/>
              <a:tblGrid>
                <a:gridCol w="140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2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complexity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SLL linear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SLL linear search, then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SLL linear search, then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putAll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variant of SLL merge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pairwise equality test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4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Implementation of maps using BSTs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Represent an (unbounded) map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variable </a:t>
            </a:r>
            <a:r>
              <a:rPr lang="en-US" altLang="en-US" i="1">
                <a:cs typeface="Times New Roman" pitchFamily="18" charset="0"/>
              </a:rPr>
              <a:t>size</a:t>
            </a:r>
            <a:endParaRPr lang="en-US" altLang="en-US">
              <a:cs typeface="Times New Roman" pitchFamily="18" charset="0"/>
            </a:endParaRP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BST, containing one entry per node,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in which the entries are ordered by their keys.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979613" y="3532188"/>
            <a:ext cx="4191000" cy="1554162"/>
            <a:chOff x="1247" y="2225"/>
            <a:chExt cx="2640" cy="979"/>
          </a:xfrm>
        </p:grpSpPr>
        <p:sp>
          <p:nvSpPr>
            <p:cNvPr id="23563" name="Rectangle 5"/>
            <p:cNvSpPr>
              <a:spLocks noChangeArrowheads="1"/>
            </p:cNvSpPr>
            <p:nvPr/>
          </p:nvSpPr>
          <p:spPr bwMode="auto">
            <a:xfrm>
              <a:off x="1247" y="2241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23564" name="Rectangle 6"/>
            <p:cNvSpPr>
              <a:spLocks noChangeArrowheads="1"/>
            </p:cNvSpPr>
            <p:nvPr/>
          </p:nvSpPr>
          <p:spPr bwMode="auto">
            <a:xfrm>
              <a:off x="2162" y="222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3565" name="Freeform 7"/>
            <p:cNvSpPr>
              <a:spLocks/>
            </p:cNvSpPr>
            <p:nvPr/>
          </p:nvSpPr>
          <p:spPr bwMode="auto">
            <a:xfrm>
              <a:off x="2581" y="2225"/>
              <a:ext cx="1306" cy="979"/>
            </a:xfrm>
            <a:custGeom>
              <a:avLst/>
              <a:gdLst>
                <a:gd name="T0" fmla="*/ 273 w 1306"/>
                <a:gd name="T1" fmla="*/ 0 h 979"/>
                <a:gd name="T2" fmla="*/ 1033 w 1306"/>
                <a:gd name="T3" fmla="*/ 0 h 979"/>
                <a:gd name="T4" fmla="*/ 1306 w 1306"/>
                <a:gd name="T5" fmla="*/ 979 h 979"/>
                <a:gd name="T6" fmla="*/ 0 w 1306"/>
                <a:gd name="T7" fmla="*/ 979 h 979"/>
                <a:gd name="T8" fmla="*/ 273 w 1306"/>
                <a:gd name="T9" fmla="*/ 0 h 9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6"/>
                <a:gd name="T16" fmla="*/ 0 h 979"/>
                <a:gd name="T17" fmla="*/ 1306 w 1306"/>
                <a:gd name="T18" fmla="*/ 979 h 9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6" h="979">
                  <a:moveTo>
                    <a:pt x="273" y="0"/>
                  </a:moveTo>
                  <a:lnTo>
                    <a:pt x="1033" y="0"/>
                  </a:lnTo>
                  <a:lnTo>
                    <a:pt x="1306" y="979"/>
                  </a:lnTo>
                  <a:lnTo>
                    <a:pt x="0" y="979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6" name="Line 8"/>
            <p:cNvSpPr>
              <a:spLocks noChangeShapeType="1"/>
            </p:cNvSpPr>
            <p:nvPr/>
          </p:nvSpPr>
          <p:spPr bwMode="auto">
            <a:xfrm>
              <a:off x="2258" y="2325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7" name="Rectangle 9"/>
            <p:cNvSpPr>
              <a:spLocks noChangeArrowheads="1"/>
            </p:cNvSpPr>
            <p:nvPr/>
          </p:nvSpPr>
          <p:spPr bwMode="auto">
            <a:xfrm>
              <a:off x="3069" y="2691"/>
              <a:ext cx="34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BST</a:t>
              </a:r>
              <a:endParaRPr lang="en-US" altLang="en-US" sz="1800"/>
            </a:p>
          </p:txBody>
        </p:sp>
        <p:sp>
          <p:nvSpPr>
            <p:cNvPr id="23568" name="Rectangle 10"/>
            <p:cNvSpPr>
              <a:spLocks noChangeArrowheads="1"/>
            </p:cNvSpPr>
            <p:nvPr/>
          </p:nvSpPr>
          <p:spPr bwMode="auto">
            <a:xfrm>
              <a:off x="2162" y="242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3569" name="Rectangle 11"/>
            <p:cNvSpPr>
              <a:spLocks noChangeArrowheads="1"/>
            </p:cNvSpPr>
            <p:nvPr/>
          </p:nvSpPr>
          <p:spPr bwMode="auto">
            <a:xfrm>
              <a:off x="2177" y="2421"/>
              <a:ext cx="15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n</a:t>
              </a:r>
              <a:endParaRPr lang="en-US" altLang="en-US" sz="1800" i="1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1979613" y="5483225"/>
            <a:ext cx="1757362" cy="609600"/>
            <a:chOff x="1247" y="3454"/>
            <a:chExt cx="1107" cy="384"/>
          </a:xfrm>
        </p:grpSpPr>
        <p:sp>
          <p:nvSpPr>
            <p:cNvPr id="23558" name="Rectangle 13"/>
            <p:cNvSpPr>
              <a:spLocks noChangeArrowheads="1"/>
            </p:cNvSpPr>
            <p:nvPr/>
          </p:nvSpPr>
          <p:spPr bwMode="auto">
            <a:xfrm>
              <a:off x="1247" y="3454"/>
              <a:ext cx="8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map:</a:t>
              </a:r>
              <a:endParaRPr lang="en-US" altLang="en-US" sz="1800"/>
            </a:p>
          </p:txBody>
        </p:sp>
        <p:sp>
          <p:nvSpPr>
            <p:cNvPr id="23559" name="Rectangle 14"/>
            <p:cNvSpPr>
              <a:spLocks noChangeArrowheads="1"/>
            </p:cNvSpPr>
            <p:nvPr/>
          </p:nvSpPr>
          <p:spPr bwMode="auto">
            <a:xfrm>
              <a:off x="2162" y="345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3560" name="Line 15"/>
            <p:cNvSpPr>
              <a:spLocks noChangeShapeType="1"/>
            </p:cNvSpPr>
            <p:nvPr/>
          </p:nvSpPr>
          <p:spPr bwMode="auto">
            <a:xfrm>
              <a:off x="2258" y="355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561" name="Rectangle 16"/>
            <p:cNvSpPr>
              <a:spLocks noChangeArrowheads="1"/>
            </p:cNvSpPr>
            <p:nvPr/>
          </p:nvSpPr>
          <p:spPr bwMode="auto">
            <a:xfrm>
              <a:off x="2162" y="364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3562" name="Rectangle 17"/>
            <p:cNvSpPr>
              <a:spLocks noChangeArrowheads="1"/>
            </p:cNvSpPr>
            <p:nvPr/>
          </p:nvSpPr>
          <p:spPr bwMode="auto">
            <a:xfrm>
              <a:off x="2177" y="3646"/>
              <a:ext cx="15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Implementation of maps using BSTs </a:t>
            </a:r>
            <a:r>
              <a:rPr lang="en-US" altLang="en-US" i="1"/>
              <a:t>(2)</a:t>
            </a:r>
            <a:endParaRPr lang="en-GB" altLang="en-US" i="1"/>
          </a:p>
        </p:txBody>
      </p:sp>
      <p:graphicFrame>
        <p:nvGraphicFramePr>
          <p:cNvPr id="419845" name="Group 5"/>
          <p:cNvGraphicFramePr>
            <a:graphicFrameLocks noGrp="1"/>
          </p:cNvGraphicFramePr>
          <p:nvPr/>
        </p:nvGraphicFramePr>
        <p:xfrm>
          <a:off x="4992688" y="1808163"/>
          <a:ext cx="2025650" cy="2271713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9871" name="Rectangle 31"/>
          <p:cNvSpPr>
            <a:spLocks noChangeArrowheads="1"/>
          </p:cNvSpPr>
          <p:nvPr/>
        </p:nvSpPr>
        <p:spPr bwMode="auto">
          <a:xfrm>
            <a:off x="2332038" y="1808163"/>
            <a:ext cx="1371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Illustration: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4124325" y="4287838"/>
            <a:ext cx="3868738" cy="1928812"/>
            <a:chOff x="2598" y="2701"/>
            <a:chExt cx="2437" cy="1215"/>
          </a:xfrm>
        </p:grpSpPr>
        <p:sp>
          <p:nvSpPr>
            <p:cNvPr id="24607" name="Rectangle 32"/>
            <p:cNvSpPr>
              <a:spLocks noChangeArrowheads="1"/>
            </p:cNvSpPr>
            <p:nvPr/>
          </p:nvSpPr>
          <p:spPr bwMode="auto">
            <a:xfrm>
              <a:off x="2993" y="2701"/>
              <a:ext cx="161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could be represented by</a:t>
              </a:r>
            </a:p>
          </p:txBody>
        </p:sp>
        <p:sp>
          <p:nvSpPr>
            <p:cNvPr id="24608" name="Rectangle 35"/>
            <p:cNvSpPr>
              <a:spLocks noChangeArrowheads="1"/>
            </p:cNvSpPr>
            <p:nvPr/>
          </p:nvSpPr>
          <p:spPr bwMode="auto">
            <a:xfrm>
              <a:off x="4460" y="3713"/>
              <a:ext cx="575" cy="2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Xe	54</a:t>
              </a:r>
            </a:p>
          </p:txBody>
        </p:sp>
        <p:sp>
          <p:nvSpPr>
            <p:cNvPr id="24609" name="Rectangle 36"/>
            <p:cNvSpPr>
              <a:spLocks noChangeArrowheads="1"/>
            </p:cNvSpPr>
            <p:nvPr/>
          </p:nvSpPr>
          <p:spPr bwMode="auto">
            <a:xfrm>
              <a:off x="4146" y="3350"/>
              <a:ext cx="572" cy="18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Rn	86</a:t>
              </a:r>
            </a:p>
          </p:txBody>
        </p:sp>
        <p:sp>
          <p:nvSpPr>
            <p:cNvPr id="24610" name="Rectangle 37"/>
            <p:cNvSpPr>
              <a:spLocks noChangeArrowheads="1"/>
            </p:cNvSpPr>
            <p:nvPr/>
          </p:nvSpPr>
          <p:spPr bwMode="auto">
            <a:xfrm>
              <a:off x="3811" y="3713"/>
              <a:ext cx="575" cy="2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Ne	10</a:t>
              </a:r>
            </a:p>
          </p:txBody>
        </p:sp>
        <p:sp>
          <p:nvSpPr>
            <p:cNvPr id="24611" name="Rectangle 38"/>
            <p:cNvSpPr>
              <a:spLocks noChangeArrowheads="1"/>
            </p:cNvSpPr>
            <p:nvPr/>
          </p:nvSpPr>
          <p:spPr bwMode="auto">
            <a:xfrm>
              <a:off x="3615" y="2962"/>
              <a:ext cx="575" cy="2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Kr	36</a:t>
              </a:r>
            </a:p>
          </p:txBody>
        </p:sp>
        <p:sp>
          <p:nvSpPr>
            <p:cNvPr id="24612" name="Rectangle 39"/>
            <p:cNvSpPr>
              <a:spLocks noChangeArrowheads="1"/>
            </p:cNvSpPr>
            <p:nvPr/>
          </p:nvSpPr>
          <p:spPr bwMode="auto">
            <a:xfrm>
              <a:off x="3282" y="3350"/>
              <a:ext cx="574" cy="18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He	2</a:t>
              </a:r>
            </a:p>
          </p:txBody>
        </p:sp>
        <p:sp>
          <p:nvSpPr>
            <p:cNvPr id="24613" name="Rectangle 40"/>
            <p:cNvSpPr>
              <a:spLocks noChangeArrowheads="1"/>
            </p:cNvSpPr>
            <p:nvPr/>
          </p:nvSpPr>
          <p:spPr bwMode="auto">
            <a:xfrm>
              <a:off x="2948" y="3713"/>
              <a:ext cx="575" cy="2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571500" algn="r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571500" algn="r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571500" algn="r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Ar	18</a:t>
              </a:r>
            </a:p>
          </p:txBody>
        </p:sp>
        <p:sp>
          <p:nvSpPr>
            <p:cNvPr id="24614" name="Rectangle 41"/>
            <p:cNvSpPr>
              <a:spLocks noChangeArrowheads="1"/>
            </p:cNvSpPr>
            <p:nvPr/>
          </p:nvSpPr>
          <p:spPr bwMode="auto">
            <a:xfrm>
              <a:off x="2598" y="295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4615" name="Line 42"/>
            <p:cNvSpPr>
              <a:spLocks noChangeShapeType="1"/>
            </p:cNvSpPr>
            <p:nvPr/>
          </p:nvSpPr>
          <p:spPr bwMode="auto">
            <a:xfrm flipH="1">
              <a:off x="3221" y="3486"/>
              <a:ext cx="113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6" name="Line 43"/>
            <p:cNvSpPr>
              <a:spLocks noChangeShapeType="1"/>
            </p:cNvSpPr>
            <p:nvPr/>
          </p:nvSpPr>
          <p:spPr bwMode="auto">
            <a:xfrm>
              <a:off x="4990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7" name="Line 44"/>
            <p:cNvSpPr>
              <a:spLocks noChangeShapeType="1"/>
            </p:cNvSpPr>
            <p:nvPr/>
          </p:nvSpPr>
          <p:spPr bwMode="auto">
            <a:xfrm>
              <a:off x="4127" y="3113"/>
              <a:ext cx="295" cy="2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8" name="Line 45"/>
            <p:cNvSpPr>
              <a:spLocks noChangeShapeType="1"/>
            </p:cNvSpPr>
            <p:nvPr/>
          </p:nvSpPr>
          <p:spPr bwMode="auto">
            <a:xfrm>
              <a:off x="4667" y="3473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19" name="Line 46"/>
            <p:cNvSpPr>
              <a:spLocks noChangeShapeType="1"/>
            </p:cNvSpPr>
            <p:nvPr/>
          </p:nvSpPr>
          <p:spPr bwMode="auto">
            <a:xfrm>
              <a:off x="2681" y="3055"/>
              <a:ext cx="9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0" name="Line 47"/>
            <p:cNvSpPr>
              <a:spLocks noChangeShapeType="1"/>
            </p:cNvSpPr>
            <p:nvPr/>
          </p:nvSpPr>
          <p:spPr bwMode="auto">
            <a:xfrm flipH="1">
              <a:off x="4124" y="348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1" name="Line 48"/>
            <p:cNvSpPr>
              <a:spLocks noChangeShapeType="1"/>
            </p:cNvSpPr>
            <p:nvPr/>
          </p:nvSpPr>
          <p:spPr bwMode="auto">
            <a:xfrm flipH="1">
              <a:off x="3554" y="3113"/>
              <a:ext cx="12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2" name="Line 49"/>
            <p:cNvSpPr>
              <a:spLocks noChangeShapeType="1"/>
            </p:cNvSpPr>
            <p:nvPr/>
          </p:nvSpPr>
          <p:spPr bwMode="auto">
            <a:xfrm>
              <a:off x="4537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3" name="Line 50"/>
            <p:cNvSpPr>
              <a:spLocks noChangeShapeType="1"/>
            </p:cNvSpPr>
            <p:nvPr/>
          </p:nvSpPr>
          <p:spPr bwMode="auto">
            <a:xfrm>
              <a:off x="4332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4" name="Line 51"/>
            <p:cNvSpPr>
              <a:spLocks noChangeShapeType="1"/>
            </p:cNvSpPr>
            <p:nvPr/>
          </p:nvSpPr>
          <p:spPr bwMode="auto">
            <a:xfrm>
              <a:off x="3888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5" name="Line 52"/>
            <p:cNvSpPr>
              <a:spLocks noChangeShapeType="1"/>
            </p:cNvSpPr>
            <p:nvPr/>
          </p:nvSpPr>
          <p:spPr bwMode="auto">
            <a:xfrm>
              <a:off x="3469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6" name="Line 53"/>
            <p:cNvSpPr>
              <a:spLocks noChangeShapeType="1"/>
            </p:cNvSpPr>
            <p:nvPr/>
          </p:nvSpPr>
          <p:spPr bwMode="auto">
            <a:xfrm>
              <a:off x="2993" y="386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7" name="Line 54"/>
            <p:cNvSpPr>
              <a:spLocks noChangeShapeType="1"/>
            </p:cNvSpPr>
            <p:nvPr/>
          </p:nvSpPr>
          <p:spPr bwMode="auto">
            <a:xfrm>
              <a:off x="3788" y="348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28" name="Rectangle 55"/>
            <p:cNvSpPr>
              <a:spLocks noChangeArrowheads="1"/>
            </p:cNvSpPr>
            <p:nvPr/>
          </p:nvSpPr>
          <p:spPr bwMode="auto">
            <a:xfrm>
              <a:off x="2598" y="314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4629" name="Rectangle 56"/>
            <p:cNvSpPr>
              <a:spLocks noChangeArrowheads="1"/>
            </p:cNvSpPr>
            <p:nvPr/>
          </p:nvSpPr>
          <p:spPr bwMode="auto">
            <a:xfrm>
              <a:off x="2608" y="3145"/>
              <a:ext cx="15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6</a:t>
              </a:r>
              <a:endParaRPr lang="en-US" altLang="en-US" sz="180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4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33400"/>
            <a:ext cx="6142038" cy="7191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Implementation of maps using BSTs </a:t>
            </a:r>
            <a:r>
              <a:rPr lang="en-US" altLang="en-US" i="1" dirty="0"/>
              <a:t>(3)</a:t>
            </a:r>
            <a:endParaRPr lang="en-GB" altLang="en-US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47813" y="1700213"/>
            <a:ext cx="7200900" cy="3292335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Summary of algorithms and time complexities:</a:t>
            </a:r>
          </a:p>
        </p:txBody>
      </p:sp>
      <p:graphicFrame>
        <p:nvGraphicFramePr>
          <p:cNvPr id="420910" name="Group 4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229024"/>
              </p:ext>
            </p:extLst>
          </p:nvPr>
        </p:nvGraphicFramePr>
        <p:xfrm>
          <a:off x="914400" y="2209800"/>
          <a:ext cx="7605713" cy="3292335"/>
        </p:xfrm>
        <a:graphic>
          <a:graphicData uri="http://schemas.openxmlformats.org/drawingml/2006/table">
            <a:tbl>
              <a:tblPr/>
              <a:tblGrid>
                <a:gridCol w="1453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6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Worst case time complexity</a:t>
                      </a:r>
                      <a:b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balanced	unbalanced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BST search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BST deletion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   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BST insertion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putAll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BST merge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))*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traversal of 2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set comb-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ined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with search of 1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BST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Rectangle 31">
            <a:extLst>
              <a:ext uri="{FF2B5EF4-FFF2-40B4-BE49-F238E27FC236}">
                <a16:creationId xmlns:a16="http://schemas.microsoft.com/office/drawing/2014/main" id="{CC8F7EF7-0A41-9D55-79DB-851CEF2D5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019800"/>
            <a:ext cx="678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* Remember the BST grows as more elements added, so could have size up to  </a:t>
            </a:r>
            <a:r>
              <a:rPr lang="en-US" altLang="en-US" sz="1800" dirty="0" err="1">
                <a:solidFill>
                  <a:srgbClr val="000000"/>
                </a:solidFill>
              </a:rPr>
              <a:t>n+n</a:t>
            </a:r>
            <a:r>
              <a:rPr lang="en-US" altLang="en-US" sz="1800" dirty="0">
                <a:solidFill>
                  <a:srgbClr val="000000"/>
                </a:solidFill>
              </a:rPr>
              <a:t>’:</a:t>
            </a:r>
          </a:p>
        </p:txBody>
      </p:sp>
    </p:spTree>
    <p:extLst>
      <p:ext uri="{BB962C8B-B14F-4D97-AF65-F5344CB8AC3E}">
        <p14:creationId xmlns:p14="http://schemas.microsoft.com/office/powerpoint/2010/main" val="294119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7620000" cy="7191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Summary of map implementations</a:t>
            </a:r>
            <a:endParaRPr lang="en-GB" altLang="en-US" sz="2800" dirty="0"/>
          </a:p>
        </p:txBody>
      </p:sp>
      <p:graphicFrame>
        <p:nvGraphicFramePr>
          <p:cNvPr id="394399" name="Group 15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73931105"/>
              </p:ext>
            </p:extLst>
          </p:nvPr>
        </p:nvGraphicFramePr>
        <p:xfrm>
          <a:off x="304800" y="1752600"/>
          <a:ext cx="8686800" cy="3535383"/>
        </p:xfrm>
        <a:graphic>
          <a:graphicData uri="http://schemas.openxmlformats.org/drawingml/2006/table">
            <a:tbl>
              <a:tblPr/>
              <a:tblGrid>
                <a:gridCol w="1361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9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Key-indexed array repr-esentation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Entry array represent-ation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repr-esentation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BST representation</a:t>
                      </a:r>
                      <a:b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balanced	unbalanced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remove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 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putAll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equals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416175" algn="r"/>
                        </a:tabLst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log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+mn-cs"/>
                        </a:rPr>
                        <a:t>   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n'n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95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0486-AEFD-684F-B44B-309CBB183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6142038" cy="719137"/>
          </a:xfrm>
        </p:spPr>
        <p:txBody>
          <a:bodyPr>
            <a:normAutofit/>
          </a:bodyPr>
          <a:lstStyle/>
          <a:p>
            <a:r>
              <a:rPr lang="en-US" sz="2800" dirty="0"/>
              <a:t>Update on diagram - what is missing?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7AD334-9DA2-8C4F-A7F0-3FB37D3B72A8}"/>
              </a:ext>
            </a:extLst>
          </p:cNvPr>
          <p:cNvGrpSpPr/>
          <p:nvPr/>
        </p:nvGrpSpPr>
        <p:grpSpPr>
          <a:xfrm>
            <a:off x="1241827" y="1494544"/>
            <a:ext cx="6660346" cy="3776580"/>
            <a:chOff x="2445565" y="1378708"/>
            <a:chExt cx="6660346" cy="37765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317893-3D55-7D40-82DC-6094758A68A0}"/>
                </a:ext>
              </a:extLst>
            </p:cNvPr>
            <p:cNvSpPr txBox="1"/>
            <p:nvPr/>
          </p:nvSpPr>
          <p:spPr>
            <a:xfrm>
              <a:off x="2730262" y="2822585"/>
              <a:ext cx="87070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               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C31A36-D3BC-6D40-8B8D-225C884F3335}"/>
                </a:ext>
              </a:extLst>
            </p:cNvPr>
            <p:cNvSpPr txBox="1"/>
            <p:nvPr/>
          </p:nvSpPr>
          <p:spPr>
            <a:xfrm>
              <a:off x="2445565" y="1378708"/>
              <a:ext cx="1440100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push, pop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E6F78D-C920-7746-A588-0555D6EFE526}"/>
                </a:ext>
              </a:extLst>
            </p:cNvPr>
            <p:cNvSpPr txBox="1"/>
            <p:nvPr/>
          </p:nvSpPr>
          <p:spPr>
            <a:xfrm>
              <a:off x="4266125" y="1390439"/>
              <a:ext cx="1261242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 err="1"/>
                <a:t>getFirst</a:t>
              </a:r>
              <a:r>
                <a:rPr lang="en-US" dirty="0"/>
                <a:t>, </a:t>
              </a:r>
              <a:r>
                <a:rPr lang="en-US" dirty="0" err="1"/>
                <a:t>addLast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EF258C-5561-9147-967E-C1D6CE1A7CD6}"/>
                </a:ext>
              </a:extLst>
            </p:cNvPr>
            <p:cNvSpPr txBox="1"/>
            <p:nvPr/>
          </p:nvSpPr>
          <p:spPr>
            <a:xfrm>
              <a:off x="2667805" y="4247846"/>
              <a:ext cx="1011824" cy="369332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array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C930DD-5BAF-B741-A922-6904B9CE68BB}"/>
                </a:ext>
              </a:extLst>
            </p:cNvPr>
            <p:cNvSpPr txBox="1"/>
            <p:nvPr/>
          </p:nvSpPr>
          <p:spPr>
            <a:xfrm>
              <a:off x="4484352" y="4294013"/>
              <a:ext cx="1011824" cy="646331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linked list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3CD70BF-B04B-9E4B-876A-43360AA4B18D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3165615" y="2025039"/>
              <a:ext cx="0" cy="797546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1F8D0E4-64FD-EC48-A63B-C62CC2DCEEB8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844742" y="2313769"/>
              <a:ext cx="0" cy="50938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38780D-F5ED-A34C-B92B-B4C73F077002}"/>
                </a:ext>
              </a:extLst>
            </p:cNvPr>
            <p:cNvSpPr txBox="1"/>
            <p:nvPr/>
          </p:nvSpPr>
          <p:spPr>
            <a:xfrm>
              <a:off x="4338830" y="2823153"/>
              <a:ext cx="1011824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queue                     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4EE4F5-2577-1E4E-9C10-5F180968EF24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>
              <a:off x="3165615" y="3191917"/>
              <a:ext cx="8102" cy="105592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F0E7882-B864-0542-883B-C2E8A7ECCB59}"/>
                </a:ext>
              </a:extLst>
            </p:cNvPr>
            <p:cNvCxnSpPr>
              <a:cxnSpLocks/>
            </p:cNvCxnSpPr>
            <p:nvPr/>
          </p:nvCxnSpPr>
          <p:spPr>
            <a:xfrm>
              <a:off x="3217457" y="3222695"/>
              <a:ext cx="1472657" cy="1039473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AE6E4BE-526F-D540-889C-C5070C68BCF0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921011" y="3184533"/>
              <a:ext cx="69253" cy="1109480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196ADD8-7C99-B845-B564-045FE1FB7DF2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2856732" y="3192485"/>
              <a:ext cx="1988010" cy="104004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BA12FE-49FE-0F4F-8688-B962D8A99EF5}"/>
                </a:ext>
              </a:extLst>
            </p:cNvPr>
            <p:cNvSpPr txBox="1"/>
            <p:nvPr/>
          </p:nvSpPr>
          <p:spPr>
            <a:xfrm>
              <a:off x="6002582" y="2822585"/>
              <a:ext cx="870706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list                      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808989-4FB8-BA46-BEB6-861C2262841A}"/>
                </a:ext>
              </a:extLst>
            </p:cNvPr>
            <p:cNvSpPr txBox="1"/>
            <p:nvPr/>
          </p:nvSpPr>
          <p:spPr>
            <a:xfrm>
              <a:off x="7489625" y="2784815"/>
              <a:ext cx="692228" cy="369332"/>
            </a:xfrm>
            <a:prstGeom prst="rect">
              <a:avLst/>
            </a:prstGeom>
            <a:noFill/>
            <a:ln>
              <a:solidFill>
                <a:srgbClr val="3366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set*                   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2A7802-6276-434A-9720-11CF343907BA}"/>
                </a:ext>
              </a:extLst>
            </p:cNvPr>
            <p:cNvSpPr txBox="1"/>
            <p:nvPr/>
          </p:nvSpPr>
          <p:spPr>
            <a:xfrm>
              <a:off x="5941176" y="1409196"/>
              <a:ext cx="932109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get(</a:t>
              </a:r>
              <a:r>
                <a:rPr lang="en-US" dirty="0" err="1"/>
                <a:t>i</a:t>
              </a:r>
              <a:r>
                <a:rPr lang="en-US" dirty="0"/>
                <a:t>), </a:t>
              </a:r>
            </a:p>
            <a:p>
              <a:r>
                <a:rPr lang="en-US" dirty="0"/>
                <a:t>iterate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1D4A8F-7F8B-A04A-A33B-389B7FE3D568}"/>
                </a:ext>
              </a:extLst>
            </p:cNvPr>
            <p:cNvSpPr txBox="1"/>
            <p:nvPr/>
          </p:nvSpPr>
          <p:spPr>
            <a:xfrm>
              <a:off x="7317447" y="1429000"/>
              <a:ext cx="110788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e.g. </a:t>
              </a:r>
            </a:p>
            <a:p>
              <a:r>
                <a:rPr lang="en-US" dirty="0"/>
                <a:t>contains, </a:t>
              </a:r>
              <a:r>
                <a:rPr lang="en-US" dirty="0" err="1"/>
                <a:t>addAll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7D64642-8A38-834A-AE4D-BA77F47FF815}"/>
                </a:ext>
              </a:extLst>
            </p:cNvPr>
            <p:cNvCxnSpPr>
              <a:cxnSpLocks/>
            </p:cNvCxnSpPr>
            <p:nvPr/>
          </p:nvCxnSpPr>
          <p:spPr>
            <a:xfrm>
              <a:off x="6385338" y="2332526"/>
              <a:ext cx="0" cy="520837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852D8B0-9D11-6943-8D43-04696D344710}"/>
                </a:ext>
              </a:extLst>
            </p:cNvPr>
            <p:cNvCxnSpPr/>
            <p:nvPr/>
          </p:nvCxnSpPr>
          <p:spPr>
            <a:xfrm>
              <a:off x="7871390" y="2367135"/>
              <a:ext cx="0" cy="428214"/>
            </a:xfrm>
            <a:prstGeom prst="straightConnector1">
              <a:avLst/>
            </a:prstGeom>
            <a:ln>
              <a:solidFill>
                <a:srgbClr val="0000FF"/>
              </a:solidFill>
              <a:prstDash val="solid"/>
              <a:headEnd type="triangl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90BB1CB-D2B7-3244-B787-C6547FB71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4921" y="3197247"/>
              <a:ext cx="3142430" cy="105059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10E0890-95AB-8744-B76B-A7DE783C9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2049" y="3204591"/>
              <a:ext cx="1331255" cy="1087095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A4236DB-6924-164A-B7E8-D9715251F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0295" y="3182365"/>
              <a:ext cx="4323007" cy="1065481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6E3FC61-9D42-8748-888C-3DD18D6C5533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7347707" y="3154147"/>
              <a:ext cx="488032" cy="1073049"/>
            </a:xfrm>
            <a:prstGeom prst="straightConnector1">
              <a:avLst/>
            </a:prstGeom>
            <a:ln w="26424"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8F9AAC-D44F-A640-8A94-7E6557971E1C}"/>
                </a:ext>
              </a:extLst>
            </p:cNvPr>
            <p:cNvSpPr txBox="1"/>
            <p:nvPr/>
          </p:nvSpPr>
          <p:spPr>
            <a:xfrm>
              <a:off x="6741478" y="4231958"/>
              <a:ext cx="1011824" cy="923330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binary search tree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97247C-5E9D-A143-9292-708ADBE264A5}"/>
                </a:ext>
              </a:extLst>
            </p:cNvPr>
            <p:cNvSpPr txBox="1"/>
            <p:nvPr/>
          </p:nvSpPr>
          <p:spPr>
            <a:xfrm>
              <a:off x="8094087" y="4227196"/>
              <a:ext cx="1011824" cy="646331"/>
            </a:xfrm>
            <a:prstGeom prst="rect">
              <a:avLst/>
            </a:prstGeom>
            <a:noFill/>
            <a:ln>
              <a:solidFill>
                <a:srgbClr val="008000">
                  <a:alpha val="3000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25000"/>
                      <a:lumOff val="75000"/>
                    </a:schemeClr>
                  </a:solidFill>
                </a:rPr>
                <a:t>hash table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C580E30-0793-BE48-BB54-C514E571327E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8094087" y="3182365"/>
              <a:ext cx="505912" cy="1044831"/>
            </a:xfrm>
            <a:prstGeom prst="straightConnector1">
              <a:avLst/>
            </a:prstGeom>
            <a:ln>
              <a:solidFill>
                <a:srgbClr val="FFC000">
                  <a:alpha val="30000"/>
                </a:srgbClr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5196FB5-5013-B64E-9584-0E9D48315887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 flipH="1">
              <a:off x="5336374" y="3154147"/>
              <a:ext cx="2499365" cy="1137539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D559F91-C48C-434F-A49D-62FCD6C9E8F8}"/>
              </a:ext>
            </a:extLst>
          </p:cNvPr>
          <p:cNvSpPr txBox="1"/>
          <p:nvPr/>
        </p:nvSpPr>
        <p:spPr>
          <a:xfrm>
            <a:off x="-77811" y="1688047"/>
            <a:ext cx="144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F6821-F70A-834C-A32F-17411EF991AF}"/>
              </a:ext>
            </a:extLst>
          </p:cNvPr>
          <p:cNvSpPr txBox="1"/>
          <p:nvPr/>
        </p:nvSpPr>
        <p:spPr>
          <a:xfrm>
            <a:off x="41220" y="2969199"/>
            <a:ext cx="121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ADTs: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70C7E1-B7E3-3347-9247-D600F16F6B37}"/>
              </a:ext>
            </a:extLst>
          </p:cNvPr>
          <p:cNvSpPr txBox="1"/>
          <p:nvPr/>
        </p:nvSpPr>
        <p:spPr>
          <a:xfrm>
            <a:off x="1024" y="3588611"/>
            <a:ext cx="2040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1F0CDF-774D-6642-95C9-BAB224D4A8C6}"/>
              </a:ext>
            </a:extLst>
          </p:cNvPr>
          <p:cNvSpPr txBox="1"/>
          <p:nvPr/>
        </p:nvSpPr>
        <p:spPr>
          <a:xfrm>
            <a:off x="41371" y="4257077"/>
            <a:ext cx="144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structure: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48F244-2770-F74D-9C4B-259476B66057}"/>
              </a:ext>
            </a:extLst>
          </p:cNvPr>
          <p:cNvSpPr txBox="1"/>
          <p:nvPr/>
        </p:nvSpPr>
        <p:spPr>
          <a:xfrm>
            <a:off x="7782357" y="2900651"/>
            <a:ext cx="851476" cy="36933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map*                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3D8806-ADFD-A84C-B13E-35050F1E29A1}"/>
              </a:ext>
            </a:extLst>
          </p:cNvPr>
          <p:cNvSpPr txBox="1"/>
          <p:nvPr/>
        </p:nvSpPr>
        <p:spPr>
          <a:xfrm>
            <a:off x="7596868" y="1559641"/>
            <a:ext cx="110788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/>
              <a:t>e.g.</a:t>
            </a:r>
          </a:p>
          <a:p>
            <a:r>
              <a:rPr lang="en-US" dirty="0"/>
              <a:t>put, </a:t>
            </a:r>
            <a:r>
              <a:rPr lang="en-US" dirty="0" err="1"/>
              <a:t>putAll</a:t>
            </a:r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FA2FAA-55E9-6B41-B72E-EAD232D2D200}"/>
              </a:ext>
            </a:extLst>
          </p:cNvPr>
          <p:cNvCxnSpPr>
            <a:cxnSpLocks/>
          </p:cNvCxnSpPr>
          <p:nvPr/>
        </p:nvCxnSpPr>
        <p:spPr>
          <a:xfrm flipH="1">
            <a:off x="6275779" y="3262731"/>
            <a:ext cx="1852692" cy="11009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54C185-4FF8-8540-ACF0-30E25F9D1AFD}"/>
              </a:ext>
            </a:extLst>
          </p:cNvPr>
          <p:cNvCxnSpPr>
            <a:cxnSpLocks/>
          </p:cNvCxnSpPr>
          <p:nvPr/>
        </p:nvCxnSpPr>
        <p:spPr>
          <a:xfrm flipH="1">
            <a:off x="2427921" y="3285303"/>
            <a:ext cx="5386486" cy="1140200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D5F423-6BB4-9948-86EA-50EA07C0120E}"/>
              </a:ext>
            </a:extLst>
          </p:cNvPr>
          <p:cNvCxnSpPr>
            <a:cxnSpLocks/>
          </p:cNvCxnSpPr>
          <p:nvPr/>
        </p:nvCxnSpPr>
        <p:spPr>
          <a:xfrm flipH="1">
            <a:off x="4323629" y="3290065"/>
            <a:ext cx="3658276" cy="1162116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7324965-6A42-C84D-A124-08177A3FAD6E}"/>
              </a:ext>
            </a:extLst>
          </p:cNvPr>
          <p:cNvCxnSpPr>
            <a:cxnSpLocks/>
          </p:cNvCxnSpPr>
          <p:nvPr/>
        </p:nvCxnSpPr>
        <p:spPr>
          <a:xfrm flipH="1">
            <a:off x="7782357" y="3307436"/>
            <a:ext cx="511307" cy="1042848"/>
          </a:xfrm>
          <a:prstGeom prst="straightConnector1">
            <a:avLst/>
          </a:prstGeom>
          <a:ln>
            <a:solidFill>
              <a:srgbClr val="FFC000">
                <a:alpha val="30000"/>
              </a:srgb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1271644-746F-7E4A-A85A-7B4D17D1E4D4}"/>
              </a:ext>
            </a:extLst>
          </p:cNvPr>
          <p:cNvCxnSpPr/>
          <p:nvPr/>
        </p:nvCxnSpPr>
        <p:spPr>
          <a:xfrm>
            <a:off x="8150811" y="2472437"/>
            <a:ext cx="0" cy="428214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4C6F65-F4CE-8340-B6A2-79CEEF435383}"/>
              </a:ext>
            </a:extLst>
          </p:cNvPr>
          <p:cNvSpPr txBox="1"/>
          <p:nvPr/>
        </p:nvSpPr>
        <p:spPr>
          <a:xfrm>
            <a:off x="4602919" y="5715000"/>
            <a:ext cx="3405581" cy="830997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  + special </a:t>
            </a:r>
            <a:r>
              <a:rPr lang="en-US" sz="1600" dirty="0" err="1"/>
              <a:t>boolean</a:t>
            </a:r>
            <a:r>
              <a:rPr lang="en-US" sz="1600" dirty="0"/>
              <a:t>/value array implementations when entries/keys are small integers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68514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Maps in the Java class library</a:t>
            </a:r>
            <a:endParaRPr lang="en-GB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library interface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java.util.Map&lt;K,V&gt;</a:t>
            </a:r>
            <a:r>
              <a:rPr lang="en-US" altLang="en-US">
                <a:cs typeface="Times New Roman" pitchFamily="18" charset="0"/>
              </a:rPr>
              <a:t> is similar to the above interface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Map&lt;K,V&gt;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library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java.util.TreeMap&lt;K,V&gt;</a:t>
            </a:r>
            <a:r>
              <a:rPr lang="en-US" altLang="en-US">
                <a:cs typeface="Times New Roman" pitchFamily="18" charset="0"/>
              </a:rPr>
              <a:t> implements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java.util.Map&lt;K,V&gt;</a:t>
            </a:r>
            <a:r>
              <a:rPr lang="en-US" altLang="en-US">
                <a:cs typeface="Times New Roman" pitchFamily="18" charset="0"/>
              </a:rPr>
              <a:t>, representing each map by a search-tree (actually a red-black tree).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library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java.util.HashMap&lt;K,V&gt;</a:t>
            </a:r>
            <a:r>
              <a:rPr lang="en-US" altLang="en-US">
                <a:cs typeface="Times New Roman" pitchFamily="18" charset="0"/>
              </a:rPr>
              <a:t> implements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java.util.Map&lt;K,V&gt;</a:t>
            </a:r>
            <a:r>
              <a:rPr lang="en-US" altLang="en-US">
                <a:cs typeface="Times New Roman" pitchFamily="18" charset="0"/>
              </a:rPr>
              <a:t>, representing each map by a hash-table (§12).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49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mobile phone contacts </a:t>
            </a:r>
            <a:r>
              <a:rPr lang="en-US" altLang="en-US" i="1"/>
              <a:t>(1)</a:t>
            </a:r>
            <a:endParaRPr lang="en-GB" altLang="en-US" i="1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72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Consider a simple mobile phone equipped with a keypad, display, and non-volatile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memory contains a table of contacts. Each entry consists of a contact’s name and phone number. All names must be distinct.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The mobile phone enables the user 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add a new contact, by entering the contact’s name and phone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display the contacts’ names, one by 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make a call to the currently displayed contact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remove the currently displayed contact.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cs typeface="Times New Roman" pitchFamily="18" charset="0"/>
            </a:endParaRPr>
          </a:p>
          <a:p>
            <a:pPr marL="274320" lvl="1" indent="0" eaLnBrk="1" hangingPunct="1">
              <a:lnSpc>
                <a:spcPct val="90000"/>
              </a:lnSpc>
              <a:buNone/>
            </a:pPr>
            <a:r>
              <a:rPr lang="en-US" altLang="en-US" dirty="0">
                <a:cs typeface="Times New Roman" pitchFamily="18" charset="0"/>
              </a:rPr>
              <a:t>See Moodle for outline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06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944</TotalTime>
  <Words>2416</Words>
  <Application>Microsoft Macintosh PowerPoint</Application>
  <PresentationFormat>On-screen Show (4:3)</PresentationFormat>
  <Paragraphs>524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11. Map ADT</vt:lpstr>
      <vt:lpstr>Update on diagram - what is missing?</vt:lpstr>
      <vt:lpstr>Map concepts (1)</vt:lpstr>
      <vt:lpstr>Example: maps</vt:lpstr>
      <vt:lpstr>Map concepts (2)</vt:lpstr>
      <vt:lpstr>Map concepts (3)</vt:lpstr>
      <vt:lpstr>Map applications (1)</vt:lpstr>
      <vt:lpstr>Map applications (2)</vt:lpstr>
      <vt:lpstr>Map ADT: requirements</vt:lpstr>
      <vt:lpstr>Map ADT: contract (1)</vt:lpstr>
      <vt:lpstr>Map ADT: contract (2)</vt:lpstr>
      <vt:lpstr>Map ADT: contract (3)</vt:lpstr>
      <vt:lpstr>Implementation of small-integer-key maps using key-indexed arrays (1)</vt:lpstr>
      <vt:lpstr>Implementation of small-integer-key maps using key-indexed arrays (2)</vt:lpstr>
      <vt:lpstr>Implementation of small-integer-key maps using key-indexed arrays (3)</vt:lpstr>
      <vt:lpstr>Implementation of maps using entry arrays (1)</vt:lpstr>
      <vt:lpstr>Implementation of maps using entry arrays (2)</vt:lpstr>
      <vt:lpstr>Implementation of maps using entry arrays (3)</vt:lpstr>
      <vt:lpstr>Implementation on Moodle</vt:lpstr>
      <vt:lpstr>Implementation of maps using SLLs (1)</vt:lpstr>
      <vt:lpstr>Implementation of maps using SLLs (2)</vt:lpstr>
      <vt:lpstr>Implementation of maps using SLLs (3)</vt:lpstr>
      <vt:lpstr>Implementation of maps using BSTs (1)</vt:lpstr>
      <vt:lpstr>Implementation of maps using BSTs (2)</vt:lpstr>
      <vt:lpstr>Implementation of maps using BSTs (3)</vt:lpstr>
      <vt:lpstr>Summary of map implementations</vt:lpstr>
      <vt:lpstr>Update on diagram - what is missing?</vt:lpstr>
      <vt:lpstr>Maps in the Java class library</vt:lpstr>
      <vt:lpstr>Example: mobile phone contacts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11. Map ADTs</dc:title>
  <dc:creator>Alice</dc:creator>
  <cp:lastModifiedBy>WEI TSUNG CHENG (student)</cp:lastModifiedBy>
  <cp:revision>28</cp:revision>
  <dcterms:created xsi:type="dcterms:W3CDTF">2006-08-16T00:00:00Z</dcterms:created>
  <dcterms:modified xsi:type="dcterms:W3CDTF">2026-03-09T15:34:31Z</dcterms:modified>
</cp:coreProperties>
</file>