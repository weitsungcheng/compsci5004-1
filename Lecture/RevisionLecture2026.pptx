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3"/>
  </p:notesMasterIdLst>
  <p:sldIdLst>
    <p:sldId id="257" r:id="rId2"/>
    <p:sldId id="258" r:id="rId3"/>
    <p:sldId id="259" r:id="rId4"/>
    <p:sldId id="293" r:id="rId5"/>
    <p:sldId id="260" r:id="rId6"/>
    <p:sldId id="294" r:id="rId7"/>
    <p:sldId id="261" r:id="rId8"/>
    <p:sldId id="266" r:id="rId9"/>
    <p:sldId id="267" r:id="rId10"/>
    <p:sldId id="301" r:id="rId11"/>
    <p:sldId id="302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D1A302-C6F0-EB4D-A33C-779F786DBE3F}" v="136" dt="2026-04-23T10:17:32.7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0"/>
    <p:restoredTop sz="94693"/>
  </p:normalViewPr>
  <p:slideViewPr>
    <p:cSldViewPr>
      <p:cViewPr varScale="1">
        <p:scale>
          <a:sx n="118" d="100"/>
          <a:sy n="118" d="100"/>
        </p:scale>
        <p:origin x="143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ce Miller" userId="4bebc58b-94a5-432f-bbf0-38bbaea904dc" providerId="ADAL" clId="{41F48EA6-C98D-50A1-B214-0CAE3A0FCAD9}"/>
    <pc:docChg chg="delSld modSld">
      <pc:chgData name="Alice Miller" userId="4bebc58b-94a5-432f-bbf0-38bbaea904dc" providerId="ADAL" clId="{41F48EA6-C98D-50A1-B214-0CAE3A0FCAD9}" dt="2026-04-23T10:19:23.436" v="223" actId="2696"/>
      <pc:docMkLst>
        <pc:docMk/>
      </pc:docMkLst>
      <pc:sldChg chg="modSp mod">
        <pc:chgData name="Alice Miller" userId="4bebc58b-94a5-432f-bbf0-38bbaea904dc" providerId="ADAL" clId="{41F48EA6-C98D-50A1-B214-0CAE3A0FCAD9}" dt="2026-04-23T08:57:45.102" v="20" actId="20577"/>
        <pc:sldMkLst>
          <pc:docMk/>
          <pc:sldMk cId="710240223" sldId="257"/>
        </pc:sldMkLst>
        <pc:spChg chg="mod">
          <ac:chgData name="Alice Miller" userId="4bebc58b-94a5-432f-bbf0-38bbaea904dc" providerId="ADAL" clId="{41F48EA6-C98D-50A1-B214-0CAE3A0FCAD9}" dt="2026-04-23T08:57:45.102" v="20" actId="20577"/>
          <ac:spMkLst>
            <pc:docMk/>
            <pc:sldMk cId="710240223" sldId="257"/>
            <ac:spMk id="3075" creationId="{00000000-0000-0000-0000-000000000000}"/>
          </ac:spMkLst>
        </pc:spChg>
      </pc:sldChg>
      <pc:sldChg chg="modSp mod">
        <pc:chgData name="Alice Miller" userId="4bebc58b-94a5-432f-bbf0-38bbaea904dc" providerId="ADAL" clId="{41F48EA6-C98D-50A1-B214-0CAE3A0FCAD9}" dt="2026-04-23T10:06:10.937" v="28" actId="20577"/>
        <pc:sldMkLst>
          <pc:docMk/>
          <pc:sldMk cId="2373626273" sldId="260"/>
        </pc:sldMkLst>
        <pc:spChg chg="mod">
          <ac:chgData name="Alice Miller" userId="4bebc58b-94a5-432f-bbf0-38bbaea904dc" providerId="ADAL" clId="{41F48EA6-C98D-50A1-B214-0CAE3A0FCAD9}" dt="2026-04-23T10:06:10.937" v="28" actId="20577"/>
          <ac:spMkLst>
            <pc:docMk/>
            <pc:sldMk cId="2373626273" sldId="260"/>
            <ac:spMk id="2" creationId="{00000000-0000-0000-0000-000000000000}"/>
          </ac:spMkLst>
        </pc:spChg>
      </pc:sldChg>
      <pc:sldChg chg="addSp delSp modSp mod">
        <pc:chgData name="Alice Miller" userId="4bebc58b-94a5-432f-bbf0-38bbaea904dc" providerId="ADAL" clId="{41F48EA6-C98D-50A1-B214-0CAE3A0FCAD9}" dt="2026-04-23T10:17:36.481" v="170" actId="1076"/>
        <pc:sldMkLst>
          <pc:docMk/>
          <pc:sldMk cId="381566616" sldId="261"/>
        </pc:sldMkLst>
        <pc:spChg chg="mod">
          <ac:chgData name="Alice Miller" userId="4bebc58b-94a5-432f-bbf0-38bbaea904dc" providerId="ADAL" clId="{41F48EA6-C98D-50A1-B214-0CAE3A0FCAD9}" dt="2026-04-23T10:17:31.407" v="168" actId="1076"/>
          <ac:spMkLst>
            <pc:docMk/>
            <pc:sldMk cId="381566616" sldId="261"/>
            <ac:spMk id="2" creationId="{C1ECEF57-619A-F4E1-6408-2B169BD5A039}"/>
          </ac:spMkLst>
        </pc:spChg>
        <pc:spChg chg="add mod">
          <ac:chgData name="Alice Miller" userId="4bebc58b-94a5-432f-bbf0-38bbaea904dc" providerId="ADAL" clId="{41F48EA6-C98D-50A1-B214-0CAE3A0FCAD9}" dt="2026-04-23T10:17:36.481" v="170" actId="1076"/>
          <ac:spMkLst>
            <pc:docMk/>
            <pc:sldMk cId="381566616" sldId="261"/>
            <ac:spMk id="3" creationId="{D2BC10C8-7F73-F481-22CB-0B01E8515610}"/>
          </ac:spMkLst>
        </pc:spChg>
        <pc:spChg chg="del mod">
          <ac:chgData name="Alice Miller" userId="4bebc58b-94a5-432f-bbf0-38bbaea904dc" providerId="ADAL" clId="{41F48EA6-C98D-50A1-B214-0CAE3A0FCAD9}" dt="2026-04-23T10:17:11.607" v="166"/>
          <ac:spMkLst>
            <pc:docMk/>
            <pc:sldMk cId="381566616" sldId="261"/>
            <ac:spMk id="6" creationId="{00000000-0000-0000-0000-000000000000}"/>
          </ac:spMkLst>
        </pc:spChg>
      </pc:sldChg>
      <pc:sldChg chg="modSp mod">
        <pc:chgData name="Alice Miller" userId="4bebc58b-94a5-432f-bbf0-38bbaea904dc" providerId="ADAL" clId="{41F48EA6-C98D-50A1-B214-0CAE3A0FCAD9}" dt="2026-04-23T10:18:11.347" v="220" actId="20577"/>
        <pc:sldMkLst>
          <pc:docMk/>
          <pc:sldMk cId="2438966024" sldId="266"/>
        </pc:sldMkLst>
        <pc:spChg chg="mod">
          <ac:chgData name="Alice Miller" userId="4bebc58b-94a5-432f-bbf0-38bbaea904dc" providerId="ADAL" clId="{41F48EA6-C98D-50A1-B214-0CAE3A0FCAD9}" dt="2026-04-23T10:18:11.347" v="220" actId="20577"/>
          <ac:spMkLst>
            <pc:docMk/>
            <pc:sldMk cId="2438966024" sldId="266"/>
            <ac:spMk id="6" creationId="{00000000-0000-0000-0000-000000000000}"/>
          </ac:spMkLst>
        </pc:spChg>
      </pc:sldChg>
      <pc:sldChg chg="modSp">
        <pc:chgData name="Alice Miller" userId="4bebc58b-94a5-432f-bbf0-38bbaea904dc" providerId="ADAL" clId="{41F48EA6-C98D-50A1-B214-0CAE3A0FCAD9}" dt="2026-04-23T10:07:08.203" v="163" actId="20577"/>
        <pc:sldMkLst>
          <pc:docMk/>
          <pc:sldMk cId="73168371" sldId="294"/>
        </pc:sldMkLst>
        <pc:spChg chg="mod">
          <ac:chgData name="Alice Miller" userId="4bebc58b-94a5-432f-bbf0-38bbaea904dc" providerId="ADAL" clId="{41F48EA6-C98D-50A1-B214-0CAE3A0FCAD9}" dt="2026-04-23T10:07:08.203" v="163" actId="20577"/>
          <ac:spMkLst>
            <pc:docMk/>
            <pc:sldMk cId="73168371" sldId="294"/>
            <ac:spMk id="6" creationId="{7D1CCBDF-A812-F1A4-2DA5-9326178A111F}"/>
          </ac:spMkLst>
        </pc:spChg>
      </pc:sldChg>
      <pc:sldChg chg="del">
        <pc:chgData name="Alice Miller" userId="4bebc58b-94a5-432f-bbf0-38bbaea904dc" providerId="ADAL" clId="{41F48EA6-C98D-50A1-B214-0CAE3A0FCAD9}" dt="2026-04-23T10:17:40.583" v="171" actId="2696"/>
        <pc:sldMkLst>
          <pc:docMk/>
          <pc:sldMk cId="1319395253" sldId="300"/>
        </pc:sldMkLst>
      </pc:sldChg>
      <pc:sldChg chg="del">
        <pc:chgData name="Alice Miller" userId="4bebc58b-94a5-432f-bbf0-38bbaea904dc" providerId="ADAL" clId="{41F48EA6-C98D-50A1-B214-0CAE3A0FCAD9}" dt="2026-04-23T10:19:15.650" v="222" actId="2696"/>
        <pc:sldMkLst>
          <pc:docMk/>
          <pc:sldMk cId="2043458597" sldId="303"/>
        </pc:sldMkLst>
      </pc:sldChg>
      <pc:sldChg chg="del">
        <pc:chgData name="Alice Miller" userId="4bebc58b-94a5-432f-bbf0-38bbaea904dc" providerId="ADAL" clId="{41F48EA6-C98D-50A1-B214-0CAE3A0FCAD9}" dt="2026-04-23T10:19:23.436" v="223" actId="2696"/>
        <pc:sldMkLst>
          <pc:docMk/>
          <pc:sldMk cId="1520477804" sldId="304"/>
        </pc:sldMkLst>
      </pc:sldChg>
      <pc:sldChg chg="del">
        <pc:chgData name="Alice Miller" userId="4bebc58b-94a5-432f-bbf0-38bbaea904dc" providerId="ADAL" clId="{41F48EA6-C98D-50A1-B214-0CAE3A0FCAD9}" dt="2026-04-23T10:19:03.461" v="221" actId="2696"/>
        <pc:sldMkLst>
          <pc:docMk/>
          <pc:sldMk cId="2980649404" sldId="305"/>
        </pc:sldMkLst>
      </pc:sldChg>
      <pc:sldChg chg="del">
        <pc:chgData name="Alice Miller" userId="4bebc58b-94a5-432f-bbf0-38bbaea904dc" providerId="ADAL" clId="{41F48EA6-C98D-50A1-B214-0CAE3A0FCAD9}" dt="2026-04-23T10:19:15.650" v="222" actId="2696"/>
        <pc:sldMkLst>
          <pc:docMk/>
          <pc:sldMk cId="2558503109" sldId="30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43536-9A67-4139-89B0-FE32005CD1C0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AE03E-591F-4E70-93CD-EF4B71CF62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4314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6675" y="188913"/>
            <a:ext cx="6142038" cy="7191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47813" y="1700213"/>
            <a:ext cx="3522662" cy="4621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22875" y="1700213"/>
            <a:ext cx="3522663" cy="4621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6872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752600"/>
            <a:ext cx="9144000" cy="1533525"/>
          </a:xfrm>
          <a:ln>
            <a:noFill/>
          </a:ln>
        </p:spPr>
        <p:txBody>
          <a:bodyPr/>
          <a:lstStyle/>
          <a:p>
            <a:pPr algn="ctr" eaLnBrk="1" hangingPunct="1"/>
            <a:r>
              <a:rPr lang="en-GB" altLang="en-US" sz="4400" dirty="0">
                <a:solidFill>
                  <a:schemeClr val="accent1">
                    <a:lumMod val="75000"/>
                  </a:schemeClr>
                </a:solidFill>
              </a:rPr>
              <a:t>Algorithms &amp; Data Structures (IT)</a:t>
            </a:r>
            <a:br>
              <a:rPr lang="en-GB" altLang="en-US" sz="44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GB" altLang="en-US" sz="4400" dirty="0">
                <a:solidFill>
                  <a:schemeClr val="accent1">
                    <a:lumMod val="75000"/>
                  </a:schemeClr>
                </a:solidFill>
              </a:rPr>
              <a:t>revision lecture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03225" y="3644900"/>
            <a:ext cx="8345488" cy="1512888"/>
          </a:xfrm>
        </p:spPr>
        <p:txBody>
          <a:bodyPr/>
          <a:lstStyle/>
          <a:p>
            <a:pPr algn="ctr" eaLnBrk="1" hangingPunct="1"/>
            <a:r>
              <a:rPr lang="en-GB" altLang="en-US" sz="3600" b="0" dirty="0"/>
              <a:t>2025</a:t>
            </a:r>
            <a:r>
              <a:rPr lang="en-GB" altLang="en-US" sz="3600" b="0" dirty="0">
                <a:cs typeface="Arial" charset="0"/>
              </a:rPr>
              <a:t>–26</a:t>
            </a:r>
          </a:p>
          <a:p>
            <a:pPr algn="ctr" eaLnBrk="1" hangingPunct="1"/>
            <a:r>
              <a:rPr lang="en-GB" altLang="en-US" sz="3600"/>
              <a:t>Prof Alice Miller</a:t>
            </a:r>
            <a:endParaRPr lang="en-GB" altLang="en-US" sz="3600" b="0" dirty="0"/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34925" y="5661025"/>
            <a:ext cx="9109075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en-GB" altLang="en-US" sz="2000">
                <a:solidFill>
                  <a:schemeClr val="bg1"/>
                </a:solidFill>
                <a:cs typeface="Arial" charset="0"/>
              </a:rPr>
              <a:t>Moodle:  </a:t>
            </a:r>
            <a:r>
              <a:rPr lang="en-GB" altLang="en-US" sz="2000">
                <a:solidFill>
                  <a:srgbClr val="66CCFF"/>
                </a:solidFill>
                <a:cs typeface="Arial" charset="0"/>
              </a:rPr>
              <a:t>Computing Science → Algorithms &amp; Data Structures (IT)</a:t>
            </a: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1979613" y="6380163"/>
            <a:ext cx="5256212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en-GB" altLang="en-US" sz="2000">
                <a:solidFill>
                  <a:schemeClr val="bg1"/>
                </a:solidFill>
                <a:cs typeface="Arial" charset="0"/>
              </a:rPr>
              <a:t>© 2008 David A Watt, University of Glasgow</a:t>
            </a:r>
          </a:p>
        </p:txBody>
      </p:sp>
    </p:spTree>
    <p:extLst>
      <p:ext uri="{BB962C8B-B14F-4D97-AF65-F5344CB8AC3E}">
        <p14:creationId xmlns:p14="http://schemas.microsoft.com/office/powerpoint/2010/main" val="710240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Aims – were these fulfilled?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038600"/>
          </a:xfrm>
          <a:noFill/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To study the concept of </a:t>
            </a:r>
            <a:r>
              <a:rPr lang="en-US" altLang="en-US" b="1" dirty="0"/>
              <a:t>algorithms</a:t>
            </a:r>
            <a:r>
              <a:rPr lang="en-US" altLang="en-US" dirty="0"/>
              <a:t>, and how to analyze their efficiency.</a:t>
            </a:r>
          </a:p>
          <a:p>
            <a:pPr eaLnBrk="1" hangingPunct="1"/>
            <a:r>
              <a:rPr lang="en-US" altLang="en-US" dirty="0"/>
              <a:t>To study the concept of </a:t>
            </a:r>
            <a:r>
              <a:rPr lang="en-US" altLang="en-US" b="1" dirty="0"/>
              <a:t>abstract data types</a:t>
            </a:r>
            <a:r>
              <a:rPr lang="en-US" altLang="en-US" dirty="0"/>
              <a:t>, and the abstract data types most commonly used in software development (stacks, queues, lists, sets, maps, trees, graphs).</a:t>
            </a:r>
          </a:p>
          <a:p>
            <a:pPr eaLnBrk="1" hangingPunct="1"/>
            <a:r>
              <a:rPr lang="en-US" altLang="en-US" dirty="0"/>
              <a:t>To study the basic </a:t>
            </a:r>
            <a:r>
              <a:rPr lang="en-US" altLang="en-US" b="1" dirty="0"/>
              <a:t>data structures</a:t>
            </a:r>
            <a:r>
              <a:rPr lang="en-US" altLang="en-US" dirty="0"/>
              <a:t> most commonly used to represent these abstract data types (arrays, linked-lists, binary-search-trees, hash-tables), together with algorithms operating on these data structures.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927694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229600" cy="990600"/>
          </a:xfrm>
        </p:spPr>
        <p:txBody>
          <a:bodyPr/>
          <a:lstStyle/>
          <a:p>
            <a:pPr eaLnBrk="1" hangingPunct="1"/>
            <a:r>
              <a:rPr lang="en-GB" altLang="en-US" dirty="0"/>
              <a:t>Contents (what we actually did)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5410200"/>
          </a:xfrm>
          <a:noFill/>
        </p:spPr>
        <p:txBody>
          <a:bodyPr>
            <a:normAutofit/>
          </a:bodyPr>
          <a:lstStyle/>
          <a:p>
            <a:pPr marL="457200" indent="-457200" eaLnBrk="1" hangingPunct="1">
              <a:lnSpc>
                <a:spcPts val="2400"/>
              </a:lnSpc>
              <a:spcBef>
                <a:spcPct val="0"/>
              </a:spcBef>
              <a:buFont typeface="Wingdings" pitchFamily="2" charset="2"/>
              <a:buAutoNum type="arabicPeriod"/>
              <a:tabLst>
                <a:tab pos="7000875" algn="r"/>
              </a:tabLst>
            </a:pPr>
            <a:r>
              <a:rPr lang="en-US" altLang="en-US" dirty="0"/>
              <a:t>Introduction	</a:t>
            </a:r>
          </a:p>
          <a:p>
            <a:pPr marL="457200" indent="-457200" eaLnBrk="1" hangingPunct="1">
              <a:lnSpc>
                <a:spcPts val="2400"/>
              </a:lnSpc>
              <a:spcBef>
                <a:spcPct val="0"/>
              </a:spcBef>
              <a:buFont typeface="Wingdings" pitchFamily="2" charset="2"/>
              <a:buAutoNum type="arabicPeriod"/>
              <a:tabLst>
                <a:tab pos="7000875" algn="r"/>
              </a:tabLst>
            </a:pPr>
            <a:r>
              <a:rPr lang="en-US" altLang="en-US" dirty="0"/>
              <a:t>Algorithms and Complexity	</a:t>
            </a:r>
            <a:endParaRPr lang="en-GB" altLang="en-US" dirty="0"/>
          </a:p>
          <a:p>
            <a:pPr marL="457200" indent="-457200" eaLnBrk="1" hangingPunct="1">
              <a:lnSpc>
                <a:spcPts val="2400"/>
              </a:lnSpc>
              <a:spcBef>
                <a:spcPct val="0"/>
              </a:spcBef>
              <a:buFont typeface="Wingdings" pitchFamily="2" charset="2"/>
              <a:buAutoNum type="arabicPeriod"/>
              <a:tabLst>
                <a:tab pos="7000875" algn="r"/>
              </a:tabLst>
            </a:pPr>
            <a:r>
              <a:rPr lang="en-US" altLang="en-US" dirty="0"/>
              <a:t>The Array Data Structure	</a:t>
            </a:r>
            <a:endParaRPr lang="en-GB" altLang="en-US" dirty="0"/>
          </a:p>
          <a:p>
            <a:pPr marL="457200" indent="-457200" eaLnBrk="1" hangingPunct="1">
              <a:lnSpc>
                <a:spcPts val="2400"/>
              </a:lnSpc>
              <a:spcBef>
                <a:spcPct val="0"/>
              </a:spcBef>
              <a:buFont typeface="Wingdings" pitchFamily="2" charset="2"/>
              <a:buAutoNum type="arabicPeriod"/>
              <a:tabLst>
                <a:tab pos="7000875" algn="r"/>
              </a:tabLst>
            </a:pPr>
            <a:r>
              <a:rPr lang="en-US" altLang="en-US" dirty="0"/>
              <a:t>Linked-List Data Structures	</a:t>
            </a:r>
            <a:endParaRPr lang="en-GB" altLang="en-US" dirty="0"/>
          </a:p>
          <a:p>
            <a:pPr marL="457200" indent="-457200" eaLnBrk="1" hangingPunct="1">
              <a:lnSpc>
                <a:spcPts val="2400"/>
              </a:lnSpc>
              <a:spcBef>
                <a:spcPct val="0"/>
              </a:spcBef>
              <a:buFont typeface="Wingdings" pitchFamily="2" charset="2"/>
              <a:buAutoNum type="arabicPeriod"/>
              <a:tabLst>
                <a:tab pos="7000875" algn="r"/>
              </a:tabLst>
            </a:pPr>
            <a:r>
              <a:rPr lang="en-US" altLang="en-US" dirty="0"/>
              <a:t>Abstract Data Types (ADTs)	</a:t>
            </a:r>
            <a:endParaRPr lang="en-GB" altLang="en-US" dirty="0"/>
          </a:p>
          <a:p>
            <a:pPr marL="457200" indent="-457200" eaLnBrk="1" hangingPunct="1">
              <a:lnSpc>
                <a:spcPts val="2400"/>
              </a:lnSpc>
              <a:spcBef>
                <a:spcPct val="0"/>
              </a:spcBef>
              <a:buFont typeface="Wingdings" pitchFamily="2" charset="2"/>
              <a:buAutoNum type="arabicPeriod"/>
              <a:tabLst>
                <a:tab pos="7000875" algn="r"/>
              </a:tabLst>
            </a:pPr>
            <a:r>
              <a:rPr lang="en-US" altLang="en-US" dirty="0"/>
              <a:t>Stack ADTs	</a:t>
            </a:r>
            <a:endParaRPr lang="en-GB" altLang="en-US" dirty="0"/>
          </a:p>
          <a:p>
            <a:pPr marL="457200" indent="-457200" eaLnBrk="1" hangingPunct="1">
              <a:lnSpc>
                <a:spcPts val="2400"/>
              </a:lnSpc>
              <a:spcBef>
                <a:spcPct val="0"/>
              </a:spcBef>
              <a:buFont typeface="Wingdings" pitchFamily="2" charset="2"/>
              <a:buAutoNum type="arabicPeriod"/>
              <a:tabLst>
                <a:tab pos="7000875" algn="r"/>
              </a:tabLst>
            </a:pPr>
            <a:r>
              <a:rPr lang="en-US" altLang="en-US" dirty="0"/>
              <a:t>Queue ADTs	</a:t>
            </a:r>
            <a:endParaRPr lang="en-GB" altLang="en-US" dirty="0"/>
          </a:p>
          <a:p>
            <a:pPr marL="457200" indent="-457200" eaLnBrk="1" hangingPunct="1">
              <a:lnSpc>
                <a:spcPts val="2400"/>
              </a:lnSpc>
              <a:spcBef>
                <a:spcPct val="0"/>
              </a:spcBef>
              <a:buFont typeface="Wingdings" pitchFamily="2" charset="2"/>
              <a:buAutoNum type="arabicPeriod"/>
              <a:tabLst>
                <a:tab pos="7000875" algn="r"/>
              </a:tabLst>
            </a:pPr>
            <a:r>
              <a:rPr lang="en-US" altLang="en-US" dirty="0"/>
              <a:t>List and Iterator ADTs	</a:t>
            </a:r>
            <a:endParaRPr lang="en-GB" altLang="en-US" dirty="0"/>
          </a:p>
          <a:p>
            <a:pPr marL="457200" indent="-457200" eaLnBrk="1" hangingPunct="1">
              <a:lnSpc>
                <a:spcPts val="2400"/>
              </a:lnSpc>
              <a:spcBef>
                <a:spcPct val="0"/>
              </a:spcBef>
              <a:buFont typeface="Wingdings" pitchFamily="2" charset="2"/>
              <a:buAutoNum type="arabicPeriod"/>
              <a:tabLst>
                <a:tab pos="7000875" algn="r"/>
              </a:tabLst>
            </a:pPr>
            <a:r>
              <a:rPr lang="en-US" altLang="en-US" dirty="0"/>
              <a:t>Set ADTs	</a:t>
            </a:r>
            <a:endParaRPr lang="en-GB" altLang="en-US" dirty="0"/>
          </a:p>
          <a:p>
            <a:pPr marL="457200" indent="-457200" eaLnBrk="1" hangingPunct="1">
              <a:lnSpc>
                <a:spcPts val="2400"/>
              </a:lnSpc>
              <a:spcBef>
                <a:spcPct val="0"/>
              </a:spcBef>
              <a:buFont typeface="Wingdings" pitchFamily="2" charset="2"/>
              <a:buAutoNum type="arabicPeriod"/>
              <a:tabLst>
                <a:tab pos="7000875" algn="r"/>
              </a:tabLst>
            </a:pPr>
            <a:r>
              <a:rPr lang="en-US" altLang="en-US" dirty="0"/>
              <a:t>The Binary-Search-Tree Data Structure</a:t>
            </a:r>
            <a:endParaRPr lang="en-US" altLang="en-US" i="1" dirty="0"/>
          </a:p>
          <a:p>
            <a:pPr marL="0" indent="0">
              <a:lnSpc>
                <a:spcPts val="2400"/>
              </a:lnSpc>
              <a:spcBef>
                <a:spcPct val="0"/>
              </a:spcBef>
              <a:buNone/>
              <a:tabLst>
                <a:tab pos="7000875" algn="r"/>
              </a:tabLst>
            </a:pPr>
            <a:r>
              <a:rPr lang="en-US" altLang="en-US" i="1" dirty="0">
                <a:solidFill>
                  <a:schemeClr val="accent1"/>
                </a:solidFill>
              </a:rPr>
              <a:t>10A</a:t>
            </a:r>
            <a:r>
              <a:rPr lang="en-US" altLang="en-US" i="1" dirty="0">
                <a:solidFill>
                  <a:schemeClr val="accent1">
                    <a:lumMod val="75000"/>
                  </a:schemeClr>
                </a:solidFill>
              </a:rPr>
              <a:t>. </a:t>
            </a:r>
            <a:r>
              <a:rPr lang="en-US" altLang="en-US" i="1" dirty="0"/>
              <a:t>AVL Trees                                                   </a:t>
            </a:r>
          </a:p>
          <a:p>
            <a:pPr marL="0" indent="0" eaLnBrk="1" hangingPunct="1">
              <a:lnSpc>
                <a:spcPts val="2400"/>
              </a:lnSpc>
              <a:spcBef>
                <a:spcPct val="0"/>
              </a:spcBef>
              <a:buNone/>
              <a:tabLst>
                <a:tab pos="7000875" algn="r"/>
              </a:tabLst>
            </a:pPr>
            <a:r>
              <a:rPr lang="en-US" altLang="en-US" dirty="0">
                <a:solidFill>
                  <a:schemeClr val="accent1"/>
                </a:solidFill>
              </a:rPr>
              <a:t>11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</a:rPr>
              <a:t>.</a:t>
            </a:r>
            <a:r>
              <a:rPr lang="en-US" altLang="en-US" dirty="0"/>
              <a:t> Map ADTs	</a:t>
            </a:r>
            <a:endParaRPr lang="en-GB" altLang="en-US" dirty="0"/>
          </a:p>
          <a:p>
            <a:pPr marL="0" indent="0" eaLnBrk="1" hangingPunct="1">
              <a:lnSpc>
                <a:spcPts val="2400"/>
              </a:lnSpc>
              <a:spcBef>
                <a:spcPct val="0"/>
              </a:spcBef>
              <a:buNone/>
              <a:tabLst>
                <a:tab pos="7000875" algn="r"/>
              </a:tabLst>
            </a:pPr>
            <a:r>
              <a:rPr lang="en-US" altLang="en-US" dirty="0">
                <a:solidFill>
                  <a:schemeClr val="accent1"/>
                </a:solidFill>
              </a:rPr>
              <a:t>12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</a:rPr>
              <a:t>.</a:t>
            </a:r>
            <a:r>
              <a:rPr lang="en-US" altLang="en-US" dirty="0"/>
              <a:t> Hash-Table Data Structures</a:t>
            </a:r>
          </a:p>
          <a:p>
            <a:pPr marL="0" indent="0" eaLnBrk="1" hangingPunct="1">
              <a:lnSpc>
                <a:spcPts val="2400"/>
              </a:lnSpc>
              <a:spcBef>
                <a:spcPct val="0"/>
              </a:spcBef>
              <a:buNone/>
              <a:tabLst>
                <a:tab pos="7000875" algn="r"/>
              </a:tabLst>
            </a:pPr>
            <a:r>
              <a:rPr lang="en-US" altLang="en-US" dirty="0">
                <a:solidFill>
                  <a:schemeClr val="accent1"/>
                </a:solidFill>
              </a:rPr>
              <a:t>13</a:t>
            </a:r>
            <a:r>
              <a:rPr lang="en-US" altLang="en-US" dirty="0"/>
              <a:t>. General algorithms	</a:t>
            </a:r>
            <a:endParaRPr lang="en-US" altLang="en-US" i="1" dirty="0"/>
          </a:p>
          <a:p>
            <a:pPr marL="0" indent="0" eaLnBrk="1" hangingPunct="1">
              <a:lnSpc>
                <a:spcPts val="2400"/>
              </a:lnSpc>
              <a:spcBef>
                <a:spcPct val="0"/>
              </a:spcBef>
              <a:buNone/>
              <a:tabLst>
                <a:tab pos="7000875" algn="r"/>
              </a:tabLst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71632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40486-AEFD-684F-B44B-309CBB183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6142038" cy="719137"/>
          </a:xfrm>
        </p:spPr>
        <p:txBody>
          <a:bodyPr>
            <a:normAutofit/>
          </a:bodyPr>
          <a:lstStyle/>
          <a:p>
            <a:r>
              <a:rPr lang="en-US" sz="2800" dirty="0"/>
              <a:t>Final diagram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7362B15-DA7E-C246-B91B-BAAC3F13CD86}"/>
              </a:ext>
            </a:extLst>
          </p:cNvPr>
          <p:cNvGrpSpPr/>
          <p:nvPr/>
        </p:nvGrpSpPr>
        <p:grpSpPr>
          <a:xfrm>
            <a:off x="-77811" y="1494544"/>
            <a:ext cx="8782566" cy="3776580"/>
            <a:chOff x="-77811" y="1494544"/>
            <a:chExt cx="8782566" cy="377658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F7AD334-9DA2-8C4F-A7F0-3FB37D3B72A8}"/>
                </a:ext>
              </a:extLst>
            </p:cNvPr>
            <p:cNvGrpSpPr/>
            <p:nvPr/>
          </p:nvGrpSpPr>
          <p:grpSpPr>
            <a:xfrm>
              <a:off x="1241827" y="1494544"/>
              <a:ext cx="6660346" cy="3776580"/>
              <a:chOff x="2445565" y="1378708"/>
              <a:chExt cx="6660346" cy="3776580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317893-3D55-7D40-82DC-6094758A68A0}"/>
                  </a:ext>
                </a:extLst>
              </p:cNvPr>
              <p:cNvSpPr txBox="1"/>
              <p:nvPr/>
            </p:nvSpPr>
            <p:spPr>
              <a:xfrm>
                <a:off x="2730262" y="2822585"/>
                <a:ext cx="870706" cy="369332"/>
              </a:xfrm>
              <a:prstGeom prst="rect">
                <a:avLst/>
              </a:prstGeom>
              <a:noFill/>
              <a:ln>
                <a:solidFill>
                  <a:srgbClr val="3366FF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stack                      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1C31A36-D3BC-6D40-8B8D-225C884F3335}"/>
                  </a:ext>
                </a:extLst>
              </p:cNvPr>
              <p:cNvSpPr txBox="1"/>
              <p:nvPr/>
            </p:nvSpPr>
            <p:spPr>
              <a:xfrm>
                <a:off x="2445565" y="1378708"/>
                <a:ext cx="1440100" cy="64633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e.g. </a:t>
                </a:r>
              </a:p>
              <a:p>
                <a:r>
                  <a:rPr lang="en-US" dirty="0"/>
                  <a:t>push, pop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EE6F78D-C920-7746-A588-0555D6EFE526}"/>
                  </a:ext>
                </a:extLst>
              </p:cNvPr>
              <p:cNvSpPr txBox="1"/>
              <p:nvPr/>
            </p:nvSpPr>
            <p:spPr>
              <a:xfrm>
                <a:off x="4266125" y="1390439"/>
                <a:ext cx="1261242" cy="92333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e.g. </a:t>
                </a:r>
              </a:p>
              <a:p>
                <a:r>
                  <a:rPr lang="en-US" dirty="0" err="1"/>
                  <a:t>getFirst</a:t>
                </a:r>
                <a:r>
                  <a:rPr lang="en-US" dirty="0"/>
                  <a:t>, </a:t>
                </a:r>
                <a:r>
                  <a:rPr lang="en-US" dirty="0" err="1"/>
                  <a:t>addLast</a:t>
                </a:r>
                <a:endParaRPr lang="en-US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DEF258C-5561-9147-967E-C1D6CE1A7CD6}"/>
                  </a:ext>
                </a:extLst>
              </p:cNvPr>
              <p:cNvSpPr txBox="1"/>
              <p:nvPr/>
            </p:nvSpPr>
            <p:spPr>
              <a:xfrm>
                <a:off x="2667805" y="4247846"/>
                <a:ext cx="1011824" cy="369332"/>
              </a:xfrm>
              <a:prstGeom prst="rect">
                <a:avLst/>
              </a:prstGeom>
              <a:noFill/>
              <a:ln>
                <a:solidFill>
                  <a:srgbClr val="008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array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3C930DD-5BAF-B741-A922-6904B9CE68BB}"/>
                  </a:ext>
                </a:extLst>
              </p:cNvPr>
              <p:cNvSpPr txBox="1"/>
              <p:nvPr/>
            </p:nvSpPr>
            <p:spPr>
              <a:xfrm>
                <a:off x="4484352" y="4294013"/>
                <a:ext cx="1011824" cy="646331"/>
              </a:xfrm>
              <a:prstGeom prst="rect">
                <a:avLst/>
              </a:prstGeom>
              <a:noFill/>
              <a:ln>
                <a:solidFill>
                  <a:srgbClr val="008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linked list</a:t>
                </a:r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D3CD70BF-B04B-9E4B-876A-43360AA4B18D}"/>
                  </a:ext>
                </a:extLst>
              </p:cNvPr>
              <p:cNvCxnSpPr>
                <a:stCxn id="8" idx="2"/>
              </p:cNvCxnSpPr>
              <p:nvPr/>
            </p:nvCxnSpPr>
            <p:spPr>
              <a:xfrm>
                <a:off x="3165615" y="2025039"/>
                <a:ext cx="0" cy="797546"/>
              </a:xfrm>
              <a:prstGeom prst="straightConnector1">
                <a:avLst/>
              </a:prstGeom>
              <a:ln>
                <a:solidFill>
                  <a:srgbClr val="0000FF"/>
                </a:solidFill>
                <a:prstDash val="solid"/>
                <a:headEnd type="triangle" w="lg" len="lg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81F8D0E4-64FD-EC48-A63B-C62CC2DCEEB8}"/>
                  </a:ext>
                </a:extLst>
              </p:cNvPr>
              <p:cNvCxnSpPr>
                <a:cxnSpLocks/>
                <a:endCxn id="14" idx="0"/>
              </p:cNvCxnSpPr>
              <p:nvPr/>
            </p:nvCxnSpPr>
            <p:spPr>
              <a:xfrm>
                <a:off x="4844742" y="2313769"/>
                <a:ext cx="0" cy="509384"/>
              </a:xfrm>
              <a:prstGeom prst="straightConnector1">
                <a:avLst/>
              </a:prstGeom>
              <a:ln>
                <a:solidFill>
                  <a:srgbClr val="0000FF"/>
                </a:solidFill>
                <a:prstDash val="solid"/>
                <a:headEnd type="triangle" w="lg" len="lg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838780D-F5ED-A34C-B92B-B4C73F077002}"/>
                  </a:ext>
                </a:extLst>
              </p:cNvPr>
              <p:cNvSpPr txBox="1"/>
              <p:nvPr/>
            </p:nvSpPr>
            <p:spPr>
              <a:xfrm>
                <a:off x="4338830" y="2823153"/>
                <a:ext cx="1011824" cy="369332"/>
              </a:xfrm>
              <a:prstGeom prst="rect">
                <a:avLst/>
              </a:prstGeom>
              <a:noFill/>
              <a:ln>
                <a:solidFill>
                  <a:srgbClr val="3366FF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queue                      </a:t>
                </a:r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824EE4F5-2577-1E4E-9C10-5F180968EF24}"/>
                  </a:ext>
                </a:extLst>
              </p:cNvPr>
              <p:cNvCxnSpPr>
                <a:stCxn id="7" idx="2"/>
                <a:endCxn id="10" idx="0"/>
              </p:cNvCxnSpPr>
              <p:nvPr/>
            </p:nvCxnSpPr>
            <p:spPr>
              <a:xfrm>
                <a:off x="3165615" y="3191917"/>
                <a:ext cx="8102" cy="1055929"/>
              </a:xfrm>
              <a:prstGeom prst="straightConnector1">
                <a:avLst/>
              </a:prstGeom>
              <a:ln>
                <a:solidFill>
                  <a:srgbClr val="FFC000"/>
                </a:solidFill>
                <a:prstDash val="dash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3F0E7882-B864-0542-883B-C2E8A7ECCB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17457" y="3222695"/>
                <a:ext cx="1472657" cy="1039473"/>
              </a:xfrm>
              <a:prstGeom prst="straightConnector1">
                <a:avLst/>
              </a:prstGeom>
              <a:ln>
                <a:solidFill>
                  <a:srgbClr val="FFC000"/>
                </a:solidFill>
                <a:prstDash val="dash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1AE6E4BE-526F-D540-889C-C5070C68BCF0}"/>
                  </a:ext>
                </a:extLst>
              </p:cNvPr>
              <p:cNvCxnSpPr>
                <a:cxnSpLocks/>
                <a:endCxn id="11" idx="0"/>
              </p:cNvCxnSpPr>
              <p:nvPr/>
            </p:nvCxnSpPr>
            <p:spPr>
              <a:xfrm>
                <a:off x="4921011" y="3184533"/>
                <a:ext cx="69253" cy="1109480"/>
              </a:xfrm>
              <a:prstGeom prst="straightConnector1">
                <a:avLst/>
              </a:prstGeom>
              <a:ln>
                <a:solidFill>
                  <a:srgbClr val="FFC000"/>
                </a:solidFill>
                <a:prstDash val="dash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5196ADD8-7C99-B845-B564-045FE1FB7DF2}"/>
                  </a:ext>
                </a:extLst>
              </p:cNvPr>
              <p:cNvCxnSpPr>
                <a:stCxn id="14" idx="2"/>
              </p:cNvCxnSpPr>
              <p:nvPr/>
            </p:nvCxnSpPr>
            <p:spPr>
              <a:xfrm flipH="1">
                <a:off x="2856732" y="3192485"/>
                <a:ext cx="1988010" cy="1040041"/>
              </a:xfrm>
              <a:prstGeom prst="straightConnector1">
                <a:avLst/>
              </a:prstGeom>
              <a:ln>
                <a:solidFill>
                  <a:srgbClr val="FFC000"/>
                </a:solidFill>
                <a:prstDash val="dash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4BA12FE-49FE-0F4F-8688-B962D8A99EF5}"/>
                  </a:ext>
                </a:extLst>
              </p:cNvPr>
              <p:cNvSpPr txBox="1"/>
              <p:nvPr/>
            </p:nvSpPr>
            <p:spPr>
              <a:xfrm>
                <a:off x="6002582" y="2822585"/>
                <a:ext cx="870706" cy="369332"/>
              </a:xfrm>
              <a:prstGeom prst="rect">
                <a:avLst/>
              </a:prstGeom>
              <a:noFill/>
              <a:ln>
                <a:solidFill>
                  <a:srgbClr val="3366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/>
                  <a:t>list                      </a:t>
                </a:r>
                <a:endParaRPr lang="en-US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8808989-4FB8-BA46-BEB6-861C2262841A}"/>
                  </a:ext>
                </a:extLst>
              </p:cNvPr>
              <p:cNvSpPr txBox="1"/>
              <p:nvPr/>
            </p:nvSpPr>
            <p:spPr>
              <a:xfrm>
                <a:off x="7489625" y="2784815"/>
                <a:ext cx="692228" cy="369332"/>
              </a:xfrm>
              <a:prstGeom prst="rect">
                <a:avLst/>
              </a:prstGeom>
              <a:noFill/>
              <a:ln>
                <a:solidFill>
                  <a:srgbClr val="3366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set*                     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82A7802-6276-434A-9720-11CF343907BA}"/>
                  </a:ext>
                </a:extLst>
              </p:cNvPr>
              <p:cNvSpPr txBox="1"/>
              <p:nvPr/>
            </p:nvSpPr>
            <p:spPr>
              <a:xfrm>
                <a:off x="5941176" y="1409196"/>
                <a:ext cx="932109" cy="92333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e.g. </a:t>
                </a:r>
              </a:p>
              <a:p>
                <a:r>
                  <a:rPr lang="en-US" dirty="0"/>
                  <a:t>get(</a:t>
                </a:r>
                <a:r>
                  <a:rPr lang="en-US" dirty="0" err="1"/>
                  <a:t>i</a:t>
                </a:r>
                <a:r>
                  <a:rPr lang="en-US" dirty="0"/>
                  <a:t>), </a:t>
                </a:r>
              </a:p>
              <a:p>
                <a:r>
                  <a:rPr lang="en-US" dirty="0"/>
                  <a:t>iterate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C1D4A8F-7F8B-A04A-A33B-389B7FE3D568}"/>
                  </a:ext>
                </a:extLst>
              </p:cNvPr>
              <p:cNvSpPr txBox="1"/>
              <p:nvPr/>
            </p:nvSpPr>
            <p:spPr>
              <a:xfrm>
                <a:off x="7317447" y="1429000"/>
                <a:ext cx="1107887" cy="92333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e.g. </a:t>
                </a:r>
              </a:p>
              <a:p>
                <a:r>
                  <a:rPr lang="en-US" dirty="0"/>
                  <a:t>contains, </a:t>
                </a:r>
                <a:r>
                  <a:rPr lang="en-US" dirty="0" err="1"/>
                  <a:t>addAll</a:t>
                </a:r>
                <a:endParaRPr lang="en-US" dirty="0"/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A7D64642-8A38-834A-AE4D-BA77F47FF8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85338" y="2332526"/>
                <a:ext cx="0" cy="520837"/>
              </a:xfrm>
              <a:prstGeom prst="straightConnector1">
                <a:avLst/>
              </a:prstGeom>
              <a:ln>
                <a:solidFill>
                  <a:srgbClr val="0000FF"/>
                </a:solidFill>
                <a:prstDash val="solid"/>
                <a:headEnd type="triangle" w="lg" len="lg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6852D8B0-9D11-6943-8D43-04696D344710}"/>
                  </a:ext>
                </a:extLst>
              </p:cNvPr>
              <p:cNvCxnSpPr/>
              <p:nvPr/>
            </p:nvCxnSpPr>
            <p:spPr>
              <a:xfrm>
                <a:off x="7871390" y="2367135"/>
                <a:ext cx="0" cy="428214"/>
              </a:xfrm>
              <a:prstGeom prst="straightConnector1">
                <a:avLst/>
              </a:prstGeom>
              <a:ln>
                <a:solidFill>
                  <a:srgbClr val="0000FF"/>
                </a:solidFill>
                <a:prstDash val="solid"/>
                <a:headEnd type="triangle" w="lg" len="lg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790BB1CB-D2B7-3244-B787-C6547FB718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54921" y="3197247"/>
                <a:ext cx="3142430" cy="1050599"/>
              </a:xfrm>
              <a:prstGeom prst="straightConnector1">
                <a:avLst/>
              </a:prstGeom>
              <a:ln>
                <a:solidFill>
                  <a:srgbClr val="FFC000"/>
                </a:solidFill>
                <a:prstDash val="dash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A10E0890-95AB-8744-B76B-A7DE783C9A7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22049" y="3204591"/>
                <a:ext cx="1331255" cy="1087095"/>
              </a:xfrm>
              <a:prstGeom prst="straightConnector1">
                <a:avLst/>
              </a:prstGeom>
              <a:ln>
                <a:solidFill>
                  <a:srgbClr val="FFC000"/>
                </a:solidFill>
                <a:prstDash val="dash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1A4236DB-6924-164A-B7E8-D9715251FEC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30295" y="3182365"/>
                <a:ext cx="4323007" cy="1065481"/>
              </a:xfrm>
              <a:prstGeom prst="straightConnector1">
                <a:avLst/>
              </a:prstGeom>
              <a:ln>
                <a:solidFill>
                  <a:srgbClr val="FFC000"/>
                </a:solidFill>
                <a:prstDash val="dash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B6E3FC61-9D42-8748-888C-3DD18D6C5533}"/>
                  </a:ext>
                </a:extLst>
              </p:cNvPr>
              <p:cNvCxnSpPr>
                <a:cxnSpLocks/>
                <a:stCxn id="20" idx="2"/>
              </p:cNvCxnSpPr>
              <p:nvPr/>
            </p:nvCxnSpPr>
            <p:spPr>
              <a:xfrm flipH="1">
                <a:off x="7347707" y="3154147"/>
                <a:ext cx="488032" cy="1073049"/>
              </a:xfrm>
              <a:prstGeom prst="straightConnector1">
                <a:avLst/>
              </a:prstGeom>
              <a:ln w="26424">
                <a:solidFill>
                  <a:srgbClr val="FFC000"/>
                </a:solidFill>
                <a:prstDash val="dash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68F9AAC-D44F-A640-8A94-7E6557971E1C}"/>
                  </a:ext>
                </a:extLst>
              </p:cNvPr>
              <p:cNvSpPr txBox="1"/>
              <p:nvPr/>
            </p:nvSpPr>
            <p:spPr>
              <a:xfrm>
                <a:off x="6741478" y="4231958"/>
                <a:ext cx="1011824" cy="923330"/>
              </a:xfrm>
              <a:prstGeom prst="rect">
                <a:avLst/>
              </a:prstGeom>
              <a:noFill/>
              <a:ln>
                <a:solidFill>
                  <a:srgbClr val="008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binary search tree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997247C-5E9D-A143-9292-708ADBE264A5}"/>
                  </a:ext>
                </a:extLst>
              </p:cNvPr>
              <p:cNvSpPr txBox="1"/>
              <p:nvPr/>
            </p:nvSpPr>
            <p:spPr>
              <a:xfrm>
                <a:off x="8094087" y="4227196"/>
                <a:ext cx="1011824" cy="646331"/>
              </a:xfrm>
              <a:prstGeom prst="rect">
                <a:avLst/>
              </a:prstGeom>
              <a:noFill/>
              <a:ln>
                <a:solidFill>
                  <a:srgbClr val="008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hash table</a:t>
                </a:r>
              </a:p>
            </p:txBody>
          </p: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7C580E30-0793-BE48-BB54-C514E571327E}"/>
                  </a:ext>
                </a:extLst>
              </p:cNvPr>
              <p:cNvCxnSpPr>
                <a:cxnSpLocks/>
                <a:endCxn id="30" idx="0"/>
              </p:cNvCxnSpPr>
              <p:nvPr/>
            </p:nvCxnSpPr>
            <p:spPr>
              <a:xfrm>
                <a:off x="8094087" y="3182365"/>
                <a:ext cx="505912" cy="1044831"/>
              </a:xfrm>
              <a:prstGeom prst="straightConnector1">
                <a:avLst/>
              </a:prstGeom>
              <a:ln w="26424">
                <a:solidFill>
                  <a:srgbClr val="FFC000"/>
                </a:solidFill>
                <a:prstDash val="dash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15196FB5-5013-B64E-9584-0E9D48315887}"/>
                  </a:ext>
                </a:extLst>
              </p:cNvPr>
              <p:cNvCxnSpPr>
                <a:cxnSpLocks/>
                <a:stCxn id="20" idx="2"/>
              </p:cNvCxnSpPr>
              <p:nvPr/>
            </p:nvCxnSpPr>
            <p:spPr>
              <a:xfrm flipH="1">
                <a:off x="5336374" y="3154147"/>
                <a:ext cx="2499365" cy="1137539"/>
              </a:xfrm>
              <a:prstGeom prst="straightConnector1">
                <a:avLst/>
              </a:prstGeom>
              <a:ln>
                <a:solidFill>
                  <a:srgbClr val="FFC000"/>
                </a:solidFill>
                <a:prstDash val="dash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D559F91-C48C-434F-A49D-62FCD6C9E8F8}"/>
                </a:ext>
              </a:extLst>
            </p:cNvPr>
            <p:cNvSpPr txBox="1"/>
            <p:nvPr/>
          </p:nvSpPr>
          <p:spPr>
            <a:xfrm>
              <a:off x="-77811" y="1688047"/>
              <a:ext cx="1440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operations: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13F6821-F70A-834C-A32F-17411EF991AF}"/>
                </a:ext>
              </a:extLst>
            </p:cNvPr>
            <p:cNvSpPr txBox="1"/>
            <p:nvPr/>
          </p:nvSpPr>
          <p:spPr>
            <a:xfrm>
              <a:off x="41220" y="2969199"/>
              <a:ext cx="12171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ADTs: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B70C7E1-B7E3-3347-9247-D600F16F6B37}"/>
                </a:ext>
              </a:extLst>
            </p:cNvPr>
            <p:cNvSpPr txBox="1"/>
            <p:nvPr/>
          </p:nvSpPr>
          <p:spPr>
            <a:xfrm>
              <a:off x="1024" y="3588611"/>
              <a:ext cx="20408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implementation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61F0CDF-774D-6642-95C9-BAB224D4A8C6}"/>
                </a:ext>
              </a:extLst>
            </p:cNvPr>
            <p:cNvSpPr txBox="1"/>
            <p:nvPr/>
          </p:nvSpPr>
          <p:spPr>
            <a:xfrm>
              <a:off x="41371" y="4257077"/>
              <a:ext cx="14401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data structure: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B48F244-2770-F74D-9C4B-259476B66057}"/>
                </a:ext>
              </a:extLst>
            </p:cNvPr>
            <p:cNvSpPr txBox="1"/>
            <p:nvPr/>
          </p:nvSpPr>
          <p:spPr>
            <a:xfrm>
              <a:off x="7782357" y="2900651"/>
              <a:ext cx="851476" cy="369332"/>
            </a:xfrm>
            <a:prstGeom prst="rect">
              <a:avLst/>
            </a:prstGeom>
            <a:noFill/>
            <a:ln>
              <a:solidFill>
                <a:srgbClr val="3366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map*                     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C3D8806-ADFD-A84C-B13E-35050F1E29A1}"/>
                </a:ext>
              </a:extLst>
            </p:cNvPr>
            <p:cNvSpPr txBox="1"/>
            <p:nvPr/>
          </p:nvSpPr>
          <p:spPr>
            <a:xfrm>
              <a:off x="7596868" y="1559641"/>
              <a:ext cx="1107887" cy="92333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75000"/>
                    </a:schemeClr>
                  </a:solidFill>
                </a:rPr>
                <a:t> </a:t>
              </a:r>
              <a:r>
                <a:rPr lang="en-US" dirty="0"/>
                <a:t>e.g.</a:t>
              </a:r>
            </a:p>
            <a:p>
              <a:r>
                <a:rPr lang="en-US" dirty="0"/>
                <a:t>put, </a:t>
              </a:r>
              <a:r>
                <a:rPr lang="en-US" dirty="0" err="1"/>
                <a:t>putAll</a:t>
              </a:r>
              <a:endParaRPr lang="en-US" dirty="0"/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A8FA2FAA-55E9-6B41-B72E-EAD232D2D2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75779" y="3262731"/>
              <a:ext cx="1852692" cy="1100951"/>
            </a:xfrm>
            <a:prstGeom prst="straightConnector1">
              <a:avLst/>
            </a:prstGeom>
            <a:ln>
              <a:solidFill>
                <a:srgbClr val="FFC000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9C54C185-4FF8-8540-ACF0-30E25F9D1A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27921" y="3285303"/>
              <a:ext cx="5386486" cy="1140200"/>
            </a:xfrm>
            <a:prstGeom prst="straightConnector1">
              <a:avLst/>
            </a:prstGeom>
            <a:ln>
              <a:solidFill>
                <a:srgbClr val="FFC000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DED5F423-6BB4-9948-86EA-50EA07C012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3629" y="3290065"/>
              <a:ext cx="3658276" cy="1162116"/>
            </a:xfrm>
            <a:prstGeom prst="straightConnector1">
              <a:avLst/>
            </a:prstGeom>
            <a:ln>
              <a:solidFill>
                <a:srgbClr val="FFC000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27324965-6A42-C84D-A124-08177A3FAD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82357" y="3307436"/>
              <a:ext cx="511307" cy="1042848"/>
            </a:xfrm>
            <a:prstGeom prst="straightConnector1">
              <a:avLst/>
            </a:prstGeom>
            <a:ln>
              <a:solidFill>
                <a:srgbClr val="FFC000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A1271644-746F-7E4A-A85A-7B4D17D1E4D4}"/>
                </a:ext>
              </a:extLst>
            </p:cNvPr>
            <p:cNvCxnSpPr/>
            <p:nvPr/>
          </p:nvCxnSpPr>
          <p:spPr>
            <a:xfrm>
              <a:off x="8150811" y="2472437"/>
              <a:ext cx="0" cy="428214"/>
            </a:xfrm>
            <a:prstGeom prst="straightConnector1">
              <a:avLst/>
            </a:prstGeom>
            <a:ln>
              <a:solidFill>
                <a:srgbClr val="0000FF"/>
              </a:solidFill>
              <a:prstDash val="solid"/>
              <a:headEnd type="triangle" w="lg" len="lg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414C6F65-F4CE-8340-B6A2-79CEEF435383}"/>
              </a:ext>
            </a:extLst>
          </p:cNvPr>
          <p:cNvSpPr txBox="1"/>
          <p:nvPr/>
        </p:nvSpPr>
        <p:spPr>
          <a:xfrm>
            <a:off x="4602919" y="5715000"/>
            <a:ext cx="3405581" cy="1077218"/>
          </a:xfrm>
          <a:prstGeom prst="rect">
            <a:avLst/>
          </a:prstGeom>
          <a:noFill/>
          <a:ln>
            <a:solidFill>
              <a:srgbClr val="3366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*  + special </a:t>
            </a:r>
            <a:r>
              <a:rPr lang="en-US" sz="1600" dirty="0" err="1"/>
              <a:t>boolean</a:t>
            </a:r>
            <a:r>
              <a:rPr lang="en-US" sz="1600" dirty="0"/>
              <a:t>/value array implementations when entries/keys are small integers – equivalent to HTs when keys have this form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968514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304800"/>
            <a:ext cx="8534400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Format of exam: 1</a:t>
            </a:r>
            <a:r>
              <a:rPr lang="en-GB" sz="2800" baseline="30000" dirty="0">
                <a:solidFill>
                  <a:srgbClr val="FF0000"/>
                </a:solidFill>
              </a:rPr>
              <a:t>st</a:t>
            </a:r>
            <a:r>
              <a:rPr lang="en-GB" sz="2800" dirty="0">
                <a:solidFill>
                  <a:srgbClr val="FF0000"/>
                </a:solidFill>
              </a:rPr>
              <a:t> May 14:00 in labs</a:t>
            </a:r>
          </a:p>
          <a:p>
            <a:endParaRPr lang="en-GB" sz="2000" dirty="0"/>
          </a:p>
          <a:p>
            <a:r>
              <a:rPr lang="en-GB" sz="2000" dirty="0"/>
              <a:t>3 questions, 60 marks in total</a:t>
            </a:r>
          </a:p>
          <a:p>
            <a:r>
              <a:rPr lang="en-GB" sz="2000" dirty="0"/>
              <a:t>Answer all questions</a:t>
            </a:r>
          </a:p>
          <a:p>
            <a:r>
              <a:rPr lang="en-GB" sz="2000" dirty="0"/>
              <a:t>Each of the 3 questions is composed of 10 parts. </a:t>
            </a:r>
            <a:r>
              <a:rPr lang="en-GB" sz="2000" dirty="0">
                <a:solidFill>
                  <a:srgbClr val="0070C0"/>
                </a:solidFill>
              </a:rPr>
              <a:t>All multiple choice</a:t>
            </a:r>
          </a:p>
          <a:p>
            <a:endParaRPr lang="en-GB" sz="2000" dirty="0"/>
          </a:p>
          <a:p>
            <a:endParaRPr lang="en-GB" sz="2000" dirty="0"/>
          </a:p>
          <a:p>
            <a:r>
              <a:rPr lang="en-GB" sz="2000" dirty="0"/>
              <a:t>Sample papers and past exam are given on the Moodle page. Exactly like the format of the actual exam (but different questions!)</a:t>
            </a:r>
          </a:p>
          <a:p>
            <a:endParaRPr lang="en-GB" sz="2000" dirty="0"/>
          </a:p>
          <a:p>
            <a:r>
              <a:rPr lang="en-GB" sz="2000" dirty="0"/>
              <a:t>Nb: Content and style of previous exams not all the same.   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373626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FAE096-5EA9-E62B-31ED-BA41D3189813}"/>
              </a:ext>
            </a:extLst>
          </p:cNvPr>
          <p:cNvSpPr txBox="1"/>
          <p:nvPr/>
        </p:nvSpPr>
        <p:spPr>
          <a:xfrm>
            <a:off x="152400" y="45720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Format of exam </a:t>
            </a:r>
            <a:r>
              <a:rPr lang="en-GB" sz="2800" dirty="0" err="1">
                <a:solidFill>
                  <a:srgbClr val="FF0000"/>
                </a:solidFill>
              </a:rPr>
              <a:t>contd</a:t>
            </a:r>
            <a:r>
              <a:rPr lang="en-GB" sz="2800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1CCBDF-A812-F1A4-2DA5-9326178A111F}"/>
              </a:ext>
            </a:extLst>
          </p:cNvPr>
          <p:cNvSpPr txBox="1"/>
          <p:nvPr/>
        </p:nvSpPr>
        <p:spPr>
          <a:xfrm>
            <a:off x="304800" y="1005820"/>
            <a:ext cx="80772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 It’s in the form of a </a:t>
            </a:r>
            <a:r>
              <a:rPr lang="en-US" sz="2400" dirty="0" err="1">
                <a:solidFill>
                  <a:srgbClr val="FF0000"/>
                </a:solidFill>
              </a:rPr>
              <a:t>moodle</a:t>
            </a:r>
            <a:r>
              <a:rPr lang="en-US" sz="2400" dirty="0">
                <a:solidFill>
                  <a:srgbClr val="FF0000"/>
                </a:solidFill>
              </a:rPr>
              <a:t> quiz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/>
              <a:t>Not deliberately “out to get you”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/>
              <a:t>But you will need to think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/>
              <a:t>Take time to read the question and examine the material provided in boxes (see sample exam)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/>
              <a:t>You will have a handout sheet with some of the figures used in the exam to help you avoid excessive scrolling, and some rough paper. 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/>
              <a:t>Negative marking 2 marks for a correct answer, -2/3 for an incorrect answer. 0 for no answer</a:t>
            </a:r>
          </a:p>
          <a:p>
            <a:pPr marL="342900" indent="-342900">
              <a:buFont typeface="Arial"/>
              <a:buChar char="•"/>
            </a:pPr>
            <a:endParaRPr lang="en-US" sz="2400" dirty="0"/>
          </a:p>
          <a:p>
            <a:pPr marL="342900" indent="-342900">
              <a:buFont typeface="Arial"/>
              <a:buChar char="•"/>
            </a:pPr>
            <a:r>
              <a:rPr lang="en-US" sz="2400" dirty="0"/>
              <a:t>There are a lot of questions – don’t be surprised if you can’t finish them all.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/>
              <a:t>Options are jumbled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/>
              <a:t>No collaboration (will be severe penalty otherwise)</a:t>
            </a:r>
          </a:p>
        </p:txBody>
      </p:sp>
    </p:spTree>
    <p:extLst>
      <p:ext uri="{BB962C8B-B14F-4D97-AF65-F5344CB8AC3E}">
        <p14:creationId xmlns:p14="http://schemas.microsoft.com/office/powerpoint/2010/main" val="73168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US" sz="2800" dirty="0"/>
              <a:t>General advice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ECEF57-619A-F4E1-6408-2B169BD5A039}"/>
              </a:ext>
            </a:extLst>
          </p:cNvPr>
          <p:cNvSpPr txBox="1"/>
          <p:nvPr/>
        </p:nvSpPr>
        <p:spPr>
          <a:xfrm>
            <a:off x="304800" y="1491343"/>
            <a:ext cx="8077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Don’t leave it until the last minute to submit</a:t>
            </a:r>
          </a:p>
          <a:p>
            <a:pPr marL="342900" indent="-342900">
              <a:buFont typeface="Arial"/>
              <a:buChar char="•"/>
            </a:pPr>
            <a:endParaRPr lang="en-US" sz="2400" dirty="0"/>
          </a:p>
          <a:p>
            <a:pPr marL="342900" indent="-342900">
              <a:buFont typeface="Arial"/>
              <a:buChar char="•"/>
            </a:pPr>
            <a:r>
              <a:rPr lang="en-US" sz="2000" dirty="0"/>
              <a:t>You may panic and submit incorrectly</a:t>
            </a:r>
          </a:p>
          <a:p>
            <a:pPr marL="342900" indent="-342900">
              <a:buFont typeface="Arial"/>
              <a:buChar char="•"/>
            </a:pPr>
            <a:r>
              <a:rPr lang="en-GB" sz="2000" dirty="0"/>
              <a:t>See instructions about good cause claim – you may have to take the resit exam in August if this happens</a:t>
            </a:r>
            <a:endParaRPr lang="en-US" sz="2000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BC10C8-7F73-F481-22CB-0B01E8515610}"/>
              </a:ext>
            </a:extLst>
          </p:cNvPr>
          <p:cNvSpPr txBox="1"/>
          <p:nvPr/>
        </p:nvSpPr>
        <p:spPr>
          <a:xfrm>
            <a:off x="304800" y="3810000"/>
            <a:ext cx="80772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Don’t try and look at others’ papers</a:t>
            </a:r>
          </a:p>
          <a:p>
            <a:pPr marL="342900" indent="-342900">
              <a:buFont typeface="Arial"/>
              <a:buChar char="•"/>
            </a:pPr>
            <a:endParaRPr lang="en-US" sz="2400" dirty="0"/>
          </a:p>
          <a:p>
            <a:pPr marL="342900" indent="-342900">
              <a:buFont typeface="Arial"/>
              <a:buChar char="•"/>
            </a:pPr>
            <a:r>
              <a:rPr lang="en-US" sz="2000" dirty="0"/>
              <a:t>Options are shuffled</a:t>
            </a:r>
            <a:endParaRPr lang="en-US" sz="2000" i="1" dirty="0"/>
          </a:p>
          <a:p>
            <a:pPr marL="342900" indent="-342900">
              <a:buFont typeface="Arial"/>
              <a:buChar char="•"/>
            </a:pPr>
            <a:r>
              <a:rPr lang="en-GB" sz="2000" dirty="0"/>
              <a:t>You will inherit negative marks from other people</a:t>
            </a:r>
          </a:p>
          <a:p>
            <a:pPr marL="342900" indent="-342900">
              <a:buFont typeface="Arial"/>
              <a:buChar char="•"/>
            </a:pPr>
            <a:r>
              <a:rPr lang="en-GB" sz="2000" dirty="0"/>
              <a:t>This exam is about </a:t>
            </a:r>
            <a:r>
              <a:rPr lang="en-GB" sz="2000" i="1" dirty="0"/>
              <a:t>you</a:t>
            </a:r>
            <a:r>
              <a:rPr lang="en-GB" sz="2000" dirty="0"/>
              <a:t>. It is not a joint effort</a:t>
            </a:r>
          </a:p>
          <a:p>
            <a:pPr marL="342900" indent="-342900">
              <a:buFont typeface="Arial"/>
              <a:buChar char="•"/>
            </a:pPr>
            <a:r>
              <a:rPr lang="en-GB" sz="2000" i="1" dirty="0"/>
              <a:t>You will sign a form to say that you won’t do this</a:t>
            </a:r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381566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52400" y="794802"/>
            <a:ext cx="845820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4. Time and space complexity</a:t>
            </a:r>
          </a:p>
          <a:p>
            <a:endParaRPr lang="en-US" sz="2400" dirty="0">
              <a:solidFill>
                <a:srgbClr val="FF0000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/>
              <a:t>Don’t try and learn tables of complexities, but make sure you understand them.</a:t>
            </a:r>
          </a:p>
          <a:p>
            <a:endParaRPr lang="en-US" sz="2000" dirty="0"/>
          </a:p>
          <a:p>
            <a:pPr marL="342900" indent="-342900">
              <a:buFont typeface="Arial"/>
              <a:buChar char="•"/>
            </a:pPr>
            <a:r>
              <a:rPr lang="en-US" sz="2000" dirty="0"/>
              <a:t>Obviously, you won’t be asked to prove anything. But know what the recursive formulas lead to.</a:t>
            </a:r>
          </a:p>
          <a:p>
            <a:pPr marL="342900" indent="-342900">
              <a:buFont typeface="Arial"/>
              <a:buChar char="•"/>
            </a:pPr>
            <a:endParaRPr lang="en-US" sz="2000" dirty="0"/>
          </a:p>
          <a:p>
            <a:pPr marL="342900" indent="-342900">
              <a:buFont typeface="Arial"/>
              <a:buChar char="•"/>
            </a:pPr>
            <a:r>
              <a:rPr lang="en-US" sz="2000" dirty="0"/>
              <a:t>You will always be told what n refers to (e.g. size of array, number of elements in a collection), and whether you are being asked for best, average or worst case complexity, and whether an array is sorted.</a:t>
            </a:r>
          </a:p>
          <a:p>
            <a:pPr marL="342900" indent="-342900">
              <a:buFont typeface="Arial"/>
              <a:buChar char="•"/>
            </a:pPr>
            <a:endParaRPr lang="en-US" sz="2000" dirty="0"/>
          </a:p>
          <a:p>
            <a:pPr marL="342900" indent="-342900">
              <a:buFont typeface="Arial"/>
              <a:buChar char="•"/>
            </a:pPr>
            <a:r>
              <a:rPr lang="en-US" sz="2000" dirty="0"/>
              <a:t>The only time we have really thought about space complexity is for comparison of </a:t>
            </a:r>
            <a:r>
              <a:rPr lang="en-US" sz="2000" dirty="0" err="1"/>
              <a:t>mergesort</a:t>
            </a:r>
            <a:r>
              <a:rPr lang="en-US" sz="2000" dirty="0"/>
              <a:t> and quicksort. </a:t>
            </a:r>
          </a:p>
          <a:p>
            <a:endParaRPr lang="en-US" sz="2000" dirty="0"/>
          </a:p>
          <a:p>
            <a:pPr marL="342900" indent="-342900">
              <a:buFont typeface="Arial"/>
              <a:buChar char="•"/>
            </a:pPr>
            <a:r>
              <a:rPr lang="en-US" sz="2000" dirty="0"/>
              <a:t>If asked about the complexity of an algorithm that looks like one you are familiar with, make sure you work your way through the algorithm in case is is a subtle variation.</a:t>
            </a:r>
          </a:p>
        </p:txBody>
      </p:sp>
    </p:spTree>
    <p:extLst>
      <p:ext uri="{BB962C8B-B14F-4D97-AF65-F5344CB8AC3E}">
        <p14:creationId xmlns:p14="http://schemas.microsoft.com/office/powerpoint/2010/main" val="2438966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52400" y="794802"/>
            <a:ext cx="8991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4. How to revise</a:t>
            </a:r>
          </a:p>
          <a:p>
            <a:endParaRPr lang="en-US" sz="2400" dirty="0">
              <a:solidFill>
                <a:srgbClr val="FF0000"/>
              </a:solidFill>
            </a:endParaRPr>
          </a:p>
          <a:p>
            <a:pPr marL="342900" indent="-342900">
              <a:buFont typeface="Arial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Know the lecture slides inside out (i.e. where everything is, and understand them!)</a:t>
            </a:r>
          </a:p>
          <a:p>
            <a:endParaRPr lang="en-US" sz="2000" dirty="0"/>
          </a:p>
          <a:p>
            <a:endParaRPr lang="en-US" sz="20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Go through the tutorial questions (not the implementation ones) and imagine the sort of multiple choice questions that could be related to them</a:t>
            </a:r>
          </a:p>
          <a:p>
            <a:endParaRPr lang="en-US" sz="2000" i="1" dirty="0"/>
          </a:p>
          <a:p>
            <a:pPr marL="342900" indent="-342900">
              <a:buFont typeface="Arial"/>
              <a:buChar char="•"/>
            </a:pPr>
            <a:endParaRPr lang="en-US" sz="2000" dirty="0"/>
          </a:p>
          <a:p>
            <a:pPr marL="342900" indent="-342900">
              <a:buFont typeface="Arial"/>
              <a:buChar char="•"/>
            </a:pPr>
            <a:r>
              <a:rPr lang="en-US" sz="2000" dirty="0"/>
              <a:t>Go through the mock exam (solutions provided)</a:t>
            </a:r>
          </a:p>
          <a:p>
            <a:pPr marL="342900" indent="-342900">
              <a:buFont typeface="Arial"/>
              <a:buChar char="•"/>
            </a:pPr>
            <a:endParaRPr lang="en-US" sz="2000" dirty="0"/>
          </a:p>
          <a:p>
            <a:pPr marL="342900" indent="-342900">
              <a:buFont typeface="Arial"/>
              <a:buChar char="•"/>
            </a:pPr>
            <a:r>
              <a:rPr lang="en-US" sz="2000" dirty="0"/>
              <a:t>Set multiple choice questions for each other!</a:t>
            </a:r>
          </a:p>
        </p:txBody>
      </p:sp>
    </p:spTree>
    <p:extLst>
      <p:ext uri="{BB962C8B-B14F-4D97-AF65-F5344CB8AC3E}">
        <p14:creationId xmlns:p14="http://schemas.microsoft.com/office/powerpoint/2010/main" val="3750961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52400" y="794802"/>
            <a:ext cx="899160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RESIT EXAM</a:t>
            </a:r>
          </a:p>
          <a:p>
            <a:endParaRPr lang="en-US" sz="2400" dirty="0">
              <a:solidFill>
                <a:srgbClr val="FF0000"/>
              </a:solidFill>
            </a:endParaRPr>
          </a:p>
          <a:p>
            <a:pPr marL="342900" indent="-342900">
              <a:buFont typeface="Arial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Is </a:t>
            </a:r>
            <a:r>
              <a:rPr lang="en-US" sz="2000" dirty="0">
                <a:solidFill>
                  <a:srgbClr val="FF0000"/>
                </a:solidFill>
              </a:rPr>
              <a:t>not multiple choice</a:t>
            </a:r>
          </a:p>
          <a:p>
            <a:endParaRPr lang="en-US" sz="2000" dirty="0"/>
          </a:p>
          <a:p>
            <a:endParaRPr lang="en-US" sz="20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3 long questions</a:t>
            </a:r>
          </a:p>
          <a:p>
            <a:endParaRPr lang="en-US" sz="2000" i="1" dirty="0"/>
          </a:p>
          <a:p>
            <a:pPr marL="342900" indent="-342900">
              <a:buFont typeface="Arial"/>
              <a:buChar char="•"/>
            </a:pPr>
            <a:endParaRPr lang="en-US" sz="2000" dirty="0"/>
          </a:p>
          <a:p>
            <a:pPr marL="342900" indent="-342900">
              <a:buFont typeface="Arial"/>
              <a:buChar char="•"/>
            </a:pPr>
            <a:r>
              <a:rPr lang="en-US" sz="2000" dirty="0"/>
              <a:t>Will be more like your other exams (I don’t know if still in lab, presumably it will be).</a:t>
            </a:r>
          </a:p>
          <a:p>
            <a:pPr marL="342900" indent="-342900">
              <a:buFont typeface="Arial"/>
              <a:buChar char="•"/>
            </a:pP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42952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52400" y="794802"/>
            <a:ext cx="899160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Examinable material</a:t>
            </a:r>
          </a:p>
          <a:p>
            <a:endParaRPr lang="en-US" sz="2400" dirty="0">
              <a:solidFill>
                <a:srgbClr val="FF0000"/>
              </a:solidFill>
            </a:endParaRPr>
          </a:p>
          <a:p>
            <a:pPr marL="342900" indent="-342900">
              <a:buFont typeface="Arial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Everything apart from: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Expression Trees (in 10. BSTs), although useful in terms of seeing a good use of a stack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General algorithms – DFS, BFS algorithms (for graphs) in detail (you do need to know the bin packing material).</a:t>
            </a:r>
          </a:p>
          <a:p>
            <a:endParaRPr lang="en-US" sz="2000" dirty="0"/>
          </a:p>
          <a:p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42710150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7807</TotalTime>
  <Words>834</Words>
  <Application>Microsoft Macintosh PowerPoint</Application>
  <PresentationFormat>On-screen Show (4:3)</PresentationFormat>
  <Paragraphs>121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Wingdings</vt:lpstr>
      <vt:lpstr>Clarity</vt:lpstr>
      <vt:lpstr>Algorithms &amp; Data Structures (IT) revision lecture</vt:lpstr>
      <vt:lpstr>Aims – were these fulfilled?</vt:lpstr>
      <vt:lpstr>Contents (what we actually did)</vt:lpstr>
      <vt:lpstr>Final diagram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Algorithms &amp; Data Structures (M)</dc:title>
  <dc:creator>Alice</dc:creator>
  <cp:lastModifiedBy>Alice Miller</cp:lastModifiedBy>
  <cp:revision>65</cp:revision>
  <dcterms:created xsi:type="dcterms:W3CDTF">2006-08-16T00:00:00Z</dcterms:created>
  <dcterms:modified xsi:type="dcterms:W3CDTF">2026-04-23T10:19:23Z</dcterms:modified>
</cp:coreProperties>
</file>