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46"/>
    <p:restoredTop sz="91429"/>
  </p:normalViewPr>
  <p:slideViewPr>
    <p:cSldViewPr>
      <p:cViewPr varScale="1">
        <p:scale>
          <a:sx n="45" d="100"/>
          <a:sy n="45" d="100"/>
        </p:scale>
        <p:origin x="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121C0-B506-489E-A453-C79B73EF7754}" type="datetimeFigureOut">
              <a:rPr lang="en-GB" smtClean="0"/>
              <a:t>07/04/2021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7CB62-4743-4980-BACA-8309E9B411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85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3000"/>
            <a:ext cx="8280400" cy="736600"/>
          </a:xfrm>
        </p:spPr>
        <p:txBody>
          <a:bodyPr/>
          <a:lstStyle/>
          <a:p>
            <a:pPr algn="ctr" eaLnBrk="1" hangingPunct="1"/>
            <a:br>
              <a:rPr lang="en-GB" altLang="en-US" sz="3600" dirty="0">
                <a:solidFill>
                  <a:schemeClr val="folHlink"/>
                </a:solidFill>
              </a:rPr>
            </a:br>
            <a:r>
              <a:rPr lang="en-GB" altLang="en-US" sz="3600" dirty="0">
                <a:solidFill>
                  <a:schemeClr val="folHlink"/>
                </a:solidFill>
              </a:rPr>
              <a:t>7. Queue ADTs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6591300" cy="3638550"/>
          </a:xfrm>
        </p:spPr>
        <p:txBody>
          <a:bodyPr/>
          <a:lstStyle/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Queue concepts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Queue applications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A queue ADT: requirements, contract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Implementations of queues: using arrays and linked-lists</a:t>
            </a:r>
          </a:p>
          <a:p>
            <a:pPr marL="360363" indent="-360363" eaLnBrk="1" hangingPunct="1">
              <a:buClr>
                <a:schemeClr val="bg1"/>
              </a:buClr>
              <a:buFont typeface="Wingdings" pitchFamily="2" charset="2"/>
              <a:buChar char="§"/>
            </a:pPr>
            <a:r>
              <a:rPr lang="en-US" altLang="en-US" sz="2400" dirty="0"/>
              <a:t>Queues in the Java class library</a:t>
            </a:r>
            <a:endParaRPr lang="en-GB" altLang="en-US" sz="2400" dirty="0"/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1908175" y="6380163"/>
            <a:ext cx="5256213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GB" altLang="en-US" sz="2000">
                <a:solidFill>
                  <a:schemeClr val="bg1"/>
                </a:solidFill>
                <a:cs typeface="Arial" charset="0"/>
              </a:rPr>
              <a:t>© 2008 David A Watt, University of Glasgow</a:t>
            </a: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2018506" y="520700"/>
            <a:ext cx="39258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buFont typeface="Wingdings" pitchFamily="2" charset="2"/>
              <a:buNone/>
            </a:pPr>
            <a:r>
              <a:rPr lang="en-GB" altLang="en-US" sz="2000" dirty="0">
                <a:solidFill>
                  <a:schemeClr val="tx2"/>
                </a:solidFill>
                <a:cs typeface="Arial" charset="0"/>
              </a:rPr>
              <a:t>Algorithms &amp; Data Structures (M)</a:t>
            </a:r>
          </a:p>
        </p:txBody>
      </p:sp>
    </p:spTree>
    <p:extLst>
      <p:ext uri="{BB962C8B-B14F-4D97-AF65-F5344CB8AC3E}">
        <p14:creationId xmlns:p14="http://schemas.microsoft.com/office/powerpoint/2010/main" val="20679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 concepts</a:t>
            </a:r>
            <a:endParaRPr lang="en-GB" altLang="en-US" sz="3200" i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 </a:t>
            </a:r>
            <a:r>
              <a:rPr lang="en-US" altLang="en-US" b="1">
                <a:cs typeface="Times New Roman" pitchFamily="18" charset="0"/>
              </a:rPr>
              <a:t>queue</a:t>
            </a:r>
            <a:r>
              <a:rPr lang="en-US" altLang="en-US">
                <a:cs typeface="Times New Roman" pitchFamily="18" charset="0"/>
              </a:rPr>
              <a:t> is a first-in-first-out sequence of elements. Elements can added only at one end (the </a:t>
            </a:r>
            <a:r>
              <a:rPr lang="en-US" altLang="en-US" b="1">
                <a:cs typeface="Times New Roman" pitchFamily="18" charset="0"/>
              </a:rPr>
              <a:t>rear</a:t>
            </a:r>
            <a:r>
              <a:rPr lang="en-US" altLang="en-US">
                <a:cs typeface="Times New Roman" pitchFamily="18" charset="0"/>
              </a:rPr>
              <a:t> of the queue) and removed only at the other end (the </a:t>
            </a:r>
            <a:r>
              <a:rPr lang="en-US" altLang="en-US" b="1">
                <a:cs typeface="Times New Roman" pitchFamily="18" charset="0"/>
              </a:rPr>
              <a:t>front</a:t>
            </a:r>
            <a:r>
              <a:rPr lang="en-US" altLang="en-US">
                <a:cs typeface="Times New Roman" pitchFamily="18" charset="0"/>
              </a:rPr>
              <a:t> of the queue).</a:t>
            </a:r>
            <a:endParaRPr lang="en-US" altLang="en-US"/>
          </a:p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size</a:t>
            </a:r>
            <a:r>
              <a:rPr lang="en-US" altLang="en-US"/>
              <a:t> (or </a:t>
            </a:r>
            <a:r>
              <a:rPr lang="en-US" altLang="en-US" b="1"/>
              <a:t>length</a:t>
            </a:r>
            <a:r>
              <a:rPr lang="en-US" altLang="en-US"/>
              <a:t>) of a queue is the number of elements it contains.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290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bus queue</a:t>
            </a:r>
            <a:endParaRPr lang="en-GB" altLang="en-US" sz="3200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49250" y="1611313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Consider a queue of people at a bus-stop: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7200" y="2281238"/>
            <a:ext cx="7239000" cy="3733800"/>
            <a:chOff x="720" y="1344"/>
            <a:chExt cx="4560" cy="2352"/>
          </a:xfrm>
        </p:grpSpPr>
        <p:sp>
          <p:nvSpPr>
            <p:cNvPr id="5131" name="Rectangle 5"/>
            <p:cNvSpPr>
              <a:spLocks noChangeArrowheads="1"/>
            </p:cNvSpPr>
            <p:nvPr/>
          </p:nvSpPr>
          <p:spPr bwMode="auto">
            <a:xfrm>
              <a:off x="720" y="1344"/>
              <a:ext cx="4560" cy="23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5132" name="Text Box 6"/>
            <p:cNvSpPr txBox="1">
              <a:spLocks noChangeArrowheads="1"/>
            </p:cNvSpPr>
            <p:nvPr/>
          </p:nvSpPr>
          <p:spPr bwMode="auto">
            <a:xfrm>
              <a:off x="4608" y="1422"/>
              <a:ext cx="556" cy="402"/>
            </a:xfrm>
            <a:prstGeom prst="rect">
              <a:avLst/>
            </a:pr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GB" altLang="en-US" sz="2000">
                  <a:latin typeface="Times New Roman" pitchFamily="18" charset="0"/>
                </a:rPr>
                <a:t>BUS STOP</a:t>
              </a:r>
            </a:p>
          </p:txBody>
        </p:sp>
        <p:sp>
          <p:nvSpPr>
            <p:cNvPr id="5133" name="Rectangle 7"/>
            <p:cNvSpPr>
              <a:spLocks noChangeArrowheads="1"/>
            </p:cNvSpPr>
            <p:nvPr/>
          </p:nvSpPr>
          <p:spPr bwMode="auto">
            <a:xfrm>
              <a:off x="5136" y="1392"/>
              <a:ext cx="96" cy="230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</p:grpSp>
      <p:pic>
        <p:nvPicPr>
          <p:cNvPr id="384008" name="Picture 8" descr="marge_shock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349500"/>
            <a:ext cx="954088" cy="363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4009" name="Picture 9" descr="homerpoi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13" y="2924175"/>
            <a:ext cx="1406525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4010" name="Picture 10" descr="bartma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3843338"/>
            <a:ext cx="1395412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4011" name="Picture 11" descr="lisapur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3979863"/>
            <a:ext cx="147161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4012" name="Picture 12" descr="maggie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663" y="4657725"/>
            <a:ext cx="922337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4013" name="Rectangle 13"/>
          <p:cNvSpPr>
            <a:spLocks noChangeArrowheads="1"/>
          </p:cNvSpPr>
          <p:nvPr/>
        </p:nvSpPr>
        <p:spPr bwMode="auto">
          <a:xfrm>
            <a:off x="5146675" y="2892425"/>
            <a:ext cx="1368425" cy="3060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8410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 applications</a:t>
            </a:r>
            <a:endParaRPr lang="en-GB" altLang="en-US" sz="32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Print server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Uses a queue of print jobs.</a:t>
            </a:r>
          </a:p>
          <a:p>
            <a:pPr eaLnBrk="1" hangingPunct="1"/>
            <a:r>
              <a:rPr lang="en-US" altLang="en-US">
                <a:cs typeface="Times New Roman" pitchFamily="18" charset="0"/>
              </a:rPr>
              <a:t>Operating system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Disk driver uses a queue of disk input/output requests.</a:t>
            </a:r>
          </a:p>
          <a:p>
            <a:pPr lvl="1" eaLnBrk="1" hangingPunct="1">
              <a:buFont typeface="Times New Roman" pitchFamily="18" charset="0"/>
              <a:buChar char="–"/>
            </a:pPr>
            <a:r>
              <a:rPr lang="en-US" altLang="en-US">
                <a:cs typeface="Times New Roman" pitchFamily="18" charset="0"/>
              </a:rPr>
              <a:t>Scheduler uses a queue of processes awaiting a slice of processor time.</a:t>
            </a:r>
            <a:endParaRPr lang="en-US" altLang="en-US" sz="18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11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demerging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Consider a file of person records, each of which contains a person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en-US" dirty="0">
                <a:cs typeface="Times New Roman" pitchFamily="18" charset="0"/>
              </a:rPr>
              <a:t>s name, gender, birth-date, etc. The records are sorted by birth-date. We are required to rearrange the records such that females precede males, but they remain sorted by birth-date within each gender group</a:t>
            </a:r>
            <a:r>
              <a:rPr lang="en-GB" altLang="en-US" dirty="0">
                <a:cs typeface="Times New Roman" pitchFamily="18" charset="0"/>
              </a:rPr>
              <a:t>.</a:t>
            </a:r>
          </a:p>
          <a:p>
            <a:pPr eaLnBrk="1" hangingPunct="1"/>
            <a:r>
              <a:rPr lang="en-GB" altLang="en-US" dirty="0">
                <a:cs typeface="Times New Roman" pitchFamily="18" charset="0"/>
              </a:rPr>
              <a:t>Bad idea: use a sorting algorithm. </a:t>
            </a:r>
            <a:br>
              <a:rPr lang="en-GB" altLang="en-US" dirty="0">
                <a:cs typeface="Times New Roman" pitchFamily="18" charset="0"/>
              </a:rPr>
            </a:br>
            <a:r>
              <a:rPr lang="en-GB" altLang="en-US" dirty="0">
                <a:cs typeface="Times New Roman" pitchFamily="18" charset="0"/>
              </a:rPr>
              <a:t>Time complexity is </a:t>
            </a:r>
            <a:r>
              <a:rPr lang="en-GB" altLang="en-US" i="1" dirty="0">
                <a:cs typeface="Times New Roman" pitchFamily="18" charset="0"/>
              </a:rPr>
              <a:t>O</a:t>
            </a:r>
            <a:r>
              <a:rPr lang="en-GB" altLang="en-US" dirty="0">
                <a:cs typeface="Times New Roman" pitchFamily="18" charset="0"/>
              </a:rPr>
              <a:t>(</a:t>
            </a:r>
            <a:r>
              <a:rPr lang="en-GB" altLang="en-US" i="1" dirty="0">
                <a:cs typeface="Times New Roman" pitchFamily="18" charset="0"/>
              </a:rPr>
              <a:t>n</a:t>
            </a:r>
            <a:r>
              <a:rPr lang="en-GB" altLang="en-US" dirty="0">
                <a:cs typeface="Times New Roman" pitchFamily="18" charset="0"/>
              </a:rPr>
              <a:t> log </a:t>
            </a:r>
            <a:r>
              <a:rPr lang="en-GB" altLang="en-US" i="1" dirty="0">
                <a:cs typeface="Times New Roman" pitchFamily="18" charset="0"/>
              </a:rPr>
              <a:t>n</a:t>
            </a:r>
            <a:r>
              <a:rPr lang="en-GB" altLang="en-US" dirty="0">
                <a:cs typeface="Times New Roman" pitchFamily="18" charset="0"/>
              </a:rPr>
              <a:t>) at best.</a:t>
            </a:r>
          </a:p>
          <a:p>
            <a:pPr eaLnBrk="1" hangingPunct="1"/>
            <a:r>
              <a:rPr lang="en-GB" altLang="en-US" dirty="0">
                <a:cs typeface="Times New Roman" pitchFamily="18" charset="0"/>
              </a:rPr>
              <a:t>Good idea: use a </a:t>
            </a:r>
            <a:r>
              <a:rPr lang="en-GB" altLang="en-US" b="1" dirty="0">
                <a:cs typeface="Times New Roman" pitchFamily="18" charset="0"/>
              </a:rPr>
              <a:t>demerging</a:t>
            </a:r>
            <a:r>
              <a:rPr lang="en-GB" altLang="en-US" dirty="0">
                <a:cs typeface="Times New Roman" pitchFamily="18" charset="0"/>
              </a:rPr>
              <a:t> algorithm. </a:t>
            </a:r>
            <a:br>
              <a:rPr lang="en-GB" altLang="en-US" dirty="0">
                <a:cs typeface="Times New Roman" pitchFamily="18" charset="0"/>
              </a:rPr>
            </a:br>
            <a:r>
              <a:rPr lang="en-GB" altLang="en-US" dirty="0">
                <a:cs typeface="Times New Roman" pitchFamily="18" charset="0"/>
              </a:rPr>
              <a:t>Time complexity is </a:t>
            </a:r>
            <a:r>
              <a:rPr lang="en-GB" altLang="en-US" i="1" dirty="0">
                <a:cs typeface="Times New Roman" pitchFamily="18" charset="0"/>
              </a:rPr>
              <a:t>O</a:t>
            </a:r>
            <a:r>
              <a:rPr lang="en-GB" altLang="en-US" dirty="0">
                <a:cs typeface="Times New Roman" pitchFamily="18" charset="0"/>
              </a:rPr>
              <a:t>(</a:t>
            </a:r>
            <a:r>
              <a:rPr lang="en-GB" altLang="en-US" i="1" dirty="0">
                <a:cs typeface="Times New Roman" pitchFamily="18" charset="0"/>
              </a:rPr>
              <a:t>n</a:t>
            </a:r>
            <a:r>
              <a:rPr lang="en-GB" altLang="en-US" dirty="0">
                <a:cs typeface="Times New Roman" pitchFamily="18" charset="0"/>
              </a:rPr>
              <a:t>).</a:t>
            </a:r>
            <a:endParaRPr lang="en-US" altLang="en-US" dirty="0"/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84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Example: demerging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255713" algn="l"/>
              </a:tabLst>
            </a:pPr>
            <a:r>
              <a:rPr lang="en-US" altLang="en-US" dirty="0">
                <a:cs typeface="Times New Roman" pitchFamily="18" charset="0"/>
              </a:rPr>
              <a:t>Demerging algorithm: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2557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To copy a file of person records from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, rearranged such that females precede males, but their order is otherwise unchanged: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255713" algn="l"/>
              </a:tabLst>
            </a:pP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1.	Make empty queues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females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2.	For each person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2.1.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female, add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at the rear of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females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2.2.	If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male, add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at the rear of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3.	While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females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not empty,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3.1.	Remove a person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the front of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females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3.2.	Write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4.	While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is not empty, repeat: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4.1.	Remove a person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from the front of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males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	4.2.	Write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altLang="en-US" sz="2000" i="1" dirty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alt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5.	Terminate.</a:t>
            </a: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7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 ADT: requirements</a:t>
            </a:r>
            <a:endParaRPr lang="en-GB" altLang="en-US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</a:t>
            </a:r>
            <a:r>
              <a:rPr lang="en-US" altLang="en-US"/>
              <a:t>equirements: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make a queue empty.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test whether a queue is empty.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obtain the size of a queue.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add an element at the rear of a queue.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remove the front element from a queue.</a:t>
            </a:r>
          </a:p>
          <a:p>
            <a:pPr marL="869950" lvl="1" indent="-412750" eaLnBrk="1" hangingPunct="1">
              <a:buFont typeface="Wingdings" pitchFamily="2" charset="2"/>
              <a:buAutoNum type="arabicParenR"/>
            </a:pPr>
            <a:r>
              <a:rPr lang="en-US" altLang="en-US">
                <a:cs typeface="Times New Roman" pitchFamily="18" charset="0"/>
              </a:rPr>
              <a:t>It must be possible to access the front element in a queue without removing it.</a:t>
            </a:r>
            <a:endParaRPr lang="en-US" altLang="en-US" sz="18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00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 ADT: contract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for homogeneous queues (expressed as a Java generic interface):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interface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Queue&lt;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 </a:t>
            </a:r>
            <a:r>
              <a:rPr lang="en-US" altLang="en-US" sz="2000" dirty="0">
                <a:cs typeface="Times New Roman" pitchFamily="18" charset="0"/>
              </a:rPr>
              <a:t>Each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Queue&lt;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</a:t>
            </a:r>
            <a:r>
              <a:rPr lang="en-US" altLang="en-US" sz="2000" dirty="0">
                <a:cs typeface="Times New Roman" pitchFamily="18" charset="0"/>
              </a:rPr>
              <a:t> object is a homogeneous queue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whose elements are of type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 err="1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true if and only if this queue is empty.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this queue’s size.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getFirst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Return the element at the front of this queue.</a:t>
            </a:r>
          </a:p>
        </p:txBody>
      </p:sp>
    </p:spTree>
    <p:extLst>
      <p:ext uri="{BB962C8B-B14F-4D97-AF65-F5344CB8AC3E}">
        <p14:creationId xmlns:p14="http://schemas.microsoft.com/office/powerpoint/2010/main" val="218368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 ADT: contract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Possible contract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Make this queue empty.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Add 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it</a:t>
            </a:r>
            <a:r>
              <a:rPr lang="en-US" altLang="en-US" sz="2000" dirty="0">
                <a:cs typeface="Times New Roman" pitchFamily="18" charset="0"/>
              </a:rPr>
              <a:t> as the rear element of this queue.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removeFirst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// </a:t>
            </a:r>
            <a:r>
              <a:rPr lang="en-US" altLang="en-US" sz="2000" dirty="0">
                <a:cs typeface="Times New Roman" pitchFamily="18" charset="0"/>
              </a:rPr>
              <a:t>Remove and return the front element of this queue.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82827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arrays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47650" y="14478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Consider representing a </a:t>
            </a:r>
            <a:r>
              <a:rPr lang="en-US" altLang="en-US" i="1" dirty="0">
                <a:cs typeface="Times New Roman" pitchFamily="18" charset="0"/>
              </a:rPr>
              <a:t>bounded</a:t>
            </a:r>
            <a:r>
              <a:rPr lang="en-US" altLang="en-US" dirty="0">
                <a:cs typeface="Times New Roman" pitchFamily="18" charset="0"/>
              </a:rPr>
              <a:t> queue (size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variables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front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rear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an array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, containing the elements in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front</a:t>
            </a:r>
            <a:r>
              <a:rPr lang="en-US" altLang="en-US" dirty="0">
                <a:cs typeface="Times New Roman" pitchFamily="18" charset="0"/>
              </a:rPr>
              <a:t>…</a:t>
            </a:r>
            <a:r>
              <a:rPr lang="en-US" altLang="en-US" i="1" dirty="0">
                <a:cs typeface="Times New Roman" pitchFamily="18" charset="0"/>
              </a:rPr>
              <a:t>rear</a:t>
            </a:r>
            <a:r>
              <a:rPr lang="en-US" altLang="en-US" dirty="0">
                <a:cs typeface="Times New Roman" pitchFamily="18" charset="0"/>
              </a:rPr>
              <a:t>–1].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730538" y="5405438"/>
            <a:ext cx="7280275" cy="630238"/>
            <a:chOff x="1066" y="3509"/>
            <a:chExt cx="4586" cy="397"/>
          </a:xfrm>
        </p:grpSpPr>
        <p:sp>
          <p:nvSpPr>
            <p:cNvPr id="12313" name="Rectangle 5"/>
            <p:cNvSpPr>
              <a:spLocks noChangeArrowheads="1"/>
            </p:cNvSpPr>
            <p:nvPr/>
          </p:nvSpPr>
          <p:spPr bwMode="auto">
            <a:xfrm>
              <a:off x="1066" y="3586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queue:</a:t>
              </a:r>
              <a:endParaRPr lang="en-US" altLang="en-US" sz="2000"/>
            </a:p>
          </p:txBody>
        </p:sp>
        <p:sp>
          <p:nvSpPr>
            <p:cNvPr id="12314" name="Rectangle 6"/>
            <p:cNvSpPr>
              <a:spLocks noChangeArrowheads="1"/>
            </p:cNvSpPr>
            <p:nvPr/>
          </p:nvSpPr>
          <p:spPr bwMode="auto">
            <a:xfrm>
              <a:off x="277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15" name="Rectangle 7"/>
            <p:cNvSpPr>
              <a:spLocks noChangeArrowheads="1"/>
            </p:cNvSpPr>
            <p:nvPr/>
          </p:nvSpPr>
          <p:spPr bwMode="auto">
            <a:xfrm>
              <a:off x="229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16" name="Rectangle 8"/>
            <p:cNvSpPr>
              <a:spLocks noChangeArrowheads="1"/>
            </p:cNvSpPr>
            <p:nvPr/>
          </p:nvSpPr>
          <p:spPr bwMode="auto">
            <a:xfrm>
              <a:off x="181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17" name="Rectangle 9"/>
            <p:cNvSpPr>
              <a:spLocks noChangeArrowheads="1"/>
            </p:cNvSpPr>
            <p:nvPr/>
          </p:nvSpPr>
          <p:spPr bwMode="auto">
            <a:xfrm>
              <a:off x="373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18" name="Rectangle 10"/>
            <p:cNvSpPr>
              <a:spLocks noChangeArrowheads="1"/>
            </p:cNvSpPr>
            <p:nvPr/>
          </p:nvSpPr>
          <p:spPr bwMode="auto">
            <a:xfrm>
              <a:off x="421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19" name="Rectangle 11"/>
            <p:cNvSpPr>
              <a:spLocks noChangeArrowheads="1"/>
            </p:cNvSpPr>
            <p:nvPr/>
          </p:nvSpPr>
          <p:spPr bwMode="auto">
            <a:xfrm>
              <a:off x="517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20" name="Rectangle 12"/>
            <p:cNvSpPr>
              <a:spLocks noChangeArrowheads="1"/>
            </p:cNvSpPr>
            <p:nvPr/>
          </p:nvSpPr>
          <p:spPr bwMode="auto">
            <a:xfrm>
              <a:off x="469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21" name="Rectangle 13"/>
            <p:cNvSpPr>
              <a:spLocks noChangeArrowheads="1"/>
            </p:cNvSpPr>
            <p:nvPr/>
          </p:nvSpPr>
          <p:spPr bwMode="auto">
            <a:xfrm>
              <a:off x="3252" y="365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22" name="Freeform 14"/>
            <p:cNvSpPr>
              <a:spLocks/>
            </p:cNvSpPr>
            <p:nvPr/>
          </p:nvSpPr>
          <p:spPr bwMode="auto">
            <a:xfrm>
              <a:off x="2436" y="3617"/>
              <a:ext cx="240" cy="288"/>
            </a:xfrm>
            <a:custGeom>
              <a:avLst/>
              <a:gdLst>
                <a:gd name="T0" fmla="*/ 0 w 240"/>
                <a:gd name="T1" fmla="*/ 288 h 288"/>
                <a:gd name="T2" fmla="*/ 144 w 240"/>
                <a:gd name="T3" fmla="*/ 0 h 288"/>
                <a:gd name="T4" fmla="*/ 240 w 240"/>
                <a:gd name="T5" fmla="*/ 0 h 288"/>
                <a:gd name="T6" fmla="*/ 96 w 240"/>
                <a:gd name="T7" fmla="*/ 288 h 288"/>
                <a:gd name="T8" fmla="*/ 0 w 240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23" name="Freeform 15"/>
            <p:cNvSpPr>
              <a:spLocks/>
            </p:cNvSpPr>
            <p:nvPr/>
          </p:nvSpPr>
          <p:spPr bwMode="auto">
            <a:xfrm>
              <a:off x="4308" y="3617"/>
              <a:ext cx="240" cy="288"/>
            </a:xfrm>
            <a:custGeom>
              <a:avLst/>
              <a:gdLst>
                <a:gd name="T0" fmla="*/ 0 w 240"/>
                <a:gd name="T1" fmla="*/ 288 h 288"/>
                <a:gd name="T2" fmla="*/ 144 w 240"/>
                <a:gd name="T3" fmla="*/ 0 h 288"/>
                <a:gd name="T4" fmla="*/ 240 w 240"/>
                <a:gd name="T5" fmla="*/ 0 h 288"/>
                <a:gd name="T6" fmla="*/ 96 w 240"/>
                <a:gd name="T7" fmla="*/ 288 h 288"/>
                <a:gd name="T8" fmla="*/ 0 w 240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24" name="Rectangle 16"/>
            <p:cNvSpPr>
              <a:spLocks noChangeArrowheads="1"/>
            </p:cNvSpPr>
            <p:nvPr/>
          </p:nvSpPr>
          <p:spPr bwMode="auto">
            <a:xfrm>
              <a:off x="1812" y="3509"/>
              <a:ext cx="46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2325" name="Rectangle 17"/>
            <p:cNvSpPr>
              <a:spLocks noChangeArrowheads="1"/>
            </p:cNvSpPr>
            <p:nvPr/>
          </p:nvSpPr>
          <p:spPr bwMode="auto">
            <a:xfrm>
              <a:off x="5172" y="3509"/>
              <a:ext cx="46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2326" name="Rectangle 18"/>
            <p:cNvSpPr>
              <a:spLocks noChangeArrowheads="1"/>
            </p:cNvSpPr>
            <p:nvPr/>
          </p:nvSpPr>
          <p:spPr bwMode="auto">
            <a:xfrm>
              <a:off x="3156" y="3509"/>
              <a:ext cx="65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front</a:t>
              </a:r>
              <a:r>
                <a:rPr lang="en-US" altLang="en-US" sz="1800"/>
                <a:t>=</a:t>
              </a:r>
              <a:r>
                <a:rPr lang="en-US" altLang="en-US" sz="1800" i="1"/>
                <a:t>rear</a:t>
              </a:r>
              <a:endParaRPr lang="en-US" altLang="en-US" sz="1800"/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752475" y="3525837"/>
            <a:ext cx="7305675" cy="1031875"/>
            <a:chOff x="1066" y="2546"/>
            <a:chExt cx="4602" cy="650"/>
          </a:xfrm>
        </p:grpSpPr>
        <p:sp>
          <p:nvSpPr>
            <p:cNvPr id="12294" name="Rectangle 20"/>
            <p:cNvSpPr>
              <a:spLocks noChangeArrowheads="1"/>
            </p:cNvSpPr>
            <p:nvPr/>
          </p:nvSpPr>
          <p:spPr bwMode="auto">
            <a:xfrm>
              <a:off x="1066" y="2973"/>
              <a:ext cx="67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2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12295" name="Rectangle 21"/>
            <p:cNvSpPr>
              <a:spLocks noChangeArrowheads="1"/>
            </p:cNvSpPr>
            <p:nvPr/>
          </p:nvSpPr>
          <p:spPr bwMode="auto">
            <a:xfrm>
              <a:off x="2772" y="295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2296" name="Rectangle 22"/>
            <p:cNvSpPr>
              <a:spLocks noChangeArrowheads="1"/>
            </p:cNvSpPr>
            <p:nvPr/>
          </p:nvSpPr>
          <p:spPr bwMode="auto">
            <a:xfrm>
              <a:off x="1812" y="295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297" name="Rectangle 23"/>
            <p:cNvSpPr>
              <a:spLocks noChangeArrowheads="1"/>
            </p:cNvSpPr>
            <p:nvPr/>
          </p:nvSpPr>
          <p:spPr bwMode="auto">
            <a:xfrm>
              <a:off x="4212" y="295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2298" name="Rectangle 24"/>
            <p:cNvSpPr>
              <a:spLocks noChangeArrowheads="1"/>
            </p:cNvSpPr>
            <p:nvPr/>
          </p:nvSpPr>
          <p:spPr bwMode="auto">
            <a:xfrm>
              <a:off x="5172" y="295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299" name="Rectangle 25"/>
            <p:cNvSpPr>
              <a:spLocks noChangeArrowheads="1"/>
            </p:cNvSpPr>
            <p:nvPr/>
          </p:nvSpPr>
          <p:spPr bwMode="auto">
            <a:xfrm>
              <a:off x="4692" y="295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00" name="Rectangle 26"/>
            <p:cNvSpPr>
              <a:spLocks noChangeArrowheads="1"/>
            </p:cNvSpPr>
            <p:nvPr/>
          </p:nvSpPr>
          <p:spPr bwMode="auto">
            <a:xfrm>
              <a:off x="3732" y="295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01" name="Rectangle 27"/>
            <p:cNvSpPr>
              <a:spLocks noChangeArrowheads="1"/>
            </p:cNvSpPr>
            <p:nvPr/>
          </p:nvSpPr>
          <p:spPr bwMode="auto">
            <a:xfrm>
              <a:off x="2292" y="2956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2302" name="Rectangle 28"/>
            <p:cNvSpPr>
              <a:spLocks noChangeArrowheads="1"/>
            </p:cNvSpPr>
            <p:nvPr/>
          </p:nvSpPr>
          <p:spPr bwMode="auto">
            <a:xfrm>
              <a:off x="3252" y="2956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2303" name="Freeform 29"/>
            <p:cNvSpPr>
              <a:spLocks/>
            </p:cNvSpPr>
            <p:nvPr/>
          </p:nvSpPr>
          <p:spPr bwMode="auto">
            <a:xfrm>
              <a:off x="4836" y="2908"/>
              <a:ext cx="240" cy="288"/>
            </a:xfrm>
            <a:custGeom>
              <a:avLst/>
              <a:gdLst>
                <a:gd name="T0" fmla="*/ 0 w 240"/>
                <a:gd name="T1" fmla="*/ 288 h 288"/>
                <a:gd name="T2" fmla="*/ 144 w 240"/>
                <a:gd name="T3" fmla="*/ 0 h 288"/>
                <a:gd name="T4" fmla="*/ 240 w 240"/>
                <a:gd name="T5" fmla="*/ 0 h 288"/>
                <a:gd name="T6" fmla="*/ 96 w 240"/>
                <a:gd name="T7" fmla="*/ 288 h 288"/>
                <a:gd name="T8" fmla="*/ 0 w 240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4" name="Freeform 30"/>
            <p:cNvSpPr>
              <a:spLocks/>
            </p:cNvSpPr>
            <p:nvPr/>
          </p:nvSpPr>
          <p:spPr bwMode="auto">
            <a:xfrm>
              <a:off x="3876" y="2908"/>
              <a:ext cx="240" cy="288"/>
            </a:xfrm>
            <a:custGeom>
              <a:avLst/>
              <a:gdLst>
                <a:gd name="T0" fmla="*/ 0 w 240"/>
                <a:gd name="T1" fmla="*/ 288 h 288"/>
                <a:gd name="T2" fmla="*/ 144 w 240"/>
                <a:gd name="T3" fmla="*/ 0 h 288"/>
                <a:gd name="T4" fmla="*/ 240 w 240"/>
                <a:gd name="T5" fmla="*/ 0 h 288"/>
                <a:gd name="T6" fmla="*/ 96 w 240"/>
                <a:gd name="T7" fmla="*/ 288 h 288"/>
                <a:gd name="T8" fmla="*/ 0 w 240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5" name="Freeform 31"/>
            <p:cNvSpPr>
              <a:spLocks/>
            </p:cNvSpPr>
            <p:nvPr/>
          </p:nvSpPr>
          <p:spPr bwMode="auto">
            <a:xfrm>
              <a:off x="2388" y="2908"/>
              <a:ext cx="240" cy="288"/>
            </a:xfrm>
            <a:custGeom>
              <a:avLst/>
              <a:gdLst>
                <a:gd name="T0" fmla="*/ 0 w 240"/>
                <a:gd name="T1" fmla="*/ 288 h 288"/>
                <a:gd name="T2" fmla="*/ 144 w 240"/>
                <a:gd name="T3" fmla="*/ 0 h 288"/>
                <a:gd name="T4" fmla="*/ 240 w 240"/>
                <a:gd name="T5" fmla="*/ 0 h 288"/>
                <a:gd name="T6" fmla="*/ 96 w 240"/>
                <a:gd name="T7" fmla="*/ 288 h 288"/>
                <a:gd name="T8" fmla="*/ 0 w 240"/>
                <a:gd name="T9" fmla="*/ 288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306" name="Rectangle 32"/>
            <p:cNvSpPr>
              <a:spLocks noChangeArrowheads="1"/>
            </p:cNvSpPr>
            <p:nvPr/>
          </p:nvSpPr>
          <p:spPr bwMode="auto">
            <a:xfrm>
              <a:off x="1812" y="2812"/>
              <a:ext cx="467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2307" name="Rectangle 33"/>
            <p:cNvSpPr>
              <a:spLocks noChangeArrowheads="1"/>
            </p:cNvSpPr>
            <p:nvPr/>
          </p:nvSpPr>
          <p:spPr bwMode="auto">
            <a:xfrm>
              <a:off x="2772" y="2812"/>
              <a:ext cx="467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front</a:t>
              </a:r>
            </a:p>
          </p:txBody>
        </p:sp>
        <p:sp>
          <p:nvSpPr>
            <p:cNvPr id="12308" name="Rectangle 34"/>
            <p:cNvSpPr>
              <a:spLocks noChangeArrowheads="1"/>
            </p:cNvSpPr>
            <p:nvPr/>
          </p:nvSpPr>
          <p:spPr bwMode="auto">
            <a:xfrm>
              <a:off x="4212" y="2812"/>
              <a:ext cx="46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rear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2309" name="Rectangle 35"/>
            <p:cNvSpPr>
              <a:spLocks noChangeArrowheads="1"/>
            </p:cNvSpPr>
            <p:nvPr/>
          </p:nvSpPr>
          <p:spPr bwMode="auto">
            <a:xfrm>
              <a:off x="5172" y="2812"/>
              <a:ext cx="46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2310" name="AutoShape 36"/>
            <p:cNvSpPr>
              <a:spLocks/>
            </p:cNvSpPr>
            <p:nvPr/>
          </p:nvSpPr>
          <p:spPr bwMode="auto">
            <a:xfrm>
              <a:off x="1116" y="2546"/>
              <a:ext cx="804" cy="146"/>
            </a:xfrm>
            <a:prstGeom prst="callout1">
              <a:avLst>
                <a:gd name="adj1" fmla="val 49315"/>
                <a:gd name="adj2" fmla="val 105972"/>
                <a:gd name="adj3" fmla="val 308218"/>
                <a:gd name="adj4" fmla="val 132838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unoccupied</a:t>
              </a:r>
            </a:p>
          </p:txBody>
        </p:sp>
        <p:sp>
          <p:nvSpPr>
            <p:cNvPr id="12311" name="AutoShape 37"/>
            <p:cNvSpPr>
              <a:spLocks/>
            </p:cNvSpPr>
            <p:nvPr/>
          </p:nvSpPr>
          <p:spPr bwMode="auto">
            <a:xfrm>
              <a:off x="3393" y="2546"/>
              <a:ext cx="886" cy="136"/>
            </a:xfrm>
            <a:prstGeom prst="callout1">
              <a:avLst>
                <a:gd name="adj1" fmla="val 52940"/>
                <a:gd name="adj2" fmla="val -5417"/>
                <a:gd name="adj3" fmla="val 330884"/>
                <a:gd name="adj4" fmla="val -21782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front element</a:t>
              </a:r>
            </a:p>
          </p:txBody>
        </p:sp>
        <p:sp>
          <p:nvSpPr>
            <p:cNvPr id="12312" name="AutoShape 38"/>
            <p:cNvSpPr>
              <a:spLocks/>
            </p:cNvSpPr>
            <p:nvPr/>
          </p:nvSpPr>
          <p:spPr bwMode="auto">
            <a:xfrm>
              <a:off x="4845" y="2546"/>
              <a:ext cx="823" cy="136"/>
            </a:xfrm>
            <a:prstGeom prst="callout1">
              <a:avLst>
                <a:gd name="adj1" fmla="val 52940"/>
                <a:gd name="adj2" fmla="val -5833"/>
                <a:gd name="adj3" fmla="val 330884"/>
                <a:gd name="adj4" fmla="val -22963"/>
              </a:avLst>
            </a:prstGeom>
            <a:noFill/>
            <a:ln w="9525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 dirty="0">
                  <a:solidFill>
                    <a:schemeClr val="accent1">
                      <a:lumMod val="75000"/>
                    </a:schemeClr>
                  </a:solidFill>
                </a:rPr>
                <a:t>rear element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02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7"/>
          <p:cNvGrpSpPr>
            <a:grpSpLocks/>
          </p:cNvGrpSpPr>
          <p:nvPr/>
        </p:nvGrpSpPr>
        <p:grpSpPr bwMode="auto">
          <a:xfrm>
            <a:off x="677863" y="2593976"/>
            <a:ext cx="5638800" cy="1981200"/>
            <a:chOff x="1224" y="1412"/>
            <a:chExt cx="3552" cy="1248"/>
          </a:xfrm>
        </p:grpSpPr>
        <p:sp>
          <p:nvSpPr>
            <p:cNvPr id="13457" name="Rectangle 5"/>
            <p:cNvSpPr>
              <a:spLocks noChangeArrowheads="1"/>
            </p:cNvSpPr>
            <p:nvPr/>
          </p:nvSpPr>
          <p:spPr bwMode="auto">
            <a:xfrm>
              <a:off x="1224" y="1412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58" name="Rectangle 6"/>
            <p:cNvSpPr>
              <a:spLocks noChangeArrowheads="1"/>
            </p:cNvSpPr>
            <p:nvPr/>
          </p:nvSpPr>
          <p:spPr bwMode="auto">
            <a:xfrm>
              <a:off x="1273" y="1460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Initially:</a:t>
              </a:r>
            </a:p>
          </p:txBody>
        </p:sp>
        <p:sp>
          <p:nvSpPr>
            <p:cNvPr id="13459" name="Rectangle 7"/>
            <p:cNvSpPr>
              <a:spLocks noChangeArrowheads="1"/>
            </p:cNvSpPr>
            <p:nvPr/>
          </p:nvSpPr>
          <p:spPr bwMode="auto">
            <a:xfrm>
              <a:off x="1910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460" name="Rectangle 8"/>
            <p:cNvSpPr>
              <a:spLocks noChangeArrowheads="1"/>
            </p:cNvSpPr>
            <p:nvPr/>
          </p:nvSpPr>
          <p:spPr bwMode="auto">
            <a:xfrm>
              <a:off x="1709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61" name="Rectangle 9"/>
            <p:cNvSpPr>
              <a:spLocks noChangeArrowheads="1"/>
            </p:cNvSpPr>
            <p:nvPr/>
          </p:nvSpPr>
          <p:spPr bwMode="auto">
            <a:xfrm>
              <a:off x="1704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62" name="Rectangle 10"/>
            <p:cNvSpPr>
              <a:spLocks noChangeArrowheads="1"/>
            </p:cNvSpPr>
            <p:nvPr/>
          </p:nvSpPr>
          <p:spPr bwMode="auto">
            <a:xfrm>
              <a:off x="2434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463" name="Rectangle 11"/>
            <p:cNvSpPr>
              <a:spLocks noChangeArrowheads="1"/>
            </p:cNvSpPr>
            <p:nvPr/>
          </p:nvSpPr>
          <p:spPr bwMode="auto">
            <a:xfrm>
              <a:off x="2208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64" name="Rectangle 12"/>
            <p:cNvSpPr>
              <a:spLocks noChangeArrowheads="1"/>
            </p:cNvSpPr>
            <p:nvPr/>
          </p:nvSpPr>
          <p:spPr bwMode="auto">
            <a:xfrm>
              <a:off x="2203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65" name="Rectangle 13"/>
            <p:cNvSpPr>
              <a:spLocks noChangeArrowheads="1"/>
            </p:cNvSpPr>
            <p:nvPr/>
          </p:nvSpPr>
          <p:spPr bwMode="auto">
            <a:xfrm>
              <a:off x="2933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466" name="Rectangle 14"/>
            <p:cNvSpPr>
              <a:spLocks noChangeArrowheads="1"/>
            </p:cNvSpPr>
            <p:nvPr/>
          </p:nvSpPr>
          <p:spPr bwMode="auto">
            <a:xfrm>
              <a:off x="2707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67" name="Rectangle 15"/>
            <p:cNvSpPr>
              <a:spLocks noChangeArrowheads="1"/>
            </p:cNvSpPr>
            <p:nvPr/>
          </p:nvSpPr>
          <p:spPr bwMode="auto">
            <a:xfrm>
              <a:off x="2702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68" name="Rectangle 16"/>
            <p:cNvSpPr>
              <a:spLocks noChangeArrowheads="1"/>
            </p:cNvSpPr>
            <p:nvPr/>
          </p:nvSpPr>
          <p:spPr bwMode="auto">
            <a:xfrm>
              <a:off x="3432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469" name="Rectangle 17"/>
            <p:cNvSpPr>
              <a:spLocks noChangeArrowheads="1"/>
            </p:cNvSpPr>
            <p:nvPr/>
          </p:nvSpPr>
          <p:spPr bwMode="auto">
            <a:xfrm>
              <a:off x="3206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70" name="Rectangle 18"/>
            <p:cNvSpPr>
              <a:spLocks noChangeArrowheads="1"/>
            </p:cNvSpPr>
            <p:nvPr/>
          </p:nvSpPr>
          <p:spPr bwMode="auto">
            <a:xfrm>
              <a:off x="3201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71" name="Rectangle 19"/>
            <p:cNvSpPr>
              <a:spLocks noChangeArrowheads="1"/>
            </p:cNvSpPr>
            <p:nvPr/>
          </p:nvSpPr>
          <p:spPr bwMode="auto">
            <a:xfrm>
              <a:off x="3931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472" name="Rectangle 20"/>
            <p:cNvSpPr>
              <a:spLocks noChangeArrowheads="1"/>
            </p:cNvSpPr>
            <p:nvPr/>
          </p:nvSpPr>
          <p:spPr bwMode="auto">
            <a:xfrm>
              <a:off x="3705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73" name="Rectangle 21"/>
            <p:cNvSpPr>
              <a:spLocks noChangeArrowheads="1"/>
            </p:cNvSpPr>
            <p:nvPr/>
          </p:nvSpPr>
          <p:spPr bwMode="auto">
            <a:xfrm>
              <a:off x="3700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74" name="Rectangle 22"/>
            <p:cNvSpPr>
              <a:spLocks noChangeArrowheads="1"/>
            </p:cNvSpPr>
            <p:nvPr/>
          </p:nvSpPr>
          <p:spPr bwMode="auto">
            <a:xfrm>
              <a:off x="4430" y="176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475" name="Rectangle 23"/>
            <p:cNvSpPr>
              <a:spLocks noChangeArrowheads="1"/>
            </p:cNvSpPr>
            <p:nvPr/>
          </p:nvSpPr>
          <p:spPr bwMode="auto">
            <a:xfrm>
              <a:off x="4204" y="194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76" name="Rectangle 24"/>
            <p:cNvSpPr>
              <a:spLocks noChangeArrowheads="1"/>
            </p:cNvSpPr>
            <p:nvPr/>
          </p:nvSpPr>
          <p:spPr bwMode="auto">
            <a:xfrm>
              <a:off x="4199" y="194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77" name="Rectangle 25"/>
            <p:cNvSpPr>
              <a:spLocks noChangeArrowheads="1"/>
            </p:cNvSpPr>
            <p:nvPr/>
          </p:nvSpPr>
          <p:spPr bwMode="auto">
            <a:xfrm>
              <a:off x="1704" y="232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478" name="Rectangle 26"/>
            <p:cNvSpPr>
              <a:spLocks noChangeArrowheads="1"/>
            </p:cNvSpPr>
            <p:nvPr/>
          </p:nvSpPr>
          <p:spPr bwMode="auto">
            <a:xfrm>
              <a:off x="1272" y="232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479" name="Rectangle 27"/>
            <p:cNvSpPr>
              <a:spLocks noChangeArrowheads="1"/>
            </p:cNvSpPr>
            <p:nvPr/>
          </p:nvSpPr>
          <p:spPr bwMode="auto">
            <a:xfrm>
              <a:off x="2712" y="232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480" name="Rectangle 28"/>
            <p:cNvSpPr>
              <a:spLocks noChangeArrowheads="1"/>
            </p:cNvSpPr>
            <p:nvPr/>
          </p:nvSpPr>
          <p:spPr bwMode="auto">
            <a:xfrm>
              <a:off x="2280" y="232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481" name="Rectangle 29"/>
            <p:cNvSpPr>
              <a:spLocks noChangeArrowheads="1"/>
            </p:cNvSpPr>
            <p:nvPr/>
          </p:nvSpPr>
          <p:spPr bwMode="auto">
            <a:xfrm>
              <a:off x="1272" y="1940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482" name="Rectangle 30"/>
            <p:cNvSpPr>
              <a:spLocks noChangeArrowheads="1"/>
            </p:cNvSpPr>
            <p:nvPr/>
          </p:nvSpPr>
          <p:spPr bwMode="auto">
            <a:xfrm>
              <a:off x="3941" y="232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483" name="Rectangle 31"/>
            <p:cNvSpPr>
              <a:spLocks noChangeArrowheads="1"/>
            </p:cNvSpPr>
            <p:nvPr/>
          </p:nvSpPr>
          <p:spPr bwMode="auto">
            <a:xfrm>
              <a:off x="3413" y="2324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</p:grpSp>
      <p:grpSp>
        <p:nvGrpSpPr>
          <p:cNvPr id="3" name="Group 176"/>
          <p:cNvGrpSpPr>
            <a:grpSpLocks/>
          </p:cNvGrpSpPr>
          <p:nvPr/>
        </p:nvGrpSpPr>
        <p:grpSpPr bwMode="auto">
          <a:xfrm>
            <a:off x="677863" y="2593976"/>
            <a:ext cx="5638800" cy="1981200"/>
            <a:chOff x="1224" y="1502"/>
            <a:chExt cx="3552" cy="1248"/>
          </a:xfrm>
        </p:grpSpPr>
        <p:sp>
          <p:nvSpPr>
            <p:cNvPr id="13430" name="Rectangle 33"/>
            <p:cNvSpPr>
              <a:spLocks noChangeArrowheads="1"/>
            </p:cNvSpPr>
            <p:nvPr/>
          </p:nvSpPr>
          <p:spPr bwMode="auto">
            <a:xfrm>
              <a:off x="1224" y="1502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31" name="Rectangle 34"/>
            <p:cNvSpPr>
              <a:spLocks noChangeArrowheads="1"/>
            </p:cNvSpPr>
            <p:nvPr/>
          </p:nvSpPr>
          <p:spPr bwMode="auto">
            <a:xfrm>
              <a:off x="1910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432" name="Rectangle 35"/>
            <p:cNvSpPr>
              <a:spLocks noChangeArrowheads="1"/>
            </p:cNvSpPr>
            <p:nvPr/>
          </p:nvSpPr>
          <p:spPr bwMode="auto">
            <a:xfrm>
              <a:off x="1709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33" name="Rectangle 36"/>
            <p:cNvSpPr>
              <a:spLocks noChangeArrowheads="1"/>
            </p:cNvSpPr>
            <p:nvPr/>
          </p:nvSpPr>
          <p:spPr bwMode="auto">
            <a:xfrm>
              <a:off x="1704" y="203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Homer</a:t>
              </a:r>
            </a:p>
          </p:txBody>
        </p:sp>
        <p:sp>
          <p:nvSpPr>
            <p:cNvPr id="13434" name="Rectangle 37"/>
            <p:cNvSpPr>
              <a:spLocks noChangeArrowheads="1"/>
            </p:cNvSpPr>
            <p:nvPr/>
          </p:nvSpPr>
          <p:spPr bwMode="auto">
            <a:xfrm>
              <a:off x="2434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435" name="Rectangle 38"/>
            <p:cNvSpPr>
              <a:spLocks noChangeArrowheads="1"/>
            </p:cNvSpPr>
            <p:nvPr/>
          </p:nvSpPr>
          <p:spPr bwMode="auto">
            <a:xfrm>
              <a:off x="2208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36" name="Rectangle 39"/>
            <p:cNvSpPr>
              <a:spLocks noChangeArrowheads="1"/>
            </p:cNvSpPr>
            <p:nvPr/>
          </p:nvSpPr>
          <p:spPr bwMode="auto">
            <a:xfrm>
              <a:off x="2203" y="203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3437" name="Rectangle 40"/>
            <p:cNvSpPr>
              <a:spLocks noChangeArrowheads="1"/>
            </p:cNvSpPr>
            <p:nvPr/>
          </p:nvSpPr>
          <p:spPr bwMode="auto">
            <a:xfrm>
              <a:off x="2933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438" name="Rectangle 41"/>
            <p:cNvSpPr>
              <a:spLocks noChangeArrowheads="1"/>
            </p:cNvSpPr>
            <p:nvPr/>
          </p:nvSpPr>
          <p:spPr bwMode="auto">
            <a:xfrm>
              <a:off x="2707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39" name="Rectangle 42"/>
            <p:cNvSpPr>
              <a:spLocks noChangeArrowheads="1"/>
            </p:cNvSpPr>
            <p:nvPr/>
          </p:nvSpPr>
          <p:spPr bwMode="auto">
            <a:xfrm>
              <a:off x="2702" y="203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3440" name="Rectangle 43"/>
            <p:cNvSpPr>
              <a:spLocks noChangeArrowheads="1"/>
            </p:cNvSpPr>
            <p:nvPr/>
          </p:nvSpPr>
          <p:spPr bwMode="auto">
            <a:xfrm>
              <a:off x="3432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441" name="Rectangle 44"/>
            <p:cNvSpPr>
              <a:spLocks noChangeArrowheads="1"/>
            </p:cNvSpPr>
            <p:nvPr/>
          </p:nvSpPr>
          <p:spPr bwMode="auto">
            <a:xfrm>
              <a:off x="3206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42" name="Rectangle 45"/>
            <p:cNvSpPr>
              <a:spLocks noChangeArrowheads="1"/>
            </p:cNvSpPr>
            <p:nvPr/>
          </p:nvSpPr>
          <p:spPr bwMode="auto">
            <a:xfrm>
              <a:off x="3201" y="203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3443" name="Rectangle 46"/>
            <p:cNvSpPr>
              <a:spLocks noChangeArrowheads="1"/>
            </p:cNvSpPr>
            <p:nvPr/>
          </p:nvSpPr>
          <p:spPr bwMode="auto">
            <a:xfrm>
              <a:off x="3931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444" name="Rectangle 47"/>
            <p:cNvSpPr>
              <a:spLocks noChangeArrowheads="1"/>
            </p:cNvSpPr>
            <p:nvPr/>
          </p:nvSpPr>
          <p:spPr bwMode="auto">
            <a:xfrm>
              <a:off x="3705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45" name="Rectangle 48"/>
            <p:cNvSpPr>
              <a:spLocks noChangeArrowheads="1"/>
            </p:cNvSpPr>
            <p:nvPr/>
          </p:nvSpPr>
          <p:spPr bwMode="auto">
            <a:xfrm>
              <a:off x="3700" y="203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46" name="Rectangle 49"/>
            <p:cNvSpPr>
              <a:spLocks noChangeArrowheads="1"/>
            </p:cNvSpPr>
            <p:nvPr/>
          </p:nvSpPr>
          <p:spPr bwMode="auto">
            <a:xfrm>
              <a:off x="4430" y="185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447" name="Rectangle 50"/>
            <p:cNvSpPr>
              <a:spLocks noChangeArrowheads="1"/>
            </p:cNvSpPr>
            <p:nvPr/>
          </p:nvSpPr>
          <p:spPr bwMode="auto">
            <a:xfrm>
              <a:off x="4204" y="203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48" name="Rectangle 51"/>
            <p:cNvSpPr>
              <a:spLocks noChangeArrowheads="1"/>
            </p:cNvSpPr>
            <p:nvPr/>
          </p:nvSpPr>
          <p:spPr bwMode="auto">
            <a:xfrm>
              <a:off x="4199" y="203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49" name="Rectangle 52"/>
            <p:cNvSpPr>
              <a:spLocks noChangeArrowheads="1"/>
            </p:cNvSpPr>
            <p:nvPr/>
          </p:nvSpPr>
          <p:spPr bwMode="auto">
            <a:xfrm>
              <a:off x="1704" y="241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450" name="Rectangle 53"/>
            <p:cNvSpPr>
              <a:spLocks noChangeArrowheads="1"/>
            </p:cNvSpPr>
            <p:nvPr/>
          </p:nvSpPr>
          <p:spPr bwMode="auto">
            <a:xfrm>
              <a:off x="1272" y="241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451" name="Rectangle 54"/>
            <p:cNvSpPr>
              <a:spLocks noChangeArrowheads="1"/>
            </p:cNvSpPr>
            <p:nvPr/>
          </p:nvSpPr>
          <p:spPr bwMode="auto">
            <a:xfrm>
              <a:off x="2712" y="241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3452" name="Rectangle 55"/>
            <p:cNvSpPr>
              <a:spLocks noChangeArrowheads="1"/>
            </p:cNvSpPr>
            <p:nvPr/>
          </p:nvSpPr>
          <p:spPr bwMode="auto">
            <a:xfrm>
              <a:off x="2280" y="241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453" name="Rectangle 56"/>
            <p:cNvSpPr>
              <a:spLocks noChangeArrowheads="1"/>
            </p:cNvSpPr>
            <p:nvPr/>
          </p:nvSpPr>
          <p:spPr bwMode="auto">
            <a:xfrm>
              <a:off x="1272" y="2030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454" name="Rectangle 57"/>
            <p:cNvSpPr>
              <a:spLocks noChangeArrowheads="1"/>
            </p:cNvSpPr>
            <p:nvPr/>
          </p:nvSpPr>
          <p:spPr bwMode="auto">
            <a:xfrm>
              <a:off x="3941" y="241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3455" name="Rectangle 58"/>
            <p:cNvSpPr>
              <a:spLocks noChangeArrowheads="1"/>
            </p:cNvSpPr>
            <p:nvPr/>
          </p:nvSpPr>
          <p:spPr bwMode="auto">
            <a:xfrm>
              <a:off x="3413" y="2414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3456" name="Rectangle 59"/>
            <p:cNvSpPr>
              <a:spLocks noChangeArrowheads="1"/>
            </p:cNvSpPr>
            <p:nvPr/>
          </p:nvSpPr>
          <p:spPr bwMode="auto">
            <a:xfrm>
              <a:off x="1272" y="1550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Homer, Marge, Maggie, Lisa:</a:t>
              </a:r>
            </a:p>
          </p:txBody>
        </p:sp>
      </p:grpSp>
      <p:grpSp>
        <p:nvGrpSpPr>
          <p:cNvPr id="4" name="Group 178"/>
          <p:cNvGrpSpPr>
            <a:grpSpLocks/>
          </p:cNvGrpSpPr>
          <p:nvPr/>
        </p:nvGrpSpPr>
        <p:grpSpPr bwMode="auto">
          <a:xfrm>
            <a:off x="677863" y="2593976"/>
            <a:ext cx="5638800" cy="1981200"/>
            <a:chOff x="998" y="1592"/>
            <a:chExt cx="3552" cy="1248"/>
          </a:xfrm>
        </p:grpSpPr>
        <p:sp>
          <p:nvSpPr>
            <p:cNvPr id="13403" name="Rectangle 61"/>
            <p:cNvSpPr>
              <a:spLocks noChangeArrowheads="1"/>
            </p:cNvSpPr>
            <p:nvPr/>
          </p:nvSpPr>
          <p:spPr bwMode="auto">
            <a:xfrm>
              <a:off x="998" y="1592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04" name="Rectangle 62"/>
            <p:cNvSpPr>
              <a:spLocks noChangeArrowheads="1"/>
            </p:cNvSpPr>
            <p:nvPr/>
          </p:nvSpPr>
          <p:spPr bwMode="auto">
            <a:xfrm>
              <a:off x="1684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405" name="Rectangle 63"/>
            <p:cNvSpPr>
              <a:spLocks noChangeArrowheads="1"/>
            </p:cNvSpPr>
            <p:nvPr/>
          </p:nvSpPr>
          <p:spPr bwMode="auto">
            <a:xfrm>
              <a:off x="1483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06" name="Rectangle 64"/>
            <p:cNvSpPr>
              <a:spLocks noChangeArrowheads="1"/>
            </p:cNvSpPr>
            <p:nvPr/>
          </p:nvSpPr>
          <p:spPr bwMode="auto">
            <a:xfrm>
              <a:off x="1478" y="212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Homer</a:t>
              </a:r>
            </a:p>
          </p:txBody>
        </p:sp>
        <p:sp>
          <p:nvSpPr>
            <p:cNvPr id="13407" name="Rectangle 65"/>
            <p:cNvSpPr>
              <a:spLocks noChangeArrowheads="1"/>
            </p:cNvSpPr>
            <p:nvPr/>
          </p:nvSpPr>
          <p:spPr bwMode="auto">
            <a:xfrm>
              <a:off x="2208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408" name="Rectangle 66"/>
            <p:cNvSpPr>
              <a:spLocks noChangeArrowheads="1"/>
            </p:cNvSpPr>
            <p:nvPr/>
          </p:nvSpPr>
          <p:spPr bwMode="auto">
            <a:xfrm>
              <a:off x="1982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09" name="Rectangle 67"/>
            <p:cNvSpPr>
              <a:spLocks noChangeArrowheads="1"/>
            </p:cNvSpPr>
            <p:nvPr/>
          </p:nvSpPr>
          <p:spPr bwMode="auto">
            <a:xfrm>
              <a:off x="1977" y="212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3410" name="Rectangle 68"/>
            <p:cNvSpPr>
              <a:spLocks noChangeArrowheads="1"/>
            </p:cNvSpPr>
            <p:nvPr/>
          </p:nvSpPr>
          <p:spPr bwMode="auto">
            <a:xfrm>
              <a:off x="2707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411" name="Rectangle 69"/>
            <p:cNvSpPr>
              <a:spLocks noChangeArrowheads="1"/>
            </p:cNvSpPr>
            <p:nvPr/>
          </p:nvSpPr>
          <p:spPr bwMode="auto">
            <a:xfrm>
              <a:off x="2481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12" name="Rectangle 70"/>
            <p:cNvSpPr>
              <a:spLocks noChangeArrowheads="1"/>
            </p:cNvSpPr>
            <p:nvPr/>
          </p:nvSpPr>
          <p:spPr bwMode="auto">
            <a:xfrm>
              <a:off x="2476" y="212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3413" name="Rectangle 71"/>
            <p:cNvSpPr>
              <a:spLocks noChangeArrowheads="1"/>
            </p:cNvSpPr>
            <p:nvPr/>
          </p:nvSpPr>
          <p:spPr bwMode="auto">
            <a:xfrm>
              <a:off x="3206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414" name="Rectangle 72"/>
            <p:cNvSpPr>
              <a:spLocks noChangeArrowheads="1"/>
            </p:cNvSpPr>
            <p:nvPr/>
          </p:nvSpPr>
          <p:spPr bwMode="auto">
            <a:xfrm>
              <a:off x="2980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15" name="Rectangle 73"/>
            <p:cNvSpPr>
              <a:spLocks noChangeArrowheads="1"/>
            </p:cNvSpPr>
            <p:nvPr/>
          </p:nvSpPr>
          <p:spPr bwMode="auto">
            <a:xfrm>
              <a:off x="2975" y="212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3416" name="Rectangle 74"/>
            <p:cNvSpPr>
              <a:spLocks noChangeArrowheads="1"/>
            </p:cNvSpPr>
            <p:nvPr/>
          </p:nvSpPr>
          <p:spPr bwMode="auto">
            <a:xfrm>
              <a:off x="3705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417" name="Rectangle 75"/>
            <p:cNvSpPr>
              <a:spLocks noChangeArrowheads="1"/>
            </p:cNvSpPr>
            <p:nvPr/>
          </p:nvSpPr>
          <p:spPr bwMode="auto">
            <a:xfrm>
              <a:off x="3479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18" name="Rectangle 76"/>
            <p:cNvSpPr>
              <a:spLocks noChangeArrowheads="1"/>
            </p:cNvSpPr>
            <p:nvPr/>
          </p:nvSpPr>
          <p:spPr bwMode="auto">
            <a:xfrm>
              <a:off x="3474" y="2120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3419" name="Rectangle 77"/>
            <p:cNvSpPr>
              <a:spLocks noChangeArrowheads="1"/>
            </p:cNvSpPr>
            <p:nvPr/>
          </p:nvSpPr>
          <p:spPr bwMode="auto">
            <a:xfrm>
              <a:off x="4204" y="194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420" name="Rectangle 78"/>
            <p:cNvSpPr>
              <a:spLocks noChangeArrowheads="1"/>
            </p:cNvSpPr>
            <p:nvPr/>
          </p:nvSpPr>
          <p:spPr bwMode="auto">
            <a:xfrm>
              <a:off x="3978" y="2120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421" name="Rectangle 79"/>
            <p:cNvSpPr>
              <a:spLocks noChangeArrowheads="1"/>
            </p:cNvSpPr>
            <p:nvPr/>
          </p:nvSpPr>
          <p:spPr bwMode="auto">
            <a:xfrm>
              <a:off x="3973" y="2120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422" name="Rectangle 80"/>
            <p:cNvSpPr>
              <a:spLocks noChangeArrowheads="1"/>
            </p:cNvSpPr>
            <p:nvPr/>
          </p:nvSpPr>
          <p:spPr bwMode="auto">
            <a:xfrm>
              <a:off x="1478" y="250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423" name="Rectangle 81"/>
            <p:cNvSpPr>
              <a:spLocks noChangeArrowheads="1"/>
            </p:cNvSpPr>
            <p:nvPr/>
          </p:nvSpPr>
          <p:spPr bwMode="auto">
            <a:xfrm>
              <a:off x="1046" y="250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424" name="Rectangle 82"/>
            <p:cNvSpPr>
              <a:spLocks noChangeArrowheads="1"/>
            </p:cNvSpPr>
            <p:nvPr/>
          </p:nvSpPr>
          <p:spPr bwMode="auto">
            <a:xfrm>
              <a:off x="2486" y="250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3425" name="Rectangle 83"/>
            <p:cNvSpPr>
              <a:spLocks noChangeArrowheads="1"/>
            </p:cNvSpPr>
            <p:nvPr/>
          </p:nvSpPr>
          <p:spPr bwMode="auto">
            <a:xfrm>
              <a:off x="2054" y="2504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426" name="Rectangle 84"/>
            <p:cNvSpPr>
              <a:spLocks noChangeArrowheads="1"/>
            </p:cNvSpPr>
            <p:nvPr/>
          </p:nvSpPr>
          <p:spPr bwMode="auto">
            <a:xfrm>
              <a:off x="1046" y="2120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427" name="Rectangle 85"/>
            <p:cNvSpPr>
              <a:spLocks noChangeArrowheads="1"/>
            </p:cNvSpPr>
            <p:nvPr/>
          </p:nvSpPr>
          <p:spPr bwMode="auto">
            <a:xfrm>
              <a:off x="3715" y="2504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3428" name="Rectangle 86"/>
            <p:cNvSpPr>
              <a:spLocks noChangeArrowheads="1"/>
            </p:cNvSpPr>
            <p:nvPr/>
          </p:nvSpPr>
          <p:spPr bwMode="auto">
            <a:xfrm>
              <a:off x="3187" y="2504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3429" name="Rectangle 87"/>
            <p:cNvSpPr>
              <a:spLocks noChangeArrowheads="1"/>
            </p:cNvSpPr>
            <p:nvPr/>
          </p:nvSpPr>
          <p:spPr bwMode="auto">
            <a:xfrm>
              <a:off x="1045" y="1640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Bart:</a:t>
              </a:r>
            </a:p>
          </p:txBody>
        </p:sp>
      </p:grpSp>
      <p:grpSp>
        <p:nvGrpSpPr>
          <p:cNvPr id="5" name="Group 174"/>
          <p:cNvGrpSpPr>
            <a:grpSpLocks/>
          </p:cNvGrpSpPr>
          <p:nvPr/>
        </p:nvGrpSpPr>
        <p:grpSpPr bwMode="auto">
          <a:xfrm>
            <a:off x="677863" y="2595564"/>
            <a:ext cx="5638800" cy="1981200"/>
            <a:chOff x="1224" y="1683"/>
            <a:chExt cx="3552" cy="1248"/>
          </a:xfrm>
        </p:grpSpPr>
        <p:sp>
          <p:nvSpPr>
            <p:cNvPr id="13376" name="Rectangle 89"/>
            <p:cNvSpPr>
              <a:spLocks noChangeArrowheads="1"/>
            </p:cNvSpPr>
            <p:nvPr/>
          </p:nvSpPr>
          <p:spPr bwMode="auto">
            <a:xfrm>
              <a:off x="1224" y="1683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7" name="Rectangle 90"/>
            <p:cNvSpPr>
              <a:spLocks noChangeArrowheads="1"/>
            </p:cNvSpPr>
            <p:nvPr/>
          </p:nvSpPr>
          <p:spPr bwMode="auto">
            <a:xfrm>
              <a:off x="1910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378" name="Rectangle 91"/>
            <p:cNvSpPr>
              <a:spLocks noChangeArrowheads="1"/>
            </p:cNvSpPr>
            <p:nvPr/>
          </p:nvSpPr>
          <p:spPr bwMode="auto">
            <a:xfrm>
              <a:off x="1709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79" name="Rectangle 92"/>
            <p:cNvSpPr>
              <a:spLocks noChangeArrowheads="1"/>
            </p:cNvSpPr>
            <p:nvPr/>
          </p:nvSpPr>
          <p:spPr bwMode="auto">
            <a:xfrm>
              <a:off x="1704" y="2211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80" name="Rectangle 93"/>
            <p:cNvSpPr>
              <a:spLocks noChangeArrowheads="1"/>
            </p:cNvSpPr>
            <p:nvPr/>
          </p:nvSpPr>
          <p:spPr bwMode="auto">
            <a:xfrm>
              <a:off x="2434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381" name="Rectangle 94"/>
            <p:cNvSpPr>
              <a:spLocks noChangeArrowheads="1"/>
            </p:cNvSpPr>
            <p:nvPr/>
          </p:nvSpPr>
          <p:spPr bwMode="auto">
            <a:xfrm>
              <a:off x="2208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2" name="Rectangle 95"/>
            <p:cNvSpPr>
              <a:spLocks noChangeArrowheads="1"/>
            </p:cNvSpPr>
            <p:nvPr/>
          </p:nvSpPr>
          <p:spPr bwMode="auto">
            <a:xfrm>
              <a:off x="2203" y="2211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3383" name="Rectangle 96"/>
            <p:cNvSpPr>
              <a:spLocks noChangeArrowheads="1"/>
            </p:cNvSpPr>
            <p:nvPr/>
          </p:nvSpPr>
          <p:spPr bwMode="auto">
            <a:xfrm>
              <a:off x="2933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384" name="Rectangle 97"/>
            <p:cNvSpPr>
              <a:spLocks noChangeArrowheads="1"/>
            </p:cNvSpPr>
            <p:nvPr/>
          </p:nvSpPr>
          <p:spPr bwMode="auto">
            <a:xfrm>
              <a:off x="2707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5" name="Rectangle 98"/>
            <p:cNvSpPr>
              <a:spLocks noChangeArrowheads="1"/>
            </p:cNvSpPr>
            <p:nvPr/>
          </p:nvSpPr>
          <p:spPr bwMode="auto">
            <a:xfrm>
              <a:off x="2702" y="2211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3386" name="Rectangle 99"/>
            <p:cNvSpPr>
              <a:spLocks noChangeArrowheads="1"/>
            </p:cNvSpPr>
            <p:nvPr/>
          </p:nvSpPr>
          <p:spPr bwMode="auto">
            <a:xfrm>
              <a:off x="3432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387" name="Rectangle 100"/>
            <p:cNvSpPr>
              <a:spLocks noChangeArrowheads="1"/>
            </p:cNvSpPr>
            <p:nvPr/>
          </p:nvSpPr>
          <p:spPr bwMode="auto">
            <a:xfrm>
              <a:off x="3206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88" name="Rectangle 101"/>
            <p:cNvSpPr>
              <a:spLocks noChangeArrowheads="1"/>
            </p:cNvSpPr>
            <p:nvPr/>
          </p:nvSpPr>
          <p:spPr bwMode="auto">
            <a:xfrm>
              <a:off x="3201" y="2211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3389" name="Rectangle 102"/>
            <p:cNvSpPr>
              <a:spLocks noChangeArrowheads="1"/>
            </p:cNvSpPr>
            <p:nvPr/>
          </p:nvSpPr>
          <p:spPr bwMode="auto">
            <a:xfrm>
              <a:off x="3931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90" name="Rectangle 103"/>
            <p:cNvSpPr>
              <a:spLocks noChangeArrowheads="1"/>
            </p:cNvSpPr>
            <p:nvPr/>
          </p:nvSpPr>
          <p:spPr bwMode="auto">
            <a:xfrm>
              <a:off x="3705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91" name="Rectangle 104"/>
            <p:cNvSpPr>
              <a:spLocks noChangeArrowheads="1"/>
            </p:cNvSpPr>
            <p:nvPr/>
          </p:nvSpPr>
          <p:spPr bwMode="auto">
            <a:xfrm>
              <a:off x="3700" y="2211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3392" name="Rectangle 105"/>
            <p:cNvSpPr>
              <a:spLocks noChangeArrowheads="1"/>
            </p:cNvSpPr>
            <p:nvPr/>
          </p:nvSpPr>
          <p:spPr bwMode="auto">
            <a:xfrm>
              <a:off x="4430" y="203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393" name="Rectangle 106"/>
            <p:cNvSpPr>
              <a:spLocks noChangeArrowheads="1"/>
            </p:cNvSpPr>
            <p:nvPr/>
          </p:nvSpPr>
          <p:spPr bwMode="auto">
            <a:xfrm>
              <a:off x="4204" y="2211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94" name="Rectangle 107"/>
            <p:cNvSpPr>
              <a:spLocks noChangeArrowheads="1"/>
            </p:cNvSpPr>
            <p:nvPr/>
          </p:nvSpPr>
          <p:spPr bwMode="auto">
            <a:xfrm>
              <a:off x="4199" y="2211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95" name="Rectangle 108"/>
            <p:cNvSpPr>
              <a:spLocks noChangeArrowheads="1"/>
            </p:cNvSpPr>
            <p:nvPr/>
          </p:nvSpPr>
          <p:spPr bwMode="auto">
            <a:xfrm>
              <a:off x="1704" y="2595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1</a:t>
              </a:r>
            </a:p>
          </p:txBody>
        </p:sp>
        <p:sp>
          <p:nvSpPr>
            <p:cNvPr id="13396" name="Rectangle 109"/>
            <p:cNvSpPr>
              <a:spLocks noChangeArrowheads="1"/>
            </p:cNvSpPr>
            <p:nvPr/>
          </p:nvSpPr>
          <p:spPr bwMode="auto">
            <a:xfrm>
              <a:off x="1272" y="2595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397" name="Rectangle 110"/>
            <p:cNvSpPr>
              <a:spLocks noChangeArrowheads="1"/>
            </p:cNvSpPr>
            <p:nvPr/>
          </p:nvSpPr>
          <p:spPr bwMode="auto">
            <a:xfrm>
              <a:off x="2712" y="2595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3398" name="Rectangle 111"/>
            <p:cNvSpPr>
              <a:spLocks noChangeArrowheads="1"/>
            </p:cNvSpPr>
            <p:nvPr/>
          </p:nvSpPr>
          <p:spPr bwMode="auto">
            <a:xfrm>
              <a:off x="2280" y="2595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399" name="Rectangle 112"/>
            <p:cNvSpPr>
              <a:spLocks noChangeArrowheads="1"/>
            </p:cNvSpPr>
            <p:nvPr/>
          </p:nvSpPr>
          <p:spPr bwMode="auto">
            <a:xfrm>
              <a:off x="1272" y="2211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400" name="Rectangle 113"/>
            <p:cNvSpPr>
              <a:spLocks noChangeArrowheads="1"/>
            </p:cNvSpPr>
            <p:nvPr/>
          </p:nvSpPr>
          <p:spPr bwMode="auto">
            <a:xfrm>
              <a:off x="3941" y="2595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3401" name="Rectangle 114"/>
            <p:cNvSpPr>
              <a:spLocks noChangeArrowheads="1"/>
            </p:cNvSpPr>
            <p:nvPr/>
          </p:nvSpPr>
          <p:spPr bwMode="auto">
            <a:xfrm>
              <a:off x="3413" y="2595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3402" name="Rectangle 115"/>
            <p:cNvSpPr>
              <a:spLocks noChangeArrowheads="1"/>
            </p:cNvSpPr>
            <p:nvPr/>
          </p:nvSpPr>
          <p:spPr bwMode="auto">
            <a:xfrm>
              <a:off x="1271" y="1731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removing the front element:</a:t>
              </a:r>
            </a:p>
          </p:txBody>
        </p:sp>
      </p:grpSp>
      <p:grpSp>
        <p:nvGrpSpPr>
          <p:cNvPr id="6" name="Group 173"/>
          <p:cNvGrpSpPr>
            <a:grpSpLocks/>
          </p:cNvGrpSpPr>
          <p:nvPr/>
        </p:nvGrpSpPr>
        <p:grpSpPr bwMode="auto">
          <a:xfrm>
            <a:off x="677863" y="2598739"/>
            <a:ext cx="5638800" cy="1981200"/>
            <a:chOff x="1224" y="1775"/>
            <a:chExt cx="3552" cy="1248"/>
          </a:xfrm>
        </p:grpSpPr>
        <p:sp>
          <p:nvSpPr>
            <p:cNvPr id="13349" name="Rectangle 117"/>
            <p:cNvSpPr>
              <a:spLocks noChangeArrowheads="1"/>
            </p:cNvSpPr>
            <p:nvPr/>
          </p:nvSpPr>
          <p:spPr bwMode="auto">
            <a:xfrm>
              <a:off x="1224" y="1775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0" name="Rectangle 118"/>
            <p:cNvSpPr>
              <a:spLocks noChangeArrowheads="1"/>
            </p:cNvSpPr>
            <p:nvPr/>
          </p:nvSpPr>
          <p:spPr bwMode="auto">
            <a:xfrm>
              <a:off x="1910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351" name="Rectangle 119"/>
            <p:cNvSpPr>
              <a:spLocks noChangeArrowheads="1"/>
            </p:cNvSpPr>
            <p:nvPr/>
          </p:nvSpPr>
          <p:spPr bwMode="auto">
            <a:xfrm>
              <a:off x="1709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2" name="Rectangle 120"/>
            <p:cNvSpPr>
              <a:spLocks noChangeArrowheads="1"/>
            </p:cNvSpPr>
            <p:nvPr/>
          </p:nvSpPr>
          <p:spPr bwMode="auto">
            <a:xfrm>
              <a:off x="1704" y="2303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53" name="Rectangle 121"/>
            <p:cNvSpPr>
              <a:spLocks noChangeArrowheads="1"/>
            </p:cNvSpPr>
            <p:nvPr/>
          </p:nvSpPr>
          <p:spPr bwMode="auto">
            <a:xfrm>
              <a:off x="2434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354" name="Rectangle 122"/>
            <p:cNvSpPr>
              <a:spLocks noChangeArrowheads="1"/>
            </p:cNvSpPr>
            <p:nvPr/>
          </p:nvSpPr>
          <p:spPr bwMode="auto">
            <a:xfrm>
              <a:off x="2208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5" name="Rectangle 123"/>
            <p:cNvSpPr>
              <a:spLocks noChangeArrowheads="1"/>
            </p:cNvSpPr>
            <p:nvPr/>
          </p:nvSpPr>
          <p:spPr bwMode="auto">
            <a:xfrm>
              <a:off x="2203" y="2303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56" name="Rectangle 124"/>
            <p:cNvSpPr>
              <a:spLocks noChangeArrowheads="1"/>
            </p:cNvSpPr>
            <p:nvPr/>
          </p:nvSpPr>
          <p:spPr bwMode="auto">
            <a:xfrm>
              <a:off x="2933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357" name="Rectangle 125"/>
            <p:cNvSpPr>
              <a:spLocks noChangeArrowheads="1"/>
            </p:cNvSpPr>
            <p:nvPr/>
          </p:nvSpPr>
          <p:spPr bwMode="auto">
            <a:xfrm>
              <a:off x="2707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58" name="Rectangle 126"/>
            <p:cNvSpPr>
              <a:spLocks noChangeArrowheads="1"/>
            </p:cNvSpPr>
            <p:nvPr/>
          </p:nvSpPr>
          <p:spPr bwMode="auto">
            <a:xfrm>
              <a:off x="2702" y="230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3359" name="Rectangle 127"/>
            <p:cNvSpPr>
              <a:spLocks noChangeArrowheads="1"/>
            </p:cNvSpPr>
            <p:nvPr/>
          </p:nvSpPr>
          <p:spPr bwMode="auto">
            <a:xfrm>
              <a:off x="3432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360" name="Rectangle 128"/>
            <p:cNvSpPr>
              <a:spLocks noChangeArrowheads="1"/>
            </p:cNvSpPr>
            <p:nvPr/>
          </p:nvSpPr>
          <p:spPr bwMode="auto">
            <a:xfrm>
              <a:off x="3206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1" name="Rectangle 129"/>
            <p:cNvSpPr>
              <a:spLocks noChangeArrowheads="1"/>
            </p:cNvSpPr>
            <p:nvPr/>
          </p:nvSpPr>
          <p:spPr bwMode="auto">
            <a:xfrm>
              <a:off x="3201" y="230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3362" name="Rectangle 130"/>
            <p:cNvSpPr>
              <a:spLocks noChangeArrowheads="1"/>
            </p:cNvSpPr>
            <p:nvPr/>
          </p:nvSpPr>
          <p:spPr bwMode="auto">
            <a:xfrm>
              <a:off x="3931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63" name="Rectangle 131"/>
            <p:cNvSpPr>
              <a:spLocks noChangeArrowheads="1"/>
            </p:cNvSpPr>
            <p:nvPr/>
          </p:nvSpPr>
          <p:spPr bwMode="auto">
            <a:xfrm>
              <a:off x="3705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4" name="Rectangle 132"/>
            <p:cNvSpPr>
              <a:spLocks noChangeArrowheads="1"/>
            </p:cNvSpPr>
            <p:nvPr/>
          </p:nvSpPr>
          <p:spPr bwMode="auto">
            <a:xfrm>
              <a:off x="3700" y="230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3365" name="Rectangle 133"/>
            <p:cNvSpPr>
              <a:spLocks noChangeArrowheads="1"/>
            </p:cNvSpPr>
            <p:nvPr/>
          </p:nvSpPr>
          <p:spPr bwMode="auto">
            <a:xfrm>
              <a:off x="4430" y="213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366" name="Rectangle 134"/>
            <p:cNvSpPr>
              <a:spLocks noChangeArrowheads="1"/>
            </p:cNvSpPr>
            <p:nvPr/>
          </p:nvSpPr>
          <p:spPr bwMode="auto">
            <a:xfrm>
              <a:off x="4204" y="230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67" name="Rectangle 135"/>
            <p:cNvSpPr>
              <a:spLocks noChangeArrowheads="1"/>
            </p:cNvSpPr>
            <p:nvPr/>
          </p:nvSpPr>
          <p:spPr bwMode="auto">
            <a:xfrm>
              <a:off x="4199" y="2303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68" name="Rectangle 136"/>
            <p:cNvSpPr>
              <a:spLocks noChangeArrowheads="1"/>
            </p:cNvSpPr>
            <p:nvPr/>
          </p:nvSpPr>
          <p:spPr bwMode="auto">
            <a:xfrm>
              <a:off x="1704" y="268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3369" name="Rectangle 137"/>
            <p:cNvSpPr>
              <a:spLocks noChangeArrowheads="1"/>
            </p:cNvSpPr>
            <p:nvPr/>
          </p:nvSpPr>
          <p:spPr bwMode="auto">
            <a:xfrm>
              <a:off x="1272" y="2687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370" name="Rectangle 138"/>
            <p:cNvSpPr>
              <a:spLocks noChangeArrowheads="1"/>
            </p:cNvSpPr>
            <p:nvPr/>
          </p:nvSpPr>
          <p:spPr bwMode="auto">
            <a:xfrm>
              <a:off x="2712" y="268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3371" name="Rectangle 139"/>
            <p:cNvSpPr>
              <a:spLocks noChangeArrowheads="1"/>
            </p:cNvSpPr>
            <p:nvPr/>
          </p:nvSpPr>
          <p:spPr bwMode="auto">
            <a:xfrm>
              <a:off x="2280" y="2687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372" name="Rectangle 140"/>
            <p:cNvSpPr>
              <a:spLocks noChangeArrowheads="1"/>
            </p:cNvSpPr>
            <p:nvPr/>
          </p:nvSpPr>
          <p:spPr bwMode="auto">
            <a:xfrm>
              <a:off x="1272" y="2303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373" name="Rectangle 141"/>
            <p:cNvSpPr>
              <a:spLocks noChangeArrowheads="1"/>
            </p:cNvSpPr>
            <p:nvPr/>
          </p:nvSpPr>
          <p:spPr bwMode="auto">
            <a:xfrm>
              <a:off x="3941" y="268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3</a:t>
              </a:r>
            </a:p>
          </p:txBody>
        </p:sp>
        <p:sp>
          <p:nvSpPr>
            <p:cNvPr id="13374" name="Rectangle 142"/>
            <p:cNvSpPr>
              <a:spLocks noChangeArrowheads="1"/>
            </p:cNvSpPr>
            <p:nvPr/>
          </p:nvSpPr>
          <p:spPr bwMode="auto">
            <a:xfrm>
              <a:off x="3413" y="2687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3375" name="Rectangle 143"/>
            <p:cNvSpPr>
              <a:spLocks noChangeArrowheads="1"/>
            </p:cNvSpPr>
            <p:nvPr/>
          </p:nvSpPr>
          <p:spPr bwMode="auto">
            <a:xfrm>
              <a:off x="1271" y="1823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removing the front element:</a:t>
              </a:r>
            </a:p>
          </p:txBody>
        </p:sp>
      </p:grpSp>
      <p:grpSp>
        <p:nvGrpSpPr>
          <p:cNvPr id="7" name="Group 172"/>
          <p:cNvGrpSpPr>
            <a:grpSpLocks/>
          </p:cNvGrpSpPr>
          <p:nvPr/>
        </p:nvGrpSpPr>
        <p:grpSpPr bwMode="auto">
          <a:xfrm>
            <a:off x="677863" y="2597151"/>
            <a:ext cx="5638800" cy="1981200"/>
            <a:chOff x="1224" y="1865"/>
            <a:chExt cx="3552" cy="1248"/>
          </a:xfrm>
        </p:grpSpPr>
        <p:sp>
          <p:nvSpPr>
            <p:cNvPr id="13322" name="Rectangle 145"/>
            <p:cNvSpPr>
              <a:spLocks noChangeArrowheads="1"/>
            </p:cNvSpPr>
            <p:nvPr/>
          </p:nvSpPr>
          <p:spPr bwMode="auto">
            <a:xfrm>
              <a:off x="1224" y="1865"/>
              <a:ext cx="3552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23" name="Rectangle 146"/>
            <p:cNvSpPr>
              <a:spLocks noChangeArrowheads="1"/>
            </p:cNvSpPr>
            <p:nvPr/>
          </p:nvSpPr>
          <p:spPr bwMode="auto">
            <a:xfrm>
              <a:off x="1910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3324" name="Rectangle 147"/>
            <p:cNvSpPr>
              <a:spLocks noChangeArrowheads="1"/>
            </p:cNvSpPr>
            <p:nvPr/>
          </p:nvSpPr>
          <p:spPr bwMode="auto">
            <a:xfrm>
              <a:off x="1709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25" name="Rectangle 148"/>
            <p:cNvSpPr>
              <a:spLocks noChangeArrowheads="1"/>
            </p:cNvSpPr>
            <p:nvPr/>
          </p:nvSpPr>
          <p:spPr bwMode="auto">
            <a:xfrm>
              <a:off x="1704" y="2393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26" name="Rectangle 149"/>
            <p:cNvSpPr>
              <a:spLocks noChangeArrowheads="1"/>
            </p:cNvSpPr>
            <p:nvPr/>
          </p:nvSpPr>
          <p:spPr bwMode="auto">
            <a:xfrm>
              <a:off x="2434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3327" name="Rectangle 150"/>
            <p:cNvSpPr>
              <a:spLocks noChangeArrowheads="1"/>
            </p:cNvSpPr>
            <p:nvPr/>
          </p:nvSpPr>
          <p:spPr bwMode="auto">
            <a:xfrm>
              <a:off x="2208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28" name="Rectangle 151"/>
            <p:cNvSpPr>
              <a:spLocks noChangeArrowheads="1"/>
            </p:cNvSpPr>
            <p:nvPr/>
          </p:nvSpPr>
          <p:spPr bwMode="auto">
            <a:xfrm>
              <a:off x="2203" y="2393"/>
              <a:ext cx="499" cy="2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2000">
                <a:latin typeface="Times New Roman" pitchFamily="18" charset="0"/>
              </a:endParaRPr>
            </a:p>
          </p:txBody>
        </p:sp>
        <p:sp>
          <p:nvSpPr>
            <p:cNvPr id="13329" name="Rectangle 152"/>
            <p:cNvSpPr>
              <a:spLocks noChangeArrowheads="1"/>
            </p:cNvSpPr>
            <p:nvPr/>
          </p:nvSpPr>
          <p:spPr bwMode="auto">
            <a:xfrm>
              <a:off x="2933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3330" name="Rectangle 153"/>
            <p:cNvSpPr>
              <a:spLocks noChangeArrowheads="1"/>
            </p:cNvSpPr>
            <p:nvPr/>
          </p:nvSpPr>
          <p:spPr bwMode="auto">
            <a:xfrm>
              <a:off x="2707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31" name="Rectangle 154"/>
            <p:cNvSpPr>
              <a:spLocks noChangeArrowheads="1"/>
            </p:cNvSpPr>
            <p:nvPr/>
          </p:nvSpPr>
          <p:spPr bwMode="auto">
            <a:xfrm>
              <a:off x="2702" y="239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3332" name="Rectangle 155"/>
            <p:cNvSpPr>
              <a:spLocks noChangeArrowheads="1"/>
            </p:cNvSpPr>
            <p:nvPr/>
          </p:nvSpPr>
          <p:spPr bwMode="auto">
            <a:xfrm>
              <a:off x="3432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3333" name="Rectangle 156"/>
            <p:cNvSpPr>
              <a:spLocks noChangeArrowheads="1"/>
            </p:cNvSpPr>
            <p:nvPr/>
          </p:nvSpPr>
          <p:spPr bwMode="auto">
            <a:xfrm>
              <a:off x="3206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34" name="Rectangle 157"/>
            <p:cNvSpPr>
              <a:spLocks noChangeArrowheads="1"/>
            </p:cNvSpPr>
            <p:nvPr/>
          </p:nvSpPr>
          <p:spPr bwMode="auto">
            <a:xfrm>
              <a:off x="3201" y="239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3335" name="Rectangle 158"/>
            <p:cNvSpPr>
              <a:spLocks noChangeArrowheads="1"/>
            </p:cNvSpPr>
            <p:nvPr/>
          </p:nvSpPr>
          <p:spPr bwMode="auto">
            <a:xfrm>
              <a:off x="3931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3336" name="Rectangle 159"/>
            <p:cNvSpPr>
              <a:spLocks noChangeArrowheads="1"/>
            </p:cNvSpPr>
            <p:nvPr/>
          </p:nvSpPr>
          <p:spPr bwMode="auto">
            <a:xfrm>
              <a:off x="3705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37" name="Rectangle 160"/>
            <p:cNvSpPr>
              <a:spLocks noChangeArrowheads="1"/>
            </p:cNvSpPr>
            <p:nvPr/>
          </p:nvSpPr>
          <p:spPr bwMode="auto">
            <a:xfrm>
              <a:off x="3700" y="239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3338" name="Rectangle 161"/>
            <p:cNvSpPr>
              <a:spLocks noChangeArrowheads="1"/>
            </p:cNvSpPr>
            <p:nvPr/>
          </p:nvSpPr>
          <p:spPr bwMode="auto">
            <a:xfrm>
              <a:off x="4430" y="2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3339" name="Rectangle 162"/>
            <p:cNvSpPr>
              <a:spLocks noChangeArrowheads="1"/>
            </p:cNvSpPr>
            <p:nvPr/>
          </p:nvSpPr>
          <p:spPr bwMode="auto">
            <a:xfrm>
              <a:off x="4204" y="2393"/>
              <a:ext cx="206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3340" name="Rectangle 163"/>
            <p:cNvSpPr>
              <a:spLocks noChangeArrowheads="1"/>
            </p:cNvSpPr>
            <p:nvPr/>
          </p:nvSpPr>
          <p:spPr bwMode="auto">
            <a:xfrm>
              <a:off x="4199" y="2393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Ralph</a:t>
              </a:r>
            </a:p>
          </p:txBody>
        </p:sp>
        <p:sp>
          <p:nvSpPr>
            <p:cNvPr id="13341" name="Rectangle 164"/>
            <p:cNvSpPr>
              <a:spLocks noChangeArrowheads="1"/>
            </p:cNvSpPr>
            <p:nvPr/>
          </p:nvSpPr>
          <p:spPr bwMode="auto">
            <a:xfrm>
              <a:off x="1704" y="277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3342" name="Rectangle 165"/>
            <p:cNvSpPr>
              <a:spLocks noChangeArrowheads="1"/>
            </p:cNvSpPr>
            <p:nvPr/>
          </p:nvSpPr>
          <p:spPr bwMode="auto">
            <a:xfrm>
              <a:off x="1272" y="2781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3343" name="Rectangle 166"/>
            <p:cNvSpPr>
              <a:spLocks noChangeArrowheads="1"/>
            </p:cNvSpPr>
            <p:nvPr/>
          </p:nvSpPr>
          <p:spPr bwMode="auto">
            <a:xfrm>
              <a:off x="2712" y="277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3344" name="Rectangle 167"/>
            <p:cNvSpPr>
              <a:spLocks noChangeArrowheads="1"/>
            </p:cNvSpPr>
            <p:nvPr/>
          </p:nvSpPr>
          <p:spPr bwMode="auto">
            <a:xfrm>
              <a:off x="2280" y="2781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3345" name="Rectangle 168"/>
            <p:cNvSpPr>
              <a:spLocks noChangeArrowheads="1"/>
            </p:cNvSpPr>
            <p:nvPr/>
          </p:nvSpPr>
          <p:spPr bwMode="auto">
            <a:xfrm>
              <a:off x="1272" y="2397"/>
              <a:ext cx="39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3346" name="Rectangle 169"/>
            <p:cNvSpPr>
              <a:spLocks noChangeArrowheads="1"/>
            </p:cNvSpPr>
            <p:nvPr/>
          </p:nvSpPr>
          <p:spPr bwMode="auto">
            <a:xfrm>
              <a:off x="3941" y="2777"/>
              <a:ext cx="499" cy="22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3347" name="Rectangle 170"/>
            <p:cNvSpPr>
              <a:spLocks noChangeArrowheads="1"/>
            </p:cNvSpPr>
            <p:nvPr/>
          </p:nvSpPr>
          <p:spPr bwMode="auto">
            <a:xfrm>
              <a:off x="3413" y="2781"/>
              <a:ext cx="4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3348" name="Rectangle 171"/>
            <p:cNvSpPr>
              <a:spLocks noChangeArrowheads="1"/>
            </p:cNvSpPr>
            <p:nvPr/>
          </p:nvSpPr>
          <p:spPr bwMode="auto">
            <a:xfrm>
              <a:off x="1271" y="1913"/>
              <a:ext cx="345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Ralph:</a:t>
              </a:r>
            </a:p>
          </p:txBody>
        </p:sp>
      </p:grpSp>
      <p:sp>
        <p:nvSpPr>
          <p:cNvPr id="133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332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(with </a:t>
            </a:r>
            <a:r>
              <a:rPr lang="en-US" altLang="en-US" i="1">
                <a:cs typeface="Times New Roman" pitchFamily="18" charset="0"/>
              </a:rPr>
              <a:t>cap</a:t>
            </a:r>
            <a:r>
              <a:rPr lang="en-US" altLang="en-US">
                <a:cs typeface="Times New Roman" pitchFamily="18" charset="0"/>
              </a:rPr>
              <a:t> = 6):</a:t>
            </a:r>
            <a:endParaRPr lang="en-US" altLang="en-US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62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arrays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Once the rightmost array slot is occupied, no more elements can be added, unless we shift elements to fill up any unoccupied leftmost slots.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But then operation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addLast</a:t>
            </a:r>
            <a:r>
              <a:rPr lang="en-US" altLang="en-US" dirty="0">
                <a:cs typeface="Times New Roman" pitchFamily="18" charset="0"/>
              </a:rPr>
              <a:t> would have time complexity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), rather than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(1).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We can avoid this if we use a “cyclic array” instead of an ordinary array.</a:t>
            </a: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3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Cyclic arrays</a:t>
            </a:r>
            <a:endParaRPr lang="en-GB" altLang="en-US" sz="32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2628" y="1546225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In a </a:t>
            </a:r>
            <a:r>
              <a:rPr lang="en-US" altLang="en-US" b="1" dirty="0">
                <a:cs typeface="Times New Roman" pitchFamily="18" charset="0"/>
              </a:rPr>
              <a:t>cyclic array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, every slot has both a successor and a predecessor. In particular: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successor of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–1] is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[0]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the predecessor of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[0] is </a:t>
            </a:r>
            <a:r>
              <a:rPr lang="en-US" altLang="en-US" i="1" dirty="0">
                <a:cs typeface="Times New Roman" pitchFamily="18" charset="0"/>
              </a:rPr>
              <a:t>a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n</a:t>
            </a:r>
            <a:r>
              <a:rPr lang="en-US" altLang="en-US" dirty="0">
                <a:cs typeface="Times New Roman" pitchFamily="18" charset="0"/>
              </a:rPr>
              <a:t>–1].</a:t>
            </a:r>
          </a:p>
          <a:p>
            <a:pPr eaLnBrk="1" hangingPunct="1"/>
            <a:r>
              <a:rPr lang="en-US" altLang="en-US" dirty="0">
                <a:cs typeface="Times New Roman" pitchFamily="18" charset="0"/>
              </a:rPr>
              <a:t>Visualizing a cyclic array </a:t>
            </a:r>
            <a:br>
              <a:rPr lang="en-US" altLang="en-US" dirty="0">
                <a:cs typeface="Times New Roman" pitchFamily="18" charset="0"/>
              </a:rPr>
            </a:br>
            <a:r>
              <a:rPr lang="en-US" altLang="en-US" dirty="0">
                <a:cs typeface="Times New Roman" pitchFamily="18" charset="0"/>
              </a:rPr>
              <a:t>(of length 8):</a:t>
            </a:r>
            <a:endParaRPr lang="en-US" altLang="en-US" sz="2000" dirty="0">
              <a:latin typeface="Times New Roman" pitchFamily="18" charset="0"/>
            </a:endParaRPr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3613541" y="2986088"/>
            <a:ext cx="2108200" cy="2286000"/>
            <a:chOff x="4091" y="2150"/>
            <a:chExt cx="1328" cy="1440"/>
          </a:xfrm>
        </p:grpSpPr>
        <p:sp>
          <p:nvSpPr>
            <p:cNvPr id="15393" name="Oval 37"/>
            <p:cNvSpPr>
              <a:spLocks noChangeArrowheads="1"/>
            </p:cNvSpPr>
            <p:nvPr/>
          </p:nvSpPr>
          <p:spPr bwMode="auto">
            <a:xfrm>
              <a:off x="4119" y="2246"/>
              <a:ext cx="1248" cy="124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94" name="Line 38"/>
            <p:cNvSpPr>
              <a:spLocks noChangeShapeType="1"/>
            </p:cNvSpPr>
            <p:nvPr/>
          </p:nvSpPr>
          <p:spPr bwMode="auto">
            <a:xfrm flipV="1">
              <a:off x="4311" y="2438"/>
              <a:ext cx="864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5" name="Line 39"/>
            <p:cNvSpPr>
              <a:spLocks noChangeShapeType="1"/>
            </p:cNvSpPr>
            <p:nvPr/>
          </p:nvSpPr>
          <p:spPr bwMode="auto">
            <a:xfrm>
              <a:off x="4119" y="287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6" name="Line 40"/>
            <p:cNvSpPr>
              <a:spLocks noChangeShapeType="1"/>
            </p:cNvSpPr>
            <p:nvPr/>
          </p:nvSpPr>
          <p:spPr bwMode="auto">
            <a:xfrm>
              <a:off x="4743" y="2246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7" name="Line 41"/>
            <p:cNvSpPr>
              <a:spLocks noChangeShapeType="1"/>
            </p:cNvSpPr>
            <p:nvPr/>
          </p:nvSpPr>
          <p:spPr bwMode="auto">
            <a:xfrm>
              <a:off x="4311" y="2438"/>
              <a:ext cx="864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98" name="Oval 42"/>
            <p:cNvSpPr>
              <a:spLocks noChangeArrowheads="1"/>
            </p:cNvSpPr>
            <p:nvPr/>
          </p:nvSpPr>
          <p:spPr bwMode="auto">
            <a:xfrm>
              <a:off x="4311" y="2438"/>
              <a:ext cx="864" cy="86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99" name="Rectangle 43"/>
            <p:cNvSpPr>
              <a:spLocks noChangeArrowheads="1"/>
            </p:cNvSpPr>
            <p:nvPr/>
          </p:nvSpPr>
          <p:spPr bwMode="auto">
            <a:xfrm>
              <a:off x="4978" y="215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5400" name="Rectangle 44"/>
            <p:cNvSpPr>
              <a:spLocks noChangeArrowheads="1"/>
            </p:cNvSpPr>
            <p:nvPr/>
          </p:nvSpPr>
          <p:spPr bwMode="auto">
            <a:xfrm>
              <a:off x="5339" y="2486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5401" name="Rectangle 45"/>
            <p:cNvSpPr>
              <a:spLocks noChangeArrowheads="1"/>
            </p:cNvSpPr>
            <p:nvPr/>
          </p:nvSpPr>
          <p:spPr bwMode="auto">
            <a:xfrm>
              <a:off x="5339" y="301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5402" name="Rectangle 46"/>
            <p:cNvSpPr>
              <a:spLocks noChangeArrowheads="1"/>
            </p:cNvSpPr>
            <p:nvPr/>
          </p:nvSpPr>
          <p:spPr bwMode="auto">
            <a:xfrm>
              <a:off x="4979" y="3417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5403" name="Rectangle 47"/>
            <p:cNvSpPr>
              <a:spLocks noChangeArrowheads="1"/>
            </p:cNvSpPr>
            <p:nvPr/>
          </p:nvSpPr>
          <p:spPr bwMode="auto">
            <a:xfrm>
              <a:off x="4427" y="3398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5404" name="Rectangle 48"/>
            <p:cNvSpPr>
              <a:spLocks noChangeArrowheads="1"/>
            </p:cNvSpPr>
            <p:nvPr/>
          </p:nvSpPr>
          <p:spPr bwMode="auto">
            <a:xfrm>
              <a:off x="4091" y="3033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  <p:sp>
          <p:nvSpPr>
            <p:cNvPr id="15405" name="Rectangle 49"/>
            <p:cNvSpPr>
              <a:spLocks noChangeArrowheads="1"/>
            </p:cNvSpPr>
            <p:nvPr/>
          </p:nvSpPr>
          <p:spPr bwMode="auto">
            <a:xfrm>
              <a:off x="4091" y="2486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6</a:t>
              </a:r>
              <a:endParaRPr lang="en-US" altLang="en-US" sz="1800"/>
            </a:p>
          </p:txBody>
        </p:sp>
        <p:sp>
          <p:nvSpPr>
            <p:cNvPr id="15406" name="Rectangle 50"/>
            <p:cNvSpPr>
              <a:spLocks noChangeArrowheads="1"/>
            </p:cNvSpPr>
            <p:nvPr/>
          </p:nvSpPr>
          <p:spPr bwMode="auto">
            <a:xfrm>
              <a:off x="4427" y="215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7</a:t>
              </a:r>
              <a:endParaRPr lang="en-US" altLang="en-US" sz="1800"/>
            </a:p>
          </p:txBody>
        </p:sp>
      </p:grp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787338" y="5531050"/>
            <a:ext cx="6434138" cy="855662"/>
            <a:chOff x="2241836" y="5452862"/>
            <a:chExt cx="6433852" cy="855863"/>
          </a:xfrm>
        </p:grpSpPr>
        <p:sp>
          <p:nvSpPr>
            <p:cNvPr id="15366" name="Rectangle 61"/>
            <p:cNvSpPr>
              <a:spLocks noChangeArrowheads="1"/>
            </p:cNvSpPr>
            <p:nvPr/>
          </p:nvSpPr>
          <p:spPr bwMode="auto">
            <a:xfrm>
              <a:off x="2424390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67" name="Rectangle 62"/>
            <p:cNvSpPr>
              <a:spLocks noChangeArrowheads="1"/>
            </p:cNvSpPr>
            <p:nvPr/>
          </p:nvSpPr>
          <p:spPr bwMode="auto">
            <a:xfrm>
              <a:off x="3186356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68" name="Rectangle 63"/>
            <p:cNvSpPr>
              <a:spLocks noChangeArrowheads="1"/>
            </p:cNvSpPr>
            <p:nvPr/>
          </p:nvSpPr>
          <p:spPr bwMode="auto">
            <a:xfrm>
              <a:off x="3948322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69" name="Rectangle 64"/>
            <p:cNvSpPr>
              <a:spLocks noChangeArrowheads="1"/>
            </p:cNvSpPr>
            <p:nvPr/>
          </p:nvSpPr>
          <p:spPr bwMode="auto">
            <a:xfrm>
              <a:off x="4710288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70" name="Rectangle 65"/>
            <p:cNvSpPr>
              <a:spLocks noChangeArrowheads="1"/>
            </p:cNvSpPr>
            <p:nvPr/>
          </p:nvSpPr>
          <p:spPr bwMode="auto">
            <a:xfrm>
              <a:off x="5472255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71" name="Rectangle 66"/>
            <p:cNvSpPr>
              <a:spLocks noChangeArrowheads="1"/>
            </p:cNvSpPr>
            <p:nvPr/>
          </p:nvSpPr>
          <p:spPr bwMode="auto">
            <a:xfrm>
              <a:off x="6234221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72" name="Rectangle 67"/>
            <p:cNvSpPr>
              <a:spLocks noChangeArrowheads="1"/>
            </p:cNvSpPr>
            <p:nvPr/>
          </p:nvSpPr>
          <p:spPr bwMode="auto">
            <a:xfrm>
              <a:off x="6996187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73" name="Rectangle 68"/>
            <p:cNvSpPr>
              <a:spLocks noChangeArrowheads="1"/>
            </p:cNvSpPr>
            <p:nvPr/>
          </p:nvSpPr>
          <p:spPr bwMode="auto">
            <a:xfrm>
              <a:off x="7758154" y="6004027"/>
              <a:ext cx="761966" cy="3046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5374" name="Line 60"/>
            <p:cNvSpPr>
              <a:spLocks noChangeShapeType="1"/>
            </p:cNvSpPr>
            <p:nvPr/>
          </p:nvSpPr>
          <p:spPr bwMode="auto">
            <a:xfrm flipH="1">
              <a:off x="2424390" y="6004027"/>
              <a:ext cx="60957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5" name="Line 70"/>
            <p:cNvSpPr>
              <a:spLocks noChangeShapeType="1"/>
            </p:cNvSpPr>
            <p:nvPr/>
          </p:nvSpPr>
          <p:spPr bwMode="auto">
            <a:xfrm>
              <a:off x="8675688" y="5913570"/>
              <a:ext cx="0" cy="3046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6" name="Line 77"/>
            <p:cNvSpPr>
              <a:spLocks noChangeShapeType="1"/>
            </p:cNvSpPr>
            <p:nvPr/>
          </p:nvSpPr>
          <p:spPr bwMode="auto">
            <a:xfrm flipH="1">
              <a:off x="2424390" y="5822216"/>
              <a:ext cx="60957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7" name="Line 78"/>
            <p:cNvSpPr>
              <a:spLocks noChangeShapeType="1"/>
            </p:cNvSpPr>
            <p:nvPr/>
          </p:nvSpPr>
          <p:spPr bwMode="auto">
            <a:xfrm>
              <a:off x="2241836" y="5913570"/>
              <a:ext cx="0" cy="3046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78" name="Arc 80"/>
            <p:cNvSpPr>
              <a:spLocks/>
            </p:cNvSpPr>
            <p:nvPr/>
          </p:nvSpPr>
          <p:spPr bwMode="auto">
            <a:xfrm flipH="1">
              <a:off x="2241836" y="5822819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79" name="Arc 81"/>
            <p:cNvSpPr>
              <a:spLocks/>
            </p:cNvSpPr>
            <p:nvPr/>
          </p:nvSpPr>
          <p:spPr bwMode="auto">
            <a:xfrm flipH="1" flipV="1">
              <a:off x="2241836" y="5926068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80" name="Arc 83"/>
            <p:cNvSpPr>
              <a:spLocks/>
            </p:cNvSpPr>
            <p:nvPr/>
          </p:nvSpPr>
          <p:spPr bwMode="auto">
            <a:xfrm>
              <a:off x="8496308" y="5822819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81" name="Arc 84"/>
            <p:cNvSpPr>
              <a:spLocks/>
            </p:cNvSpPr>
            <p:nvPr/>
          </p:nvSpPr>
          <p:spPr bwMode="auto">
            <a:xfrm flipV="1">
              <a:off x="8496308" y="5913570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82" name="Arc 95"/>
            <p:cNvSpPr>
              <a:spLocks/>
            </p:cNvSpPr>
            <p:nvPr/>
          </p:nvSpPr>
          <p:spPr bwMode="auto">
            <a:xfrm flipH="1" flipV="1">
              <a:off x="2241836" y="6218268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83" name="Arc 98"/>
            <p:cNvSpPr>
              <a:spLocks/>
            </p:cNvSpPr>
            <p:nvPr/>
          </p:nvSpPr>
          <p:spPr bwMode="auto">
            <a:xfrm flipV="1">
              <a:off x="8496308" y="6218268"/>
              <a:ext cx="179380" cy="904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384" name="Rectangle 52"/>
            <p:cNvSpPr>
              <a:spLocks noChangeArrowheads="1"/>
            </p:cNvSpPr>
            <p:nvPr/>
          </p:nvSpPr>
          <p:spPr bwMode="auto">
            <a:xfrm>
              <a:off x="6287626" y="5452862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</a:rPr>
                <a:t>or</a:t>
              </a:r>
              <a:endParaRPr lang="en-US" altLang="en-US" sz="1600" i="1"/>
            </a:p>
          </p:txBody>
        </p:sp>
        <p:sp>
          <p:nvSpPr>
            <p:cNvPr id="15385" name="Rectangle 52"/>
            <p:cNvSpPr>
              <a:spLocks noChangeArrowheads="1"/>
            </p:cNvSpPr>
            <p:nvPr/>
          </p:nvSpPr>
          <p:spPr bwMode="auto">
            <a:xfrm>
              <a:off x="2652979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0</a:t>
              </a:r>
              <a:endParaRPr lang="en-US" altLang="en-US" sz="1600"/>
            </a:p>
          </p:txBody>
        </p:sp>
        <p:sp>
          <p:nvSpPr>
            <p:cNvPr id="15386" name="Rectangle 53"/>
            <p:cNvSpPr>
              <a:spLocks noChangeArrowheads="1"/>
            </p:cNvSpPr>
            <p:nvPr/>
          </p:nvSpPr>
          <p:spPr bwMode="auto">
            <a:xfrm>
              <a:off x="3414946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1</a:t>
              </a:r>
              <a:endParaRPr lang="en-US" altLang="en-US" sz="1600"/>
            </a:p>
          </p:txBody>
        </p:sp>
        <p:sp>
          <p:nvSpPr>
            <p:cNvPr id="15387" name="Rectangle 54"/>
            <p:cNvSpPr>
              <a:spLocks noChangeArrowheads="1"/>
            </p:cNvSpPr>
            <p:nvPr/>
          </p:nvSpPr>
          <p:spPr bwMode="auto">
            <a:xfrm>
              <a:off x="4176912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2</a:t>
              </a:r>
              <a:endParaRPr lang="en-US" altLang="en-US" sz="1600"/>
            </a:p>
          </p:txBody>
        </p:sp>
        <p:sp>
          <p:nvSpPr>
            <p:cNvPr id="15388" name="Rectangle 55"/>
            <p:cNvSpPr>
              <a:spLocks noChangeArrowheads="1"/>
            </p:cNvSpPr>
            <p:nvPr/>
          </p:nvSpPr>
          <p:spPr bwMode="auto">
            <a:xfrm>
              <a:off x="4938878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15389" name="Rectangle 56"/>
            <p:cNvSpPr>
              <a:spLocks noChangeArrowheads="1"/>
            </p:cNvSpPr>
            <p:nvPr/>
          </p:nvSpPr>
          <p:spPr bwMode="auto">
            <a:xfrm>
              <a:off x="5700845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15390" name="Rectangle 57"/>
            <p:cNvSpPr>
              <a:spLocks noChangeArrowheads="1"/>
            </p:cNvSpPr>
            <p:nvPr/>
          </p:nvSpPr>
          <p:spPr bwMode="auto">
            <a:xfrm>
              <a:off x="6462811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15391" name="Rectangle 58"/>
            <p:cNvSpPr>
              <a:spLocks noChangeArrowheads="1"/>
            </p:cNvSpPr>
            <p:nvPr/>
          </p:nvSpPr>
          <p:spPr bwMode="auto">
            <a:xfrm>
              <a:off x="7224777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6</a:t>
              </a:r>
              <a:endParaRPr lang="en-US" altLang="en-US" sz="1600"/>
            </a:p>
          </p:txBody>
        </p:sp>
        <p:sp>
          <p:nvSpPr>
            <p:cNvPr id="15392" name="Rectangle 59"/>
            <p:cNvSpPr>
              <a:spLocks noChangeArrowheads="1"/>
            </p:cNvSpPr>
            <p:nvPr/>
          </p:nvSpPr>
          <p:spPr bwMode="auto">
            <a:xfrm>
              <a:off x="7986743" y="5733256"/>
              <a:ext cx="228590" cy="2443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7</a:t>
              </a:r>
              <a:endParaRPr lang="en-US" alt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35402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7644" y="2286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cyclic arrays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60338" y="1578769"/>
            <a:ext cx="7620000" cy="4800600"/>
          </a:xfrm>
          <a:noFill/>
        </p:spPr>
        <p:txBody>
          <a:bodyPr/>
          <a:lstStyle/>
          <a:p>
            <a:pPr eaLnBrk="1" hangingPunct="1"/>
            <a:r>
              <a:rPr lang="en-US" altLang="en-US" dirty="0">
                <a:cs typeface="Times New Roman" pitchFamily="18" charset="0"/>
              </a:rPr>
              <a:t>Represent a </a:t>
            </a:r>
            <a:r>
              <a:rPr lang="en-US" altLang="en-US" i="1" dirty="0">
                <a:cs typeface="Times New Roman" pitchFamily="18" charset="0"/>
              </a:rPr>
              <a:t>bounded</a:t>
            </a:r>
            <a:r>
              <a:rPr lang="en-US" altLang="en-US" dirty="0">
                <a:cs typeface="Times New Roman" pitchFamily="18" charset="0"/>
              </a:rPr>
              <a:t> queue (size </a:t>
            </a:r>
            <a:r>
              <a:rPr lang="en-US" altLang="en-US" dirty="0">
                <a:latin typeface="Symbol" pitchFamily="18" charset="2"/>
                <a:cs typeface="Times New Roman" pitchFamily="18" charset="0"/>
                <a:sym typeface="Symbol" pitchFamily="18" charset="2"/>
              </a:rPr>
              <a:t></a:t>
            </a:r>
            <a:r>
              <a:rPr lang="en-US" altLang="en-US" dirty="0">
                <a:cs typeface="Times New Roman" pitchFamily="18" charset="0"/>
              </a:rPr>
              <a:t>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) by:</a:t>
            </a: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variables </a:t>
            </a:r>
            <a:r>
              <a:rPr lang="en-US" altLang="en-US" i="1" dirty="0">
                <a:cs typeface="Times New Roman" pitchFamily="18" charset="0"/>
              </a:rPr>
              <a:t>size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front</a:t>
            </a:r>
            <a:r>
              <a:rPr lang="en-US" altLang="en-US" dirty="0">
                <a:cs typeface="Times New Roman" pitchFamily="18" charset="0"/>
              </a:rPr>
              <a:t>, </a:t>
            </a:r>
            <a:r>
              <a:rPr lang="en-US" altLang="en-US" i="1" dirty="0">
                <a:cs typeface="Times New Roman" pitchFamily="18" charset="0"/>
              </a:rPr>
              <a:t>rear</a:t>
            </a:r>
            <a:endParaRPr lang="en-US" altLang="en-US" dirty="0">
              <a:cs typeface="Times New Roman" pitchFamily="18" charset="0"/>
            </a:endParaRPr>
          </a:p>
          <a:p>
            <a:pPr lvl="1" eaLnBrk="1" hangingPunct="1"/>
            <a:r>
              <a:rPr lang="en-US" altLang="en-US" dirty="0">
                <a:cs typeface="Times New Roman" pitchFamily="18" charset="0"/>
              </a:rPr>
              <a:t>a cyclic array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 of length 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, containing the elements either (a) in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front</a:t>
            </a:r>
            <a:r>
              <a:rPr lang="en-US" altLang="en-US" dirty="0">
                <a:cs typeface="Times New Roman" pitchFamily="18" charset="0"/>
              </a:rPr>
              <a:t>…</a:t>
            </a:r>
            <a:r>
              <a:rPr lang="en-US" altLang="en-US" i="1" dirty="0">
                <a:cs typeface="Times New Roman" pitchFamily="18" charset="0"/>
              </a:rPr>
              <a:t>rear</a:t>
            </a:r>
            <a:r>
              <a:rPr lang="en-US" altLang="en-US" dirty="0">
                <a:cs typeface="Times New Roman" pitchFamily="18" charset="0"/>
              </a:rPr>
              <a:t>–1] or (b) in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</a:t>
            </a:r>
            <a:r>
              <a:rPr lang="en-US" altLang="en-US" i="1" dirty="0">
                <a:cs typeface="Times New Roman" pitchFamily="18" charset="0"/>
              </a:rPr>
              <a:t>front</a:t>
            </a:r>
            <a:r>
              <a:rPr lang="en-US" altLang="en-US" dirty="0">
                <a:cs typeface="Times New Roman" pitchFamily="18" charset="0"/>
              </a:rPr>
              <a:t>…</a:t>
            </a:r>
            <a:r>
              <a:rPr lang="en-US" altLang="en-US" i="1" dirty="0">
                <a:cs typeface="Times New Roman" pitchFamily="18" charset="0"/>
              </a:rPr>
              <a:t>cap</a:t>
            </a:r>
            <a:r>
              <a:rPr lang="en-US" altLang="en-US" dirty="0">
                <a:cs typeface="Times New Roman" pitchFamily="18" charset="0"/>
              </a:rPr>
              <a:t>–1] and </a:t>
            </a:r>
            <a:r>
              <a:rPr lang="en-US" altLang="en-US" i="1" dirty="0" err="1">
                <a:cs typeface="Times New Roman" pitchFamily="18" charset="0"/>
              </a:rPr>
              <a:t>elems</a:t>
            </a:r>
            <a:r>
              <a:rPr lang="en-US" altLang="en-US" dirty="0">
                <a:cs typeface="Times New Roman" pitchFamily="18" charset="0"/>
              </a:rPr>
              <a:t>[0…</a:t>
            </a:r>
            <a:r>
              <a:rPr lang="en-US" altLang="en-US" i="1" dirty="0">
                <a:cs typeface="Times New Roman" pitchFamily="18" charset="0"/>
              </a:rPr>
              <a:t>rear</a:t>
            </a:r>
            <a:r>
              <a:rPr lang="en-US" altLang="en-US" dirty="0">
                <a:cs typeface="Times New Roman" pitchFamily="18" charset="0"/>
              </a:rPr>
              <a:t>–1].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39801" y="4573588"/>
            <a:ext cx="6896100" cy="655638"/>
            <a:chOff x="1393" y="2926"/>
            <a:chExt cx="4344" cy="413"/>
          </a:xfrm>
        </p:grpSpPr>
        <p:sp>
          <p:nvSpPr>
            <p:cNvPr id="16439" name="Line 5"/>
            <p:cNvSpPr>
              <a:spLocks noChangeShapeType="1"/>
            </p:cNvSpPr>
            <p:nvPr/>
          </p:nvSpPr>
          <p:spPr bwMode="auto">
            <a:xfrm flipH="1">
              <a:off x="1798" y="2977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40" name="Rectangle 6"/>
            <p:cNvSpPr>
              <a:spLocks noChangeArrowheads="1"/>
            </p:cNvSpPr>
            <p:nvPr/>
          </p:nvSpPr>
          <p:spPr bwMode="auto">
            <a:xfrm>
              <a:off x="5171" y="2932"/>
              <a:ext cx="420" cy="1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6441" name="Rectangle 7"/>
            <p:cNvSpPr>
              <a:spLocks noChangeArrowheads="1"/>
            </p:cNvSpPr>
            <p:nvPr/>
          </p:nvSpPr>
          <p:spPr bwMode="auto">
            <a:xfrm>
              <a:off x="4238" y="2938"/>
              <a:ext cx="366" cy="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front</a:t>
              </a:r>
            </a:p>
          </p:txBody>
        </p:sp>
        <p:sp>
          <p:nvSpPr>
            <p:cNvPr id="16442" name="Rectangle 8"/>
            <p:cNvSpPr>
              <a:spLocks noChangeArrowheads="1"/>
            </p:cNvSpPr>
            <p:nvPr/>
          </p:nvSpPr>
          <p:spPr bwMode="auto">
            <a:xfrm>
              <a:off x="2764" y="2944"/>
              <a:ext cx="434" cy="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rear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6443" name="Rectangle 9"/>
            <p:cNvSpPr>
              <a:spLocks noChangeArrowheads="1"/>
            </p:cNvSpPr>
            <p:nvPr/>
          </p:nvSpPr>
          <p:spPr bwMode="auto">
            <a:xfrm>
              <a:off x="1956" y="2926"/>
              <a:ext cx="130" cy="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6444" name="Rectangle 10"/>
            <p:cNvSpPr>
              <a:spLocks noChangeArrowheads="1"/>
            </p:cNvSpPr>
            <p:nvPr/>
          </p:nvSpPr>
          <p:spPr bwMode="auto">
            <a:xfrm>
              <a:off x="1393" y="3099"/>
              <a:ext cx="219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(b)</a:t>
              </a:r>
              <a:endParaRPr lang="en-US" altLang="en-US" sz="2000"/>
            </a:p>
          </p:txBody>
        </p:sp>
        <p:sp>
          <p:nvSpPr>
            <p:cNvPr id="16445" name="Rectangle 11"/>
            <p:cNvSpPr>
              <a:spLocks noChangeArrowheads="1"/>
            </p:cNvSpPr>
            <p:nvPr/>
          </p:nvSpPr>
          <p:spPr bwMode="auto">
            <a:xfrm>
              <a:off x="274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>
                  <a:cs typeface="Arial" charset="0"/>
                </a:rPr>
                <a:t>element</a:t>
              </a:r>
              <a:endParaRPr lang="en-US" altLang="en-US" sz="1800">
                <a:cs typeface="Arial" charset="0"/>
              </a:endParaRPr>
            </a:p>
          </p:txBody>
        </p:sp>
        <p:sp>
          <p:nvSpPr>
            <p:cNvPr id="16446" name="Rectangle 12"/>
            <p:cNvSpPr>
              <a:spLocks noChangeArrowheads="1"/>
            </p:cNvSpPr>
            <p:nvPr/>
          </p:nvSpPr>
          <p:spPr bwMode="auto">
            <a:xfrm>
              <a:off x="226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47" name="Rectangle 13"/>
            <p:cNvSpPr>
              <a:spLocks noChangeArrowheads="1"/>
            </p:cNvSpPr>
            <p:nvPr/>
          </p:nvSpPr>
          <p:spPr bwMode="auto">
            <a:xfrm>
              <a:off x="178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48" name="Rectangle 14"/>
            <p:cNvSpPr>
              <a:spLocks noChangeArrowheads="1"/>
            </p:cNvSpPr>
            <p:nvPr/>
          </p:nvSpPr>
          <p:spPr bwMode="auto">
            <a:xfrm>
              <a:off x="514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49" name="Rectangle 15"/>
            <p:cNvSpPr>
              <a:spLocks noChangeArrowheads="1"/>
            </p:cNvSpPr>
            <p:nvPr/>
          </p:nvSpPr>
          <p:spPr bwMode="auto">
            <a:xfrm>
              <a:off x="466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50" name="Rectangle 16"/>
            <p:cNvSpPr>
              <a:spLocks noChangeArrowheads="1"/>
            </p:cNvSpPr>
            <p:nvPr/>
          </p:nvSpPr>
          <p:spPr bwMode="auto">
            <a:xfrm>
              <a:off x="4181" y="3093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51" name="Rectangle 17"/>
            <p:cNvSpPr>
              <a:spLocks noChangeArrowheads="1"/>
            </p:cNvSpPr>
            <p:nvPr/>
          </p:nvSpPr>
          <p:spPr bwMode="auto">
            <a:xfrm>
              <a:off x="3701" y="309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52" name="Rectangle 18"/>
            <p:cNvSpPr>
              <a:spLocks noChangeArrowheads="1"/>
            </p:cNvSpPr>
            <p:nvPr/>
          </p:nvSpPr>
          <p:spPr bwMode="auto">
            <a:xfrm>
              <a:off x="3221" y="309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53" name="Line 19"/>
            <p:cNvSpPr>
              <a:spLocks noChangeShapeType="1"/>
            </p:cNvSpPr>
            <p:nvPr/>
          </p:nvSpPr>
          <p:spPr bwMode="auto">
            <a:xfrm>
              <a:off x="1678" y="304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54" name="Arc 20"/>
            <p:cNvSpPr>
              <a:spLocks/>
            </p:cNvSpPr>
            <p:nvPr/>
          </p:nvSpPr>
          <p:spPr bwMode="auto">
            <a:xfrm flipH="1">
              <a:off x="1677" y="297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5" name="Arc 21"/>
            <p:cNvSpPr>
              <a:spLocks/>
            </p:cNvSpPr>
            <p:nvPr/>
          </p:nvSpPr>
          <p:spPr bwMode="auto">
            <a:xfrm flipH="1" flipV="1">
              <a:off x="1677" y="3030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6" name="Arc 22"/>
            <p:cNvSpPr>
              <a:spLocks/>
            </p:cNvSpPr>
            <p:nvPr/>
          </p:nvSpPr>
          <p:spPr bwMode="auto">
            <a:xfrm>
              <a:off x="5623" y="297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7" name="Arc 23"/>
            <p:cNvSpPr>
              <a:spLocks/>
            </p:cNvSpPr>
            <p:nvPr/>
          </p:nvSpPr>
          <p:spPr bwMode="auto">
            <a:xfrm flipV="1">
              <a:off x="5623" y="3045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8" name="Arc 24"/>
            <p:cNvSpPr>
              <a:spLocks/>
            </p:cNvSpPr>
            <p:nvPr/>
          </p:nvSpPr>
          <p:spPr bwMode="auto">
            <a:xfrm flipH="1" flipV="1">
              <a:off x="1677" y="323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59" name="Arc 25"/>
            <p:cNvSpPr>
              <a:spLocks/>
            </p:cNvSpPr>
            <p:nvPr/>
          </p:nvSpPr>
          <p:spPr bwMode="auto">
            <a:xfrm flipV="1">
              <a:off x="5623" y="323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60" name="Line 26"/>
            <p:cNvSpPr>
              <a:spLocks noChangeShapeType="1"/>
            </p:cNvSpPr>
            <p:nvPr/>
          </p:nvSpPr>
          <p:spPr bwMode="auto">
            <a:xfrm>
              <a:off x="5737" y="304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61" name="Freeform 27"/>
            <p:cNvSpPr>
              <a:spLocks/>
            </p:cNvSpPr>
            <p:nvPr/>
          </p:nvSpPr>
          <p:spPr bwMode="auto">
            <a:xfrm>
              <a:off x="2358" y="3022"/>
              <a:ext cx="295" cy="317"/>
            </a:xfrm>
            <a:custGeom>
              <a:avLst/>
              <a:gdLst>
                <a:gd name="T0" fmla="*/ 0 w 240"/>
                <a:gd name="T1" fmla="*/ 466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466 h 288"/>
                <a:gd name="T8" fmla="*/ 0 w 240"/>
                <a:gd name="T9" fmla="*/ 466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62" name="Freeform 28"/>
            <p:cNvSpPr>
              <a:spLocks/>
            </p:cNvSpPr>
            <p:nvPr/>
          </p:nvSpPr>
          <p:spPr bwMode="auto">
            <a:xfrm>
              <a:off x="3810" y="3022"/>
              <a:ext cx="295" cy="317"/>
            </a:xfrm>
            <a:custGeom>
              <a:avLst/>
              <a:gdLst>
                <a:gd name="T0" fmla="*/ 0 w 240"/>
                <a:gd name="T1" fmla="*/ 466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466 h 288"/>
                <a:gd name="T8" fmla="*/ 0 w 240"/>
                <a:gd name="T9" fmla="*/ 466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63" name="Freeform 29"/>
            <p:cNvSpPr>
              <a:spLocks/>
            </p:cNvSpPr>
            <p:nvPr/>
          </p:nvSpPr>
          <p:spPr bwMode="auto">
            <a:xfrm>
              <a:off x="4762" y="3022"/>
              <a:ext cx="295" cy="317"/>
            </a:xfrm>
            <a:custGeom>
              <a:avLst/>
              <a:gdLst>
                <a:gd name="T0" fmla="*/ 0 w 240"/>
                <a:gd name="T1" fmla="*/ 466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466 h 288"/>
                <a:gd name="T8" fmla="*/ 0 w 240"/>
                <a:gd name="T9" fmla="*/ 466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97644" y="3767931"/>
            <a:ext cx="7596188" cy="638175"/>
            <a:chOff x="952" y="2438"/>
            <a:chExt cx="4785" cy="402"/>
          </a:xfrm>
        </p:grpSpPr>
        <p:sp>
          <p:nvSpPr>
            <p:cNvPr id="16414" name="Line 31"/>
            <p:cNvSpPr>
              <a:spLocks noChangeShapeType="1"/>
            </p:cNvSpPr>
            <p:nvPr/>
          </p:nvSpPr>
          <p:spPr bwMode="auto">
            <a:xfrm flipH="1">
              <a:off x="1798" y="2478"/>
              <a:ext cx="38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5" name="Rectangle 32"/>
            <p:cNvSpPr>
              <a:spLocks noChangeArrowheads="1"/>
            </p:cNvSpPr>
            <p:nvPr/>
          </p:nvSpPr>
          <p:spPr bwMode="auto">
            <a:xfrm>
              <a:off x="5171" y="2455"/>
              <a:ext cx="420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6416" name="Rectangle 33"/>
            <p:cNvSpPr>
              <a:spLocks noChangeArrowheads="1"/>
            </p:cNvSpPr>
            <p:nvPr/>
          </p:nvSpPr>
          <p:spPr bwMode="auto">
            <a:xfrm>
              <a:off x="2786" y="2454"/>
              <a:ext cx="366" cy="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front</a:t>
              </a:r>
            </a:p>
          </p:txBody>
        </p:sp>
        <p:sp>
          <p:nvSpPr>
            <p:cNvPr id="16417" name="Rectangle 34"/>
            <p:cNvSpPr>
              <a:spLocks noChangeArrowheads="1"/>
            </p:cNvSpPr>
            <p:nvPr/>
          </p:nvSpPr>
          <p:spPr bwMode="auto">
            <a:xfrm>
              <a:off x="4193" y="2443"/>
              <a:ext cx="456" cy="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rear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6418" name="Rectangle 35"/>
            <p:cNvSpPr>
              <a:spLocks noChangeArrowheads="1"/>
            </p:cNvSpPr>
            <p:nvPr/>
          </p:nvSpPr>
          <p:spPr bwMode="auto">
            <a:xfrm>
              <a:off x="1956" y="2438"/>
              <a:ext cx="130" cy="1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6419" name="Rectangle 36"/>
            <p:cNvSpPr>
              <a:spLocks noChangeArrowheads="1"/>
            </p:cNvSpPr>
            <p:nvPr/>
          </p:nvSpPr>
          <p:spPr bwMode="auto">
            <a:xfrm>
              <a:off x="952" y="2455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Invariant:</a:t>
              </a:r>
              <a:br>
                <a:rPr lang="en-US" altLang="en-US" sz="2000" dirty="0">
                  <a:solidFill>
                    <a:srgbClr val="000000"/>
                  </a:solidFill>
                </a:rPr>
              </a:br>
              <a:r>
                <a:rPr lang="en-US" altLang="en-US" sz="2000" dirty="0">
                  <a:solidFill>
                    <a:srgbClr val="000000"/>
                  </a:solidFill>
                </a:rPr>
                <a:t>(a)</a:t>
              </a:r>
              <a:endParaRPr lang="en-US" altLang="en-US" sz="2000" dirty="0"/>
            </a:p>
          </p:txBody>
        </p:sp>
        <p:sp>
          <p:nvSpPr>
            <p:cNvPr id="16420" name="Rectangle 37"/>
            <p:cNvSpPr>
              <a:spLocks noChangeArrowheads="1"/>
            </p:cNvSpPr>
            <p:nvPr/>
          </p:nvSpPr>
          <p:spPr bwMode="auto">
            <a:xfrm>
              <a:off x="2741" y="2599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21" name="Rectangle 38"/>
            <p:cNvSpPr>
              <a:spLocks noChangeArrowheads="1"/>
            </p:cNvSpPr>
            <p:nvPr/>
          </p:nvSpPr>
          <p:spPr bwMode="auto">
            <a:xfrm>
              <a:off x="1781" y="259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22" name="Rectangle 39"/>
            <p:cNvSpPr>
              <a:spLocks noChangeArrowheads="1"/>
            </p:cNvSpPr>
            <p:nvPr/>
          </p:nvSpPr>
          <p:spPr bwMode="auto">
            <a:xfrm>
              <a:off x="4181" y="2599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23" name="Rectangle 40"/>
            <p:cNvSpPr>
              <a:spLocks noChangeArrowheads="1"/>
            </p:cNvSpPr>
            <p:nvPr/>
          </p:nvSpPr>
          <p:spPr bwMode="auto">
            <a:xfrm>
              <a:off x="5141" y="259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24" name="Rectangle 41"/>
            <p:cNvSpPr>
              <a:spLocks noChangeArrowheads="1"/>
            </p:cNvSpPr>
            <p:nvPr/>
          </p:nvSpPr>
          <p:spPr bwMode="auto">
            <a:xfrm>
              <a:off x="4661" y="259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25" name="Rectangle 42"/>
            <p:cNvSpPr>
              <a:spLocks noChangeArrowheads="1"/>
            </p:cNvSpPr>
            <p:nvPr/>
          </p:nvSpPr>
          <p:spPr bwMode="auto">
            <a:xfrm>
              <a:off x="3701" y="2599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26" name="Rectangle 43"/>
            <p:cNvSpPr>
              <a:spLocks noChangeArrowheads="1"/>
            </p:cNvSpPr>
            <p:nvPr/>
          </p:nvSpPr>
          <p:spPr bwMode="auto">
            <a:xfrm>
              <a:off x="2261" y="2599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27" name="Rectangle 44"/>
            <p:cNvSpPr>
              <a:spLocks noChangeArrowheads="1"/>
            </p:cNvSpPr>
            <p:nvPr/>
          </p:nvSpPr>
          <p:spPr bwMode="auto">
            <a:xfrm>
              <a:off x="3221" y="2599"/>
              <a:ext cx="480" cy="19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600"/>
                <a:t>element</a:t>
              </a:r>
            </a:p>
          </p:txBody>
        </p:sp>
        <p:sp>
          <p:nvSpPr>
            <p:cNvPr id="16428" name="Line 45"/>
            <p:cNvSpPr>
              <a:spLocks noChangeShapeType="1"/>
            </p:cNvSpPr>
            <p:nvPr/>
          </p:nvSpPr>
          <p:spPr bwMode="auto">
            <a:xfrm>
              <a:off x="1678" y="254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29" name="Arc 46"/>
            <p:cNvSpPr>
              <a:spLocks/>
            </p:cNvSpPr>
            <p:nvPr/>
          </p:nvSpPr>
          <p:spPr bwMode="auto">
            <a:xfrm flipH="1">
              <a:off x="1677" y="2478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0" name="Arc 47"/>
            <p:cNvSpPr>
              <a:spLocks/>
            </p:cNvSpPr>
            <p:nvPr/>
          </p:nvSpPr>
          <p:spPr bwMode="auto">
            <a:xfrm flipH="1" flipV="1">
              <a:off x="1677" y="2531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1" name="Arc 48"/>
            <p:cNvSpPr>
              <a:spLocks/>
            </p:cNvSpPr>
            <p:nvPr/>
          </p:nvSpPr>
          <p:spPr bwMode="auto">
            <a:xfrm>
              <a:off x="5623" y="2478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2" name="Arc 49"/>
            <p:cNvSpPr>
              <a:spLocks/>
            </p:cNvSpPr>
            <p:nvPr/>
          </p:nvSpPr>
          <p:spPr bwMode="auto">
            <a:xfrm flipV="1">
              <a:off x="5623" y="2546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3" name="Arc 50"/>
            <p:cNvSpPr>
              <a:spLocks/>
            </p:cNvSpPr>
            <p:nvPr/>
          </p:nvSpPr>
          <p:spPr bwMode="auto">
            <a:xfrm flipH="1" flipV="1">
              <a:off x="1677" y="2738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4" name="Arc 51"/>
            <p:cNvSpPr>
              <a:spLocks/>
            </p:cNvSpPr>
            <p:nvPr/>
          </p:nvSpPr>
          <p:spPr bwMode="auto">
            <a:xfrm flipV="1">
              <a:off x="5623" y="2738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35" name="Line 52"/>
            <p:cNvSpPr>
              <a:spLocks noChangeShapeType="1"/>
            </p:cNvSpPr>
            <p:nvPr/>
          </p:nvSpPr>
          <p:spPr bwMode="auto">
            <a:xfrm>
              <a:off x="5737" y="254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6" name="Freeform 53"/>
            <p:cNvSpPr>
              <a:spLocks/>
            </p:cNvSpPr>
            <p:nvPr/>
          </p:nvSpPr>
          <p:spPr bwMode="auto">
            <a:xfrm>
              <a:off x="4762" y="2546"/>
              <a:ext cx="295" cy="294"/>
            </a:xfrm>
            <a:custGeom>
              <a:avLst/>
              <a:gdLst>
                <a:gd name="T0" fmla="*/ 0 w 240"/>
                <a:gd name="T1" fmla="*/ 319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319 h 288"/>
                <a:gd name="T8" fmla="*/ 0 w 240"/>
                <a:gd name="T9" fmla="*/ 319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7" name="Freeform 54"/>
            <p:cNvSpPr>
              <a:spLocks/>
            </p:cNvSpPr>
            <p:nvPr/>
          </p:nvSpPr>
          <p:spPr bwMode="auto">
            <a:xfrm>
              <a:off x="3810" y="2546"/>
              <a:ext cx="295" cy="294"/>
            </a:xfrm>
            <a:custGeom>
              <a:avLst/>
              <a:gdLst>
                <a:gd name="T0" fmla="*/ 0 w 240"/>
                <a:gd name="T1" fmla="*/ 319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319 h 288"/>
                <a:gd name="T8" fmla="*/ 0 w 240"/>
                <a:gd name="T9" fmla="*/ 319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38" name="Freeform 55"/>
            <p:cNvSpPr>
              <a:spLocks/>
            </p:cNvSpPr>
            <p:nvPr/>
          </p:nvSpPr>
          <p:spPr bwMode="auto">
            <a:xfrm>
              <a:off x="2358" y="2546"/>
              <a:ext cx="295" cy="294"/>
            </a:xfrm>
            <a:custGeom>
              <a:avLst/>
              <a:gdLst>
                <a:gd name="T0" fmla="*/ 0 w 240"/>
                <a:gd name="T1" fmla="*/ 319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319 h 288"/>
                <a:gd name="T8" fmla="*/ 0 w 240"/>
                <a:gd name="T9" fmla="*/ 319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97644" y="5624513"/>
            <a:ext cx="7524750" cy="612775"/>
            <a:chOff x="997" y="3543"/>
            <a:chExt cx="4740" cy="386"/>
          </a:xfrm>
        </p:grpSpPr>
        <p:sp>
          <p:nvSpPr>
            <p:cNvPr id="16391" name="Line 57"/>
            <p:cNvSpPr>
              <a:spLocks noChangeShapeType="1"/>
            </p:cNvSpPr>
            <p:nvPr/>
          </p:nvSpPr>
          <p:spPr bwMode="auto">
            <a:xfrm>
              <a:off x="1791" y="3566"/>
              <a:ext cx="38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392" name="Rectangle 58"/>
            <p:cNvSpPr>
              <a:spLocks noChangeArrowheads="1"/>
            </p:cNvSpPr>
            <p:nvPr/>
          </p:nvSpPr>
          <p:spPr bwMode="auto">
            <a:xfrm>
              <a:off x="997" y="3585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queue:</a:t>
              </a:r>
              <a:endParaRPr lang="en-US" altLang="en-US" sz="2000"/>
            </a:p>
          </p:txBody>
        </p:sp>
        <p:sp>
          <p:nvSpPr>
            <p:cNvPr id="16393" name="Rectangle 59"/>
            <p:cNvSpPr>
              <a:spLocks noChangeArrowheads="1"/>
            </p:cNvSpPr>
            <p:nvPr/>
          </p:nvSpPr>
          <p:spPr bwMode="auto">
            <a:xfrm>
              <a:off x="1936" y="3543"/>
              <a:ext cx="150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0</a:t>
              </a:r>
            </a:p>
          </p:txBody>
        </p:sp>
        <p:sp>
          <p:nvSpPr>
            <p:cNvPr id="16394" name="Rectangle 60"/>
            <p:cNvSpPr>
              <a:spLocks noChangeArrowheads="1"/>
            </p:cNvSpPr>
            <p:nvPr/>
          </p:nvSpPr>
          <p:spPr bwMode="auto">
            <a:xfrm>
              <a:off x="5161" y="3543"/>
              <a:ext cx="418" cy="1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cap</a:t>
              </a:r>
              <a:r>
                <a:rPr lang="en-US" altLang="en-US" sz="1800">
                  <a:cs typeface="Times New Roman" pitchFamily="18" charset="0"/>
                </a:rPr>
                <a:t>–1</a:t>
              </a:r>
              <a:endParaRPr lang="en-US" altLang="en-US" sz="1800" i="1"/>
            </a:p>
          </p:txBody>
        </p:sp>
        <p:sp>
          <p:nvSpPr>
            <p:cNvPr id="16395" name="Rectangle 61"/>
            <p:cNvSpPr>
              <a:spLocks noChangeArrowheads="1"/>
            </p:cNvSpPr>
            <p:nvPr/>
          </p:nvSpPr>
          <p:spPr bwMode="auto">
            <a:xfrm>
              <a:off x="3125" y="3543"/>
              <a:ext cx="647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/>
                <a:t>front</a:t>
              </a:r>
              <a:r>
                <a:rPr lang="en-US" altLang="en-US" sz="1800"/>
                <a:t>=</a:t>
              </a:r>
              <a:r>
                <a:rPr lang="en-US" altLang="en-US" sz="1800" i="1"/>
                <a:t>rear</a:t>
              </a:r>
              <a:endParaRPr lang="en-US" altLang="en-US" sz="1800"/>
            </a:p>
          </p:txBody>
        </p:sp>
        <p:sp>
          <p:nvSpPr>
            <p:cNvPr id="16396" name="Rectangle 62"/>
            <p:cNvSpPr>
              <a:spLocks noChangeArrowheads="1"/>
            </p:cNvSpPr>
            <p:nvPr/>
          </p:nvSpPr>
          <p:spPr bwMode="auto">
            <a:xfrm>
              <a:off x="274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397" name="Rectangle 63"/>
            <p:cNvSpPr>
              <a:spLocks noChangeArrowheads="1"/>
            </p:cNvSpPr>
            <p:nvPr/>
          </p:nvSpPr>
          <p:spPr bwMode="auto">
            <a:xfrm>
              <a:off x="226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398" name="Rectangle 64"/>
            <p:cNvSpPr>
              <a:spLocks noChangeArrowheads="1"/>
            </p:cNvSpPr>
            <p:nvPr/>
          </p:nvSpPr>
          <p:spPr bwMode="auto">
            <a:xfrm>
              <a:off x="178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399" name="Rectangle 65"/>
            <p:cNvSpPr>
              <a:spLocks noChangeArrowheads="1"/>
            </p:cNvSpPr>
            <p:nvPr/>
          </p:nvSpPr>
          <p:spPr bwMode="auto">
            <a:xfrm>
              <a:off x="370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00" name="Rectangle 66"/>
            <p:cNvSpPr>
              <a:spLocks noChangeArrowheads="1"/>
            </p:cNvSpPr>
            <p:nvPr/>
          </p:nvSpPr>
          <p:spPr bwMode="auto">
            <a:xfrm>
              <a:off x="418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01" name="Rectangle 67"/>
            <p:cNvSpPr>
              <a:spLocks noChangeArrowheads="1"/>
            </p:cNvSpPr>
            <p:nvPr/>
          </p:nvSpPr>
          <p:spPr bwMode="auto">
            <a:xfrm>
              <a:off x="514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02" name="Rectangle 68"/>
            <p:cNvSpPr>
              <a:spLocks noChangeArrowheads="1"/>
            </p:cNvSpPr>
            <p:nvPr/>
          </p:nvSpPr>
          <p:spPr bwMode="auto">
            <a:xfrm>
              <a:off x="466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03" name="Rectangle 69"/>
            <p:cNvSpPr>
              <a:spLocks noChangeArrowheads="1"/>
            </p:cNvSpPr>
            <p:nvPr/>
          </p:nvSpPr>
          <p:spPr bwMode="auto">
            <a:xfrm>
              <a:off x="3221" y="3683"/>
              <a:ext cx="480" cy="1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 i="1">
                <a:latin typeface="Times New Roman" pitchFamily="18" charset="0"/>
              </a:endParaRPr>
            </a:p>
          </p:txBody>
        </p:sp>
        <p:sp>
          <p:nvSpPr>
            <p:cNvPr id="16404" name="Line 70"/>
            <p:cNvSpPr>
              <a:spLocks noChangeShapeType="1"/>
            </p:cNvSpPr>
            <p:nvPr/>
          </p:nvSpPr>
          <p:spPr bwMode="auto">
            <a:xfrm>
              <a:off x="1678" y="363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05" name="Arc 71"/>
            <p:cNvSpPr>
              <a:spLocks/>
            </p:cNvSpPr>
            <p:nvPr/>
          </p:nvSpPr>
          <p:spPr bwMode="auto">
            <a:xfrm flipH="1">
              <a:off x="1677" y="356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6" name="Arc 72"/>
            <p:cNvSpPr>
              <a:spLocks/>
            </p:cNvSpPr>
            <p:nvPr/>
          </p:nvSpPr>
          <p:spPr bwMode="auto">
            <a:xfrm flipH="1" flipV="1">
              <a:off x="1677" y="3620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7" name="Arc 73"/>
            <p:cNvSpPr>
              <a:spLocks/>
            </p:cNvSpPr>
            <p:nvPr/>
          </p:nvSpPr>
          <p:spPr bwMode="auto">
            <a:xfrm>
              <a:off x="5623" y="356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8" name="Arc 74"/>
            <p:cNvSpPr>
              <a:spLocks/>
            </p:cNvSpPr>
            <p:nvPr/>
          </p:nvSpPr>
          <p:spPr bwMode="auto">
            <a:xfrm flipV="1">
              <a:off x="5623" y="3635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9" name="Arc 75"/>
            <p:cNvSpPr>
              <a:spLocks/>
            </p:cNvSpPr>
            <p:nvPr/>
          </p:nvSpPr>
          <p:spPr bwMode="auto">
            <a:xfrm flipH="1" flipV="1">
              <a:off x="1677" y="382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0" name="Arc 76"/>
            <p:cNvSpPr>
              <a:spLocks/>
            </p:cNvSpPr>
            <p:nvPr/>
          </p:nvSpPr>
          <p:spPr bwMode="auto">
            <a:xfrm flipV="1">
              <a:off x="5623" y="3827"/>
              <a:ext cx="113" cy="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11" name="Line 77"/>
            <p:cNvSpPr>
              <a:spLocks noChangeShapeType="1"/>
            </p:cNvSpPr>
            <p:nvPr/>
          </p:nvSpPr>
          <p:spPr bwMode="auto">
            <a:xfrm>
              <a:off x="5737" y="3635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2" name="Freeform 78"/>
            <p:cNvSpPr>
              <a:spLocks/>
            </p:cNvSpPr>
            <p:nvPr/>
          </p:nvSpPr>
          <p:spPr bwMode="auto">
            <a:xfrm>
              <a:off x="2358" y="3634"/>
              <a:ext cx="295" cy="295"/>
            </a:xfrm>
            <a:custGeom>
              <a:avLst/>
              <a:gdLst>
                <a:gd name="T0" fmla="*/ 0 w 240"/>
                <a:gd name="T1" fmla="*/ 325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325 h 288"/>
                <a:gd name="T8" fmla="*/ 0 w 240"/>
                <a:gd name="T9" fmla="*/ 325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413" name="Freeform 79"/>
            <p:cNvSpPr>
              <a:spLocks/>
            </p:cNvSpPr>
            <p:nvPr/>
          </p:nvSpPr>
          <p:spPr bwMode="auto">
            <a:xfrm>
              <a:off x="4286" y="3634"/>
              <a:ext cx="295" cy="295"/>
            </a:xfrm>
            <a:custGeom>
              <a:avLst/>
              <a:gdLst>
                <a:gd name="T0" fmla="*/ 0 w 240"/>
                <a:gd name="T1" fmla="*/ 325 h 288"/>
                <a:gd name="T2" fmla="*/ 404 w 240"/>
                <a:gd name="T3" fmla="*/ 0 h 288"/>
                <a:gd name="T4" fmla="*/ 674 w 240"/>
                <a:gd name="T5" fmla="*/ 0 h 288"/>
                <a:gd name="T6" fmla="*/ 269 w 240"/>
                <a:gd name="T7" fmla="*/ 325 h 288"/>
                <a:gd name="T8" fmla="*/ 0 w 240"/>
                <a:gd name="T9" fmla="*/ 325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288"/>
                <a:gd name="T17" fmla="*/ 240 w 240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288">
                  <a:moveTo>
                    <a:pt x="0" y="288"/>
                  </a:moveTo>
                  <a:lnTo>
                    <a:pt x="144" y="0"/>
                  </a:lnTo>
                  <a:lnTo>
                    <a:pt x="240" y="0"/>
                  </a:lnTo>
                  <a:lnTo>
                    <a:pt x="96" y="288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3202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roup 638"/>
          <p:cNvGrpSpPr>
            <a:grpSpLocks/>
          </p:cNvGrpSpPr>
          <p:nvPr/>
        </p:nvGrpSpPr>
        <p:grpSpPr bwMode="auto">
          <a:xfrm>
            <a:off x="667843" y="3088522"/>
            <a:ext cx="5795962" cy="1979612"/>
            <a:chOff x="1979613" y="4365711"/>
            <a:chExt cx="5795962" cy="1979613"/>
          </a:xfrm>
        </p:grpSpPr>
        <p:sp>
          <p:nvSpPr>
            <p:cNvPr id="17712" name="Rectangle 5"/>
            <p:cNvSpPr>
              <a:spLocks noChangeArrowheads="1"/>
            </p:cNvSpPr>
            <p:nvPr/>
          </p:nvSpPr>
          <p:spPr bwMode="auto">
            <a:xfrm>
              <a:off x="1979613" y="4365711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3" name="Rectangle 6"/>
            <p:cNvSpPr>
              <a:spLocks noChangeArrowheads="1"/>
            </p:cNvSpPr>
            <p:nvPr/>
          </p:nvSpPr>
          <p:spPr bwMode="auto">
            <a:xfrm>
              <a:off x="2057400" y="4441911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Initially:</a:t>
              </a:r>
            </a:p>
          </p:txBody>
        </p:sp>
        <p:sp>
          <p:nvSpPr>
            <p:cNvPr id="17714" name="Rectangle 8"/>
            <p:cNvSpPr>
              <a:spLocks noChangeArrowheads="1"/>
            </p:cNvSpPr>
            <p:nvPr/>
          </p:nvSpPr>
          <p:spPr bwMode="auto">
            <a:xfrm>
              <a:off x="2749550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5" name="Rectangle 9"/>
            <p:cNvSpPr>
              <a:spLocks noChangeArrowheads="1"/>
            </p:cNvSpPr>
            <p:nvPr/>
          </p:nvSpPr>
          <p:spPr bwMode="auto">
            <a:xfrm>
              <a:off x="2741613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6" name="Rectangle 11"/>
            <p:cNvSpPr>
              <a:spLocks noChangeArrowheads="1"/>
            </p:cNvSpPr>
            <p:nvPr/>
          </p:nvSpPr>
          <p:spPr bwMode="auto">
            <a:xfrm>
              <a:off x="3541713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7" name="Rectangle 12"/>
            <p:cNvSpPr>
              <a:spLocks noChangeArrowheads="1"/>
            </p:cNvSpPr>
            <p:nvPr/>
          </p:nvSpPr>
          <p:spPr bwMode="auto">
            <a:xfrm>
              <a:off x="3533775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8" name="Rectangle 14"/>
            <p:cNvSpPr>
              <a:spLocks noChangeArrowheads="1"/>
            </p:cNvSpPr>
            <p:nvPr/>
          </p:nvSpPr>
          <p:spPr bwMode="auto">
            <a:xfrm>
              <a:off x="4333875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19" name="Rectangle 15"/>
            <p:cNvSpPr>
              <a:spLocks noChangeArrowheads="1"/>
            </p:cNvSpPr>
            <p:nvPr/>
          </p:nvSpPr>
          <p:spPr bwMode="auto">
            <a:xfrm>
              <a:off x="4325938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0" name="Rectangle 17"/>
            <p:cNvSpPr>
              <a:spLocks noChangeArrowheads="1"/>
            </p:cNvSpPr>
            <p:nvPr/>
          </p:nvSpPr>
          <p:spPr bwMode="auto">
            <a:xfrm>
              <a:off x="5126038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1" name="Rectangle 18"/>
            <p:cNvSpPr>
              <a:spLocks noChangeArrowheads="1"/>
            </p:cNvSpPr>
            <p:nvPr/>
          </p:nvSpPr>
          <p:spPr bwMode="auto">
            <a:xfrm>
              <a:off x="5118100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2" name="Rectangle 20"/>
            <p:cNvSpPr>
              <a:spLocks noChangeArrowheads="1"/>
            </p:cNvSpPr>
            <p:nvPr/>
          </p:nvSpPr>
          <p:spPr bwMode="auto">
            <a:xfrm>
              <a:off x="5918200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3" name="Rectangle 21"/>
            <p:cNvSpPr>
              <a:spLocks noChangeArrowheads="1"/>
            </p:cNvSpPr>
            <p:nvPr/>
          </p:nvSpPr>
          <p:spPr bwMode="auto">
            <a:xfrm>
              <a:off x="5910263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4" name="Rectangle 23"/>
            <p:cNvSpPr>
              <a:spLocks noChangeArrowheads="1"/>
            </p:cNvSpPr>
            <p:nvPr/>
          </p:nvSpPr>
          <p:spPr bwMode="auto">
            <a:xfrm>
              <a:off x="6710363" y="520391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5" name="Rectangle 24"/>
            <p:cNvSpPr>
              <a:spLocks noChangeArrowheads="1"/>
            </p:cNvSpPr>
            <p:nvPr/>
          </p:nvSpPr>
          <p:spPr bwMode="auto">
            <a:xfrm>
              <a:off x="6702425" y="520391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726" name="Rectangle 25"/>
            <p:cNvSpPr>
              <a:spLocks noChangeArrowheads="1"/>
            </p:cNvSpPr>
            <p:nvPr/>
          </p:nvSpPr>
          <p:spPr bwMode="auto">
            <a:xfrm>
              <a:off x="2741613" y="581351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727" name="Rectangle 26"/>
            <p:cNvSpPr>
              <a:spLocks noChangeArrowheads="1"/>
            </p:cNvSpPr>
            <p:nvPr/>
          </p:nvSpPr>
          <p:spPr bwMode="auto">
            <a:xfrm>
              <a:off x="2055813" y="581351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728" name="Rectangle 27"/>
            <p:cNvSpPr>
              <a:spLocks noChangeArrowheads="1"/>
            </p:cNvSpPr>
            <p:nvPr/>
          </p:nvSpPr>
          <p:spPr bwMode="auto">
            <a:xfrm>
              <a:off x="4341813" y="581351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729" name="Rectangle 28"/>
            <p:cNvSpPr>
              <a:spLocks noChangeArrowheads="1"/>
            </p:cNvSpPr>
            <p:nvPr/>
          </p:nvSpPr>
          <p:spPr bwMode="auto">
            <a:xfrm>
              <a:off x="3656013" y="581351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730" name="Rectangle 29"/>
            <p:cNvSpPr>
              <a:spLocks noChangeArrowheads="1"/>
            </p:cNvSpPr>
            <p:nvPr/>
          </p:nvSpPr>
          <p:spPr bwMode="auto">
            <a:xfrm>
              <a:off x="2055813" y="520391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731" name="Rectangle 30"/>
            <p:cNvSpPr>
              <a:spLocks noChangeArrowheads="1"/>
            </p:cNvSpPr>
            <p:nvPr/>
          </p:nvSpPr>
          <p:spPr bwMode="auto">
            <a:xfrm>
              <a:off x="6292850" y="581351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732" name="Rectangle 31"/>
            <p:cNvSpPr>
              <a:spLocks noChangeArrowheads="1"/>
            </p:cNvSpPr>
            <p:nvPr/>
          </p:nvSpPr>
          <p:spPr bwMode="auto">
            <a:xfrm>
              <a:off x="5454650" y="5813511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733" name="Line 282"/>
            <p:cNvSpPr>
              <a:spLocks noChangeShapeType="1"/>
            </p:cNvSpPr>
            <p:nvPr/>
          </p:nvSpPr>
          <p:spPr bwMode="auto">
            <a:xfrm flipH="1">
              <a:off x="2746375" y="5049924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734" name="Line 283"/>
            <p:cNvSpPr>
              <a:spLocks noChangeShapeType="1"/>
            </p:cNvSpPr>
            <p:nvPr/>
          </p:nvSpPr>
          <p:spPr bwMode="auto">
            <a:xfrm>
              <a:off x="2554288" y="5157874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735" name="Arc 284"/>
            <p:cNvSpPr>
              <a:spLocks/>
            </p:cNvSpPr>
            <p:nvPr/>
          </p:nvSpPr>
          <p:spPr bwMode="auto">
            <a:xfrm flipH="1">
              <a:off x="2554288" y="504992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36" name="Arc 285"/>
            <p:cNvSpPr>
              <a:spLocks/>
            </p:cNvSpPr>
            <p:nvPr/>
          </p:nvSpPr>
          <p:spPr bwMode="auto">
            <a:xfrm flipH="1" flipV="1">
              <a:off x="2554288" y="5103899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37" name="Arc 286"/>
            <p:cNvSpPr>
              <a:spLocks/>
            </p:cNvSpPr>
            <p:nvPr/>
          </p:nvSpPr>
          <p:spPr bwMode="auto">
            <a:xfrm>
              <a:off x="7486650" y="504992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38" name="Arc 287"/>
            <p:cNvSpPr>
              <a:spLocks/>
            </p:cNvSpPr>
            <p:nvPr/>
          </p:nvSpPr>
          <p:spPr bwMode="auto">
            <a:xfrm flipV="1">
              <a:off x="7486650" y="5121361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39" name="Arc 288"/>
            <p:cNvSpPr>
              <a:spLocks/>
            </p:cNvSpPr>
            <p:nvPr/>
          </p:nvSpPr>
          <p:spPr bwMode="auto">
            <a:xfrm flipH="1" flipV="1">
              <a:off x="2554288" y="546267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40" name="Arc 289"/>
            <p:cNvSpPr>
              <a:spLocks/>
            </p:cNvSpPr>
            <p:nvPr/>
          </p:nvSpPr>
          <p:spPr bwMode="auto">
            <a:xfrm flipV="1">
              <a:off x="7486650" y="546267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41" name="Line 290"/>
            <p:cNvSpPr>
              <a:spLocks noChangeShapeType="1"/>
            </p:cNvSpPr>
            <p:nvPr/>
          </p:nvSpPr>
          <p:spPr bwMode="auto">
            <a:xfrm>
              <a:off x="7667625" y="5157874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742" name="Rectangle 7"/>
            <p:cNvSpPr>
              <a:spLocks noChangeArrowheads="1"/>
            </p:cNvSpPr>
            <p:nvPr/>
          </p:nvSpPr>
          <p:spPr bwMode="auto">
            <a:xfrm>
              <a:off x="3068638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743" name="Rectangle 10"/>
            <p:cNvSpPr>
              <a:spLocks noChangeArrowheads="1"/>
            </p:cNvSpPr>
            <p:nvPr/>
          </p:nvSpPr>
          <p:spPr bwMode="auto">
            <a:xfrm>
              <a:off x="3900488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744" name="Rectangle 13"/>
            <p:cNvSpPr>
              <a:spLocks noChangeArrowheads="1"/>
            </p:cNvSpPr>
            <p:nvPr/>
          </p:nvSpPr>
          <p:spPr bwMode="auto">
            <a:xfrm>
              <a:off x="4692650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745" name="Rectangle 16"/>
            <p:cNvSpPr>
              <a:spLocks noChangeArrowheads="1"/>
            </p:cNvSpPr>
            <p:nvPr/>
          </p:nvSpPr>
          <p:spPr bwMode="auto">
            <a:xfrm>
              <a:off x="5484813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746" name="Rectangle 19"/>
            <p:cNvSpPr>
              <a:spLocks noChangeArrowheads="1"/>
            </p:cNvSpPr>
            <p:nvPr/>
          </p:nvSpPr>
          <p:spPr bwMode="auto">
            <a:xfrm>
              <a:off x="6276975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747" name="Rectangle 22"/>
            <p:cNvSpPr>
              <a:spLocks noChangeArrowheads="1"/>
            </p:cNvSpPr>
            <p:nvPr/>
          </p:nvSpPr>
          <p:spPr bwMode="auto">
            <a:xfrm>
              <a:off x="7069138" y="492927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61430" y="304800"/>
            <a:ext cx="829677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cyclic </a:t>
            </a:r>
            <a:br>
              <a:rPr lang="en-US" altLang="en-US" sz="3200" dirty="0"/>
            </a:br>
            <a:r>
              <a:rPr lang="en-US" altLang="en-US" sz="3200" dirty="0"/>
              <a:t>arrays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Animation (with </a:t>
            </a:r>
            <a:r>
              <a:rPr lang="en-US" altLang="en-US" i="1">
                <a:cs typeface="Times New Roman" pitchFamily="18" charset="0"/>
              </a:rPr>
              <a:t>cap</a:t>
            </a:r>
            <a:r>
              <a:rPr lang="en-US" altLang="en-US">
                <a:cs typeface="Times New Roman" pitchFamily="18" charset="0"/>
              </a:rPr>
              <a:t> = 6):</a:t>
            </a:r>
            <a:endParaRPr lang="en-US" altLang="en-US" sz="2000">
              <a:latin typeface="Times New Roman" pitchFamily="18" charset="0"/>
            </a:endParaRPr>
          </a:p>
        </p:txBody>
      </p:sp>
      <p:grpSp>
        <p:nvGrpSpPr>
          <p:cNvPr id="340" name="Group 339"/>
          <p:cNvGrpSpPr>
            <a:grpSpLocks/>
          </p:cNvGrpSpPr>
          <p:nvPr/>
        </p:nvGrpSpPr>
        <p:grpSpPr bwMode="auto">
          <a:xfrm>
            <a:off x="661493" y="3088522"/>
            <a:ext cx="5795962" cy="1979612"/>
            <a:chOff x="1979613" y="2493503"/>
            <a:chExt cx="5795962" cy="1979613"/>
          </a:xfrm>
        </p:grpSpPr>
        <p:sp>
          <p:nvSpPr>
            <p:cNvPr id="17676" name="Rectangle 33"/>
            <p:cNvSpPr>
              <a:spLocks noChangeArrowheads="1"/>
            </p:cNvSpPr>
            <p:nvPr/>
          </p:nvSpPr>
          <p:spPr bwMode="auto">
            <a:xfrm>
              <a:off x="1979613" y="2493503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77" name="Rectangle 35"/>
            <p:cNvSpPr>
              <a:spLocks noChangeArrowheads="1"/>
            </p:cNvSpPr>
            <p:nvPr/>
          </p:nvSpPr>
          <p:spPr bwMode="auto">
            <a:xfrm>
              <a:off x="2749550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78" name="Rectangle 36"/>
            <p:cNvSpPr>
              <a:spLocks noChangeArrowheads="1"/>
            </p:cNvSpPr>
            <p:nvPr/>
          </p:nvSpPr>
          <p:spPr bwMode="auto">
            <a:xfrm>
              <a:off x="2741613" y="33317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Homer</a:t>
              </a:r>
            </a:p>
          </p:txBody>
        </p:sp>
        <p:sp>
          <p:nvSpPr>
            <p:cNvPr id="17679" name="Rectangle 38"/>
            <p:cNvSpPr>
              <a:spLocks noChangeArrowheads="1"/>
            </p:cNvSpPr>
            <p:nvPr/>
          </p:nvSpPr>
          <p:spPr bwMode="auto">
            <a:xfrm>
              <a:off x="3541713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0" name="Rectangle 39"/>
            <p:cNvSpPr>
              <a:spLocks noChangeArrowheads="1"/>
            </p:cNvSpPr>
            <p:nvPr/>
          </p:nvSpPr>
          <p:spPr bwMode="auto">
            <a:xfrm>
              <a:off x="3533775" y="33317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7681" name="Rectangle 41"/>
            <p:cNvSpPr>
              <a:spLocks noChangeArrowheads="1"/>
            </p:cNvSpPr>
            <p:nvPr/>
          </p:nvSpPr>
          <p:spPr bwMode="auto">
            <a:xfrm>
              <a:off x="4333875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2" name="Rectangle 42"/>
            <p:cNvSpPr>
              <a:spLocks noChangeArrowheads="1"/>
            </p:cNvSpPr>
            <p:nvPr/>
          </p:nvSpPr>
          <p:spPr bwMode="auto">
            <a:xfrm>
              <a:off x="4325938" y="33317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683" name="Rectangle 44"/>
            <p:cNvSpPr>
              <a:spLocks noChangeArrowheads="1"/>
            </p:cNvSpPr>
            <p:nvPr/>
          </p:nvSpPr>
          <p:spPr bwMode="auto">
            <a:xfrm>
              <a:off x="5126038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4" name="Rectangle 45"/>
            <p:cNvSpPr>
              <a:spLocks noChangeArrowheads="1"/>
            </p:cNvSpPr>
            <p:nvPr/>
          </p:nvSpPr>
          <p:spPr bwMode="auto">
            <a:xfrm>
              <a:off x="5118100" y="33317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685" name="Rectangle 47"/>
            <p:cNvSpPr>
              <a:spLocks noChangeArrowheads="1"/>
            </p:cNvSpPr>
            <p:nvPr/>
          </p:nvSpPr>
          <p:spPr bwMode="auto">
            <a:xfrm>
              <a:off x="5918200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6" name="Rectangle 48"/>
            <p:cNvSpPr>
              <a:spLocks noChangeArrowheads="1"/>
            </p:cNvSpPr>
            <p:nvPr/>
          </p:nvSpPr>
          <p:spPr bwMode="auto">
            <a:xfrm>
              <a:off x="5910263" y="3331703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7" name="Rectangle 50"/>
            <p:cNvSpPr>
              <a:spLocks noChangeArrowheads="1"/>
            </p:cNvSpPr>
            <p:nvPr/>
          </p:nvSpPr>
          <p:spPr bwMode="auto">
            <a:xfrm>
              <a:off x="6710363" y="333170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8" name="Rectangle 51"/>
            <p:cNvSpPr>
              <a:spLocks noChangeArrowheads="1"/>
            </p:cNvSpPr>
            <p:nvPr/>
          </p:nvSpPr>
          <p:spPr bwMode="auto">
            <a:xfrm>
              <a:off x="6702425" y="3331703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89" name="Rectangle 52"/>
            <p:cNvSpPr>
              <a:spLocks noChangeArrowheads="1"/>
            </p:cNvSpPr>
            <p:nvPr/>
          </p:nvSpPr>
          <p:spPr bwMode="auto">
            <a:xfrm>
              <a:off x="2741613" y="39413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690" name="Rectangle 53"/>
            <p:cNvSpPr>
              <a:spLocks noChangeArrowheads="1"/>
            </p:cNvSpPr>
            <p:nvPr/>
          </p:nvSpPr>
          <p:spPr bwMode="auto">
            <a:xfrm>
              <a:off x="2055813" y="394130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691" name="Rectangle 54"/>
            <p:cNvSpPr>
              <a:spLocks noChangeArrowheads="1"/>
            </p:cNvSpPr>
            <p:nvPr/>
          </p:nvSpPr>
          <p:spPr bwMode="auto">
            <a:xfrm>
              <a:off x="4341813" y="39413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7692" name="Rectangle 55"/>
            <p:cNvSpPr>
              <a:spLocks noChangeArrowheads="1"/>
            </p:cNvSpPr>
            <p:nvPr/>
          </p:nvSpPr>
          <p:spPr bwMode="auto">
            <a:xfrm>
              <a:off x="3656013" y="394130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693" name="Rectangle 56"/>
            <p:cNvSpPr>
              <a:spLocks noChangeArrowheads="1"/>
            </p:cNvSpPr>
            <p:nvPr/>
          </p:nvSpPr>
          <p:spPr bwMode="auto">
            <a:xfrm>
              <a:off x="2055813" y="333170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694" name="Rectangle 57"/>
            <p:cNvSpPr>
              <a:spLocks noChangeArrowheads="1"/>
            </p:cNvSpPr>
            <p:nvPr/>
          </p:nvSpPr>
          <p:spPr bwMode="auto">
            <a:xfrm>
              <a:off x="6292850" y="394130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7695" name="Rectangle 58"/>
            <p:cNvSpPr>
              <a:spLocks noChangeArrowheads="1"/>
            </p:cNvSpPr>
            <p:nvPr/>
          </p:nvSpPr>
          <p:spPr bwMode="auto">
            <a:xfrm>
              <a:off x="5454650" y="3941303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696" name="Rectangle 59"/>
            <p:cNvSpPr>
              <a:spLocks noChangeArrowheads="1"/>
            </p:cNvSpPr>
            <p:nvPr/>
          </p:nvSpPr>
          <p:spPr bwMode="auto">
            <a:xfrm>
              <a:off x="2055813" y="2569703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Homer, Marge, Maggie, Lisa:</a:t>
              </a:r>
            </a:p>
          </p:txBody>
        </p:sp>
        <p:sp>
          <p:nvSpPr>
            <p:cNvPr id="17697" name="Line 361"/>
            <p:cNvSpPr>
              <a:spLocks noChangeShapeType="1"/>
            </p:cNvSpPr>
            <p:nvPr/>
          </p:nvSpPr>
          <p:spPr bwMode="auto">
            <a:xfrm flipH="1">
              <a:off x="2747963" y="3177716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98" name="Line 362"/>
            <p:cNvSpPr>
              <a:spLocks noChangeShapeType="1"/>
            </p:cNvSpPr>
            <p:nvPr/>
          </p:nvSpPr>
          <p:spPr bwMode="auto">
            <a:xfrm>
              <a:off x="2555875" y="3285666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99" name="Arc 363"/>
            <p:cNvSpPr>
              <a:spLocks/>
            </p:cNvSpPr>
            <p:nvPr/>
          </p:nvSpPr>
          <p:spPr bwMode="auto">
            <a:xfrm flipH="1">
              <a:off x="2555875" y="317771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0" name="Arc 364"/>
            <p:cNvSpPr>
              <a:spLocks/>
            </p:cNvSpPr>
            <p:nvPr/>
          </p:nvSpPr>
          <p:spPr bwMode="auto">
            <a:xfrm flipH="1" flipV="1">
              <a:off x="2555875" y="3231691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1" name="Arc 365"/>
            <p:cNvSpPr>
              <a:spLocks/>
            </p:cNvSpPr>
            <p:nvPr/>
          </p:nvSpPr>
          <p:spPr bwMode="auto">
            <a:xfrm>
              <a:off x="7488238" y="317771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2" name="Arc 366"/>
            <p:cNvSpPr>
              <a:spLocks/>
            </p:cNvSpPr>
            <p:nvPr/>
          </p:nvSpPr>
          <p:spPr bwMode="auto">
            <a:xfrm flipV="1">
              <a:off x="7488238" y="3249153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3" name="Arc 367"/>
            <p:cNvSpPr>
              <a:spLocks/>
            </p:cNvSpPr>
            <p:nvPr/>
          </p:nvSpPr>
          <p:spPr bwMode="auto">
            <a:xfrm flipH="1" flipV="1">
              <a:off x="2555875" y="359046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4" name="Arc 368"/>
            <p:cNvSpPr>
              <a:spLocks/>
            </p:cNvSpPr>
            <p:nvPr/>
          </p:nvSpPr>
          <p:spPr bwMode="auto">
            <a:xfrm flipV="1">
              <a:off x="7488238" y="359046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705" name="Line 369"/>
            <p:cNvSpPr>
              <a:spLocks noChangeShapeType="1"/>
            </p:cNvSpPr>
            <p:nvPr/>
          </p:nvSpPr>
          <p:spPr bwMode="auto">
            <a:xfrm>
              <a:off x="7669213" y="3285666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706" name="Rectangle 34"/>
            <p:cNvSpPr>
              <a:spLocks noChangeArrowheads="1"/>
            </p:cNvSpPr>
            <p:nvPr/>
          </p:nvSpPr>
          <p:spPr bwMode="auto">
            <a:xfrm>
              <a:off x="3068638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707" name="Rectangle 37"/>
            <p:cNvSpPr>
              <a:spLocks noChangeArrowheads="1"/>
            </p:cNvSpPr>
            <p:nvPr/>
          </p:nvSpPr>
          <p:spPr bwMode="auto">
            <a:xfrm>
              <a:off x="3900488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708" name="Rectangle 40"/>
            <p:cNvSpPr>
              <a:spLocks noChangeArrowheads="1"/>
            </p:cNvSpPr>
            <p:nvPr/>
          </p:nvSpPr>
          <p:spPr bwMode="auto">
            <a:xfrm>
              <a:off x="4692650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709" name="Rectangle 43"/>
            <p:cNvSpPr>
              <a:spLocks noChangeArrowheads="1"/>
            </p:cNvSpPr>
            <p:nvPr/>
          </p:nvSpPr>
          <p:spPr bwMode="auto">
            <a:xfrm>
              <a:off x="5484813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710" name="Rectangle 46"/>
            <p:cNvSpPr>
              <a:spLocks noChangeArrowheads="1"/>
            </p:cNvSpPr>
            <p:nvPr/>
          </p:nvSpPr>
          <p:spPr bwMode="auto">
            <a:xfrm>
              <a:off x="6276975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711" name="Rectangle 49"/>
            <p:cNvSpPr>
              <a:spLocks noChangeArrowheads="1"/>
            </p:cNvSpPr>
            <p:nvPr/>
          </p:nvSpPr>
          <p:spPr bwMode="auto">
            <a:xfrm>
              <a:off x="7069138" y="305706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377" name="Group 376"/>
          <p:cNvGrpSpPr>
            <a:grpSpLocks/>
          </p:cNvGrpSpPr>
          <p:nvPr/>
        </p:nvGrpSpPr>
        <p:grpSpPr bwMode="auto">
          <a:xfrm>
            <a:off x="667843" y="3088522"/>
            <a:ext cx="5795962" cy="1979612"/>
            <a:chOff x="1979613" y="2313483"/>
            <a:chExt cx="5795962" cy="1979613"/>
          </a:xfrm>
        </p:grpSpPr>
        <p:sp>
          <p:nvSpPr>
            <p:cNvPr id="17640" name="Rectangle 61"/>
            <p:cNvSpPr>
              <a:spLocks noChangeArrowheads="1"/>
            </p:cNvSpPr>
            <p:nvPr/>
          </p:nvSpPr>
          <p:spPr bwMode="auto">
            <a:xfrm>
              <a:off x="1979613" y="2313483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41" name="Rectangle 63"/>
            <p:cNvSpPr>
              <a:spLocks noChangeArrowheads="1"/>
            </p:cNvSpPr>
            <p:nvPr/>
          </p:nvSpPr>
          <p:spPr bwMode="auto">
            <a:xfrm>
              <a:off x="2749550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42" name="Rectangle 64"/>
            <p:cNvSpPr>
              <a:spLocks noChangeArrowheads="1"/>
            </p:cNvSpPr>
            <p:nvPr/>
          </p:nvSpPr>
          <p:spPr bwMode="auto">
            <a:xfrm>
              <a:off x="2741613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Homer</a:t>
              </a:r>
            </a:p>
          </p:txBody>
        </p:sp>
        <p:sp>
          <p:nvSpPr>
            <p:cNvPr id="17643" name="Rectangle 66"/>
            <p:cNvSpPr>
              <a:spLocks noChangeArrowheads="1"/>
            </p:cNvSpPr>
            <p:nvPr/>
          </p:nvSpPr>
          <p:spPr bwMode="auto">
            <a:xfrm>
              <a:off x="3541713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44" name="Rectangle 67"/>
            <p:cNvSpPr>
              <a:spLocks noChangeArrowheads="1"/>
            </p:cNvSpPr>
            <p:nvPr/>
          </p:nvSpPr>
          <p:spPr bwMode="auto">
            <a:xfrm>
              <a:off x="3533775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7645" name="Rectangle 69"/>
            <p:cNvSpPr>
              <a:spLocks noChangeArrowheads="1"/>
            </p:cNvSpPr>
            <p:nvPr/>
          </p:nvSpPr>
          <p:spPr bwMode="auto">
            <a:xfrm>
              <a:off x="4333875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46" name="Rectangle 70"/>
            <p:cNvSpPr>
              <a:spLocks noChangeArrowheads="1"/>
            </p:cNvSpPr>
            <p:nvPr/>
          </p:nvSpPr>
          <p:spPr bwMode="auto">
            <a:xfrm>
              <a:off x="4325938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647" name="Rectangle 72"/>
            <p:cNvSpPr>
              <a:spLocks noChangeArrowheads="1"/>
            </p:cNvSpPr>
            <p:nvPr/>
          </p:nvSpPr>
          <p:spPr bwMode="auto">
            <a:xfrm>
              <a:off x="5126038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48" name="Rectangle 73"/>
            <p:cNvSpPr>
              <a:spLocks noChangeArrowheads="1"/>
            </p:cNvSpPr>
            <p:nvPr/>
          </p:nvSpPr>
          <p:spPr bwMode="auto">
            <a:xfrm>
              <a:off x="5118100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649" name="Rectangle 75"/>
            <p:cNvSpPr>
              <a:spLocks noChangeArrowheads="1"/>
            </p:cNvSpPr>
            <p:nvPr/>
          </p:nvSpPr>
          <p:spPr bwMode="auto">
            <a:xfrm>
              <a:off x="5918200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50" name="Rectangle 76"/>
            <p:cNvSpPr>
              <a:spLocks noChangeArrowheads="1"/>
            </p:cNvSpPr>
            <p:nvPr/>
          </p:nvSpPr>
          <p:spPr bwMode="auto">
            <a:xfrm>
              <a:off x="5910263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651" name="Rectangle 78"/>
            <p:cNvSpPr>
              <a:spLocks noChangeArrowheads="1"/>
            </p:cNvSpPr>
            <p:nvPr/>
          </p:nvSpPr>
          <p:spPr bwMode="auto">
            <a:xfrm>
              <a:off x="6710363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52" name="Rectangle 79"/>
            <p:cNvSpPr>
              <a:spLocks noChangeArrowheads="1"/>
            </p:cNvSpPr>
            <p:nvPr/>
          </p:nvSpPr>
          <p:spPr bwMode="auto">
            <a:xfrm>
              <a:off x="6702425" y="3151683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53" name="Rectangle 80"/>
            <p:cNvSpPr>
              <a:spLocks noChangeArrowheads="1"/>
            </p:cNvSpPr>
            <p:nvPr/>
          </p:nvSpPr>
          <p:spPr bwMode="auto">
            <a:xfrm>
              <a:off x="2741613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654" name="Rectangle 81"/>
            <p:cNvSpPr>
              <a:spLocks noChangeArrowheads="1"/>
            </p:cNvSpPr>
            <p:nvPr/>
          </p:nvSpPr>
          <p:spPr bwMode="auto">
            <a:xfrm>
              <a:off x="2055813" y="37612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655" name="Rectangle 82"/>
            <p:cNvSpPr>
              <a:spLocks noChangeArrowheads="1"/>
            </p:cNvSpPr>
            <p:nvPr/>
          </p:nvSpPr>
          <p:spPr bwMode="auto">
            <a:xfrm>
              <a:off x="4341813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656" name="Rectangle 83"/>
            <p:cNvSpPr>
              <a:spLocks noChangeArrowheads="1"/>
            </p:cNvSpPr>
            <p:nvPr/>
          </p:nvSpPr>
          <p:spPr bwMode="auto">
            <a:xfrm>
              <a:off x="3656013" y="37612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657" name="Rectangle 84"/>
            <p:cNvSpPr>
              <a:spLocks noChangeArrowheads="1"/>
            </p:cNvSpPr>
            <p:nvPr/>
          </p:nvSpPr>
          <p:spPr bwMode="auto">
            <a:xfrm>
              <a:off x="2055813" y="31516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658" name="Rectangle 85"/>
            <p:cNvSpPr>
              <a:spLocks noChangeArrowheads="1"/>
            </p:cNvSpPr>
            <p:nvPr/>
          </p:nvSpPr>
          <p:spPr bwMode="auto">
            <a:xfrm>
              <a:off x="6292850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659" name="Rectangle 86"/>
            <p:cNvSpPr>
              <a:spLocks noChangeArrowheads="1"/>
            </p:cNvSpPr>
            <p:nvPr/>
          </p:nvSpPr>
          <p:spPr bwMode="auto">
            <a:xfrm>
              <a:off x="5454650" y="3761283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660" name="Rectangle 87"/>
            <p:cNvSpPr>
              <a:spLocks noChangeArrowheads="1"/>
            </p:cNvSpPr>
            <p:nvPr/>
          </p:nvSpPr>
          <p:spPr bwMode="auto">
            <a:xfrm>
              <a:off x="2054225" y="2389683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Bart:</a:t>
              </a:r>
            </a:p>
          </p:txBody>
        </p:sp>
        <p:sp>
          <p:nvSpPr>
            <p:cNvPr id="17661" name="Line 349"/>
            <p:cNvSpPr>
              <a:spLocks noChangeShapeType="1"/>
            </p:cNvSpPr>
            <p:nvPr/>
          </p:nvSpPr>
          <p:spPr bwMode="auto">
            <a:xfrm flipH="1">
              <a:off x="2747963" y="2996108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62" name="Line 350"/>
            <p:cNvSpPr>
              <a:spLocks noChangeShapeType="1"/>
            </p:cNvSpPr>
            <p:nvPr/>
          </p:nvSpPr>
          <p:spPr bwMode="auto">
            <a:xfrm>
              <a:off x="2555875" y="3104058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63" name="Arc 351"/>
            <p:cNvSpPr>
              <a:spLocks/>
            </p:cNvSpPr>
            <p:nvPr/>
          </p:nvSpPr>
          <p:spPr bwMode="auto">
            <a:xfrm flipH="1">
              <a:off x="2555875" y="2996108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4" name="Arc 352"/>
            <p:cNvSpPr>
              <a:spLocks/>
            </p:cNvSpPr>
            <p:nvPr/>
          </p:nvSpPr>
          <p:spPr bwMode="auto">
            <a:xfrm flipH="1" flipV="1">
              <a:off x="2555875" y="3050083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5" name="Arc 353"/>
            <p:cNvSpPr>
              <a:spLocks/>
            </p:cNvSpPr>
            <p:nvPr/>
          </p:nvSpPr>
          <p:spPr bwMode="auto">
            <a:xfrm>
              <a:off x="7488238" y="2996108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6" name="Arc 354"/>
            <p:cNvSpPr>
              <a:spLocks/>
            </p:cNvSpPr>
            <p:nvPr/>
          </p:nvSpPr>
          <p:spPr bwMode="auto">
            <a:xfrm flipV="1">
              <a:off x="7488238" y="306754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7" name="Arc 355"/>
            <p:cNvSpPr>
              <a:spLocks/>
            </p:cNvSpPr>
            <p:nvPr/>
          </p:nvSpPr>
          <p:spPr bwMode="auto">
            <a:xfrm flipH="1" flipV="1">
              <a:off x="2555875" y="3408858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8" name="Arc 356"/>
            <p:cNvSpPr>
              <a:spLocks/>
            </p:cNvSpPr>
            <p:nvPr/>
          </p:nvSpPr>
          <p:spPr bwMode="auto">
            <a:xfrm flipV="1">
              <a:off x="7488238" y="3408858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69" name="Line 357"/>
            <p:cNvSpPr>
              <a:spLocks noChangeShapeType="1"/>
            </p:cNvSpPr>
            <p:nvPr/>
          </p:nvSpPr>
          <p:spPr bwMode="auto">
            <a:xfrm>
              <a:off x="7669213" y="3104058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70" name="Rectangle 62"/>
            <p:cNvSpPr>
              <a:spLocks noChangeArrowheads="1"/>
            </p:cNvSpPr>
            <p:nvPr/>
          </p:nvSpPr>
          <p:spPr bwMode="auto">
            <a:xfrm>
              <a:off x="306863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671" name="Rectangle 65"/>
            <p:cNvSpPr>
              <a:spLocks noChangeArrowheads="1"/>
            </p:cNvSpPr>
            <p:nvPr/>
          </p:nvSpPr>
          <p:spPr bwMode="auto">
            <a:xfrm>
              <a:off x="390048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672" name="Rectangle 68"/>
            <p:cNvSpPr>
              <a:spLocks noChangeArrowheads="1"/>
            </p:cNvSpPr>
            <p:nvPr/>
          </p:nvSpPr>
          <p:spPr bwMode="auto">
            <a:xfrm>
              <a:off x="4692650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673" name="Rectangle 71"/>
            <p:cNvSpPr>
              <a:spLocks noChangeArrowheads="1"/>
            </p:cNvSpPr>
            <p:nvPr/>
          </p:nvSpPr>
          <p:spPr bwMode="auto">
            <a:xfrm>
              <a:off x="5484813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674" name="Rectangle 74"/>
            <p:cNvSpPr>
              <a:spLocks noChangeArrowheads="1"/>
            </p:cNvSpPr>
            <p:nvPr/>
          </p:nvSpPr>
          <p:spPr bwMode="auto">
            <a:xfrm>
              <a:off x="6276975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675" name="Rectangle 77"/>
            <p:cNvSpPr>
              <a:spLocks noChangeArrowheads="1"/>
            </p:cNvSpPr>
            <p:nvPr/>
          </p:nvSpPr>
          <p:spPr bwMode="auto">
            <a:xfrm>
              <a:off x="706913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414" name="Group 413"/>
          <p:cNvGrpSpPr>
            <a:grpSpLocks/>
          </p:cNvGrpSpPr>
          <p:nvPr/>
        </p:nvGrpSpPr>
        <p:grpSpPr bwMode="auto">
          <a:xfrm>
            <a:off x="667843" y="3088522"/>
            <a:ext cx="5795962" cy="1979612"/>
            <a:chOff x="1979613" y="2421495"/>
            <a:chExt cx="5795962" cy="1979613"/>
          </a:xfrm>
        </p:grpSpPr>
        <p:sp>
          <p:nvSpPr>
            <p:cNvPr id="17604" name="Rectangle 89"/>
            <p:cNvSpPr>
              <a:spLocks noChangeArrowheads="1"/>
            </p:cNvSpPr>
            <p:nvPr/>
          </p:nvSpPr>
          <p:spPr bwMode="auto">
            <a:xfrm>
              <a:off x="1979613" y="2421495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05" name="Rectangle 91"/>
            <p:cNvSpPr>
              <a:spLocks noChangeArrowheads="1"/>
            </p:cNvSpPr>
            <p:nvPr/>
          </p:nvSpPr>
          <p:spPr bwMode="auto">
            <a:xfrm>
              <a:off x="2749550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06" name="Rectangle 92"/>
            <p:cNvSpPr>
              <a:spLocks noChangeArrowheads="1"/>
            </p:cNvSpPr>
            <p:nvPr/>
          </p:nvSpPr>
          <p:spPr bwMode="auto">
            <a:xfrm>
              <a:off x="2741613" y="3259695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07" name="Rectangle 94"/>
            <p:cNvSpPr>
              <a:spLocks noChangeArrowheads="1"/>
            </p:cNvSpPr>
            <p:nvPr/>
          </p:nvSpPr>
          <p:spPr bwMode="auto">
            <a:xfrm>
              <a:off x="3541713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08" name="Rectangle 95"/>
            <p:cNvSpPr>
              <a:spLocks noChangeArrowheads="1"/>
            </p:cNvSpPr>
            <p:nvPr/>
          </p:nvSpPr>
          <p:spPr bwMode="auto">
            <a:xfrm>
              <a:off x="3533775" y="32596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Marge</a:t>
              </a:r>
            </a:p>
          </p:txBody>
        </p:sp>
        <p:sp>
          <p:nvSpPr>
            <p:cNvPr id="17609" name="Rectangle 97"/>
            <p:cNvSpPr>
              <a:spLocks noChangeArrowheads="1"/>
            </p:cNvSpPr>
            <p:nvPr/>
          </p:nvSpPr>
          <p:spPr bwMode="auto">
            <a:xfrm>
              <a:off x="4333875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10" name="Rectangle 98"/>
            <p:cNvSpPr>
              <a:spLocks noChangeArrowheads="1"/>
            </p:cNvSpPr>
            <p:nvPr/>
          </p:nvSpPr>
          <p:spPr bwMode="auto">
            <a:xfrm>
              <a:off x="4325938" y="32596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611" name="Rectangle 100"/>
            <p:cNvSpPr>
              <a:spLocks noChangeArrowheads="1"/>
            </p:cNvSpPr>
            <p:nvPr/>
          </p:nvSpPr>
          <p:spPr bwMode="auto">
            <a:xfrm>
              <a:off x="5126038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12" name="Rectangle 101"/>
            <p:cNvSpPr>
              <a:spLocks noChangeArrowheads="1"/>
            </p:cNvSpPr>
            <p:nvPr/>
          </p:nvSpPr>
          <p:spPr bwMode="auto">
            <a:xfrm>
              <a:off x="5118100" y="32596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613" name="Rectangle 103"/>
            <p:cNvSpPr>
              <a:spLocks noChangeArrowheads="1"/>
            </p:cNvSpPr>
            <p:nvPr/>
          </p:nvSpPr>
          <p:spPr bwMode="auto">
            <a:xfrm>
              <a:off x="5918200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14" name="Rectangle 104"/>
            <p:cNvSpPr>
              <a:spLocks noChangeArrowheads="1"/>
            </p:cNvSpPr>
            <p:nvPr/>
          </p:nvSpPr>
          <p:spPr bwMode="auto">
            <a:xfrm>
              <a:off x="5910263" y="32596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615" name="Rectangle 106"/>
            <p:cNvSpPr>
              <a:spLocks noChangeArrowheads="1"/>
            </p:cNvSpPr>
            <p:nvPr/>
          </p:nvSpPr>
          <p:spPr bwMode="auto">
            <a:xfrm>
              <a:off x="6710363" y="3259695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16" name="Rectangle 107"/>
            <p:cNvSpPr>
              <a:spLocks noChangeArrowheads="1"/>
            </p:cNvSpPr>
            <p:nvPr/>
          </p:nvSpPr>
          <p:spPr bwMode="auto">
            <a:xfrm>
              <a:off x="6702425" y="3259695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617" name="Rectangle 108"/>
            <p:cNvSpPr>
              <a:spLocks noChangeArrowheads="1"/>
            </p:cNvSpPr>
            <p:nvPr/>
          </p:nvSpPr>
          <p:spPr bwMode="auto">
            <a:xfrm>
              <a:off x="2741613" y="38692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1</a:t>
              </a:r>
            </a:p>
          </p:txBody>
        </p:sp>
        <p:sp>
          <p:nvSpPr>
            <p:cNvPr id="17618" name="Rectangle 109"/>
            <p:cNvSpPr>
              <a:spLocks noChangeArrowheads="1"/>
            </p:cNvSpPr>
            <p:nvPr/>
          </p:nvSpPr>
          <p:spPr bwMode="auto">
            <a:xfrm>
              <a:off x="2055813" y="3869295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619" name="Rectangle 110"/>
            <p:cNvSpPr>
              <a:spLocks noChangeArrowheads="1"/>
            </p:cNvSpPr>
            <p:nvPr/>
          </p:nvSpPr>
          <p:spPr bwMode="auto">
            <a:xfrm>
              <a:off x="4341813" y="38692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620" name="Rectangle 111"/>
            <p:cNvSpPr>
              <a:spLocks noChangeArrowheads="1"/>
            </p:cNvSpPr>
            <p:nvPr/>
          </p:nvSpPr>
          <p:spPr bwMode="auto">
            <a:xfrm>
              <a:off x="3656013" y="3869295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621" name="Rectangle 112"/>
            <p:cNvSpPr>
              <a:spLocks noChangeArrowheads="1"/>
            </p:cNvSpPr>
            <p:nvPr/>
          </p:nvSpPr>
          <p:spPr bwMode="auto">
            <a:xfrm>
              <a:off x="2055813" y="3259695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622" name="Rectangle 113"/>
            <p:cNvSpPr>
              <a:spLocks noChangeArrowheads="1"/>
            </p:cNvSpPr>
            <p:nvPr/>
          </p:nvSpPr>
          <p:spPr bwMode="auto">
            <a:xfrm>
              <a:off x="6292850" y="3869295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7623" name="Rectangle 114"/>
            <p:cNvSpPr>
              <a:spLocks noChangeArrowheads="1"/>
            </p:cNvSpPr>
            <p:nvPr/>
          </p:nvSpPr>
          <p:spPr bwMode="auto">
            <a:xfrm>
              <a:off x="5454650" y="3869295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624" name="Rectangle 115"/>
            <p:cNvSpPr>
              <a:spLocks noChangeArrowheads="1"/>
            </p:cNvSpPr>
            <p:nvPr/>
          </p:nvSpPr>
          <p:spPr bwMode="auto">
            <a:xfrm>
              <a:off x="2054225" y="2497695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removing the front element:</a:t>
              </a:r>
            </a:p>
          </p:txBody>
        </p:sp>
        <p:sp>
          <p:nvSpPr>
            <p:cNvPr id="17625" name="Line 338"/>
            <p:cNvSpPr>
              <a:spLocks noChangeShapeType="1"/>
            </p:cNvSpPr>
            <p:nvPr/>
          </p:nvSpPr>
          <p:spPr bwMode="auto">
            <a:xfrm flipH="1">
              <a:off x="2747963" y="3104120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26" name="Line 339"/>
            <p:cNvSpPr>
              <a:spLocks noChangeShapeType="1"/>
            </p:cNvSpPr>
            <p:nvPr/>
          </p:nvSpPr>
          <p:spPr bwMode="auto">
            <a:xfrm>
              <a:off x="2555875" y="321207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27" name="Arc 340"/>
            <p:cNvSpPr>
              <a:spLocks/>
            </p:cNvSpPr>
            <p:nvPr/>
          </p:nvSpPr>
          <p:spPr bwMode="auto">
            <a:xfrm flipH="1">
              <a:off x="2555875" y="3104120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28" name="Arc 341"/>
            <p:cNvSpPr>
              <a:spLocks/>
            </p:cNvSpPr>
            <p:nvPr/>
          </p:nvSpPr>
          <p:spPr bwMode="auto">
            <a:xfrm flipH="1" flipV="1">
              <a:off x="2555875" y="3158095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29" name="Arc 342"/>
            <p:cNvSpPr>
              <a:spLocks/>
            </p:cNvSpPr>
            <p:nvPr/>
          </p:nvSpPr>
          <p:spPr bwMode="auto">
            <a:xfrm>
              <a:off x="7488238" y="3104120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30" name="Arc 343"/>
            <p:cNvSpPr>
              <a:spLocks/>
            </p:cNvSpPr>
            <p:nvPr/>
          </p:nvSpPr>
          <p:spPr bwMode="auto">
            <a:xfrm flipV="1">
              <a:off x="7488238" y="3175558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31" name="Arc 344"/>
            <p:cNvSpPr>
              <a:spLocks/>
            </p:cNvSpPr>
            <p:nvPr/>
          </p:nvSpPr>
          <p:spPr bwMode="auto">
            <a:xfrm flipH="1" flipV="1">
              <a:off x="2555875" y="3516870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32" name="Arc 345"/>
            <p:cNvSpPr>
              <a:spLocks/>
            </p:cNvSpPr>
            <p:nvPr/>
          </p:nvSpPr>
          <p:spPr bwMode="auto">
            <a:xfrm flipV="1">
              <a:off x="7488238" y="3516870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633" name="Line 346"/>
            <p:cNvSpPr>
              <a:spLocks noChangeShapeType="1"/>
            </p:cNvSpPr>
            <p:nvPr/>
          </p:nvSpPr>
          <p:spPr bwMode="auto">
            <a:xfrm>
              <a:off x="7669213" y="321207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34" name="Rectangle 90"/>
            <p:cNvSpPr>
              <a:spLocks noChangeArrowheads="1"/>
            </p:cNvSpPr>
            <p:nvPr/>
          </p:nvSpPr>
          <p:spPr bwMode="auto">
            <a:xfrm>
              <a:off x="3068638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635" name="Rectangle 93"/>
            <p:cNvSpPr>
              <a:spLocks noChangeArrowheads="1"/>
            </p:cNvSpPr>
            <p:nvPr/>
          </p:nvSpPr>
          <p:spPr bwMode="auto">
            <a:xfrm>
              <a:off x="3900488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636" name="Rectangle 96"/>
            <p:cNvSpPr>
              <a:spLocks noChangeArrowheads="1"/>
            </p:cNvSpPr>
            <p:nvPr/>
          </p:nvSpPr>
          <p:spPr bwMode="auto">
            <a:xfrm>
              <a:off x="4692650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637" name="Rectangle 99"/>
            <p:cNvSpPr>
              <a:spLocks noChangeArrowheads="1"/>
            </p:cNvSpPr>
            <p:nvPr/>
          </p:nvSpPr>
          <p:spPr bwMode="auto">
            <a:xfrm>
              <a:off x="5484813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638" name="Rectangle 102"/>
            <p:cNvSpPr>
              <a:spLocks noChangeArrowheads="1"/>
            </p:cNvSpPr>
            <p:nvPr/>
          </p:nvSpPr>
          <p:spPr bwMode="auto">
            <a:xfrm>
              <a:off x="6276975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639" name="Rectangle 105"/>
            <p:cNvSpPr>
              <a:spLocks noChangeArrowheads="1"/>
            </p:cNvSpPr>
            <p:nvPr/>
          </p:nvSpPr>
          <p:spPr bwMode="auto">
            <a:xfrm>
              <a:off x="7069138" y="2985058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451" name="Group 450"/>
          <p:cNvGrpSpPr>
            <a:grpSpLocks/>
          </p:cNvGrpSpPr>
          <p:nvPr/>
        </p:nvGrpSpPr>
        <p:grpSpPr bwMode="auto">
          <a:xfrm>
            <a:off x="667843" y="3088522"/>
            <a:ext cx="5795962" cy="1979612"/>
            <a:chOff x="1979613" y="2348880"/>
            <a:chExt cx="5795962" cy="1979613"/>
          </a:xfrm>
        </p:grpSpPr>
        <p:sp>
          <p:nvSpPr>
            <p:cNvPr id="17568" name="Rectangle 117"/>
            <p:cNvSpPr>
              <a:spLocks noChangeArrowheads="1"/>
            </p:cNvSpPr>
            <p:nvPr/>
          </p:nvSpPr>
          <p:spPr bwMode="auto">
            <a:xfrm>
              <a:off x="1979613" y="2348880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69" name="Rectangle 119"/>
            <p:cNvSpPr>
              <a:spLocks noChangeArrowheads="1"/>
            </p:cNvSpPr>
            <p:nvPr/>
          </p:nvSpPr>
          <p:spPr bwMode="auto">
            <a:xfrm>
              <a:off x="2749550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0" name="Rectangle 120"/>
            <p:cNvSpPr>
              <a:spLocks noChangeArrowheads="1"/>
            </p:cNvSpPr>
            <p:nvPr/>
          </p:nvSpPr>
          <p:spPr bwMode="auto">
            <a:xfrm>
              <a:off x="2741613" y="3187080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1" name="Rectangle 122"/>
            <p:cNvSpPr>
              <a:spLocks noChangeArrowheads="1"/>
            </p:cNvSpPr>
            <p:nvPr/>
          </p:nvSpPr>
          <p:spPr bwMode="auto">
            <a:xfrm>
              <a:off x="3541713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2" name="Rectangle 123"/>
            <p:cNvSpPr>
              <a:spLocks noChangeArrowheads="1"/>
            </p:cNvSpPr>
            <p:nvPr/>
          </p:nvSpPr>
          <p:spPr bwMode="auto">
            <a:xfrm>
              <a:off x="3533775" y="3187080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3" name="Rectangle 125"/>
            <p:cNvSpPr>
              <a:spLocks noChangeArrowheads="1"/>
            </p:cNvSpPr>
            <p:nvPr/>
          </p:nvSpPr>
          <p:spPr bwMode="auto">
            <a:xfrm>
              <a:off x="4333875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4" name="Rectangle 126"/>
            <p:cNvSpPr>
              <a:spLocks noChangeArrowheads="1"/>
            </p:cNvSpPr>
            <p:nvPr/>
          </p:nvSpPr>
          <p:spPr bwMode="auto">
            <a:xfrm>
              <a:off x="4325938" y="31870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575" name="Rectangle 128"/>
            <p:cNvSpPr>
              <a:spLocks noChangeArrowheads="1"/>
            </p:cNvSpPr>
            <p:nvPr/>
          </p:nvSpPr>
          <p:spPr bwMode="auto">
            <a:xfrm>
              <a:off x="5126038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6" name="Rectangle 129"/>
            <p:cNvSpPr>
              <a:spLocks noChangeArrowheads="1"/>
            </p:cNvSpPr>
            <p:nvPr/>
          </p:nvSpPr>
          <p:spPr bwMode="auto">
            <a:xfrm>
              <a:off x="5118100" y="31870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577" name="Rectangle 131"/>
            <p:cNvSpPr>
              <a:spLocks noChangeArrowheads="1"/>
            </p:cNvSpPr>
            <p:nvPr/>
          </p:nvSpPr>
          <p:spPr bwMode="auto">
            <a:xfrm>
              <a:off x="5918200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78" name="Rectangle 132"/>
            <p:cNvSpPr>
              <a:spLocks noChangeArrowheads="1"/>
            </p:cNvSpPr>
            <p:nvPr/>
          </p:nvSpPr>
          <p:spPr bwMode="auto">
            <a:xfrm>
              <a:off x="5910263" y="31870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579" name="Rectangle 134"/>
            <p:cNvSpPr>
              <a:spLocks noChangeArrowheads="1"/>
            </p:cNvSpPr>
            <p:nvPr/>
          </p:nvSpPr>
          <p:spPr bwMode="auto">
            <a:xfrm>
              <a:off x="6710363" y="3187080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80" name="Rectangle 135"/>
            <p:cNvSpPr>
              <a:spLocks noChangeArrowheads="1"/>
            </p:cNvSpPr>
            <p:nvPr/>
          </p:nvSpPr>
          <p:spPr bwMode="auto">
            <a:xfrm>
              <a:off x="6702425" y="3187080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81" name="Rectangle 136"/>
            <p:cNvSpPr>
              <a:spLocks noChangeArrowheads="1"/>
            </p:cNvSpPr>
            <p:nvPr/>
          </p:nvSpPr>
          <p:spPr bwMode="auto">
            <a:xfrm>
              <a:off x="2741613" y="37966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582" name="Rectangle 137"/>
            <p:cNvSpPr>
              <a:spLocks noChangeArrowheads="1"/>
            </p:cNvSpPr>
            <p:nvPr/>
          </p:nvSpPr>
          <p:spPr bwMode="auto">
            <a:xfrm>
              <a:off x="2055813" y="3796680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583" name="Rectangle 138"/>
            <p:cNvSpPr>
              <a:spLocks noChangeArrowheads="1"/>
            </p:cNvSpPr>
            <p:nvPr/>
          </p:nvSpPr>
          <p:spPr bwMode="auto">
            <a:xfrm>
              <a:off x="4341813" y="37966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584" name="Rectangle 139"/>
            <p:cNvSpPr>
              <a:spLocks noChangeArrowheads="1"/>
            </p:cNvSpPr>
            <p:nvPr/>
          </p:nvSpPr>
          <p:spPr bwMode="auto">
            <a:xfrm>
              <a:off x="3656013" y="3796680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585" name="Rectangle 140"/>
            <p:cNvSpPr>
              <a:spLocks noChangeArrowheads="1"/>
            </p:cNvSpPr>
            <p:nvPr/>
          </p:nvSpPr>
          <p:spPr bwMode="auto">
            <a:xfrm>
              <a:off x="2055813" y="3187080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586" name="Rectangle 141"/>
            <p:cNvSpPr>
              <a:spLocks noChangeArrowheads="1"/>
            </p:cNvSpPr>
            <p:nvPr/>
          </p:nvSpPr>
          <p:spPr bwMode="auto">
            <a:xfrm>
              <a:off x="6292850" y="3796680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3</a:t>
              </a:r>
            </a:p>
          </p:txBody>
        </p:sp>
        <p:sp>
          <p:nvSpPr>
            <p:cNvPr id="17587" name="Rectangle 142"/>
            <p:cNvSpPr>
              <a:spLocks noChangeArrowheads="1"/>
            </p:cNvSpPr>
            <p:nvPr/>
          </p:nvSpPr>
          <p:spPr bwMode="auto">
            <a:xfrm>
              <a:off x="5454650" y="3796680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588" name="Rectangle 143"/>
            <p:cNvSpPr>
              <a:spLocks noChangeArrowheads="1"/>
            </p:cNvSpPr>
            <p:nvPr/>
          </p:nvSpPr>
          <p:spPr bwMode="auto">
            <a:xfrm>
              <a:off x="2054225" y="2425080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removing the front element:</a:t>
              </a:r>
            </a:p>
          </p:txBody>
        </p:sp>
        <p:sp>
          <p:nvSpPr>
            <p:cNvPr id="17589" name="Line 327"/>
            <p:cNvSpPr>
              <a:spLocks noChangeShapeType="1"/>
            </p:cNvSpPr>
            <p:nvPr/>
          </p:nvSpPr>
          <p:spPr bwMode="auto">
            <a:xfrm flipH="1">
              <a:off x="2747963" y="3031505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90" name="Line 328"/>
            <p:cNvSpPr>
              <a:spLocks noChangeShapeType="1"/>
            </p:cNvSpPr>
            <p:nvPr/>
          </p:nvSpPr>
          <p:spPr bwMode="auto">
            <a:xfrm>
              <a:off x="2555875" y="3139455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91" name="Arc 329"/>
            <p:cNvSpPr>
              <a:spLocks/>
            </p:cNvSpPr>
            <p:nvPr/>
          </p:nvSpPr>
          <p:spPr bwMode="auto">
            <a:xfrm flipH="1">
              <a:off x="2555875" y="3031505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2" name="Arc 330"/>
            <p:cNvSpPr>
              <a:spLocks/>
            </p:cNvSpPr>
            <p:nvPr/>
          </p:nvSpPr>
          <p:spPr bwMode="auto">
            <a:xfrm flipH="1" flipV="1">
              <a:off x="2555875" y="3085480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3" name="Arc 331"/>
            <p:cNvSpPr>
              <a:spLocks/>
            </p:cNvSpPr>
            <p:nvPr/>
          </p:nvSpPr>
          <p:spPr bwMode="auto">
            <a:xfrm>
              <a:off x="7488238" y="3031505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4" name="Arc 332"/>
            <p:cNvSpPr>
              <a:spLocks/>
            </p:cNvSpPr>
            <p:nvPr/>
          </p:nvSpPr>
          <p:spPr bwMode="auto">
            <a:xfrm flipV="1">
              <a:off x="7488238" y="3102943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5" name="Arc 333"/>
            <p:cNvSpPr>
              <a:spLocks/>
            </p:cNvSpPr>
            <p:nvPr/>
          </p:nvSpPr>
          <p:spPr bwMode="auto">
            <a:xfrm flipH="1" flipV="1">
              <a:off x="2555875" y="3444255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6" name="Arc 334"/>
            <p:cNvSpPr>
              <a:spLocks/>
            </p:cNvSpPr>
            <p:nvPr/>
          </p:nvSpPr>
          <p:spPr bwMode="auto">
            <a:xfrm flipV="1">
              <a:off x="7488238" y="3444255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97" name="Line 335"/>
            <p:cNvSpPr>
              <a:spLocks noChangeShapeType="1"/>
            </p:cNvSpPr>
            <p:nvPr/>
          </p:nvSpPr>
          <p:spPr bwMode="auto">
            <a:xfrm>
              <a:off x="7669213" y="3139455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98" name="Rectangle 118"/>
            <p:cNvSpPr>
              <a:spLocks noChangeArrowheads="1"/>
            </p:cNvSpPr>
            <p:nvPr/>
          </p:nvSpPr>
          <p:spPr bwMode="auto">
            <a:xfrm>
              <a:off x="3068638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599" name="Rectangle 121"/>
            <p:cNvSpPr>
              <a:spLocks noChangeArrowheads="1"/>
            </p:cNvSpPr>
            <p:nvPr/>
          </p:nvSpPr>
          <p:spPr bwMode="auto">
            <a:xfrm>
              <a:off x="3900488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600" name="Rectangle 124"/>
            <p:cNvSpPr>
              <a:spLocks noChangeArrowheads="1"/>
            </p:cNvSpPr>
            <p:nvPr/>
          </p:nvSpPr>
          <p:spPr bwMode="auto">
            <a:xfrm>
              <a:off x="4692650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601" name="Rectangle 127"/>
            <p:cNvSpPr>
              <a:spLocks noChangeArrowheads="1"/>
            </p:cNvSpPr>
            <p:nvPr/>
          </p:nvSpPr>
          <p:spPr bwMode="auto">
            <a:xfrm>
              <a:off x="5484813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602" name="Rectangle 130"/>
            <p:cNvSpPr>
              <a:spLocks noChangeArrowheads="1"/>
            </p:cNvSpPr>
            <p:nvPr/>
          </p:nvSpPr>
          <p:spPr bwMode="auto">
            <a:xfrm>
              <a:off x="6276975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603" name="Rectangle 133"/>
            <p:cNvSpPr>
              <a:spLocks noChangeArrowheads="1"/>
            </p:cNvSpPr>
            <p:nvPr/>
          </p:nvSpPr>
          <p:spPr bwMode="auto">
            <a:xfrm>
              <a:off x="7069138" y="2912443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488" name="Group 487"/>
          <p:cNvGrpSpPr>
            <a:grpSpLocks/>
          </p:cNvGrpSpPr>
          <p:nvPr/>
        </p:nvGrpSpPr>
        <p:grpSpPr bwMode="auto">
          <a:xfrm>
            <a:off x="667843" y="3088522"/>
            <a:ext cx="5795962" cy="1979612"/>
            <a:chOff x="1979613" y="2313483"/>
            <a:chExt cx="5795962" cy="1979613"/>
          </a:xfrm>
        </p:grpSpPr>
        <p:sp>
          <p:nvSpPr>
            <p:cNvPr id="17532" name="Rectangle 145"/>
            <p:cNvSpPr>
              <a:spLocks noChangeArrowheads="1"/>
            </p:cNvSpPr>
            <p:nvPr/>
          </p:nvSpPr>
          <p:spPr bwMode="auto">
            <a:xfrm>
              <a:off x="1979613" y="2313483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3" name="Rectangle 147"/>
            <p:cNvSpPr>
              <a:spLocks noChangeArrowheads="1"/>
            </p:cNvSpPr>
            <p:nvPr/>
          </p:nvSpPr>
          <p:spPr bwMode="auto">
            <a:xfrm>
              <a:off x="2749550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4" name="Rectangle 148"/>
            <p:cNvSpPr>
              <a:spLocks noChangeArrowheads="1"/>
            </p:cNvSpPr>
            <p:nvPr/>
          </p:nvSpPr>
          <p:spPr bwMode="auto">
            <a:xfrm>
              <a:off x="2741613" y="3151683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5" name="Rectangle 150"/>
            <p:cNvSpPr>
              <a:spLocks noChangeArrowheads="1"/>
            </p:cNvSpPr>
            <p:nvPr/>
          </p:nvSpPr>
          <p:spPr bwMode="auto">
            <a:xfrm>
              <a:off x="3541713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6" name="Rectangle 151"/>
            <p:cNvSpPr>
              <a:spLocks noChangeArrowheads="1"/>
            </p:cNvSpPr>
            <p:nvPr/>
          </p:nvSpPr>
          <p:spPr bwMode="auto">
            <a:xfrm>
              <a:off x="3533775" y="3151683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7" name="Rectangle 153"/>
            <p:cNvSpPr>
              <a:spLocks noChangeArrowheads="1"/>
            </p:cNvSpPr>
            <p:nvPr/>
          </p:nvSpPr>
          <p:spPr bwMode="auto">
            <a:xfrm>
              <a:off x="4333875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38" name="Rectangle 154"/>
            <p:cNvSpPr>
              <a:spLocks noChangeArrowheads="1"/>
            </p:cNvSpPr>
            <p:nvPr/>
          </p:nvSpPr>
          <p:spPr bwMode="auto">
            <a:xfrm>
              <a:off x="4325938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539" name="Rectangle 156"/>
            <p:cNvSpPr>
              <a:spLocks noChangeArrowheads="1"/>
            </p:cNvSpPr>
            <p:nvPr/>
          </p:nvSpPr>
          <p:spPr bwMode="auto">
            <a:xfrm>
              <a:off x="5126038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40" name="Rectangle 157"/>
            <p:cNvSpPr>
              <a:spLocks noChangeArrowheads="1"/>
            </p:cNvSpPr>
            <p:nvPr/>
          </p:nvSpPr>
          <p:spPr bwMode="auto">
            <a:xfrm>
              <a:off x="5118100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541" name="Rectangle 159"/>
            <p:cNvSpPr>
              <a:spLocks noChangeArrowheads="1"/>
            </p:cNvSpPr>
            <p:nvPr/>
          </p:nvSpPr>
          <p:spPr bwMode="auto">
            <a:xfrm>
              <a:off x="5918200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42" name="Rectangle 160"/>
            <p:cNvSpPr>
              <a:spLocks noChangeArrowheads="1"/>
            </p:cNvSpPr>
            <p:nvPr/>
          </p:nvSpPr>
          <p:spPr bwMode="auto">
            <a:xfrm>
              <a:off x="5910263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543" name="Rectangle 162"/>
            <p:cNvSpPr>
              <a:spLocks noChangeArrowheads="1"/>
            </p:cNvSpPr>
            <p:nvPr/>
          </p:nvSpPr>
          <p:spPr bwMode="auto">
            <a:xfrm>
              <a:off x="6710363" y="3151683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44" name="Rectangle 163"/>
            <p:cNvSpPr>
              <a:spLocks noChangeArrowheads="1"/>
            </p:cNvSpPr>
            <p:nvPr/>
          </p:nvSpPr>
          <p:spPr bwMode="auto">
            <a:xfrm>
              <a:off x="6702425" y="31516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Ralph</a:t>
              </a:r>
            </a:p>
          </p:txBody>
        </p:sp>
        <p:sp>
          <p:nvSpPr>
            <p:cNvPr id="17545" name="Rectangle 164"/>
            <p:cNvSpPr>
              <a:spLocks noChangeArrowheads="1"/>
            </p:cNvSpPr>
            <p:nvPr/>
          </p:nvSpPr>
          <p:spPr bwMode="auto">
            <a:xfrm>
              <a:off x="2741613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546" name="Rectangle 165"/>
            <p:cNvSpPr>
              <a:spLocks noChangeArrowheads="1"/>
            </p:cNvSpPr>
            <p:nvPr/>
          </p:nvSpPr>
          <p:spPr bwMode="auto">
            <a:xfrm>
              <a:off x="2055813" y="37612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547" name="Rectangle 166"/>
            <p:cNvSpPr>
              <a:spLocks noChangeArrowheads="1"/>
            </p:cNvSpPr>
            <p:nvPr/>
          </p:nvSpPr>
          <p:spPr bwMode="auto">
            <a:xfrm>
              <a:off x="4341813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  <p:sp>
          <p:nvSpPr>
            <p:cNvPr id="17548" name="Rectangle 167"/>
            <p:cNvSpPr>
              <a:spLocks noChangeArrowheads="1"/>
            </p:cNvSpPr>
            <p:nvPr/>
          </p:nvSpPr>
          <p:spPr bwMode="auto">
            <a:xfrm>
              <a:off x="3656013" y="37612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549" name="Rectangle 168"/>
            <p:cNvSpPr>
              <a:spLocks noChangeArrowheads="1"/>
            </p:cNvSpPr>
            <p:nvPr/>
          </p:nvSpPr>
          <p:spPr bwMode="auto">
            <a:xfrm>
              <a:off x="2055813" y="3151683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550" name="Rectangle 169"/>
            <p:cNvSpPr>
              <a:spLocks noChangeArrowheads="1"/>
            </p:cNvSpPr>
            <p:nvPr/>
          </p:nvSpPr>
          <p:spPr bwMode="auto">
            <a:xfrm>
              <a:off x="6292850" y="3761283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  <p:sp>
          <p:nvSpPr>
            <p:cNvPr id="17551" name="Rectangle 170"/>
            <p:cNvSpPr>
              <a:spLocks noChangeArrowheads="1"/>
            </p:cNvSpPr>
            <p:nvPr/>
          </p:nvSpPr>
          <p:spPr bwMode="auto">
            <a:xfrm>
              <a:off x="5454650" y="3761283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552" name="Rectangle 171"/>
            <p:cNvSpPr>
              <a:spLocks noChangeArrowheads="1"/>
            </p:cNvSpPr>
            <p:nvPr/>
          </p:nvSpPr>
          <p:spPr bwMode="auto">
            <a:xfrm>
              <a:off x="2054225" y="2389683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Ralph:</a:t>
              </a:r>
            </a:p>
          </p:txBody>
        </p:sp>
        <p:sp>
          <p:nvSpPr>
            <p:cNvPr id="17553" name="Line 316"/>
            <p:cNvSpPr>
              <a:spLocks noChangeShapeType="1"/>
            </p:cNvSpPr>
            <p:nvPr/>
          </p:nvSpPr>
          <p:spPr bwMode="auto">
            <a:xfrm flipH="1">
              <a:off x="2747963" y="2997696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54" name="Line 317"/>
            <p:cNvSpPr>
              <a:spLocks noChangeShapeType="1"/>
            </p:cNvSpPr>
            <p:nvPr/>
          </p:nvSpPr>
          <p:spPr bwMode="auto">
            <a:xfrm>
              <a:off x="2555875" y="3105646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55" name="Arc 318"/>
            <p:cNvSpPr>
              <a:spLocks/>
            </p:cNvSpPr>
            <p:nvPr/>
          </p:nvSpPr>
          <p:spPr bwMode="auto">
            <a:xfrm flipH="1">
              <a:off x="2555875" y="299769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56" name="Arc 319"/>
            <p:cNvSpPr>
              <a:spLocks/>
            </p:cNvSpPr>
            <p:nvPr/>
          </p:nvSpPr>
          <p:spPr bwMode="auto">
            <a:xfrm flipH="1" flipV="1">
              <a:off x="2555875" y="3051671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57" name="Arc 320"/>
            <p:cNvSpPr>
              <a:spLocks/>
            </p:cNvSpPr>
            <p:nvPr/>
          </p:nvSpPr>
          <p:spPr bwMode="auto">
            <a:xfrm>
              <a:off x="7488238" y="299769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58" name="Arc 321"/>
            <p:cNvSpPr>
              <a:spLocks/>
            </p:cNvSpPr>
            <p:nvPr/>
          </p:nvSpPr>
          <p:spPr bwMode="auto">
            <a:xfrm flipV="1">
              <a:off x="7488238" y="3069133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59" name="Arc 322"/>
            <p:cNvSpPr>
              <a:spLocks/>
            </p:cNvSpPr>
            <p:nvPr/>
          </p:nvSpPr>
          <p:spPr bwMode="auto">
            <a:xfrm flipH="1" flipV="1">
              <a:off x="2555875" y="341044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60" name="Arc 323"/>
            <p:cNvSpPr>
              <a:spLocks/>
            </p:cNvSpPr>
            <p:nvPr/>
          </p:nvSpPr>
          <p:spPr bwMode="auto">
            <a:xfrm flipV="1">
              <a:off x="7488238" y="3410446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61" name="Line 324"/>
            <p:cNvSpPr>
              <a:spLocks noChangeShapeType="1"/>
            </p:cNvSpPr>
            <p:nvPr/>
          </p:nvSpPr>
          <p:spPr bwMode="auto">
            <a:xfrm>
              <a:off x="7669213" y="3105646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62" name="Rectangle 146"/>
            <p:cNvSpPr>
              <a:spLocks noChangeArrowheads="1"/>
            </p:cNvSpPr>
            <p:nvPr/>
          </p:nvSpPr>
          <p:spPr bwMode="auto">
            <a:xfrm>
              <a:off x="306863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563" name="Rectangle 149"/>
            <p:cNvSpPr>
              <a:spLocks noChangeArrowheads="1"/>
            </p:cNvSpPr>
            <p:nvPr/>
          </p:nvSpPr>
          <p:spPr bwMode="auto">
            <a:xfrm>
              <a:off x="390048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564" name="Rectangle 152"/>
            <p:cNvSpPr>
              <a:spLocks noChangeArrowheads="1"/>
            </p:cNvSpPr>
            <p:nvPr/>
          </p:nvSpPr>
          <p:spPr bwMode="auto">
            <a:xfrm>
              <a:off x="4692650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565" name="Rectangle 155"/>
            <p:cNvSpPr>
              <a:spLocks noChangeArrowheads="1"/>
            </p:cNvSpPr>
            <p:nvPr/>
          </p:nvSpPr>
          <p:spPr bwMode="auto">
            <a:xfrm>
              <a:off x="5484813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566" name="Rectangle 158"/>
            <p:cNvSpPr>
              <a:spLocks noChangeArrowheads="1"/>
            </p:cNvSpPr>
            <p:nvPr/>
          </p:nvSpPr>
          <p:spPr bwMode="auto">
            <a:xfrm>
              <a:off x="6276975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567" name="Rectangle 161"/>
            <p:cNvSpPr>
              <a:spLocks noChangeArrowheads="1"/>
            </p:cNvSpPr>
            <p:nvPr/>
          </p:nvSpPr>
          <p:spPr bwMode="auto">
            <a:xfrm>
              <a:off x="7069138" y="2877046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525" name="Group 524"/>
          <p:cNvGrpSpPr>
            <a:grpSpLocks/>
          </p:cNvGrpSpPr>
          <p:nvPr/>
        </p:nvGrpSpPr>
        <p:grpSpPr bwMode="auto">
          <a:xfrm>
            <a:off x="667843" y="3090109"/>
            <a:ext cx="5795962" cy="1978025"/>
            <a:chOff x="1979613" y="2315071"/>
            <a:chExt cx="5795962" cy="1978025"/>
          </a:xfrm>
        </p:grpSpPr>
        <p:sp>
          <p:nvSpPr>
            <p:cNvPr id="17496" name="Rectangle 173"/>
            <p:cNvSpPr>
              <a:spLocks noChangeArrowheads="1"/>
            </p:cNvSpPr>
            <p:nvPr/>
          </p:nvSpPr>
          <p:spPr bwMode="auto">
            <a:xfrm>
              <a:off x="1979613" y="2315071"/>
              <a:ext cx="5795962" cy="19780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97" name="Rectangle 175"/>
            <p:cNvSpPr>
              <a:spLocks noChangeArrowheads="1"/>
            </p:cNvSpPr>
            <p:nvPr/>
          </p:nvSpPr>
          <p:spPr bwMode="auto">
            <a:xfrm>
              <a:off x="2749550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98" name="Rectangle 176"/>
            <p:cNvSpPr>
              <a:spLocks noChangeArrowheads="1"/>
            </p:cNvSpPr>
            <p:nvPr/>
          </p:nvSpPr>
          <p:spPr bwMode="auto">
            <a:xfrm>
              <a:off x="2741613" y="31532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Nelson</a:t>
              </a:r>
            </a:p>
          </p:txBody>
        </p:sp>
        <p:sp>
          <p:nvSpPr>
            <p:cNvPr id="17499" name="Rectangle 178"/>
            <p:cNvSpPr>
              <a:spLocks noChangeArrowheads="1"/>
            </p:cNvSpPr>
            <p:nvPr/>
          </p:nvSpPr>
          <p:spPr bwMode="auto">
            <a:xfrm>
              <a:off x="3541713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0" name="Rectangle 179"/>
            <p:cNvSpPr>
              <a:spLocks noChangeArrowheads="1"/>
            </p:cNvSpPr>
            <p:nvPr/>
          </p:nvSpPr>
          <p:spPr bwMode="auto">
            <a:xfrm>
              <a:off x="3533775" y="3153271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1" name="Rectangle 181"/>
            <p:cNvSpPr>
              <a:spLocks noChangeArrowheads="1"/>
            </p:cNvSpPr>
            <p:nvPr/>
          </p:nvSpPr>
          <p:spPr bwMode="auto">
            <a:xfrm>
              <a:off x="4333875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2" name="Rectangle 182"/>
            <p:cNvSpPr>
              <a:spLocks noChangeArrowheads="1"/>
            </p:cNvSpPr>
            <p:nvPr/>
          </p:nvSpPr>
          <p:spPr bwMode="auto">
            <a:xfrm>
              <a:off x="4325938" y="31532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503" name="Rectangle 184"/>
            <p:cNvSpPr>
              <a:spLocks noChangeArrowheads="1"/>
            </p:cNvSpPr>
            <p:nvPr/>
          </p:nvSpPr>
          <p:spPr bwMode="auto">
            <a:xfrm>
              <a:off x="5126038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4" name="Rectangle 185"/>
            <p:cNvSpPr>
              <a:spLocks noChangeArrowheads="1"/>
            </p:cNvSpPr>
            <p:nvPr/>
          </p:nvSpPr>
          <p:spPr bwMode="auto">
            <a:xfrm>
              <a:off x="5118100" y="31532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505" name="Rectangle 187"/>
            <p:cNvSpPr>
              <a:spLocks noChangeArrowheads="1"/>
            </p:cNvSpPr>
            <p:nvPr/>
          </p:nvSpPr>
          <p:spPr bwMode="auto">
            <a:xfrm>
              <a:off x="5918200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6" name="Rectangle 188"/>
            <p:cNvSpPr>
              <a:spLocks noChangeArrowheads="1"/>
            </p:cNvSpPr>
            <p:nvPr/>
          </p:nvSpPr>
          <p:spPr bwMode="auto">
            <a:xfrm>
              <a:off x="5910263" y="31532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507" name="Rectangle 190"/>
            <p:cNvSpPr>
              <a:spLocks noChangeArrowheads="1"/>
            </p:cNvSpPr>
            <p:nvPr/>
          </p:nvSpPr>
          <p:spPr bwMode="auto">
            <a:xfrm>
              <a:off x="6710363" y="3153271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508" name="Rectangle 191"/>
            <p:cNvSpPr>
              <a:spLocks noChangeArrowheads="1"/>
            </p:cNvSpPr>
            <p:nvPr/>
          </p:nvSpPr>
          <p:spPr bwMode="auto">
            <a:xfrm>
              <a:off x="6702425" y="31532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Ralph</a:t>
              </a:r>
            </a:p>
          </p:txBody>
        </p:sp>
        <p:sp>
          <p:nvSpPr>
            <p:cNvPr id="17509" name="Rectangle 192"/>
            <p:cNvSpPr>
              <a:spLocks noChangeArrowheads="1"/>
            </p:cNvSpPr>
            <p:nvPr/>
          </p:nvSpPr>
          <p:spPr bwMode="auto">
            <a:xfrm>
              <a:off x="2741613" y="37628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510" name="Rectangle 193"/>
            <p:cNvSpPr>
              <a:spLocks noChangeArrowheads="1"/>
            </p:cNvSpPr>
            <p:nvPr/>
          </p:nvSpPr>
          <p:spPr bwMode="auto">
            <a:xfrm>
              <a:off x="2055813" y="376287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511" name="Rectangle 194"/>
            <p:cNvSpPr>
              <a:spLocks noChangeArrowheads="1"/>
            </p:cNvSpPr>
            <p:nvPr/>
          </p:nvSpPr>
          <p:spPr bwMode="auto">
            <a:xfrm>
              <a:off x="4341813" y="37628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1</a:t>
              </a:r>
            </a:p>
          </p:txBody>
        </p:sp>
        <p:sp>
          <p:nvSpPr>
            <p:cNvPr id="17512" name="Rectangle 195"/>
            <p:cNvSpPr>
              <a:spLocks noChangeArrowheads="1"/>
            </p:cNvSpPr>
            <p:nvPr/>
          </p:nvSpPr>
          <p:spPr bwMode="auto">
            <a:xfrm>
              <a:off x="3656013" y="376287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513" name="Rectangle 196"/>
            <p:cNvSpPr>
              <a:spLocks noChangeArrowheads="1"/>
            </p:cNvSpPr>
            <p:nvPr/>
          </p:nvSpPr>
          <p:spPr bwMode="auto">
            <a:xfrm>
              <a:off x="2055813" y="315327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514" name="Rectangle 197"/>
            <p:cNvSpPr>
              <a:spLocks noChangeArrowheads="1"/>
            </p:cNvSpPr>
            <p:nvPr/>
          </p:nvSpPr>
          <p:spPr bwMode="auto">
            <a:xfrm>
              <a:off x="6292850" y="3762871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515" name="Rectangle 198"/>
            <p:cNvSpPr>
              <a:spLocks noChangeArrowheads="1"/>
            </p:cNvSpPr>
            <p:nvPr/>
          </p:nvSpPr>
          <p:spPr bwMode="auto">
            <a:xfrm>
              <a:off x="5454650" y="3762871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516" name="Rectangle 199"/>
            <p:cNvSpPr>
              <a:spLocks noChangeArrowheads="1"/>
            </p:cNvSpPr>
            <p:nvPr/>
          </p:nvSpPr>
          <p:spPr bwMode="auto">
            <a:xfrm>
              <a:off x="2054225" y="2391271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Nelson:</a:t>
              </a:r>
            </a:p>
          </p:txBody>
        </p:sp>
        <p:sp>
          <p:nvSpPr>
            <p:cNvPr id="17517" name="Line 305"/>
            <p:cNvSpPr>
              <a:spLocks noChangeShapeType="1"/>
            </p:cNvSpPr>
            <p:nvPr/>
          </p:nvSpPr>
          <p:spPr bwMode="auto">
            <a:xfrm flipH="1">
              <a:off x="2747963" y="2999284"/>
              <a:ext cx="47402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18" name="Line 306"/>
            <p:cNvSpPr>
              <a:spLocks noChangeShapeType="1"/>
            </p:cNvSpPr>
            <p:nvPr/>
          </p:nvSpPr>
          <p:spPr bwMode="auto">
            <a:xfrm>
              <a:off x="2555875" y="3107234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19" name="Arc 307"/>
            <p:cNvSpPr>
              <a:spLocks/>
            </p:cNvSpPr>
            <p:nvPr/>
          </p:nvSpPr>
          <p:spPr bwMode="auto">
            <a:xfrm flipH="1">
              <a:off x="2555875" y="299928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0" name="Arc 308"/>
            <p:cNvSpPr>
              <a:spLocks/>
            </p:cNvSpPr>
            <p:nvPr/>
          </p:nvSpPr>
          <p:spPr bwMode="auto">
            <a:xfrm flipH="1" flipV="1">
              <a:off x="2555875" y="3053259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1" name="Arc 309"/>
            <p:cNvSpPr>
              <a:spLocks/>
            </p:cNvSpPr>
            <p:nvPr/>
          </p:nvSpPr>
          <p:spPr bwMode="auto">
            <a:xfrm>
              <a:off x="7488238" y="299928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2" name="Arc 310"/>
            <p:cNvSpPr>
              <a:spLocks/>
            </p:cNvSpPr>
            <p:nvPr/>
          </p:nvSpPr>
          <p:spPr bwMode="auto">
            <a:xfrm flipV="1">
              <a:off x="7488238" y="3070721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3" name="Arc 311"/>
            <p:cNvSpPr>
              <a:spLocks/>
            </p:cNvSpPr>
            <p:nvPr/>
          </p:nvSpPr>
          <p:spPr bwMode="auto">
            <a:xfrm flipH="1" flipV="1">
              <a:off x="2555875" y="341203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4" name="Arc 312"/>
            <p:cNvSpPr>
              <a:spLocks/>
            </p:cNvSpPr>
            <p:nvPr/>
          </p:nvSpPr>
          <p:spPr bwMode="auto">
            <a:xfrm flipV="1">
              <a:off x="7488238" y="3412034"/>
              <a:ext cx="179387" cy="904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525" name="Line 313"/>
            <p:cNvSpPr>
              <a:spLocks noChangeShapeType="1"/>
            </p:cNvSpPr>
            <p:nvPr/>
          </p:nvSpPr>
          <p:spPr bwMode="auto">
            <a:xfrm>
              <a:off x="7669213" y="3107234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26" name="Rectangle 174"/>
            <p:cNvSpPr>
              <a:spLocks noChangeArrowheads="1"/>
            </p:cNvSpPr>
            <p:nvPr/>
          </p:nvSpPr>
          <p:spPr bwMode="auto">
            <a:xfrm>
              <a:off x="3068638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527" name="Rectangle 177"/>
            <p:cNvSpPr>
              <a:spLocks noChangeArrowheads="1"/>
            </p:cNvSpPr>
            <p:nvPr/>
          </p:nvSpPr>
          <p:spPr bwMode="auto">
            <a:xfrm>
              <a:off x="3900488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528" name="Rectangle 180"/>
            <p:cNvSpPr>
              <a:spLocks noChangeArrowheads="1"/>
            </p:cNvSpPr>
            <p:nvPr/>
          </p:nvSpPr>
          <p:spPr bwMode="auto">
            <a:xfrm>
              <a:off x="4692650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529" name="Rectangle 183"/>
            <p:cNvSpPr>
              <a:spLocks noChangeArrowheads="1"/>
            </p:cNvSpPr>
            <p:nvPr/>
          </p:nvSpPr>
          <p:spPr bwMode="auto">
            <a:xfrm>
              <a:off x="5484813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530" name="Rectangle 186"/>
            <p:cNvSpPr>
              <a:spLocks noChangeArrowheads="1"/>
            </p:cNvSpPr>
            <p:nvPr/>
          </p:nvSpPr>
          <p:spPr bwMode="auto">
            <a:xfrm>
              <a:off x="6276975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531" name="Rectangle 189"/>
            <p:cNvSpPr>
              <a:spLocks noChangeArrowheads="1"/>
            </p:cNvSpPr>
            <p:nvPr/>
          </p:nvSpPr>
          <p:spPr bwMode="auto">
            <a:xfrm>
              <a:off x="7069138" y="2878634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  <p:grpSp>
        <p:nvGrpSpPr>
          <p:cNvPr id="562" name="Group 561"/>
          <p:cNvGrpSpPr>
            <a:grpSpLocks/>
          </p:cNvGrpSpPr>
          <p:nvPr/>
        </p:nvGrpSpPr>
        <p:grpSpPr bwMode="auto">
          <a:xfrm>
            <a:off x="667843" y="3086934"/>
            <a:ext cx="5795962" cy="1979613"/>
            <a:chOff x="1979613" y="2456892"/>
            <a:chExt cx="5795962" cy="1979613"/>
          </a:xfrm>
        </p:grpSpPr>
        <p:sp>
          <p:nvSpPr>
            <p:cNvPr id="17458" name="Rectangle 201"/>
            <p:cNvSpPr>
              <a:spLocks noChangeArrowheads="1"/>
            </p:cNvSpPr>
            <p:nvPr/>
          </p:nvSpPr>
          <p:spPr bwMode="auto">
            <a:xfrm>
              <a:off x="1979613" y="2456892"/>
              <a:ext cx="5795962" cy="1979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59" name="Rectangle 203"/>
            <p:cNvSpPr>
              <a:spLocks noChangeArrowheads="1"/>
            </p:cNvSpPr>
            <p:nvPr/>
          </p:nvSpPr>
          <p:spPr bwMode="auto">
            <a:xfrm>
              <a:off x="2749550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60" name="Rectangle 204"/>
            <p:cNvSpPr>
              <a:spLocks noChangeArrowheads="1"/>
            </p:cNvSpPr>
            <p:nvPr/>
          </p:nvSpPr>
          <p:spPr bwMode="auto">
            <a:xfrm>
              <a:off x="2741613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Nelson</a:t>
              </a:r>
            </a:p>
          </p:txBody>
        </p:sp>
        <p:sp>
          <p:nvSpPr>
            <p:cNvPr id="17461" name="Rectangle 206"/>
            <p:cNvSpPr>
              <a:spLocks noChangeArrowheads="1"/>
            </p:cNvSpPr>
            <p:nvPr/>
          </p:nvSpPr>
          <p:spPr bwMode="auto">
            <a:xfrm>
              <a:off x="3541713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62" name="Rectangle 207"/>
            <p:cNvSpPr>
              <a:spLocks noChangeArrowheads="1"/>
            </p:cNvSpPr>
            <p:nvPr/>
          </p:nvSpPr>
          <p:spPr bwMode="auto">
            <a:xfrm>
              <a:off x="3533775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Martin</a:t>
              </a:r>
            </a:p>
          </p:txBody>
        </p:sp>
        <p:sp>
          <p:nvSpPr>
            <p:cNvPr id="17463" name="Rectangle 209"/>
            <p:cNvSpPr>
              <a:spLocks noChangeArrowheads="1"/>
            </p:cNvSpPr>
            <p:nvPr/>
          </p:nvSpPr>
          <p:spPr bwMode="auto">
            <a:xfrm>
              <a:off x="4333875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64" name="Rectangle 210"/>
            <p:cNvSpPr>
              <a:spLocks noChangeArrowheads="1"/>
            </p:cNvSpPr>
            <p:nvPr/>
          </p:nvSpPr>
          <p:spPr bwMode="auto">
            <a:xfrm>
              <a:off x="4325938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Maggie</a:t>
              </a:r>
            </a:p>
          </p:txBody>
        </p:sp>
        <p:sp>
          <p:nvSpPr>
            <p:cNvPr id="17465" name="Rectangle 212"/>
            <p:cNvSpPr>
              <a:spLocks noChangeArrowheads="1"/>
            </p:cNvSpPr>
            <p:nvPr/>
          </p:nvSpPr>
          <p:spPr bwMode="auto">
            <a:xfrm>
              <a:off x="5126038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66" name="Rectangle 213"/>
            <p:cNvSpPr>
              <a:spLocks noChangeArrowheads="1"/>
            </p:cNvSpPr>
            <p:nvPr/>
          </p:nvSpPr>
          <p:spPr bwMode="auto">
            <a:xfrm>
              <a:off x="5118100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467" name="Rectangle 215"/>
            <p:cNvSpPr>
              <a:spLocks noChangeArrowheads="1"/>
            </p:cNvSpPr>
            <p:nvPr/>
          </p:nvSpPr>
          <p:spPr bwMode="auto">
            <a:xfrm>
              <a:off x="5918200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68" name="Rectangle 216"/>
            <p:cNvSpPr>
              <a:spLocks noChangeArrowheads="1"/>
            </p:cNvSpPr>
            <p:nvPr/>
          </p:nvSpPr>
          <p:spPr bwMode="auto">
            <a:xfrm>
              <a:off x="5910263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469" name="Rectangle 218"/>
            <p:cNvSpPr>
              <a:spLocks noChangeArrowheads="1"/>
            </p:cNvSpPr>
            <p:nvPr/>
          </p:nvSpPr>
          <p:spPr bwMode="auto">
            <a:xfrm>
              <a:off x="6710363" y="3295699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70" name="Rectangle 219"/>
            <p:cNvSpPr>
              <a:spLocks noChangeArrowheads="1"/>
            </p:cNvSpPr>
            <p:nvPr/>
          </p:nvSpPr>
          <p:spPr bwMode="auto">
            <a:xfrm>
              <a:off x="6702425" y="32956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Ralph</a:t>
              </a:r>
            </a:p>
          </p:txBody>
        </p:sp>
        <p:sp>
          <p:nvSpPr>
            <p:cNvPr id="17471" name="Rectangle 220"/>
            <p:cNvSpPr>
              <a:spLocks noChangeArrowheads="1"/>
            </p:cNvSpPr>
            <p:nvPr/>
          </p:nvSpPr>
          <p:spPr bwMode="auto">
            <a:xfrm>
              <a:off x="2741613" y="39052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472" name="Rectangle 221"/>
            <p:cNvSpPr>
              <a:spLocks noChangeArrowheads="1"/>
            </p:cNvSpPr>
            <p:nvPr/>
          </p:nvSpPr>
          <p:spPr bwMode="auto">
            <a:xfrm>
              <a:off x="2055813" y="3905299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473" name="Rectangle 222"/>
            <p:cNvSpPr>
              <a:spLocks noChangeArrowheads="1"/>
            </p:cNvSpPr>
            <p:nvPr/>
          </p:nvSpPr>
          <p:spPr bwMode="auto">
            <a:xfrm>
              <a:off x="4341813" y="39052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474" name="Rectangle 223"/>
            <p:cNvSpPr>
              <a:spLocks noChangeArrowheads="1"/>
            </p:cNvSpPr>
            <p:nvPr/>
          </p:nvSpPr>
          <p:spPr bwMode="auto">
            <a:xfrm>
              <a:off x="3656013" y="3905299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475" name="Rectangle 224"/>
            <p:cNvSpPr>
              <a:spLocks noChangeArrowheads="1"/>
            </p:cNvSpPr>
            <p:nvPr/>
          </p:nvSpPr>
          <p:spPr bwMode="auto">
            <a:xfrm>
              <a:off x="2055813" y="3295699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elems</a:t>
              </a:r>
              <a:endParaRPr lang="en-US" altLang="en-US" sz="1800"/>
            </a:p>
          </p:txBody>
        </p:sp>
        <p:sp>
          <p:nvSpPr>
            <p:cNvPr id="17476" name="Rectangle 225"/>
            <p:cNvSpPr>
              <a:spLocks noChangeArrowheads="1"/>
            </p:cNvSpPr>
            <p:nvPr/>
          </p:nvSpPr>
          <p:spPr bwMode="auto">
            <a:xfrm>
              <a:off x="6292850" y="3905299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6</a:t>
              </a:r>
            </a:p>
          </p:txBody>
        </p:sp>
        <p:sp>
          <p:nvSpPr>
            <p:cNvPr id="17477" name="Rectangle 226"/>
            <p:cNvSpPr>
              <a:spLocks noChangeArrowheads="1"/>
            </p:cNvSpPr>
            <p:nvPr/>
          </p:nvSpPr>
          <p:spPr bwMode="auto">
            <a:xfrm>
              <a:off x="5454650" y="3905299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478" name="Rectangle 227"/>
            <p:cNvSpPr>
              <a:spLocks noChangeArrowheads="1"/>
            </p:cNvSpPr>
            <p:nvPr/>
          </p:nvSpPr>
          <p:spPr bwMode="auto">
            <a:xfrm>
              <a:off x="2054225" y="2533699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adding Martin:</a:t>
              </a:r>
            </a:p>
          </p:txBody>
        </p:sp>
        <p:grpSp>
          <p:nvGrpSpPr>
            <p:cNvPr id="17479" name="Group 293"/>
            <p:cNvGrpSpPr>
              <a:grpSpLocks/>
            </p:cNvGrpSpPr>
            <p:nvPr/>
          </p:nvGrpSpPr>
          <p:grpSpPr bwMode="auto">
            <a:xfrm>
              <a:off x="2555875" y="3140124"/>
              <a:ext cx="5113337" cy="503238"/>
              <a:chOff x="1610" y="2999"/>
              <a:chExt cx="3221" cy="317"/>
            </a:xfrm>
          </p:grpSpPr>
          <p:sp>
            <p:nvSpPr>
              <p:cNvPr id="17487" name="Line 294"/>
              <p:cNvSpPr>
                <a:spLocks noChangeShapeType="1"/>
              </p:cNvSpPr>
              <p:nvPr/>
            </p:nvSpPr>
            <p:spPr bwMode="auto">
              <a:xfrm flipH="1">
                <a:off x="1731" y="2999"/>
                <a:ext cx="29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88" name="Line 295"/>
              <p:cNvSpPr>
                <a:spLocks noChangeShapeType="1"/>
              </p:cNvSpPr>
              <p:nvPr/>
            </p:nvSpPr>
            <p:spPr bwMode="auto">
              <a:xfrm>
                <a:off x="1610" y="3067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89" name="Arc 296"/>
              <p:cNvSpPr>
                <a:spLocks/>
              </p:cNvSpPr>
              <p:nvPr/>
            </p:nvSpPr>
            <p:spPr bwMode="auto">
              <a:xfrm flipH="1">
                <a:off x="1610" y="299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0" name="Arc 297"/>
              <p:cNvSpPr>
                <a:spLocks/>
              </p:cNvSpPr>
              <p:nvPr/>
            </p:nvSpPr>
            <p:spPr bwMode="auto">
              <a:xfrm flipH="1" flipV="1">
                <a:off x="1610" y="3033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1" name="Arc 298"/>
              <p:cNvSpPr>
                <a:spLocks/>
              </p:cNvSpPr>
              <p:nvPr/>
            </p:nvSpPr>
            <p:spPr bwMode="auto">
              <a:xfrm>
                <a:off x="4717" y="299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2" name="Arc 299"/>
              <p:cNvSpPr>
                <a:spLocks/>
              </p:cNvSpPr>
              <p:nvPr/>
            </p:nvSpPr>
            <p:spPr bwMode="auto">
              <a:xfrm flipV="1">
                <a:off x="4717" y="3044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3" name="Arc 300"/>
              <p:cNvSpPr>
                <a:spLocks/>
              </p:cNvSpPr>
              <p:nvPr/>
            </p:nvSpPr>
            <p:spPr bwMode="auto">
              <a:xfrm flipH="1" flipV="1">
                <a:off x="1610" y="325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4" name="Arc 301"/>
              <p:cNvSpPr>
                <a:spLocks/>
              </p:cNvSpPr>
              <p:nvPr/>
            </p:nvSpPr>
            <p:spPr bwMode="auto">
              <a:xfrm flipV="1">
                <a:off x="4717" y="325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95" name="Line 302"/>
              <p:cNvSpPr>
                <a:spLocks noChangeShapeType="1"/>
              </p:cNvSpPr>
              <p:nvPr/>
            </p:nvSpPr>
            <p:spPr bwMode="auto">
              <a:xfrm>
                <a:off x="4831" y="3067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7480" name="Group 584"/>
            <p:cNvGrpSpPr>
              <a:grpSpLocks/>
            </p:cNvGrpSpPr>
            <p:nvPr/>
          </p:nvGrpSpPr>
          <p:grpSpPr bwMode="auto">
            <a:xfrm>
              <a:off x="3068638" y="3021062"/>
              <a:ext cx="4127500" cy="274638"/>
              <a:chOff x="3068638" y="3021062"/>
              <a:chExt cx="4127500" cy="274638"/>
            </a:xfrm>
          </p:grpSpPr>
          <p:sp>
            <p:nvSpPr>
              <p:cNvPr id="17481" name="Rectangle 202"/>
              <p:cNvSpPr>
                <a:spLocks noChangeArrowheads="1"/>
              </p:cNvSpPr>
              <p:nvPr/>
            </p:nvSpPr>
            <p:spPr bwMode="auto">
              <a:xfrm>
                <a:off x="3068638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17482" name="Rectangle 205"/>
              <p:cNvSpPr>
                <a:spLocks noChangeArrowheads="1"/>
              </p:cNvSpPr>
              <p:nvPr/>
            </p:nvSpPr>
            <p:spPr bwMode="auto">
              <a:xfrm>
                <a:off x="3900488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7483" name="Rectangle 208"/>
              <p:cNvSpPr>
                <a:spLocks noChangeArrowheads="1"/>
              </p:cNvSpPr>
              <p:nvPr/>
            </p:nvSpPr>
            <p:spPr bwMode="auto">
              <a:xfrm>
                <a:off x="4692650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17484" name="Rectangle 211"/>
              <p:cNvSpPr>
                <a:spLocks noChangeArrowheads="1"/>
              </p:cNvSpPr>
              <p:nvPr/>
            </p:nvSpPr>
            <p:spPr bwMode="auto">
              <a:xfrm>
                <a:off x="5484813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17485" name="Rectangle 214"/>
              <p:cNvSpPr>
                <a:spLocks noChangeArrowheads="1"/>
              </p:cNvSpPr>
              <p:nvPr/>
            </p:nvSpPr>
            <p:spPr bwMode="auto">
              <a:xfrm>
                <a:off x="6276975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4</a:t>
                </a:r>
              </a:p>
            </p:txBody>
          </p:sp>
          <p:sp>
            <p:nvSpPr>
              <p:cNvPr id="17486" name="Rectangle 217"/>
              <p:cNvSpPr>
                <a:spLocks noChangeArrowheads="1"/>
              </p:cNvSpPr>
              <p:nvPr/>
            </p:nvSpPr>
            <p:spPr bwMode="auto">
              <a:xfrm>
                <a:off x="7069138" y="3021062"/>
                <a:ext cx="127000" cy="2746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50000"/>
                  </a:spcBef>
                  <a:buClr>
                    <a:schemeClr val="bg2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spcBef>
                    <a:spcPct val="50000"/>
                  </a:spcBef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6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en-US" sz="1800">
                    <a:solidFill>
                      <a:srgbClr val="000000"/>
                    </a:solidFill>
                  </a:rPr>
                  <a:t>5</a:t>
                </a:r>
                <a:endParaRPr lang="en-US" altLang="en-US" sz="1800"/>
              </a:p>
            </p:txBody>
          </p:sp>
        </p:grpSp>
      </p:grpSp>
      <p:grpSp>
        <p:nvGrpSpPr>
          <p:cNvPr id="601" name="Group 600"/>
          <p:cNvGrpSpPr>
            <a:grpSpLocks/>
          </p:cNvGrpSpPr>
          <p:nvPr/>
        </p:nvGrpSpPr>
        <p:grpSpPr bwMode="auto">
          <a:xfrm>
            <a:off x="615455" y="3086934"/>
            <a:ext cx="5848350" cy="1981200"/>
            <a:chOff x="1927225" y="2239888"/>
            <a:chExt cx="5848350" cy="1981200"/>
          </a:xfrm>
        </p:grpSpPr>
        <p:sp>
          <p:nvSpPr>
            <p:cNvPr id="17421" name="Rectangle 229"/>
            <p:cNvSpPr>
              <a:spLocks noChangeArrowheads="1"/>
            </p:cNvSpPr>
            <p:nvPr/>
          </p:nvSpPr>
          <p:spPr bwMode="auto">
            <a:xfrm>
              <a:off x="1979613" y="2239888"/>
              <a:ext cx="5795962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2" name="Rectangle 231"/>
            <p:cNvSpPr>
              <a:spLocks noChangeArrowheads="1"/>
            </p:cNvSpPr>
            <p:nvPr/>
          </p:nvSpPr>
          <p:spPr bwMode="auto">
            <a:xfrm>
              <a:off x="2749550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3" name="Rectangle 232"/>
            <p:cNvSpPr>
              <a:spLocks noChangeArrowheads="1"/>
            </p:cNvSpPr>
            <p:nvPr/>
          </p:nvSpPr>
          <p:spPr bwMode="auto">
            <a:xfrm>
              <a:off x="2741613" y="30780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Nelson</a:t>
              </a:r>
            </a:p>
          </p:txBody>
        </p:sp>
        <p:sp>
          <p:nvSpPr>
            <p:cNvPr id="17424" name="Rectangle 234"/>
            <p:cNvSpPr>
              <a:spLocks noChangeArrowheads="1"/>
            </p:cNvSpPr>
            <p:nvPr/>
          </p:nvSpPr>
          <p:spPr bwMode="auto">
            <a:xfrm>
              <a:off x="3541713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5" name="Rectangle 235"/>
            <p:cNvSpPr>
              <a:spLocks noChangeArrowheads="1"/>
            </p:cNvSpPr>
            <p:nvPr/>
          </p:nvSpPr>
          <p:spPr bwMode="auto">
            <a:xfrm>
              <a:off x="3533775" y="30780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Martin</a:t>
              </a:r>
            </a:p>
          </p:txBody>
        </p:sp>
        <p:sp>
          <p:nvSpPr>
            <p:cNvPr id="17426" name="Rectangle 237"/>
            <p:cNvSpPr>
              <a:spLocks noChangeArrowheads="1"/>
            </p:cNvSpPr>
            <p:nvPr/>
          </p:nvSpPr>
          <p:spPr bwMode="auto">
            <a:xfrm>
              <a:off x="4333875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7" name="Rectangle 238"/>
            <p:cNvSpPr>
              <a:spLocks noChangeArrowheads="1"/>
            </p:cNvSpPr>
            <p:nvPr/>
          </p:nvSpPr>
          <p:spPr bwMode="auto">
            <a:xfrm>
              <a:off x="4325938" y="3078088"/>
              <a:ext cx="792162" cy="3603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8" name="Rectangle 240"/>
            <p:cNvSpPr>
              <a:spLocks noChangeArrowheads="1"/>
            </p:cNvSpPr>
            <p:nvPr/>
          </p:nvSpPr>
          <p:spPr bwMode="auto">
            <a:xfrm>
              <a:off x="5126038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29" name="Rectangle 241"/>
            <p:cNvSpPr>
              <a:spLocks noChangeArrowheads="1"/>
            </p:cNvSpPr>
            <p:nvPr/>
          </p:nvSpPr>
          <p:spPr bwMode="auto">
            <a:xfrm>
              <a:off x="5118100" y="30780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/>
                <a:t>Lisa</a:t>
              </a:r>
            </a:p>
          </p:txBody>
        </p:sp>
        <p:sp>
          <p:nvSpPr>
            <p:cNvPr id="17430" name="Rectangle 243"/>
            <p:cNvSpPr>
              <a:spLocks noChangeArrowheads="1"/>
            </p:cNvSpPr>
            <p:nvPr/>
          </p:nvSpPr>
          <p:spPr bwMode="auto">
            <a:xfrm>
              <a:off x="5918200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31" name="Rectangle 244"/>
            <p:cNvSpPr>
              <a:spLocks noChangeArrowheads="1"/>
            </p:cNvSpPr>
            <p:nvPr/>
          </p:nvSpPr>
          <p:spPr bwMode="auto">
            <a:xfrm>
              <a:off x="5910263" y="30780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Bart</a:t>
              </a:r>
            </a:p>
          </p:txBody>
        </p:sp>
        <p:sp>
          <p:nvSpPr>
            <p:cNvPr id="17432" name="Rectangle 246"/>
            <p:cNvSpPr>
              <a:spLocks noChangeArrowheads="1"/>
            </p:cNvSpPr>
            <p:nvPr/>
          </p:nvSpPr>
          <p:spPr bwMode="auto">
            <a:xfrm>
              <a:off x="6710363" y="3078088"/>
              <a:ext cx="327025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7433" name="Rectangle 247"/>
            <p:cNvSpPr>
              <a:spLocks noChangeArrowheads="1"/>
            </p:cNvSpPr>
            <p:nvPr/>
          </p:nvSpPr>
          <p:spPr bwMode="auto">
            <a:xfrm>
              <a:off x="6702425" y="30780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Ralph</a:t>
              </a:r>
            </a:p>
          </p:txBody>
        </p:sp>
        <p:sp>
          <p:nvSpPr>
            <p:cNvPr id="17434" name="Rectangle 248"/>
            <p:cNvSpPr>
              <a:spLocks noChangeArrowheads="1"/>
            </p:cNvSpPr>
            <p:nvPr/>
          </p:nvSpPr>
          <p:spPr bwMode="auto">
            <a:xfrm>
              <a:off x="2741613" y="36876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3</a:t>
              </a:r>
            </a:p>
          </p:txBody>
        </p:sp>
        <p:sp>
          <p:nvSpPr>
            <p:cNvPr id="17435" name="Rectangle 249"/>
            <p:cNvSpPr>
              <a:spLocks noChangeArrowheads="1"/>
            </p:cNvSpPr>
            <p:nvPr/>
          </p:nvSpPr>
          <p:spPr bwMode="auto">
            <a:xfrm>
              <a:off x="2055813" y="3687688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front</a:t>
              </a:r>
              <a:endParaRPr lang="en-US" altLang="en-US" sz="1800"/>
            </a:p>
          </p:txBody>
        </p:sp>
        <p:sp>
          <p:nvSpPr>
            <p:cNvPr id="17436" name="Rectangle 250"/>
            <p:cNvSpPr>
              <a:spLocks noChangeArrowheads="1"/>
            </p:cNvSpPr>
            <p:nvPr/>
          </p:nvSpPr>
          <p:spPr bwMode="auto">
            <a:xfrm>
              <a:off x="4341813" y="36876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2</a:t>
              </a:r>
            </a:p>
          </p:txBody>
        </p:sp>
        <p:sp>
          <p:nvSpPr>
            <p:cNvPr id="17437" name="Rectangle 251"/>
            <p:cNvSpPr>
              <a:spLocks noChangeArrowheads="1"/>
            </p:cNvSpPr>
            <p:nvPr/>
          </p:nvSpPr>
          <p:spPr bwMode="auto">
            <a:xfrm>
              <a:off x="3656013" y="3687688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rear</a:t>
              </a:r>
              <a:endParaRPr lang="en-US" altLang="en-US" sz="1800"/>
            </a:p>
          </p:txBody>
        </p:sp>
        <p:sp>
          <p:nvSpPr>
            <p:cNvPr id="17438" name="Rectangle 252"/>
            <p:cNvSpPr>
              <a:spLocks noChangeArrowheads="1"/>
            </p:cNvSpPr>
            <p:nvPr/>
          </p:nvSpPr>
          <p:spPr bwMode="auto">
            <a:xfrm>
              <a:off x="1927225" y="3089201"/>
              <a:ext cx="6223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 dirty="0" err="1">
                  <a:solidFill>
                    <a:srgbClr val="000000"/>
                  </a:solidFill>
                </a:rPr>
                <a:t>elems</a:t>
              </a:r>
              <a:endParaRPr lang="en-US" altLang="en-US" sz="1800" dirty="0"/>
            </a:p>
          </p:txBody>
        </p:sp>
        <p:sp>
          <p:nvSpPr>
            <p:cNvPr id="17439" name="Rectangle 253"/>
            <p:cNvSpPr>
              <a:spLocks noChangeArrowheads="1"/>
            </p:cNvSpPr>
            <p:nvPr/>
          </p:nvSpPr>
          <p:spPr bwMode="auto">
            <a:xfrm>
              <a:off x="6292850" y="3687688"/>
              <a:ext cx="792162" cy="36036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1800"/>
                <a:t>5</a:t>
              </a:r>
            </a:p>
          </p:txBody>
        </p:sp>
        <p:sp>
          <p:nvSpPr>
            <p:cNvPr id="17440" name="Rectangle 254"/>
            <p:cNvSpPr>
              <a:spLocks noChangeArrowheads="1"/>
            </p:cNvSpPr>
            <p:nvPr/>
          </p:nvSpPr>
          <p:spPr bwMode="auto">
            <a:xfrm>
              <a:off x="5454650" y="3687688"/>
              <a:ext cx="774700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i="1">
                  <a:solidFill>
                    <a:srgbClr val="000000"/>
                  </a:solidFill>
                </a:rPr>
                <a:t>size</a:t>
              </a:r>
              <a:endParaRPr lang="en-US" altLang="en-US" sz="1800"/>
            </a:p>
          </p:txBody>
        </p:sp>
        <p:sp>
          <p:nvSpPr>
            <p:cNvPr id="17441" name="Rectangle 255"/>
            <p:cNvSpPr>
              <a:spLocks noChangeArrowheads="1"/>
            </p:cNvSpPr>
            <p:nvPr/>
          </p:nvSpPr>
          <p:spPr bwMode="auto">
            <a:xfrm>
              <a:off x="2054225" y="2316088"/>
              <a:ext cx="5484812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After removing the front element:</a:t>
              </a:r>
            </a:p>
          </p:txBody>
        </p:sp>
        <p:grpSp>
          <p:nvGrpSpPr>
            <p:cNvPr id="17442" name="Group 280"/>
            <p:cNvGrpSpPr>
              <a:grpSpLocks/>
            </p:cNvGrpSpPr>
            <p:nvPr/>
          </p:nvGrpSpPr>
          <p:grpSpPr bwMode="auto">
            <a:xfrm>
              <a:off x="2555875" y="2924101"/>
              <a:ext cx="5113337" cy="503238"/>
              <a:chOff x="1610" y="2999"/>
              <a:chExt cx="3221" cy="317"/>
            </a:xfrm>
          </p:grpSpPr>
          <p:sp>
            <p:nvSpPr>
              <p:cNvPr id="17449" name="Line 271"/>
              <p:cNvSpPr>
                <a:spLocks noChangeShapeType="1"/>
              </p:cNvSpPr>
              <p:nvPr/>
            </p:nvSpPr>
            <p:spPr bwMode="auto">
              <a:xfrm flipH="1">
                <a:off x="1731" y="2999"/>
                <a:ext cx="298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50" name="Line 272"/>
              <p:cNvSpPr>
                <a:spLocks noChangeShapeType="1"/>
              </p:cNvSpPr>
              <p:nvPr/>
            </p:nvSpPr>
            <p:spPr bwMode="auto">
              <a:xfrm>
                <a:off x="1610" y="3067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451" name="Arc 273"/>
              <p:cNvSpPr>
                <a:spLocks/>
              </p:cNvSpPr>
              <p:nvPr/>
            </p:nvSpPr>
            <p:spPr bwMode="auto">
              <a:xfrm flipH="1">
                <a:off x="1610" y="299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2" name="Arc 274"/>
              <p:cNvSpPr>
                <a:spLocks/>
              </p:cNvSpPr>
              <p:nvPr/>
            </p:nvSpPr>
            <p:spPr bwMode="auto">
              <a:xfrm flipH="1" flipV="1">
                <a:off x="1610" y="3033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3" name="Arc 275"/>
              <p:cNvSpPr>
                <a:spLocks/>
              </p:cNvSpPr>
              <p:nvPr/>
            </p:nvSpPr>
            <p:spPr bwMode="auto">
              <a:xfrm>
                <a:off x="4717" y="299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4" name="Arc 276"/>
              <p:cNvSpPr>
                <a:spLocks/>
              </p:cNvSpPr>
              <p:nvPr/>
            </p:nvSpPr>
            <p:spPr bwMode="auto">
              <a:xfrm flipV="1">
                <a:off x="4717" y="3044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5" name="Arc 277"/>
              <p:cNvSpPr>
                <a:spLocks/>
              </p:cNvSpPr>
              <p:nvPr/>
            </p:nvSpPr>
            <p:spPr bwMode="auto">
              <a:xfrm flipH="1" flipV="1">
                <a:off x="1610" y="325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6" name="Arc 278"/>
              <p:cNvSpPr>
                <a:spLocks/>
              </p:cNvSpPr>
              <p:nvPr/>
            </p:nvSpPr>
            <p:spPr bwMode="auto">
              <a:xfrm flipV="1">
                <a:off x="4717" y="3259"/>
                <a:ext cx="113" cy="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17457" name="Line 279"/>
              <p:cNvSpPr>
                <a:spLocks noChangeShapeType="1"/>
              </p:cNvSpPr>
              <p:nvPr/>
            </p:nvSpPr>
            <p:spPr bwMode="auto">
              <a:xfrm>
                <a:off x="4831" y="3067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7443" name="Rectangle 230"/>
            <p:cNvSpPr>
              <a:spLocks noChangeArrowheads="1"/>
            </p:cNvSpPr>
            <p:nvPr/>
          </p:nvSpPr>
          <p:spPr bwMode="auto">
            <a:xfrm>
              <a:off x="3068638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0</a:t>
              </a:r>
              <a:endParaRPr lang="en-US" altLang="en-US" sz="1800"/>
            </a:p>
          </p:txBody>
        </p:sp>
        <p:sp>
          <p:nvSpPr>
            <p:cNvPr id="17444" name="Rectangle 233"/>
            <p:cNvSpPr>
              <a:spLocks noChangeArrowheads="1"/>
            </p:cNvSpPr>
            <p:nvPr/>
          </p:nvSpPr>
          <p:spPr bwMode="auto">
            <a:xfrm>
              <a:off x="3900488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7445" name="Rectangle 236"/>
            <p:cNvSpPr>
              <a:spLocks noChangeArrowheads="1"/>
            </p:cNvSpPr>
            <p:nvPr/>
          </p:nvSpPr>
          <p:spPr bwMode="auto">
            <a:xfrm>
              <a:off x="4692650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2</a:t>
              </a:r>
              <a:endParaRPr lang="en-US" altLang="en-US" sz="1800"/>
            </a:p>
          </p:txBody>
        </p:sp>
        <p:sp>
          <p:nvSpPr>
            <p:cNvPr id="17446" name="Rectangle 239"/>
            <p:cNvSpPr>
              <a:spLocks noChangeArrowheads="1"/>
            </p:cNvSpPr>
            <p:nvPr/>
          </p:nvSpPr>
          <p:spPr bwMode="auto">
            <a:xfrm>
              <a:off x="5484813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3</a:t>
              </a:r>
              <a:endParaRPr lang="en-US" altLang="en-US" sz="1800"/>
            </a:p>
          </p:txBody>
        </p:sp>
        <p:sp>
          <p:nvSpPr>
            <p:cNvPr id="17447" name="Rectangle 242"/>
            <p:cNvSpPr>
              <a:spLocks noChangeArrowheads="1"/>
            </p:cNvSpPr>
            <p:nvPr/>
          </p:nvSpPr>
          <p:spPr bwMode="auto">
            <a:xfrm>
              <a:off x="6276975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17448" name="Rectangle 245"/>
            <p:cNvSpPr>
              <a:spLocks noChangeArrowheads="1"/>
            </p:cNvSpPr>
            <p:nvPr/>
          </p:nvSpPr>
          <p:spPr bwMode="auto">
            <a:xfrm>
              <a:off x="7069138" y="2803451"/>
              <a:ext cx="127000" cy="274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</a:rPr>
                <a:t>5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2449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cyclic </a:t>
            </a:r>
            <a:br>
              <a:rPr lang="en-US" altLang="en-US" sz="3200" dirty="0"/>
            </a:br>
            <a:r>
              <a:rPr lang="en-US" altLang="en-US" sz="3200" dirty="0"/>
              <a:t>arrays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ArrayQueue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Queue&lt;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size, front, rear;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Constructor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ArrayQueue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cap)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[])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Object[cap];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front = rear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167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cyclic arrays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 err="1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getFirst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[front];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68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259763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</a:t>
            </a:r>
            <a:r>
              <a:rPr lang="en-US" altLang="en-US" sz="3200"/>
              <a:t>cyclic </a:t>
            </a:r>
            <a:br>
              <a:rPr lang="en-US" altLang="en-US" sz="3200"/>
            </a:br>
            <a:r>
              <a:rPr lang="en-US" altLang="en-US" sz="3200"/>
              <a:t>arrays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front = rear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elems.length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[rear++] = it;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(rear ==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elems.length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rear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size++;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spcBef>
                <a:spcPts val="900"/>
              </a:spcBef>
              <a:buClr>
                <a:schemeClr val="tx1"/>
              </a:buClr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1800" dirty="0">
              <a:latin typeface="Times New Roman" pitchFamily="18" charset="0"/>
            </a:endParaRPr>
          </a:p>
        </p:txBody>
      </p:sp>
      <p:sp>
        <p:nvSpPr>
          <p:cNvPr id="430104" name="AutoShape 24"/>
          <p:cNvSpPr>
            <a:spLocks/>
          </p:cNvSpPr>
          <p:nvPr/>
        </p:nvSpPr>
        <p:spPr bwMode="auto">
          <a:xfrm>
            <a:off x="8412163" y="4760913"/>
            <a:ext cx="373062" cy="203200"/>
          </a:xfrm>
          <a:prstGeom prst="callout1">
            <a:avLst>
              <a:gd name="adj1" fmla="val 56250"/>
              <a:gd name="adj2" fmla="val -20426"/>
              <a:gd name="adj3" fmla="val 51565"/>
              <a:gd name="adj4" fmla="val -80134"/>
            </a:avLst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bg2"/>
                </a:solidFill>
              </a:rPr>
              <a:t>NB</a:t>
            </a:r>
          </a:p>
        </p:txBody>
      </p:sp>
    </p:spTree>
    <p:extLst>
      <p:ext uri="{BB962C8B-B14F-4D97-AF65-F5344CB8AC3E}">
        <p14:creationId xmlns:p14="http://schemas.microsoft.com/office/powerpoint/2010/main" val="335221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4635" y="228600"/>
            <a:ext cx="8390227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cyclic arrays </a:t>
            </a:r>
            <a:r>
              <a:rPr lang="en-US" altLang="en-US" sz="3200" i="1" dirty="0"/>
              <a:t>(6)</a:t>
            </a:r>
            <a:endParaRPr lang="en-GB" altLang="en-US" sz="3200" i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removeFirst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(size == 0)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[front];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[front++]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r>
              <a:rPr lang="en-GB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(front ==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elems.length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front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size--;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Analysis: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All operations have time complexity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(1).</a:t>
            </a:r>
            <a:endParaRPr lang="en-US" altLang="en-US" sz="1600" dirty="0">
              <a:latin typeface="Times New Roman" pitchFamily="18" charset="0"/>
            </a:endParaRPr>
          </a:p>
        </p:txBody>
      </p:sp>
      <p:sp>
        <p:nvSpPr>
          <p:cNvPr id="431108" name="AutoShape 4"/>
          <p:cNvSpPr>
            <a:spLocks/>
          </p:cNvSpPr>
          <p:nvPr/>
        </p:nvSpPr>
        <p:spPr bwMode="auto">
          <a:xfrm>
            <a:off x="8424863" y="3838575"/>
            <a:ext cx="373062" cy="203200"/>
          </a:xfrm>
          <a:prstGeom prst="callout1">
            <a:avLst>
              <a:gd name="adj1" fmla="val 56250"/>
              <a:gd name="adj2" fmla="val -20426"/>
              <a:gd name="adj3" fmla="val -22037"/>
              <a:gd name="adj4" fmla="val -71542"/>
            </a:avLst>
          </a:prstGeom>
          <a:noFill/>
          <a:ln w="9525">
            <a:solidFill>
              <a:schemeClr val="bg2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spcBef>
                <a:spcPct val="50000"/>
              </a:spcBef>
              <a:buClr>
                <a:schemeClr val="bg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bg2"/>
                </a:solidFill>
              </a:rPr>
              <a:t>NB</a:t>
            </a:r>
          </a:p>
        </p:txBody>
      </p:sp>
    </p:spTree>
    <p:extLst>
      <p:ext uri="{BB962C8B-B14F-4D97-AF65-F5344CB8AC3E}">
        <p14:creationId xmlns:p14="http://schemas.microsoft.com/office/powerpoint/2010/main" val="181338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620000" cy="11430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cs typeface="Times New Roman" pitchFamily="18" charset="0"/>
              </a:rPr>
              <a:t>Represent an (unbounded) queue by: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an SLL, whose header contains links to the first node (</a:t>
            </a:r>
            <a:r>
              <a:rPr lang="en-US" altLang="en-US" i="1">
                <a:cs typeface="Times New Roman" pitchFamily="18" charset="0"/>
              </a:rPr>
              <a:t>front</a:t>
            </a:r>
            <a:r>
              <a:rPr lang="en-US" altLang="en-US">
                <a:cs typeface="Times New Roman" pitchFamily="18" charset="0"/>
              </a:rPr>
              <a:t>) and last node (</a:t>
            </a:r>
            <a:r>
              <a:rPr lang="en-US" altLang="en-US" i="1">
                <a:cs typeface="Times New Roman" pitchFamily="18" charset="0"/>
              </a:rPr>
              <a:t>rear</a:t>
            </a:r>
            <a:r>
              <a:rPr lang="en-US" altLang="en-US">
                <a:cs typeface="Times New Roman" pitchFamily="18" charset="0"/>
              </a:rPr>
              <a:t>).</a:t>
            </a:r>
          </a:p>
          <a:p>
            <a:pPr lvl="1" eaLnBrk="1" hangingPunct="1"/>
            <a:r>
              <a:rPr lang="en-US" altLang="en-US">
                <a:cs typeface="Times New Roman" pitchFamily="18" charset="0"/>
              </a:rPr>
              <a:t>a variable </a:t>
            </a:r>
            <a:r>
              <a:rPr lang="en-US" altLang="en-US" i="1">
                <a:cs typeface="Times New Roman" pitchFamily="18" charset="0"/>
              </a:rPr>
              <a:t>size</a:t>
            </a:r>
            <a:r>
              <a:rPr lang="en-US" altLang="en-US">
                <a:cs typeface="Times New Roman" pitchFamily="18" charset="0"/>
              </a:rPr>
              <a:t> (optional).</a:t>
            </a:r>
            <a:endParaRPr lang="en-US" altLang="en-US" sz="180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2100" y="3362325"/>
            <a:ext cx="7546975" cy="915987"/>
            <a:chOff x="624" y="2147"/>
            <a:chExt cx="4754" cy="577"/>
          </a:xfrm>
        </p:grpSpPr>
        <p:sp>
          <p:nvSpPr>
            <p:cNvPr id="22563" name="Rectangle 5"/>
            <p:cNvSpPr>
              <a:spLocks noChangeArrowheads="1"/>
            </p:cNvSpPr>
            <p:nvPr/>
          </p:nvSpPr>
          <p:spPr bwMode="auto">
            <a:xfrm>
              <a:off x="624" y="2243"/>
              <a:ext cx="76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Invariant:</a:t>
              </a:r>
              <a:endParaRPr lang="en-US" altLang="en-US" sz="2000"/>
            </a:p>
          </p:txBody>
        </p:sp>
        <p:sp>
          <p:nvSpPr>
            <p:cNvPr id="22564" name="Rectangle 6"/>
            <p:cNvSpPr>
              <a:spLocks noChangeArrowheads="1"/>
            </p:cNvSpPr>
            <p:nvPr/>
          </p:nvSpPr>
          <p:spPr bwMode="auto">
            <a:xfrm>
              <a:off x="1871" y="2156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65" name="Text Box 7"/>
            <p:cNvSpPr txBox="1">
              <a:spLocks noChangeArrowheads="1"/>
            </p:cNvSpPr>
            <p:nvPr/>
          </p:nvSpPr>
          <p:spPr bwMode="auto">
            <a:xfrm>
              <a:off x="2498" y="2156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22566" name="Text Box 8"/>
            <p:cNvSpPr txBox="1">
              <a:spLocks noChangeArrowheads="1"/>
            </p:cNvSpPr>
            <p:nvPr/>
          </p:nvSpPr>
          <p:spPr bwMode="auto">
            <a:xfrm>
              <a:off x="3506" y="2156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22567" name="Text Box 9"/>
            <p:cNvSpPr txBox="1">
              <a:spLocks noChangeArrowheads="1"/>
            </p:cNvSpPr>
            <p:nvPr/>
          </p:nvSpPr>
          <p:spPr bwMode="auto">
            <a:xfrm>
              <a:off x="4802" y="2156"/>
              <a:ext cx="576" cy="16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600"/>
                <a:t>element</a:t>
              </a:r>
              <a:endParaRPr lang="en-GB" altLang="en-US" sz="1600"/>
            </a:p>
          </p:txBody>
        </p:sp>
        <p:sp>
          <p:nvSpPr>
            <p:cNvPr id="22568" name="Line 10"/>
            <p:cNvSpPr>
              <a:spLocks noChangeShapeType="1"/>
            </p:cNvSpPr>
            <p:nvPr/>
          </p:nvSpPr>
          <p:spPr bwMode="auto">
            <a:xfrm>
              <a:off x="1970" y="2252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69" name="Line 11"/>
            <p:cNvSpPr>
              <a:spLocks noChangeShapeType="1"/>
            </p:cNvSpPr>
            <p:nvPr/>
          </p:nvSpPr>
          <p:spPr bwMode="auto">
            <a:xfrm>
              <a:off x="4014" y="2243"/>
              <a:ext cx="2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0" name="Line 12"/>
            <p:cNvSpPr>
              <a:spLocks noChangeShapeType="1"/>
            </p:cNvSpPr>
            <p:nvPr/>
          </p:nvSpPr>
          <p:spPr bwMode="auto">
            <a:xfrm>
              <a:off x="3016" y="2243"/>
              <a:ext cx="4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1" name="Line 13"/>
            <p:cNvSpPr>
              <a:spLocks noChangeShapeType="1"/>
            </p:cNvSpPr>
            <p:nvPr/>
          </p:nvSpPr>
          <p:spPr bwMode="auto">
            <a:xfrm>
              <a:off x="5310" y="2252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2" name="Line 14"/>
            <p:cNvSpPr>
              <a:spLocks noChangeShapeType="1"/>
            </p:cNvSpPr>
            <p:nvPr/>
          </p:nvSpPr>
          <p:spPr bwMode="auto">
            <a:xfrm>
              <a:off x="4514" y="2243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3" name="Line 15"/>
            <p:cNvSpPr>
              <a:spLocks noChangeShapeType="1"/>
            </p:cNvSpPr>
            <p:nvPr/>
          </p:nvSpPr>
          <p:spPr bwMode="auto">
            <a:xfrm>
              <a:off x="4274" y="2243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4" name="Rectangle 16"/>
            <p:cNvSpPr>
              <a:spLocks noChangeArrowheads="1"/>
            </p:cNvSpPr>
            <p:nvPr/>
          </p:nvSpPr>
          <p:spPr bwMode="auto">
            <a:xfrm>
              <a:off x="1871" y="233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75" name="Freeform 17"/>
            <p:cNvSpPr>
              <a:spLocks/>
            </p:cNvSpPr>
            <p:nvPr/>
          </p:nvSpPr>
          <p:spPr bwMode="auto">
            <a:xfrm>
              <a:off x="1970" y="2291"/>
              <a:ext cx="2832" cy="144"/>
            </a:xfrm>
            <a:custGeom>
              <a:avLst/>
              <a:gdLst>
                <a:gd name="T0" fmla="*/ 0 w 2832"/>
                <a:gd name="T1" fmla="*/ 144 h 144"/>
                <a:gd name="T2" fmla="*/ 0 w 2832"/>
                <a:gd name="T3" fmla="*/ 144 h 144"/>
                <a:gd name="T4" fmla="*/ 2448 w 2832"/>
                <a:gd name="T5" fmla="*/ 144 h 144"/>
                <a:gd name="T6" fmla="*/ 2832 w 2832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32"/>
                <a:gd name="T13" fmla="*/ 0 h 144"/>
                <a:gd name="T14" fmla="*/ 2832 w 283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32" h="144">
                  <a:moveTo>
                    <a:pt x="0" y="144"/>
                  </a:moveTo>
                  <a:lnTo>
                    <a:pt x="0" y="144"/>
                  </a:lnTo>
                  <a:lnTo>
                    <a:pt x="2448" y="144"/>
                  </a:lnTo>
                  <a:lnTo>
                    <a:pt x="283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76" name="Text Box 18"/>
            <p:cNvSpPr txBox="1">
              <a:spLocks noChangeArrowheads="1"/>
            </p:cNvSpPr>
            <p:nvPr/>
          </p:nvSpPr>
          <p:spPr bwMode="auto">
            <a:xfrm>
              <a:off x="1372" y="2147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front</a:t>
              </a:r>
            </a:p>
          </p:txBody>
        </p:sp>
        <p:sp>
          <p:nvSpPr>
            <p:cNvPr id="22577" name="Text Box 19"/>
            <p:cNvSpPr txBox="1">
              <a:spLocks noChangeArrowheads="1"/>
            </p:cNvSpPr>
            <p:nvPr/>
          </p:nvSpPr>
          <p:spPr bwMode="auto">
            <a:xfrm>
              <a:off x="1372" y="2339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rear</a:t>
              </a:r>
            </a:p>
          </p:txBody>
        </p:sp>
        <p:sp>
          <p:nvSpPr>
            <p:cNvPr id="22578" name="Rectangle 20"/>
            <p:cNvSpPr>
              <a:spLocks noChangeArrowheads="1"/>
            </p:cNvSpPr>
            <p:nvPr/>
          </p:nvSpPr>
          <p:spPr bwMode="auto">
            <a:xfrm>
              <a:off x="1871" y="2532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79" name="Text Box 21"/>
            <p:cNvSpPr txBox="1">
              <a:spLocks noChangeArrowheads="1"/>
            </p:cNvSpPr>
            <p:nvPr/>
          </p:nvSpPr>
          <p:spPr bwMode="auto">
            <a:xfrm>
              <a:off x="1370" y="2522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size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245269" y="4354698"/>
            <a:ext cx="2284413" cy="955675"/>
            <a:chOff x="624" y="2758"/>
            <a:chExt cx="1439" cy="602"/>
          </a:xfrm>
        </p:grpSpPr>
        <p:sp>
          <p:nvSpPr>
            <p:cNvPr id="22553" name="Rectangle 23"/>
            <p:cNvSpPr>
              <a:spLocks noChangeArrowheads="1"/>
            </p:cNvSpPr>
            <p:nvPr/>
          </p:nvSpPr>
          <p:spPr bwMode="auto">
            <a:xfrm>
              <a:off x="624" y="2758"/>
              <a:ext cx="7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Empty queue:</a:t>
              </a:r>
              <a:endParaRPr lang="en-US" altLang="en-US" sz="2000"/>
            </a:p>
          </p:txBody>
        </p:sp>
        <p:sp>
          <p:nvSpPr>
            <p:cNvPr id="22554" name="Rectangle 24"/>
            <p:cNvSpPr>
              <a:spLocks noChangeArrowheads="1"/>
            </p:cNvSpPr>
            <p:nvPr/>
          </p:nvSpPr>
          <p:spPr bwMode="auto">
            <a:xfrm>
              <a:off x="1871" y="281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55" name="Line 25"/>
            <p:cNvSpPr>
              <a:spLocks noChangeShapeType="1"/>
            </p:cNvSpPr>
            <p:nvPr/>
          </p:nvSpPr>
          <p:spPr bwMode="auto">
            <a:xfrm>
              <a:off x="1967" y="291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6" name="Rectangle 26"/>
            <p:cNvSpPr>
              <a:spLocks noChangeArrowheads="1"/>
            </p:cNvSpPr>
            <p:nvPr/>
          </p:nvSpPr>
          <p:spPr bwMode="auto">
            <a:xfrm>
              <a:off x="1871" y="2984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57" name="Line 27"/>
            <p:cNvSpPr>
              <a:spLocks noChangeShapeType="1"/>
            </p:cNvSpPr>
            <p:nvPr/>
          </p:nvSpPr>
          <p:spPr bwMode="auto">
            <a:xfrm>
              <a:off x="1967" y="3080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58" name="Text Box 28"/>
            <p:cNvSpPr txBox="1">
              <a:spLocks noChangeArrowheads="1"/>
            </p:cNvSpPr>
            <p:nvPr/>
          </p:nvSpPr>
          <p:spPr bwMode="auto">
            <a:xfrm>
              <a:off x="1361" y="2805"/>
              <a:ext cx="4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front</a:t>
              </a:r>
            </a:p>
          </p:txBody>
        </p:sp>
        <p:sp>
          <p:nvSpPr>
            <p:cNvPr id="22559" name="Text Box 29"/>
            <p:cNvSpPr txBox="1">
              <a:spLocks noChangeArrowheads="1"/>
            </p:cNvSpPr>
            <p:nvPr/>
          </p:nvSpPr>
          <p:spPr bwMode="auto">
            <a:xfrm>
              <a:off x="1361" y="2987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rear</a:t>
              </a:r>
            </a:p>
          </p:txBody>
        </p:sp>
        <p:sp>
          <p:nvSpPr>
            <p:cNvPr id="22560" name="Rectangle 30"/>
            <p:cNvSpPr>
              <a:spLocks noChangeArrowheads="1"/>
            </p:cNvSpPr>
            <p:nvPr/>
          </p:nvSpPr>
          <p:spPr bwMode="auto">
            <a:xfrm>
              <a:off x="1871" y="316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61" name="Text Box 31"/>
            <p:cNvSpPr txBox="1">
              <a:spLocks noChangeArrowheads="1"/>
            </p:cNvSpPr>
            <p:nvPr/>
          </p:nvSpPr>
          <p:spPr bwMode="auto">
            <a:xfrm>
              <a:off x="1359" y="3170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size</a:t>
              </a:r>
            </a:p>
          </p:txBody>
        </p:sp>
        <p:sp>
          <p:nvSpPr>
            <p:cNvPr id="22562" name="Text Box 32"/>
            <p:cNvSpPr txBox="1">
              <a:spLocks noChangeArrowheads="1"/>
            </p:cNvSpPr>
            <p:nvPr/>
          </p:nvSpPr>
          <p:spPr bwMode="auto">
            <a:xfrm>
              <a:off x="1871" y="3168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0</a:t>
              </a: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96779" y="5604669"/>
            <a:ext cx="8080375" cy="931862"/>
            <a:chOff x="625" y="3433"/>
            <a:chExt cx="5090" cy="587"/>
          </a:xfrm>
        </p:grpSpPr>
        <p:sp>
          <p:nvSpPr>
            <p:cNvPr id="22535" name="Rectangle 34"/>
            <p:cNvSpPr>
              <a:spLocks noChangeArrowheads="1"/>
            </p:cNvSpPr>
            <p:nvPr/>
          </p:nvSpPr>
          <p:spPr bwMode="auto">
            <a:xfrm>
              <a:off x="625" y="3543"/>
              <a:ext cx="78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</a:rPr>
                <a:t>Illustration:</a:t>
              </a:r>
              <a:endParaRPr lang="en-US" altLang="en-US" sz="2000"/>
            </a:p>
          </p:txBody>
        </p:sp>
        <p:sp>
          <p:nvSpPr>
            <p:cNvPr id="22536" name="Rectangle 35"/>
            <p:cNvSpPr>
              <a:spLocks noChangeArrowheads="1"/>
            </p:cNvSpPr>
            <p:nvPr/>
          </p:nvSpPr>
          <p:spPr bwMode="auto">
            <a:xfrm>
              <a:off x="1872" y="3447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37" name="Line 36"/>
            <p:cNvSpPr>
              <a:spLocks noChangeShapeType="1"/>
            </p:cNvSpPr>
            <p:nvPr/>
          </p:nvSpPr>
          <p:spPr bwMode="auto">
            <a:xfrm>
              <a:off x="1971" y="354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38" name="Text Box 37"/>
            <p:cNvSpPr txBox="1">
              <a:spLocks noChangeArrowheads="1"/>
            </p:cNvSpPr>
            <p:nvPr/>
          </p:nvSpPr>
          <p:spPr bwMode="auto">
            <a:xfrm>
              <a:off x="2499" y="3441"/>
              <a:ext cx="62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Homer</a:t>
              </a:r>
            </a:p>
          </p:txBody>
        </p:sp>
        <p:sp>
          <p:nvSpPr>
            <p:cNvPr id="22539" name="Line 38"/>
            <p:cNvSpPr>
              <a:spLocks noChangeShapeType="1"/>
            </p:cNvSpPr>
            <p:nvPr/>
          </p:nvSpPr>
          <p:spPr bwMode="auto">
            <a:xfrm>
              <a:off x="3061" y="3543"/>
              <a:ext cx="3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0" name="Text Box 39"/>
            <p:cNvSpPr txBox="1">
              <a:spLocks noChangeArrowheads="1"/>
            </p:cNvSpPr>
            <p:nvPr/>
          </p:nvSpPr>
          <p:spPr bwMode="auto">
            <a:xfrm>
              <a:off x="3363" y="3447"/>
              <a:ext cx="62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Marge</a:t>
              </a:r>
            </a:p>
          </p:txBody>
        </p:sp>
        <p:sp>
          <p:nvSpPr>
            <p:cNvPr id="22541" name="Line 40"/>
            <p:cNvSpPr>
              <a:spLocks noChangeShapeType="1"/>
            </p:cNvSpPr>
            <p:nvPr/>
          </p:nvSpPr>
          <p:spPr bwMode="auto">
            <a:xfrm>
              <a:off x="3923" y="3549"/>
              <a:ext cx="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2" name="Text Box 41"/>
            <p:cNvSpPr txBox="1">
              <a:spLocks noChangeArrowheads="1"/>
            </p:cNvSpPr>
            <p:nvPr/>
          </p:nvSpPr>
          <p:spPr bwMode="auto">
            <a:xfrm>
              <a:off x="4227" y="3453"/>
              <a:ext cx="62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Maggie</a:t>
              </a:r>
            </a:p>
          </p:txBody>
        </p:sp>
        <p:sp>
          <p:nvSpPr>
            <p:cNvPr id="22543" name="Line 42"/>
            <p:cNvSpPr>
              <a:spLocks noChangeShapeType="1"/>
            </p:cNvSpPr>
            <p:nvPr/>
          </p:nvSpPr>
          <p:spPr bwMode="auto">
            <a:xfrm>
              <a:off x="4785" y="3555"/>
              <a:ext cx="3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4" name="Text Box 43"/>
            <p:cNvSpPr txBox="1">
              <a:spLocks noChangeArrowheads="1"/>
            </p:cNvSpPr>
            <p:nvPr/>
          </p:nvSpPr>
          <p:spPr bwMode="auto">
            <a:xfrm>
              <a:off x="5091" y="3459"/>
              <a:ext cx="624" cy="17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Lisa</a:t>
              </a:r>
            </a:p>
          </p:txBody>
        </p:sp>
        <p:sp>
          <p:nvSpPr>
            <p:cNvPr id="22545" name="Line 44"/>
            <p:cNvSpPr>
              <a:spLocks noChangeShapeType="1"/>
            </p:cNvSpPr>
            <p:nvPr/>
          </p:nvSpPr>
          <p:spPr bwMode="auto">
            <a:xfrm>
              <a:off x="5647" y="3543"/>
              <a:ext cx="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6" name="Rectangle 45"/>
            <p:cNvSpPr>
              <a:spLocks noChangeArrowheads="1"/>
            </p:cNvSpPr>
            <p:nvPr/>
          </p:nvSpPr>
          <p:spPr bwMode="auto">
            <a:xfrm>
              <a:off x="1872" y="3639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47" name="Freeform 46"/>
            <p:cNvSpPr>
              <a:spLocks/>
            </p:cNvSpPr>
            <p:nvPr/>
          </p:nvSpPr>
          <p:spPr bwMode="auto">
            <a:xfrm>
              <a:off x="1971" y="3591"/>
              <a:ext cx="3120" cy="144"/>
            </a:xfrm>
            <a:custGeom>
              <a:avLst/>
              <a:gdLst>
                <a:gd name="T0" fmla="*/ 0 w 3120"/>
                <a:gd name="T1" fmla="*/ 144 h 144"/>
                <a:gd name="T2" fmla="*/ 2880 w 3120"/>
                <a:gd name="T3" fmla="*/ 144 h 144"/>
                <a:gd name="T4" fmla="*/ 3120 w 3120"/>
                <a:gd name="T5" fmla="*/ 0 h 144"/>
                <a:gd name="T6" fmla="*/ 0 60000 65536"/>
                <a:gd name="T7" fmla="*/ 0 60000 65536"/>
                <a:gd name="T8" fmla="*/ 0 60000 65536"/>
                <a:gd name="T9" fmla="*/ 0 w 3120"/>
                <a:gd name="T10" fmla="*/ 0 h 144"/>
                <a:gd name="T11" fmla="*/ 3120 w 312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0" h="144">
                  <a:moveTo>
                    <a:pt x="0" y="144"/>
                  </a:moveTo>
                  <a:lnTo>
                    <a:pt x="2880" y="144"/>
                  </a:lnTo>
                  <a:lnTo>
                    <a:pt x="312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548" name="Text Box 47"/>
            <p:cNvSpPr txBox="1">
              <a:spLocks noChangeArrowheads="1"/>
            </p:cNvSpPr>
            <p:nvPr/>
          </p:nvSpPr>
          <p:spPr bwMode="auto">
            <a:xfrm>
              <a:off x="1351" y="3433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front</a:t>
              </a:r>
            </a:p>
          </p:txBody>
        </p:sp>
        <p:sp>
          <p:nvSpPr>
            <p:cNvPr id="22549" name="Text Box 48"/>
            <p:cNvSpPr txBox="1">
              <a:spLocks noChangeArrowheads="1"/>
            </p:cNvSpPr>
            <p:nvPr/>
          </p:nvSpPr>
          <p:spPr bwMode="auto">
            <a:xfrm>
              <a:off x="1351" y="3625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rear</a:t>
              </a:r>
            </a:p>
          </p:txBody>
        </p:sp>
        <p:sp>
          <p:nvSpPr>
            <p:cNvPr id="22550" name="Rectangle 49"/>
            <p:cNvSpPr>
              <a:spLocks noChangeArrowheads="1"/>
            </p:cNvSpPr>
            <p:nvPr/>
          </p:nvSpPr>
          <p:spPr bwMode="auto">
            <a:xfrm>
              <a:off x="1872" y="3828"/>
              <a:ext cx="192" cy="19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2551" name="Text Box 50"/>
            <p:cNvSpPr txBox="1">
              <a:spLocks noChangeArrowheads="1"/>
            </p:cNvSpPr>
            <p:nvPr/>
          </p:nvSpPr>
          <p:spPr bwMode="auto">
            <a:xfrm>
              <a:off x="1360" y="3808"/>
              <a:ext cx="45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>
                <a:buClrTx/>
                <a:buFontTx/>
                <a:buNone/>
              </a:pPr>
              <a:r>
                <a:rPr lang="en-GB" altLang="en-US" sz="1800" i="1"/>
                <a:t>size</a:t>
              </a:r>
            </a:p>
          </p:txBody>
        </p:sp>
        <p:sp>
          <p:nvSpPr>
            <p:cNvPr id="22552" name="Text Box 51"/>
            <p:cNvSpPr txBox="1">
              <a:spLocks noChangeArrowheads="1"/>
            </p:cNvSpPr>
            <p:nvPr/>
          </p:nvSpPr>
          <p:spPr bwMode="auto">
            <a:xfrm>
              <a:off x="1872" y="3824"/>
              <a:ext cx="18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50000"/>
                </a:spcBef>
                <a:buClr>
                  <a:schemeClr val="bg2"/>
                </a:buClr>
                <a:buFont typeface="Wingdings" pitchFamily="2" charset="2"/>
                <a:buChar char="§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spcBef>
                  <a:spcPct val="5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spcBef>
                  <a:spcPct val="5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spcBef>
                  <a:spcPct val="50000"/>
                </a:spcBef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GB" altLang="en-US" sz="180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443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(2)</a:t>
            </a:r>
            <a:endParaRPr lang="en-GB" altLang="en-US" sz="3200" i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LinkedQueue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implements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Queue&lt;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&gt; {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front, rear;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Inner 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private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class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element;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Node&lt;E&gt; next;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        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x, Node&lt;E&gt; s)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	element = x; next = s;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}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550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(3)</a:t>
            </a:r>
            <a:endParaRPr lang="en-GB" altLang="en-US" sz="3200" i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>
                <a:cs typeface="Times New Roman" pitchFamily="18" charset="0"/>
              </a:rPr>
              <a:t>Constructor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LinkedQueue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front = rear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/////////////// </a:t>
            </a:r>
            <a:r>
              <a:rPr lang="en-US" altLang="en-US" sz="2000" dirty="0" err="1">
                <a:cs typeface="Times New Roman" pitchFamily="18" charset="0"/>
              </a:rPr>
              <a:t>Accessors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boolean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isEmpty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(front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90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(4)</a:t>
            </a:r>
            <a:endParaRPr lang="en-GB" altLang="en-US" sz="3200" i="1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 err="1"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size;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getFirst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(front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589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(5)</a:t>
            </a:r>
            <a:endParaRPr lang="en-GB" altLang="en-US" sz="3200" i="1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////////////// </a:t>
            </a:r>
            <a:r>
              <a:rPr lang="en-US" altLang="en-US" sz="2000" dirty="0">
                <a:cs typeface="Times New Roman" pitchFamily="18" charset="0"/>
              </a:rPr>
              <a:t>Transformers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///////////////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clear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front = rear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 = 0;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2000" dirty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void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addLast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it)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Node&lt;E&gt; newest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Node(it,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(rear !=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rear.next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else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front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rear = newest;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size++;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US" alt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832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Implementation of queues using SLLs </a:t>
            </a:r>
            <a:r>
              <a:rPr lang="en-US" altLang="en-US" sz="3200" i="1" dirty="0"/>
              <a:t>(6)</a:t>
            </a:r>
            <a:endParaRPr lang="en-GB" altLang="en-US" sz="3200" i="1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Java implementation </a:t>
            </a:r>
            <a:r>
              <a:rPr lang="en-US" altLang="en-US" i="1" dirty="0">
                <a:cs typeface="Times New Roman" pitchFamily="18" charset="0"/>
              </a:rPr>
              <a:t>(continued)</a:t>
            </a:r>
            <a:r>
              <a:rPr lang="en-US" altLang="en-US" dirty="0">
                <a:cs typeface="Times New Roman" pitchFamily="18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public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removeFirst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() {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(front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rgbClr val="CC00CC"/>
                </a:solidFill>
                <a:latin typeface="Courier New" pitchFamily="49" charset="0"/>
                <a:cs typeface="Times New Roman" pitchFamily="18" charset="0"/>
              </a:rPr>
              <a:t>E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front.element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front =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front.next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(front ==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) rear = 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null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size--;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return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frontElem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}</a:t>
            </a:r>
            <a:endParaRPr lang="en-GB" altLang="en-US" sz="2000" dirty="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Analysis:</a:t>
            </a:r>
          </a:p>
          <a:p>
            <a:pPr lvl="1" eaLnBrk="1" hangingPunct="1"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dirty="0">
                <a:cs typeface="Times New Roman" pitchFamily="18" charset="0"/>
              </a:rPr>
              <a:t>All operations have time complexity </a:t>
            </a:r>
            <a:r>
              <a:rPr lang="en-US" altLang="en-US" i="1" dirty="0"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(1).</a:t>
            </a:r>
            <a:endParaRPr lang="en-US" altLang="en-US" sz="1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957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Queues in the Java class library</a:t>
            </a:r>
            <a:endParaRPr lang="en-GB" altLang="en-US" sz="32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The library interface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java.util.Queue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is similar to our interface 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Queue&lt;E&gt;</a:t>
            </a:r>
            <a:r>
              <a:rPr lang="en-US" altLang="en-US" dirty="0"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The library class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java.util.LinkedList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 implements </a:t>
            </a:r>
            <a:r>
              <a:rPr lang="en-US" altLang="en-US" dirty="0" err="1">
                <a:latin typeface="Courier New" pitchFamily="49" charset="0"/>
                <a:cs typeface="Times New Roman" pitchFamily="18" charset="0"/>
              </a:rPr>
              <a:t>java.util.Queue</a:t>
            </a:r>
            <a:r>
              <a:rPr lang="en-US" altLang="en-US" dirty="0">
                <a:latin typeface="Courier New" pitchFamily="49" charset="0"/>
                <a:cs typeface="Times New Roman" pitchFamily="18" charset="0"/>
              </a:rPr>
              <a:t>&lt;E&gt;</a:t>
            </a:r>
            <a:r>
              <a:rPr lang="en-US" altLang="en-US" dirty="0">
                <a:cs typeface="Times New Roman" pitchFamily="18" charset="0"/>
              </a:rPr>
              <a:t>, representing each queue by a </a:t>
            </a:r>
            <a:r>
              <a:rPr lang="en-US" altLang="en-US" i="1" dirty="0">
                <a:cs typeface="Times New Roman" pitchFamily="18" charset="0"/>
              </a:rPr>
              <a:t>doubly-linked-list</a:t>
            </a:r>
            <a:r>
              <a:rPr lang="en-US" altLang="en-US" dirty="0">
                <a:cs typeface="Times New Roman" pitchFamily="18" charset="0"/>
              </a:rPr>
              <a:t>. (This is overkill!)</a:t>
            </a:r>
          </a:p>
          <a:p>
            <a:pPr eaLnBrk="1" hangingPunct="1">
              <a:lnSpc>
                <a:spcPct val="80000"/>
              </a:lnSpc>
              <a:tabLst>
                <a:tab pos="723900" algn="l"/>
                <a:tab pos="1077913" algn="l"/>
              </a:tabLst>
            </a:pPr>
            <a:r>
              <a:rPr lang="en-US" altLang="en-US" dirty="0">
                <a:cs typeface="Times New Roman" pitchFamily="18" charset="0"/>
              </a:rPr>
              <a:t>Illustration: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</a:t>
            </a:r>
            <a:r>
              <a:rPr lang="en-US" altLang="en-US" sz="2000" b="1" dirty="0">
                <a:latin typeface="Courier New" pitchFamily="49" charset="0"/>
                <a:cs typeface="Times New Roman" pitchFamily="18" charset="0"/>
              </a:rPr>
              <a:t>import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java.util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.*;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tabLst>
                <a:tab pos="723900" algn="l"/>
                <a:tab pos="1077913" algn="l"/>
              </a:tabLst>
            </a:pP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Queue&lt;Person&gt; </a:t>
            </a:r>
            <a:r>
              <a:rPr lang="en-US" altLang="en-US" sz="2000" dirty="0" err="1">
                <a:latin typeface="Courier New" pitchFamily="49" charset="0"/>
                <a:cs typeface="Times New Roman" pitchFamily="18" charset="0"/>
              </a:rPr>
              <a:t>busQ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 = 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		</a:t>
            </a:r>
            <a:r>
              <a:rPr lang="en-US" altLang="en-US" sz="2000" b="1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 LinkedList&lt;Person&gt;()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busQ.addLast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(homer)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 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busQ.addLast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(marge)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busQ.addLast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maggie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busQ.addLast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lisa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busQ.addLast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bart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br>
              <a:rPr lang="en-US" altLang="en-US" sz="2000" dirty="0">
                <a:latin typeface="Courier New" pitchFamily="49" charset="0"/>
                <a:cs typeface="Times New Roman" pitchFamily="18" charset="0"/>
              </a:rPr>
            </a:b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Person p = </a:t>
            </a:r>
            <a:r>
              <a:rPr lang="en-US" altLang="en-US" sz="2000" dirty="0" err="1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busQ.removeFirst</a:t>
            </a:r>
            <a:r>
              <a:rPr lang="en-US" altLang="en-US" sz="2000" dirty="0">
                <a:solidFill>
                  <a:srgbClr val="3333CC"/>
                </a:solidFill>
                <a:latin typeface="Courier New" pitchFamily="49" charset="0"/>
                <a:cs typeface="Times New Roman" pitchFamily="18" charset="0"/>
              </a:rPr>
              <a:t>()</a:t>
            </a:r>
            <a:r>
              <a:rPr lang="en-US" altLang="en-US" sz="2000" dirty="0">
                <a:latin typeface="Courier New" pitchFamily="49" charset="0"/>
                <a:cs typeface="Times New Roman" pitchFamily="18" charset="0"/>
              </a:rPr>
              <a:t>;</a:t>
            </a:r>
            <a:endParaRPr lang="en-US" altLang="en-US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70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Examples: </a:t>
            </a:r>
            <a:r>
              <a:rPr lang="en-US" altLang="en-US" sz="3200" dirty="0"/>
              <a:t>demerging again </a:t>
            </a:r>
            <a:r>
              <a:rPr lang="en-US" altLang="en-US" sz="3200" i="1" dirty="0"/>
              <a:t>(1)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1295400"/>
          </a:xfrm>
          <a:noFill/>
        </p:spPr>
        <p:txBody>
          <a:bodyPr>
            <a:normAutofit/>
          </a:bodyPr>
          <a:lstStyle/>
          <a:p>
            <a:pPr marL="0" indent="0" eaLnBrk="1" hangingPunct="1"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>
                <a:cs typeface="Times New Roman" pitchFamily="18" charset="0"/>
              </a:rPr>
              <a:t>1. Implementation </a:t>
            </a:r>
            <a:r>
              <a:rPr lang="en-US" altLang="en-US" dirty="0">
                <a:cs typeface="Times New Roman" pitchFamily="18" charset="0"/>
              </a:rPr>
              <a:t>of the demerging </a:t>
            </a:r>
            <a:r>
              <a:rPr lang="en-US" altLang="en-US">
                <a:cs typeface="Times New Roman" pitchFamily="18" charset="0"/>
              </a:rPr>
              <a:t>algorithm:</a:t>
            </a:r>
            <a:endParaRPr lang="en-US" altLang="en-US" sz="2000">
              <a:latin typeface="Courier New" pitchFamily="49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r>
              <a:rPr lang="en-US" altLang="en-US" sz="2000">
                <a:latin typeface="Courier New" pitchFamily="49" charset="0"/>
                <a:cs typeface="Times New Roman" pitchFamily="18" charset="0"/>
              </a:rPr>
              <a:t>-</a:t>
            </a:r>
            <a:r>
              <a:rPr lang="en-US" altLang="en-US">
                <a:cs typeface="Times New Roman" pitchFamily="18" charset="0"/>
              </a:rPr>
              <a:t>see Moodle</a:t>
            </a: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dirty="0"/>
          </a:p>
          <a:p>
            <a:pPr marL="0" indent="0">
              <a:buNone/>
            </a:pPr>
            <a:endParaRPr lang="en-GB"/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658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Examples: Deque</a:t>
            </a:r>
            <a:endParaRPr lang="en-GB" altLang="en-US" sz="3200" i="1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8534400" cy="4191000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altLang="en-US">
                <a:cs typeface="Times New Roman" pitchFamily="18" charset="0"/>
              </a:rPr>
              <a:t>2. </a:t>
            </a:r>
            <a:r>
              <a:rPr lang="en-GB"/>
              <a:t>A </a:t>
            </a:r>
            <a:r>
              <a:rPr lang="en-GB" b="1" i="1"/>
              <a:t>doubly-ended</a:t>
            </a:r>
            <a:r>
              <a:rPr lang="en-GB"/>
              <a:t> </a:t>
            </a:r>
            <a:r>
              <a:rPr lang="en-GB" b="1" i="1"/>
              <a:t>queue</a:t>
            </a:r>
            <a:r>
              <a:rPr lang="en-GB"/>
              <a:t> (or </a:t>
            </a:r>
            <a:r>
              <a:rPr lang="en-GB" b="1" i="1"/>
              <a:t>deque</a:t>
            </a:r>
            <a:r>
              <a:rPr lang="en-GB"/>
              <a:t>) allows elements to be added or removed at both ends of the queue. In other words, it supports the following operations in addition to the usual queue operations: </a:t>
            </a:r>
            <a:r>
              <a:rPr lang="en-GB" i="1"/>
              <a:t>d</a:t>
            </a:r>
            <a:r>
              <a:rPr lang="en-GB"/>
              <a:t>.addFirst(</a:t>
            </a:r>
            <a:r>
              <a:rPr lang="en-GB" i="1"/>
              <a:t>x</a:t>
            </a:r>
            <a:r>
              <a:rPr lang="en-GB"/>
              <a:t>) adds </a:t>
            </a:r>
            <a:r>
              <a:rPr lang="en-GB" i="1"/>
              <a:t>x</a:t>
            </a:r>
            <a:r>
              <a:rPr lang="en-GB"/>
              <a:t> at the front of deque </a:t>
            </a:r>
            <a:r>
              <a:rPr lang="en-GB" i="1"/>
              <a:t>d</a:t>
            </a:r>
            <a:r>
              <a:rPr lang="en-GB"/>
              <a:t>; </a:t>
            </a:r>
            <a:r>
              <a:rPr lang="en-GB" i="1"/>
              <a:t>d</a:t>
            </a:r>
            <a:r>
              <a:rPr lang="en-GB"/>
              <a:t>.removeLast() removes the element at the rear of deque </a:t>
            </a:r>
            <a:r>
              <a:rPr lang="en-GB" i="1"/>
              <a:t>d</a:t>
            </a:r>
            <a:r>
              <a:rPr lang="en-GB"/>
              <a:t>; </a:t>
            </a:r>
            <a:r>
              <a:rPr lang="en-GB" i="1"/>
              <a:t>d</a:t>
            </a:r>
            <a:r>
              <a:rPr lang="en-GB"/>
              <a:t>.getLast() retrieves the element at the rear of deque </a:t>
            </a:r>
            <a:r>
              <a:rPr lang="en-GB" i="1"/>
              <a:t>d</a:t>
            </a:r>
            <a:r>
              <a:rPr lang="en-GB"/>
              <a:t>.</a:t>
            </a:r>
          </a:p>
          <a:p>
            <a:pPr marL="0" indent="0">
              <a:buNone/>
            </a:pPr>
            <a:r>
              <a:rPr lang="en-GB"/>
              <a:t>  Write a deque contract in the form of a Java interface    </a:t>
            </a:r>
            <a:br>
              <a:rPr lang="en-GB"/>
            </a:br>
            <a:r>
              <a:rPr lang="en-GB"/>
              <a:t>  named Deque. Write a linked implementation of a deque as a </a:t>
            </a:r>
            <a:br>
              <a:rPr lang="en-GB"/>
            </a:br>
            <a:r>
              <a:rPr lang="en-GB"/>
              <a:t> Java class LinkedDeque. Make sure that all deque operations  </a:t>
            </a:r>
            <a:br>
              <a:rPr lang="en-GB"/>
            </a:br>
            <a:r>
              <a:rPr lang="en-GB"/>
              <a:t>  have time complexity </a:t>
            </a:r>
            <a:r>
              <a:rPr lang="en-GB" i="1"/>
              <a:t>O</a:t>
            </a:r>
            <a:r>
              <a:rPr lang="en-GB"/>
              <a:t>(1).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See demo – how to start this</a:t>
            </a:r>
          </a:p>
          <a:p>
            <a:pPr marL="0" indent="0" eaLnBrk="1" hangingPunct="1"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sz="420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 dirty="0"/>
          </a:p>
          <a:p>
            <a:pPr marL="0" indent="0">
              <a:buNone/>
            </a:pPr>
            <a:endParaRPr lang="en-GB"/>
          </a:p>
          <a:p>
            <a:pPr eaLnBrk="1" hangingPunct="1">
              <a:buFont typeface="Wingdings" pitchFamily="2" charset="2"/>
              <a:buNone/>
              <a:tabLst>
                <a:tab pos="723900" algn="l"/>
                <a:tab pos="1077913" algn="l"/>
                <a:tab pos="1433513" algn="l"/>
                <a:tab pos="1787525" algn="l"/>
                <a:tab pos="2155825" algn="l"/>
              </a:tabLst>
            </a:pPr>
            <a:endParaRPr lang="en-US" altLang="en-US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877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Summary of terms</a:t>
            </a:r>
            <a:endParaRPr lang="en-GB" altLang="en-US" sz="32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005465" y="2822585"/>
            <a:ext cx="1217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0262" y="2822585"/>
            <a:ext cx="870706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stack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507" y="1592605"/>
            <a:ext cx="1440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operations: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565" y="1378708"/>
            <a:ext cx="1440100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 dirty="0"/>
              <a:t>push, pop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137" y="1378708"/>
            <a:ext cx="1440100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e.g. </a:t>
            </a:r>
          </a:p>
          <a:p>
            <a:r>
              <a:rPr lang="en-US" sz="2000" dirty="0" err="1"/>
              <a:t>getFirst</a:t>
            </a:r>
            <a:r>
              <a:rPr lang="en-US" sz="2000" dirty="0"/>
              <a:t>, </a:t>
            </a:r>
            <a:r>
              <a:rPr lang="en-US" sz="2000" dirty="0" err="1"/>
              <a:t>addLast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1005465" y="4068737"/>
            <a:ext cx="1440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structure: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805" y="4247846"/>
            <a:ext cx="1011824" cy="400110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9555" y="4294013"/>
            <a:ext cx="1011824" cy="707886"/>
          </a:xfrm>
          <a:prstGeom prst="rect">
            <a:avLst/>
          </a:prstGeom>
          <a:noFill/>
          <a:ln>
            <a:solidFill>
              <a:srgbClr val="008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linked list</a:t>
            </a:r>
          </a:p>
        </p:txBody>
      </p:sp>
      <p:cxnSp>
        <p:nvCxnSpPr>
          <p:cNvPr id="14" name="Straight Arrow Connector 13"/>
          <p:cNvCxnSpPr>
            <a:stCxn id="9" idx="2"/>
          </p:cNvCxnSpPr>
          <p:nvPr/>
        </p:nvCxnSpPr>
        <p:spPr>
          <a:xfrm>
            <a:off x="3165615" y="2086594"/>
            <a:ext cx="0" cy="735991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134908" y="2394371"/>
            <a:ext cx="0" cy="428214"/>
          </a:xfrm>
          <a:prstGeom prst="straightConnector1">
            <a:avLst/>
          </a:prstGeom>
          <a:ln>
            <a:solidFill>
              <a:srgbClr val="0000FF"/>
            </a:solidFill>
            <a:prstDash val="solid"/>
            <a:headEnd type="triangle" w="lg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99555" y="2822585"/>
            <a:ext cx="1011824" cy="400110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queue                      </a:t>
            </a:r>
          </a:p>
        </p:txBody>
      </p:sp>
      <p:cxnSp>
        <p:nvCxnSpPr>
          <p:cNvPr id="17" name="Straight Arrow Connector 16"/>
          <p:cNvCxnSpPr>
            <a:stCxn id="7" idx="2"/>
            <a:endCxn id="12" idx="0"/>
          </p:cNvCxnSpPr>
          <p:nvPr/>
        </p:nvCxnSpPr>
        <p:spPr>
          <a:xfrm>
            <a:off x="3165615" y="3222695"/>
            <a:ext cx="8102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217457" y="3222695"/>
            <a:ext cx="1739310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168034" y="3222695"/>
            <a:ext cx="8102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2"/>
          </p:cNvCxnSpPr>
          <p:nvPr/>
        </p:nvCxnSpPr>
        <p:spPr>
          <a:xfrm flipH="1">
            <a:off x="3404471" y="3222695"/>
            <a:ext cx="1800996" cy="102515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2153" y="5691628"/>
            <a:ext cx="7171934" cy="64633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 ADT algorithm is linked to one thing from each row (an ADT, an operation, and the data structure used to implement the ADT)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4484" y="3563514"/>
            <a:ext cx="245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853583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9208</TotalTime>
  <Words>2592</Words>
  <Application>Microsoft Macintosh PowerPoint</Application>
  <PresentationFormat>On-screen Show (4:3)</PresentationFormat>
  <Paragraphs>501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Courier New</vt:lpstr>
      <vt:lpstr>Symbol</vt:lpstr>
      <vt:lpstr>Times New Roman</vt:lpstr>
      <vt:lpstr>Wingdings</vt:lpstr>
      <vt:lpstr>Clarity</vt:lpstr>
      <vt:lpstr> 7. Queue ADTs</vt:lpstr>
      <vt:lpstr>Queue concepts</vt:lpstr>
      <vt:lpstr>Example: bus queue</vt:lpstr>
      <vt:lpstr>Queue applications</vt:lpstr>
      <vt:lpstr>Example: demerging (1)</vt:lpstr>
      <vt:lpstr>Example: demerging (2)</vt:lpstr>
      <vt:lpstr>Queue ADT: requirements</vt:lpstr>
      <vt:lpstr>Queue ADT: contract (1)</vt:lpstr>
      <vt:lpstr>Queue ADT: contract (2)</vt:lpstr>
      <vt:lpstr>Implementation of queues using arrays (1)</vt:lpstr>
      <vt:lpstr>Implementation of queues using arrays (2)</vt:lpstr>
      <vt:lpstr>Implementation of queues using arrays (3)</vt:lpstr>
      <vt:lpstr>Cyclic arrays</vt:lpstr>
      <vt:lpstr>Implementation of queues using cyclic arrays (1)</vt:lpstr>
      <vt:lpstr>Implementation of queues using cyclic  arrays (2)</vt:lpstr>
      <vt:lpstr>Implementation of queues using cyclic  arrays (3)</vt:lpstr>
      <vt:lpstr>Implementation of queues using cyclic arrays (4)</vt:lpstr>
      <vt:lpstr>Implementation of queues using cyclic  arrays (5)</vt:lpstr>
      <vt:lpstr>Implementation of queues using cyclic arrays (6)</vt:lpstr>
      <vt:lpstr>Implementation of queues using SLLs (1)</vt:lpstr>
      <vt:lpstr>Implementation of queues using SLLs (2)</vt:lpstr>
      <vt:lpstr>Implementation of queues using SLLs (3)</vt:lpstr>
      <vt:lpstr>Implementation of queues using SLLs (4)</vt:lpstr>
      <vt:lpstr>Implementation of queues using SLLs (5)</vt:lpstr>
      <vt:lpstr>Implementation of queues using SLLs (6)</vt:lpstr>
      <vt:lpstr>Queues in the Java class library</vt:lpstr>
      <vt:lpstr>Examples: demerging again (1)</vt:lpstr>
      <vt:lpstr>Examples: Deque</vt:lpstr>
      <vt:lpstr>Summary of terms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Queue ADTs</dc:title>
  <dc:creator>Alice</dc:creator>
  <cp:lastModifiedBy>Alice Miller</cp:lastModifiedBy>
  <cp:revision>19</cp:revision>
  <dcterms:created xsi:type="dcterms:W3CDTF">2006-08-16T00:00:00Z</dcterms:created>
  <dcterms:modified xsi:type="dcterms:W3CDTF">2021-04-07T12:45:18Z</dcterms:modified>
</cp:coreProperties>
</file>