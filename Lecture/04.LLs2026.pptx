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100"/>
    <a:srgbClr val="B21E92"/>
    <a:srgbClr val="963A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37"/>
  </p:normalViewPr>
  <p:slideViewPr>
    <p:cSldViewPr>
      <p:cViewPr varScale="1">
        <p:scale>
          <a:sx n="103" d="100"/>
          <a:sy n="103" d="100"/>
        </p:scale>
        <p:origin x="188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3B5863-BA30-4462-802D-AADA8556B56D}" type="datetimeFigureOut">
              <a:rPr lang="en-GB" smtClean="0"/>
              <a:t>06/04/2021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791EEA-6630-49F5-877B-B1898AB554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5499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D7268-A3F0-4E2C-9DCE-866E50B37E13}" type="datetime1">
              <a:rPr lang="en-US" smtClean="0"/>
              <a:t>4/6/21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8E831-BF4D-48E6-9FF8-C91A7FBE1561}" type="datetime1">
              <a:rPr lang="en-US" smtClean="0"/>
              <a:t>4/6/21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10CFC-7274-4A34-A11C-2FEF3D9DD926}" type="datetime1">
              <a:rPr lang="en-US" smtClean="0"/>
              <a:t>4/6/21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C71F2-93B1-45E4-96AF-E25DA4A7CE3C}" type="datetime1">
              <a:rPr lang="en-US" smtClean="0"/>
              <a:t>4/6/21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32843-7C70-47E9-941D-F9D5E354601B}" type="datetime1">
              <a:rPr lang="en-US" smtClean="0"/>
              <a:t>4/6/21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8110A-3304-44A5-BE16-7DBAF8C1F7B4}" type="datetime1">
              <a:rPr lang="en-US" smtClean="0"/>
              <a:t>4/6/21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BF7AF-2F5E-4EA0-AD43-5945584A2019}" type="datetime1">
              <a:rPr lang="en-US" smtClean="0"/>
              <a:t>4/6/21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09C09-82E6-4F08-A270-C869B46C7283}" type="datetime1">
              <a:rPr lang="en-US" smtClean="0"/>
              <a:t>4/6/21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24E74-52E7-494B-BEB0-F964DCAC8C53}" type="datetime1">
              <a:rPr lang="en-US" smtClean="0"/>
              <a:t>4/6/21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8916-4423-4EAF-8A93-E5D7FEB8B409}" type="datetime1">
              <a:rPr lang="en-US" smtClean="0"/>
              <a:t>4/6/21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E4773-7922-47CF-A393-D4051ECE9E1D}" type="datetime1">
              <a:rPr lang="en-US" smtClean="0"/>
              <a:t>4/6/21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6675" y="188913"/>
            <a:ext cx="6142038" cy="7191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547813" y="1700213"/>
            <a:ext cx="7197725" cy="4621212"/>
          </a:xfrm>
        </p:spPr>
        <p:txBody>
          <a:bodyPr/>
          <a:lstStyle/>
          <a:p>
            <a:pPr lv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63702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A1003E8A-F6D3-4AA8-860D-16ED678403C7}" type="datetime1">
              <a:rPr lang="en-US" smtClean="0"/>
              <a:t>4/6/21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" y="1371600"/>
            <a:ext cx="8280400" cy="889000"/>
          </a:xfrm>
        </p:spPr>
        <p:txBody>
          <a:bodyPr/>
          <a:lstStyle/>
          <a:p>
            <a:pPr algn="ctr" eaLnBrk="1" hangingPunct="1"/>
            <a:br>
              <a:rPr lang="en-GB" altLang="en-US" sz="3600" dirty="0">
                <a:solidFill>
                  <a:schemeClr val="folHlink"/>
                </a:solidFill>
              </a:rPr>
            </a:br>
            <a:r>
              <a:rPr lang="en-GB" altLang="en-US" sz="3600" dirty="0">
                <a:solidFill>
                  <a:schemeClr val="folHlink"/>
                </a:solidFill>
              </a:rPr>
              <a:t>4.  Linked-List Data Structures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19802" y="3581400"/>
            <a:ext cx="7959725" cy="3638550"/>
          </a:xfrm>
        </p:spPr>
        <p:txBody>
          <a:bodyPr/>
          <a:lstStyle/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Linked-lists: singly-linked-lists, doubly-linked-lists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Insertion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Deletion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Searching</a:t>
            </a:r>
            <a:endParaRPr lang="en-GB" altLang="en-US" sz="2400" dirty="0"/>
          </a:p>
        </p:txBody>
      </p:sp>
      <p:sp>
        <p:nvSpPr>
          <p:cNvPr id="3076" name="Rectangle 5"/>
          <p:cNvSpPr>
            <a:spLocks noChangeArrowheads="1"/>
          </p:cNvSpPr>
          <p:nvPr/>
        </p:nvSpPr>
        <p:spPr bwMode="auto">
          <a:xfrm>
            <a:off x="1908175" y="6380163"/>
            <a:ext cx="5256213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GB" altLang="en-US" sz="2000">
                <a:solidFill>
                  <a:schemeClr val="bg1"/>
                </a:solidFill>
                <a:cs typeface="Arial" charset="0"/>
              </a:rPr>
              <a:t>© 2008 David A Watt, University of Glasgow</a:t>
            </a:r>
          </a:p>
        </p:txBody>
      </p:sp>
      <p:sp>
        <p:nvSpPr>
          <p:cNvPr id="3077" name="Rectangle 6"/>
          <p:cNvSpPr>
            <a:spLocks noChangeArrowheads="1"/>
          </p:cNvSpPr>
          <p:nvPr/>
        </p:nvSpPr>
        <p:spPr bwMode="auto">
          <a:xfrm>
            <a:off x="4499665" y="465612"/>
            <a:ext cx="392588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buFont typeface="Wingdings" pitchFamily="2" charset="2"/>
              <a:buNone/>
            </a:pPr>
            <a:r>
              <a:rPr lang="en-GB" altLang="en-US" sz="2000" dirty="0">
                <a:solidFill>
                  <a:schemeClr val="tx2"/>
                </a:solidFill>
                <a:cs typeface="Arial" charset="0"/>
              </a:rPr>
              <a:t>Algorithms &amp; Data Structures (M)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762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Linked-lists </a:t>
            </a:r>
            <a:r>
              <a:rPr lang="en-US" altLang="en-US" sz="3200" i="1" dirty="0"/>
              <a:t>(1)</a:t>
            </a:r>
            <a:endParaRPr lang="en-GB" altLang="en-US" sz="320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334591" y="1195213"/>
            <a:ext cx="7620000" cy="4800600"/>
          </a:xfrm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A </a:t>
            </a:r>
            <a:r>
              <a:rPr lang="en-US" altLang="en-US" b="1" dirty="0">
                <a:cs typeface="Times New Roman" pitchFamily="18" charset="0"/>
              </a:rPr>
              <a:t>linked-list</a:t>
            </a:r>
            <a:r>
              <a:rPr lang="en-US" altLang="en-US" dirty="0">
                <a:cs typeface="Times New Roman" pitchFamily="18" charset="0"/>
              </a:rPr>
              <a:t> consists of a </a:t>
            </a:r>
            <a:r>
              <a:rPr lang="en-US" altLang="en-US" b="1" dirty="0">
                <a:cs typeface="Times New Roman" pitchFamily="18" charset="0"/>
              </a:rPr>
              <a:t>header</a:t>
            </a:r>
            <a:r>
              <a:rPr lang="en-US" altLang="en-US" dirty="0">
                <a:cs typeface="Times New Roman" pitchFamily="18" charset="0"/>
              </a:rPr>
              <a:t> together with a sequence of </a:t>
            </a:r>
            <a:r>
              <a:rPr lang="en-US" altLang="en-US" b="1" dirty="0">
                <a:cs typeface="Times New Roman" pitchFamily="18" charset="0"/>
              </a:rPr>
              <a:t>nodes</a:t>
            </a:r>
            <a:r>
              <a:rPr lang="en-US" altLang="en-US" dirty="0">
                <a:cs typeface="Times New Roman" pitchFamily="18" charset="0"/>
              </a:rPr>
              <a:t> connected by </a:t>
            </a:r>
            <a:r>
              <a:rPr lang="en-US" altLang="en-US" b="1" dirty="0">
                <a:cs typeface="Times New Roman" pitchFamily="18" charset="0"/>
              </a:rPr>
              <a:t>links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Each node (except the last) has </a:t>
            </a:r>
            <a:r>
              <a:rPr lang="en-US" altLang="en-US">
                <a:cs typeface="Times New Roman" pitchFamily="18" charset="0"/>
              </a:rPr>
              <a:t>a </a:t>
            </a:r>
            <a:r>
              <a:rPr lang="en-US" altLang="en-US" b="1">
                <a:cs typeface="Times New Roman" pitchFamily="18" charset="0"/>
              </a:rPr>
              <a:t>next</a:t>
            </a:r>
            <a:r>
              <a:rPr lang="en-US" altLang="en-US">
                <a:cs typeface="Times New Roman" pitchFamily="18" charset="0"/>
              </a:rPr>
              <a:t> </a:t>
            </a:r>
            <a:r>
              <a:rPr lang="en-US" altLang="en-US" dirty="0">
                <a:cs typeface="Times New Roman" pitchFamily="18" charset="0"/>
              </a:rPr>
              <a:t>node.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Each node (except the first) has a </a:t>
            </a:r>
            <a:r>
              <a:rPr lang="en-US" altLang="en-US" b="1" dirty="0">
                <a:cs typeface="Times New Roman" pitchFamily="18" charset="0"/>
              </a:rPr>
              <a:t>predecessor</a:t>
            </a:r>
            <a:r>
              <a:rPr lang="en-US" altLang="en-US" dirty="0">
                <a:cs typeface="Times New Roman" pitchFamily="18" charset="0"/>
              </a:rPr>
              <a:t> node.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Each node contains a single element (value or object), plus links to </a:t>
            </a:r>
            <a:r>
              <a:rPr lang="en-US" altLang="en-US">
                <a:cs typeface="Times New Roman" pitchFamily="18" charset="0"/>
              </a:rPr>
              <a:t>its next and/or </a:t>
            </a:r>
            <a:r>
              <a:rPr lang="en-US" altLang="en-US" dirty="0">
                <a:cs typeface="Times New Roman" pitchFamily="18" charset="0"/>
              </a:rPr>
              <a:t>predecessor.</a:t>
            </a:r>
          </a:p>
        </p:txBody>
      </p:sp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1139825" y="3886200"/>
            <a:ext cx="5105400" cy="304800"/>
            <a:chOff x="1558" y="2745"/>
            <a:chExt cx="3216" cy="192"/>
          </a:xfrm>
        </p:grpSpPr>
        <p:sp>
          <p:nvSpPr>
            <p:cNvPr id="4122" name="Rectangle 6"/>
            <p:cNvSpPr>
              <a:spLocks noChangeArrowheads="1"/>
            </p:cNvSpPr>
            <p:nvPr/>
          </p:nvSpPr>
          <p:spPr bwMode="auto">
            <a:xfrm>
              <a:off x="1558" y="2745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4123" name="Line 7"/>
            <p:cNvSpPr>
              <a:spLocks noChangeShapeType="1"/>
            </p:cNvSpPr>
            <p:nvPr/>
          </p:nvSpPr>
          <p:spPr bwMode="auto">
            <a:xfrm>
              <a:off x="1654" y="2841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24" name="Text Box 8"/>
            <p:cNvSpPr txBox="1">
              <a:spLocks noChangeArrowheads="1"/>
            </p:cNvSpPr>
            <p:nvPr/>
          </p:nvSpPr>
          <p:spPr bwMode="auto">
            <a:xfrm>
              <a:off x="2182" y="2745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ant</a:t>
              </a:r>
            </a:p>
          </p:txBody>
        </p:sp>
        <p:sp>
          <p:nvSpPr>
            <p:cNvPr id="4125" name="Text Box 9"/>
            <p:cNvSpPr txBox="1">
              <a:spLocks noChangeArrowheads="1"/>
            </p:cNvSpPr>
            <p:nvPr/>
          </p:nvSpPr>
          <p:spPr bwMode="auto">
            <a:xfrm>
              <a:off x="3190" y="2745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bat</a:t>
              </a:r>
            </a:p>
          </p:txBody>
        </p:sp>
        <p:sp>
          <p:nvSpPr>
            <p:cNvPr id="4126" name="Text Box 10"/>
            <p:cNvSpPr txBox="1">
              <a:spLocks noChangeArrowheads="1"/>
            </p:cNvSpPr>
            <p:nvPr/>
          </p:nvSpPr>
          <p:spPr bwMode="auto">
            <a:xfrm>
              <a:off x="4198" y="2745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4127" name="Line 11"/>
            <p:cNvSpPr>
              <a:spLocks noChangeShapeType="1"/>
            </p:cNvSpPr>
            <p:nvPr/>
          </p:nvSpPr>
          <p:spPr bwMode="auto">
            <a:xfrm>
              <a:off x="2662" y="2841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28" name="Line 12"/>
            <p:cNvSpPr>
              <a:spLocks noChangeShapeType="1"/>
            </p:cNvSpPr>
            <p:nvPr/>
          </p:nvSpPr>
          <p:spPr bwMode="auto">
            <a:xfrm>
              <a:off x="3670" y="2841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29" name="Line 13"/>
            <p:cNvSpPr>
              <a:spLocks noChangeShapeType="1"/>
            </p:cNvSpPr>
            <p:nvPr/>
          </p:nvSpPr>
          <p:spPr bwMode="auto">
            <a:xfrm>
              <a:off x="4678" y="284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05180" name="AutoShape 28"/>
          <p:cNvSpPr>
            <a:spLocks/>
          </p:cNvSpPr>
          <p:nvPr/>
        </p:nvSpPr>
        <p:spPr bwMode="auto">
          <a:xfrm>
            <a:off x="334591" y="4495800"/>
            <a:ext cx="792163" cy="280987"/>
          </a:xfrm>
          <a:prstGeom prst="callout1">
            <a:avLst>
              <a:gd name="adj1" fmla="val 36449"/>
              <a:gd name="adj2" fmla="val 102125"/>
              <a:gd name="adj3" fmla="val -103389"/>
              <a:gd name="adj4" fmla="val 127657"/>
            </a:avLst>
          </a:prstGeom>
          <a:noFill/>
          <a:ln w="9525">
            <a:solidFill>
              <a:schemeClr val="accent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>
                <a:solidFill>
                  <a:schemeClr val="accent1">
                    <a:lumMod val="75000"/>
                  </a:schemeClr>
                </a:solidFill>
              </a:rPr>
              <a:t>header</a:t>
            </a:r>
            <a:endParaRPr lang="en-GB" altLang="en-US" sz="1800">
              <a:solidFill>
                <a:schemeClr val="accent1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305181" name="AutoShape 29"/>
          <p:cNvSpPr>
            <a:spLocks/>
          </p:cNvSpPr>
          <p:nvPr/>
        </p:nvSpPr>
        <p:spPr bwMode="auto">
          <a:xfrm>
            <a:off x="6705600" y="4423382"/>
            <a:ext cx="854075" cy="244475"/>
          </a:xfrm>
          <a:prstGeom prst="callout1">
            <a:avLst>
              <a:gd name="adj1" fmla="val 46755"/>
              <a:gd name="adj2" fmla="val -579"/>
              <a:gd name="adj3" fmla="val -155843"/>
              <a:gd name="adj4" fmla="val -67657"/>
            </a:avLst>
          </a:prstGeom>
          <a:noFill/>
          <a:ln w="9525">
            <a:solidFill>
              <a:schemeClr val="accent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null link</a:t>
            </a:r>
            <a:endParaRPr lang="en-GB" altLang="en-US" sz="1800" dirty="0">
              <a:solidFill>
                <a:schemeClr val="accent1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305183" name="AutoShape 31"/>
          <p:cNvSpPr>
            <a:spLocks/>
          </p:cNvSpPr>
          <p:nvPr/>
        </p:nvSpPr>
        <p:spPr bwMode="auto">
          <a:xfrm>
            <a:off x="5684406" y="4545620"/>
            <a:ext cx="455612" cy="244475"/>
          </a:xfrm>
          <a:prstGeom prst="callout1">
            <a:avLst>
              <a:gd name="adj1" fmla="val 41898"/>
              <a:gd name="adj2" fmla="val -6301"/>
              <a:gd name="adj3" fmla="val -161690"/>
              <a:gd name="adj4" fmla="val -140769"/>
            </a:avLst>
          </a:prstGeom>
          <a:noFill/>
          <a:ln w="9525">
            <a:solidFill>
              <a:schemeClr val="accent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>
                <a:solidFill>
                  <a:schemeClr val="accent1">
                    <a:lumMod val="75000"/>
                  </a:schemeClr>
                </a:solidFill>
              </a:rPr>
              <a:t>link</a:t>
            </a:r>
            <a:endParaRPr lang="en-GB" altLang="en-US" sz="1800">
              <a:solidFill>
                <a:schemeClr val="accent1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305184" name="AutoShape 32"/>
          <p:cNvSpPr>
            <a:spLocks/>
          </p:cNvSpPr>
          <p:nvPr/>
        </p:nvSpPr>
        <p:spPr bwMode="auto">
          <a:xfrm>
            <a:off x="1780886" y="4534065"/>
            <a:ext cx="552450" cy="244475"/>
          </a:xfrm>
          <a:prstGeom prst="callout1">
            <a:avLst>
              <a:gd name="adj1" fmla="val 41898"/>
              <a:gd name="adj2" fmla="val 103046"/>
              <a:gd name="adj3" fmla="val -123375"/>
              <a:gd name="adj4" fmla="val 145116"/>
            </a:avLst>
          </a:prstGeom>
          <a:noFill/>
          <a:ln w="9525">
            <a:solidFill>
              <a:schemeClr val="accent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node</a:t>
            </a:r>
            <a:endParaRPr lang="en-GB" altLang="en-US" sz="1800" dirty="0">
              <a:solidFill>
                <a:schemeClr val="accent1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305182" name="AutoShape 30"/>
          <p:cNvSpPr>
            <a:spLocks/>
          </p:cNvSpPr>
          <p:nvPr/>
        </p:nvSpPr>
        <p:spPr bwMode="auto">
          <a:xfrm>
            <a:off x="4478338" y="4495800"/>
            <a:ext cx="852487" cy="244475"/>
          </a:xfrm>
          <a:prstGeom prst="callout1">
            <a:avLst>
              <a:gd name="adj1" fmla="val 46755"/>
              <a:gd name="adj2" fmla="val -4759"/>
              <a:gd name="adj3" fmla="val -153898"/>
              <a:gd name="adj4" fmla="val -31843"/>
            </a:avLst>
          </a:prstGeom>
          <a:noFill/>
          <a:ln w="9525">
            <a:solidFill>
              <a:schemeClr val="accent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element</a:t>
            </a:r>
            <a:endParaRPr lang="en-GB" altLang="en-US" sz="1800" dirty="0">
              <a:solidFill>
                <a:schemeClr val="accent1">
                  <a:lumMod val="75000"/>
                </a:schemeClr>
              </a:solidFill>
              <a:cs typeface="Times New Roman" pitchFamily="18" charset="0"/>
            </a:endParaRPr>
          </a:p>
        </p:txBody>
      </p: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1160680" y="5384224"/>
            <a:ext cx="5446713" cy="619125"/>
            <a:chOff x="1558" y="3471"/>
            <a:chExt cx="3431" cy="390"/>
          </a:xfrm>
        </p:grpSpPr>
        <p:sp>
          <p:nvSpPr>
            <p:cNvPr id="4107" name="Line 36"/>
            <p:cNvSpPr>
              <a:spLocks noChangeShapeType="1"/>
            </p:cNvSpPr>
            <p:nvPr/>
          </p:nvSpPr>
          <p:spPr bwMode="auto">
            <a:xfrm flipV="1">
              <a:off x="4989" y="3589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08" name="Rectangle 15"/>
            <p:cNvSpPr>
              <a:spLocks noChangeArrowheads="1"/>
            </p:cNvSpPr>
            <p:nvPr/>
          </p:nvSpPr>
          <p:spPr bwMode="auto">
            <a:xfrm>
              <a:off x="1558" y="3477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4109" name="Rectangle 16"/>
            <p:cNvSpPr>
              <a:spLocks noChangeArrowheads="1"/>
            </p:cNvSpPr>
            <p:nvPr/>
          </p:nvSpPr>
          <p:spPr bwMode="auto">
            <a:xfrm>
              <a:off x="1558" y="3669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4110" name="Text Box 17"/>
            <p:cNvSpPr txBox="1">
              <a:spLocks noChangeArrowheads="1"/>
            </p:cNvSpPr>
            <p:nvPr/>
          </p:nvSpPr>
          <p:spPr bwMode="auto">
            <a:xfrm>
              <a:off x="2182" y="3471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ant</a:t>
              </a:r>
            </a:p>
          </p:txBody>
        </p:sp>
        <p:sp>
          <p:nvSpPr>
            <p:cNvPr id="4111" name="Text Box 18"/>
            <p:cNvSpPr txBox="1">
              <a:spLocks noChangeArrowheads="1"/>
            </p:cNvSpPr>
            <p:nvPr/>
          </p:nvSpPr>
          <p:spPr bwMode="auto">
            <a:xfrm>
              <a:off x="3190" y="3471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bat</a:t>
              </a:r>
            </a:p>
          </p:txBody>
        </p:sp>
        <p:sp>
          <p:nvSpPr>
            <p:cNvPr id="4112" name="Text Box 19"/>
            <p:cNvSpPr txBox="1">
              <a:spLocks noChangeArrowheads="1"/>
            </p:cNvSpPr>
            <p:nvPr/>
          </p:nvSpPr>
          <p:spPr bwMode="auto">
            <a:xfrm>
              <a:off x="4198" y="3471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4113" name="Line 20"/>
            <p:cNvSpPr>
              <a:spLocks noChangeShapeType="1"/>
            </p:cNvSpPr>
            <p:nvPr/>
          </p:nvSpPr>
          <p:spPr bwMode="auto">
            <a:xfrm>
              <a:off x="2662" y="3525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14" name="Line 21"/>
            <p:cNvSpPr>
              <a:spLocks noChangeShapeType="1"/>
            </p:cNvSpPr>
            <p:nvPr/>
          </p:nvSpPr>
          <p:spPr bwMode="auto">
            <a:xfrm>
              <a:off x="3670" y="3525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15" name="Line 22"/>
            <p:cNvSpPr>
              <a:spLocks noChangeShapeType="1"/>
            </p:cNvSpPr>
            <p:nvPr/>
          </p:nvSpPr>
          <p:spPr bwMode="auto">
            <a:xfrm>
              <a:off x="4678" y="353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16" name="Freeform 23"/>
            <p:cNvSpPr>
              <a:spLocks/>
            </p:cNvSpPr>
            <p:nvPr/>
          </p:nvSpPr>
          <p:spPr bwMode="auto">
            <a:xfrm>
              <a:off x="1654" y="3525"/>
              <a:ext cx="528" cy="48"/>
            </a:xfrm>
            <a:custGeom>
              <a:avLst/>
              <a:gdLst>
                <a:gd name="T0" fmla="*/ 0 w 528"/>
                <a:gd name="T1" fmla="*/ 48 h 48"/>
                <a:gd name="T2" fmla="*/ 96 w 528"/>
                <a:gd name="T3" fmla="*/ 0 h 48"/>
                <a:gd name="T4" fmla="*/ 528 w 528"/>
                <a:gd name="T5" fmla="*/ 0 h 48"/>
                <a:gd name="T6" fmla="*/ 0 60000 65536"/>
                <a:gd name="T7" fmla="*/ 0 60000 65536"/>
                <a:gd name="T8" fmla="*/ 0 60000 65536"/>
                <a:gd name="T9" fmla="*/ 0 w 528"/>
                <a:gd name="T10" fmla="*/ 0 h 48"/>
                <a:gd name="T11" fmla="*/ 528 w 528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48">
                  <a:moveTo>
                    <a:pt x="0" y="48"/>
                  </a:moveTo>
                  <a:lnTo>
                    <a:pt x="96" y="0"/>
                  </a:lnTo>
                  <a:lnTo>
                    <a:pt x="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17" name="Line 24"/>
            <p:cNvSpPr>
              <a:spLocks noChangeShapeType="1"/>
            </p:cNvSpPr>
            <p:nvPr/>
          </p:nvSpPr>
          <p:spPr bwMode="auto">
            <a:xfrm flipH="1">
              <a:off x="3766" y="3589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18" name="Line 25"/>
            <p:cNvSpPr>
              <a:spLocks noChangeShapeType="1"/>
            </p:cNvSpPr>
            <p:nvPr/>
          </p:nvSpPr>
          <p:spPr bwMode="auto">
            <a:xfrm flipH="1">
              <a:off x="2758" y="3589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19" name="Line 26"/>
            <p:cNvSpPr>
              <a:spLocks noChangeShapeType="1"/>
            </p:cNvSpPr>
            <p:nvPr/>
          </p:nvSpPr>
          <p:spPr bwMode="auto">
            <a:xfrm>
              <a:off x="2278" y="3589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20" name="Line 35"/>
            <p:cNvSpPr>
              <a:spLocks noChangeShapeType="1"/>
            </p:cNvSpPr>
            <p:nvPr/>
          </p:nvSpPr>
          <p:spPr bwMode="auto">
            <a:xfrm>
              <a:off x="1655" y="3770"/>
              <a:ext cx="33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121" name="Line 37"/>
            <p:cNvSpPr>
              <a:spLocks noChangeShapeType="1"/>
            </p:cNvSpPr>
            <p:nvPr/>
          </p:nvSpPr>
          <p:spPr bwMode="auto">
            <a:xfrm flipH="1">
              <a:off x="4785" y="3589"/>
              <a:ext cx="2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522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5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5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5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5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80" grpId="0" animBg="1" autoUpdateAnimBg="0"/>
      <p:bldP spid="305181" grpId="0" animBg="1" autoUpdateAnimBg="0"/>
      <p:bldP spid="305183" grpId="0" animBg="1" autoUpdateAnimBg="0"/>
      <p:bldP spid="305184" grpId="0" animBg="1" autoUpdateAnimBg="0"/>
      <p:bldP spid="305182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Linked-lists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379413" y="1295400"/>
            <a:ext cx="7620000" cy="4800600"/>
          </a:xfrm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The </a:t>
            </a:r>
            <a:r>
              <a:rPr lang="en-US" altLang="en-US" b="1" dirty="0">
                <a:cs typeface="Times New Roman" pitchFamily="18" charset="0"/>
              </a:rPr>
              <a:t>length</a:t>
            </a:r>
            <a:r>
              <a:rPr lang="en-US" altLang="en-US" dirty="0">
                <a:cs typeface="Times New Roman" pitchFamily="18" charset="0"/>
              </a:rPr>
              <a:t> of a linked-list is its number of nodes.</a:t>
            </a:r>
          </a:p>
          <a:p>
            <a:pPr eaLnBrk="1" hangingPunct="1"/>
            <a:r>
              <a:rPr lang="en-US" altLang="en-US" dirty="0">
                <a:cs typeface="Times New Roman" pitchFamily="18" charset="0"/>
              </a:rPr>
              <a:t>An </a:t>
            </a:r>
            <a:r>
              <a:rPr lang="en-US" altLang="en-US" b="1" dirty="0">
                <a:cs typeface="Times New Roman" pitchFamily="18" charset="0"/>
              </a:rPr>
              <a:t>empty</a:t>
            </a:r>
            <a:r>
              <a:rPr lang="en-US" altLang="en-US" dirty="0">
                <a:cs typeface="Times New Roman" pitchFamily="18" charset="0"/>
              </a:rPr>
              <a:t> linked-list has no nodes.</a:t>
            </a:r>
          </a:p>
          <a:p>
            <a:pPr eaLnBrk="1" hangingPunct="1"/>
            <a:r>
              <a:rPr lang="en-US" altLang="en-US" dirty="0">
                <a:cs typeface="Times New Roman" pitchFamily="18" charset="0"/>
              </a:rPr>
              <a:t>We can manipulate a linked-list’s elements.</a:t>
            </a:r>
          </a:p>
          <a:p>
            <a:pPr eaLnBrk="1" hangingPunct="1"/>
            <a:r>
              <a:rPr lang="en-US" altLang="en-US" dirty="0">
                <a:cs typeface="Times New Roman" pitchFamily="18" charset="0"/>
              </a:rPr>
              <a:t>We can also manipulate a linked-list’s links, and thus change its very structure! </a:t>
            </a:r>
            <a:br>
              <a:rPr lang="en-US" altLang="en-US" dirty="0">
                <a:cs typeface="Times New Roman" pitchFamily="18" charset="0"/>
              </a:rPr>
            </a:br>
            <a:r>
              <a:rPr lang="en-US" altLang="en-US" dirty="0">
                <a:cs typeface="Times New Roman" pitchFamily="18" charset="0"/>
              </a:rPr>
              <a:t>E.g.:</a:t>
            </a: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950913" y="4343400"/>
            <a:ext cx="6172200" cy="304800"/>
            <a:chOff x="1247" y="3189"/>
            <a:chExt cx="3888" cy="192"/>
          </a:xfrm>
        </p:grpSpPr>
        <p:sp>
          <p:nvSpPr>
            <p:cNvPr id="5136" name="Rectangle 5"/>
            <p:cNvSpPr>
              <a:spLocks noChangeArrowheads="1"/>
            </p:cNvSpPr>
            <p:nvPr/>
          </p:nvSpPr>
          <p:spPr bwMode="auto">
            <a:xfrm>
              <a:off x="1919" y="3189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5137" name="Line 6"/>
            <p:cNvSpPr>
              <a:spLocks noChangeShapeType="1"/>
            </p:cNvSpPr>
            <p:nvPr/>
          </p:nvSpPr>
          <p:spPr bwMode="auto">
            <a:xfrm>
              <a:off x="2015" y="3285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38" name="Text Box 7"/>
            <p:cNvSpPr txBox="1">
              <a:spLocks noChangeArrowheads="1"/>
            </p:cNvSpPr>
            <p:nvPr/>
          </p:nvSpPr>
          <p:spPr bwMode="auto">
            <a:xfrm>
              <a:off x="2543" y="3189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ant</a:t>
              </a:r>
            </a:p>
          </p:txBody>
        </p:sp>
        <p:sp>
          <p:nvSpPr>
            <p:cNvPr id="5139" name="Text Box 8"/>
            <p:cNvSpPr txBox="1">
              <a:spLocks noChangeArrowheads="1"/>
            </p:cNvSpPr>
            <p:nvPr/>
          </p:nvSpPr>
          <p:spPr bwMode="auto">
            <a:xfrm>
              <a:off x="3551" y="3189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bat</a:t>
              </a:r>
            </a:p>
          </p:txBody>
        </p:sp>
        <p:sp>
          <p:nvSpPr>
            <p:cNvPr id="5140" name="Text Box 9"/>
            <p:cNvSpPr txBox="1">
              <a:spLocks noChangeArrowheads="1"/>
            </p:cNvSpPr>
            <p:nvPr/>
          </p:nvSpPr>
          <p:spPr bwMode="auto">
            <a:xfrm>
              <a:off x="4559" y="3189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5141" name="Line 10"/>
            <p:cNvSpPr>
              <a:spLocks noChangeShapeType="1"/>
            </p:cNvSpPr>
            <p:nvPr/>
          </p:nvSpPr>
          <p:spPr bwMode="auto">
            <a:xfrm>
              <a:off x="3023" y="3285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42" name="Line 11"/>
            <p:cNvSpPr>
              <a:spLocks noChangeShapeType="1"/>
            </p:cNvSpPr>
            <p:nvPr/>
          </p:nvSpPr>
          <p:spPr bwMode="auto">
            <a:xfrm>
              <a:off x="4031" y="3285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43" name="Line 12"/>
            <p:cNvSpPr>
              <a:spLocks noChangeShapeType="1"/>
            </p:cNvSpPr>
            <p:nvPr/>
          </p:nvSpPr>
          <p:spPr bwMode="auto">
            <a:xfrm>
              <a:off x="5039" y="328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44" name="Text Box 13"/>
            <p:cNvSpPr txBox="1">
              <a:spLocks noChangeArrowheads="1"/>
            </p:cNvSpPr>
            <p:nvPr/>
          </p:nvSpPr>
          <p:spPr bwMode="auto">
            <a:xfrm>
              <a:off x="1247" y="3189"/>
              <a:ext cx="48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Before:</a:t>
              </a:r>
            </a:p>
          </p:txBody>
        </p:sp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950913" y="5194301"/>
            <a:ext cx="6172200" cy="476250"/>
            <a:chOff x="1247" y="3561"/>
            <a:chExt cx="3888" cy="300"/>
          </a:xfrm>
        </p:grpSpPr>
        <p:sp>
          <p:nvSpPr>
            <p:cNvPr id="5127" name="Text Box 15"/>
            <p:cNvSpPr txBox="1">
              <a:spLocks noChangeArrowheads="1"/>
            </p:cNvSpPr>
            <p:nvPr/>
          </p:nvSpPr>
          <p:spPr bwMode="auto">
            <a:xfrm>
              <a:off x="2543" y="356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ant</a:t>
              </a:r>
            </a:p>
          </p:txBody>
        </p:sp>
        <p:sp>
          <p:nvSpPr>
            <p:cNvPr id="5128" name="Rectangle 16"/>
            <p:cNvSpPr>
              <a:spLocks noChangeArrowheads="1"/>
            </p:cNvSpPr>
            <p:nvPr/>
          </p:nvSpPr>
          <p:spPr bwMode="auto">
            <a:xfrm>
              <a:off x="1919" y="3567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5129" name="Line 17"/>
            <p:cNvSpPr>
              <a:spLocks noChangeShapeType="1"/>
            </p:cNvSpPr>
            <p:nvPr/>
          </p:nvSpPr>
          <p:spPr bwMode="auto">
            <a:xfrm>
              <a:off x="2015" y="3663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30" name="Text Box 18"/>
            <p:cNvSpPr txBox="1">
              <a:spLocks noChangeArrowheads="1"/>
            </p:cNvSpPr>
            <p:nvPr/>
          </p:nvSpPr>
          <p:spPr bwMode="auto">
            <a:xfrm>
              <a:off x="3551" y="356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bat</a:t>
              </a:r>
            </a:p>
          </p:txBody>
        </p:sp>
        <p:sp>
          <p:nvSpPr>
            <p:cNvPr id="5131" name="Text Box 19"/>
            <p:cNvSpPr txBox="1">
              <a:spLocks noChangeArrowheads="1"/>
            </p:cNvSpPr>
            <p:nvPr/>
          </p:nvSpPr>
          <p:spPr bwMode="auto">
            <a:xfrm>
              <a:off x="4559" y="356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5132" name="Line 20"/>
            <p:cNvSpPr>
              <a:spLocks noChangeShapeType="1"/>
            </p:cNvSpPr>
            <p:nvPr/>
          </p:nvSpPr>
          <p:spPr bwMode="auto">
            <a:xfrm>
              <a:off x="4031" y="3663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33" name="Line 21"/>
            <p:cNvSpPr>
              <a:spLocks noChangeShapeType="1"/>
            </p:cNvSpPr>
            <p:nvPr/>
          </p:nvSpPr>
          <p:spPr bwMode="auto">
            <a:xfrm>
              <a:off x="5039" y="366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34" name="Text Box 22"/>
            <p:cNvSpPr txBox="1">
              <a:spLocks noChangeArrowheads="1"/>
            </p:cNvSpPr>
            <p:nvPr/>
          </p:nvSpPr>
          <p:spPr bwMode="auto">
            <a:xfrm>
              <a:off x="1247" y="3561"/>
              <a:ext cx="48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After:</a:t>
              </a:r>
            </a:p>
          </p:txBody>
        </p:sp>
        <p:sp>
          <p:nvSpPr>
            <p:cNvPr id="5135" name="Freeform 23"/>
            <p:cNvSpPr>
              <a:spLocks/>
            </p:cNvSpPr>
            <p:nvPr/>
          </p:nvSpPr>
          <p:spPr bwMode="auto">
            <a:xfrm>
              <a:off x="3023" y="3669"/>
              <a:ext cx="1536" cy="192"/>
            </a:xfrm>
            <a:custGeom>
              <a:avLst/>
              <a:gdLst>
                <a:gd name="T0" fmla="*/ 0 w 1536"/>
                <a:gd name="T1" fmla="*/ 0 h 192"/>
                <a:gd name="T2" fmla="*/ 528 w 1536"/>
                <a:gd name="T3" fmla="*/ 192 h 192"/>
                <a:gd name="T4" fmla="*/ 1104 w 1536"/>
                <a:gd name="T5" fmla="*/ 192 h 192"/>
                <a:gd name="T6" fmla="*/ 1536 w 1536"/>
                <a:gd name="T7" fmla="*/ 48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36"/>
                <a:gd name="T13" fmla="*/ 0 h 192"/>
                <a:gd name="T14" fmla="*/ 1536 w 1536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36" h="192">
                  <a:moveTo>
                    <a:pt x="0" y="0"/>
                  </a:moveTo>
                  <a:lnTo>
                    <a:pt x="528" y="192"/>
                  </a:lnTo>
                  <a:lnTo>
                    <a:pt x="1104" y="192"/>
                  </a:lnTo>
                  <a:lnTo>
                    <a:pt x="1536" y="48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75832" name="AutoShape 24"/>
          <p:cNvSpPr>
            <a:spLocks/>
          </p:cNvSpPr>
          <p:nvPr/>
        </p:nvSpPr>
        <p:spPr bwMode="auto">
          <a:xfrm>
            <a:off x="4608513" y="3200400"/>
            <a:ext cx="1798638" cy="719137"/>
          </a:xfrm>
          <a:prstGeom prst="callout1">
            <a:avLst>
              <a:gd name="adj1" fmla="val 15894"/>
              <a:gd name="adj2" fmla="val -4236"/>
              <a:gd name="adj3" fmla="val 7505"/>
              <a:gd name="adj4" fmla="val -26565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whereas an array’s structure can’t be changed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375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58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Singly-linked-lists </a:t>
            </a:r>
            <a:r>
              <a:rPr lang="en-US" altLang="en-US" sz="3200" i="1" dirty="0"/>
              <a:t>(1)</a:t>
            </a:r>
            <a:endParaRPr lang="en-GB" altLang="en-US" sz="32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365251"/>
            <a:ext cx="7620000" cy="4800600"/>
          </a:xfrm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A </a:t>
            </a:r>
            <a:r>
              <a:rPr lang="en-US" altLang="en-US" b="1" dirty="0">
                <a:cs typeface="Times New Roman" pitchFamily="18" charset="0"/>
              </a:rPr>
              <a:t>singly-linked-list</a:t>
            </a:r>
            <a:r>
              <a:rPr lang="en-US" altLang="en-US" dirty="0">
                <a:cs typeface="Times New Roman" pitchFamily="18" charset="0"/>
              </a:rPr>
              <a:t> (</a:t>
            </a:r>
            <a:r>
              <a:rPr lang="en-US" altLang="en-US" b="1" dirty="0">
                <a:cs typeface="Times New Roman" pitchFamily="18" charset="0"/>
              </a:rPr>
              <a:t>SLL</a:t>
            </a:r>
            <a:r>
              <a:rPr lang="en-US" altLang="en-US" dirty="0">
                <a:cs typeface="Times New Roman" pitchFamily="18" charset="0"/>
              </a:rPr>
              <a:t>) consists of a header together with a sequence of nodes connected by links in one direction only: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Each SLL node contains a single element, plus a link to the node’s </a:t>
            </a:r>
            <a:r>
              <a:rPr lang="en-US" altLang="en-US" b="1" dirty="0">
                <a:cs typeface="Times New Roman" pitchFamily="18" charset="0"/>
              </a:rPr>
              <a:t>next</a:t>
            </a:r>
            <a:r>
              <a:rPr lang="en-US" altLang="en-US" dirty="0">
                <a:cs typeface="Times New Roman" pitchFamily="18" charset="0"/>
              </a:rPr>
              <a:t> node (or null if the node has no </a:t>
            </a:r>
            <a:r>
              <a:rPr lang="en-US" altLang="en-US" b="1" dirty="0">
                <a:cs typeface="Times New Roman" pitchFamily="18" charset="0"/>
              </a:rPr>
              <a:t>next </a:t>
            </a:r>
            <a:r>
              <a:rPr lang="en-US" altLang="en-US" dirty="0">
                <a:cs typeface="Times New Roman" pitchFamily="18" charset="0"/>
              </a:rPr>
              <a:t>node).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The SLL header contains a link to the SLL’s first node (or a null link if the SLL is empty).</a:t>
            </a:r>
          </a:p>
        </p:txBody>
      </p:sp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877559" y="4285053"/>
            <a:ext cx="6705600" cy="304800"/>
            <a:chOff x="1491" y="3036"/>
            <a:chExt cx="4224" cy="192"/>
          </a:xfrm>
        </p:grpSpPr>
        <p:sp>
          <p:nvSpPr>
            <p:cNvPr id="6158" name="Rectangle 5"/>
            <p:cNvSpPr>
              <a:spLocks noChangeArrowheads="1"/>
            </p:cNvSpPr>
            <p:nvPr/>
          </p:nvSpPr>
          <p:spPr bwMode="auto">
            <a:xfrm>
              <a:off x="1491" y="3036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6159" name="Line 6"/>
            <p:cNvSpPr>
              <a:spLocks noChangeShapeType="1"/>
            </p:cNvSpPr>
            <p:nvPr/>
          </p:nvSpPr>
          <p:spPr bwMode="auto">
            <a:xfrm>
              <a:off x="1587" y="3132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60" name="Text Box 7"/>
            <p:cNvSpPr txBox="1">
              <a:spLocks noChangeArrowheads="1"/>
            </p:cNvSpPr>
            <p:nvPr/>
          </p:nvSpPr>
          <p:spPr bwMode="auto">
            <a:xfrm>
              <a:off x="2115" y="303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pig</a:t>
              </a:r>
            </a:p>
          </p:txBody>
        </p:sp>
        <p:sp>
          <p:nvSpPr>
            <p:cNvPr id="6161" name="Text Box 8"/>
            <p:cNvSpPr txBox="1">
              <a:spLocks noChangeArrowheads="1"/>
            </p:cNvSpPr>
            <p:nvPr/>
          </p:nvSpPr>
          <p:spPr bwMode="auto">
            <a:xfrm>
              <a:off x="3123" y="303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dog</a:t>
              </a:r>
            </a:p>
          </p:txBody>
        </p:sp>
        <p:sp>
          <p:nvSpPr>
            <p:cNvPr id="6162" name="Text Box 9"/>
            <p:cNvSpPr txBox="1">
              <a:spLocks noChangeArrowheads="1"/>
            </p:cNvSpPr>
            <p:nvPr/>
          </p:nvSpPr>
          <p:spPr bwMode="auto">
            <a:xfrm>
              <a:off x="5139" y="303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rat</a:t>
              </a:r>
            </a:p>
          </p:txBody>
        </p:sp>
        <p:sp>
          <p:nvSpPr>
            <p:cNvPr id="6163" name="Line 10"/>
            <p:cNvSpPr>
              <a:spLocks noChangeShapeType="1"/>
            </p:cNvSpPr>
            <p:nvPr/>
          </p:nvSpPr>
          <p:spPr bwMode="auto">
            <a:xfrm>
              <a:off x="2595" y="3132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64" name="Line 11"/>
            <p:cNvSpPr>
              <a:spLocks noChangeShapeType="1"/>
            </p:cNvSpPr>
            <p:nvPr/>
          </p:nvSpPr>
          <p:spPr bwMode="auto">
            <a:xfrm>
              <a:off x="5619" y="313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65" name="Text Box 12"/>
            <p:cNvSpPr txBox="1">
              <a:spLocks noChangeArrowheads="1"/>
            </p:cNvSpPr>
            <p:nvPr/>
          </p:nvSpPr>
          <p:spPr bwMode="auto">
            <a:xfrm>
              <a:off x="4131" y="303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6166" name="Line 13"/>
            <p:cNvSpPr>
              <a:spLocks noChangeShapeType="1"/>
            </p:cNvSpPr>
            <p:nvPr/>
          </p:nvSpPr>
          <p:spPr bwMode="auto">
            <a:xfrm>
              <a:off x="3603" y="3132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67" name="Line 14"/>
            <p:cNvSpPr>
              <a:spLocks noChangeShapeType="1"/>
            </p:cNvSpPr>
            <p:nvPr/>
          </p:nvSpPr>
          <p:spPr bwMode="auto">
            <a:xfrm>
              <a:off x="4611" y="3132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948996" y="4932961"/>
            <a:ext cx="1905000" cy="304800"/>
            <a:chOff x="1491" y="3372"/>
            <a:chExt cx="1200" cy="192"/>
          </a:xfrm>
        </p:grpSpPr>
        <p:sp>
          <p:nvSpPr>
            <p:cNvPr id="6154" name="Rectangle 16"/>
            <p:cNvSpPr>
              <a:spLocks noChangeArrowheads="1"/>
            </p:cNvSpPr>
            <p:nvPr/>
          </p:nvSpPr>
          <p:spPr bwMode="auto">
            <a:xfrm>
              <a:off x="1491" y="3372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6155" name="Line 17"/>
            <p:cNvSpPr>
              <a:spLocks noChangeShapeType="1"/>
            </p:cNvSpPr>
            <p:nvPr/>
          </p:nvSpPr>
          <p:spPr bwMode="auto">
            <a:xfrm>
              <a:off x="1587" y="3468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56" name="Text Box 18"/>
            <p:cNvSpPr txBox="1">
              <a:spLocks noChangeArrowheads="1"/>
            </p:cNvSpPr>
            <p:nvPr/>
          </p:nvSpPr>
          <p:spPr bwMode="auto">
            <a:xfrm>
              <a:off x="2115" y="337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dog</a:t>
              </a:r>
            </a:p>
          </p:txBody>
        </p:sp>
        <p:sp>
          <p:nvSpPr>
            <p:cNvPr id="6157" name="Line 19"/>
            <p:cNvSpPr>
              <a:spLocks noChangeShapeType="1"/>
            </p:cNvSpPr>
            <p:nvPr/>
          </p:nvSpPr>
          <p:spPr bwMode="auto">
            <a:xfrm>
              <a:off x="2595" y="346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26"/>
          <p:cNvGrpSpPr>
            <a:grpSpLocks/>
          </p:cNvGrpSpPr>
          <p:nvPr/>
        </p:nvGrpSpPr>
        <p:grpSpPr bwMode="auto">
          <a:xfrm>
            <a:off x="877559" y="5715000"/>
            <a:ext cx="3644900" cy="304800"/>
            <a:chOff x="1491" y="3714"/>
            <a:chExt cx="2296" cy="192"/>
          </a:xfrm>
        </p:grpSpPr>
        <p:sp>
          <p:nvSpPr>
            <p:cNvPr id="6151" name="Rectangle 21"/>
            <p:cNvSpPr>
              <a:spLocks noChangeArrowheads="1"/>
            </p:cNvSpPr>
            <p:nvPr/>
          </p:nvSpPr>
          <p:spPr bwMode="auto">
            <a:xfrm>
              <a:off x="1491" y="3714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6152" name="Line 22"/>
            <p:cNvSpPr>
              <a:spLocks noChangeShapeType="1"/>
            </p:cNvSpPr>
            <p:nvPr/>
          </p:nvSpPr>
          <p:spPr bwMode="auto">
            <a:xfrm>
              <a:off x="1587" y="381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53" name="AutoShape 23"/>
            <p:cNvSpPr>
              <a:spLocks/>
            </p:cNvSpPr>
            <p:nvPr/>
          </p:nvSpPr>
          <p:spPr bwMode="auto">
            <a:xfrm>
              <a:off x="3061" y="3735"/>
              <a:ext cx="726" cy="149"/>
            </a:xfrm>
            <a:prstGeom prst="callout1">
              <a:avLst>
                <a:gd name="adj1" fmla="val 48324"/>
                <a:gd name="adj2" fmla="val -6611"/>
                <a:gd name="adj3" fmla="val 56375"/>
                <a:gd name="adj4" fmla="val -169421"/>
              </a:avLst>
            </a:prstGeom>
            <a:noFill/>
            <a:ln w="9525">
              <a:solidFill>
                <a:srgbClr val="008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dirty="0">
                  <a:solidFill>
                    <a:schemeClr val="accent1">
                      <a:lumMod val="75000"/>
                    </a:schemeClr>
                  </a:solidFill>
                </a:rPr>
                <a:t>empty SLL</a:t>
              </a:r>
              <a:endParaRPr lang="en-GB" altLang="en-US" sz="18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endParaRPr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65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Singly-linked-lists </a:t>
            </a:r>
            <a:r>
              <a:rPr lang="en-US" altLang="en-US" sz="3200" i="1" dirty="0"/>
              <a:t>(</a:t>
            </a:r>
            <a:r>
              <a:rPr lang="en-US" altLang="en-US" sz="3200" i="1"/>
              <a:t>2) – Java class</a:t>
            </a:r>
            <a:endParaRPr lang="en-GB" altLang="en-US" sz="3200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47800"/>
            <a:ext cx="7620000" cy="4800600"/>
          </a:xfrm>
          <a:noFill/>
          <a:ln>
            <a:solidFill>
              <a:schemeClr val="accent1"/>
            </a:solidFill>
          </a:ln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 dirty="0"/>
              <a:t> 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class</a:t>
            </a:r>
            <a:r>
              <a:rPr lang="en-US" altLang="en-US" sz="2000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SLL&lt;E&gt;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dirty="0">
                <a:solidFill>
                  <a:srgbClr val="007100"/>
                </a:solidFill>
                <a:latin typeface="Courier New" pitchFamily="49" charset="0"/>
                <a:cs typeface="Times New Roman" pitchFamily="18" charset="0"/>
              </a:rPr>
              <a:t>// </a:t>
            </a:r>
            <a:r>
              <a:rPr lang="en-US" altLang="en-US" sz="2000" dirty="0">
                <a:solidFill>
                  <a:srgbClr val="007100"/>
                </a:solidFill>
                <a:cs typeface="Times New Roman" pitchFamily="18" charset="0"/>
              </a:rPr>
              <a:t>Each </a:t>
            </a:r>
            <a:r>
              <a:rPr lang="en-US" altLang="en-US" sz="2000" dirty="0">
                <a:solidFill>
                  <a:srgbClr val="007100"/>
                </a:solidFill>
                <a:latin typeface="Courier New" pitchFamily="49" charset="0"/>
                <a:cs typeface="Times New Roman" pitchFamily="18" charset="0"/>
              </a:rPr>
              <a:t>SLL</a:t>
            </a:r>
            <a:r>
              <a:rPr lang="en-US" altLang="en-US" sz="2000" dirty="0">
                <a:solidFill>
                  <a:srgbClr val="007100"/>
                </a:solidFill>
                <a:cs typeface="Times New Roman" pitchFamily="18" charset="0"/>
              </a:rPr>
              <a:t> object is the header of a </a:t>
            </a:r>
            <a:br>
              <a:rPr lang="en-US" altLang="en-US" sz="2000" dirty="0">
                <a:solidFill>
                  <a:srgbClr val="007100"/>
                </a:solidFill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solidFill>
                  <a:srgbClr val="007100"/>
                </a:solidFill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solidFill>
                  <a:srgbClr val="007100"/>
                </a:solidFill>
                <a:cs typeface="Times New Roman" pitchFamily="18" charset="0"/>
              </a:rPr>
              <a:t>singly-linked-list.</a:t>
            </a:r>
            <a:r>
              <a:rPr lang="en-US" altLang="en-US" sz="2000" dirty="0">
                <a:solidFill>
                  <a:srgbClr val="007100"/>
                </a:solidFill>
                <a:latin typeface="Courier New" pitchFamily="49" charset="0"/>
                <a:cs typeface="Times New Roman" pitchFamily="18" charset="0"/>
              </a:rPr>
              <a:t> 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Node&lt;E&gt; </a:t>
            </a:r>
            <a:r>
              <a:rPr lang="en-US" altLang="en-US" sz="2000" dirty="0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first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SLL ()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>
                <a:solidFill>
                  <a:srgbClr val="007100"/>
                </a:solidFill>
                <a:latin typeface="Courier New" pitchFamily="49" charset="0"/>
                <a:cs typeface="Times New Roman" pitchFamily="18" charset="0"/>
              </a:rPr>
              <a:t>// </a:t>
            </a:r>
            <a:r>
              <a:rPr lang="en-US" altLang="en-US" sz="2000" dirty="0">
                <a:solidFill>
                  <a:srgbClr val="007100"/>
                </a:solidFill>
                <a:cs typeface="Times New Roman" pitchFamily="18" charset="0"/>
              </a:rPr>
              <a:t>Construct an empty SLL.</a:t>
            </a:r>
            <a:br>
              <a:rPr lang="en-US" altLang="en-US" sz="2000" dirty="0">
                <a:solidFill>
                  <a:srgbClr val="007100"/>
                </a:solidFill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first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 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null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…</a:t>
            </a:r>
          </a:p>
        </p:txBody>
      </p:sp>
      <p:sp>
        <p:nvSpPr>
          <p:cNvPr id="408580" name="AutoShape 4"/>
          <p:cNvSpPr>
            <a:spLocks/>
          </p:cNvSpPr>
          <p:nvPr/>
        </p:nvSpPr>
        <p:spPr bwMode="auto">
          <a:xfrm>
            <a:off x="4114800" y="5019366"/>
            <a:ext cx="1981200" cy="288925"/>
          </a:xfrm>
          <a:prstGeom prst="callout1">
            <a:avLst>
              <a:gd name="adj1" fmla="val 39560"/>
              <a:gd name="adj2" fmla="val -3847"/>
              <a:gd name="adj3" fmla="val 41208"/>
              <a:gd name="adj4" fmla="val -131412"/>
            </a:avLst>
          </a:prstGeom>
          <a:noFill/>
          <a:ln w="9525">
            <a:solidFill>
              <a:schemeClr val="tx2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2"/>
                </a:solidFill>
              </a:rPr>
              <a:t>methods (to follow)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562600" y="3352800"/>
            <a:ext cx="2286000" cy="70788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/>
              <a:t>Using generics from the start!</a:t>
            </a:r>
          </a:p>
        </p:txBody>
      </p:sp>
    </p:spTree>
    <p:extLst>
      <p:ext uri="{BB962C8B-B14F-4D97-AF65-F5344CB8AC3E}">
        <p14:creationId xmlns:p14="http://schemas.microsoft.com/office/powerpoint/2010/main" val="604866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58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Singly-linked-lists </a:t>
            </a:r>
            <a:r>
              <a:rPr lang="en-US" altLang="en-US" sz="3200" i="1" dirty="0"/>
              <a:t>(</a:t>
            </a:r>
            <a:r>
              <a:rPr lang="en-US" altLang="en-US" sz="3200" i="1"/>
              <a:t>3) – Java class contd</a:t>
            </a:r>
            <a:endParaRPr lang="en-GB" altLang="en-US" sz="3200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noFill/>
          <a:ln>
            <a:solidFill>
              <a:schemeClr val="accent1"/>
            </a:solidFill>
          </a:ln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    </a:t>
            </a:r>
            <a:r>
              <a:rPr lang="en-US" altLang="en-US" sz="2000" dirty="0">
                <a:solidFill>
                  <a:srgbClr val="007100"/>
                </a:solidFill>
                <a:latin typeface="Courier New" pitchFamily="49" charset="0"/>
                <a:cs typeface="Times New Roman" pitchFamily="18" charset="0"/>
              </a:rPr>
              <a:t>////////// </a:t>
            </a:r>
            <a:r>
              <a:rPr lang="en-US" altLang="en-US" sz="2000" dirty="0">
                <a:solidFill>
                  <a:srgbClr val="007100"/>
                </a:solidFill>
                <a:cs typeface="Times New Roman" pitchFamily="18" charset="0"/>
              </a:rPr>
              <a:t>Inner class</a:t>
            </a:r>
            <a:r>
              <a:rPr lang="en-US" altLang="en-US" sz="2000" dirty="0">
                <a:solidFill>
                  <a:srgbClr val="007100"/>
                </a:solidFill>
                <a:latin typeface="Courier New" pitchFamily="49" charset="0"/>
                <a:cs typeface="Times New Roman" pitchFamily="18" charset="0"/>
              </a:rPr>
              <a:t> //////////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 sz="2000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static</a:t>
            </a:r>
            <a:r>
              <a:rPr lang="en-US" altLang="en-US" sz="2000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class</a:t>
            </a:r>
            <a:r>
              <a:rPr lang="en-US" altLang="en-US" sz="2000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Node&lt;E&gt;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dirty="0">
                <a:solidFill>
                  <a:srgbClr val="007100"/>
                </a:solidFill>
                <a:latin typeface="Courier New" pitchFamily="49" charset="0"/>
                <a:cs typeface="Times New Roman" pitchFamily="18" charset="0"/>
              </a:rPr>
              <a:t>// </a:t>
            </a:r>
            <a:r>
              <a:rPr lang="en-US" altLang="en-US" sz="2000" dirty="0">
                <a:solidFill>
                  <a:srgbClr val="007100"/>
                </a:solidFill>
                <a:cs typeface="Times New Roman" pitchFamily="18" charset="0"/>
              </a:rPr>
              <a:t>Each </a:t>
            </a:r>
            <a:r>
              <a:rPr lang="en-US" altLang="en-US" sz="2000" dirty="0">
                <a:solidFill>
                  <a:srgbClr val="007100"/>
                </a:solidFill>
                <a:latin typeface="Courier New" pitchFamily="49" charset="0"/>
                <a:cs typeface="Times New Roman" pitchFamily="18" charset="0"/>
              </a:rPr>
              <a:t>Node</a:t>
            </a:r>
            <a:r>
              <a:rPr lang="en-US" altLang="en-US" sz="2000" dirty="0">
                <a:solidFill>
                  <a:srgbClr val="007100"/>
                </a:solidFill>
                <a:cs typeface="Times New Roman" pitchFamily="18" charset="0"/>
              </a:rPr>
              <a:t> object is a node of a </a:t>
            </a:r>
            <a:br>
              <a:rPr lang="en-US" altLang="en-US" sz="2000" dirty="0">
                <a:solidFill>
                  <a:srgbClr val="007100"/>
                </a:solidFill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solidFill>
                  <a:srgbClr val="007100"/>
                </a:solidFill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solidFill>
                  <a:srgbClr val="007100"/>
                </a:solidFill>
                <a:cs typeface="Times New Roman" pitchFamily="18" charset="0"/>
              </a:rPr>
              <a:t>singly-linked-list. </a:t>
            </a:r>
            <a:endParaRPr lang="en-US" altLang="en-US" sz="2000" dirty="0">
              <a:solidFill>
                <a:srgbClr val="007100"/>
              </a:solidFill>
              <a:latin typeface="Courier New" pitchFamily="49" charset="0"/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protected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E </a:t>
            </a:r>
            <a:r>
              <a:rPr lang="en-US" altLang="en-US" sz="2000" dirty="0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element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protected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Node&lt;E&gt; </a:t>
            </a:r>
            <a:r>
              <a:rPr lang="en-US" altLang="en-US" sz="2000" dirty="0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next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Node (E </a:t>
            </a:r>
            <a:r>
              <a:rPr lang="en-US" altLang="en-US" sz="2000" dirty="0" err="1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elem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, Node&lt;E&gt; </a:t>
            </a:r>
            <a:r>
              <a:rPr lang="en-US" altLang="en-US" sz="2000" dirty="0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</a:t>
            </a:r>
            <a:r>
              <a:rPr lang="en-US" altLang="en-US" sz="2000" dirty="0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element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 </a:t>
            </a:r>
            <a:r>
              <a:rPr lang="en-US" altLang="en-US" sz="2000" dirty="0" err="1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elem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</a:t>
            </a:r>
            <a:r>
              <a:rPr lang="en-US" altLang="en-US" sz="2000" dirty="0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next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 </a:t>
            </a:r>
            <a:r>
              <a:rPr lang="en-US" altLang="en-US" sz="2000" dirty="0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}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}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324600" y="2039034"/>
            <a:ext cx="236220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Actually private will do</a:t>
            </a:r>
          </a:p>
        </p:txBody>
      </p:sp>
      <p:cxnSp>
        <p:nvCxnSpPr>
          <p:cNvPr id="6" name="Straight Arrow Connector 5"/>
          <p:cNvCxnSpPr>
            <a:stCxn id="5" idx="1"/>
          </p:cNvCxnSpPr>
          <p:nvPr/>
        </p:nvCxnSpPr>
        <p:spPr>
          <a:xfrm flipH="1">
            <a:off x="3048000" y="2362200"/>
            <a:ext cx="327660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7571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SLL traversal</a:t>
            </a:r>
            <a:endParaRPr lang="en-GB" altLang="en-US" sz="3200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571500" y="1905001"/>
            <a:ext cx="7620000" cy="2286000"/>
          </a:xfrm>
          <a:noFill/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void</a:t>
            </a:r>
            <a:r>
              <a:rPr lang="en-US" altLang="en-US" sz="2000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printFirstToLast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Print all elements in this SLL, in first-to-last order.</a:t>
            </a:r>
            <a:b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Node&lt;E&gt; </a:t>
            </a:r>
            <a:r>
              <a:rPr lang="en-US" altLang="en-US" sz="2000" dirty="0" err="1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curr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= </a:t>
            </a:r>
            <a:r>
              <a:rPr lang="en-US" altLang="en-US" sz="2000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first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while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</a:t>
            </a:r>
            <a:r>
              <a:rPr lang="en-US" altLang="en-US" sz="2000" dirty="0" err="1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curr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!= 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null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System.</a:t>
            </a:r>
            <a:r>
              <a:rPr lang="en-US" altLang="en-US" sz="2000" dirty="0" err="1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out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.println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(</a:t>
            </a:r>
            <a:r>
              <a:rPr lang="en-US" altLang="en-US" sz="2000" dirty="0" err="1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curr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.</a:t>
            </a:r>
            <a:r>
              <a:rPr lang="en-US" altLang="en-US" sz="2000" dirty="0" err="1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element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 err="1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curr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 </a:t>
            </a:r>
            <a:r>
              <a:rPr lang="en-US" altLang="en-US" sz="2000" dirty="0" err="1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curr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.</a:t>
            </a:r>
            <a:r>
              <a:rPr lang="en-US" altLang="en-US" sz="2000" dirty="0" err="1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next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  <a:br>
              <a:rPr lang="en-US" altLang="en-US" sz="200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}</a:t>
            </a:r>
            <a:endParaRPr lang="en-US" altLang="en-US" sz="2000" dirty="0">
              <a:latin typeface="Courier New" pitchFamily="49" charset="0"/>
              <a:cs typeface="Times New Roman" pitchFamily="18" charset="0"/>
            </a:endParaRPr>
          </a:p>
        </p:txBody>
      </p:sp>
      <p:grpSp>
        <p:nvGrpSpPr>
          <p:cNvPr id="2" name="Group 75"/>
          <p:cNvGrpSpPr>
            <a:grpSpLocks/>
          </p:cNvGrpSpPr>
          <p:nvPr/>
        </p:nvGrpSpPr>
        <p:grpSpPr bwMode="auto">
          <a:xfrm>
            <a:off x="800100" y="4976834"/>
            <a:ext cx="6324600" cy="1219200"/>
            <a:chOff x="1224" y="2862"/>
            <a:chExt cx="3984" cy="768"/>
          </a:xfrm>
        </p:grpSpPr>
        <p:sp>
          <p:nvSpPr>
            <p:cNvPr id="9277" name="Rectangle 5"/>
            <p:cNvSpPr>
              <a:spLocks noChangeArrowheads="1"/>
            </p:cNvSpPr>
            <p:nvPr/>
          </p:nvSpPr>
          <p:spPr bwMode="auto">
            <a:xfrm>
              <a:off x="1224" y="2862"/>
              <a:ext cx="3984" cy="7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9278" name="Rectangle 6"/>
            <p:cNvSpPr>
              <a:spLocks noChangeArrowheads="1"/>
            </p:cNvSpPr>
            <p:nvPr/>
          </p:nvSpPr>
          <p:spPr bwMode="auto">
            <a:xfrm>
              <a:off x="1848" y="3006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9279" name="Line 7"/>
            <p:cNvSpPr>
              <a:spLocks noChangeShapeType="1"/>
            </p:cNvSpPr>
            <p:nvPr/>
          </p:nvSpPr>
          <p:spPr bwMode="auto">
            <a:xfrm>
              <a:off x="1944" y="3102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80" name="Text Box 8"/>
            <p:cNvSpPr txBox="1">
              <a:spLocks noChangeArrowheads="1"/>
            </p:cNvSpPr>
            <p:nvPr/>
          </p:nvSpPr>
          <p:spPr bwMode="auto">
            <a:xfrm>
              <a:off x="2472" y="300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ant</a:t>
              </a:r>
            </a:p>
          </p:txBody>
        </p:sp>
        <p:sp>
          <p:nvSpPr>
            <p:cNvPr id="9281" name="Text Box 9"/>
            <p:cNvSpPr txBox="1">
              <a:spLocks noChangeArrowheads="1"/>
            </p:cNvSpPr>
            <p:nvPr/>
          </p:nvSpPr>
          <p:spPr bwMode="auto">
            <a:xfrm>
              <a:off x="3480" y="300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bat</a:t>
              </a:r>
            </a:p>
          </p:txBody>
        </p:sp>
        <p:sp>
          <p:nvSpPr>
            <p:cNvPr id="9282" name="Text Box 10"/>
            <p:cNvSpPr txBox="1">
              <a:spLocks noChangeArrowheads="1"/>
            </p:cNvSpPr>
            <p:nvPr/>
          </p:nvSpPr>
          <p:spPr bwMode="auto">
            <a:xfrm>
              <a:off x="4488" y="300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9283" name="Line 11"/>
            <p:cNvSpPr>
              <a:spLocks noChangeShapeType="1"/>
            </p:cNvSpPr>
            <p:nvPr/>
          </p:nvSpPr>
          <p:spPr bwMode="auto">
            <a:xfrm>
              <a:off x="2952" y="3102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84" name="Line 12"/>
            <p:cNvSpPr>
              <a:spLocks noChangeShapeType="1"/>
            </p:cNvSpPr>
            <p:nvPr/>
          </p:nvSpPr>
          <p:spPr bwMode="auto">
            <a:xfrm>
              <a:off x="3960" y="3102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85" name="Line 13"/>
            <p:cNvSpPr>
              <a:spLocks noChangeShapeType="1"/>
            </p:cNvSpPr>
            <p:nvPr/>
          </p:nvSpPr>
          <p:spPr bwMode="auto">
            <a:xfrm>
              <a:off x="4968" y="310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86" name="Text Box 14"/>
            <p:cNvSpPr txBox="1">
              <a:spLocks noChangeArrowheads="1"/>
            </p:cNvSpPr>
            <p:nvPr/>
          </p:nvSpPr>
          <p:spPr bwMode="auto">
            <a:xfrm>
              <a:off x="1272" y="3006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first</a:t>
              </a:r>
            </a:p>
          </p:txBody>
        </p:sp>
      </p:grpSp>
      <p:grpSp>
        <p:nvGrpSpPr>
          <p:cNvPr id="3" name="Group 74"/>
          <p:cNvGrpSpPr>
            <a:grpSpLocks/>
          </p:cNvGrpSpPr>
          <p:nvPr/>
        </p:nvGrpSpPr>
        <p:grpSpPr bwMode="auto">
          <a:xfrm>
            <a:off x="800100" y="4970484"/>
            <a:ext cx="6324600" cy="1219200"/>
            <a:chOff x="1224" y="2953"/>
            <a:chExt cx="3984" cy="768"/>
          </a:xfrm>
        </p:grpSpPr>
        <p:sp>
          <p:nvSpPr>
            <p:cNvPr id="9264" name="Rectangle 16"/>
            <p:cNvSpPr>
              <a:spLocks noChangeArrowheads="1"/>
            </p:cNvSpPr>
            <p:nvPr/>
          </p:nvSpPr>
          <p:spPr bwMode="auto">
            <a:xfrm>
              <a:off x="1224" y="2953"/>
              <a:ext cx="3984" cy="7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9265" name="Rectangle 17"/>
            <p:cNvSpPr>
              <a:spLocks noChangeArrowheads="1"/>
            </p:cNvSpPr>
            <p:nvPr/>
          </p:nvSpPr>
          <p:spPr bwMode="auto">
            <a:xfrm>
              <a:off x="1848" y="3097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9266" name="Line 18"/>
            <p:cNvSpPr>
              <a:spLocks noChangeShapeType="1"/>
            </p:cNvSpPr>
            <p:nvPr/>
          </p:nvSpPr>
          <p:spPr bwMode="auto">
            <a:xfrm>
              <a:off x="1944" y="3193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67" name="Text Box 19"/>
            <p:cNvSpPr txBox="1">
              <a:spLocks noChangeArrowheads="1"/>
            </p:cNvSpPr>
            <p:nvPr/>
          </p:nvSpPr>
          <p:spPr bwMode="auto">
            <a:xfrm>
              <a:off x="2472" y="309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ant</a:t>
              </a:r>
            </a:p>
          </p:txBody>
        </p:sp>
        <p:sp>
          <p:nvSpPr>
            <p:cNvPr id="9268" name="Text Box 20"/>
            <p:cNvSpPr txBox="1">
              <a:spLocks noChangeArrowheads="1"/>
            </p:cNvSpPr>
            <p:nvPr/>
          </p:nvSpPr>
          <p:spPr bwMode="auto">
            <a:xfrm>
              <a:off x="3480" y="309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bat</a:t>
              </a:r>
            </a:p>
          </p:txBody>
        </p:sp>
        <p:sp>
          <p:nvSpPr>
            <p:cNvPr id="9269" name="Text Box 21"/>
            <p:cNvSpPr txBox="1">
              <a:spLocks noChangeArrowheads="1"/>
            </p:cNvSpPr>
            <p:nvPr/>
          </p:nvSpPr>
          <p:spPr bwMode="auto">
            <a:xfrm>
              <a:off x="4488" y="309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9270" name="Line 22"/>
            <p:cNvSpPr>
              <a:spLocks noChangeShapeType="1"/>
            </p:cNvSpPr>
            <p:nvPr/>
          </p:nvSpPr>
          <p:spPr bwMode="auto">
            <a:xfrm>
              <a:off x="2952" y="3193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71" name="Line 23"/>
            <p:cNvSpPr>
              <a:spLocks noChangeShapeType="1"/>
            </p:cNvSpPr>
            <p:nvPr/>
          </p:nvSpPr>
          <p:spPr bwMode="auto">
            <a:xfrm>
              <a:off x="3960" y="3193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72" name="Line 24"/>
            <p:cNvSpPr>
              <a:spLocks noChangeShapeType="1"/>
            </p:cNvSpPr>
            <p:nvPr/>
          </p:nvSpPr>
          <p:spPr bwMode="auto">
            <a:xfrm>
              <a:off x="4968" y="319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73" name="Text Box 25"/>
            <p:cNvSpPr txBox="1">
              <a:spLocks noChangeArrowheads="1"/>
            </p:cNvSpPr>
            <p:nvPr/>
          </p:nvSpPr>
          <p:spPr bwMode="auto">
            <a:xfrm>
              <a:off x="1272" y="3097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first</a:t>
              </a:r>
            </a:p>
          </p:txBody>
        </p:sp>
        <p:sp>
          <p:nvSpPr>
            <p:cNvPr id="9274" name="Rectangle 26"/>
            <p:cNvSpPr>
              <a:spLocks noChangeArrowheads="1"/>
            </p:cNvSpPr>
            <p:nvPr/>
          </p:nvSpPr>
          <p:spPr bwMode="auto">
            <a:xfrm>
              <a:off x="1848" y="3385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9275" name="Text Box 27"/>
            <p:cNvSpPr txBox="1">
              <a:spLocks noChangeArrowheads="1"/>
            </p:cNvSpPr>
            <p:nvPr/>
          </p:nvSpPr>
          <p:spPr bwMode="auto">
            <a:xfrm>
              <a:off x="1272" y="3385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curr</a:t>
              </a:r>
            </a:p>
          </p:txBody>
        </p:sp>
        <p:sp>
          <p:nvSpPr>
            <p:cNvPr id="9276" name="Freeform 28"/>
            <p:cNvSpPr>
              <a:spLocks/>
            </p:cNvSpPr>
            <p:nvPr/>
          </p:nvSpPr>
          <p:spPr bwMode="auto">
            <a:xfrm>
              <a:off x="1944" y="3241"/>
              <a:ext cx="528" cy="240"/>
            </a:xfrm>
            <a:custGeom>
              <a:avLst/>
              <a:gdLst>
                <a:gd name="T0" fmla="*/ 0 w 528"/>
                <a:gd name="T1" fmla="*/ 240 h 240"/>
                <a:gd name="T2" fmla="*/ 240 w 528"/>
                <a:gd name="T3" fmla="*/ 240 h 240"/>
                <a:gd name="T4" fmla="*/ 528 w 528"/>
                <a:gd name="T5" fmla="*/ 0 h 240"/>
                <a:gd name="T6" fmla="*/ 0 60000 65536"/>
                <a:gd name="T7" fmla="*/ 0 60000 65536"/>
                <a:gd name="T8" fmla="*/ 0 60000 65536"/>
                <a:gd name="T9" fmla="*/ 0 w 528"/>
                <a:gd name="T10" fmla="*/ 0 h 240"/>
                <a:gd name="T11" fmla="*/ 528 w 528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240">
                  <a:moveTo>
                    <a:pt x="0" y="240"/>
                  </a:moveTo>
                  <a:lnTo>
                    <a:pt x="240" y="240"/>
                  </a:lnTo>
                  <a:lnTo>
                    <a:pt x="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73"/>
          <p:cNvGrpSpPr>
            <a:grpSpLocks/>
          </p:cNvGrpSpPr>
          <p:nvPr/>
        </p:nvGrpSpPr>
        <p:grpSpPr bwMode="auto">
          <a:xfrm>
            <a:off x="800100" y="4972072"/>
            <a:ext cx="6324600" cy="1219200"/>
            <a:chOff x="1224" y="3044"/>
            <a:chExt cx="3984" cy="768"/>
          </a:xfrm>
        </p:grpSpPr>
        <p:sp>
          <p:nvSpPr>
            <p:cNvPr id="9251" name="Rectangle 30"/>
            <p:cNvSpPr>
              <a:spLocks noChangeArrowheads="1"/>
            </p:cNvSpPr>
            <p:nvPr/>
          </p:nvSpPr>
          <p:spPr bwMode="auto">
            <a:xfrm>
              <a:off x="1224" y="3044"/>
              <a:ext cx="3984" cy="7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9252" name="Rectangle 31"/>
            <p:cNvSpPr>
              <a:spLocks noChangeArrowheads="1"/>
            </p:cNvSpPr>
            <p:nvPr/>
          </p:nvSpPr>
          <p:spPr bwMode="auto">
            <a:xfrm>
              <a:off x="1848" y="3188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9253" name="Line 32"/>
            <p:cNvSpPr>
              <a:spLocks noChangeShapeType="1"/>
            </p:cNvSpPr>
            <p:nvPr/>
          </p:nvSpPr>
          <p:spPr bwMode="auto">
            <a:xfrm>
              <a:off x="1944" y="3284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54" name="Text Box 33"/>
            <p:cNvSpPr txBox="1">
              <a:spLocks noChangeArrowheads="1"/>
            </p:cNvSpPr>
            <p:nvPr/>
          </p:nvSpPr>
          <p:spPr bwMode="auto">
            <a:xfrm>
              <a:off x="2472" y="318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ant</a:t>
              </a:r>
            </a:p>
          </p:txBody>
        </p:sp>
        <p:sp>
          <p:nvSpPr>
            <p:cNvPr id="9255" name="Text Box 34"/>
            <p:cNvSpPr txBox="1">
              <a:spLocks noChangeArrowheads="1"/>
            </p:cNvSpPr>
            <p:nvPr/>
          </p:nvSpPr>
          <p:spPr bwMode="auto">
            <a:xfrm>
              <a:off x="3480" y="318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bat</a:t>
              </a:r>
            </a:p>
          </p:txBody>
        </p:sp>
        <p:sp>
          <p:nvSpPr>
            <p:cNvPr id="9256" name="Text Box 35"/>
            <p:cNvSpPr txBox="1">
              <a:spLocks noChangeArrowheads="1"/>
            </p:cNvSpPr>
            <p:nvPr/>
          </p:nvSpPr>
          <p:spPr bwMode="auto">
            <a:xfrm>
              <a:off x="4488" y="318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9257" name="Line 36"/>
            <p:cNvSpPr>
              <a:spLocks noChangeShapeType="1"/>
            </p:cNvSpPr>
            <p:nvPr/>
          </p:nvSpPr>
          <p:spPr bwMode="auto">
            <a:xfrm>
              <a:off x="2952" y="3284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58" name="Line 37"/>
            <p:cNvSpPr>
              <a:spLocks noChangeShapeType="1"/>
            </p:cNvSpPr>
            <p:nvPr/>
          </p:nvSpPr>
          <p:spPr bwMode="auto">
            <a:xfrm>
              <a:off x="3960" y="3284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59" name="Line 38"/>
            <p:cNvSpPr>
              <a:spLocks noChangeShapeType="1"/>
            </p:cNvSpPr>
            <p:nvPr/>
          </p:nvSpPr>
          <p:spPr bwMode="auto">
            <a:xfrm>
              <a:off x="4968" y="3284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60" name="Text Box 39"/>
            <p:cNvSpPr txBox="1">
              <a:spLocks noChangeArrowheads="1"/>
            </p:cNvSpPr>
            <p:nvPr/>
          </p:nvSpPr>
          <p:spPr bwMode="auto">
            <a:xfrm>
              <a:off x="1272" y="3188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first</a:t>
              </a:r>
            </a:p>
          </p:txBody>
        </p:sp>
        <p:sp>
          <p:nvSpPr>
            <p:cNvPr id="9261" name="Rectangle 40"/>
            <p:cNvSpPr>
              <a:spLocks noChangeArrowheads="1"/>
            </p:cNvSpPr>
            <p:nvPr/>
          </p:nvSpPr>
          <p:spPr bwMode="auto">
            <a:xfrm>
              <a:off x="1848" y="3476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9262" name="Text Box 41"/>
            <p:cNvSpPr txBox="1">
              <a:spLocks noChangeArrowheads="1"/>
            </p:cNvSpPr>
            <p:nvPr/>
          </p:nvSpPr>
          <p:spPr bwMode="auto">
            <a:xfrm>
              <a:off x="1272" y="3476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curr</a:t>
              </a:r>
            </a:p>
          </p:txBody>
        </p:sp>
        <p:sp>
          <p:nvSpPr>
            <p:cNvPr id="9263" name="Freeform 42"/>
            <p:cNvSpPr>
              <a:spLocks/>
            </p:cNvSpPr>
            <p:nvPr/>
          </p:nvSpPr>
          <p:spPr bwMode="auto">
            <a:xfrm>
              <a:off x="1952" y="3332"/>
              <a:ext cx="1528" cy="240"/>
            </a:xfrm>
            <a:custGeom>
              <a:avLst/>
              <a:gdLst>
                <a:gd name="T0" fmla="*/ 0 w 1528"/>
                <a:gd name="T1" fmla="*/ 240 h 240"/>
                <a:gd name="T2" fmla="*/ 1240 w 1528"/>
                <a:gd name="T3" fmla="*/ 240 h 240"/>
                <a:gd name="T4" fmla="*/ 1528 w 1528"/>
                <a:gd name="T5" fmla="*/ 0 h 240"/>
                <a:gd name="T6" fmla="*/ 0 60000 65536"/>
                <a:gd name="T7" fmla="*/ 0 60000 65536"/>
                <a:gd name="T8" fmla="*/ 0 60000 65536"/>
                <a:gd name="T9" fmla="*/ 0 w 1528"/>
                <a:gd name="T10" fmla="*/ 0 h 240"/>
                <a:gd name="T11" fmla="*/ 1528 w 1528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8" h="240">
                  <a:moveTo>
                    <a:pt x="0" y="240"/>
                  </a:moveTo>
                  <a:lnTo>
                    <a:pt x="1240" y="240"/>
                  </a:lnTo>
                  <a:lnTo>
                    <a:pt x="1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" name="Group 72"/>
          <p:cNvGrpSpPr>
            <a:grpSpLocks/>
          </p:cNvGrpSpPr>
          <p:nvPr/>
        </p:nvGrpSpPr>
        <p:grpSpPr bwMode="auto">
          <a:xfrm>
            <a:off x="800100" y="4972072"/>
            <a:ext cx="6324600" cy="1219200"/>
            <a:chOff x="1224" y="3134"/>
            <a:chExt cx="3984" cy="768"/>
          </a:xfrm>
        </p:grpSpPr>
        <p:sp>
          <p:nvSpPr>
            <p:cNvPr id="9238" name="Rectangle 44"/>
            <p:cNvSpPr>
              <a:spLocks noChangeArrowheads="1"/>
            </p:cNvSpPr>
            <p:nvPr/>
          </p:nvSpPr>
          <p:spPr bwMode="auto">
            <a:xfrm>
              <a:off x="1224" y="3134"/>
              <a:ext cx="3984" cy="7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9239" name="Rectangle 45"/>
            <p:cNvSpPr>
              <a:spLocks noChangeArrowheads="1"/>
            </p:cNvSpPr>
            <p:nvPr/>
          </p:nvSpPr>
          <p:spPr bwMode="auto">
            <a:xfrm>
              <a:off x="1848" y="3278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9240" name="Line 46"/>
            <p:cNvSpPr>
              <a:spLocks noChangeShapeType="1"/>
            </p:cNvSpPr>
            <p:nvPr/>
          </p:nvSpPr>
          <p:spPr bwMode="auto">
            <a:xfrm>
              <a:off x="1944" y="3374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41" name="Text Box 47"/>
            <p:cNvSpPr txBox="1">
              <a:spLocks noChangeArrowheads="1"/>
            </p:cNvSpPr>
            <p:nvPr/>
          </p:nvSpPr>
          <p:spPr bwMode="auto">
            <a:xfrm>
              <a:off x="2472" y="327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ant</a:t>
              </a:r>
            </a:p>
          </p:txBody>
        </p:sp>
        <p:sp>
          <p:nvSpPr>
            <p:cNvPr id="9242" name="Text Box 48"/>
            <p:cNvSpPr txBox="1">
              <a:spLocks noChangeArrowheads="1"/>
            </p:cNvSpPr>
            <p:nvPr/>
          </p:nvSpPr>
          <p:spPr bwMode="auto">
            <a:xfrm>
              <a:off x="3480" y="327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bat</a:t>
              </a:r>
            </a:p>
          </p:txBody>
        </p:sp>
        <p:sp>
          <p:nvSpPr>
            <p:cNvPr id="9243" name="Text Box 49"/>
            <p:cNvSpPr txBox="1">
              <a:spLocks noChangeArrowheads="1"/>
            </p:cNvSpPr>
            <p:nvPr/>
          </p:nvSpPr>
          <p:spPr bwMode="auto">
            <a:xfrm>
              <a:off x="4488" y="327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9244" name="Line 50"/>
            <p:cNvSpPr>
              <a:spLocks noChangeShapeType="1"/>
            </p:cNvSpPr>
            <p:nvPr/>
          </p:nvSpPr>
          <p:spPr bwMode="auto">
            <a:xfrm>
              <a:off x="2952" y="3374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45" name="Line 51"/>
            <p:cNvSpPr>
              <a:spLocks noChangeShapeType="1"/>
            </p:cNvSpPr>
            <p:nvPr/>
          </p:nvSpPr>
          <p:spPr bwMode="auto">
            <a:xfrm>
              <a:off x="3960" y="3374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46" name="Line 52"/>
            <p:cNvSpPr>
              <a:spLocks noChangeShapeType="1"/>
            </p:cNvSpPr>
            <p:nvPr/>
          </p:nvSpPr>
          <p:spPr bwMode="auto">
            <a:xfrm>
              <a:off x="4968" y="3374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47" name="Text Box 53"/>
            <p:cNvSpPr txBox="1">
              <a:spLocks noChangeArrowheads="1"/>
            </p:cNvSpPr>
            <p:nvPr/>
          </p:nvSpPr>
          <p:spPr bwMode="auto">
            <a:xfrm>
              <a:off x="1272" y="3278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first</a:t>
              </a:r>
            </a:p>
          </p:txBody>
        </p:sp>
        <p:sp>
          <p:nvSpPr>
            <p:cNvPr id="9248" name="Rectangle 54"/>
            <p:cNvSpPr>
              <a:spLocks noChangeArrowheads="1"/>
            </p:cNvSpPr>
            <p:nvPr/>
          </p:nvSpPr>
          <p:spPr bwMode="auto">
            <a:xfrm>
              <a:off x="1848" y="3566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9249" name="Text Box 55"/>
            <p:cNvSpPr txBox="1">
              <a:spLocks noChangeArrowheads="1"/>
            </p:cNvSpPr>
            <p:nvPr/>
          </p:nvSpPr>
          <p:spPr bwMode="auto">
            <a:xfrm>
              <a:off x="1272" y="3566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curr</a:t>
              </a:r>
            </a:p>
          </p:txBody>
        </p:sp>
        <p:sp>
          <p:nvSpPr>
            <p:cNvPr id="9250" name="Freeform 56"/>
            <p:cNvSpPr>
              <a:spLocks/>
            </p:cNvSpPr>
            <p:nvPr/>
          </p:nvSpPr>
          <p:spPr bwMode="auto">
            <a:xfrm>
              <a:off x="1944" y="3422"/>
              <a:ext cx="2544" cy="240"/>
            </a:xfrm>
            <a:custGeom>
              <a:avLst/>
              <a:gdLst>
                <a:gd name="T0" fmla="*/ 0 w 2544"/>
                <a:gd name="T1" fmla="*/ 240 h 240"/>
                <a:gd name="T2" fmla="*/ 2256 w 2544"/>
                <a:gd name="T3" fmla="*/ 240 h 240"/>
                <a:gd name="T4" fmla="*/ 2544 w 2544"/>
                <a:gd name="T5" fmla="*/ 0 h 240"/>
                <a:gd name="T6" fmla="*/ 0 60000 65536"/>
                <a:gd name="T7" fmla="*/ 0 60000 65536"/>
                <a:gd name="T8" fmla="*/ 0 60000 65536"/>
                <a:gd name="T9" fmla="*/ 0 w 2544"/>
                <a:gd name="T10" fmla="*/ 0 h 240"/>
                <a:gd name="T11" fmla="*/ 2544 w 2544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44" h="240">
                  <a:moveTo>
                    <a:pt x="0" y="240"/>
                  </a:moveTo>
                  <a:lnTo>
                    <a:pt x="2256" y="240"/>
                  </a:lnTo>
                  <a:lnTo>
                    <a:pt x="2544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71"/>
          <p:cNvGrpSpPr>
            <a:grpSpLocks/>
          </p:cNvGrpSpPr>
          <p:nvPr/>
        </p:nvGrpSpPr>
        <p:grpSpPr bwMode="auto">
          <a:xfrm>
            <a:off x="800100" y="4972072"/>
            <a:ext cx="6324600" cy="1219200"/>
            <a:chOff x="1224" y="3206"/>
            <a:chExt cx="3984" cy="768"/>
          </a:xfrm>
        </p:grpSpPr>
        <p:sp>
          <p:nvSpPr>
            <p:cNvPr id="9225" name="Rectangle 58"/>
            <p:cNvSpPr>
              <a:spLocks noChangeArrowheads="1"/>
            </p:cNvSpPr>
            <p:nvPr/>
          </p:nvSpPr>
          <p:spPr bwMode="auto">
            <a:xfrm>
              <a:off x="1224" y="3206"/>
              <a:ext cx="3984" cy="7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9226" name="Rectangle 59"/>
            <p:cNvSpPr>
              <a:spLocks noChangeArrowheads="1"/>
            </p:cNvSpPr>
            <p:nvPr/>
          </p:nvSpPr>
          <p:spPr bwMode="auto">
            <a:xfrm>
              <a:off x="1863" y="3361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9227" name="Line 60"/>
            <p:cNvSpPr>
              <a:spLocks noChangeShapeType="1"/>
            </p:cNvSpPr>
            <p:nvPr/>
          </p:nvSpPr>
          <p:spPr bwMode="auto">
            <a:xfrm>
              <a:off x="1959" y="3457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28" name="Text Box 61"/>
            <p:cNvSpPr txBox="1">
              <a:spLocks noChangeArrowheads="1"/>
            </p:cNvSpPr>
            <p:nvPr/>
          </p:nvSpPr>
          <p:spPr bwMode="auto">
            <a:xfrm>
              <a:off x="2487" y="3361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ant</a:t>
              </a:r>
            </a:p>
          </p:txBody>
        </p:sp>
        <p:sp>
          <p:nvSpPr>
            <p:cNvPr id="9229" name="Text Box 62"/>
            <p:cNvSpPr txBox="1">
              <a:spLocks noChangeArrowheads="1"/>
            </p:cNvSpPr>
            <p:nvPr/>
          </p:nvSpPr>
          <p:spPr bwMode="auto">
            <a:xfrm>
              <a:off x="3495" y="3361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bat</a:t>
              </a:r>
            </a:p>
          </p:txBody>
        </p:sp>
        <p:sp>
          <p:nvSpPr>
            <p:cNvPr id="9230" name="Text Box 63"/>
            <p:cNvSpPr txBox="1">
              <a:spLocks noChangeArrowheads="1"/>
            </p:cNvSpPr>
            <p:nvPr/>
          </p:nvSpPr>
          <p:spPr bwMode="auto">
            <a:xfrm>
              <a:off x="4503" y="3361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9231" name="Line 64"/>
            <p:cNvSpPr>
              <a:spLocks noChangeShapeType="1"/>
            </p:cNvSpPr>
            <p:nvPr/>
          </p:nvSpPr>
          <p:spPr bwMode="auto">
            <a:xfrm>
              <a:off x="2967" y="3457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32" name="Line 65"/>
            <p:cNvSpPr>
              <a:spLocks noChangeShapeType="1"/>
            </p:cNvSpPr>
            <p:nvPr/>
          </p:nvSpPr>
          <p:spPr bwMode="auto">
            <a:xfrm>
              <a:off x="3975" y="3457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33" name="Line 66"/>
            <p:cNvSpPr>
              <a:spLocks noChangeShapeType="1"/>
            </p:cNvSpPr>
            <p:nvPr/>
          </p:nvSpPr>
          <p:spPr bwMode="auto">
            <a:xfrm>
              <a:off x="4983" y="345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234" name="Text Box 67"/>
            <p:cNvSpPr txBox="1">
              <a:spLocks noChangeArrowheads="1"/>
            </p:cNvSpPr>
            <p:nvPr/>
          </p:nvSpPr>
          <p:spPr bwMode="auto">
            <a:xfrm>
              <a:off x="1287" y="3361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first</a:t>
              </a:r>
            </a:p>
          </p:txBody>
        </p:sp>
        <p:sp>
          <p:nvSpPr>
            <p:cNvPr id="9235" name="Rectangle 68"/>
            <p:cNvSpPr>
              <a:spLocks noChangeArrowheads="1"/>
            </p:cNvSpPr>
            <p:nvPr/>
          </p:nvSpPr>
          <p:spPr bwMode="auto">
            <a:xfrm>
              <a:off x="1863" y="3649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9236" name="Text Box 69"/>
            <p:cNvSpPr txBox="1">
              <a:spLocks noChangeArrowheads="1"/>
            </p:cNvSpPr>
            <p:nvPr/>
          </p:nvSpPr>
          <p:spPr bwMode="auto">
            <a:xfrm>
              <a:off x="1287" y="3649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curr</a:t>
              </a:r>
            </a:p>
          </p:txBody>
        </p:sp>
        <p:sp>
          <p:nvSpPr>
            <p:cNvPr id="9237" name="Line 70"/>
            <p:cNvSpPr>
              <a:spLocks noChangeShapeType="1"/>
            </p:cNvSpPr>
            <p:nvPr/>
          </p:nvSpPr>
          <p:spPr bwMode="auto">
            <a:xfrm>
              <a:off x="1959" y="374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09600" y="1295400"/>
            <a:ext cx="6194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 sz="2400">
                <a:latin typeface="+mj-lt"/>
              </a:rPr>
              <a:t>Method to traverse a SLL (in class SLL):</a:t>
            </a:r>
            <a:endParaRPr lang="en-US" altLang="en-US" sz="2400" dirty="0"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4191000"/>
            <a:ext cx="47101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/>
              <a:t>Animation:</a:t>
            </a:r>
          </a:p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1825717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812800" y="4170878"/>
            <a:ext cx="6324600" cy="914400"/>
            <a:chOff x="1232" y="2840"/>
            <a:chExt cx="3984" cy="576"/>
          </a:xfrm>
        </p:grpSpPr>
        <p:sp>
          <p:nvSpPr>
            <p:cNvPr id="10256" name="Rectangle 5"/>
            <p:cNvSpPr>
              <a:spLocks noChangeArrowheads="1"/>
            </p:cNvSpPr>
            <p:nvPr/>
          </p:nvSpPr>
          <p:spPr bwMode="auto">
            <a:xfrm>
              <a:off x="1232" y="2840"/>
              <a:ext cx="3984" cy="5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0257" name="Rectangle 6"/>
            <p:cNvSpPr>
              <a:spLocks noChangeArrowheads="1"/>
            </p:cNvSpPr>
            <p:nvPr/>
          </p:nvSpPr>
          <p:spPr bwMode="auto">
            <a:xfrm>
              <a:off x="1856" y="2984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0258" name="Line 7"/>
            <p:cNvSpPr>
              <a:spLocks noChangeShapeType="1"/>
            </p:cNvSpPr>
            <p:nvPr/>
          </p:nvSpPr>
          <p:spPr bwMode="auto">
            <a:xfrm>
              <a:off x="1952" y="3080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59" name="Text Box 8"/>
            <p:cNvSpPr txBox="1">
              <a:spLocks noChangeArrowheads="1"/>
            </p:cNvSpPr>
            <p:nvPr/>
          </p:nvSpPr>
          <p:spPr bwMode="auto">
            <a:xfrm>
              <a:off x="2480" y="2984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ant</a:t>
              </a:r>
            </a:p>
          </p:txBody>
        </p:sp>
        <p:sp>
          <p:nvSpPr>
            <p:cNvPr id="10260" name="Text Box 9"/>
            <p:cNvSpPr txBox="1">
              <a:spLocks noChangeArrowheads="1"/>
            </p:cNvSpPr>
            <p:nvPr/>
          </p:nvSpPr>
          <p:spPr bwMode="auto">
            <a:xfrm>
              <a:off x="3488" y="2984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bat</a:t>
              </a:r>
            </a:p>
          </p:txBody>
        </p:sp>
        <p:sp>
          <p:nvSpPr>
            <p:cNvPr id="10261" name="Text Box 10"/>
            <p:cNvSpPr txBox="1">
              <a:spLocks noChangeArrowheads="1"/>
            </p:cNvSpPr>
            <p:nvPr/>
          </p:nvSpPr>
          <p:spPr bwMode="auto">
            <a:xfrm>
              <a:off x="4496" y="2984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10262" name="Line 11"/>
            <p:cNvSpPr>
              <a:spLocks noChangeShapeType="1"/>
            </p:cNvSpPr>
            <p:nvPr/>
          </p:nvSpPr>
          <p:spPr bwMode="auto">
            <a:xfrm>
              <a:off x="2960" y="3080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63" name="Line 12"/>
            <p:cNvSpPr>
              <a:spLocks noChangeShapeType="1"/>
            </p:cNvSpPr>
            <p:nvPr/>
          </p:nvSpPr>
          <p:spPr bwMode="auto">
            <a:xfrm>
              <a:off x="3968" y="3080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64" name="Line 13"/>
            <p:cNvSpPr>
              <a:spLocks noChangeShapeType="1"/>
            </p:cNvSpPr>
            <p:nvPr/>
          </p:nvSpPr>
          <p:spPr bwMode="auto">
            <a:xfrm>
              <a:off x="4976" y="308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65" name="Text Box 14"/>
            <p:cNvSpPr txBox="1">
              <a:spLocks noChangeArrowheads="1"/>
            </p:cNvSpPr>
            <p:nvPr/>
          </p:nvSpPr>
          <p:spPr bwMode="auto">
            <a:xfrm>
              <a:off x="1280" y="2984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first</a:t>
              </a:r>
            </a:p>
          </p:txBody>
        </p:sp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812800" y="4170878"/>
            <a:ext cx="6324600" cy="914400"/>
            <a:chOff x="1232" y="2931"/>
            <a:chExt cx="3984" cy="576"/>
          </a:xfrm>
        </p:grpSpPr>
        <p:sp>
          <p:nvSpPr>
            <p:cNvPr id="10246" name="Rectangle 16"/>
            <p:cNvSpPr>
              <a:spLocks noChangeArrowheads="1"/>
            </p:cNvSpPr>
            <p:nvPr/>
          </p:nvSpPr>
          <p:spPr bwMode="auto">
            <a:xfrm>
              <a:off x="1232" y="2931"/>
              <a:ext cx="3984" cy="5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0247" name="Rectangle 17"/>
            <p:cNvSpPr>
              <a:spLocks noChangeArrowheads="1"/>
            </p:cNvSpPr>
            <p:nvPr/>
          </p:nvSpPr>
          <p:spPr bwMode="auto">
            <a:xfrm>
              <a:off x="1856" y="3075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0248" name="Text Box 18"/>
            <p:cNvSpPr txBox="1">
              <a:spLocks noChangeArrowheads="1"/>
            </p:cNvSpPr>
            <p:nvPr/>
          </p:nvSpPr>
          <p:spPr bwMode="auto">
            <a:xfrm>
              <a:off x="2480" y="3075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ant</a:t>
              </a:r>
            </a:p>
          </p:txBody>
        </p:sp>
        <p:sp>
          <p:nvSpPr>
            <p:cNvPr id="10249" name="Text Box 19"/>
            <p:cNvSpPr txBox="1">
              <a:spLocks noChangeArrowheads="1"/>
            </p:cNvSpPr>
            <p:nvPr/>
          </p:nvSpPr>
          <p:spPr bwMode="auto">
            <a:xfrm>
              <a:off x="3488" y="3075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bat</a:t>
              </a:r>
            </a:p>
          </p:txBody>
        </p:sp>
        <p:sp>
          <p:nvSpPr>
            <p:cNvPr id="10250" name="Text Box 20"/>
            <p:cNvSpPr txBox="1">
              <a:spLocks noChangeArrowheads="1"/>
            </p:cNvSpPr>
            <p:nvPr/>
          </p:nvSpPr>
          <p:spPr bwMode="auto">
            <a:xfrm>
              <a:off x="4496" y="3075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10251" name="Line 21"/>
            <p:cNvSpPr>
              <a:spLocks noChangeShapeType="1"/>
            </p:cNvSpPr>
            <p:nvPr/>
          </p:nvSpPr>
          <p:spPr bwMode="auto">
            <a:xfrm>
              <a:off x="2960" y="3171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52" name="Line 22"/>
            <p:cNvSpPr>
              <a:spLocks noChangeShapeType="1"/>
            </p:cNvSpPr>
            <p:nvPr/>
          </p:nvSpPr>
          <p:spPr bwMode="auto">
            <a:xfrm>
              <a:off x="3968" y="3171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53" name="Line 23"/>
            <p:cNvSpPr>
              <a:spLocks noChangeShapeType="1"/>
            </p:cNvSpPr>
            <p:nvPr/>
          </p:nvSpPr>
          <p:spPr bwMode="auto">
            <a:xfrm>
              <a:off x="4976" y="317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54" name="Text Box 24"/>
            <p:cNvSpPr txBox="1">
              <a:spLocks noChangeArrowheads="1"/>
            </p:cNvSpPr>
            <p:nvPr/>
          </p:nvSpPr>
          <p:spPr bwMode="auto">
            <a:xfrm>
              <a:off x="1280" y="3075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first</a:t>
              </a:r>
            </a:p>
          </p:txBody>
        </p:sp>
        <p:sp>
          <p:nvSpPr>
            <p:cNvPr id="10255" name="Freeform 25"/>
            <p:cNvSpPr>
              <a:spLocks/>
            </p:cNvSpPr>
            <p:nvPr/>
          </p:nvSpPr>
          <p:spPr bwMode="auto">
            <a:xfrm>
              <a:off x="1952" y="3171"/>
              <a:ext cx="1536" cy="192"/>
            </a:xfrm>
            <a:custGeom>
              <a:avLst/>
              <a:gdLst>
                <a:gd name="T0" fmla="*/ 0 w 1536"/>
                <a:gd name="T1" fmla="*/ 0 h 192"/>
                <a:gd name="T2" fmla="*/ 528 w 1536"/>
                <a:gd name="T3" fmla="*/ 192 h 192"/>
                <a:gd name="T4" fmla="*/ 1104 w 1536"/>
                <a:gd name="T5" fmla="*/ 192 h 192"/>
                <a:gd name="T6" fmla="*/ 1536 w 1536"/>
                <a:gd name="T7" fmla="*/ 48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36"/>
                <a:gd name="T13" fmla="*/ 0 h 192"/>
                <a:gd name="T14" fmla="*/ 1536 w 1536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36" h="192">
                  <a:moveTo>
                    <a:pt x="0" y="0"/>
                  </a:moveTo>
                  <a:lnTo>
                    <a:pt x="528" y="192"/>
                  </a:lnTo>
                  <a:lnTo>
                    <a:pt x="1104" y="192"/>
                  </a:lnTo>
                  <a:lnTo>
                    <a:pt x="1536" y="48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SLL manipulation</a:t>
            </a:r>
            <a:endParaRPr lang="en-GB" altLang="en-US" sz="3200" dirty="0"/>
          </a:p>
        </p:txBody>
      </p:sp>
      <p:sp>
        <p:nvSpPr>
          <p:cNvPr id="10245" name="Rectangle 3"/>
          <p:cNvSpPr>
            <a:spLocks noGrp="1" noChangeArrowheads="1"/>
          </p:cNvSpPr>
          <p:nvPr>
            <p:ph idx="1"/>
          </p:nvPr>
        </p:nvSpPr>
        <p:spPr>
          <a:xfrm>
            <a:off x="279400" y="1983432"/>
            <a:ext cx="8229600" cy="1565702"/>
          </a:xfrm>
          <a:noFill/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 sz="2000" dirty="0">
                <a:latin typeface="Courier New" pitchFamily="49" charset="0"/>
              </a:rPr>
              <a:t>	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</a:rPr>
              <a:t>public</a:t>
            </a:r>
            <a:r>
              <a:rPr lang="en-US" altLang="en-US" sz="2000" dirty="0">
                <a:solidFill>
                  <a:srgbClr val="B21E92"/>
                </a:solidFill>
                <a:latin typeface="Courier New" pitchFamily="49" charset="0"/>
              </a:rPr>
              <a:t> 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</a:rPr>
              <a:t>void</a:t>
            </a:r>
            <a:r>
              <a:rPr lang="en-US" altLang="en-US" sz="2000" dirty="0">
                <a:solidFill>
                  <a:srgbClr val="B21E92"/>
                </a:solidFill>
                <a:latin typeface="Courier New" pitchFamily="49" charset="0"/>
              </a:rPr>
              <a:t> </a:t>
            </a:r>
            <a:r>
              <a:rPr lang="en-US" altLang="en-US" sz="2000" dirty="0" err="1">
                <a:latin typeface="Courier New" pitchFamily="49" charset="0"/>
              </a:rPr>
              <a:t>deleteFirst</a:t>
            </a:r>
            <a:r>
              <a:rPr lang="en-US" altLang="en-US" sz="2000" dirty="0">
                <a:latin typeface="Courier New" pitchFamily="49" charset="0"/>
              </a:rPr>
              <a:t> () {</a:t>
            </a:r>
            <a:br>
              <a:rPr lang="en-US" altLang="en-US" sz="200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   </a:t>
            </a:r>
            <a:r>
              <a:rPr lang="en-US" altLang="en-US" sz="200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Delete this SLL’s first node</a:t>
            </a:r>
            <a:r>
              <a:rPr lang="en-US" altLang="en-US" sz="2000" dirty="0">
                <a:solidFill>
                  <a:srgbClr val="92D050"/>
                </a:solidFill>
              </a:rPr>
              <a:t> (assuming length &gt; 0)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.</a:t>
            </a:r>
            <a:br>
              <a:rPr lang="en-US" altLang="en-US" sz="2000" dirty="0">
                <a:solidFill>
                  <a:srgbClr val="92D050"/>
                </a:solidFill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	</a:t>
            </a:r>
            <a:r>
              <a:rPr lang="en-US" altLang="en-US" sz="2000">
                <a:solidFill>
                  <a:srgbClr val="0070C0"/>
                </a:solidFill>
                <a:latin typeface="Courier New" pitchFamily="49" charset="0"/>
              </a:rPr>
              <a:t>first</a:t>
            </a:r>
            <a:r>
              <a:rPr lang="en-US" altLang="en-US" sz="2000">
                <a:latin typeface="Courier New" pitchFamily="49" charset="0"/>
              </a:rPr>
              <a:t> = </a:t>
            </a:r>
            <a:r>
              <a:rPr lang="en-US" altLang="en-US" sz="2000">
                <a:solidFill>
                  <a:srgbClr val="0070C0"/>
                </a:solidFill>
                <a:latin typeface="Courier New" pitchFamily="49" charset="0"/>
              </a:rPr>
              <a:t>first</a:t>
            </a:r>
            <a:r>
              <a:rPr lang="en-US" altLang="en-US" sz="2000">
                <a:latin typeface="Courier New" pitchFamily="49" charset="0"/>
              </a:rPr>
              <a:t>.</a:t>
            </a:r>
            <a:r>
              <a:rPr lang="en-US" altLang="en-US" sz="2000">
                <a:solidFill>
                  <a:srgbClr val="0070C0"/>
                </a:solidFill>
                <a:latin typeface="Courier New" pitchFamily="49" charset="0"/>
              </a:rPr>
              <a:t>next</a:t>
            </a:r>
            <a:r>
              <a:rPr lang="en-US" altLang="en-US" sz="2000" dirty="0">
                <a:latin typeface="Courier New" pitchFamily="49" charset="0"/>
              </a:rPr>
              <a:t>;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28600" y="1447800"/>
            <a:ext cx="853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Method to delete a SLL’s first node (in class SLL):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3549134"/>
            <a:ext cx="576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/>
              <a:t>Animation:</a:t>
            </a:r>
          </a:p>
        </p:txBody>
      </p:sp>
    </p:spTree>
    <p:extLst>
      <p:ext uri="{BB962C8B-B14F-4D97-AF65-F5344CB8AC3E}">
        <p14:creationId xmlns:p14="http://schemas.microsoft.com/office/powerpoint/2010/main" val="641416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Insertion</a:t>
            </a:r>
            <a:endParaRPr lang="en-GB" altLang="en-US" sz="3200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457200" indent="-457200" eaLnBrk="1" hangingPunct="1"/>
            <a:r>
              <a:rPr lang="en-US" altLang="en-US" b="1"/>
              <a:t>Problem</a:t>
            </a:r>
            <a:r>
              <a:rPr lang="en-US" altLang="en-US"/>
              <a:t>: Insert a new element at a given point in a linked-list.</a:t>
            </a:r>
          </a:p>
          <a:p>
            <a:pPr marL="457200" indent="-457200" eaLnBrk="1" hangingPunct="1"/>
            <a:r>
              <a:rPr lang="en-US" altLang="en-US"/>
              <a:t>Four cases to consider:</a:t>
            </a:r>
          </a:p>
          <a:p>
            <a:pPr marL="838200" lvl="1" indent="-381000" eaLnBrk="1" hangingPunct="1">
              <a:buFontTx/>
              <a:buAutoNum type="alphaUcPeriod"/>
            </a:pPr>
            <a:r>
              <a:rPr lang="en-US" altLang="en-US"/>
              <a:t>insertion in an empty linked-list;</a:t>
            </a:r>
          </a:p>
          <a:p>
            <a:pPr marL="838200" lvl="1" indent="-381000" eaLnBrk="1" hangingPunct="1">
              <a:buFontTx/>
              <a:buAutoNum type="alphaUcPeriod"/>
            </a:pPr>
            <a:r>
              <a:rPr lang="en-US" altLang="en-US"/>
              <a:t>insertion before the first node of a non-empty linked-list;</a:t>
            </a:r>
          </a:p>
          <a:p>
            <a:pPr marL="838200" lvl="1" indent="-381000" eaLnBrk="1" hangingPunct="1">
              <a:buFontTx/>
              <a:buAutoNum type="alphaUcPeriod"/>
            </a:pPr>
            <a:r>
              <a:rPr lang="en-US" altLang="en-US"/>
              <a:t>insertion after the last node of a non-empty linked-list;</a:t>
            </a:r>
          </a:p>
          <a:p>
            <a:pPr marL="838200" lvl="1" indent="-381000" eaLnBrk="1" hangingPunct="1">
              <a:buFontTx/>
              <a:buAutoNum type="alphaUcPeriod"/>
            </a:pPr>
            <a:r>
              <a:rPr lang="en-US" altLang="en-US"/>
              <a:t>insertion between nodes of a non-empty linked-list.</a:t>
            </a:r>
          </a:p>
          <a:p>
            <a:pPr marL="457200" indent="-457200" eaLnBrk="1" hangingPunct="1"/>
            <a:r>
              <a:rPr lang="en-US" altLang="en-US"/>
              <a:t>The insertion algorithm needs links to the new node’s successor and predecessor.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033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SLL insertion </a:t>
            </a:r>
            <a:r>
              <a:rPr lang="en-US" altLang="en-US" sz="3200" i="1" dirty="0"/>
              <a:t>(1)</a:t>
            </a:r>
            <a:endParaRPr lang="en-GB" altLang="en-US" sz="3200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447800"/>
            <a:ext cx="7620000" cy="4800600"/>
          </a:xfrm>
          <a:noFill/>
        </p:spPr>
        <p:txBody>
          <a:bodyPr/>
          <a:lstStyle/>
          <a:p>
            <a:pPr eaLnBrk="1" hangingPunct="1">
              <a:tabLst>
                <a:tab pos="723900" algn="l"/>
                <a:tab pos="1257300" algn="l"/>
              </a:tabLst>
            </a:pPr>
            <a:r>
              <a:rPr lang="en-US" altLang="en-US" b="1" dirty="0"/>
              <a:t>SLL insertion algorithm</a:t>
            </a:r>
            <a:r>
              <a:rPr lang="en-US" altLang="en-US" dirty="0"/>
              <a:t>: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257300" algn="l"/>
              </a:tabLst>
            </a:pPr>
            <a:r>
              <a:rPr lang="en-US" altLang="en-US" sz="2000" dirty="0">
                <a:latin typeface="Times New Roman" pitchFamily="18" charset="0"/>
              </a:rPr>
              <a:t>	To insert </a:t>
            </a:r>
            <a:r>
              <a:rPr lang="en-US" altLang="en-US" sz="2000" i="1" dirty="0" err="1">
                <a:latin typeface="Times New Roman" pitchFamily="18" charset="0"/>
              </a:rPr>
              <a:t>elem</a:t>
            </a:r>
            <a:r>
              <a:rPr lang="en-US" altLang="en-US" sz="2000" dirty="0">
                <a:latin typeface="Times New Roman" pitchFamily="18" charset="0"/>
              </a:rPr>
              <a:t> at a given point in the SLL headed by </a:t>
            </a:r>
            <a:r>
              <a:rPr lang="en-US" altLang="en-US" sz="2000" i="1" dirty="0">
                <a:latin typeface="Times New Roman" pitchFamily="18" charset="0"/>
              </a:rPr>
              <a:t>first</a:t>
            </a:r>
            <a:r>
              <a:rPr lang="en-US" altLang="en-US" sz="2000" dirty="0">
                <a:latin typeface="Times New Roman" pitchFamily="18" charset="0"/>
              </a:rPr>
              <a:t>: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257300" algn="l"/>
              </a:tabLst>
            </a:pPr>
            <a:r>
              <a:rPr lang="en-US" altLang="en-US" sz="2000" dirty="0">
                <a:latin typeface="Times New Roman" pitchFamily="18" charset="0"/>
              </a:rPr>
              <a:t>	1.	Make </a:t>
            </a:r>
            <a:r>
              <a:rPr lang="en-US" altLang="en-US" sz="2000" i="1" dirty="0">
                <a:latin typeface="Times New Roman" pitchFamily="18" charset="0"/>
              </a:rPr>
              <a:t>ins</a:t>
            </a:r>
            <a:r>
              <a:rPr lang="en-US" altLang="en-US" sz="2000" dirty="0">
                <a:latin typeface="Times New Roman" pitchFamily="18" charset="0"/>
              </a:rPr>
              <a:t> a link to a newly-created node with element </a:t>
            </a:r>
            <a:r>
              <a:rPr lang="en-US" altLang="en-US" sz="2000" i="1" dirty="0" err="1">
                <a:latin typeface="Times New Roman" pitchFamily="18" charset="0"/>
              </a:rPr>
              <a:t>elem</a:t>
            </a:r>
            <a:r>
              <a:rPr lang="en-US" altLang="en-US" sz="2000" dirty="0">
                <a:latin typeface="Times New Roman" pitchFamily="18" charset="0"/>
              </a:rPr>
              <a:t> 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	and next node null.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2.	If the insertion point is before the first node: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	2.1.	Set </a:t>
            </a:r>
            <a:r>
              <a:rPr lang="en-US" altLang="en-US" sz="2000" i="1" dirty="0" err="1">
                <a:latin typeface="Times New Roman" pitchFamily="18" charset="0"/>
              </a:rPr>
              <a:t>ins</a:t>
            </a:r>
            <a:r>
              <a:rPr lang="en-US" altLang="en-US" sz="2000" dirty="0" err="1">
                <a:latin typeface="Times New Roman" pitchFamily="18" charset="0"/>
              </a:rPr>
              <a:t>’s</a:t>
            </a:r>
            <a:r>
              <a:rPr lang="en-US" altLang="en-US" sz="2000" dirty="0">
                <a:latin typeface="Times New Roman" pitchFamily="18" charset="0"/>
              </a:rPr>
              <a:t> next  node to </a:t>
            </a:r>
            <a:r>
              <a:rPr lang="en-US" altLang="en-US" sz="2000" i="1" dirty="0">
                <a:latin typeface="Times New Roman" pitchFamily="18" charset="0"/>
              </a:rPr>
              <a:t>first</a:t>
            </a:r>
            <a:r>
              <a:rPr lang="en-US" altLang="en-US" sz="2000" dirty="0">
                <a:latin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	2.2.	Set </a:t>
            </a:r>
            <a:r>
              <a:rPr lang="en-US" altLang="en-US" sz="2000" i="1" dirty="0">
                <a:latin typeface="Times New Roman" pitchFamily="18" charset="0"/>
              </a:rPr>
              <a:t>first</a:t>
            </a:r>
            <a:r>
              <a:rPr lang="en-US" altLang="en-US" sz="2000" dirty="0">
                <a:latin typeface="Times New Roman" pitchFamily="18" charset="0"/>
              </a:rPr>
              <a:t> to </a:t>
            </a:r>
            <a:r>
              <a:rPr lang="en-US" altLang="en-US" sz="2000" i="1" dirty="0">
                <a:latin typeface="Times New Roman" pitchFamily="18" charset="0"/>
              </a:rPr>
              <a:t>ins</a:t>
            </a:r>
            <a:r>
              <a:rPr lang="en-US" altLang="en-US" sz="2000" dirty="0">
                <a:latin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3.	Else, if the insertion point is after the node </a:t>
            </a:r>
            <a:r>
              <a:rPr lang="en-US" altLang="en-US" sz="2000" i="1" dirty="0" err="1">
                <a:latin typeface="Times New Roman" pitchFamily="18" charset="0"/>
              </a:rPr>
              <a:t>pred</a:t>
            </a:r>
            <a:r>
              <a:rPr lang="en-US" altLang="en-US" sz="2000" dirty="0">
                <a:latin typeface="Times New Roman" pitchFamily="18" charset="0"/>
              </a:rPr>
              <a:t>: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	3.1.	Set </a:t>
            </a:r>
            <a:r>
              <a:rPr lang="en-US" altLang="en-US" sz="2000" i="1" dirty="0" err="1">
                <a:latin typeface="Times New Roman" pitchFamily="18" charset="0"/>
              </a:rPr>
              <a:t>ins</a:t>
            </a:r>
            <a:r>
              <a:rPr lang="en-US" altLang="en-US" sz="2000" dirty="0" err="1">
                <a:latin typeface="Times New Roman" pitchFamily="18" charset="0"/>
              </a:rPr>
              <a:t>’s</a:t>
            </a:r>
            <a:r>
              <a:rPr lang="en-US" altLang="en-US" sz="2000" dirty="0">
                <a:latin typeface="Times New Roman" pitchFamily="18" charset="0"/>
              </a:rPr>
              <a:t> next node to </a:t>
            </a:r>
            <a:r>
              <a:rPr lang="en-US" altLang="en-US" sz="2000" i="1" dirty="0" err="1">
                <a:latin typeface="Times New Roman" pitchFamily="18" charset="0"/>
              </a:rPr>
              <a:t>pred</a:t>
            </a:r>
            <a:r>
              <a:rPr lang="en-US" altLang="en-US" sz="2000" dirty="0" err="1">
                <a:latin typeface="Times New Roman" pitchFamily="18" charset="0"/>
              </a:rPr>
              <a:t>’s</a:t>
            </a:r>
            <a:r>
              <a:rPr lang="en-US" altLang="en-US" sz="2000" dirty="0">
                <a:latin typeface="Times New Roman" pitchFamily="18" charset="0"/>
              </a:rPr>
              <a:t> next node.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	3.2.	Set </a:t>
            </a:r>
            <a:r>
              <a:rPr lang="en-US" altLang="en-US" sz="2000" i="1" dirty="0" err="1">
                <a:latin typeface="Times New Roman" pitchFamily="18" charset="0"/>
              </a:rPr>
              <a:t>pred</a:t>
            </a:r>
            <a:r>
              <a:rPr lang="en-US" altLang="en-US" sz="2000" dirty="0" err="1">
                <a:latin typeface="Times New Roman" pitchFamily="18" charset="0"/>
              </a:rPr>
              <a:t>’s</a:t>
            </a:r>
            <a:r>
              <a:rPr lang="en-US" altLang="en-US" sz="2000" dirty="0">
                <a:latin typeface="Times New Roman" pitchFamily="18" charset="0"/>
              </a:rPr>
              <a:t> next node to </a:t>
            </a:r>
            <a:r>
              <a:rPr lang="en-US" altLang="en-US" sz="2000" i="1" dirty="0">
                <a:latin typeface="Times New Roman" pitchFamily="18" charset="0"/>
              </a:rPr>
              <a:t>ins</a:t>
            </a:r>
            <a:r>
              <a:rPr lang="en-US" altLang="en-US" sz="2000" dirty="0">
                <a:latin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4.	Terminate.</a:t>
            </a:r>
          </a:p>
        </p:txBody>
      </p:sp>
      <p:sp>
        <p:nvSpPr>
          <p:cNvPr id="380932" name="AutoShape 4"/>
          <p:cNvSpPr>
            <a:spLocks/>
          </p:cNvSpPr>
          <p:nvPr/>
        </p:nvSpPr>
        <p:spPr bwMode="auto">
          <a:xfrm>
            <a:off x="6248400" y="3266282"/>
            <a:ext cx="1189038" cy="252412"/>
          </a:xfrm>
          <a:prstGeom prst="callout1">
            <a:avLst>
              <a:gd name="adj1" fmla="val 45282"/>
              <a:gd name="adj2" fmla="val -6407"/>
              <a:gd name="adj3" fmla="val 46542"/>
              <a:gd name="adj4" fmla="val -49134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cases A, B</a:t>
            </a:r>
          </a:p>
        </p:txBody>
      </p:sp>
      <p:sp>
        <p:nvSpPr>
          <p:cNvPr id="380933" name="AutoShape 5"/>
          <p:cNvSpPr>
            <a:spLocks/>
          </p:cNvSpPr>
          <p:nvPr/>
        </p:nvSpPr>
        <p:spPr bwMode="auto">
          <a:xfrm>
            <a:off x="6228608" y="4292599"/>
            <a:ext cx="1189038" cy="252413"/>
          </a:xfrm>
          <a:prstGeom prst="callout1">
            <a:avLst>
              <a:gd name="adj1" fmla="val 49986"/>
              <a:gd name="adj2" fmla="val -2412"/>
              <a:gd name="adj3" fmla="val 51574"/>
              <a:gd name="adj4" fmla="val -19227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cases C, 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408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932" grpId="0" animBg="1"/>
      <p:bldP spid="38093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5"/>
          <p:cNvGrpSpPr>
            <a:grpSpLocks/>
          </p:cNvGrpSpPr>
          <p:nvPr/>
        </p:nvGrpSpPr>
        <p:grpSpPr bwMode="auto">
          <a:xfrm>
            <a:off x="541338" y="2007919"/>
            <a:ext cx="6400800" cy="4343400"/>
            <a:chOff x="1229" y="1344"/>
            <a:chExt cx="4032" cy="2736"/>
          </a:xfrm>
        </p:grpSpPr>
        <p:sp>
          <p:nvSpPr>
            <p:cNvPr id="13382" name="Rectangle 5"/>
            <p:cNvSpPr>
              <a:spLocks noChangeArrowheads="1"/>
            </p:cNvSpPr>
            <p:nvPr/>
          </p:nvSpPr>
          <p:spPr bwMode="auto">
            <a:xfrm>
              <a:off x="1229" y="1344"/>
              <a:ext cx="4032" cy="27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83" name="Rectangle 6"/>
            <p:cNvSpPr>
              <a:spLocks noChangeArrowheads="1"/>
            </p:cNvSpPr>
            <p:nvPr/>
          </p:nvSpPr>
          <p:spPr bwMode="auto">
            <a:xfrm>
              <a:off x="1757" y="3504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84" name="Text Box 7"/>
            <p:cNvSpPr txBox="1">
              <a:spLocks noChangeArrowheads="1"/>
            </p:cNvSpPr>
            <p:nvPr/>
          </p:nvSpPr>
          <p:spPr bwMode="auto">
            <a:xfrm>
              <a:off x="3389" y="3504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bat</a:t>
              </a:r>
            </a:p>
          </p:txBody>
        </p:sp>
        <p:sp>
          <p:nvSpPr>
            <p:cNvPr id="13385" name="Text Box 8"/>
            <p:cNvSpPr txBox="1">
              <a:spLocks noChangeArrowheads="1"/>
            </p:cNvSpPr>
            <p:nvPr/>
          </p:nvSpPr>
          <p:spPr bwMode="auto">
            <a:xfrm>
              <a:off x="4397" y="3504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13386" name="Line 9"/>
            <p:cNvSpPr>
              <a:spLocks noChangeShapeType="1"/>
            </p:cNvSpPr>
            <p:nvPr/>
          </p:nvSpPr>
          <p:spPr bwMode="auto">
            <a:xfrm>
              <a:off x="1853" y="3600"/>
              <a:ext cx="15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87" name="Line 10"/>
            <p:cNvSpPr>
              <a:spLocks noChangeShapeType="1"/>
            </p:cNvSpPr>
            <p:nvPr/>
          </p:nvSpPr>
          <p:spPr bwMode="auto">
            <a:xfrm>
              <a:off x="3869" y="3600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88" name="Line 11"/>
            <p:cNvSpPr>
              <a:spLocks noChangeShapeType="1"/>
            </p:cNvSpPr>
            <p:nvPr/>
          </p:nvSpPr>
          <p:spPr bwMode="auto">
            <a:xfrm>
              <a:off x="4877" y="360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89" name="Text Box 12"/>
            <p:cNvSpPr txBox="1">
              <a:spLocks noChangeArrowheads="1"/>
            </p:cNvSpPr>
            <p:nvPr/>
          </p:nvSpPr>
          <p:spPr bwMode="auto">
            <a:xfrm>
              <a:off x="1421" y="350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first</a:t>
              </a:r>
            </a:p>
          </p:txBody>
        </p:sp>
        <p:sp>
          <p:nvSpPr>
            <p:cNvPr id="13390" name="Rectangle 13"/>
            <p:cNvSpPr>
              <a:spLocks noChangeArrowheads="1"/>
            </p:cNvSpPr>
            <p:nvPr/>
          </p:nvSpPr>
          <p:spPr bwMode="auto">
            <a:xfrm>
              <a:off x="1277" y="1392"/>
              <a:ext cx="3936" cy="1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81000" algn="l"/>
                  <a:tab pos="9525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81000" algn="l"/>
                  <a:tab pos="9525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To insert </a:t>
              </a:r>
              <a:r>
                <a:rPr lang="en-US" altLang="en-US" sz="2000" i="1">
                  <a:latin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</a:rPr>
                <a:t> at a given point in the SLL headed by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1.	Make </a:t>
              </a:r>
              <a:r>
                <a:rPr lang="en-US" altLang="en-US" sz="2000" i="1">
                  <a:latin typeface="Times New Roman" pitchFamily="18" charset="0"/>
                </a:rPr>
                <a:t>ins</a:t>
              </a:r>
              <a:r>
                <a:rPr lang="en-US" altLang="en-US" sz="2000">
                  <a:latin typeface="Times New Roman" pitchFamily="18" charset="0"/>
                </a:rPr>
                <a:t> a link to a newly-created node with element 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</a:t>
              </a:r>
              <a:r>
                <a:rPr lang="en-US" altLang="en-US" sz="2000" i="1">
                  <a:latin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</a:rPr>
                <a:t> and successor null.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2.	If the insertion point is before the first node: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2.1.	Set </a:t>
              </a:r>
              <a:r>
                <a:rPr lang="en-US" altLang="en-US" sz="2000" i="1">
                  <a:latin typeface="Times New Roman" pitchFamily="18" charset="0"/>
                </a:rPr>
                <a:t>ins</a:t>
              </a:r>
              <a:r>
                <a:rPr lang="en-US" altLang="en-US" sz="2000">
                  <a:latin typeface="Times New Roman" pitchFamily="18" charset="0"/>
                </a:rPr>
                <a:t>’s successor to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2.2.	Set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</a:rPr>
                <a:t>ins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3.	Else, if the insertion point is after the node </a:t>
              </a:r>
              <a:r>
                <a:rPr lang="en-US" altLang="en-US" sz="2000" i="1">
                  <a:latin typeface="Times New Roman" pitchFamily="18" charset="0"/>
                </a:rPr>
                <a:t>pred</a:t>
              </a:r>
              <a:r>
                <a:rPr lang="en-US" altLang="en-US" sz="2000">
                  <a:latin typeface="Times New Roman" pitchFamily="18" charset="0"/>
                </a:rPr>
                <a:t>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3.1.	Set </a:t>
              </a:r>
              <a:r>
                <a:rPr lang="en-US" altLang="en-US" sz="2000" i="1">
                  <a:latin typeface="Times New Roman" pitchFamily="18" charset="0"/>
                </a:rPr>
                <a:t>ins</a:t>
              </a:r>
              <a:r>
                <a:rPr lang="en-US" altLang="en-US" sz="2000">
                  <a:latin typeface="Times New Roman" pitchFamily="18" charset="0"/>
                </a:rPr>
                <a:t>’s successor to </a:t>
              </a:r>
              <a:r>
                <a:rPr lang="en-US" altLang="en-US" sz="2000" i="1">
                  <a:latin typeface="Times New Roman" pitchFamily="18" charset="0"/>
                </a:rPr>
                <a:t>pred</a:t>
              </a:r>
              <a:r>
                <a:rPr lang="en-US" altLang="en-US" sz="2000">
                  <a:latin typeface="Times New Roman" pitchFamily="18" charset="0"/>
                </a:rPr>
                <a:t>’s successor.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3.2.	Set </a:t>
              </a:r>
              <a:r>
                <a:rPr lang="en-US" altLang="en-US" sz="2000" i="1">
                  <a:latin typeface="Times New Roman" pitchFamily="18" charset="0"/>
                </a:rPr>
                <a:t>pred</a:t>
              </a:r>
              <a:r>
                <a:rPr lang="en-US" altLang="en-US" sz="2000">
                  <a:latin typeface="Times New Roman" pitchFamily="18" charset="0"/>
                </a:rPr>
                <a:t>’s successor to </a:t>
              </a:r>
              <a:r>
                <a:rPr lang="en-US" altLang="en-US" sz="2000" i="1">
                  <a:latin typeface="Times New Roman" pitchFamily="18" charset="0"/>
                </a:rPr>
                <a:t>ins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4.	Terminate.</a:t>
              </a:r>
              <a:endParaRPr lang="en-GB" altLang="en-US" sz="2000">
                <a:latin typeface="Times New Roman" pitchFamily="18" charset="0"/>
              </a:endParaRPr>
            </a:p>
          </p:txBody>
        </p:sp>
        <p:sp>
          <p:nvSpPr>
            <p:cNvPr id="13391" name="Text Box 14"/>
            <p:cNvSpPr txBox="1">
              <a:spLocks noChangeArrowheads="1"/>
            </p:cNvSpPr>
            <p:nvPr/>
          </p:nvSpPr>
          <p:spPr bwMode="auto">
            <a:xfrm>
              <a:off x="4205" y="378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elem</a:t>
              </a:r>
            </a:p>
          </p:txBody>
        </p:sp>
        <p:sp>
          <p:nvSpPr>
            <p:cNvPr id="13392" name="Text Box 15"/>
            <p:cNvSpPr txBox="1">
              <a:spLocks noChangeArrowheads="1"/>
            </p:cNvSpPr>
            <p:nvPr/>
          </p:nvSpPr>
          <p:spPr bwMode="auto">
            <a:xfrm>
              <a:off x="4589" y="3786"/>
              <a:ext cx="384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ant</a:t>
              </a:r>
            </a:p>
          </p:txBody>
        </p:sp>
      </p:grpSp>
      <p:grpSp>
        <p:nvGrpSpPr>
          <p:cNvPr id="3" name="Group 84"/>
          <p:cNvGrpSpPr>
            <a:grpSpLocks/>
          </p:cNvGrpSpPr>
          <p:nvPr/>
        </p:nvGrpSpPr>
        <p:grpSpPr bwMode="auto">
          <a:xfrm>
            <a:off x="541338" y="2007919"/>
            <a:ext cx="6400800" cy="4343400"/>
            <a:chOff x="1229" y="1435"/>
            <a:chExt cx="4032" cy="2736"/>
          </a:xfrm>
        </p:grpSpPr>
        <p:sp>
          <p:nvSpPr>
            <p:cNvPr id="13366" name="Rectangle 17"/>
            <p:cNvSpPr>
              <a:spLocks noChangeArrowheads="1"/>
            </p:cNvSpPr>
            <p:nvPr/>
          </p:nvSpPr>
          <p:spPr bwMode="auto">
            <a:xfrm>
              <a:off x="1229" y="1435"/>
              <a:ext cx="4032" cy="27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67" name="Rectangle 18"/>
            <p:cNvSpPr>
              <a:spLocks noChangeArrowheads="1"/>
            </p:cNvSpPr>
            <p:nvPr/>
          </p:nvSpPr>
          <p:spPr bwMode="auto">
            <a:xfrm>
              <a:off x="1757" y="3595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68" name="Text Box 19"/>
            <p:cNvSpPr txBox="1">
              <a:spLocks noChangeArrowheads="1"/>
            </p:cNvSpPr>
            <p:nvPr/>
          </p:nvSpPr>
          <p:spPr bwMode="auto">
            <a:xfrm>
              <a:off x="2381" y="387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ant</a:t>
              </a:r>
            </a:p>
          </p:txBody>
        </p:sp>
        <p:sp>
          <p:nvSpPr>
            <p:cNvPr id="13369" name="Text Box 20"/>
            <p:cNvSpPr txBox="1">
              <a:spLocks noChangeArrowheads="1"/>
            </p:cNvSpPr>
            <p:nvPr/>
          </p:nvSpPr>
          <p:spPr bwMode="auto">
            <a:xfrm>
              <a:off x="3389" y="3595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bat</a:t>
              </a:r>
            </a:p>
          </p:txBody>
        </p:sp>
        <p:sp>
          <p:nvSpPr>
            <p:cNvPr id="13370" name="Text Box 21"/>
            <p:cNvSpPr txBox="1">
              <a:spLocks noChangeArrowheads="1"/>
            </p:cNvSpPr>
            <p:nvPr/>
          </p:nvSpPr>
          <p:spPr bwMode="auto">
            <a:xfrm>
              <a:off x="4397" y="3595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13371" name="Line 22"/>
            <p:cNvSpPr>
              <a:spLocks noChangeShapeType="1"/>
            </p:cNvSpPr>
            <p:nvPr/>
          </p:nvSpPr>
          <p:spPr bwMode="auto">
            <a:xfrm>
              <a:off x="1853" y="3691"/>
              <a:ext cx="15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72" name="Line 23"/>
            <p:cNvSpPr>
              <a:spLocks noChangeShapeType="1"/>
            </p:cNvSpPr>
            <p:nvPr/>
          </p:nvSpPr>
          <p:spPr bwMode="auto">
            <a:xfrm>
              <a:off x="3869" y="3691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73" name="Line 24"/>
            <p:cNvSpPr>
              <a:spLocks noChangeShapeType="1"/>
            </p:cNvSpPr>
            <p:nvPr/>
          </p:nvSpPr>
          <p:spPr bwMode="auto">
            <a:xfrm>
              <a:off x="4877" y="369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74" name="Text Box 25"/>
            <p:cNvSpPr txBox="1">
              <a:spLocks noChangeArrowheads="1"/>
            </p:cNvSpPr>
            <p:nvPr/>
          </p:nvSpPr>
          <p:spPr bwMode="auto">
            <a:xfrm>
              <a:off x="1421" y="3595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first</a:t>
              </a:r>
            </a:p>
          </p:txBody>
        </p:sp>
        <p:sp>
          <p:nvSpPr>
            <p:cNvPr id="13375" name="Rectangle 26"/>
            <p:cNvSpPr>
              <a:spLocks noChangeArrowheads="1"/>
            </p:cNvSpPr>
            <p:nvPr/>
          </p:nvSpPr>
          <p:spPr bwMode="auto">
            <a:xfrm>
              <a:off x="1757" y="3883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76" name="Text Box 27"/>
            <p:cNvSpPr txBox="1">
              <a:spLocks noChangeArrowheads="1"/>
            </p:cNvSpPr>
            <p:nvPr/>
          </p:nvSpPr>
          <p:spPr bwMode="auto">
            <a:xfrm>
              <a:off x="1421" y="3883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ins</a:t>
              </a:r>
            </a:p>
          </p:txBody>
        </p:sp>
        <p:sp>
          <p:nvSpPr>
            <p:cNvPr id="13377" name="Rectangle 28"/>
            <p:cNvSpPr>
              <a:spLocks noChangeArrowheads="1"/>
            </p:cNvSpPr>
            <p:nvPr/>
          </p:nvSpPr>
          <p:spPr bwMode="auto">
            <a:xfrm>
              <a:off x="1277" y="1483"/>
              <a:ext cx="3936" cy="1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81000" algn="l"/>
                  <a:tab pos="9525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81000" algn="l"/>
                  <a:tab pos="9525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To insert </a:t>
              </a:r>
              <a:r>
                <a:rPr lang="en-US" altLang="en-US" sz="2000" i="1">
                  <a:latin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</a:rPr>
                <a:t> at a given point in the SLL headed by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1.	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Make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ins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 a link to a newly-created node with element </a:t>
              </a:r>
              <a:b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</a:b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	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elem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 and successor null.</a:t>
              </a:r>
              <a:b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2.	If the insertion point is before the first node: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2.1.	Set </a:t>
              </a:r>
              <a:r>
                <a:rPr lang="en-US" altLang="en-US" sz="2000" i="1">
                  <a:latin typeface="Times New Roman" pitchFamily="18" charset="0"/>
                </a:rPr>
                <a:t>ins</a:t>
              </a:r>
              <a:r>
                <a:rPr lang="en-US" altLang="en-US" sz="2000">
                  <a:latin typeface="Times New Roman" pitchFamily="18" charset="0"/>
                </a:rPr>
                <a:t>’s successor to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2.2.	Set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</a:rPr>
                <a:t>ins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3.	Else, if the insertion point is after the node </a:t>
              </a:r>
              <a:r>
                <a:rPr lang="en-US" altLang="en-US" sz="2000" i="1">
                  <a:latin typeface="Times New Roman" pitchFamily="18" charset="0"/>
                </a:rPr>
                <a:t>pred</a:t>
              </a:r>
              <a:r>
                <a:rPr lang="en-US" altLang="en-US" sz="2000">
                  <a:latin typeface="Times New Roman" pitchFamily="18" charset="0"/>
                </a:rPr>
                <a:t>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3.1.	Set </a:t>
              </a:r>
              <a:r>
                <a:rPr lang="en-US" altLang="en-US" sz="2000" i="1">
                  <a:latin typeface="Times New Roman" pitchFamily="18" charset="0"/>
                </a:rPr>
                <a:t>ins</a:t>
              </a:r>
              <a:r>
                <a:rPr lang="en-US" altLang="en-US" sz="2000">
                  <a:latin typeface="Times New Roman" pitchFamily="18" charset="0"/>
                </a:rPr>
                <a:t>’s successor to </a:t>
              </a:r>
              <a:r>
                <a:rPr lang="en-US" altLang="en-US" sz="2000" i="1">
                  <a:latin typeface="Times New Roman" pitchFamily="18" charset="0"/>
                </a:rPr>
                <a:t>pred</a:t>
              </a:r>
              <a:r>
                <a:rPr lang="en-US" altLang="en-US" sz="2000">
                  <a:latin typeface="Times New Roman" pitchFamily="18" charset="0"/>
                </a:rPr>
                <a:t>’s successor.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3.2.	Set </a:t>
              </a:r>
              <a:r>
                <a:rPr lang="en-US" altLang="en-US" sz="2000" i="1">
                  <a:latin typeface="Times New Roman" pitchFamily="18" charset="0"/>
                </a:rPr>
                <a:t>pred</a:t>
              </a:r>
              <a:r>
                <a:rPr lang="en-US" altLang="en-US" sz="2000">
                  <a:latin typeface="Times New Roman" pitchFamily="18" charset="0"/>
                </a:rPr>
                <a:t>’s successor to </a:t>
              </a:r>
              <a:r>
                <a:rPr lang="en-US" altLang="en-US" sz="2000" i="1">
                  <a:latin typeface="Times New Roman" pitchFamily="18" charset="0"/>
                </a:rPr>
                <a:t>ins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4.	Terminate.</a:t>
              </a:r>
              <a:endParaRPr lang="en-GB" altLang="en-US" sz="2000">
                <a:latin typeface="Times New Roman" pitchFamily="18" charset="0"/>
              </a:endParaRPr>
            </a:p>
          </p:txBody>
        </p:sp>
        <p:sp>
          <p:nvSpPr>
            <p:cNvPr id="13378" name="Line 29"/>
            <p:cNvSpPr>
              <a:spLocks noChangeShapeType="1"/>
            </p:cNvSpPr>
            <p:nvPr/>
          </p:nvSpPr>
          <p:spPr bwMode="auto">
            <a:xfrm>
              <a:off x="2861" y="3979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79" name="Line 30"/>
            <p:cNvSpPr>
              <a:spLocks noChangeShapeType="1"/>
            </p:cNvSpPr>
            <p:nvPr/>
          </p:nvSpPr>
          <p:spPr bwMode="auto">
            <a:xfrm>
              <a:off x="1853" y="3973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80" name="Text Box 31"/>
            <p:cNvSpPr txBox="1">
              <a:spLocks noChangeArrowheads="1"/>
            </p:cNvSpPr>
            <p:nvPr/>
          </p:nvSpPr>
          <p:spPr bwMode="auto">
            <a:xfrm>
              <a:off x="4205" y="3877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elem</a:t>
              </a:r>
            </a:p>
          </p:txBody>
        </p:sp>
        <p:sp>
          <p:nvSpPr>
            <p:cNvPr id="13381" name="Text Box 32"/>
            <p:cNvSpPr txBox="1">
              <a:spLocks noChangeArrowheads="1"/>
            </p:cNvSpPr>
            <p:nvPr/>
          </p:nvSpPr>
          <p:spPr bwMode="auto">
            <a:xfrm>
              <a:off x="4589" y="3877"/>
              <a:ext cx="384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ant</a:t>
              </a:r>
            </a:p>
          </p:txBody>
        </p:sp>
      </p:grpSp>
      <p:grpSp>
        <p:nvGrpSpPr>
          <p:cNvPr id="4" name="Group 83"/>
          <p:cNvGrpSpPr>
            <a:grpSpLocks/>
          </p:cNvGrpSpPr>
          <p:nvPr/>
        </p:nvGrpSpPr>
        <p:grpSpPr bwMode="auto">
          <a:xfrm>
            <a:off x="541338" y="2007919"/>
            <a:ext cx="6400800" cy="4343400"/>
            <a:chOff x="1229" y="1526"/>
            <a:chExt cx="4032" cy="2736"/>
          </a:xfrm>
        </p:grpSpPr>
        <p:sp>
          <p:nvSpPr>
            <p:cNvPr id="13350" name="Rectangle 34"/>
            <p:cNvSpPr>
              <a:spLocks noChangeArrowheads="1"/>
            </p:cNvSpPr>
            <p:nvPr/>
          </p:nvSpPr>
          <p:spPr bwMode="auto">
            <a:xfrm>
              <a:off x="1229" y="1526"/>
              <a:ext cx="4032" cy="27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51" name="Rectangle 35"/>
            <p:cNvSpPr>
              <a:spLocks noChangeArrowheads="1"/>
            </p:cNvSpPr>
            <p:nvPr/>
          </p:nvSpPr>
          <p:spPr bwMode="auto">
            <a:xfrm>
              <a:off x="1757" y="3686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52" name="Text Box 36"/>
            <p:cNvSpPr txBox="1">
              <a:spLocks noChangeArrowheads="1"/>
            </p:cNvSpPr>
            <p:nvPr/>
          </p:nvSpPr>
          <p:spPr bwMode="auto">
            <a:xfrm>
              <a:off x="2381" y="396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ant</a:t>
              </a:r>
            </a:p>
          </p:txBody>
        </p:sp>
        <p:sp>
          <p:nvSpPr>
            <p:cNvPr id="13353" name="Text Box 37"/>
            <p:cNvSpPr txBox="1">
              <a:spLocks noChangeArrowheads="1"/>
            </p:cNvSpPr>
            <p:nvPr/>
          </p:nvSpPr>
          <p:spPr bwMode="auto">
            <a:xfrm>
              <a:off x="3389" y="368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bat</a:t>
              </a:r>
            </a:p>
          </p:txBody>
        </p:sp>
        <p:sp>
          <p:nvSpPr>
            <p:cNvPr id="13354" name="Text Box 38"/>
            <p:cNvSpPr txBox="1">
              <a:spLocks noChangeArrowheads="1"/>
            </p:cNvSpPr>
            <p:nvPr/>
          </p:nvSpPr>
          <p:spPr bwMode="auto">
            <a:xfrm>
              <a:off x="4397" y="368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13355" name="Line 39"/>
            <p:cNvSpPr>
              <a:spLocks noChangeShapeType="1"/>
            </p:cNvSpPr>
            <p:nvPr/>
          </p:nvSpPr>
          <p:spPr bwMode="auto">
            <a:xfrm>
              <a:off x="1853" y="3782"/>
              <a:ext cx="15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56" name="Line 40"/>
            <p:cNvSpPr>
              <a:spLocks noChangeShapeType="1"/>
            </p:cNvSpPr>
            <p:nvPr/>
          </p:nvSpPr>
          <p:spPr bwMode="auto">
            <a:xfrm>
              <a:off x="3869" y="3782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57" name="Line 41"/>
            <p:cNvSpPr>
              <a:spLocks noChangeShapeType="1"/>
            </p:cNvSpPr>
            <p:nvPr/>
          </p:nvSpPr>
          <p:spPr bwMode="auto">
            <a:xfrm>
              <a:off x="4877" y="378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58" name="Text Box 42"/>
            <p:cNvSpPr txBox="1">
              <a:spLocks noChangeArrowheads="1"/>
            </p:cNvSpPr>
            <p:nvPr/>
          </p:nvSpPr>
          <p:spPr bwMode="auto">
            <a:xfrm>
              <a:off x="1421" y="368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first</a:t>
              </a:r>
            </a:p>
          </p:txBody>
        </p:sp>
        <p:sp>
          <p:nvSpPr>
            <p:cNvPr id="13359" name="Rectangle 43"/>
            <p:cNvSpPr>
              <a:spLocks noChangeArrowheads="1"/>
            </p:cNvSpPr>
            <p:nvPr/>
          </p:nvSpPr>
          <p:spPr bwMode="auto">
            <a:xfrm>
              <a:off x="1757" y="3974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60" name="Text Box 44"/>
            <p:cNvSpPr txBox="1">
              <a:spLocks noChangeArrowheads="1"/>
            </p:cNvSpPr>
            <p:nvPr/>
          </p:nvSpPr>
          <p:spPr bwMode="auto">
            <a:xfrm>
              <a:off x="1421" y="397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ins</a:t>
              </a:r>
            </a:p>
          </p:txBody>
        </p:sp>
        <p:sp>
          <p:nvSpPr>
            <p:cNvPr id="13361" name="Rectangle 45"/>
            <p:cNvSpPr>
              <a:spLocks noChangeArrowheads="1"/>
            </p:cNvSpPr>
            <p:nvPr/>
          </p:nvSpPr>
          <p:spPr bwMode="auto">
            <a:xfrm>
              <a:off x="1277" y="1574"/>
              <a:ext cx="3936" cy="1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81000" algn="l"/>
                  <a:tab pos="9525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81000" algn="l"/>
                  <a:tab pos="9525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To insert </a:t>
              </a:r>
              <a:r>
                <a:rPr lang="en-US" altLang="en-US" sz="2000" i="1">
                  <a:latin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</a:rPr>
                <a:t> at a given point in the SLL headed by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1.	Make </a:t>
              </a:r>
              <a:r>
                <a:rPr lang="en-US" altLang="en-US" sz="2000" i="1">
                  <a:latin typeface="Times New Roman" pitchFamily="18" charset="0"/>
                </a:rPr>
                <a:t>ins</a:t>
              </a:r>
              <a:r>
                <a:rPr lang="en-US" altLang="en-US" sz="2000">
                  <a:latin typeface="Times New Roman" pitchFamily="18" charset="0"/>
                </a:rPr>
                <a:t> a link to a newly-created node with element 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</a:t>
              </a:r>
              <a:r>
                <a:rPr lang="en-US" altLang="en-US" sz="2000" i="1">
                  <a:latin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</a:rPr>
                <a:t> and successor null.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2.	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If the insertion point is before the first node: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2.1.	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Set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ins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’s successor to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first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2.2.	Set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</a:rPr>
                <a:t>ins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3.	Else, if the insertion point is after the node </a:t>
              </a:r>
              <a:r>
                <a:rPr lang="en-US" altLang="en-US" sz="2000" i="1">
                  <a:latin typeface="Times New Roman" pitchFamily="18" charset="0"/>
                </a:rPr>
                <a:t>pred</a:t>
              </a:r>
              <a:r>
                <a:rPr lang="en-US" altLang="en-US" sz="2000">
                  <a:latin typeface="Times New Roman" pitchFamily="18" charset="0"/>
                </a:rPr>
                <a:t>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3.1.	Set </a:t>
              </a:r>
              <a:r>
                <a:rPr lang="en-US" altLang="en-US" sz="2000" i="1">
                  <a:latin typeface="Times New Roman" pitchFamily="18" charset="0"/>
                </a:rPr>
                <a:t>ins</a:t>
              </a:r>
              <a:r>
                <a:rPr lang="en-US" altLang="en-US" sz="2000">
                  <a:latin typeface="Times New Roman" pitchFamily="18" charset="0"/>
                </a:rPr>
                <a:t>’s successor to </a:t>
              </a:r>
              <a:r>
                <a:rPr lang="en-US" altLang="en-US" sz="2000" i="1">
                  <a:latin typeface="Times New Roman" pitchFamily="18" charset="0"/>
                </a:rPr>
                <a:t>pred</a:t>
              </a:r>
              <a:r>
                <a:rPr lang="en-US" altLang="en-US" sz="2000">
                  <a:latin typeface="Times New Roman" pitchFamily="18" charset="0"/>
                </a:rPr>
                <a:t>’s successor.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3.2.	Set </a:t>
              </a:r>
              <a:r>
                <a:rPr lang="en-US" altLang="en-US" sz="2000" i="1">
                  <a:latin typeface="Times New Roman" pitchFamily="18" charset="0"/>
                </a:rPr>
                <a:t>pred</a:t>
              </a:r>
              <a:r>
                <a:rPr lang="en-US" altLang="en-US" sz="2000">
                  <a:latin typeface="Times New Roman" pitchFamily="18" charset="0"/>
                </a:rPr>
                <a:t>’s successor to </a:t>
              </a:r>
              <a:r>
                <a:rPr lang="en-US" altLang="en-US" sz="2000" i="1">
                  <a:latin typeface="Times New Roman" pitchFamily="18" charset="0"/>
                </a:rPr>
                <a:t>ins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4.	Terminate.</a:t>
              </a:r>
              <a:endParaRPr lang="en-GB" altLang="en-US" sz="2000">
                <a:latin typeface="Times New Roman" pitchFamily="18" charset="0"/>
              </a:endParaRPr>
            </a:p>
          </p:txBody>
        </p:sp>
        <p:sp>
          <p:nvSpPr>
            <p:cNvPr id="13362" name="Line 46"/>
            <p:cNvSpPr>
              <a:spLocks noChangeShapeType="1"/>
            </p:cNvSpPr>
            <p:nvPr/>
          </p:nvSpPr>
          <p:spPr bwMode="auto">
            <a:xfrm>
              <a:off x="1853" y="4064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63" name="Freeform 47"/>
            <p:cNvSpPr>
              <a:spLocks/>
            </p:cNvSpPr>
            <p:nvPr/>
          </p:nvSpPr>
          <p:spPr bwMode="auto">
            <a:xfrm>
              <a:off x="2861" y="3830"/>
              <a:ext cx="528" cy="240"/>
            </a:xfrm>
            <a:custGeom>
              <a:avLst/>
              <a:gdLst>
                <a:gd name="T0" fmla="*/ 0 w 528"/>
                <a:gd name="T1" fmla="*/ 240 h 240"/>
                <a:gd name="T2" fmla="*/ 192 w 528"/>
                <a:gd name="T3" fmla="*/ 240 h 240"/>
                <a:gd name="T4" fmla="*/ 528 w 528"/>
                <a:gd name="T5" fmla="*/ 0 h 240"/>
                <a:gd name="T6" fmla="*/ 0 60000 65536"/>
                <a:gd name="T7" fmla="*/ 0 60000 65536"/>
                <a:gd name="T8" fmla="*/ 0 60000 65536"/>
                <a:gd name="T9" fmla="*/ 0 w 528"/>
                <a:gd name="T10" fmla="*/ 0 h 240"/>
                <a:gd name="T11" fmla="*/ 528 w 528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240">
                  <a:moveTo>
                    <a:pt x="0" y="240"/>
                  </a:moveTo>
                  <a:lnTo>
                    <a:pt x="192" y="240"/>
                  </a:lnTo>
                  <a:lnTo>
                    <a:pt x="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64" name="Text Box 48"/>
            <p:cNvSpPr txBox="1">
              <a:spLocks noChangeArrowheads="1"/>
            </p:cNvSpPr>
            <p:nvPr/>
          </p:nvSpPr>
          <p:spPr bwMode="auto">
            <a:xfrm>
              <a:off x="4205" y="396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elem</a:t>
              </a:r>
            </a:p>
          </p:txBody>
        </p:sp>
        <p:sp>
          <p:nvSpPr>
            <p:cNvPr id="13365" name="Text Box 49"/>
            <p:cNvSpPr txBox="1">
              <a:spLocks noChangeArrowheads="1"/>
            </p:cNvSpPr>
            <p:nvPr/>
          </p:nvSpPr>
          <p:spPr bwMode="auto">
            <a:xfrm>
              <a:off x="4589" y="3968"/>
              <a:ext cx="384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ant</a:t>
              </a:r>
            </a:p>
          </p:txBody>
        </p:sp>
      </p:grpSp>
      <p:grpSp>
        <p:nvGrpSpPr>
          <p:cNvPr id="5" name="Group 82"/>
          <p:cNvGrpSpPr>
            <a:grpSpLocks/>
          </p:cNvGrpSpPr>
          <p:nvPr/>
        </p:nvGrpSpPr>
        <p:grpSpPr bwMode="auto">
          <a:xfrm>
            <a:off x="541338" y="2007919"/>
            <a:ext cx="6400800" cy="4343400"/>
            <a:chOff x="1229" y="1617"/>
            <a:chExt cx="4032" cy="2736"/>
          </a:xfrm>
        </p:grpSpPr>
        <p:sp>
          <p:nvSpPr>
            <p:cNvPr id="13334" name="Rectangle 51"/>
            <p:cNvSpPr>
              <a:spLocks noChangeArrowheads="1"/>
            </p:cNvSpPr>
            <p:nvPr/>
          </p:nvSpPr>
          <p:spPr bwMode="auto">
            <a:xfrm>
              <a:off x="1229" y="1617"/>
              <a:ext cx="4032" cy="27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35" name="Rectangle 52"/>
            <p:cNvSpPr>
              <a:spLocks noChangeArrowheads="1"/>
            </p:cNvSpPr>
            <p:nvPr/>
          </p:nvSpPr>
          <p:spPr bwMode="auto">
            <a:xfrm>
              <a:off x="1757" y="3777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36" name="Text Box 53"/>
            <p:cNvSpPr txBox="1">
              <a:spLocks noChangeArrowheads="1"/>
            </p:cNvSpPr>
            <p:nvPr/>
          </p:nvSpPr>
          <p:spPr bwMode="auto">
            <a:xfrm>
              <a:off x="2381" y="4059"/>
              <a:ext cx="576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2000">
                  <a:latin typeface="Times New Roman" pitchFamily="18" charset="0"/>
                </a:rPr>
                <a:t>ant</a:t>
              </a:r>
            </a:p>
          </p:txBody>
        </p:sp>
        <p:sp>
          <p:nvSpPr>
            <p:cNvPr id="13337" name="Text Box 54"/>
            <p:cNvSpPr txBox="1">
              <a:spLocks noChangeArrowheads="1"/>
            </p:cNvSpPr>
            <p:nvPr/>
          </p:nvSpPr>
          <p:spPr bwMode="auto">
            <a:xfrm>
              <a:off x="3389" y="3777"/>
              <a:ext cx="576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2000">
                  <a:latin typeface="Times New Roman" pitchFamily="18" charset="0"/>
                </a:rPr>
                <a:t>bat</a:t>
              </a:r>
            </a:p>
          </p:txBody>
        </p:sp>
        <p:sp>
          <p:nvSpPr>
            <p:cNvPr id="13338" name="Text Box 55"/>
            <p:cNvSpPr txBox="1">
              <a:spLocks noChangeArrowheads="1"/>
            </p:cNvSpPr>
            <p:nvPr/>
          </p:nvSpPr>
          <p:spPr bwMode="auto">
            <a:xfrm>
              <a:off x="4397" y="3777"/>
              <a:ext cx="576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2000">
                  <a:latin typeface="Times New Roman" pitchFamily="18" charset="0"/>
                </a:rPr>
                <a:t>cat</a:t>
              </a:r>
            </a:p>
          </p:txBody>
        </p:sp>
        <p:sp>
          <p:nvSpPr>
            <p:cNvPr id="13339" name="Line 56"/>
            <p:cNvSpPr>
              <a:spLocks noChangeShapeType="1"/>
            </p:cNvSpPr>
            <p:nvPr/>
          </p:nvSpPr>
          <p:spPr bwMode="auto">
            <a:xfrm>
              <a:off x="3869" y="3873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40" name="Line 57"/>
            <p:cNvSpPr>
              <a:spLocks noChangeShapeType="1"/>
            </p:cNvSpPr>
            <p:nvPr/>
          </p:nvSpPr>
          <p:spPr bwMode="auto">
            <a:xfrm>
              <a:off x="4877" y="387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41" name="Text Box 58"/>
            <p:cNvSpPr txBox="1">
              <a:spLocks noChangeArrowheads="1"/>
            </p:cNvSpPr>
            <p:nvPr/>
          </p:nvSpPr>
          <p:spPr bwMode="auto">
            <a:xfrm>
              <a:off x="1421" y="3777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first</a:t>
              </a:r>
            </a:p>
          </p:txBody>
        </p:sp>
        <p:sp>
          <p:nvSpPr>
            <p:cNvPr id="13342" name="Rectangle 59"/>
            <p:cNvSpPr>
              <a:spLocks noChangeArrowheads="1"/>
            </p:cNvSpPr>
            <p:nvPr/>
          </p:nvSpPr>
          <p:spPr bwMode="auto">
            <a:xfrm>
              <a:off x="1757" y="4065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43" name="Text Box 60"/>
            <p:cNvSpPr txBox="1">
              <a:spLocks noChangeArrowheads="1"/>
            </p:cNvSpPr>
            <p:nvPr/>
          </p:nvSpPr>
          <p:spPr bwMode="auto">
            <a:xfrm>
              <a:off x="1421" y="4065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ins</a:t>
              </a:r>
            </a:p>
          </p:txBody>
        </p:sp>
        <p:sp>
          <p:nvSpPr>
            <p:cNvPr id="13344" name="Rectangle 61"/>
            <p:cNvSpPr>
              <a:spLocks noChangeArrowheads="1"/>
            </p:cNvSpPr>
            <p:nvPr/>
          </p:nvSpPr>
          <p:spPr bwMode="auto">
            <a:xfrm>
              <a:off x="1277" y="1665"/>
              <a:ext cx="3936" cy="1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81000" algn="l"/>
                  <a:tab pos="9525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81000" algn="l"/>
                  <a:tab pos="9525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To insert </a:t>
              </a:r>
              <a:r>
                <a:rPr lang="en-US" altLang="en-US" sz="2000" i="1">
                  <a:latin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</a:rPr>
                <a:t> at a given point in the SLL headed by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1.	Make </a:t>
              </a:r>
              <a:r>
                <a:rPr lang="en-US" altLang="en-US" sz="2000" i="1">
                  <a:latin typeface="Times New Roman" pitchFamily="18" charset="0"/>
                </a:rPr>
                <a:t>ins</a:t>
              </a:r>
              <a:r>
                <a:rPr lang="en-US" altLang="en-US" sz="2000">
                  <a:latin typeface="Times New Roman" pitchFamily="18" charset="0"/>
                </a:rPr>
                <a:t> a link to a newly-created node with element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</a:t>
              </a:r>
              <a:r>
                <a:rPr lang="en-US" altLang="en-US" sz="2000" i="1">
                  <a:latin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</a:rPr>
                <a:t> and successor null.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2.	If the insertion point is before the first node: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2.1.	Set </a:t>
              </a:r>
              <a:r>
                <a:rPr lang="en-US" altLang="en-US" sz="2000" i="1">
                  <a:latin typeface="Times New Roman" pitchFamily="18" charset="0"/>
                </a:rPr>
                <a:t>ins</a:t>
              </a:r>
              <a:r>
                <a:rPr lang="en-US" altLang="en-US" sz="2000">
                  <a:latin typeface="Times New Roman" pitchFamily="18" charset="0"/>
                </a:rPr>
                <a:t>’s successor to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2.2.	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Set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first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 to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ins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3.	Else, if the insertion point is after the node </a:t>
              </a:r>
              <a:r>
                <a:rPr lang="en-US" altLang="en-US" sz="2000" i="1">
                  <a:latin typeface="Times New Roman" pitchFamily="18" charset="0"/>
                </a:rPr>
                <a:t>pred</a:t>
              </a:r>
              <a:r>
                <a:rPr lang="en-US" altLang="en-US" sz="2000">
                  <a:latin typeface="Times New Roman" pitchFamily="18" charset="0"/>
                </a:rPr>
                <a:t>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3.1.	Set </a:t>
              </a:r>
              <a:r>
                <a:rPr lang="en-US" altLang="en-US" sz="2000" i="1">
                  <a:latin typeface="Times New Roman" pitchFamily="18" charset="0"/>
                </a:rPr>
                <a:t>ins</a:t>
              </a:r>
              <a:r>
                <a:rPr lang="en-US" altLang="en-US" sz="2000">
                  <a:latin typeface="Times New Roman" pitchFamily="18" charset="0"/>
                </a:rPr>
                <a:t>’s successor to </a:t>
              </a:r>
              <a:r>
                <a:rPr lang="en-US" altLang="en-US" sz="2000" i="1">
                  <a:latin typeface="Times New Roman" pitchFamily="18" charset="0"/>
                </a:rPr>
                <a:t>pred</a:t>
              </a:r>
              <a:r>
                <a:rPr lang="en-US" altLang="en-US" sz="2000">
                  <a:latin typeface="Times New Roman" pitchFamily="18" charset="0"/>
                </a:rPr>
                <a:t>’s successor.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3.2.	Set </a:t>
              </a:r>
              <a:r>
                <a:rPr lang="en-US" altLang="en-US" sz="2000" i="1">
                  <a:latin typeface="Times New Roman" pitchFamily="18" charset="0"/>
                </a:rPr>
                <a:t>pred</a:t>
              </a:r>
              <a:r>
                <a:rPr lang="en-US" altLang="en-US" sz="2000">
                  <a:latin typeface="Times New Roman" pitchFamily="18" charset="0"/>
                </a:rPr>
                <a:t>’s successor to </a:t>
              </a:r>
              <a:r>
                <a:rPr lang="en-US" altLang="en-US" sz="2000" i="1">
                  <a:latin typeface="Times New Roman" pitchFamily="18" charset="0"/>
                </a:rPr>
                <a:t>ins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4.	Terminate.</a:t>
              </a:r>
              <a:endParaRPr lang="en-GB" altLang="en-US" sz="2000">
                <a:latin typeface="Times New Roman" pitchFamily="18" charset="0"/>
              </a:endParaRPr>
            </a:p>
          </p:txBody>
        </p:sp>
        <p:sp>
          <p:nvSpPr>
            <p:cNvPr id="13345" name="Line 62"/>
            <p:cNvSpPr>
              <a:spLocks noChangeShapeType="1"/>
            </p:cNvSpPr>
            <p:nvPr/>
          </p:nvSpPr>
          <p:spPr bwMode="auto">
            <a:xfrm>
              <a:off x="1853" y="4155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46" name="Freeform 63"/>
            <p:cNvSpPr>
              <a:spLocks/>
            </p:cNvSpPr>
            <p:nvPr/>
          </p:nvSpPr>
          <p:spPr bwMode="auto">
            <a:xfrm>
              <a:off x="2861" y="3921"/>
              <a:ext cx="528" cy="240"/>
            </a:xfrm>
            <a:custGeom>
              <a:avLst/>
              <a:gdLst>
                <a:gd name="T0" fmla="*/ 0 w 528"/>
                <a:gd name="T1" fmla="*/ 240 h 240"/>
                <a:gd name="T2" fmla="*/ 192 w 528"/>
                <a:gd name="T3" fmla="*/ 240 h 240"/>
                <a:gd name="T4" fmla="*/ 528 w 528"/>
                <a:gd name="T5" fmla="*/ 0 h 240"/>
                <a:gd name="T6" fmla="*/ 0 60000 65536"/>
                <a:gd name="T7" fmla="*/ 0 60000 65536"/>
                <a:gd name="T8" fmla="*/ 0 60000 65536"/>
                <a:gd name="T9" fmla="*/ 0 w 528"/>
                <a:gd name="T10" fmla="*/ 0 h 240"/>
                <a:gd name="T11" fmla="*/ 528 w 528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240">
                  <a:moveTo>
                    <a:pt x="0" y="240"/>
                  </a:moveTo>
                  <a:lnTo>
                    <a:pt x="192" y="240"/>
                  </a:lnTo>
                  <a:lnTo>
                    <a:pt x="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47" name="Freeform 64"/>
            <p:cNvSpPr>
              <a:spLocks/>
            </p:cNvSpPr>
            <p:nvPr/>
          </p:nvSpPr>
          <p:spPr bwMode="auto">
            <a:xfrm>
              <a:off x="1853" y="3873"/>
              <a:ext cx="528" cy="240"/>
            </a:xfrm>
            <a:custGeom>
              <a:avLst/>
              <a:gdLst>
                <a:gd name="T0" fmla="*/ 0 w 528"/>
                <a:gd name="T1" fmla="*/ 0 h 240"/>
                <a:gd name="T2" fmla="*/ 192 w 528"/>
                <a:gd name="T3" fmla="*/ 0 h 240"/>
                <a:gd name="T4" fmla="*/ 528 w 528"/>
                <a:gd name="T5" fmla="*/ 240 h 240"/>
                <a:gd name="T6" fmla="*/ 0 60000 65536"/>
                <a:gd name="T7" fmla="*/ 0 60000 65536"/>
                <a:gd name="T8" fmla="*/ 0 60000 65536"/>
                <a:gd name="T9" fmla="*/ 0 w 528"/>
                <a:gd name="T10" fmla="*/ 0 h 240"/>
                <a:gd name="T11" fmla="*/ 528 w 528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240">
                  <a:moveTo>
                    <a:pt x="0" y="0"/>
                  </a:moveTo>
                  <a:lnTo>
                    <a:pt x="192" y="0"/>
                  </a:lnTo>
                  <a:lnTo>
                    <a:pt x="528" y="24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48" name="Text Box 65"/>
            <p:cNvSpPr txBox="1">
              <a:spLocks noChangeArrowheads="1"/>
            </p:cNvSpPr>
            <p:nvPr/>
          </p:nvSpPr>
          <p:spPr bwMode="auto">
            <a:xfrm>
              <a:off x="4205" y="4059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elem</a:t>
              </a:r>
            </a:p>
          </p:txBody>
        </p:sp>
        <p:sp>
          <p:nvSpPr>
            <p:cNvPr id="13349" name="Text Box 66"/>
            <p:cNvSpPr txBox="1">
              <a:spLocks noChangeArrowheads="1"/>
            </p:cNvSpPr>
            <p:nvPr/>
          </p:nvSpPr>
          <p:spPr bwMode="auto">
            <a:xfrm>
              <a:off x="4589" y="4059"/>
              <a:ext cx="384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2000">
                  <a:latin typeface="Times New Roman" pitchFamily="18" charset="0"/>
                </a:rPr>
                <a:t>ant</a:t>
              </a:r>
            </a:p>
          </p:txBody>
        </p:sp>
      </p:grpSp>
      <p:grpSp>
        <p:nvGrpSpPr>
          <p:cNvPr id="6" name="Group 81"/>
          <p:cNvGrpSpPr>
            <a:grpSpLocks/>
          </p:cNvGrpSpPr>
          <p:nvPr/>
        </p:nvGrpSpPr>
        <p:grpSpPr bwMode="auto">
          <a:xfrm>
            <a:off x="541338" y="2007919"/>
            <a:ext cx="6400800" cy="4343400"/>
            <a:chOff x="1229" y="1707"/>
            <a:chExt cx="4032" cy="2736"/>
          </a:xfrm>
        </p:grpSpPr>
        <p:sp>
          <p:nvSpPr>
            <p:cNvPr id="13321" name="Rectangle 68"/>
            <p:cNvSpPr>
              <a:spLocks noChangeArrowheads="1"/>
            </p:cNvSpPr>
            <p:nvPr/>
          </p:nvSpPr>
          <p:spPr bwMode="auto">
            <a:xfrm>
              <a:off x="1229" y="1707"/>
              <a:ext cx="4032" cy="27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22" name="Rectangle 69"/>
            <p:cNvSpPr>
              <a:spLocks noChangeArrowheads="1"/>
            </p:cNvSpPr>
            <p:nvPr/>
          </p:nvSpPr>
          <p:spPr bwMode="auto">
            <a:xfrm>
              <a:off x="1757" y="3867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23" name="Text Box 70"/>
            <p:cNvSpPr txBox="1">
              <a:spLocks noChangeArrowheads="1"/>
            </p:cNvSpPr>
            <p:nvPr/>
          </p:nvSpPr>
          <p:spPr bwMode="auto">
            <a:xfrm>
              <a:off x="2381" y="4149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ant</a:t>
              </a:r>
            </a:p>
          </p:txBody>
        </p:sp>
        <p:sp>
          <p:nvSpPr>
            <p:cNvPr id="13324" name="Text Box 71"/>
            <p:cNvSpPr txBox="1">
              <a:spLocks noChangeArrowheads="1"/>
            </p:cNvSpPr>
            <p:nvPr/>
          </p:nvSpPr>
          <p:spPr bwMode="auto">
            <a:xfrm>
              <a:off x="3389" y="386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bat</a:t>
              </a:r>
            </a:p>
          </p:txBody>
        </p:sp>
        <p:sp>
          <p:nvSpPr>
            <p:cNvPr id="13325" name="Text Box 72"/>
            <p:cNvSpPr txBox="1">
              <a:spLocks noChangeArrowheads="1"/>
            </p:cNvSpPr>
            <p:nvPr/>
          </p:nvSpPr>
          <p:spPr bwMode="auto">
            <a:xfrm>
              <a:off x="4397" y="386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13326" name="Line 73"/>
            <p:cNvSpPr>
              <a:spLocks noChangeShapeType="1"/>
            </p:cNvSpPr>
            <p:nvPr/>
          </p:nvSpPr>
          <p:spPr bwMode="auto">
            <a:xfrm>
              <a:off x="3869" y="3963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27" name="Line 74"/>
            <p:cNvSpPr>
              <a:spLocks noChangeShapeType="1"/>
            </p:cNvSpPr>
            <p:nvPr/>
          </p:nvSpPr>
          <p:spPr bwMode="auto">
            <a:xfrm>
              <a:off x="4877" y="396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28" name="Text Box 75"/>
            <p:cNvSpPr txBox="1">
              <a:spLocks noChangeArrowheads="1"/>
            </p:cNvSpPr>
            <p:nvPr/>
          </p:nvSpPr>
          <p:spPr bwMode="auto">
            <a:xfrm>
              <a:off x="1421" y="3867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first</a:t>
              </a:r>
            </a:p>
          </p:txBody>
        </p:sp>
        <p:sp>
          <p:nvSpPr>
            <p:cNvPr id="13329" name="Rectangle 76"/>
            <p:cNvSpPr>
              <a:spLocks noChangeArrowheads="1"/>
            </p:cNvSpPr>
            <p:nvPr/>
          </p:nvSpPr>
          <p:spPr bwMode="auto">
            <a:xfrm>
              <a:off x="1277" y="1755"/>
              <a:ext cx="3936" cy="1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81000" algn="l"/>
                  <a:tab pos="9525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81000" algn="l"/>
                  <a:tab pos="9525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sz="2000" dirty="0">
                  <a:latin typeface="Times New Roman" pitchFamily="18" charset="0"/>
                </a:rPr>
                <a:t>To insert </a:t>
              </a:r>
              <a:r>
                <a:rPr lang="en-US" altLang="en-US" sz="2000" i="1" dirty="0" err="1">
                  <a:latin typeface="Times New Roman" pitchFamily="18" charset="0"/>
                </a:rPr>
                <a:t>elem</a:t>
              </a:r>
              <a:r>
                <a:rPr lang="en-US" altLang="en-US" sz="2000" dirty="0">
                  <a:latin typeface="Times New Roman" pitchFamily="18" charset="0"/>
                </a:rPr>
                <a:t> at a given point in the SLL headed by </a:t>
              </a:r>
              <a:r>
                <a:rPr lang="en-US" altLang="en-US" sz="2000" i="1" dirty="0">
                  <a:latin typeface="Times New Roman" pitchFamily="18" charset="0"/>
                </a:rPr>
                <a:t>first</a:t>
              </a:r>
              <a:r>
                <a:rPr lang="en-US" altLang="en-US" sz="2000" dirty="0">
                  <a:latin typeface="Times New Roman" pitchFamily="18" charset="0"/>
                </a:rPr>
                <a:t>:</a:t>
              </a:r>
              <a:br>
                <a:rPr lang="en-US" altLang="en-US" sz="2000" dirty="0">
                  <a:latin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</a:rPr>
                <a:t>1.	Make </a:t>
              </a:r>
              <a:r>
                <a:rPr lang="en-US" altLang="en-US" sz="2000" i="1" dirty="0">
                  <a:latin typeface="Times New Roman" pitchFamily="18" charset="0"/>
                </a:rPr>
                <a:t>ins</a:t>
              </a:r>
              <a:r>
                <a:rPr lang="en-US" altLang="en-US" sz="2000" dirty="0">
                  <a:latin typeface="Times New Roman" pitchFamily="18" charset="0"/>
                </a:rPr>
                <a:t> a link to a newly-created node with element</a:t>
              </a:r>
              <a:br>
                <a:rPr lang="en-US" altLang="en-US" sz="2000" dirty="0">
                  <a:latin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</a:rPr>
                <a:t>	</a:t>
              </a:r>
              <a:r>
                <a:rPr lang="en-US" altLang="en-US" sz="2000" i="1" dirty="0" err="1">
                  <a:latin typeface="Times New Roman" pitchFamily="18" charset="0"/>
                </a:rPr>
                <a:t>elem</a:t>
              </a:r>
              <a:r>
                <a:rPr lang="en-US" altLang="en-US" sz="2000" dirty="0">
                  <a:latin typeface="Times New Roman" pitchFamily="18" charset="0"/>
                </a:rPr>
                <a:t> and next node null.</a:t>
              </a:r>
              <a:br>
                <a:rPr lang="en-US" altLang="en-US" sz="2000" dirty="0">
                  <a:latin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</a:rPr>
                <a:t>2.	If the insertion point is before the first node:</a:t>
              </a:r>
              <a:br>
                <a:rPr lang="en-US" altLang="en-US" sz="2000" dirty="0">
                  <a:latin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</a:rPr>
                <a:t>	2.1.	Set </a:t>
              </a:r>
              <a:r>
                <a:rPr lang="en-US" altLang="en-US" sz="2000" i="1" dirty="0" err="1">
                  <a:latin typeface="Times New Roman" pitchFamily="18" charset="0"/>
                </a:rPr>
                <a:t>ins</a:t>
              </a:r>
              <a:r>
                <a:rPr lang="en-US" altLang="en-US" sz="2000" dirty="0" err="1">
                  <a:latin typeface="Times New Roman" pitchFamily="18" charset="0"/>
                </a:rPr>
                <a:t>’s</a:t>
              </a:r>
              <a:r>
                <a:rPr lang="en-US" altLang="en-US" sz="2000" dirty="0">
                  <a:latin typeface="Times New Roman" pitchFamily="18" charset="0"/>
                </a:rPr>
                <a:t> next to </a:t>
              </a:r>
              <a:r>
                <a:rPr lang="en-US" altLang="en-US" sz="2000" i="1" dirty="0">
                  <a:latin typeface="Times New Roman" pitchFamily="18" charset="0"/>
                </a:rPr>
                <a:t>first</a:t>
              </a:r>
              <a:r>
                <a:rPr lang="en-US" altLang="en-US" sz="2000" dirty="0">
                  <a:latin typeface="Times New Roman" pitchFamily="18" charset="0"/>
                </a:rPr>
                <a:t>.</a:t>
              </a:r>
              <a:br>
                <a:rPr lang="en-US" altLang="en-US" sz="2000" dirty="0">
                  <a:latin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</a:rPr>
                <a:t>	2.2.	Set </a:t>
              </a:r>
              <a:r>
                <a:rPr lang="en-US" altLang="en-US" sz="2000" i="1" dirty="0">
                  <a:latin typeface="Times New Roman" pitchFamily="18" charset="0"/>
                </a:rPr>
                <a:t>first</a:t>
              </a:r>
              <a:r>
                <a:rPr lang="en-US" altLang="en-US" sz="2000" dirty="0">
                  <a:latin typeface="Times New Roman" pitchFamily="18" charset="0"/>
                </a:rPr>
                <a:t> to </a:t>
              </a:r>
              <a:r>
                <a:rPr lang="en-US" altLang="en-US" sz="2000" i="1" dirty="0">
                  <a:latin typeface="Times New Roman" pitchFamily="18" charset="0"/>
                </a:rPr>
                <a:t>ins</a:t>
              </a:r>
              <a:r>
                <a:rPr lang="en-US" altLang="en-US" sz="2000" dirty="0">
                  <a:latin typeface="Times New Roman" pitchFamily="18" charset="0"/>
                </a:rPr>
                <a:t>.</a:t>
              </a:r>
              <a:br>
                <a:rPr lang="en-US" altLang="en-US" sz="2000" dirty="0">
                  <a:latin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</a:rPr>
                <a:t>3.	Else, if the insertion point is after the node </a:t>
              </a:r>
              <a:r>
                <a:rPr lang="en-US" altLang="en-US" sz="2000" i="1" dirty="0" err="1">
                  <a:latin typeface="Times New Roman" pitchFamily="18" charset="0"/>
                </a:rPr>
                <a:t>pred</a:t>
              </a:r>
              <a:r>
                <a:rPr lang="en-US" altLang="en-US" sz="2000" dirty="0">
                  <a:latin typeface="Times New Roman" pitchFamily="18" charset="0"/>
                </a:rPr>
                <a:t>:</a:t>
              </a:r>
              <a:br>
                <a:rPr lang="en-US" altLang="en-US" sz="2000" dirty="0">
                  <a:latin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</a:rPr>
                <a:t>	3.1.	Set </a:t>
              </a:r>
              <a:r>
                <a:rPr lang="en-US" altLang="en-US" sz="2000" i="1" dirty="0" err="1">
                  <a:latin typeface="Times New Roman" pitchFamily="18" charset="0"/>
                </a:rPr>
                <a:t>ins</a:t>
              </a:r>
              <a:r>
                <a:rPr lang="en-US" altLang="en-US" sz="2000" dirty="0" err="1">
                  <a:latin typeface="Times New Roman" pitchFamily="18" charset="0"/>
                </a:rPr>
                <a:t>’s</a:t>
              </a:r>
              <a:r>
                <a:rPr lang="en-US" altLang="en-US" sz="2000" dirty="0">
                  <a:latin typeface="Times New Roman" pitchFamily="18" charset="0"/>
                </a:rPr>
                <a:t> next to </a:t>
              </a:r>
              <a:r>
                <a:rPr lang="en-US" altLang="en-US" sz="2000" i="1" dirty="0" err="1">
                  <a:latin typeface="Times New Roman" pitchFamily="18" charset="0"/>
                </a:rPr>
                <a:t>pred</a:t>
              </a:r>
              <a:r>
                <a:rPr lang="en-US" altLang="en-US" sz="2000" dirty="0" err="1">
                  <a:latin typeface="Times New Roman" pitchFamily="18" charset="0"/>
                </a:rPr>
                <a:t>’s</a:t>
              </a:r>
              <a:r>
                <a:rPr lang="en-US" altLang="en-US" sz="2000" dirty="0">
                  <a:latin typeface="Times New Roman" pitchFamily="18" charset="0"/>
                </a:rPr>
                <a:t> next.</a:t>
              </a:r>
              <a:br>
                <a:rPr lang="en-US" altLang="en-US" sz="2000" dirty="0">
                  <a:latin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</a:rPr>
                <a:t>	3.2.	Set </a:t>
              </a:r>
              <a:r>
                <a:rPr lang="en-US" altLang="en-US" sz="2000" i="1" dirty="0" err="1">
                  <a:latin typeface="Times New Roman" pitchFamily="18" charset="0"/>
                </a:rPr>
                <a:t>pred</a:t>
              </a:r>
              <a:r>
                <a:rPr lang="en-US" altLang="en-US" sz="2000" dirty="0" err="1">
                  <a:latin typeface="Times New Roman" pitchFamily="18" charset="0"/>
                </a:rPr>
                <a:t>’s</a:t>
              </a:r>
              <a:r>
                <a:rPr lang="en-US" altLang="en-US" sz="2000" dirty="0">
                  <a:latin typeface="Times New Roman" pitchFamily="18" charset="0"/>
                </a:rPr>
                <a:t> next to </a:t>
              </a:r>
              <a:r>
                <a:rPr lang="en-US" altLang="en-US" sz="2000" i="1" dirty="0">
                  <a:latin typeface="Times New Roman" pitchFamily="18" charset="0"/>
                </a:rPr>
                <a:t>ins</a:t>
              </a:r>
              <a:r>
                <a:rPr lang="en-US" altLang="en-US" sz="2000" dirty="0">
                  <a:latin typeface="Times New Roman" pitchFamily="18" charset="0"/>
                </a:rPr>
                <a:t>.</a:t>
              </a:r>
              <a:br>
                <a:rPr lang="en-US" altLang="en-US" sz="2000" dirty="0">
                  <a:latin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</a:rPr>
                <a:t>4.	</a:t>
              </a:r>
              <a:r>
                <a:rPr lang="en-US" altLang="en-US" sz="2000" dirty="0">
                  <a:solidFill>
                    <a:srgbClr val="FF0000"/>
                  </a:solidFill>
                  <a:latin typeface="Times New Roman" pitchFamily="18" charset="0"/>
                </a:rPr>
                <a:t>Terminate.</a:t>
              </a:r>
              <a:endParaRPr lang="en-GB" altLang="en-US" sz="2000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3330" name="Freeform 77"/>
            <p:cNvSpPr>
              <a:spLocks/>
            </p:cNvSpPr>
            <p:nvPr/>
          </p:nvSpPr>
          <p:spPr bwMode="auto">
            <a:xfrm>
              <a:off x="2861" y="4011"/>
              <a:ext cx="528" cy="240"/>
            </a:xfrm>
            <a:custGeom>
              <a:avLst/>
              <a:gdLst>
                <a:gd name="T0" fmla="*/ 0 w 528"/>
                <a:gd name="T1" fmla="*/ 240 h 240"/>
                <a:gd name="T2" fmla="*/ 192 w 528"/>
                <a:gd name="T3" fmla="*/ 240 h 240"/>
                <a:gd name="T4" fmla="*/ 528 w 528"/>
                <a:gd name="T5" fmla="*/ 0 h 240"/>
                <a:gd name="T6" fmla="*/ 0 60000 65536"/>
                <a:gd name="T7" fmla="*/ 0 60000 65536"/>
                <a:gd name="T8" fmla="*/ 0 60000 65536"/>
                <a:gd name="T9" fmla="*/ 0 w 528"/>
                <a:gd name="T10" fmla="*/ 0 h 240"/>
                <a:gd name="T11" fmla="*/ 528 w 528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240">
                  <a:moveTo>
                    <a:pt x="0" y="240"/>
                  </a:moveTo>
                  <a:lnTo>
                    <a:pt x="192" y="240"/>
                  </a:lnTo>
                  <a:lnTo>
                    <a:pt x="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31" name="Freeform 78"/>
            <p:cNvSpPr>
              <a:spLocks/>
            </p:cNvSpPr>
            <p:nvPr/>
          </p:nvSpPr>
          <p:spPr bwMode="auto">
            <a:xfrm>
              <a:off x="1853" y="3963"/>
              <a:ext cx="528" cy="240"/>
            </a:xfrm>
            <a:custGeom>
              <a:avLst/>
              <a:gdLst>
                <a:gd name="T0" fmla="*/ 0 w 528"/>
                <a:gd name="T1" fmla="*/ 0 h 240"/>
                <a:gd name="T2" fmla="*/ 192 w 528"/>
                <a:gd name="T3" fmla="*/ 0 h 240"/>
                <a:gd name="T4" fmla="*/ 528 w 528"/>
                <a:gd name="T5" fmla="*/ 240 h 240"/>
                <a:gd name="T6" fmla="*/ 0 60000 65536"/>
                <a:gd name="T7" fmla="*/ 0 60000 65536"/>
                <a:gd name="T8" fmla="*/ 0 60000 65536"/>
                <a:gd name="T9" fmla="*/ 0 w 528"/>
                <a:gd name="T10" fmla="*/ 0 h 240"/>
                <a:gd name="T11" fmla="*/ 528 w 528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240">
                  <a:moveTo>
                    <a:pt x="0" y="0"/>
                  </a:moveTo>
                  <a:lnTo>
                    <a:pt x="192" y="0"/>
                  </a:lnTo>
                  <a:lnTo>
                    <a:pt x="528" y="24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32" name="Text Box 79"/>
            <p:cNvSpPr txBox="1">
              <a:spLocks noChangeArrowheads="1"/>
            </p:cNvSpPr>
            <p:nvPr/>
          </p:nvSpPr>
          <p:spPr bwMode="auto">
            <a:xfrm>
              <a:off x="4205" y="4149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elem</a:t>
              </a:r>
            </a:p>
          </p:txBody>
        </p:sp>
        <p:sp>
          <p:nvSpPr>
            <p:cNvPr id="13333" name="Text Box 80"/>
            <p:cNvSpPr txBox="1">
              <a:spLocks noChangeArrowheads="1"/>
            </p:cNvSpPr>
            <p:nvPr/>
          </p:nvSpPr>
          <p:spPr bwMode="auto">
            <a:xfrm>
              <a:off x="4589" y="4149"/>
              <a:ext cx="384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ant</a:t>
              </a:r>
            </a:p>
          </p:txBody>
        </p:sp>
      </p:grpSp>
      <p:sp>
        <p:nvSpPr>
          <p:cNvPr id="133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SLL insertion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13320" name="Rectangle 3"/>
          <p:cNvSpPr>
            <a:spLocks noGrp="1" noChangeArrowheads="1"/>
          </p:cNvSpPr>
          <p:nvPr>
            <p:ph idx="1"/>
          </p:nvPr>
        </p:nvSpPr>
        <p:spPr>
          <a:xfrm>
            <a:off x="350838" y="1380506"/>
            <a:ext cx="7620000" cy="4800600"/>
          </a:xfrm>
          <a:noFill/>
        </p:spPr>
        <p:txBody>
          <a:bodyPr/>
          <a:lstStyle/>
          <a:p>
            <a:pPr eaLnBrk="1" hangingPunct="1"/>
            <a:r>
              <a:rPr lang="en-US" altLang="en-US" dirty="0"/>
              <a:t>Animation (insertion before first node):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625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5"/>
          <p:cNvGrpSpPr>
            <a:grpSpLocks/>
          </p:cNvGrpSpPr>
          <p:nvPr/>
        </p:nvGrpSpPr>
        <p:grpSpPr bwMode="auto">
          <a:xfrm>
            <a:off x="553317" y="2095995"/>
            <a:ext cx="7239000" cy="4343400"/>
            <a:chOff x="1156" y="1344"/>
            <a:chExt cx="4560" cy="2736"/>
          </a:xfrm>
        </p:grpSpPr>
        <p:sp>
          <p:nvSpPr>
            <p:cNvPr id="14430" name="Rectangle 5"/>
            <p:cNvSpPr>
              <a:spLocks noChangeArrowheads="1"/>
            </p:cNvSpPr>
            <p:nvPr/>
          </p:nvSpPr>
          <p:spPr bwMode="auto">
            <a:xfrm>
              <a:off x="1156" y="1344"/>
              <a:ext cx="4560" cy="27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4431" name="Rectangle 6"/>
            <p:cNvSpPr>
              <a:spLocks noChangeArrowheads="1"/>
            </p:cNvSpPr>
            <p:nvPr/>
          </p:nvSpPr>
          <p:spPr bwMode="auto">
            <a:xfrm>
              <a:off x="1588" y="3504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4432" name="Text Box 7"/>
            <p:cNvSpPr txBox="1">
              <a:spLocks noChangeArrowheads="1"/>
            </p:cNvSpPr>
            <p:nvPr/>
          </p:nvSpPr>
          <p:spPr bwMode="auto">
            <a:xfrm>
              <a:off x="2884" y="3504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dog</a:t>
              </a:r>
            </a:p>
          </p:txBody>
        </p:sp>
        <p:sp>
          <p:nvSpPr>
            <p:cNvPr id="14433" name="Text Box 8"/>
            <p:cNvSpPr txBox="1">
              <a:spLocks noChangeArrowheads="1"/>
            </p:cNvSpPr>
            <p:nvPr/>
          </p:nvSpPr>
          <p:spPr bwMode="auto">
            <a:xfrm>
              <a:off x="4612" y="3504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fox</a:t>
              </a:r>
            </a:p>
          </p:txBody>
        </p:sp>
        <p:sp>
          <p:nvSpPr>
            <p:cNvPr id="14434" name="Line 9"/>
            <p:cNvSpPr>
              <a:spLocks noChangeShapeType="1"/>
            </p:cNvSpPr>
            <p:nvPr/>
          </p:nvSpPr>
          <p:spPr bwMode="auto">
            <a:xfrm>
              <a:off x="3364" y="3600"/>
              <a:ext cx="12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35" name="Text Box 10"/>
            <p:cNvSpPr txBox="1">
              <a:spLocks noChangeArrowheads="1"/>
            </p:cNvSpPr>
            <p:nvPr/>
          </p:nvSpPr>
          <p:spPr bwMode="auto">
            <a:xfrm>
              <a:off x="1204" y="3504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first</a:t>
              </a:r>
            </a:p>
          </p:txBody>
        </p:sp>
        <p:sp>
          <p:nvSpPr>
            <p:cNvPr id="14436" name="Rectangle 11"/>
            <p:cNvSpPr>
              <a:spLocks noChangeArrowheads="1"/>
            </p:cNvSpPr>
            <p:nvPr/>
          </p:nvSpPr>
          <p:spPr bwMode="auto">
            <a:xfrm>
              <a:off x="1204" y="1392"/>
              <a:ext cx="3936" cy="1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81000" algn="l"/>
                  <a:tab pos="9525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81000" algn="l"/>
                  <a:tab pos="9525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To insert </a:t>
              </a:r>
              <a:r>
                <a:rPr lang="en-US" altLang="en-US" sz="2000" i="1">
                  <a:latin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</a:rPr>
                <a:t> at a given point in the SLL headed by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1.	Make </a:t>
              </a:r>
              <a:r>
                <a:rPr lang="en-US" altLang="en-US" sz="2000" i="1">
                  <a:latin typeface="Times New Roman" pitchFamily="18" charset="0"/>
                </a:rPr>
                <a:t>ins</a:t>
              </a:r>
              <a:r>
                <a:rPr lang="en-US" altLang="en-US" sz="2000">
                  <a:latin typeface="Times New Roman" pitchFamily="18" charset="0"/>
                </a:rPr>
                <a:t> a link to a newly-created node with element 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</a:t>
              </a:r>
              <a:r>
                <a:rPr lang="en-US" altLang="en-US" sz="2000" i="1">
                  <a:latin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</a:rPr>
                <a:t> and successor null.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2.	If the insertion point is before the first node: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2.1.	Set </a:t>
              </a:r>
              <a:r>
                <a:rPr lang="en-US" altLang="en-US" sz="2000" i="1">
                  <a:latin typeface="Times New Roman" pitchFamily="18" charset="0"/>
                </a:rPr>
                <a:t>ins</a:t>
              </a:r>
              <a:r>
                <a:rPr lang="en-US" altLang="en-US" sz="2000">
                  <a:latin typeface="Times New Roman" pitchFamily="18" charset="0"/>
                </a:rPr>
                <a:t>’s successor to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2.2.	Set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</a:rPr>
                <a:t>ins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3.	Else, if the insertion point is after the node </a:t>
              </a:r>
              <a:r>
                <a:rPr lang="en-US" altLang="en-US" sz="2000" i="1">
                  <a:latin typeface="Times New Roman" pitchFamily="18" charset="0"/>
                </a:rPr>
                <a:t>pred</a:t>
              </a:r>
              <a:r>
                <a:rPr lang="en-US" altLang="en-US" sz="2000">
                  <a:latin typeface="Times New Roman" pitchFamily="18" charset="0"/>
                </a:rPr>
                <a:t>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3.1.	Set </a:t>
              </a:r>
              <a:r>
                <a:rPr lang="en-US" altLang="en-US" sz="2000" i="1">
                  <a:latin typeface="Times New Roman" pitchFamily="18" charset="0"/>
                </a:rPr>
                <a:t>ins</a:t>
              </a:r>
              <a:r>
                <a:rPr lang="en-US" altLang="en-US" sz="2000">
                  <a:latin typeface="Times New Roman" pitchFamily="18" charset="0"/>
                </a:rPr>
                <a:t>’s successor to </a:t>
              </a:r>
              <a:r>
                <a:rPr lang="en-US" altLang="en-US" sz="2000" i="1">
                  <a:latin typeface="Times New Roman" pitchFamily="18" charset="0"/>
                </a:rPr>
                <a:t>pred</a:t>
              </a:r>
              <a:r>
                <a:rPr lang="en-US" altLang="en-US" sz="2000">
                  <a:latin typeface="Times New Roman" pitchFamily="18" charset="0"/>
                </a:rPr>
                <a:t>’s successor.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3.2.	Set </a:t>
              </a:r>
              <a:r>
                <a:rPr lang="en-US" altLang="en-US" sz="2000" i="1">
                  <a:latin typeface="Times New Roman" pitchFamily="18" charset="0"/>
                </a:rPr>
                <a:t>pred</a:t>
              </a:r>
              <a:r>
                <a:rPr lang="en-US" altLang="en-US" sz="2000">
                  <a:latin typeface="Times New Roman" pitchFamily="18" charset="0"/>
                </a:rPr>
                <a:t>’s successor to </a:t>
              </a:r>
              <a:r>
                <a:rPr lang="en-US" altLang="en-US" sz="2000" i="1">
                  <a:latin typeface="Times New Roman" pitchFamily="18" charset="0"/>
                </a:rPr>
                <a:t>ins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4.	Terminate.</a:t>
              </a:r>
              <a:endParaRPr lang="en-GB" altLang="en-US" sz="2000">
                <a:latin typeface="Times New Roman" pitchFamily="18" charset="0"/>
              </a:endParaRPr>
            </a:p>
          </p:txBody>
        </p:sp>
        <p:grpSp>
          <p:nvGrpSpPr>
            <p:cNvPr id="14437" name="Group 12"/>
            <p:cNvGrpSpPr>
              <a:grpSpLocks/>
            </p:cNvGrpSpPr>
            <p:nvPr/>
          </p:nvGrpSpPr>
          <p:grpSpPr bwMode="auto">
            <a:xfrm>
              <a:off x="1684" y="3600"/>
              <a:ext cx="1200" cy="0"/>
              <a:chOff x="1248" y="2640"/>
              <a:chExt cx="1200" cy="0"/>
            </a:xfrm>
          </p:grpSpPr>
          <p:sp>
            <p:nvSpPr>
              <p:cNvPr id="14444" name="Line 13"/>
              <p:cNvSpPr>
                <a:spLocks noChangeShapeType="1"/>
              </p:cNvSpPr>
              <p:nvPr/>
            </p:nvSpPr>
            <p:spPr bwMode="auto">
              <a:xfrm>
                <a:off x="1248" y="2640"/>
                <a:ext cx="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445" name="Line 14"/>
              <p:cNvSpPr>
                <a:spLocks noChangeShapeType="1"/>
              </p:cNvSpPr>
              <p:nvPr/>
            </p:nvSpPr>
            <p:spPr bwMode="auto">
              <a:xfrm>
                <a:off x="1968" y="2640"/>
                <a:ext cx="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446" name="Line 15"/>
              <p:cNvSpPr>
                <a:spLocks noChangeShapeType="1"/>
              </p:cNvSpPr>
              <p:nvPr/>
            </p:nvSpPr>
            <p:spPr bwMode="auto">
              <a:xfrm>
                <a:off x="1728" y="2640"/>
                <a:ext cx="2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4438" name="Line 16"/>
            <p:cNvSpPr>
              <a:spLocks noChangeShapeType="1"/>
            </p:cNvSpPr>
            <p:nvPr/>
          </p:nvSpPr>
          <p:spPr bwMode="auto">
            <a:xfrm>
              <a:off x="5092" y="3600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39" name="Rectangle 17"/>
            <p:cNvSpPr>
              <a:spLocks noChangeArrowheads="1"/>
            </p:cNvSpPr>
            <p:nvPr/>
          </p:nvSpPr>
          <p:spPr bwMode="auto">
            <a:xfrm>
              <a:off x="1588" y="3792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4440" name="Text Box 18"/>
            <p:cNvSpPr txBox="1">
              <a:spLocks noChangeArrowheads="1"/>
            </p:cNvSpPr>
            <p:nvPr/>
          </p:nvSpPr>
          <p:spPr bwMode="auto">
            <a:xfrm>
              <a:off x="1204" y="3792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pred</a:t>
              </a:r>
            </a:p>
          </p:txBody>
        </p:sp>
        <p:sp>
          <p:nvSpPr>
            <p:cNvPr id="14441" name="Freeform 19"/>
            <p:cNvSpPr>
              <a:spLocks/>
            </p:cNvSpPr>
            <p:nvPr/>
          </p:nvSpPr>
          <p:spPr bwMode="auto">
            <a:xfrm>
              <a:off x="1684" y="3648"/>
              <a:ext cx="1200" cy="240"/>
            </a:xfrm>
            <a:custGeom>
              <a:avLst/>
              <a:gdLst>
                <a:gd name="T0" fmla="*/ 0 w 1200"/>
                <a:gd name="T1" fmla="*/ 240 h 240"/>
                <a:gd name="T2" fmla="*/ 912 w 1200"/>
                <a:gd name="T3" fmla="*/ 240 h 240"/>
                <a:gd name="T4" fmla="*/ 1200 w 1200"/>
                <a:gd name="T5" fmla="*/ 0 h 240"/>
                <a:gd name="T6" fmla="*/ 0 60000 65536"/>
                <a:gd name="T7" fmla="*/ 0 60000 65536"/>
                <a:gd name="T8" fmla="*/ 0 60000 65536"/>
                <a:gd name="T9" fmla="*/ 0 w 1200"/>
                <a:gd name="T10" fmla="*/ 0 h 240"/>
                <a:gd name="T11" fmla="*/ 1200 w 120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00" h="240">
                  <a:moveTo>
                    <a:pt x="0" y="240"/>
                  </a:moveTo>
                  <a:lnTo>
                    <a:pt x="912" y="240"/>
                  </a:lnTo>
                  <a:lnTo>
                    <a:pt x="120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42" name="Text Box 20"/>
            <p:cNvSpPr txBox="1">
              <a:spLocks noChangeArrowheads="1"/>
            </p:cNvSpPr>
            <p:nvPr/>
          </p:nvSpPr>
          <p:spPr bwMode="auto">
            <a:xfrm>
              <a:off x="5188" y="3786"/>
              <a:ext cx="384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eel</a:t>
              </a:r>
            </a:p>
          </p:txBody>
        </p:sp>
        <p:sp>
          <p:nvSpPr>
            <p:cNvPr id="14443" name="Text Box 21"/>
            <p:cNvSpPr txBox="1">
              <a:spLocks noChangeArrowheads="1"/>
            </p:cNvSpPr>
            <p:nvPr/>
          </p:nvSpPr>
          <p:spPr bwMode="auto">
            <a:xfrm>
              <a:off x="4804" y="378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elem</a:t>
              </a:r>
            </a:p>
          </p:txBody>
        </p:sp>
      </p:grpSp>
      <p:grpSp>
        <p:nvGrpSpPr>
          <p:cNvPr id="4" name="Group 114"/>
          <p:cNvGrpSpPr>
            <a:grpSpLocks/>
          </p:cNvGrpSpPr>
          <p:nvPr/>
        </p:nvGrpSpPr>
        <p:grpSpPr bwMode="auto">
          <a:xfrm>
            <a:off x="553317" y="2095995"/>
            <a:ext cx="7239000" cy="4343400"/>
            <a:chOff x="1156" y="1435"/>
            <a:chExt cx="4560" cy="2736"/>
          </a:xfrm>
        </p:grpSpPr>
        <p:sp>
          <p:nvSpPr>
            <p:cNvPr id="14408" name="Rectangle 23"/>
            <p:cNvSpPr>
              <a:spLocks noChangeArrowheads="1"/>
            </p:cNvSpPr>
            <p:nvPr/>
          </p:nvSpPr>
          <p:spPr bwMode="auto">
            <a:xfrm>
              <a:off x="1156" y="1435"/>
              <a:ext cx="4560" cy="27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4409" name="Rectangle 24"/>
            <p:cNvSpPr>
              <a:spLocks noChangeArrowheads="1"/>
            </p:cNvSpPr>
            <p:nvPr/>
          </p:nvSpPr>
          <p:spPr bwMode="auto">
            <a:xfrm>
              <a:off x="3124" y="3883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4410" name="Rectangle 25"/>
            <p:cNvSpPr>
              <a:spLocks noChangeArrowheads="1"/>
            </p:cNvSpPr>
            <p:nvPr/>
          </p:nvSpPr>
          <p:spPr bwMode="auto">
            <a:xfrm>
              <a:off x="1588" y="3595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4411" name="Text Box 26"/>
            <p:cNvSpPr txBox="1">
              <a:spLocks noChangeArrowheads="1"/>
            </p:cNvSpPr>
            <p:nvPr/>
          </p:nvSpPr>
          <p:spPr bwMode="auto">
            <a:xfrm>
              <a:off x="2884" y="3595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dog</a:t>
              </a:r>
            </a:p>
          </p:txBody>
        </p:sp>
        <p:sp>
          <p:nvSpPr>
            <p:cNvPr id="14412" name="Text Box 27"/>
            <p:cNvSpPr txBox="1">
              <a:spLocks noChangeArrowheads="1"/>
            </p:cNvSpPr>
            <p:nvPr/>
          </p:nvSpPr>
          <p:spPr bwMode="auto">
            <a:xfrm>
              <a:off x="4612" y="3595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fox</a:t>
              </a:r>
            </a:p>
          </p:txBody>
        </p:sp>
        <p:sp>
          <p:nvSpPr>
            <p:cNvPr id="14413" name="Line 28"/>
            <p:cNvSpPr>
              <a:spLocks noChangeShapeType="1"/>
            </p:cNvSpPr>
            <p:nvPr/>
          </p:nvSpPr>
          <p:spPr bwMode="auto">
            <a:xfrm>
              <a:off x="3364" y="3691"/>
              <a:ext cx="12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14" name="Text Box 29"/>
            <p:cNvSpPr txBox="1">
              <a:spLocks noChangeArrowheads="1"/>
            </p:cNvSpPr>
            <p:nvPr/>
          </p:nvSpPr>
          <p:spPr bwMode="auto">
            <a:xfrm>
              <a:off x="1204" y="3595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first</a:t>
              </a:r>
            </a:p>
          </p:txBody>
        </p:sp>
        <p:sp>
          <p:nvSpPr>
            <p:cNvPr id="14415" name="Rectangle 30"/>
            <p:cNvSpPr>
              <a:spLocks noChangeArrowheads="1"/>
            </p:cNvSpPr>
            <p:nvPr/>
          </p:nvSpPr>
          <p:spPr bwMode="auto">
            <a:xfrm>
              <a:off x="1204" y="1483"/>
              <a:ext cx="3936" cy="1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81000" algn="l"/>
                  <a:tab pos="9525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81000" algn="l"/>
                  <a:tab pos="9525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To insert </a:t>
              </a:r>
              <a:r>
                <a:rPr lang="en-US" altLang="en-US" sz="2000" i="1">
                  <a:latin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</a:rPr>
                <a:t> at a given point in the SLL headed by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1.	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Make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ins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 a link to a newly-created node with element </a:t>
              </a:r>
              <a:b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</a:b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	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elem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 and successor null.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2.	If the insertion point is before the first node: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2.1.	Set </a:t>
              </a:r>
              <a:r>
                <a:rPr lang="en-US" altLang="en-US" sz="2000" i="1">
                  <a:latin typeface="Times New Roman" pitchFamily="18" charset="0"/>
                </a:rPr>
                <a:t>ins</a:t>
              </a:r>
              <a:r>
                <a:rPr lang="en-US" altLang="en-US" sz="2000">
                  <a:latin typeface="Times New Roman" pitchFamily="18" charset="0"/>
                </a:rPr>
                <a:t>’s successor to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2.2.	Set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</a:rPr>
                <a:t>ins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3.	Else, if the insertion point is after the node </a:t>
              </a:r>
              <a:r>
                <a:rPr lang="en-US" altLang="en-US" sz="2000" i="1">
                  <a:latin typeface="Times New Roman" pitchFamily="18" charset="0"/>
                </a:rPr>
                <a:t>pred</a:t>
              </a:r>
              <a:r>
                <a:rPr lang="en-US" altLang="en-US" sz="2000">
                  <a:latin typeface="Times New Roman" pitchFamily="18" charset="0"/>
                </a:rPr>
                <a:t>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3.1.	Set </a:t>
              </a:r>
              <a:r>
                <a:rPr lang="en-US" altLang="en-US" sz="2000" i="1">
                  <a:latin typeface="Times New Roman" pitchFamily="18" charset="0"/>
                </a:rPr>
                <a:t>ins</a:t>
              </a:r>
              <a:r>
                <a:rPr lang="en-US" altLang="en-US" sz="2000">
                  <a:latin typeface="Times New Roman" pitchFamily="18" charset="0"/>
                </a:rPr>
                <a:t>’s successor to </a:t>
              </a:r>
              <a:r>
                <a:rPr lang="en-US" altLang="en-US" sz="2000" i="1">
                  <a:latin typeface="Times New Roman" pitchFamily="18" charset="0"/>
                </a:rPr>
                <a:t>pred</a:t>
              </a:r>
              <a:r>
                <a:rPr lang="en-US" altLang="en-US" sz="2000">
                  <a:latin typeface="Times New Roman" pitchFamily="18" charset="0"/>
                </a:rPr>
                <a:t>’s successor.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3.2.	Set </a:t>
              </a:r>
              <a:r>
                <a:rPr lang="en-US" altLang="en-US" sz="2000" i="1">
                  <a:latin typeface="Times New Roman" pitchFamily="18" charset="0"/>
                </a:rPr>
                <a:t>pred</a:t>
              </a:r>
              <a:r>
                <a:rPr lang="en-US" altLang="en-US" sz="2000">
                  <a:latin typeface="Times New Roman" pitchFamily="18" charset="0"/>
                </a:rPr>
                <a:t>’s successor to </a:t>
              </a:r>
              <a:r>
                <a:rPr lang="en-US" altLang="en-US" sz="2000" i="1">
                  <a:latin typeface="Times New Roman" pitchFamily="18" charset="0"/>
                </a:rPr>
                <a:t>ins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4.	Terminate.</a:t>
              </a:r>
              <a:endParaRPr lang="en-GB" altLang="en-US" sz="2000">
                <a:latin typeface="Times New Roman" pitchFamily="18" charset="0"/>
              </a:endParaRPr>
            </a:p>
          </p:txBody>
        </p:sp>
        <p:sp>
          <p:nvSpPr>
            <p:cNvPr id="14416" name="Text Box 31"/>
            <p:cNvSpPr txBox="1">
              <a:spLocks noChangeArrowheads="1"/>
            </p:cNvSpPr>
            <p:nvPr/>
          </p:nvSpPr>
          <p:spPr bwMode="auto">
            <a:xfrm>
              <a:off x="3748" y="387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eel</a:t>
              </a:r>
            </a:p>
          </p:txBody>
        </p:sp>
        <p:grpSp>
          <p:nvGrpSpPr>
            <p:cNvPr id="14417" name="Group 32"/>
            <p:cNvGrpSpPr>
              <a:grpSpLocks/>
            </p:cNvGrpSpPr>
            <p:nvPr/>
          </p:nvGrpSpPr>
          <p:grpSpPr bwMode="auto">
            <a:xfrm>
              <a:off x="1684" y="3691"/>
              <a:ext cx="1200" cy="0"/>
              <a:chOff x="1248" y="2640"/>
              <a:chExt cx="1200" cy="0"/>
            </a:xfrm>
          </p:grpSpPr>
          <p:sp>
            <p:nvSpPr>
              <p:cNvPr id="14427" name="Line 33"/>
              <p:cNvSpPr>
                <a:spLocks noChangeShapeType="1"/>
              </p:cNvSpPr>
              <p:nvPr/>
            </p:nvSpPr>
            <p:spPr bwMode="auto">
              <a:xfrm>
                <a:off x="1248" y="2640"/>
                <a:ext cx="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428" name="Line 34"/>
              <p:cNvSpPr>
                <a:spLocks noChangeShapeType="1"/>
              </p:cNvSpPr>
              <p:nvPr/>
            </p:nvSpPr>
            <p:spPr bwMode="auto">
              <a:xfrm>
                <a:off x="1968" y="2640"/>
                <a:ext cx="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429" name="Line 35"/>
              <p:cNvSpPr>
                <a:spLocks noChangeShapeType="1"/>
              </p:cNvSpPr>
              <p:nvPr/>
            </p:nvSpPr>
            <p:spPr bwMode="auto">
              <a:xfrm>
                <a:off x="1728" y="2640"/>
                <a:ext cx="2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4418" name="Line 36"/>
            <p:cNvSpPr>
              <a:spLocks noChangeShapeType="1"/>
            </p:cNvSpPr>
            <p:nvPr/>
          </p:nvSpPr>
          <p:spPr bwMode="auto">
            <a:xfrm>
              <a:off x="5092" y="3691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19" name="Rectangle 37"/>
            <p:cNvSpPr>
              <a:spLocks noChangeArrowheads="1"/>
            </p:cNvSpPr>
            <p:nvPr/>
          </p:nvSpPr>
          <p:spPr bwMode="auto">
            <a:xfrm>
              <a:off x="1588" y="3883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4420" name="Text Box 38"/>
            <p:cNvSpPr txBox="1">
              <a:spLocks noChangeArrowheads="1"/>
            </p:cNvSpPr>
            <p:nvPr/>
          </p:nvSpPr>
          <p:spPr bwMode="auto">
            <a:xfrm>
              <a:off x="1204" y="3883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pred</a:t>
              </a:r>
            </a:p>
          </p:txBody>
        </p:sp>
        <p:sp>
          <p:nvSpPr>
            <p:cNvPr id="14421" name="Text Box 39"/>
            <p:cNvSpPr txBox="1">
              <a:spLocks noChangeArrowheads="1"/>
            </p:cNvSpPr>
            <p:nvPr/>
          </p:nvSpPr>
          <p:spPr bwMode="auto">
            <a:xfrm>
              <a:off x="2740" y="3883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ins</a:t>
              </a:r>
            </a:p>
          </p:txBody>
        </p:sp>
        <p:sp>
          <p:nvSpPr>
            <p:cNvPr id="14422" name="Line 40"/>
            <p:cNvSpPr>
              <a:spLocks noChangeShapeType="1"/>
            </p:cNvSpPr>
            <p:nvPr/>
          </p:nvSpPr>
          <p:spPr bwMode="auto">
            <a:xfrm>
              <a:off x="3220" y="3979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23" name="Freeform 41"/>
            <p:cNvSpPr>
              <a:spLocks/>
            </p:cNvSpPr>
            <p:nvPr/>
          </p:nvSpPr>
          <p:spPr bwMode="auto">
            <a:xfrm>
              <a:off x="1684" y="3739"/>
              <a:ext cx="1200" cy="240"/>
            </a:xfrm>
            <a:custGeom>
              <a:avLst/>
              <a:gdLst>
                <a:gd name="T0" fmla="*/ 0 w 1200"/>
                <a:gd name="T1" fmla="*/ 240 h 240"/>
                <a:gd name="T2" fmla="*/ 912 w 1200"/>
                <a:gd name="T3" fmla="*/ 240 h 240"/>
                <a:gd name="T4" fmla="*/ 1200 w 1200"/>
                <a:gd name="T5" fmla="*/ 0 h 240"/>
                <a:gd name="T6" fmla="*/ 0 60000 65536"/>
                <a:gd name="T7" fmla="*/ 0 60000 65536"/>
                <a:gd name="T8" fmla="*/ 0 60000 65536"/>
                <a:gd name="T9" fmla="*/ 0 w 1200"/>
                <a:gd name="T10" fmla="*/ 0 h 240"/>
                <a:gd name="T11" fmla="*/ 1200 w 120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00" h="240">
                  <a:moveTo>
                    <a:pt x="0" y="240"/>
                  </a:moveTo>
                  <a:lnTo>
                    <a:pt x="912" y="240"/>
                  </a:lnTo>
                  <a:lnTo>
                    <a:pt x="120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24" name="Line 42"/>
            <p:cNvSpPr>
              <a:spLocks noChangeShapeType="1"/>
            </p:cNvSpPr>
            <p:nvPr/>
          </p:nvSpPr>
          <p:spPr bwMode="auto">
            <a:xfrm>
              <a:off x="4228" y="3979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25" name="Text Box 43"/>
            <p:cNvSpPr txBox="1">
              <a:spLocks noChangeArrowheads="1"/>
            </p:cNvSpPr>
            <p:nvPr/>
          </p:nvSpPr>
          <p:spPr bwMode="auto">
            <a:xfrm>
              <a:off x="5188" y="3877"/>
              <a:ext cx="384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eel</a:t>
              </a:r>
            </a:p>
          </p:txBody>
        </p:sp>
        <p:sp>
          <p:nvSpPr>
            <p:cNvPr id="14426" name="Text Box 44"/>
            <p:cNvSpPr txBox="1">
              <a:spLocks noChangeArrowheads="1"/>
            </p:cNvSpPr>
            <p:nvPr/>
          </p:nvSpPr>
          <p:spPr bwMode="auto">
            <a:xfrm>
              <a:off x="4804" y="3877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elem</a:t>
              </a:r>
            </a:p>
          </p:txBody>
        </p:sp>
      </p:grpSp>
      <p:grpSp>
        <p:nvGrpSpPr>
          <p:cNvPr id="6" name="Group 113"/>
          <p:cNvGrpSpPr>
            <a:grpSpLocks/>
          </p:cNvGrpSpPr>
          <p:nvPr/>
        </p:nvGrpSpPr>
        <p:grpSpPr bwMode="auto">
          <a:xfrm>
            <a:off x="553317" y="2095995"/>
            <a:ext cx="7239000" cy="4343400"/>
            <a:chOff x="1156" y="1526"/>
            <a:chExt cx="4560" cy="2736"/>
          </a:xfrm>
        </p:grpSpPr>
        <p:sp>
          <p:nvSpPr>
            <p:cNvPr id="14386" name="Rectangle 46"/>
            <p:cNvSpPr>
              <a:spLocks noChangeArrowheads="1"/>
            </p:cNvSpPr>
            <p:nvPr/>
          </p:nvSpPr>
          <p:spPr bwMode="auto">
            <a:xfrm>
              <a:off x="1156" y="1526"/>
              <a:ext cx="4560" cy="27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4387" name="Rectangle 47"/>
            <p:cNvSpPr>
              <a:spLocks noChangeArrowheads="1"/>
            </p:cNvSpPr>
            <p:nvPr/>
          </p:nvSpPr>
          <p:spPr bwMode="auto">
            <a:xfrm>
              <a:off x="3124" y="3974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4388" name="Rectangle 48"/>
            <p:cNvSpPr>
              <a:spLocks noChangeArrowheads="1"/>
            </p:cNvSpPr>
            <p:nvPr/>
          </p:nvSpPr>
          <p:spPr bwMode="auto">
            <a:xfrm>
              <a:off x="1588" y="3686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4389" name="Text Box 49"/>
            <p:cNvSpPr txBox="1">
              <a:spLocks noChangeArrowheads="1"/>
            </p:cNvSpPr>
            <p:nvPr/>
          </p:nvSpPr>
          <p:spPr bwMode="auto">
            <a:xfrm>
              <a:off x="2884" y="368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dog</a:t>
              </a:r>
            </a:p>
          </p:txBody>
        </p:sp>
        <p:sp>
          <p:nvSpPr>
            <p:cNvPr id="14390" name="Text Box 50"/>
            <p:cNvSpPr txBox="1">
              <a:spLocks noChangeArrowheads="1"/>
            </p:cNvSpPr>
            <p:nvPr/>
          </p:nvSpPr>
          <p:spPr bwMode="auto">
            <a:xfrm>
              <a:off x="4612" y="368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fox</a:t>
              </a:r>
            </a:p>
          </p:txBody>
        </p:sp>
        <p:sp>
          <p:nvSpPr>
            <p:cNvPr id="14391" name="Line 51"/>
            <p:cNvSpPr>
              <a:spLocks noChangeShapeType="1"/>
            </p:cNvSpPr>
            <p:nvPr/>
          </p:nvSpPr>
          <p:spPr bwMode="auto">
            <a:xfrm>
              <a:off x="3364" y="3782"/>
              <a:ext cx="12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392" name="Text Box 52"/>
            <p:cNvSpPr txBox="1">
              <a:spLocks noChangeArrowheads="1"/>
            </p:cNvSpPr>
            <p:nvPr/>
          </p:nvSpPr>
          <p:spPr bwMode="auto">
            <a:xfrm>
              <a:off x="1204" y="368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first</a:t>
              </a:r>
            </a:p>
          </p:txBody>
        </p:sp>
        <p:sp>
          <p:nvSpPr>
            <p:cNvPr id="14393" name="Rectangle 53"/>
            <p:cNvSpPr>
              <a:spLocks noChangeArrowheads="1"/>
            </p:cNvSpPr>
            <p:nvPr/>
          </p:nvSpPr>
          <p:spPr bwMode="auto">
            <a:xfrm>
              <a:off x="1204" y="1574"/>
              <a:ext cx="3936" cy="1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81000" algn="l"/>
                  <a:tab pos="9525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81000" algn="l"/>
                  <a:tab pos="9525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To insert </a:t>
              </a:r>
              <a:r>
                <a:rPr lang="en-US" altLang="en-US" sz="2000" i="1">
                  <a:latin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</a:rPr>
                <a:t> at a given point in the SLL headed by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1.	Make </a:t>
              </a:r>
              <a:r>
                <a:rPr lang="en-US" altLang="en-US" sz="2000" i="1">
                  <a:latin typeface="Times New Roman" pitchFamily="18" charset="0"/>
                </a:rPr>
                <a:t>ins</a:t>
              </a:r>
              <a:r>
                <a:rPr lang="en-US" altLang="en-US" sz="2000">
                  <a:latin typeface="Times New Roman" pitchFamily="18" charset="0"/>
                </a:rPr>
                <a:t> a link to a newly-created node with element 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</a:t>
              </a:r>
              <a:r>
                <a:rPr lang="en-US" altLang="en-US" sz="2000" i="1">
                  <a:latin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</a:rPr>
                <a:t> and successor null.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2.	If the insertion point is before the first node: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2.1.	Set </a:t>
              </a:r>
              <a:r>
                <a:rPr lang="en-US" altLang="en-US" sz="2000" i="1">
                  <a:latin typeface="Times New Roman" pitchFamily="18" charset="0"/>
                </a:rPr>
                <a:t>ins</a:t>
              </a:r>
              <a:r>
                <a:rPr lang="en-US" altLang="en-US" sz="2000">
                  <a:latin typeface="Times New Roman" pitchFamily="18" charset="0"/>
                </a:rPr>
                <a:t>’s successor to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2.2.	Set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</a:rPr>
                <a:t>ins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3.	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Else, if the insertion point is after the node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pred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3.1.	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Set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ins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’s successor to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pred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’s successor.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3.2.	Set </a:t>
              </a:r>
              <a:r>
                <a:rPr lang="en-US" altLang="en-US" sz="2000" i="1">
                  <a:latin typeface="Times New Roman" pitchFamily="18" charset="0"/>
                </a:rPr>
                <a:t>pred</a:t>
              </a:r>
              <a:r>
                <a:rPr lang="en-US" altLang="en-US" sz="2000">
                  <a:latin typeface="Times New Roman" pitchFamily="18" charset="0"/>
                </a:rPr>
                <a:t>’s successor to </a:t>
              </a:r>
              <a:r>
                <a:rPr lang="en-US" altLang="en-US" sz="2000" i="1">
                  <a:latin typeface="Times New Roman" pitchFamily="18" charset="0"/>
                </a:rPr>
                <a:t>ins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4.	Terminate.</a:t>
              </a:r>
              <a:endParaRPr lang="en-GB" altLang="en-US" sz="2000">
                <a:latin typeface="Times New Roman" pitchFamily="18" charset="0"/>
              </a:endParaRPr>
            </a:p>
          </p:txBody>
        </p:sp>
        <p:sp>
          <p:nvSpPr>
            <p:cNvPr id="14394" name="Text Box 54"/>
            <p:cNvSpPr txBox="1">
              <a:spLocks noChangeArrowheads="1"/>
            </p:cNvSpPr>
            <p:nvPr/>
          </p:nvSpPr>
          <p:spPr bwMode="auto">
            <a:xfrm>
              <a:off x="3748" y="396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eel</a:t>
              </a:r>
            </a:p>
          </p:txBody>
        </p:sp>
        <p:grpSp>
          <p:nvGrpSpPr>
            <p:cNvPr id="14395" name="Group 55"/>
            <p:cNvGrpSpPr>
              <a:grpSpLocks/>
            </p:cNvGrpSpPr>
            <p:nvPr/>
          </p:nvGrpSpPr>
          <p:grpSpPr bwMode="auto">
            <a:xfrm>
              <a:off x="1684" y="3782"/>
              <a:ext cx="1200" cy="0"/>
              <a:chOff x="1248" y="2640"/>
              <a:chExt cx="1200" cy="0"/>
            </a:xfrm>
          </p:grpSpPr>
          <p:sp>
            <p:nvSpPr>
              <p:cNvPr id="14405" name="Line 56"/>
              <p:cNvSpPr>
                <a:spLocks noChangeShapeType="1"/>
              </p:cNvSpPr>
              <p:nvPr/>
            </p:nvSpPr>
            <p:spPr bwMode="auto">
              <a:xfrm>
                <a:off x="1248" y="2640"/>
                <a:ext cx="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406" name="Line 57"/>
              <p:cNvSpPr>
                <a:spLocks noChangeShapeType="1"/>
              </p:cNvSpPr>
              <p:nvPr/>
            </p:nvSpPr>
            <p:spPr bwMode="auto">
              <a:xfrm>
                <a:off x="1968" y="2640"/>
                <a:ext cx="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407" name="Line 58"/>
              <p:cNvSpPr>
                <a:spLocks noChangeShapeType="1"/>
              </p:cNvSpPr>
              <p:nvPr/>
            </p:nvSpPr>
            <p:spPr bwMode="auto">
              <a:xfrm>
                <a:off x="1728" y="2640"/>
                <a:ext cx="2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4396" name="Line 59"/>
            <p:cNvSpPr>
              <a:spLocks noChangeShapeType="1"/>
            </p:cNvSpPr>
            <p:nvPr/>
          </p:nvSpPr>
          <p:spPr bwMode="auto">
            <a:xfrm>
              <a:off x="5092" y="3782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397" name="Rectangle 60"/>
            <p:cNvSpPr>
              <a:spLocks noChangeArrowheads="1"/>
            </p:cNvSpPr>
            <p:nvPr/>
          </p:nvSpPr>
          <p:spPr bwMode="auto">
            <a:xfrm>
              <a:off x="1588" y="3974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4398" name="Text Box 61"/>
            <p:cNvSpPr txBox="1">
              <a:spLocks noChangeArrowheads="1"/>
            </p:cNvSpPr>
            <p:nvPr/>
          </p:nvSpPr>
          <p:spPr bwMode="auto">
            <a:xfrm>
              <a:off x="1204" y="3974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pred</a:t>
              </a:r>
            </a:p>
          </p:txBody>
        </p:sp>
        <p:sp>
          <p:nvSpPr>
            <p:cNvPr id="14399" name="Text Box 62"/>
            <p:cNvSpPr txBox="1">
              <a:spLocks noChangeArrowheads="1"/>
            </p:cNvSpPr>
            <p:nvPr/>
          </p:nvSpPr>
          <p:spPr bwMode="auto">
            <a:xfrm>
              <a:off x="2740" y="3974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ins</a:t>
              </a:r>
            </a:p>
          </p:txBody>
        </p:sp>
        <p:sp>
          <p:nvSpPr>
            <p:cNvPr id="14400" name="Line 63"/>
            <p:cNvSpPr>
              <a:spLocks noChangeShapeType="1"/>
            </p:cNvSpPr>
            <p:nvPr/>
          </p:nvSpPr>
          <p:spPr bwMode="auto">
            <a:xfrm>
              <a:off x="3220" y="4070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01" name="Freeform 64"/>
            <p:cNvSpPr>
              <a:spLocks/>
            </p:cNvSpPr>
            <p:nvPr/>
          </p:nvSpPr>
          <p:spPr bwMode="auto">
            <a:xfrm>
              <a:off x="1684" y="3830"/>
              <a:ext cx="1200" cy="240"/>
            </a:xfrm>
            <a:custGeom>
              <a:avLst/>
              <a:gdLst>
                <a:gd name="T0" fmla="*/ 0 w 1200"/>
                <a:gd name="T1" fmla="*/ 240 h 240"/>
                <a:gd name="T2" fmla="*/ 912 w 1200"/>
                <a:gd name="T3" fmla="*/ 240 h 240"/>
                <a:gd name="T4" fmla="*/ 1200 w 1200"/>
                <a:gd name="T5" fmla="*/ 0 h 240"/>
                <a:gd name="T6" fmla="*/ 0 60000 65536"/>
                <a:gd name="T7" fmla="*/ 0 60000 65536"/>
                <a:gd name="T8" fmla="*/ 0 60000 65536"/>
                <a:gd name="T9" fmla="*/ 0 w 1200"/>
                <a:gd name="T10" fmla="*/ 0 h 240"/>
                <a:gd name="T11" fmla="*/ 1200 w 120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00" h="240">
                  <a:moveTo>
                    <a:pt x="0" y="240"/>
                  </a:moveTo>
                  <a:lnTo>
                    <a:pt x="912" y="240"/>
                  </a:lnTo>
                  <a:lnTo>
                    <a:pt x="120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02" name="Freeform 65"/>
            <p:cNvSpPr>
              <a:spLocks/>
            </p:cNvSpPr>
            <p:nvPr/>
          </p:nvSpPr>
          <p:spPr bwMode="auto">
            <a:xfrm>
              <a:off x="4228" y="3830"/>
              <a:ext cx="384" cy="240"/>
            </a:xfrm>
            <a:custGeom>
              <a:avLst/>
              <a:gdLst>
                <a:gd name="T0" fmla="*/ 0 w 384"/>
                <a:gd name="T1" fmla="*/ 240 h 240"/>
                <a:gd name="T2" fmla="*/ 192 w 384"/>
                <a:gd name="T3" fmla="*/ 240 h 240"/>
                <a:gd name="T4" fmla="*/ 384 w 384"/>
                <a:gd name="T5" fmla="*/ 0 h 240"/>
                <a:gd name="T6" fmla="*/ 0 60000 65536"/>
                <a:gd name="T7" fmla="*/ 0 60000 65536"/>
                <a:gd name="T8" fmla="*/ 0 60000 65536"/>
                <a:gd name="T9" fmla="*/ 0 w 384"/>
                <a:gd name="T10" fmla="*/ 0 h 240"/>
                <a:gd name="T11" fmla="*/ 384 w 384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240">
                  <a:moveTo>
                    <a:pt x="0" y="240"/>
                  </a:moveTo>
                  <a:lnTo>
                    <a:pt x="192" y="240"/>
                  </a:lnTo>
                  <a:lnTo>
                    <a:pt x="384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03" name="Text Box 66"/>
            <p:cNvSpPr txBox="1">
              <a:spLocks noChangeArrowheads="1"/>
            </p:cNvSpPr>
            <p:nvPr/>
          </p:nvSpPr>
          <p:spPr bwMode="auto">
            <a:xfrm>
              <a:off x="5188" y="3968"/>
              <a:ext cx="384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eel</a:t>
              </a:r>
            </a:p>
          </p:txBody>
        </p:sp>
        <p:sp>
          <p:nvSpPr>
            <p:cNvPr id="14404" name="Text Box 67"/>
            <p:cNvSpPr txBox="1">
              <a:spLocks noChangeArrowheads="1"/>
            </p:cNvSpPr>
            <p:nvPr/>
          </p:nvSpPr>
          <p:spPr bwMode="auto">
            <a:xfrm>
              <a:off x="4804" y="396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elem</a:t>
              </a:r>
            </a:p>
          </p:txBody>
        </p:sp>
      </p:grpSp>
      <p:grpSp>
        <p:nvGrpSpPr>
          <p:cNvPr id="8" name="Group 112"/>
          <p:cNvGrpSpPr>
            <a:grpSpLocks/>
          </p:cNvGrpSpPr>
          <p:nvPr/>
        </p:nvGrpSpPr>
        <p:grpSpPr bwMode="auto">
          <a:xfrm>
            <a:off x="553317" y="2095995"/>
            <a:ext cx="7239000" cy="4343400"/>
            <a:chOff x="1156" y="1617"/>
            <a:chExt cx="4560" cy="2736"/>
          </a:xfrm>
        </p:grpSpPr>
        <p:sp>
          <p:nvSpPr>
            <p:cNvPr id="14364" name="Rectangle 69"/>
            <p:cNvSpPr>
              <a:spLocks noChangeArrowheads="1"/>
            </p:cNvSpPr>
            <p:nvPr/>
          </p:nvSpPr>
          <p:spPr bwMode="auto">
            <a:xfrm>
              <a:off x="1156" y="1617"/>
              <a:ext cx="4560" cy="27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4365" name="Rectangle 70"/>
            <p:cNvSpPr>
              <a:spLocks noChangeArrowheads="1"/>
            </p:cNvSpPr>
            <p:nvPr/>
          </p:nvSpPr>
          <p:spPr bwMode="auto">
            <a:xfrm>
              <a:off x="3124" y="4065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4366" name="Rectangle 71"/>
            <p:cNvSpPr>
              <a:spLocks noChangeArrowheads="1"/>
            </p:cNvSpPr>
            <p:nvPr/>
          </p:nvSpPr>
          <p:spPr bwMode="auto">
            <a:xfrm>
              <a:off x="1588" y="3777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4367" name="Text Box 72"/>
            <p:cNvSpPr txBox="1">
              <a:spLocks noChangeArrowheads="1"/>
            </p:cNvSpPr>
            <p:nvPr/>
          </p:nvSpPr>
          <p:spPr bwMode="auto">
            <a:xfrm>
              <a:off x="2884" y="377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dog</a:t>
              </a:r>
            </a:p>
          </p:txBody>
        </p:sp>
        <p:sp>
          <p:nvSpPr>
            <p:cNvPr id="14368" name="Text Box 73"/>
            <p:cNvSpPr txBox="1">
              <a:spLocks noChangeArrowheads="1"/>
            </p:cNvSpPr>
            <p:nvPr/>
          </p:nvSpPr>
          <p:spPr bwMode="auto">
            <a:xfrm>
              <a:off x="4612" y="377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fox</a:t>
              </a:r>
            </a:p>
          </p:txBody>
        </p:sp>
        <p:sp>
          <p:nvSpPr>
            <p:cNvPr id="14369" name="Text Box 74"/>
            <p:cNvSpPr txBox="1">
              <a:spLocks noChangeArrowheads="1"/>
            </p:cNvSpPr>
            <p:nvPr/>
          </p:nvSpPr>
          <p:spPr bwMode="auto">
            <a:xfrm>
              <a:off x="1204" y="3777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first</a:t>
              </a:r>
            </a:p>
          </p:txBody>
        </p:sp>
        <p:sp>
          <p:nvSpPr>
            <p:cNvPr id="14370" name="Rectangle 75"/>
            <p:cNvSpPr>
              <a:spLocks noChangeArrowheads="1"/>
            </p:cNvSpPr>
            <p:nvPr/>
          </p:nvSpPr>
          <p:spPr bwMode="auto">
            <a:xfrm>
              <a:off x="1204" y="1665"/>
              <a:ext cx="3936" cy="1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81000" algn="l"/>
                  <a:tab pos="9525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81000" algn="l"/>
                  <a:tab pos="9525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To insert </a:t>
              </a:r>
              <a:r>
                <a:rPr lang="en-US" altLang="en-US" sz="2000" i="1">
                  <a:latin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</a:rPr>
                <a:t> at a given point in the SLL headed by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1.	Make </a:t>
              </a:r>
              <a:r>
                <a:rPr lang="en-US" altLang="en-US" sz="2000" i="1">
                  <a:latin typeface="Times New Roman" pitchFamily="18" charset="0"/>
                </a:rPr>
                <a:t>ins</a:t>
              </a:r>
              <a:r>
                <a:rPr lang="en-US" altLang="en-US" sz="2000">
                  <a:latin typeface="Times New Roman" pitchFamily="18" charset="0"/>
                </a:rPr>
                <a:t> a link to a newly-created node with element 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</a:t>
              </a:r>
              <a:r>
                <a:rPr lang="en-US" altLang="en-US" sz="2000" i="1">
                  <a:latin typeface="Times New Roman" pitchFamily="18" charset="0"/>
                </a:rPr>
                <a:t>elem</a:t>
              </a:r>
              <a:r>
                <a:rPr lang="en-US" altLang="en-US" sz="2000">
                  <a:latin typeface="Times New Roman" pitchFamily="18" charset="0"/>
                </a:rPr>
                <a:t> and successor null.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2.	If the insertion point is before the first node: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2.1.	Set </a:t>
              </a:r>
              <a:r>
                <a:rPr lang="en-US" altLang="en-US" sz="2000" i="1">
                  <a:latin typeface="Times New Roman" pitchFamily="18" charset="0"/>
                </a:rPr>
                <a:t>ins</a:t>
              </a:r>
              <a:r>
                <a:rPr lang="en-US" altLang="en-US" sz="2000">
                  <a:latin typeface="Times New Roman" pitchFamily="18" charset="0"/>
                </a:rPr>
                <a:t>’s successor to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2.2.	Set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</a:rPr>
                <a:t>ins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3.	Else, if the insertion point is after the node </a:t>
              </a:r>
              <a:r>
                <a:rPr lang="en-US" altLang="en-US" sz="2000" i="1">
                  <a:latin typeface="Times New Roman" pitchFamily="18" charset="0"/>
                </a:rPr>
                <a:t>pred</a:t>
              </a:r>
              <a:r>
                <a:rPr lang="en-US" altLang="en-US" sz="2000">
                  <a:latin typeface="Times New Roman" pitchFamily="18" charset="0"/>
                </a:rPr>
                <a:t>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3.1.	Set </a:t>
              </a:r>
              <a:r>
                <a:rPr lang="en-US" altLang="en-US" sz="2000" i="1">
                  <a:latin typeface="Times New Roman" pitchFamily="18" charset="0"/>
                </a:rPr>
                <a:t>ins</a:t>
              </a:r>
              <a:r>
                <a:rPr lang="en-US" altLang="en-US" sz="2000">
                  <a:latin typeface="Times New Roman" pitchFamily="18" charset="0"/>
                </a:rPr>
                <a:t>’s successor to </a:t>
              </a:r>
              <a:r>
                <a:rPr lang="en-US" altLang="en-US" sz="2000" i="1">
                  <a:latin typeface="Times New Roman" pitchFamily="18" charset="0"/>
                </a:rPr>
                <a:t>pred</a:t>
              </a:r>
              <a:r>
                <a:rPr lang="en-US" altLang="en-US" sz="2000">
                  <a:latin typeface="Times New Roman" pitchFamily="18" charset="0"/>
                </a:rPr>
                <a:t>’s successor.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3.2.	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Set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pred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’s successor to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ins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4.	Terminate.</a:t>
              </a:r>
              <a:endParaRPr lang="en-GB" altLang="en-US" sz="2000">
                <a:latin typeface="Times New Roman" pitchFamily="18" charset="0"/>
              </a:endParaRPr>
            </a:p>
          </p:txBody>
        </p:sp>
        <p:sp>
          <p:nvSpPr>
            <p:cNvPr id="14371" name="Text Box 76"/>
            <p:cNvSpPr txBox="1">
              <a:spLocks noChangeArrowheads="1"/>
            </p:cNvSpPr>
            <p:nvPr/>
          </p:nvSpPr>
          <p:spPr bwMode="auto">
            <a:xfrm>
              <a:off x="3748" y="4059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eel</a:t>
              </a:r>
            </a:p>
          </p:txBody>
        </p:sp>
        <p:grpSp>
          <p:nvGrpSpPr>
            <p:cNvPr id="14372" name="Group 77"/>
            <p:cNvGrpSpPr>
              <a:grpSpLocks/>
            </p:cNvGrpSpPr>
            <p:nvPr/>
          </p:nvGrpSpPr>
          <p:grpSpPr bwMode="auto">
            <a:xfrm>
              <a:off x="1684" y="3873"/>
              <a:ext cx="1200" cy="0"/>
              <a:chOff x="1248" y="2640"/>
              <a:chExt cx="1200" cy="0"/>
            </a:xfrm>
          </p:grpSpPr>
          <p:sp>
            <p:nvSpPr>
              <p:cNvPr id="14383" name="Line 78"/>
              <p:cNvSpPr>
                <a:spLocks noChangeShapeType="1"/>
              </p:cNvSpPr>
              <p:nvPr/>
            </p:nvSpPr>
            <p:spPr bwMode="auto">
              <a:xfrm>
                <a:off x="1248" y="2640"/>
                <a:ext cx="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384" name="Line 79"/>
              <p:cNvSpPr>
                <a:spLocks noChangeShapeType="1"/>
              </p:cNvSpPr>
              <p:nvPr/>
            </p:nvSpPr>
            <p:spPr bwMode="auto">
              <a:xfrm>
                <a:off x="1968" y="2640"/>
                <a:ext cx="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385" name="Line 80"/>
              <p:cNvSpPr>
                <a:spLocks noChangeShapeType="1"/>
              </p:cNvSpPr>
              <p:nvPr/>
            </p:nvSpPr>
            <p:spPr bwMode="auto">
              <a:xfrm>
                <a:off x="1728" y="2640"/>
                <a:ext cx="2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4373" name="Line 81"/>
            <p:cNvSpPr>
              <a:spLocks noChangeShapeType="1"/>
            </p:cNvSpPr>
            <p:nvPr/>
          </p:nvSpPr>
          <p:spPr bwMode="auto">
            <a:xfrm>
              <a:off x="5092" y="3873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374" name="Rectangle 82"/>
            <p:cNvSpPr>
              <a:spLocks noChangeArrowheads="1"/>
            </p:cNvSpPr>
            <p:nvPr/>
          </p:nvSpPr>
          <p:spPr bwMode="auto">
            <a:xfrm>
              <a:off x="1588" y="4065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4375" name="Text Box 83"/>
            <p:cNvSpPr txBox="1">
              <a:spLocks noChangeArrowheads="1"/>
            </p:cNvSpPr>
            <p:nvPr/>
          </p:nvSpPr>
          <p:spPr bwMode="auto">
            <a:xfrm>
              <a:off x="1204" y="4065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pred</a:t>
              </a:r>
            </a:p>
          </p:txBody>
        </p:sp>
        <p:sp>
          <p:nvSpPr>
            <p:cNvPr id="14376" name="Text Box 84"/>
            <p:cNvSpPr txBox="1">
              <a:spLocks noChangeArrowheads="1"/>
            </p:cNvSpPr>
            <p:nvPr/>
          </p:nvSpPr>
          <p:spPr bwMode="auto">
            <a:xfrm>
              <a:off x="2740" y="4065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ins</a:t>
              </a:r>
            </a:p>
          </p:txBody>
        </p:sp>
        <p:sp>
          <p:nvSpPr>
            <p:cNvPr id="14377" name="Line 85"/>
            <p:cNvSpPr>
              <a:spLocks noChangeShapeType="1"/>
            </p:cNvSpPr>
            <p:nvPr/>
          </p:nvSpPr>
          <p:spPr bwMode="auto">
            <a:xfrm>
              <a:off x="3220" y="4161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378" name="Freeform 86"/>
            <p:cNvSpPr>
              <a:spLocks/>
            </p:cNvSpPr>
            <p:nvPr/>
          </p:nvSpPr>
          <p:spPr bwMode="auto">
            <a:xfrm>
              <a:off x="1684" y="3921"/>
              <a:ext cx="1200" cy="240"/>
            </a:xfrm>
            <a:custGeom>
              <a:avLst/>
              <a:gdLst>
                <a:gd name="T0" fmla="*/ 0 w 1200"/>
                <a:gd name="T1" fmla="*/ 240 h 240"/>
                <a:gd name="T2" fmla="*/ 912 w 1200"/>
                <a:gd name="T3" fmla="*/ 240 h 240"/>
                <a:gd name="T4" fmla="*/ 1200 w 1200"/>
                <a:gd name="T5" fmla="*/ 0 h 240"/>
                <a:gd name="T6" fmla="*/ 0 60000 65536"/>
                <a:gd name="T7" fmla="*/ 0 60000 65536"/>
                <a:gd name="T8" fmla="*/ 0 60000 65536"/>
                <a:gd name="T9" fmla="*/ 0 w 1200"/>
                <a:gd name="T10" fmla="*/ 0 h 240"/>
                <a:gd name="T11" fmla="*/ 1200 w 120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00" h="240">
                  <a:moveTo>
                    <a:pt x="0" y="240"/>
                  </a:moveTo>
                  <a:lnTo>
                    <a:pt x="912" y="240"/>
                  </a:lnTo>
                  <a:lnTo>
                    <a:pt x="120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379" name="Freeform 87"/>
            <p:cNvSpPr>
              <a:spLocks/>
            </p:cNvSpPr>
            <p:nvPr/>
          </p:nvSpPr>
          <p:spPr bwMode="auto">
            <a:xfrm>
              <a:off x="3364" y="3873"/>
              <a:ext cx="384" cy="248"/>
            </a:xfrm>
            <a:custGeom>
              <a:avLst/>
              <a:gdLst>
                <a:gd name="T0" fmla="*/ 0 w 384"/>
                <a:gd name="T1" fmla="*/ 0 h 248"/>
                <a:gd name="T2" fmla="*/ 192 w 384"/>
                <a:gd name="T3" fmla="*/ 0 h 248"/>
                <a:gd name="T4" fmla="*/ 384 w 384"/>
                <a:gd name="T5" fmla="*/ 248 h 248"/>
                <a:gd name="T6" fmla="*/ 0 60000 65536"/>
                <a:gd name="T7" fmla="*/ 0 60000 65536"/>
                <a:gd name="T8" fmla="*/ 0 60000 65536"/>
                <a:gd name="T9" fmla="*/ 0 w 384"/>
                <a:gd name="T10" fmla="*/ 0 h 248"/>
                <a:gd name="T11" fmla="*/ 384 w 384"/>
                <a:gd name="T12" fmla="*/ 248 h 2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248">
                  <a:moveTo>
                    <a:pt x="0" y="0"/>
                  </a:moveTo>
                  <a:lnTo>
                    <a:pt x="192" y="0"/>
                  </a:lnTo>
                  <a:lnTo>
                    <a:pt x="384" y="248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380" name="Freeform 88"/>
            <p:cNvSpPr>
              <a:spLocks/>
            </p:cNvSpPr>
            <p:nvPr/>
          </p:nvSpPr>
          <p:spPr bwMode="auto">
            <a:xfrm>
              <a:off x="4228" y="3921"/>
              <a:ext cx="384" cy="240"/>
            </a:xfrm>
            <a:custGeom>
              <a:avLst/>
              <a:gdLst>
                <a:gd name="T0" fmla="*/ 0 w 384"/>
                <a:gd name="T1" fmla="*/ 240 h 240"/>
                <a:gd name="T2" fmla="*/ 192 w 384"/>
                <a:gd name="T3" fmla="*/ 240 h 240"/>
                <a:gd name="T4" fmla="*/ 384 w 384"/>
                <a:gd name="T5" fmla="*/ 0 h 240"/>
                <a:gd name="T6" fmla="*/ 0 60000 65536"/>
                <a:gd name="T7" fmla="*/ 0 60000 65536"/>
                <a:gd name="T8" fmla="*/ 0 60000 65536"/>
                <a:gd name="T9" fmla="*/ 0 w 384"/>
                <a:gd name="T10" fmla="*/ 0 h 240"/>
                <a:gd name="T11" fmla="*/ 384 w 384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240">
                  <a:moveTo>
                    <a:pt x="0" y="240"/>
                  </a:moveTo>
                  <a:lnTo>
                    <a:pt x="192" y="240"/>
                  </a:lnTo>
                  <a:lnTo>
                    <a:pt x="384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381" name="Text Box 89"/>
            <p:cNvSpPr txBox="1">
              <a:spLocks noChangeArrowheads="1"/>
            </p:cNvSpPr>
            <p:nvPr/>
          </p:nvSpPr>
          <p:spPr bwMode="auto">
            <a:xfrm>
              <a:off x="5188" y="4059"/>
              <a:ext cx="384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eel</a:t>
              </a:r>
            </a:p>
          </p:txBody>
        </p:sp>
        <p:sp>
          <p:nvSpPr>
            <p:cNvPr id="14382" name="Text Box 90"/>
            <p:cNvSpPr txBox="1">
              <a:spLocks noChangeArrowheads="1"/>
            </p:cNvSpPr>
            <p:nvPr/>
          </p:nvSpPr>
          <p:spPr bwMode="auto">
            <a:xfrm>
              <a:off x="4804" y="4059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elem</a:t>
              </a:r>
            </a:p>
          </p:txBody>
        </p:sp>
      </p:grpSp>
      <p:grpSp>
        <p:nvGrpSpPr>
          <p:cNvPr id="10" name="Group 111"/>
          <p:cNvGrpSpPr>
            <a:grpSpLocks/>
          </p:cNvGrpSpPr>
          <p:nvPr/>
        </p:nvGrpSpPr>
        <p:grpSpPr bwMode="auto">
          <a:xfrm>
            <a:off x="551730" y="2095995"/>
            <a:ext cx="7239000" cy="4343400"/>
            <a:chOff x="1156" y="1707"/>
            <a:chExt cx="4560" cy="2736"/>
          </a:xfrm>
        </p:grpSpPr>
        <p:sp>
          <p:nvSpPr>
            <p:cNvPr id="14345" name="Rectangle 92"/>
            <p:cNvSpPr>
              <a:spLocks noChangeArrowheads="1"/>
            </p:cNvSpPr>
            <p:nvPr/>
          </p:nvSpPr>
          <p:spPr bwMode="auto">
            <a:xfrm>
              <a:off x="1156" y="1707"/>
              <a:ext cx="4560" cy="27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4346" name="Rectangle 93"/>
            <p:cNvSpPr>
              <a:spLocks noChangeArrowheads="1"/>
            </p:cNvSpPr>
            <p:nvPr/>
          </p:nvSpPr>
          <p:spPr bwMode="auto">
            <a:xfrm>
              <a:off x="1588" y="3867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4347" name="Text Box 94"/>
            <p:cNvSpPr txBox="1">
              <a:spLocks noChangeArrowheads="1"/>
            </p:cNvSpPr>
            <p:nvPr/>
          </p:nvSpPr>
          <p:spPr bwMode="auto">
            <a:xfrm>
              <a:off x="2884" y="386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dog</a:t>
              </a:r>
            </a:p>
          </p:txBody>
        </p:sp>
        <p:sp>
          <p:nvSpPr>
            <p:cNvPr id="14348" name="Text Box 95"/>
            <p:cNvSpPr txBox="1">
              <a:spLocks noChangeArrowheads="1"/>
            </p:cNvSpPr>
            <p:nvPr/>
          </p:nvSpPr>
          <p:spPr bwMode="auto">
            <a:xfrm>
              <a:off x="4612" y="386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fox</a:t>
              </a:r>
            </a:p>
          </p:txBody>
        </p:sp>
        <p:sp>
          <p:nvSpPr>
            <p:cNvPr id="14349" name="Text Box 96"/>
            <p:cNvSpPr txBox="1">
              <a:spLocks noChangeArrowheads="1"/>
            </p:cNvSpPr>
            <p:nvPr/>
          </p:nvSpPr>
          <p:spPr bwMode="auto">
            <a:xfrm>
              <a:off x="1204" y="3867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first</a:t>
              </a:r>
            </a:p>
          </p:txBody>
        </p:sp>
        <p:sp>
          <p:nvSpPr>
            <p:cNvPr id="14350" name="Rectangle 97"/>
            <p:cNvSpPr>
              <a:spLocks noChangeArrowheads="1"/>
            </p:cNvSpPr>
            <p:nvPr/>
          </p:nvSpPr>
          <p:spPr bwMode="auto">
            <a:xfrm>
              <a:off x="1204" y="1755"/>
              <a:ext cx="3936" cy="1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81000" algn="l"/>
                  <a:tab pos="9525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81000" algn="l"/>
                  <a:tab pos="9525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sz="2000" dirty="0">
                  <a:latin typeface="Times New Roman" pitchFamily="18" charset="0"/>
                </a:rPr>
                <a:t>To insert </a:t>
              </a:r>
              <a:r>
                <a:rPr lang="en-US" altLang="en-US" sz="2000" i="1" dirty="0" err="1">
                  <a:latin typeface="Times New Roman" pitchFamily="18" charset="0"/>
                </a:rPr>
                <a:t>elem</a:t>
              </a:r>
              <a:r>
                <a:rPr lang="en-US" altLang="en-US" sz="2000" dirty="0">
                  <a:latin typeface="Times New Roman" pitchFamily="18" charset="0"/>
                </a:rPr>
                <a:t> at a given point in the SLL headed by </a:t>
              </a:r>
              <a:r>
                <a:rPr lang="en-US" altLang="en-US" sz="2000" i="1" dirty="0">
                  <a:latin typeface="Times New Roman" pitchFamily="18" charset="0"/>
                </a:rPr>
                <a:t>first</a:t>
              </a:r>
              <a:r>
                <a:rPr lang="en-US" altLang="en-US" sz="2000" dirty="0">
                  <a:latin typeface="Times New Roman" pitchFamily="18" charset="0"/>
                </a:rPr>
                <a:t>:</a:t>
              </a:r>
              <a:br>
                <a:rPr lang="en-US" altLang="en-US" sz="2000" dirty="0">
                  <a:latin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</a:rPr>
                <a:t>1.	Make </a:t>
              </a:r>
              <a:r>
                <a:rPr lang="en-US" altLang="en-US" sz="2000" i="1" dirty="0">
                  <a:latin typeface="Times New Roman" pitchFamily="18" charset="0"/>
                </a:rPr>
                <a:t>ins</a:t>
              </a:r>
              <a:r>
                <a:rPr lang="en-US" altLang="en-US" sz="2000" dirty="0">
                  <a:latin typeface="Times New Roman" pitchFamily="18" charset="0"/>
                </a:rPr>
                <a:t> a link to a newly-created node with element </a:t>
              </a:r>
              <a:br>
                <a:rPr lang="en-US" altLang="en-US" sz="2000" dirty="0">
                  <a:latin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</a:rPr>
                <a:t>	</a:t>
              </a:r>
              <a:r>
                <a:rPr lang="en-US" altLang="en-US" sz="2000" i="1" dirty="0" err="1">
                  <a:latin typeface="Times New Roman" pitchFamily="18" charset="0"/>
                </a:rPr>
                <a:t>elem</a:t>
              </a:r>
              <a:r>
                <a:rPr lang="en-US" altLang="en-US" sz="2000" dirty="0">
                  <a:latin typeface="Times New Roman" pitchFamily="18" charset="0"/>
                </a:rPr>
                <a:t> and next null.</a:t>
              </a:r>
              <a:br>
                <a:rPr lang="en-US" altLang="en-US" sz="2000" dirty="0">
                  <a:latin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</a:rPr>
                <a:t>2.	If the insertion point is before the first node:</a:t>
              </a:r>
              <a:br>
                <a:rPr lang="en-US" altLang="en-US" sz="2000" dirty="0">
                  <a:latin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</a:rPr>
                <a:t>	2.1.	Set </a:t>
              </a:r>
              <a:r>
                <a:rPr lang="en-US" altLang="en-US" sz="2000" i="1" dirty="0" err="1">
                  <a:latin typeface="Times New Roman" pitchFamily="18" charset="0"/>
                </a:rPr>
                <a:t>ins</a:t>
              </a:r>
              <a:r>
                <a:rPr lang="en-US" altLang="en-US" sz="2000" dirty="0" err="1">
                  <a:latin typeface="Times New Roman" pitchFamily="18" charset="0"/>
                </a:rPr>
                <a:t>’s</a:t>
              </a:r>
              <a:r>
                <a:rPr lang="en-US" altLang="en-US" sz="2000" dirty="0">
                  <a:latin typeface="Times New Roman" pitchFamily="18" charset="0"/>
                </a:rPr>
                <a:t> next to </a:t>
              </a:r>
              <a:r>
                <a:rPr lang="en-US" altLang="en-US" sz="2000" i="1" dirty="0">
                  <a:latin typeface="Times New Roman" pitchFamily="18" charset="0"/>
                </a:rPr>
                <a:t>first</a:t>
              </a:r>
              <a:r>
                <a:rPr lang="en-US" altLang="en-US" sz="2000" dirty="0">
                  <a:latin typeface="Times New Roman" pitchFamily="18" charset="0"/>
                </a:rPr>
                <a:t>.</a:t>
              </a:r>
              <a:br>
                <a:rPr lang="en-US" altLang="en-US" sz="2000" dirty="0">
                  <a:latin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</a:rPr>
                <a:t>	2.2.	Set </a:t>
              </a:r>
              <a:r>
                <a:rPr lang="en-US" altLang="en-US" sz="2000" i="1" dirty="0">
                  <a:latin typeface="Times New Roman" pitchFamily="18" charset="0"/>
                </a:rPr>
                <a:t>first</a:t>
              </a:r>
              <a:r>
                <a:rPr lang="en-US" altLang="en-US" sz="2000" dirty="0">
                  <a:latin typeface="Times New Roman" pitchFamily="18" charset="0"/>
                </a:rPr>
                <a:t> to </a:t>
              </a:r>
              <a:r>
                <a:rPr lang="en-US" altLang="en-US" sz="2000" i="1" dirty="0">
                  <a:latin typeface="Times New Roman" pitchFamily="18" charset="0"/>
                </a:rPr>
                <a:t>ins</a:t>
              </a:r>
              <a:r>
                <a:rPr lang="en-US" altLang="en-US" sz="2000" dirty="0">
                  <a:latin typeface="Times New Roman" pitchFamily="18" charset="0"/>
                </a:rPr>
                <a:t>.</a:t>
              </a:r>
              <a:br>
                <a:rPr lang="en-US" altLang="en-US" sz="2000" dirty="0">
                  <a:latin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</a:rPr>
                <a:t>3.	Else, if the insertion point is after the node </a:t>
              </a:r>
              <a:r>
                <a:rPr lang="en-US" altLang="en-US" sz="2000" i="1" dirty="0" err="1">
                  <a:latin typeface="Times New Roman" pitchFamily="18" charset="0"/>
                </a:rPr>
                <a:t>pred</a:t>
              </a:r>
              <a:r>
                <a:rPr lang="en-US" altLang="en-US" sz="2000" dirty="0">
                  <a:latin typeface="Times New Roman" pitchFamily="18" charset="0"/>
                </a:rPr>
                <a:t>:</a:t>
              </a:r>
              <a:br>
                <a:rPr lang="en-US" altLang="en-US" sz="2000" dirty="0">
                  <a:latin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</a:rPr>
                <a:t>	3.1.	Set </a:t>
              </a:r>
              <a:r>
                <a:rPr lang="en-US" altLang="en-US" sz="2000" i="1" dirty="0" err="1">
                  <a:latin typeface="Times New Roman" pitchFamily="18" charset="0"/>
                </a:rPr>
                <a:t>ins</a:t>
              </a:r>
              <a:r>
                <a:rPr lang="en-US" altLang="en-US" sz="2000" dirty="0" err="1">
                  <a:latin typeface="Times New Roman" pitchFamily="18" charset="0"/>
                </a:rPr>
                <a:t>’s</a:t>
              </a:r>
              <a:r>
                <a:rPr lang="en-US" altLang="en-US" sz="2000" dirty="0">
                  <a:latin typeface="Times New Roman" pitchFamily="18" charset="0"/>
                </a:rPr>
                <a:t> next to </a:t>
              </a:r>
              <a:r>
                <a:rPr lang="en-US" altLang="en-US" sz="2000" i="1" dirty="0" err="1">
                  <a:latin typeface="Times New Roman" pitchFamily="18" charset="0"/>
                </a:rPr>
                <a:t>pred</a:t>
              </a:r>
              <a:r>
                <a:rPr lang="en-US" altLang="en-US" sz="2000" dirty="0" err="1">
                  <a:latin typeface="Times New Roman" pitchFamily="18" charset="0"/>
                </a:rPr>
                <a:t>’s</a:t>
              </a:r>
              <a:r>
                <a:rPr lang="en-US" altLang="en-US" sz="2000" dirty="0">
                  <a:latin typeface="Times New Roman" pitchFamily="18" charset="0"/>
                </a:rPr>
                <a:t> next.</a:t>
              </a:r>
              <a:br>
                <a:rPr lang="en-US" altLang="en-US" sz="2000" dirty="0">
                  <a:latin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</a:rPr>
                <a:t>	3.2.	Set </a:t>
              </a:r>
              <a:r>
                <a:rPr lang="en-US" altLang="en-US" sz="2000" i="1" dirty="0" err="1">
                  <a:latin typeface="Times New Roman" pitchFamily="18" charset="0"/>
                </a:rPr>
                <a:t>pred</a:t>
              </a:r>
              <a:r>
                <a:rPr lang="en-US" altLang="en-US" sz="2000" dirty="0" err="1">
                  <a:latin typeface="Times New Roman" pitchFamily="18" charset="0"/>
                </a:rPr>
                <a:t>’s</a:t>
              </a:r>
              <a:r>
                <a:rPr lang="en-US" altLang="en-US" sz="2000" dirty="0">
                  <a:latin typeface="Times New Roman" pitchFamily="18" charset="0"/>
                </a:rPr>
                <a:t> next to </a:t>
              </a:r>
              <a:r>
                <a:rPr lang="en-US" altLang="en-US" sz="2000" i="1" dirty="0">
                  <a:latin typeface="Times New Roman" pitchFamily="18" charset="0"/>
                </a:rPr>
                <a:t>ins</a:t>
              </a:r>
              <a:r>
                <a:rPr lang="en-US" altLang="en-US" sz="2000" dirty="0">
                  <a:latin typeface="Times New Roman" pitchFamily="18" charset="0"/>
                </a:rPr>
                <a:t>.</a:t>
              </a:r>
              <a:br>
                <a:rPr lang="en-US" altLang="en-US" sz="2000" dirty="0">
                  <a:latin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</a:rPr>
                <a:t>4.	</a:t>
              </a:r>
              <a:r>
                <a:rPr lang="en-US" altLang="en-US" sz="2000" dirty="0">
                  <a:solidFill>
                    <a:srgbClr val="FF0000"/>
                  </a:solidFill>
                  <a:latin typeface="Times New Roman" pitchFamily="18" charset="0"/>
                </a:rPr>
                <a:t>Terminate.</a:t>
              </a:r>
              <a:endParaRPr lang="en-GB" altLang="en-US" sz="2000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4351" name="Text Box 98"/>
            <p:cNvSpPr txBox="1">
              <a:spLocks noChangeArrowheads="1"/>
            </p:cNvSpPr>
            <p:nvPr/>
          </p:nvSpPr>
          <p:spPr bwMode="auto">
            <a:xfrm>
              <a:off x="3748" y="4149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eel</a:t>
              </a:r>
            </a:p>
          </p:txBody>
        </p:sp>
        <p:grpSp>
          <p:nvGrpSpPr>
            <p:cNvPr id="14352" name="Group 99"/>
            <p:cNvGrpSpPr>
              <a:grpSpLocks/>
            </p:cNvGrpSpPr>
            <p:nvPr/>
          </p:nvGrpSpPr>
          <p:grpSpPr bwMode="auto">
            <a:xfrm>
              <a:off x="1684" y="3963"/>
              <a:ext cx="1200" cy="0"/>
              <a:chOff x="1248" y="2640"/>
              <a:chExt cx="1200" cy="0"/>
            </a:xfrm>
          </p:grpSpPr>
          <p:sp>
            <p:nvSpPr>
              <p:cNvPr id="14361" name="Line 100"/>
              <p:cNvSpPr>
                <a:spLocks noChangeShapeType="1"/>
              </p:cNvSpPr>
              <p:nvPr/>
            </p:nvSpPr>
            <p:spPr bwMode="auto">
              <a:xfrm>
                <a:off x="1248" y="2640"/>
                <a:ext cx="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362" name="Line 101"/>
              <p:cNvSpPr>
                <a:spLocks noChangeShapeType="1"/>
              </p:cNvSpPr>
              <p:nvPr/>
            </p:nvSpPr>
            <p:spPr bwMode="auto">
              <a:xfrm>
                <a:off x="1968" y="2640"/>
                <a:ext cx="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363" name="Line 102"/>
              <p:cNvSpPr>
                <a:spLocks noChangeShapeType="1"/>
              </p:cNvSpPr>
              <p:nvPr/>
            </p:nvSpPr>
            <p:spPr bwMode="auto">
              <a:xfrm>
                <a:off x="1728" y="2640"/>
                <a:ext cx="2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4353" name="Line 103"/>
            <p:cNvSpPr>
              <a:spLocks noChangeShapeType="1"/>
            </p:cNvSpPr>
            <p:nvPr/>
          </p:nvSpPr>
          <p:spPr bwMode="auto">
            <a:xfrm>
              <a:off x="5092" y="3963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354" name="Freeform 104"/>
            <p:cNvSpPr>
              <a:spLocks/>
            </p:cNvSpPr>
            <p:nvPr/>
          </p:nvSpPr>
          <p:spPr bwMode="auto">
            <a:xfrm>
              <a:off x="3364" y="3963"/>
              <a:ext cx="384" cy="248"/>
            </a:xfrm>
            <a:custGeom>
              <a:avLst/>
              <a:gdLst>
                <a:gd name="T0" fmla="*/ 0 w 384"/>
                <a:gd name="T1" fmla="*/ 0 h 248"/>
                <a:gd name="T2" fmla="*/ 192 w 384"/>
                <a:gd name="T3" fmla="*/ 0 h 248"/>
                <a:gd name="T4" fmla="*/ 384 w 384"/>
                <a:gd name="T5" fmla="*/ 248 h 248"/>
                <a:gd name="T6" fmla="*/ 0 60000 65536"/>
                <a:gd name="T7" fmla="*/ 0 60000 65536"/>
                <a:gd name="T8" fmla="*/ 0 60000 65536"/>
                <a:gd name="T9" fmla="*/ 0 w 384"/>
                <a:gd name="T10" fmla="*/ 0 h 248"/>
                <a:gd name="T11" fmla="*/ 384 w 384"/>
                <a:gd name="T12" fmla="*/ 248 h 2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248">
                  <a:moveTo>
                    <a:pt x="0" y="0"/>
                  </a:moveTo>
                  <a:lnTo>
                    <a:pt x="192" y="0"/>
                  </a:lnTo>
                  <a:lnTo>
                    <a:pt x="384" y="248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355" name="Freeform 105"/>
            <p:cNvSpPr>
              <a:spLocks/>
            </p:cNvSpPr>
            <p:nvPr/>
          </p:nvSpPr>
          <p:spPr bwMode="auto">
            <a:xfrm>
              <a:off x="4228" y="4011"/>
              <a:ext cx="384" cy="240"/>
            </a:xfrm>
            <a:custGeom>
              <a:avLst/>
              <a:gdLst>
                <a:gd name="T0" fmla="*/ 0 w 384"/>
                <a:gd name="T1" fmla="*/ 240 h 240"/>
                <a:gd name="T2" fmla="*/ 192 w 384"/>
                <a:gd name="T3" fmla="*/ 240 h 240"/>
                <a:gd name="T4" fmla="*/ 384 w 384"/>
                <a:gd name="T5" fmla="*/ 0 h 240"/>
                <a:gd name="T6" fmla="*/ 0 60000 65536"/>
                <a:gd name="T7" fmla="*/ 0 60000 65536"/>
                <a:gd name="T8" fmla="*/ 0 60000 65536"/>
                <a:gd name="T9" fmla="*/ 0 w 384"/>
                <a:gd name="T10" fmla="*/ 0 h 240"/>
                <a:gd name="T11" fmla="*/ 384 w 384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240">
                  <a:moveTo>
                    <a:pt x="0" y="240"/>
                  </a:moveTo>
                  <a:lnTo>
                    <a:pt x="192" y="240"/>
                  </a:lnTo>
                  <a:lnTo>
                    <a:pt x="384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356" name="Text Box 106"/>
            <p:cNvSpPr txBox="1">
              <a:spLocks noChangeArrowheads="1"/>
            </p:cNvSpPr>
            <p:nvPr/>
          </p:nvSpPr>
          <p:spPr bwMode="auto">
            <a:xfrm>
              <a:off x="5188" y="4149"/>
              <a:ext cx="384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eel</a:t>
              </a:r>
            </a:p>
          </p:txBody>
        </p:sp>
        <p:sp>
          <p:nvSpPr>
            <p:cNvPr id="14357" name="Text Box 107"/>
            <p:cNvSpPr txBox="1">
              <a:spLocks noChangeArrowheads="1"/>
            </p:cNvSpPr>
            <p:nvPr/>
          </p:nvSpPr>
          <p:spPr bwMode="auto">
            <a:xfrm>
              <a:off x="4804" y="4149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elem</a:t>
              </a:r>
            </a:p>
          </p:txBody>
        </p:sp>
        <p:sp>
          <p:nvSpPr>
            <p:cNvPr id="14358" name="Rectangle 108"/>
            <p:cNvSpPr>
              <a:spLocks noChangeArrowheads="1"/>
            </p:cNvSpPr>
            <p:nvPr/>
          </p:nvSpPr>
          <p:spPr bwMode="auto">
            <a:xfrm>
              <a:off x="1588" y="4155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4359" name="Text Box 109"/>
            <p:cNvSpPr txBox="1">
              <a:spLocks noChangeArrowheads="1"/>
            </p:cNvSpPr>
            <p:nvPr/>
          </p:nvSpPr>
          <p:spPr bwMode="auto">
            <a:xfrm>
              <a:off x="1204" y="4155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pred</a:t>
              </a:r>
            </a:p>
          </p:txBody>
        </p:sp>
        <p:sp>
          <p:nvSpPr>
            <p:cNvPr id="14360" name="Freeform 110"/>
            <p:cNvSpPr>
              <a:spLocks/>
            </p:cNvSpPr>
            <p:nvPr/>
          </p:nvSpPr>
          <p:spPr bwMode="auto">
            <a:xfrm>
              <a:off x="1684" y="4011"/>
              <a:ext cx="1200" cy="240"/>
            </a:xfrm>
            <a:custGeom>
              <a:avLst/>
              <a:gdLst>
                <a:gd name="T0" fmla="*/ 0 w 1200"/>
                <a:gd name="T1" fmla="*/ 240 h 240"/>
                <a:gd name="T2" fmla="*/ 912 w 1200"/>
                <a:gd name="T3" fmla="*/ 240 h 240"/>
                <a:gd name="T4" fmla="*/ 1200 w 1200"/>
                <a:gd name="T5" fmla="*/ 0 h 240"/>
                <a:gd name="T6" fmla="*/ 0 60000 65536"/>
                <a:gd name="T7" fmla="*/ 0 60000 65536"/>
                <a:gd name="T8" fmla="*/ 0 60000 65536"/>
                <a:gd name="T9" fmla="*/ 0 w 1200"/>
                <a:gd name="T10" fmla="*/ 0 h 240"/>
                <a:gd name="T11" fmla="*/ 1200 w 120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00" h="240">
                  <a:moveTo>
                    <a:pt x="0" y="240"/>
                  </a:moveTo>
                  <a:lnTo>
                    <a:pt x="912" y="240"/>
                  </a:lnTo>
                  <a:lnTo>
                    <a:pt x="120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43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SLL insertion </a:t>
            </a:r>
            <a:r>
              <a:rPr lang="en-US" altLang="en-US" sz="3200" i="1" dirty="0"/>
              <a:t>(3)</a:t>
            </a:r>
            <a:endParaRPr lang="en-GB" altLang="en-US" sz="3200" i="1" dirty="0"/>
          </a:p>
        </p:txBody>
      </p:sp>
      <p:sp>
        <p:nvSpPr>
          <p:cNvPr id="14344" name="Rectangle 3"/>
          <p:cNvSpPr>
            <a:spLocks noGrp="1" noChangeArrowheads="1"/>
          </p:cNvSpPr>
          <p:nvPr>
            <p:ph idx="1"/>
          </p:nvPr>
        </p:nvSpPr>
        <p:spPr>
          <a:xfrm>
            <a:off x="318387" y="1371600"/>
            <a:ext cx="7620000" cy="4800600"/>
          </a:xfrm>
          <a:noFill/>
        </p:spPr>
        <p:txBody>
          <a:bodyPr/>
          <a:lstStyle/>
          <a:p>
            <a:pPr eaLnBrk="1" hangingPunct="1"/>
            <a:r>
              <a:rPr lang="en-US" altLang="en-US" dirty="0"/>
              <a:t>Animation (insertion after intermediate node):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418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SLL insertion </a:t>
            </a:r>
            <a:r>
              <a:rPr lang="en-US" altLang="en-US" sz="3200" i="1" dirty="0"/>
              <a:t>(</a:t>
            </a:r>
            <a:r>
              <a:rPr lang="en-US" altLang="en-US" sz="3200" i="1"/>
              <a:t>4) – as Java method (in SLL)</a:t>
            </a:r>
            <a:endParaRPr lang="en-GB" altLang="en-US" sz="3200" i="1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2057400"/>
            <a:ext cx="7620000" cy="4191000"/>
          </a:xfrm>
          <a:noFill/>
          <a:ln>
            <a:solidFill>
              <a:schemeClr val="accent1"/>
            </a:solidFill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void</a:t>
            </a:r>
            <a:r>
              <a:rPr lang="en-US" altLang="en-US" sz="2000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insert (E </a:t>
            </a:r>
            <a:r>
              <a:rPr lang="en-US" altLang="en-US" sz="2000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elem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, Node&lt;E&gt; </a:t>
            </a:r>
            <a:r>
              <a:rPr lang="en-US" altLang="en-US" sz="2000" dirty="0" err="1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pred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Insert </a:t>
            </a:r>
            <a:r>
              <a:rPr lang="en-US" altLang="en-US" sz="2000" dirty="0" err="1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elem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 at a given point in this SLL, either after the </a:t>
            </a:r>
            <a:b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node </a:t>
            </a:r>
            <a:r>
              <a:rPr lang="en-US" altLang="en-US" sz="2000" dirty="0" err="1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pred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, or before the first node if </a:t>
            </a:r>
            <a:r>
              <a:rPr lang="en-US" altLang="en-US" sz="2000" dirty="0" err="1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pred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 is null.</a:t>
            </a:r>
            <a:b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Node&lt;E&gt; </a:t>
            </a:r>
            <a:r>
              <a:rPr lang="en-US" altLang="en-US" sz="2000" dirty="0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ins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 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new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Node(</a:t>
            </a:r>
            <a:r>
              <a:rPr lang="en-US" altLang="en-US" sz="2000" dirty="0" err="1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elem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, 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null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</a:t>
            </a:r>
            <a:r>
              <a:rPr lang="en-US" altLang="en-US" sz="2000" dirty="0" err="1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pred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== 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null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 err="1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ins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.</a:t>
            </a:r>
            <a:r>
              <a:rPr lang="en-US" altLang="en-US" sz="2000" dirty="0" err="1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next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= </a:t>
            </a:r>
            <a:r>
              <a:rPr lang="en-US" altLang="en-US" sz="2000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first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first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= </a:t>
            </a:r>
            <a:r>
              <a:rPr lang="en-US" altLang="en-US" sz="2000" dirty="0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ins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     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else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 err="1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ins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.</a:t>
            </a:r>
            <a:r>
              <a:rPr lang="en-US" altLang="en-US" sz="2000" dirty="0" err="1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next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 </a:t>
            </a:r>
            <a:r>
              <a:rPr lang="en-US" altLang="en-US" sz="2000" dirty="0" err="1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pred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.</a:t>
            </a:r>
            <a:r>
              <a:rPr lang="en-US" altLang="en-US" sz="2000" dirty="0" err="1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next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 err="1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pred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.</a:t>
            </a:r>
            <a:r>
              <a:rPr lang="en-US" altLang="en-US" sz="2000" dirty="0" err="1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next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 </a:t>
            </a:r>
            <a:r>
              <a:rPr lang="en-US" altLang="en-US" sz="2000" dirty="0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ins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330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Deletion</a:t>
            </a:r>
            <a:endParaRPr lang="en-GB" altLang="en-US" sz="320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457200" indent="-457200" eaLnBrk="1" hangingPunct="1"/>
            <a:r>
              <a:rPr lang="en-US" altLang="en-US" b="1"/>
              <a:t>Problem</a:t>
            </a:r>
            <a:r>
              <a:rPr lang="en-US" altLang="en-US"/>
              <a:t>: Delete a given node from a linked-list.</a:t>
            </a:r>
          </a:p>
          <a:p>
            <a:pPr marL="457200" indent="-457200" eaLnBrk="1" hangingPunct="1"/>
            <a:r>
              <a:rPr lang="en-US" altLang="en-US"/>
              <a:t>Four cases to consider:</a:t>
            </a:r>
          </a:p>
          <a:p>
            <a:pPr marL="838200" lvl="1" indent="-381000" eaLnBrk="1" hangingPunct="1">
              <a:buFontTx/>
              <a:buAutoNum type="alphaUcPeriod"/>
            </a:pPr>
            <a:r>
              <a:rPr lang="en-US" altLang="en-US"/>
              <a:t>deletion of a singleton node;</a:t>
            </a:r>
          </a:p>
          <a:p>
            <a:pPr marL="838200" lvl="1" indent="-381000" eaLnBrk="1" hangingPunct="1">
              <a:buFontTx/>
              <a:buAutoNum type="alphaUcPeriod"/>
            </a:pPr>
            <a:r>
              <a:rPr lang="en-US" altLang="en-US"/>
              <a:t>deletion of the first (but not last) node;</a:t>
            </a:r>
          </a:p>
          <a:p>
            <a:pPr marL="838200" lvl="1" indent="-381000" eaLnBrk="1" hangingPunct="1">
              <a:buFontTx/>
              <a:buAutoNum type="alphaUcPeriod"/>
            </a:pPr>
            <a:r>
              <a:rPr lang="en-US" altLang="en-US"/>
              <a:t>deletion of the last (but not first) node;</a:t>
            </a:r>
          </a:p>
          <a:p>
            <a:pPr marL="838200" lvl="1" indent="-381000" eaLnBrk="1" hangingPunct="1">
              <a:buFontTx/>
              <a:buAutoNum type="alphaUcPeriod"/>
            </a:pPr>
            <a:r>
              <a:rPr lang="en-US" altLang="en-US"/>
              <a:t>deletion of an intermediate node.</a:t>
            </a:r>
          </a:p>
          <a:p>
            <a:pPr marL="457200" indent="-457200" eaLnBrk="1" hangingPunct="1"/>
            <a:r>
              <a:rPr lang="en-US" altLang="en-US"/>
              <a:t>The deletion algorithm needs links to the deleted node’s successor and predecessor.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287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SLL deletion </a:t>
            </a:r>
            <a:r>
              <a:rPr lang="en-US" altLang="en-US" sz="3200" i="1" dirty="0"/>
              <a:t>(1)</a:t>
            </a:r>
            <a:endParaRPr lang="en-GB" altLang="en-US" sz="3200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295400"/>
            <a:ext cx="7200900" cy="3421062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723900" algn="l"/>
                <a:tab pos="1257300" algn="l"/>
              </a:tabLst>
            </a:pPr>
            <a:r>
              <a:rPr lang="en-US" altLang="en-US" sz="2800" b="1" dirty="0"/>
              <a:t>SLL deletion algorithm</a:t>
            </a:r>
            <a:r>
              <a:rPr lang="en-US" altLang="en-US" sz="2800" dirty="0"/>
              <a:t>: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257300" algn="l"/>
              </a:tabLst>
            </a:pPr>
            <a:r>
              <a:rPr lang="en-US" altLang="en-US" dirty="0">
                <a:latin typeface="Times New Roman" pitchFamily="18" charset="0"/>
              </a:rPr>
              <a:t>	To delete node </a:t>
            </a:r>
            <a:r>
              <a:rPr lang="en-US" altLang="en-US" i="1" dirty="0">
                <a:latin typeface="Times New Roman" pitchFamily="18" charset="0"/>
              </a:rPr>
              <a:t>del</a:t>
            </a:r>
            <a:r>
              <a:rPr lang="en-US" altLang="en-US" dirty="0">
                <a:latin typeface="Times New Roman" pitchFamily="18" charset="0"/>
              </a:rPr>
              <a:t> from the SLL headed by </a:t>
            </a:r>
            <a:r>
              <a:rPr lang="en-US" altLang="en-US" i="1" dirty="0">
                <a:latin typeface="Times New Roman" pitchFamily="18" charset="0"/>
              </a:rPr>
              <a:t>first</a:t>
            </a:r>
            <a:r>
              <a:rPr lang="en-US" altLang="en-US" dirty="0">
                <a:latin typeface="Times New Roman" pitchFamily="18" charset="0"/>
              </a:rPr>
              <a:t>:</a:t>
            </a:r>
          </a:p>
          <a:p>
            <a:pPr eaLnBrk="1" hangingPunct="1">
              <a:lnSpc>
                <a:spcPct val="90000"/>
              </a:lnSpc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257300" algn="l"/>
              </a:tabLst>
            </a:pPr>
            <a:r>
              <a:rPr lang="en-US" altLang="en-US" dirty="0">
                <a:latin typeface="Times New Roman" pitchFamily="18" charset="0"/>
              </a:rPr>
              <a:t>	1.	Let </a:t>
            </a:r>
            <a:r>
              <a:rPr lang="en-US" altLang="en-US" i="1" dirty="0">
                <a:latin typeface="Times New Roman" pitchFamily="18" charset="0"/>
              </a:rPr>
              <a:t>next</a:t>
            </a:r>
            <a:r>
              <a:rPr lang="en-US" altLang="en-US" dirty="0">
                <a:latin typeface="Times New Roman" pitchFamily="18" charset="0"/>
              </a:rPr>
              <a:t> be </a:t>
            </a:r>
            <a:r>
              <a:rPr lang="en-US" altLang="en-US" i="1" dirty="0" err="1">
                <a:latin typeface="Times New Roman" pitchFamily="18" charset="0"/>
              </a:rPr>
              <a:t>del</a:t>
            </a:r>
            <a:r>
              <a:rPr lang="en-US" altLang="en-US" dirty="0" err="1">
                <a:latin typeface="Times New Roman" pitchFamily="18" charset="0"/>
              </a:rPr>
              <a:t>’s</a:t>
            </a:r>
            <a:r>
              <a:rPr lang="en-US" altLang="en-US" dirty="0">
                <a:latin typeface="Times New Roman" pitchFamily="18" charset="0"/>
              </a:rPr>
              <a:t> next node.</a:t>
            </a:r>
            <a:br>
              <a:rPr lang="en-US" altLang="en-US" dirty="0">
                <a:latin typeface="Times New Roman" pitchFamily="18" charset="0"/>
              </a:rPr>
            </a:br>
            <a:r>
              <a:rPr lang="en-US" altLang="en-US" dirty="0">
                <a:latin typeface="Times New Roman" pitchFamily="18" charset="0"/>
              </a:rPr>
              <a:t>2.	If </a:t>
            </a:r>
            <a:r>
              <a:rPr lang="en-US" altLang="en-US" i="1" dirty="0">
                <a:latin typeface="Times New Roman" pitchFamily="18" charset="0"/>
              </a:rPr>
              <a:t>del</a:t>
            </a:r>
            <a:r>
              <a:rPr lang="en-US" altLang="en-US" dirty="0">
                <a:latin typeface="Times New Roman" pitchFamily="18" charset="0"/>
              </a:rPr>
              <a:t> = </a:t>
            </a:r>
            <a:r>
              <a:rPr lang="en-US" altLang="en-US" i="1" dirty="0">
                <a:latin typeface="Times New Roman" pitchFamily="18" charset="0"/>
              </a:rPr>
              <a:t>first</a:t>
            </a:r>
            <a:r>
              <a:rPr lang="en-US" altLang="en-US" dirty="0">
                <a:latin typeface="Times New Roman" pitchFamily="18" charset="0"/>
              </a:rPr>
              <a:t>:</a:t>
            </a:r>
            <a:br>
              <a:rPr lang="en-US" altLang="en-US" dirty="0">
                <a:latin typeface="Times New Roman" pitchFamily="18" charset="0"/>
              </a:rPr>
            </a:br>
            <a:r>
              <a:rPr lang="en-US" altLang="en-US" dirty="0">
                <a:latin typeface="Times New Roman" pitchFamily="18" charset="0"/>
              </a:rPr>
              <a:t>	2.1.	Set </a:t>
            </a:r>
            <a:r>
              <a:rPr lang="en-US" altLang="en-US" i="1" dirty="0">
                <a:latin typeface="Times New Roman" pitchFamily="18" charset="0"/>
              </a:rPr>
              <a:t>first</a:t>
            </a:r>
            <a:r>
              <a:rPr lang="en-US" altLang="en-US" dirty="0">
                <a:latin typeface="Times New Roman" pitchFamily="18" charset="0"/>
              </a:rPr>
              <a:t> to </a:t>
            </a:r>
            <a:r>
              <a:rPr lang="en-US" altLang="en-US" i="1" dirty="0">
                <a:latin typeface="Times New Roman" pitchFamily="18" charset="0"/>
              </a:rPr>
              <a:t>next</a:t>
            </a:r>
            <a:r>
              <a:rPr lang="en-US" altLang="en-US" dirty="0">
                <a:latin typeface="Times New Roman" pitchFamily="18" charset="0"/>
              </a:rPr>
              <a:t>.</a:t>
            </a:r>
            <a:br>
              <a:rPr lang="en-US" altLang="en-US" dirty="0">
                <a:latin typeface="Times New Roman" pitchFamily="18" charset="0"/>
              </a:rPr>
            </a:br>
            <a:r>
              <a:rPr lang="en-US" altLang="en-US" dirty="0">
                <a:latin typeface="Times New Roman" pitchFamily="18" charset="0"/>
              </a:rPr>
              <a:t>3.	Else:</a:t>
            </a:r>
            <a:br>
              <a:rPr lang="en-US" altLang="en-US" dirty="0">
                <a:latin typeface="Times New Roman" pitchFamily="18" charset="0"/>
              </a:rPr>
            </a:br>
            <a:r>
              <a:rPr lang="en-US" altLang="en-US" dirty="0">
                <a:latin typeface="Times New Roman" pitchFamily="18" charset="0"/>
              </a:rPr>
              <a:t>	3.1.	Let </a:t>
            </a:r>
            <a:r>
              <a:rPr lang="en-US" altLang="en-US" i="1" dirty="0" err="1">
                <a:latin typeface="Times New Roman" pitchFamily="18" charset="0"/>
              </a:rPr>
              <a:t>pred</a:t>
            </a:r>
            <a:r>
              <a:rPr lang="en-US" altLang="en-US" dirty="0">
                <a:latin typeface="Times New Roman" pitchFamily="18" charset="0"/>
              </a:rPr>
              <a:t> be </a:t>
            </a:r>
            <a:r>
              <a:rPr lang="en-US" altLang="en-US" i="1" dirty="0" err="1">
                <a:latin typeface="Times New Roman" pitchFamily="18" charset="0"/>
              </a:rPr>
              <a:t>del</a:t>
            </a:r>
            <a:r>
              <a:rPr lang="en-US" altLang="en-US" dirty="0" err="1">
                <a:latin typeface="Times New Roman" pitchFamily="18" charset="0"/>
              </a:rPr>
              <a:t>’s</a:t>
            </a:r>
            <a:r>
              <a:rPr lang="en-US" altLang="en-US" dirty="0">
                <a:latin typeface="Times New Roman" pitchFamily="18" charset="0"/>
              </a:rPr>
              <a:t> predecessor.</a:t>
            </a:r>
            <a:br>
              <a:rPr lang="en-US" altLang="en-US" dirty="0">
                <a:latin typeface="Times New Roman" pitchFamily="18" charset="0"/>
              </a:rPr>
            </a:br>
            <a:r>
              <a:rPr lang="en-US" altLang="en-US" dirty="0">
                <a:latin typeface="Times New Roman" pitchFamily="18" charset="0"/>
              </a:rPr>
              <a:t>	3.2.	Set </a:t>
            </a:r>
            <a:r>
              <a:rPr lang="en-US" altLang="en-US" i="1" dirty="0" err="1">
                <a:latin typeface="Times New Roman" pitchFamily="18" charset="0"/>
              </a:rPr>
              <a:t>pred</a:t>
            </a:r>
            <a:r>
              <a:rPr lang="en-US" altLang="en-US" dirty="0" err="1">
                <a:latin typeface="Times New Roman" pitchFamily="18" charset="0"/>
              </a:rPr>
              <a:t>’s</a:t>
            </a:r>
            <a:r>
              <a:rPr lang="en-US" altLang="en-US" dirty="0">
                <a:latin typeface="Times New Roman" pitchFamily="18" charset="0"/>
              </a:rPr>
              <a:t> next to </a:t>
            </a:r>
            <a:r>
              <a:rPr lang="en-US" altLang="en-US" i="1" dirty="0">
                <a:latin typeface="Times New Roman" pitchFamily="18" charset="0"/>
              </a:rPr>
              <a:t>next</a:t>
            </a:r>
            <a:r>
              <a:rPr lang="en-US" altLang="en-US" dirty="0">
                <a:latin typeface="Times New Roman" pitchFamily="18" charset="0"/>
              </a:rPr>
              <a:t>.</a:t>
            </a:r>
            <a:br>
              <a:rPr lang="en-US" altLang="en-US" dirty="0">
                <a:latin typeface="Times New Roman" pitchFamily="18" charset="0"/>
              </a:rPr>
            </a:br>
            <a:r>
              <a:rPr lang="en-US" altLang="en-US" dirty="0">
                <a:latin typeface="Times New Roman" pitchFamily="18" charset="0"/>
              </a:rPr>
              <a:t>4.	Terminate.</a:t>
            </a:r>
          </a:p>
        </p:txBody>
      </p:sp>
      <p:sp>
        <p:nvSpPr>
          <p:cNvPr id="384004" name="AutoShape 4"/>
          <p:cNvSpPr>
            <a:spLocks/>
          </p:cNvSpPr>
          <p:nvPr/>
        </p:nvSpPr>
        <p:spPr bwMode="auto">
          <a:xfrm>
            <a:off x="7524750" y="3141663"/>
            <a:ext cx="1223963" cy="252412"/>
          </a:xfrm>
          <a:prstGeom prst="callout1">
            <a:avLst>
              <a:gd name="adj1" fmla="val 45282"/>
              <a:gd name="adj2" fmla="val -6227"/>
              <a:gd name="adj3" fmla="val 47801"/>
              <a:gd name="adj4" fmla="val -271079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cases A, B</a:t>
            </a:r>
          </a:p>
        </p:txBody>
      </p:sp>
      <p:sp>
        <p:nvSpPr>
          <p:cNvPr id="384005" name="AutoShape 5"/>
          <p:cNvSpPr>
            <a:spLocks/>
          </p:cNvSpPr>
          <p:nvPr/>
        </p:nvSpPr>
        <p:spPr bwMode="auto">
          <a:xfrm>
            <a:off x="7524750" y="3752850"/>
            <a:ext cx="1223963" cy="252413"/>
          </a:xfrm>
          <a:prstGeom prst="callout1">
            <a:avLst>
              <a:gd name="adj1" fmla="val 45282"/>
              <a:gd name="adj2" fmla="val -6227"/>
              <a:gd name="adj3" fmla="val 57231"/>
              <a:gd name="adj4" fmla="val -338264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cases C, D</a:t>
            </a:r>
          </a:p>
        </p:txBody>
      </p:sp>
      <p:sp>
        <p:nvSpPr>
          <p:cNvPr id="384006" name="Rectangle 6"/>
          <p:cNvSpPr>
            <a:spLocks noChangeArrowheads="1"/>
          </p:cNvSpPr>
          <p:nvPr/>
        </p:nvSpPr>
        <p:spPr bwMode="auto">
          <a:xfrm>
            <a:off x="762000" y="5029200"/>
            <a:ext cx="7200900" cy="116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tabLst>
                <a:tab pos="723900" algn="l"/>
                <a:tab pos="125730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tabLst>
                <a:tab pos="723900" algn="l"/>
                <a:tab pos="125730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tabLst>
                <a:tab pos="723900" algn="l"/>
                <a:tab pos="125730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tabLst>
                <a:tab pos="723900" algn="l"/>
                <a:tab pos="1257300" algn="l"/>
              </a:tabLst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tabLst>
                <a:tab pos="723900" algn="l"/>
                <a:tab pos="1257300" algn="l"/>
              </a:tabLst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23900" algn="l"/>
                <a:tab pos="1257300" algn="l"/>
              </a:tabLs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23900" algn="l"/>
                <a:tab pos="1257300" algn="l"/>
              </a:tabLs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23900" algn="l"/>
                <a:tab pos="1257300" algn="l"/>
              </a:tabLs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tabLst>
                <a:tab pos="723900" algn="l"/>
                <a:tab pos="1257300" algn="l"/>
              </a:tabLs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2000" dirty="0"/>
              <a:t>But there is no link from node </a:t>
            </a:r>
            <a:r>
              <a:rPr lang="en-US" altLang="en-US" sz="2000" i="1" dirty="0"/>
              <a:t>del</a:t>
            </a:r>
            <a:r>
              <a:rPr lang="en-US" altLang="en-US" sz="2000" dirty="0"/>
              <a:t> to its predecessor, so step 3.1 can access </a:t>
            </a:r>
            <a:r>
              <a:rPr lang="en-US" altLang="en-US" sz="2000" i="1" dirty="0" err="1"/>
              <a:t>del</a:t>
            </a:r>
            <a:r>
              <a:rPr lang="en-US" altLang="en-US" sz="2000" dirty="0" err="1"/>
              <a:t>’s</a:t>
            </a:r>
            <a:r>
              <a:rPr lang="en-US" altLang="en-US" sz="2000" dirty="0"/>
              <a:t> predecessor only by following links from </a:t>
            </a:r>
            <a:r>
              <a:rPr lang="en-US" altLang="en-US" sz="2000" i="1" dirty="0"/>
              <a:t>first</a:t>
            </a:r>
            <a:r>
              <a:rPr lang="en-US" altLang="en-US" sz="2000" dirty="0"/>
              <a:t>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141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04" grpId="0" animBg="1"/>
      <p:bldP spid="384005" grpId="0" animBg="1"/>
      <p:bldP spid="38400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1"/>
          <p:cNvGrpSpPr>
            <a:grpSpLocks/>
          </p:cNvGrpSpPr>
          <p:nvPr/>
        </p:nvGrpSpPr>
        <p:grpSpPr bwMode="auto">
          <a:xfrm>
            <a:off x="457200" y="2131993"/>
            <a:ext cx="6400800" cy="3810000"/>
            <a:chOff x="1247" y="1389"/>
            <a:chExt cx="4032" cy="2400"/>
          </a:xfrm>
        </p:grpSpPr>
        <p:sp>
          <p:nvSpPr>
            <p:cNvPr id="18486" name="Rectangle 5"/>
            <p:cNvSpPr>
              <a:spLocks noChangeArrowheads="1"/>
            </p:cNvSpPr>
            <p:nvPr/>
          </p:nvSpPr>
          <p:spPr bwMode="auto">
            <a:xfrm>
              <a:off x="1247" y="1389"/>
              <a:ext cx="4032" cy="2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87" name="Rectangle 6"/>
            <p:cNvSpPr>
              <a:spLocks noChangeArrowheads="1"/>
            </p:cNvSpPr>
            <p:nvPr/>
          </p:nvSpPr>
          <p:spPr bwMode="auto">
            <a:xfrm>
              <a:off x="1295" y="1437"/>
              <a:ext cx="3936" cy="15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81000" algn="l"/>
                  <a:tab pos="9525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81000" algn="l"/>
                  <a:tab pos="9525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To delete node </a:t>
              </a:r>
              <a:r>
                <a:rPr lang="en-US" altLang="en-US" sz="2000" i="1">
                  <a:latin typeface="Times New Roman" pitchFamily="18" charset="0"/>
                </a:rPr>
                <a:t>del</a:t>
              </a:r>
              <a:r>
                <a:rPr lang="en-US" altLang="en-US" sz="2000">
                  <a:latin typeface="Times New Roman" pitchFamily="18" charset="0"/>
                </a:rPr>
                <a:t> from the SLL headed by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1.	Let </a:t>
              </a:r>
              <a:r>
                <a:rPr lang="en-US" altLang="en-US" sz="2000" i="1">
                  <a:latin typeface="Times New Roman" pitchFamily="18" charset="0"/>
                </a:rPr>
                <a:t>succ</a:t>
              </a:r>
              <a:r>
                <a:rPr lang="en-US" altLang="en-US" sz="2000">
                  <a:latin typeface="Times New Roman" pitchFamily="18" charset="0"/>
                </a:rPr>
                <a:t> be </a:t>
              </a:r>
              <a:r>
                <a:rPr lang="en-US" altLang="en-US" sz="2000" i="1">
                  <a:latin typeface="Times New Roman" pitchFamily="18" charset="0"/>
                </a:rPr>
                <a:t>del</a:t>
              </a:r>
              <a:r>
                <a:rPr lang="en-US" altLang="en-US" sz="2000">
                  <a:latin typeface="Times New Roman" pitchFamily="18" charset="0"/>
                </a:rPr>
                <a:t>’s successor.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2.	If </a:t>
              </a:r>
              <a:r>
                <a:rPr lang="en-US" altLang="en-US" sz="2000" i="1">
                  <a:latin typeface="Times New Roman" pitchFamily="18" charset="0"/>
                </a:rPr>
                <a:t>del</a:t>
              </a:r>
              <a:r>
                <a:rPr lang="en-US" altLang="en-US" sz="2000">
                  <a:latin typeface="Times New Roman" pitchFamily="18" charset="0"/>
                </a:rPr>
                <a:t> =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2.1.	Set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</a:rPr>
                <a:t>succ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3.	Else: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3.1.	Let </a:t>
              </a:r>
              <a:r>
                <a:rPr lang="en-US" altLang="en-US" sz="2000" i="1">
                  <a:latin typeface="Times New Roman" pitchFamily="18" charset="0"/>
                </a:rPr>
                <a:t>pred</a:t>
              </a:r>
              <a:r>
                <a:rPr lang="en-US" altLang="en-US" sz="2000">
                  <a:latin typeface="Times New Roman" pitchFamily="18" charset="0"/>
                </a:rPr>
                <a:t> be </a:t>
              </a:r>
              <a:r>
                <a:rPr lang="en-US" altLang="en-US" sz="2000" i="1">
                  <a:latin typeface="Times New Roman" pitchFamily="18" charset="0"/>
                </a:rPr>
                <a:t>del</a:t>
              </a:r>
              <a:r>
                <a:rPr lang="en-US" altLang="en-US" sz="2000">
                  <a:latin typeface="Times New Roman" pitchFamily="18" charset="0"/>
                </a:rPr>
                <a:t>’s predecessor.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3.2.	Set </a:t>
              </a:r>
              <a:r>
                <a:rPr lang="en-US" altLang="en-US" sz="2000" i="1">
                  <a:latin typeface="Times New Roman" pitchFamily="18" charset="0"/>
                </a:rPr>
                <a:t>pred</a:t>
              </a:r>
              <a:r>
                <a:rPr lang="en-US" altLang="en-US" sz="2000">
                  <a:latin typeface="Times New Roman" pitchFamily="18" charset="0"/>
                </a:rPr>
                <a:t>’s successor to </a:t>
              </a:r>
              <a:r>
                <a:rPr lang="en-US" altLang="en-US" sz="2000" i="1">
                  <a:latin typeface="Times New Roman" pitchFamily="18" charset="0"/>
                </a:rPr>
                <a:t>succ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4.	Terminate.</a:t>
              </a:r>
              <a:endParaRPr lang="en-GB" altLang="en-US" sz="2000">
                <a:latin typeface="Times New Roman" pitchFamily="18" charset="0"/>
              </a:endParaRPr>
            </a:p>
          </p:txBody>
        </p:sp>
        <p:sp>
          <p:nvSpPr>
            <p:cNvPr id="18488" name="Rectangle 7"/>
            <p:cNvSpPr>
              <a:spLocks noChangeArrowheads="1"/>
            </p:cNvSpPr>
            <p:nvPr/>
          </p:nvSpPr>
          <p:spPr bwMode="auto">
            <a:xfrm>
              <a:off x="1823" y="3213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89" name="Line 8"/>
            <p:cNvSpPr>
              <a:spLocks noChangeShapeType="1"/>
            </p:cNvSpPr>
            <p:nvPr/>
          </p:nvSpPr>
          <p:spPr bwMode="auto">
            <a:xfrm>
              <a:off x="1919" y="3309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90" name="Text Box 9"/>
            <p:cNvSpPr txBox="1">
              <a:spLocks noChangeArrowheads="1"/>
            </p:cNvSpPr>
            <p:nvPr/>
          </p:nvSpPr>
          <p:spPr bwMode="auto">
            <a:xfrm>
              <a:off x="2447" y="321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ant</a:t>
              </a:r>
            </a:p>
          </p:txBody>
        </p:sp>
        <p:sp>
          <p:nvSpPr>
            <p:cNvPr id="18491" name="Text Box 10"/>
            <p:cNvSpPr txBox="1">
              <a:spLocks noChangeArrowheads="1"/>
            </p:cNvSpPr>
            <p:nvPr/>
          </p:nvSpPr>
          <p:spPr bwMode="auto">
            <a:xfrm>
              <a:off x="3455" y="321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bat</a:t>
              </a:r>
            </a:p>
          </p:txBody>
        </p:sp>
        <p:sp>
          <p:nvSpPr>
            <p:cNvPr id="18492" name="Text Box 11"/>
            <p:cNvSpPr txBox="1">
              <a:spLocks noChangeArrowheads="1"/>
            </p:cNvSpPr>
            <p:nvPr/>
          </p:nvSpPr>
          <p:spPr bwMode="auto">
            <a:xfrm>
              <a:off x="4463" y="321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18493" name="Line 12"/>
            <p:cNvSpPr>
              <a:spLocks noChangeShapeType="1"/>
            </p:cNvSpPr>
            <p:nvPr/>
          </p:nvSpPr>
          <p:spPr bwMode="auto">
            <a:xfrm>
              <a:off x="2927" y="3309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94" name="Line 13"/>
            <p:cNvSpPr>
              <a:spLocks noChangeShapeType="1"/>
            </p:cNvSpPr>
            <p:nvPr/>
          </p:nvSpPr>
          <p:spPr bwMode="auto">
            <a:xfrm>
              <a:off x="3935" y="3309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95" name="Line 14"/>
            <p:cNvSpPr>
              <a:spLocks noChangeShapeType="1"/>
            </p:cNvSpPr>
            <p:nvPr/>
          </p:nvSpPr>
          <p:spPr bwMode="auto">
            <a:xfrm>
              <a:off x="4943" y="3309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96" name="Text Box 15"/>
            <p:cNvSpPr txBox="1">
              <a:spLocks noChangeArrowheads="1"/>
            </p:cNvSpPr>
            <p:nvPr/>
          </p:nvSpPr>
          <p:spPr bwMode="auto">
            <a:xfrm>
              <a:off x="1391" y="3213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first</a:t>
              </a:r>
            </a:p>
          </p:txBody>
        </p:sp>
        <p:sp>
          <p:nvSpPr>
            <p:cNvPr id="18497" name="Rectangle 16"/>
            <p:cNvSpPr>
              <a:spLocks noChangeArrowheads="1"/>
            </p:cNvSpPr>
            <p:nvPr/>
          </p:nvSpPr>
          <p:spPr bwMode="auto">
            <a:xfrm>
              <a:off x="1823" y="3501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98" name="Text Box 17"/>
            <p:cNvSpPr txBox="1">
              <a:spLocks noChangeArrowheads="1"/>
            </p:cNvSpPr>
            <p:nvPr/>
          </p:nvSpPr>
          <p:spPr bwMode="auto">
            <a:xfrm>
              <a:off x="1391" y="3501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del</a:t>
              </a:r>
            </a:p>
          </p:txBody>
        </p:sp>
        <p:sp>
          <p:nvSpPr>
            <p:cNvPr id="18499" name="Freeform 18"/>
            <p:cNvSpPr>
              <a:spLocks/>
            </p:cNvSpPr>
            <p:nvPr/>
          </p:nvSpPr>
          <p:spPr bwMode="auto">
            <a:xfrm>
              <a:off x="1919" y="3357"/>
              <a:ext cx="528" cy="240"/>
            </a:xfrm>
            <a:custGeom>
              <a:avLst/>
              <a:gdLst>
                <a:gd name="T0" fmla="*/ 0 w 528"/>
                <a:gd name="T1" fmla="*/ 240 h 240"/>
                <a:gd name="T2" fmla="*/ 240 w 528"/>
                <a:gd name="T3" fmla="*/ 240 h 240"/>
                <a:gd name="T4" fmla="*/ 528 w 528"/>
                <a:gd name="T5" fmla="*/ 0 h 240"/>
                <a:gd name="T6" fmla="*/ 0 60000 65536"/>
                <a:gd name="T7" fmla="*/ 0 60000 65536"/>
                <a:gd name="T8" fmla="*/ 0 60000 65536"/>
                <a:gd name="T9" fmla="*/ 0 w 528"/>
                <a:gd name="T10" fmla="*/ 0 h 240"/>
                <a:gd name="T11" fmla="*/ 528 w 528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240">
                  <a:moveTo>
                    <a:pt x="0" y="240"/>
                  </a:moveTo>
                  <a:lnTo>
                    <a:pt x="240" y="240"/>
                  </a:lnTo>
                  <a:lnTo>
                    <a:pt x="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" name="Group 70"/>
          <p:cNvGrpSpPr>
            <a:grpSpLocks/>
          </p:cNvGrpSpPr>
          <p:nvPr/>
        </p:nvGrpSpPr>
        <p:grpSpPr bwMode="auto">
          <a:xfrm>
            <a:off x="457200" y="2131993"/>
            <a:ext cx="6400800" cy="3810000"/>
            <a:chOff x="1247" y="1482"/>
            <a:chExt cx="4032" cy="2400"/>
          </a:xfrm>
        </p:grpSpPr>
        <p:sp>
          <p:nvSpPr>
            <p:cNvPr id="18469" name="Rectangle 20"/>
            <p:cNvSpPr>
              <a:spLocks noChangeArrowheads="1"/>
            </p:cNvSpPr>
            <p:nvPr/>
          </p:nvSpPr>
          <p:spPr bwMode="auto">
            <a:xfrm>
              <a:off x="1247" y="1482"/>
              <a:ext cx="4032" cy="2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70" name="Rectangle 21"/>
            <p:cNvSpPr>
              <a:spLocks noChangeArrowheads="1"/>
            </p:cNvSpPr>
            <p:nvPr/>
          </p:nvSpPr>
          <p:spPr bwMode="auto">
            <a:xfrm>
              <a:off x="1295" y="1530"/>
              <a:ext cx="3936" cy="15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81000" algn="l"/>
                  <a:tab pos="9525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81000" algn="l"/>
                  <a:tab pos="9525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To delete node </a:t>
              </a:r>
              <a:r>
                <a:rPr lang="en-US" altLang="en-US" sz="2000" i="1">
                  <a:latin typeface="Times New Roman" pitchFamily="18" charset="0"/>
                </a:rPr>
                <a:t>del</a:t>
              </a:r>
              <a:r>
                <a:rPr lang="en-US" altLang="en-US" sz="2000">
                  <a:latin typeface="Times New Roman" pitchFamily="18" charset="0"/>
                </a:rPr>
                <a:t> from the SLL headed by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1.	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Let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succ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 be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del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’s successor.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2.	If </a:t>
              </a:r>
              <a:r>
                <a:rPr lang="en-US" altLang="en-US" sz="2000" i="1">
                  <a:latin typeface="Times New Roman" pitchFamily="18" charset="0"/>
                </a:rPr>
                <a:t>del</a:t>
              </a:r>
              <a:r>
                <a:rPr lang="en-US" altLang="en-US" sz="2000">
                  <a:latin typeface="Times New Roman" pitchFamily="18" charset="0"/>
                </a:rPr>
                <a:t> =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2.1.	Set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</a:rPr>
                <a:t>succ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3.	Else: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3.1.	Let </a:t>
              </a:r>
              <a:r>
                <a:rPr lang="en-US" altLang="en-US" sz="2000" i="1">
                  <a:latin typeface="Times New Roman" pitchFamily="18" charset="0"/>
                </a:rPr>
                <a:t>pred</a:t>
              </a:r>
              <a:r>
                <a:rPr lang="en-US" altLang="en-US" sz="2000">
                  <a:latin typeface="Times New Roman" pitchFamily="18" charset="0"/>
                </a:rPr>
                <a:t> be </a:t>
              </a:r>
              <a:r>
                <a:rPr lang="en-US" altLang="en-US" sz="2000" i="1">
                  <a:latin typeface="Times New Roman" pitchFamily="18" charset="0"/>
                </a:rPr>
                <a:t>del</a:t>
              </a:r>
              <a:r>
                <a:rPr lang="en-US" altLang="en-US" sz="2000">
                  <a:latin typeface="Times New Roman" pitchFamily="18" charset="0"/>
                </a:rPr>
                <a:t>’s predecessor.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3.2.	Set </a:t>
              </a:r>
              <a:r>
                <a:rPr lang="en-US" altLang="en-US" sz="2000" i="1">
                  <a:latin typeface="Times New Roman" pitchFamily="18" charset="0"/>
                </a:rPr>
                <a:t>pred</a:t>
              </a:r>
              <a:r>
                <a:rPr lang="en-US" altLang="en-US" sz="2000">
                  <a:latin typeface="Times New Roman" pitchFamily="18" charset="0"/>
                </a:rPr>
                <a:t>’s successor to </a:t>
              </a:r>
              <a:r>
                <a:rPr lang="en-US" altLang="en-US" sz="2000" i="1">
                  <a:latin typeface="Times New Roman" pitchFamily="18" charset="0"/>
                </a:rPr>
                <a:t>succ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4.	Terminate.</a:t>
              </a:r>
              <a:endParaRPr lang="en-GB" altLang="en-US" sz="2000">
                <a:latin typeface="Times New Roman" pitchFamily="18" charset="0"/>
              </a:endParaRPr>
            </a:p>
          </p:txBody>
        </p:sp>
        <p:sp>
          <p:nvSpPr>
            <p:cNvPr id="18471" name="Rectangle 22"/>
            <p:cNvSpPr>
              <a:spLocks noChangeArrowheads="1"/>
            </p:cNvSpPr>
            <p:nvPr/>
          </p:nvSpPr>
          <p:spPr bwMode="auto">
            <a:xfrm>
              <a:off x="1823" y="3306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72" name="Line 23"/>
            <p:cNvSpPr>
              <a:spLocks noChangeShapeType="1"/>
            </p:cNvSpPr>
            <p:nvPr/>
          </p:nvSpPr>
          <p:spPr bwMode="auto">
            <a:xfrm>
              <a:off x="1919" y="3402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73" name="Text Box 24"/>
            <p:cNvSpPr txBox="1">
              <a:spLocks noChangeArrowheads="1"/>
            </p:cNvSpPr>
            <p:nvPr/>
          </p:nvSpPr>
          <p:spPr bwMode="auto">
            <a:xfrm>
              <a:off x="2447" y="330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ant</a:t>
              </a:r>
            </a:p>
          </p:txBody>
        </p:sp>
        <p:sp>
          <p:nvSpPr>
            <p:cNvPr id="18474" name="Text Box 25"/>
            <p:cNvSpPr txBox="1">
              <a:spLocks noChangeArrowheads="1"/>
            </p:cNvSpPr>
            <p:nvPr/>
          </p:nvSpPr>
          <p:spPr bwMode="auto">
            <a:xfrm>
              <a:off x="3455" y="330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bat</a:t>
              </a:r>
            </a:p>
          </p:txBody>
        </p:sp>
        <p:sp>
          <p:nvSpPr>
            <p:cNvPr id="18475" name="Text Box 26"/>
            <p:cNvSpPr txBox="1">
              <a:spLocks noChangeArrowheads="1"/>
            </p:cNvSpPr>
            <p:nvPr/>
          </p:nvSpPr>
          <p:spPr bwMode="auto">
            <a:xfrm>
              <a:off x="4463" y="330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18476" name="Line 27"/>
            <p:cNvSpPr>
              <a:spLocks noChangeShapeType="1"/>
            </p:cNvSpPr>
            <p:nvPr/>
          </p:nvSpPr>
          <p:spPr bwMode="auto">
            <a:xfrm>
              <a:off x="2927" y="3402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77" name="Line 28"/>
            <p:cNvSpPr>
              <a:spLocks noChangeShapeType="1"/>
            </p:cNvSpPr>
            <p:nvPr/>
          </p:nvSpPr>
          <p:spPr bwMode="auto">
            <a:xfrm>
              <a:off x="3935" y="3402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78" name="Line 29"/>
            <p:cNvSpPr>
              <a:spLocks noChangeShapeType="1"/>
            </p:cNvSpPr>
            <p:nvPr/>
          </p:nvSpPr>
          <p:spPr bwMode="auto">
            <a:xfrm>
              <a:off x="4943" y="340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79" name="Text Box 30"/>
            <p:cNvSpPr txBox="1">
              <a:spLocks noChangeArrowheads="1"/>
            </p:cNvSpPr>
            <p:nvPr/>
          </p:nvSpPr>
          <p:spPr bwMode="auto">
            <a:xfrm>
              <a:off x="1391" y="3306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first</a:t>
              </a:r>
            </a:p>
          </p:txBody>
        </p:sp>
        <p:sp>
          <p:nvSpPr>
            <p:cNvPr id="18480" name="Rectangle 31"/>
            <p:cNvSpPr>
              <a:spLocks noChangeArrowheads="1"/>
            </p:cNvSpPr>
            <p:nvPr/>
          </p:nvSpPr>
          <p:spPr bwMode="auto">
            <a:xfrm>
              <a:off x="1823" y="3594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81" name="Text Box 32"/>
            <p:cNvSpPr txBox="1">
              <a:spLocks noChangeArrowheads="1"/>
            </p:cNvSpPr>
            <p:nvPr/>
          </p:nvSpPr>
          <p:spPr bwMode="auto">
            <a:xfrm>
              <a:off x="1391" y="3594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del</a:t>
              </a:r>
            </a:p>
          </p:txBody>
        </p:sp>
        <p:sp>
          <p:nvSpPr>
            <p:cNvPr id="18482" name="Freeform 33"/>
            <p:cNvSpPr>
              <a:spLocks/>
            </p:cNvSpPr>
            <p:nvPr/>
          </p:nvSpPr>
          <p:spPr bwMode="auto">
            <a:xfrm>
              <a:off x="1919" y="3450"/>
              <a:ext cx="528" cy="240"/>
            </a:xfrm>
            <a:custGeom>
              <a:avLst/>
              <a:gdLst>
                <a:gd name="T0" fmla="*/ 0 w 528"/>
                <a:gd name="T1" fmla="*/ 240 h 240"/>
                <a:gd name="T2" fmla="*/ 240 w 528"/>
                <a:gd name="T3" fmla="*/ 240 h 240"/>
                <a:gd name="T4" fmla="*/ 528 w 528"/>
                <a:gd name="T5" fmla="*/ 0 h 240"/>
                <a:gd name="T6" fmla="*/ 0 60000 65536"/>
                <a:gd name="T7" fmla="*/ 0 60000 65536"/>
                <a:gd name="T8" fmla="*/ 0 60000 65536"/>
                <a:gd name="T9" fmla="*/ 0 w 528"/>
                <a:gd name="T10" fmla="*/ 0 h 240"/>
                <a:gd name="T11" fmla="*/ 528 w 528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240">
                  <a:moveTo>
                    <a:pt x="0" y="240"/>
                  </a:moveTo>
                  <a:lnTo>
                    <a:pt x="240" y="240"/>
                  </a:lnTo>
                  <a:lnTo>
                    <a:pt x="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83" name="Rectangle 34"/>
            <p:cNvSpPr>
              <a:spLocks noChangeArrowheads="1"/>
            </p:cNvSpPr>
            <p:nvPr/>
          </p:nvSpPr>
          <p:spPr bwMode="auto">
            <a:xfrm>
              <a:off x="2831" y="3594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84" name="Text Box 35"/>
            <p:cNvSpPr txBox="1">
              <a:spLocks noChangeArrowheads="1"/>
            </p:cNvSpPr>
            <p:nvPr/>
          </p:nvSpPr>
          <p:spPr bwMode="auto">
            <a:xfrm>
              <a:off x="2399" y="3594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succ</a:t>
              </a:r>
            </a:p>
          </p:txBody>
        </p:sp>
        <p:sp>
          <p:nvSpPr>
            <p:cNvPr id="18485" name="Freeform 36"/>
            <p:cNvSpPr>
              <a:spLocks/>
            </p:cNvSpPr>
            <p:nvPr/>
          </p:nvSpPr>
          <p:spPr bwMode="auto">
            <a:xfrm>
              <a:off x="2927" y="3450"/>
              <a:ext cx="528" cy="240"/>
            </a:xfrm>
            <a:custGeom>
              <a:avLst/>
              <a:gdLst>
                <a:gd name="T0" fmla="*/ 0 w 528"/>
                <a:gd name="T1" fmla="*/ 240 h 240"/>
                <a:gd name="T2" fmla="*/ 240 w 528"/>
                <a:gd name="T3" fmla="*/ 240 h 240"/>
                <a:gd name="T4" fmla="*/ 528 w 528"/>
                <a:gd name="T5" fmla="*/ 0 h 240"/>
                <a:gd name="T6" fmla="*/ 0 60000 65536"/>
                <a:gd name="T7" fmla="*/ 0 60000 65536"/>
                <a:gd name="T8" fmla="*/ 0 60000 65536"/>
                <a:gd name="T9" fmla="*/ 0 w 528"/>
                <a:gd name="T10" fmla="*/ 0 h 240"/>
                <a:gd name="T11" fmla="*/ 528 w 528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240">
                  <a:moveTo>
                    <a:pt x="0" y="240"/>
                  </a:moveTo>
                  <a:lnTo>
                    <a:pt x="240" y="240"/>
                  </a:lnTo>
                  <a:lnTo>
                    <a:pt x="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69"/>
          <p:cNvGrpSpPr>
            <a:grpSpLocks/>
          </p:cNvGrpSpPr>
          <p:nvPr/>
        </p:nvGrpSpPr>
        <p:grpSpPr bwMode="auto">
          <a:xfrm>
            <a:off x="457200" y="2131993"/>
            <a:ext cx="6400800" cy="3810000"/>
            <a:chOff x="1247" y="1576"/>
            <a:chExt cx="4032" cy="2400"/>
          </a:xfrm>
        </p:grpSpPr>
        <p:sp>
          <p:nvSpPr>
            <p:cNvPr id="18452" name="Rectangle 38"/>
            <p:cNvSpPr>
              <a:spLocks noChangeArrowheads="1"/>
            </p:cNvSpPr>
            <p:nvPr/>
          </p:nvSpPr>
          <p:spPr bwMode="auto">
            <a:xfrm>
              <a:off x="1247" y="1576"/>
              <a:ext cx="4032" cy="2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53" name="Rectangle 39"/>
            <p:cNvSpPr>
              <a:spLocks noChangeArrowheads="1"/>
            </p:cNvSpPr>
            <p:nvPr/>
          </p:nvSpPr>
          <p:spPr bwMode="auto">
            <a:xfrm>
              <a:off x="1295" y="1624"/>
              <a:ext cx="3936" cy="15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81000" algn="l"/>
                  <a:tab pos="9525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81000" algn="l"/>
                  <a:tab pos="9525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To delete node </a:t>
              </a:r>
              <a:r>
                <a:rPr lang="en-US" altLang="en-US" sz="2000" i="1">
                  <a:latin typeface="Times New Roman" pitchFamily="18" charset="0"/>
                </a:rPr>
                <a:t>del</a:t>
              </a:r>
              <a:r>
                <a:rPr lang="en-US" altLang="en-US" sz="2000">
                  <a:latin typeface="Times New Roman" pitchFamily="18" charset="0"/>
                </a:rPr>
                <a:t> from the SLL headed by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1.	Let </a:t>
              </a:r>
              <a:r>
                <a:rPr lang="en-US" altLang="en-US" sz="2000" i="1">
                  <a:latin typeface="Times New Roman" pitchFamily="18" charset="0"/>
                </a:rPr>
                <a:t>succ</a:t>
              </a:r>
              <a:r>
                <a:rPr lang="en-US" altLang="en-US" sz="2000">
                  <a:latin typeface="Times New Roman" pitchFamily="18" charset="0"/>
                </a:rPr>
                <a:t> be </a:t>
              </a:r>
              <a:r>
                <a:rPr lang="en-US" altLang="en-US" sz="2000" i="1">
                  <a:latin typeface="Times New Roman" pitchFamily="18" charset="0"/>
                </a:rPr>
                <a:t>del</a:t>
              </a:r>
              <a:r>
                <a:rPr lang="en-US" altLang="en-US" sz="2000">
                  <a:latin typeface="Times New Roman" pitchFamily="18" charset="0"/>
                </a:rPr>
                <a:t>’s successor.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2.	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If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del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 =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first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2.1.	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Set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first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 to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succ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3.	Else: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3.1.	Let </a:t>
              </a:r>
              <a:r>
                <a:rPr lang="en-US" altLang="en-US" sz="2000" i="1">
                  <a:latin typeface="Times New Roman" pitchFamily="18" charset="0"/>
                </a:rPr>
                <a:t>pred</a:t>
              </a:r>
              <a:r>
                <a:rPr lang="en-US" altLang="en-US" sz="2000">
                  <a:latin typeface="Times New Roman" pitchFamily="18" charset="0"/>
                </a:rPr>
                <a:t> be </a:t>
              </a:r>
              <a:r>
                <a:rPr lang="en-US" altLang="en-US" sz="2000" i="1">
                  <a:latin typeface="Times New Roman" pitchFamily="18" charset="0"/>
                </a:rPr>
                <a:t>del</a:t>
              </a:r>
              <a:r>
                <a:rPr lang="en-US" altLang="en-US" sz="2000">
                  <a:latin typeface="Times New Roman" pitchFamily="18" charset="0"/>
                </a:rPr>
                <a:t>’s predecessor.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3.2.	Set </a:t>
              </a:r>
              <a:r>
                <a:rPr lang="en-US" altLang="en-US" sz="2000" i="1">
                  <a:latin typeface="Times New Roman" pitchFamily="18" charset="0"/>
                </a:rPr>
                <a:t>pred</a:t>
              </a:r>
              <a:r>
                <a:rPr lang="en-US" altLang="en-US" sz="2000">
                  <a:latin typeface="Times New Roman" pitchFamily="18" charset="0"/>
                </a:rPr>
                <a:t>’s successor to </a:t>
              </a:r>
              <a:r>
                <a:rPr lang="en-US" altLang="en-US" sz="2000" i="1">
                  <a:latin typeface="Times New Roman" pitchFamily="18" charset="0"/>
                </a:rPr>
                <a:t>succ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4.	Terminate.</a:t>
              </a:r>
              <a:endParaRPr lang="en-GB" altLang="en-US" sz="2000">
                <a:latin typeface="Times New Roman" pitchFamily="18" charset="0"/>
              </a:endParaRPr>
            </a:p>
          </p:txBody>
        </p:sp>
        <p:sp>
          <p:nvSpPr>
            <p:cNvPr id="18454" name="Rectangle 40"/>
            <p:cNvSpPr>
              <a:spLocks noChangeArrowheads="1"/>
            </p:cNvSpPr>
            <p:nvPr/>
          </p:nvSpPr>
          <p:spPr bwMode="auto">
            <a:xfrm>
              <a:off x="1823" y="3400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55" name="Text Box 41"/>
            <p:cNvSpPr txBox="1">
              <a:spLocks noChangeArrowheads="1"/>
            </p:cNvSpPr>
            <p:nvPr/>
          </p:nvSpPr>
          <p:spPr bwMode="auto">
            <a:xfrm>
              <a:off x="2447" y="3400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ant</a:t>
              </a:r>
            </a:p>
          </p:txBody>
        </p:sp>
        <p:sp>
          <p:nvSpPr>
            <p:cNvPr id="18456" name="Text Box 42"/>
            <p:cNvSpPr txBox="1">
              <a:spLocks noChangeArrowheads="1"/>
            </p:cNvSpPr>
            <p:nvPr/>
          </p:nvSpPr>
          <p:spPr bwMode="auto">
            <a:xfrm>
              <a:off x="3455" y="3400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bat</a:t>
              </a:r>
            </a:p>
          </p:txBody>
        </p:sp>
        <p:sp>
          <p:nvSpPr>
            <p:cNvPr id="18457" name="Text Box 43"/>
            <p:cNvSpPr txBox="1">
              <a:spLocks noChangeArrowheads="1"/>
            </p:cNvSpPr>
            <p:nvPr/>
          </p:nvSpPr>
          <p:spPr bwMode="auto">
            <a:xfrm>
              <a:off x="4463" y="3400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18458" name="Line 44"/>
            <p:cNvSpPr>
              <a:spLocks noChangeShapeType="1"/>
            </p:cNvSpPr>
            <p:nvPr/>
          </p:nvSpPr>
          <p:spPr bwMode="auto">
            <a:xfrm>
              <a:off x="2927" y="3496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59" name="Line 45"/>
            <p:cNvSpPr>
              <a:spLocks noChangeShapeType="1"/>
            </p:cNvSpPr>
            <p:nvPr/>
          </p:nvSpPr>
          <p:spPr bwMode="auto">
            <a:xfrm>
              <a:off x="3935" y="3496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60" name="Line 46"/>
            <p:cNvSpPr>
              <a:spLocks noChangeShapeType="1"/>
            </p:cNvSpPr>
            <p:nvPr/>
          </p:nvSpPr>
          <p:spPr bwMode="auto">
            <a:xfrm>
              <a:off x="4943" y="349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61" name="Text Box 47"/>
            <p:cNvSpPr txBox="1">
              <a:spLocks noChangeArrowheads="1"/>
            </p:cNvSpPr>
            <p:nvPr/>
          </p:nvSpPr>
          <p:spPr bwMode="auto">
            <a:xfrm>
              <a:off x="1391" y="3400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first</a:t>
              </a:r>
            </a:p>
          </p:txBody>
        </p:sp>
        <p:sp>
          <p:nvSpPr>
            <p:cNvPr id="18462" name="Rectangle 48"/>
            <p:cNvSpPr>
              <a:spLocks noChangeArrowheads="1"/>
            </p:cNvSpPr>
            <p:nvPr/>
          </p:nvSpPr>
          <p:spPr bwMode="auto">
            <a:xfrm>
              <a:off x="1823" y="3688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63" name="Text Box 49"/>
            <p:cNvSpPr txBox="1">
              <a:spLocks noChangeArrowheads="1"/>
            </p:cNvSpPr>
            <p:nvPr/>
          </p:nvSpPr>
          <p:spPr bwMode="auto">
            <a:xfrm>
              <a:off x="1391" y="3688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del</a:t>
              </a:r>
            </a:p>
          </p:txBody>
        </p:sp>
        <p:sp>
          <p:nvSpPr>
            <p:cNvPr id="18464" name="Freeform 50"/>
            <p:cNvSpPr>
              <a:spLocks/>
            </p:cNvSpPr>
            <p:nvPr/>
          </p:nvSpPr>
          <p:spPr bwMode="auto">
            <a:xfrm>
              <a:off x="1919" y="3544"/>
              <a:ext cx="528" cy="240"/>
            </a:xfrm>
            <a:custGeom>
              <a:avLst/>
              <a:gdLst>
                <a:gd name="T0" fmla="*/ 0 w 528"/>
                <a:gd name="T1" fmla="*/ 240 h 240"/>
                <a:gd name="T2" fmla="*/ 240 w 528"/>
                <a:gd name="T3" fmla="*/ 240 h 240"/>
                <a:gd name="T4" fmla="*/ 528 w 528"/>
                <a:gd name="T5" fmla="*/ 0 h 240"/>
                <a:gd name="T6" fmla="*/ 0 60000 65536"/>
                <a:gd name="T7" fmla="*/ 0 60000 65536"/>
                <a:gd name="T8" fmla="*/ 0 60000 65536"/>
                <a:gd name="T9" fmla="*/ 0 w 528"/>
                <a:gd name="T10" fmla="*/ 0 h 240"/>
                <a:gd name="T11" fmla="*/ 528 w 528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240">
                  <a:moveTo>
                    <a:pt x="0" y="240"/>
                  </a:moveTo>
                  <a:lnTo>
                    <a:pt x="240" y="240"/>
                  </a:lnTo>
                  <a:lnTo>
                    <a:pt x="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65" name="Rectangle 51"/>
            <p:cNvSpPr>
              <a:spLocks noChangeArrowheads="1"/>
            </p:cNvSpPr>
            <p:nvPr/>
          </p:nvSpPr>
          <p:spPr bwMode="auto">
            <a:xfrm>
              <a:off x="2831" y="3688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66" name="Text Box 52"/>
            <p:cNvSpPr txBox="1">
              <a:spLocks noChangeArrowheads="1"/>
            </p:cNvSpPr>
            <p:nvPr/>
          </p:nvSpPr>
          <p:spPr bwMode="auto">
            <a:xfrm>
              <a:off x="2399" y="3688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succ</a:t>
              </a:r>
            </a:p>
          </p:txBody>
        </p:sp>
        <p:sp>
          <p:nvSpPr>
            <p:cNvPr id="18467" name="Freeform 53"/>
            <p:cNvSpPr>
              <a:spLocks/>
            </p:cNvSpPr>
            <p:nvPr/>
          </p:nvSpPr>
          <p:spPr bwMode="auto">
            <a:xfrm>
              <a:off x="2927" y="3544"/>
              <a:ext cx="528" cy="240"/>
            </a:xfrm>
            <a:custGeom>
              <a:avLst/>
              <a:gdLst>
                <a:gd name="T0" fmla="*/ 0 w 528"/>
                <a:gd name="T1" fmla="*/ 240 h 240"/>
                <a:gd name="T2" fmla="*/ 240 w 528"/>
                <a:gd name="T3" fmla="*/ 240 h 240"/>
                <a:gd name="T4" fmla="*/ 528 w 528"/>
                <a:gd name="T5" fmla="*/ 0 h 240"/>
                <a:gd name="T6" fmla="*/ 0 60000 65536"/>
                <a:gd name="T7" fmla="*/ 0 60000 65536"/>
                <a:gd name="T8" fmla="*/ 0 60000 65536"/>
                <a:gd name="T9" fmla="*/ 0 w 528"/>
                <a:gd name="T10" fmla="*/ 0 h 240"/>
                <a:gd name="T11" fmla="*/ 528 w 528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240">
                  <a:moveTo>
                    <a:pt x="0" y="240"/>
                  </a:moveTo>
                  <a:lnTo>
                    <a:pt x="240" y="240"/>
                  </a:lnTo>
                  <a:lnTo>
                    <a:pt x="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68" name="Freeform 54"/>
            <p:cNvSpPr>
              <a:spLocks/>
            </p:cNvSpPr>
            <p:nvPr/>
          </p:nvSpPr>
          <p:spPr bwMode="auto">
            <a:xfrm>
              <a:off x="1919" y="3304"/>
              <a:ext cx="1536" cy="192"/>
            </a:xfrm>
            <a:custGeom>
              <a:avLst/>
              <a:gdLst>
                <a:gd name="T0" fmla="*/ 0 w 1536"/>
                <a:gd name="T1" fmla="*/ 192 h 192"/>
                <a:gd name="T2" fmla="*/ 528 w 1536"/>
                <a:gd name="T3" fmla="*/ 0 h 192"/>
                <a:gd name="T4" fmla="*/ 1104 w 1536"/>
                <a:gd name="T5" fmla="*/ 0 h 192"/>
                <a:gd name="T6" fmla="*/ 1536 w 1536"/>
                <a:gd name="T7" fmla="*/ 144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36"/>
                <a:gd name="T13" fmla="*/ 0 h 192"/>
                <a:gd name="T14" fmla="*/ 1536 w 1536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36" h="192">
                  <a:moveTo>
                    <a:pt x="0" y="192"/>
                  </a:moveTo>
                  <a:lnTo>
                    <a:pt x="528" y="0"/>
                  </a:lnTo>
                  <a:lnTo>
                    <a:pt x="1104" y="0"/>
                  </a:lnTo>
                  <a:lnTo>
                    <a:pt x="1536" y="144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" name="Group 68"/>
          <p:cNvGrpSpPr>
            <a:grpSpLocks/>
          </p:cNvGrpSpPr>
          <p:nvPr/>
        </p:nvGrpSpPr>
        <p:grpSpPr bwMode="auto">
          <a:xfrm>
            <a:off x="457200" y="2131993"/>
            <a:ext cx="6400800" cy="3810000"/>
            <a:chOff x="1247" y="1665"/>
            <a:chExt cx="4032" cy="2400"/>
          </a:xfrm>
        </p:grpSpPr>
        <p:sp>
          <p:nvSpPr>
            <p:cNvPr id="18440" name="Rectangle 56"/>
            <p:cNvSpPr>
              <a:spLocks noChangeArrowheads="1"/>
            </p:cNvSpPr>
            <p:nvPr/>
          </p:nvSpPr>
          <p:spPr bwMode="auto">
            <a:xfrm>
              <a:off x="1247" y="1665"/>
              <a:ext cx="4032" cy="2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41" name="Rectangle 57"/>
            <p:cNvSpPr>
              <a:spLocks noChangeArrowheads="1"/>
            </p:cNvSpPr>
            <p:nvPr/>
          </p:nvSpPr>
          <p:spPr bwMode="auto">
            <a:xfrm>
              <a:off x="1295" y="1713"/>
              <a:ext cx="3936" cy="15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81000" algn="l"/>
                  <a:tab pos="9525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81000" algn="l"/>
                  <a:tab pos="9525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  <a:buClrTx/>
                <a:buFontTx/>
                <a:buNone/>
              </a:pPr>
              <a:r>
                <a:rPr lang="en-US" altLang="en-US" sz="2000" dirty="0">
                  <a:latin typeface="Times New Roman" pitchFamily="18" charset="0"/>
                </a:rPr>
                <a:t>To delete node </a:t>
              </a:r>
              <a:r>
                <a:rPr lang="en-US" altLang="en-US" sz="2000" i="1" dirty="0">
                  <a:latin typeface="Times New Roman" pitchFamily="18" charset="0"/>
                </a:rPr>
                <a:t>del</a:t>
              </a:r>
              <a:r>
                <a:rPr lang="en-US" altLang="en-US" sz="2000" dirty="0">
                  <a:latin typeface="Times New Roman" pitchFamily="18" charset="0"/>
                </a:rPr>
                <a:t> from the SLL headed by </a:t>
              </a:r>
              <a:r>
                <a:rPr lang="en-US" altLang="en-US" sz="2000" i="1" dirty="0">
                  <a:latin typeface="Times New Roman" pitchFamily="18" charset="0"/>
                </a:rPr>
                <a:t>first</a:t>
              </a:r>
              <a:r>
                <a:rPr lang="en-US" altLang="en-US" sz="2000" dirty="0">
                  <a:latin typeface="Times New Roman" pitchFamily="18" charset="0"/>
                </a:rPr>
                <a:t>:</a:t>
              </a:r>
              <a:br>
                <a:rPr lang="en-US" altLang="en-US" sz="2000" dirty="0">
                  <a:latin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</a:rPr>
                <a:t>1.	Let </a:t>
              </a:r>
              <a:r>
                <a:rPr lang="en-US" altLang="en-US" sz="2000" i="1" dirty="0">
                  <a:latin typeface="Times New Roman" pitchFamily="18" charset="0"/>
                </a:rPr>
                <a:t>next</a:t>
              </a:r>
              <a:r>
                <a:rPr lang="en-US" altLang="en-US" sz="2000" dirty="0">
                  <a:latin typeface="Times New Roman" pitchFamily="18" charset="0"/>
                </a:rPr>
                <a:t> be </a:t>
              </a:r>
              <a:r>
                <a:rPr lang="en-US" altLang="en-US" sz="2000" i="1" dirty="0" err="1">
                  <a:latin typeface="Times New Roman" pitchFamily="18" charset="0"/>
                </a:rPr>
                <a:t>del</a:t>
              </a:r>
              <a:r>
                <a:rPr lang="en-US" altLang="en-US" sz="2000" dirty="0" err="1">
                  <a:latin typeface="Times New Roman" pitchFamily="18" charset="0"/>
                </a:rPr>
                <a:t>’s</a:t>
              </a:r>
              <a:r>
                <a:rPr lang="en-US" altLang="en-US" sz="2000" dirty="0">
                  <a:latin typeface="Times New Roman" pitchFamily="18" charset="0"/>
                </a:rPr>
                <a:t>  next node.</a:t>
              </a:r>
              <a:br>
                <a:rPr lang="en-US" altLang="en-US" sz="2000" dirty="0">
                  <a:latin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</a:rPr>
                <a:t>2.	If </a:t>
              </a:r>
              <a:r>
                <a:rPr lang="en-US" altLang="en-US" sz="2000" i="1" dirty="0">
                  <a:latin typeface="Times New Roman" pitchFamily="18" charset="0"/>
                </a:rPr>
                <a:t>del</a:t>
              </a:r>
              <a:r>
                <a:rPr lang="en-US" altLang="en-US" sz="2000" dirty="0">
                  <a:latin typeface="Times New Roman" pitchFamily="18" charset="0"/>
                </a:rPr>
                <a:t> = </a:t>
              </a:r>
              <a:r>
                <a:rPr lang="en-US" altLang="en-US" sz="2000" i="1" dirty="0">
                  <a:latin typeface="Times New Roman" pitchFamily="18" charset="0"/>
                </a:rPr>
                <a:t>first</a:t>
              </a:r>
              <a:r>
                <a:rPr lang="en-US" altLang="en-US" sz="2000" dirty="0">
                  <a:latin typeface="Times New Roman" pitchFamily="18" charset="0"/>
                </a:rPr>
                <a:t>:</a:t>
              </a:r>
              <a:br>
                <a:rPr lang="en-US" altLang="en-US" sz="2000" dirty="0">
                  <a:latin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</a:rPr>
                <a:t>	2.1.	Set </a:t>
              </a:r>
              <a:r>
                <a:rPr lang="en-US" altLang="en-US" sz="2000" i="1" dirty="0">
                  <a:latin typeface="Times New Roman" pitchFamily="18" charset="0"/>
                </a:rPr>
                <a:t>first</a:t>
              </a:r>
              <a:r>
                <a:rPr lang="en-US" altLang="en-US" sz="2000" dirty="0">
                  <a:latin typeface="Times New Roman" pitchFamily="18" charset="0"/>
                </a:rPr>
                <a:t> to </a:t>
              </a:r>
              <a:r>
                <a:rPr lang="en-US" altLang="en-US" sz="2000" i="1" dirty="0">
                  <a:latin typeface="Times New Roman" pitchFamily="18" charset="0"/>
                </a:rPr>
                <a:t>next</a:t>
              </a:r>
              <a:r>
                <a:rPr lang="en-US" altLang="en-US" sz="2000" dirty="0">
                  <a:latin typeface="Times New Roman" pitchFamily="18" charset="0"/>
                </a:rPr>
                <a:t>.</a:t>
              </a:r>
              <a:br>
                <a:rPr lang="en-US" altLang="en-US" sz="2000" dirty="0">
                  <a:latin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</a:rPr>
                <a:t>3.	Else:</a:t>
              </a:r>
              <a:br>
                <a:rPr lang="en-US" altLang="en-US" sz="2000" dirty="0">
                  <a:latin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</a:rPr>
                <a:t>	3.1.	Let </a:t>
              </a:r>
              <a:r>
                <a:rPr lang="en-US" altLang="en-US" sz="2000" i="1" dirty="0" err="1">
                  <a:latin typeface="Times New Roman" pitchFamily="18" charset="0"/>
                </a:rPr>
                <a:t>pred</a:t>
              </a:r>
              <a:r>
                <a:rPr lang="en-US" altLang="en-US" sz="2000" dirty="0">
                  <a:latin typeface="Times New Roman" pitchFamily="18" charset="0"/>
                </a:rPr>
                <a:t> be </a:t>
              </a:r>
              <a:r>
                <a:rPr lang="en-US" altLang="en-US" sz="2000" i="1" dirty="0" err="1">
                  <a:latin typeface="Times New Roman" pitchFamily="18" charset="0"/>
                </a:rPr>
                <a:t>del</a:t>
              </a:r>
              <a:r>
                <a:rPr lang="en-US" altLang="en-US" sz="2000" dirty="0" err="1">
                  <a:latin typeface="Times New Roman" pitchFamily="18" charset="0"/>
                </a:rPr>
                <a:t>’s</a:t>
              </a:r>
              <a:r>
                <a:rPr lang="en-US" altLang="en-US" sz="2000" dirty="0">
                  <a:latin typeface="Times New Roman" pitchFamily="18" charset="0"/>
                </a:rPr>
                <a:t> predecessor.</a:t>
              </a:r>
              <a:br>
                <a:rPr lang="en-US" altLang="en-US" sz="2000" dirty="0">
                  <a:latin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</a:rPr>
                <a:t>	3.2.	Set </a:t>
              </a:r>
              <a:r>
                <a:rPr lang="en-US" altLang="en-US" sz="2000" i="1" dirty="0" err="1">
                  <a:latin typeface="Times New Roman" pitchFamily="18" charset="0"/>
                </a:rPr>
                <a:t>pred</a:t>
              </a:r>
              <a:r>
                <a:rPr lang="en-US" altLang="en-US" sz="2000" dirty="0" err="1">
                  <a:latin typeface="Times New Roman" pitchFamily="18" charset="0"/>
                </a:rPr>
                <a:t>’s</a:t>
              </a:r>
              <a:r>
                <a:rPr lang="en-US" altLang="en-US" sz="2000" dirty="0">
                  <a:latin typeface="Times New Roman" pitchFamily="18" charset="0"/>
                </a:rPr>
                <a:t> next to </a:t>
              </a:r>
              <a:r>
                <a:rPr lang="en-US" altLang="en-US" sz="2000" i="1" dirty="0">
                  <a:latin typeface="Times New Roman" pitchFamily="18" charset="0"/>
                </a:rPr>
                <a:t>next</a:t>
              </a:r>
              <a:r>
                <a:rPr lang="en-US" altLang="en-US" sz="2000" dirty="0">
                  <a:latin typeface="Times New Roman" pitchFamily="18" charset="0"/>
                </a:rPr>
                <a:t>.</a:t>
              </a:r>
              <a:br>
                <a:rPr lang="en-US" altLang="en-US" sz="2000" dirty="0">
                  <a:latin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</a:rPr>
                <a:t>4.	</a:t>
              </a:r>
              <a:r>
                <a:rPr lang="en-US" altLang="en-US" sz="2000" dirty="0">
                  <a:solidFill>
                    <a:srgbClr val="FF0000"/>
                  </a:solidFill>
                  <a:latin typeface="Times New Roman" pitchFamily="18" charset="0"/>
                </a:rPr>
                <a:t>Terminate.</a:t>
              </a:r>
              <a:endParaRPr lang="en-GB" altLang="en-US" sz="2000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8442" name="Rectangle 58"/>
            <p:cNvSpPr>
              <a:spLocks noChangeArrowheads="1"/>
            </p:cNvSpPr>
            <p:nvPr/>
          </p:nvSpPr>
          <p:spPr bwMode="auto">
            <a:xfrm>
              <a:off x="1823" y="3489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43" name="Text Box 59"/>
            <p:cNvSpPr txBox="1">
              <a:spLocks noChangeArrowheads="1"/>
            </p:cNvSpPr>
            <p:nvPr/>
          </p:nvSpPr>
          <p:spPr bwMode="auto">
            <a:xfrm>
              <a:off x="2447" y="3489"/>
              <a:ext cx="576" cy="17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ant</a:t>
              </a:r>
            </a:p>
          </p:txBody>
        </p:sp>
        <p:sp>
          <p:nvSpPr>
            <p:cNvPr id="18444" name="Text Box 60"/>
            <p:cNvSpPr txBox="1">
              <a:spLocks noChangeArrowheads="1"/>
            </p:cNvSpPr>
            <p:nvPr/>
          </p:nvSpPr>
          <p:spPr bwMode="auto">
            <a:xfrm>
              <a:off x="3455" y="3489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bat</a:t>
              </a:r>
            </a:p>
          </p:txBody>
        </p:sp>
        <p:sp>
          <p:nvSpPr>
            <p:cNvPr id="18445" name="Text Box 61"/>
            <p:cNvSpPr txBox="1">
              <a:spLocks noChangeArrowheads="1"/>
            </p:cNvSpPr>
            <p:nvPr/>
          </p:nvSpPr>
          <p:spPr bwMode="auto">
            <a:xfrm>
              <a:off x="4463" y="3489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18446" name="Line 62"/>
            <p:cNvSpPr>
              <a:spLocks noChangeShapeType="1"/>
            </p:cNvSpPr>
            <p:nvPr/>
          </p:nvSpPr>
          <p:spPr bwMode="auto">
            <a:xfrm>
              <a:off x="2927" y="3585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47" name="Line 63"/>
            <p:cNvSpPr>
              <a:spLocks noChangeShapeType="1"/>
            </p:cNvSpPr>
            <p:nvPr/>
          </p:nvSpPr>
          <p:spPr bwMode="auto">
            <a:xfrm>
              <a:off x="3935" y="3585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48" name="Line 64"/>
            <p:cNvSpPr>
              <a:spLocks noChangeShapeType="1"/>
            </p:cNvSpPr>
            <p:nvPr/>
          </p:nvSpPr>
          <p:spPr bwMode="auto">
            <a:xfrm>
              <a:off x="4943" y="358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49" name="Text Box 65"/>
            <p:cNvSpPr txBox="1">
              <a:spLocks noChangeArrowheads="1"/>
            </p:cNvSpPr>
            <p:nvPr/>
          </p:nvSpPr>
          <p:spPr bwMode="auto">
            <a:xfrm>
              <a:off x="1391" y="3489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first</a:t>
              </a:r>
            </a:p>
          </p:txBody>
        </p:sp>
        <p:sp>
          <p:nvSpPr>
            <p:cNvPr id="18450" name="Freeform 66"/>
            <p:cNvSpPr>
              <a:spLocks/>
            </p:cNvSpPr>
            <p:nvPr/>
          </p:nvSpPr>
          <p:spPr bwMode="auto">
            <a:xfrm>
              <a:off x="1919" y="3393"/>
              <a:ext cx="1536" cy="192"/>
            </a:xfrm>
            <a:custGeom>
              <a:avLst/>
              <a:gdLst>
                <a:gd name="T0" fmla="*/ 0 w 1536"/>
                <a:gd name="T1" fmla="*/ 192 h 192"/>
                <a:gd name="T2" fmla="*/ 528 w 1536"/>
                <a:gd name="T3" fmla="*/ 0 h 192"/>
                <a:gd name="T4" fmla="*/ 1104 w 1536"/>
                <a:gd name="T5" fmla="*/ 0 h 192"/>
                <a:gd name="T6" fmla="*/ 1536 w 1536"/>
                <a:gd name="T7" fmla="*/ 144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36"/>
                <a:gd name="T13" fmla="*/ 0 h 192"/>
                <a:gd name="T14" fmla="*/ 1536 w 1536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36" h="192">
                  <a:moveTo>
                    <a:pt x="0" y="192"/>
                  </a:moveTo>
                  <a:lnTo>
                    <a:pt x="528" y="0"/>
                  </a:lnTo>
                  <a:lnTo>
                    <a:pt x="1104" y="0"/>
                  </a:lnTo>
                  <a:lnTo>
                    <a:pt x="1536" y="144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51" name="AutoShape 67"/>
            <p:cNvSpPr>
              <a:spLocks/>
            </p:cNvSpPr>
            <p:nvPr/>
          </p:nvSpPr>
          <p:spPr bwMode="auto">
            <a:xfrm>
              <a:off x="2956" y="3770"/>
              <a:ext cx="536" cy="163"/>
            </a:xfrm>
            <a:prstGeom prst="callout1">
              <a:avLst>
                <a:gd name="adj1" fmla="val 44171"/>
                <a:gd name="adj2" fmla="val -8954"/>
                <a:gd name="adj3" fmla="val -49694"/>
                <a:gd name="adj4" fmla="val -33023"/>
              </a:avLst>
            </a:prstGeom>
            <a:noFill/>
            <a:ln w="9525">
              <a:solidFill>
                <a:schemeClr val="accent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dirty="0">
                  <a:solidFill>
                    <a:schemeClr val="accent1">
                      <a:lumMod val="75000"/>
                    </a:schemeClr>
                  </a:solidFill>
                </a:rPr>
                <a:t>garbage</a:t>
              </a:r>
              <a:endParaRPr lang="en-GB" altLang="en-US" sz="18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endParaRPr>
            </a:p>
          </p:txBody>
        </p:sp>
      </p:grpSp>
      <p:sp>
        <p:nvSpPr>
          <p:cNvPr id="184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SLL deletion </a:t>
            </a:r>
            <a:r>
              <a:rPr lang="en-US" altLang="en-US" sz="3200" i="1" dirty="0"/>
              <a:t>(2)</a:t>
            </a:r>
            <a:endParaRPr lang="en-GB" altLang="en-US" sz="3200" dirty="0"/>
          </a:p>
        </p:txBody>
      </p:sp>
      <p:sp>
        <p:nvSpPr>
          <p:cNvPr id="18439" name="Rectangle 3"/>
          <p:cNvSpPr>
            <a:spLocks noGrp="1" noChangeArrowheads="1"/>
          </p:cNvSpPr>
          <p:nvPr>
            <p:ph idx="1"/>
          </p:nvPr>
        </p:nvSpPr>
        <p:spPr>
          <a:xfrm>
            <a:off x="303213" y="1371600"/>
            <a:ext cx="7620000" cy="4800600"/>
          </a:xfrm>
          <a:noFill/>
        </p:spPr>
        <p:txBody>
          <a:bodyPr/>
          <a:lstStyle/>
          <a:p>
            <a:pPr eaLnBrk="1" hangingPunct="1"/>
            <a:r>
              <a:rPr lang="en-US" altLang="en-US" dirty="0"/>
              <a:t>Animation (deleting the first node):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04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6"/>
          <p:cNvGrpSpPr>
            <a:grpSpLocks/>
          </p:cNvGrpSpPr>
          <p:nvPr/>
        </p:nvGrpSpPr>
        <p:grpSpPr bwMode="auto">
          <a:xfrm>
            <a:off x="561934" y="2205038"/>
            <a:ext cx="7391400" cy="3810000"/>
            <a:chOff x="1036" y="1389"/>
            <a:chExt cx="4656" cy="2400"/>
          </a:xfrm>
        </p:grpSpPr>
        <p:sp>
          <p:nvSpPr>
            <p:cNvPr id="19542" name="Rectangle 5"/>
            <p:cNvSpPr>
              <a:spLocks noChangeArrowheads="1"/>
            </p:cNvSpPr>
            <p:nvPr/>
          </p:nvSpPr>
          <p:spPr bwMode="auto">
            <a:xfrm>
              <a:off x="1036" y="1389"/>
              <a:ext cx="4656" cy="2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9543" name="Rectangle 6"/>
            <p:cNvSpPr>
              <a:spLocks noChangeArrowheads="1"/>
            </p:cNvSpPr>
            <p:nvPr/>
          </p:nvSpPr>
          <p:spPr bwMode="auto">
            <a:xfrm>
              <a:off x="1084" y="1437"/>
              <a:ext cx="3936" cy="15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81000" algn="l"/>
                  <a:tab pos="9525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81000" algn="l"/>
                  <a:tab pos="9525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To delete node </a:t>
              </a:r>
              <a:r>
                <a:rPr lang="en-US" altLang="en-US" sz="2000" i="1">
                  <a:latin typeface="Times New Roman" pitchFamily="18" charset="0"/>
                </a:rPr>
                <a:t>del</a:t>
              </a:r>
              <a:r>
                <a:rPr lang="en-US" altLang="en-US" sz="2000">
                  <a:latin typeface="Times New Roman" pitchFamily="18" charset="0"/>
                </a:rPr>
                <a:t> from the SLL headed by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1.	Let </a:t>
              </a:r>
              <a:r>
                <a:rPr lang="en-US" altLang="en-US" sz="2000" i="1">
                  <a:latin typeface="Times New Roman" pitchFamily="18" charset="0"/>
                </a:rPr>
                <a:t>succ</a:t>
              </a:r>
              <a:r>
                <a:rPr lang="en-US" altLang="en-US" sz="2000">
                  <a:latin typeface="Times New Roman" pitchFamily="18" charset="0"/>
                </a:rPr>
                <a:t> be </a:t>
              </a:r>
              <a:r>
                <a:rPr lang="en-US" altLang="en-US" sz="2000" i="1">
                  <a:latin typeface="Times New Roman" pitchFamily="18" charset="0"/>
                </a:rPr>
                <a:t>del</a:t>
              </a:r>
              <a:r>
                <a:rPr lang="en-US" altLang="en-US" sz="2000">
                  <a:latin typeface="Times New Roman" pitchFamily="18" charset="0"/>
                </a:rPr>
                <a:t>’s successor.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2.	If </a:t>
              </a:r>
              <a:r>
                <a:rPr lang="en-US" altLang="en-US" sz="2000" i="1">
                  <a:latin typeface="Times New Roman" pitchFamily="18" charset="0"/>
                </a:rPr>
                <a:t>del</a:t>
              </a:r>
              <a:r>
                <a:rPr lang="en-US" altLang="en-US" sz="2000">
                  <a:latin typeface="Times New Roman" pitchFamily="18" charset="0"/>
                </a:rPr>
                <a:t> =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2.1.	Set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</a:rPr>
                <a:t>succ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3.	Else: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3.1.	Let </a:t>
              </a:r>
              <a:r>
                <a:rPr lang="en-US" altLang="en-US" sz="2000" i="1">
                  <a:latin typeface="Times New Roman" pitchFamily="18" charset="0"/>
                </a:rPr>
                <a:t>pred</a:t>
              </a:r>
              <a:r>
                <a:rPr lang="en-US" altLang="en-US" sz="2000">
                  <a:latin typeface="Times New Roman" pitchFamily="18" charset="0"/>
                </a:rPr>
                <a:t> be </a:t>
              </a:r>
              <a:r>
                <a:rPr lang="en-US" altLang="en-US" sz="2000" i="1">
                  <a:latin typeface="Times New Roman" pitchFamily="18" charset="0"/>
                </a:rPr>
                <a:t>del</a:t>
              </a:r>
              <a:r>
                <a:rPr lang="en-US" altLang="en-US" sz="2000">
                  <a:latin typeface="Times New Roman" pitchFamily="18" charset="0"/>
                </a:rPr>
                <a:t>’s predecessor.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3.2.	Set </a:t>
              </a:r>
              <a:r>
                <a:rPr lang="en-US" altLang="en-US" sz="2000" i="1">
                  <a:latin typeface="Times New Roman" pitchFamily="18" charset="0"/>
                </a:rPr>
                <a:t>pred</a:t>
              </a:r>
              <a:r>
                <a:rPr lang="en-US" altLang="en-US" sz="2000">
                  <a:latin typeface="Times New Roman" pitchFamily="18" charset="0"/>
                </a:rPr>
                <a:t>’s successor to </a:t>
              </a:r>
              <a:r>
                <a:rPr lang="en-US" altLang="en-US" sz="2000" i="1">
                  <a:latin typeface="Times New Roman" pitchFamily="18" charset="0"/>
                </a:rPr>
                <a:t>succ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4.	Terminate.</a:t>
              </a:r>
              <a:endParaRPr lang="en-GB" altLang="en-US" sz="2000">
                <a:latin typeface="Times New Roman" pitchFamily="18" charset="0"/>
              </a:endParaRPr>
            </a:p>
          </p:txBody>
        </p:sp>
        <p:sp>
          <p:nvSpPr>
            <p:cNvPr id="19544" name="Rectangle 7"/>
            <p:cNvSpPr>
              <a:spLocks noChangeArrowheads="1"/>
            </p:cNvSpPr>
            <p:nvPr/>
          </p:nvSpPr>
          <p:spPr bwMode="auto">
            <a:xfrm>
              <a:off x="1516" y="3213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9545" name="Text Box 8"/>
            <p:cNvSpPr txBox="1">
              <a:spLocks noChangeArrowheads="1"/>
            </p:cNvSpPr>
            <p:nvPr/>
          </p:nvSpPr>
          <p:spPr bwMode="auto">
            <a:xfrm>
              <a:off x="2524" y="321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dog</a:t>
              </a:r>
            </a:p>
          </p:txBody>
        </p:sp>
        <p:sp>
          <p:nvSpPr>
            <p:cNvPr id="19546" name="Text Box 9"/>
            <p:cNvSpPr txBox="1">
              <a:spLocks noChangeArrowheads="1"/>
            </p:cNvSpPr>
            <p:nvPr/>
          </p:nvSpPr>
          <p:spPr bwMode="auto">
            <a:xfrm>
              <a:off x="3532" y="321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eel</a:t>
              </a:r>
            </a:p>
          </p:txBody>
        </p:sp>
        <p:sp>
          <p:nvSpPr>
            <p:cNvPr id="19547" name="Text Box 10"/>
            <p:cNvSpPr txBox="1">
              <a:spLocks noChangeArrowheads="1"/>
            </p:cNvSpPr>
            <p:nvPr/>
          </p:nvSpPr>
          <p:spPr bwMode="auto">
            <a:xfrm>
              <a:off x="4540" y="321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fox</a:t>
              </a:r>
            </a:p>
          </p:txBody>
        </p:sp>
        <p:sp>
          <p:nvSpPr>
            <p:cNvPr id="19548" name="Line 11"/>
            <p:cNvSpPr>
              <a:spLocks noChangeShapeType="1"/>
            </p:cNvSpPr>
            <p:nvPr/>
          </p:nvSpPr>
          <p:spPr bwMode="auto">
            <a:xfrm>
              <a:off x="3004" y="3309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49" name="Line 12"/>
            <p:cNvSpPr>
              <a:spLocks noChangeShapeType="1"/>
            </p:cNvSpPr>
            <p:nvPr/>
          </p:nvSpPr>
          <p:spPr bwMode="auto">
            <a:xfrm>
              <a:off x="4012" y="3309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50" name="Text Box 13"/>
            <p:cNvSpPr txBox="1">
              <a:spLocks noChangeArrowheads="1"/>
            </p:cNvSpPr>
            <p:nvPr/>
          </p:nvSpPr>
          <p:spPr bwMode="auto">
            <a:xfrm>
              <a:off x="1084" y="3213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first</a:t>
              </a:r>
            </a:p>
          </p:txBody>
        </p:sp>
        <p:sp>
          <p:nvSpPr>
            <p:cNvPr id="19551" name="Rectangle 14"/>
            <p:cNvSpPr>
              <a:spLocks noChangeArrowheads="1"/>
            </p:cNvSpPr>
            <p:nvPr/>
          </p:nvSpPr>
          <p:spPr bwMode="auto">
            <a:xfrm>
              <a:off x="2908" y="3501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9552" name="Text Box 15"/>
            <p:cNvSpPr txBox="1">
              <a:spLocks noChangeArrowheads="1"/>
            </p:cNvSpPr>
            <p:nvPr/>
          </p:nvSpPr>
          <p:spPr bwMode="auto">
            <a:xfrm>
              <a:off x="2476" y="3501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del</a:t>
              </a:r>
            </a:p>
          </p:txBody>
        </p:sp>
        <p:sp>
          <p:nvSpPr>
            <p:cNvPr id="19553" name="Freeform 16"/>
            <p:cNvSpPr>
              <a:spLocks/>
            </p:cNvSpPr>
            <p:nvPr/>
          </p:nvSpPr>
          <p:spPr bwMode="auto">
            <a:xfrm>
              <a:off x="3004" y="3357"/>
              <a:ext cx="528" cy="240"/>
            </a:xfrm>
            <a:custGeom>
              <a:avLst/>
              <a:gdLst>
                <a:gd name="T0" fmla="*/ 0 w 528"/>
                <a:gd name="T1" fmla="*/ 240 h 240"/>
                <a:gd name="T2" fmla="*/ 240 w 528"/>
                <a:gd name="T3" fmla="*/ 240 h 240"/>
                <a:gd name="T4" fmla="*/ 528 w 528"/>
                <a:gd name="T5" fmla="*/ 0 h 240"/>
                <a:gd name="T6" fmla="*/ 0 60000 65536"/>
                <a:gd name="T7" fmla="*/ 0 60000 65536"/>
                <a:gd name="T8" fmla="*/ 0 60000 65536"/>
                <a:gd name="T9" fmla="*/ 0 w 528"/>
                <a:gd name="T10" fmla="*/ 0 h 240"/>
                <a:gd name="T11" fmla="*/ 528 w 528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240">
                  <a:moveTo>
                    <a:pt x="0" y="240"/>
                  </a:moveTo>
                  <a:lnTo>
                    <a:pt x="240" y="240"/>
                  </a:lnTo>
                  <a:lnTo>
                    <a:pt x="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54" name="Line 17"/>
            <p:cNvSpPr>
              <a:spLocks noChangeShapeType="1"/>
            </p:cNvSpPr>
            <p:nvPr/>
          </p:nvSpPr>
          <p:spPr bwMode="auto">
            <a:xfrm>
              <a:off x="1612" y="3309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55" name="Line 18"/>
            <p:cNvSpPr>
              <a:spLocks noChangeShapeType="1"/>
            </p:cNvSpPr>
            <p:nvPr/>
          </p:nvSpPr>
          <p:spPr bwMode="auto">
            <a:xfrm>
              <a:off x="2188" y="3309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56" name="Line 19"/>
            <p:cNvSpPr>
              <a:spLocks noChangeShapeType="1"/>
            </p:cNvSpPr>
            <p:nvPr/>
          </p:nvSpPr>
          <p:spPr bwMode="auto">
            <a:xfrm>
              <a:off x="1948" y="3309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57" name="Line 20"/>
            <p:cNvSpPr>
              <a:spLocks noChangeShapeType="1"/>
            </p:cNvSpPr>
            <p:nvPr/>
          </p:nvSpPr>
          <p:spPr bwMode="auto">
            <a:xfrm>
              <a:off x="5020" y="3309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" name="Group 105"/>
          <p:cNvGrpSpPr>
            <a:grpSpLocks/>
          </p:cNvGrpSpPr>
          <p:nvPr/>
        </p:nvGrpSpPr>
        <p:grpSpPr bwMode="auto">
          <a:xfrm>
            <a:off x="561934" y="2205038"/>
            <a:ext cx="7391400" cy="3810000"/>
            <a:chOff x="1036" y="1502"/>
            <a:chExt cx="4656" cy="2400"/>
          </a:xfrm>
        </p:grpSpPr>
        <p:sp>
          <p:nvSpPr>
            <p:cNvPr id="19523" name="Rectangle 22"/>
            <p:cNvSpPr>
              <a:spLocks noChangeArrowheads="1"/>
            </p:cNvSpPr>
            <p:nvPr/>
          </p:nvSpPr>
          <p:spPr bwMode="auto">
            <a:xfrm>
              <a:off x="1036" y="1502"/>
              <a:ext cx="4656" cy="2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9524" name="Rectangle 23"/>
            <p:cNvSpPr>
              <a:spLocks noChangeArrowheads="1"/>
            </p:cNvSpPr>
            <p:nvPr/>
          </p:nvSpPr>
          <p:spPr bwMode="auto">
            <a:xfrm>
              <a:off x="1084" y="1550"/>
              <a:ext cx="3936" cy="15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81000" algn="l"/>
                  <a:tab pos="9525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81000" algn="l"/>
                  <a:tab pos="9525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To delete node </a:t>
              </a:r>
              <a:r>
                <a:rPr lang="en-US" altLang="en-US" sz="2000" i="1">
                  <a:latin typeface="Times New Roman" pitchFamily="18" charset="0"/>
                </a:rPr>
                <a:t>del</a:t>
              </a:r>
              <a:r>
                <a:rPr lang="en-US" altLang="en-US" sz="2000">
                  <a:latin typeface="Times New Roman" pitchFamily="18" charset="0"/>
                </a:rPr>
                <a:t> from the SLL headed by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1.	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Let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succ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 be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del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’s successor.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2.	If </a:t>
              </a:r>
              <a:r>
                <a:rPr lang="en-US" altLang="en-US" sz="2000" i="1">
                  <a:latin typeface="Times New Roman" pitchFamily="18" charset="0"/>
                </a:rPr>
                <a:t>del</a:t>
              </a:r>
              <a:r>
                <a:rPr lang="en-US" altLang="en-US" sz="2000">
                  <a:latin typeface="Times New Roman" pitchFamily="18" charset="0"/>
                </a:rPr>
                <a:t> =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2.1.	Set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</a:rPr>
                <a:t>succ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3.	Else: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3.1.	Let </a:t>
              </a:r>
              <a:r>
                <a:rPr lang="en-US" altLang="en-US" sz="2000" i="1">
                  <a:latin typeface="Times New Roman" pitchFamily="18" charset="0"/>
                </a:rPr>
                <a:t>pred</a:t>
              </a:r>
              <a:r>
                <a:rPr lang="en-US" altLang="en-US" sz="2000">
                  <a:latin typeface="Times New Roman" pitchFamily="18" charset="0"/>
                </a:rPr>
                <a:t> be </a:t>
              </a:r>
              <a:r>
                <a:rPr lang="en-US" altLang="en-US" sz="2000" i="1">
                  <a:latin typeface="Times New Roman" pitchFamily="18" charset="0"/>
                </a:rPr>
                <a:t>del</a:t>
              </a:r>
              <a:r>
                <a:rPr lang="en-US" altLang="en-US" sz="2000">
                  <a:latin typeface="Times New Roman" pitchFamily="18" charset="0"/>
                </a:rPr>
                <a:t>’s predecessor.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3.2.	Set </a:t>
              </a:r>
              <a:r>
                <a:rPr lang="en-US" altLang="en-US" sz="2000" i="1">
                  <a:latin typeface="Times New Roman" pitchFamily="18" charset="0"/>
                </a:rPr>
                <a:t>pred</a:t>
              </a:r>
              <a:r>
                <a:rPr lang="en-US" altLang="en-US" sz="2000">
                  <a:latin typeface="Times New Roman" pitchFamily="18" charset="0"/>
                </a:rPr>
                <a:t>’s successor to </a:t>
              </a:r>
              <a:r>
                <a:rPr lang="en-US" altLang="en-US" sz="2000" i="1">
                  <a:latin typeface="Times New Roman" pitchFamily="18" charset="0"/>
                </a:rPr>
                <a:t>succ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4.	Terminate.</a:t>
              </a:r>
              <a:endParaRPr lang="en-GB" altLang="en-US" sz="2000">
                <a:latin typeface="Times New Roman" pitchFamily="18" charset="0"/>
              </a:endParaRPr>
            </a:p>
          </p:txBody>
        </p:sp>
        <p:sp>
          <p:nvSpPr>
            <p:cNvPr id="19525" name="Rectangle 24"/>
            <p:cNvSpPr>
              <a:spLocks noChangeArrowheads="1"/>
            </p:cNvSpPr>
            <p:nvPr/>
          </p:nvSpPr>
          <p:spPr bwMode="auto">
            <a:xfrm>
              <a:off x="1516" y="3326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9526" name="Text Box 25"/>
            <p:cNvSpPr txBox="1">
              <a:spLocks noChangeArrowheads="1"/>
            </p:cNvSpPr>
            <p:nvPr/>
          </p:nvSpPr>
          <p:spPr bwMode="auto">
            <a:xfrm>
              <a:off x="2524" y="332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dog</a:t>
              </a:r>
            </a:p>
          </p:txBody>
        </p:sp>
        <p:sp>
          <p:nvSpPr>
            <p:cNvPr id="19527" name="Text Box 26"/>
            <p:cNvSpPr txBox="1">
              <a:spLocks noChangeArrowheads="1"/>
            </p:cNvSpPr>
            <p:nvPr/>
          </p:nvSpPr>
          <p:spPr bwMode="auto">
            <a:xfrm>
              <a:off x="3532" y="332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eel</a:t>
              </a:r>
            </a:p>
          </p:txBody>
        </p:sp>
        <p:sp>
          <p:nvSpPr>
            <p:cNvPr id="19528" name="Text Box 27"/>
            <p:cNvSpPr txBox="1">
              <a:spLocks noChangeArrowheads="1"/>
            </p:cNvSpPr>
            <p:nvPr/>
          </p:nvSpPr>
          <p:spPr bwMode="auto">
            <a:xfrm>
              <a:off x="4540" y="332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fox</a:t>
              </a:r>
            </a:p>
          </p:txBody>
        </p:sp>
        <p:sp>
          <p:nvSpPr>
            <p:cNvPr id="19529" name="Line 28"/>
            <p:cNvSpPr>
              <a:spLocks noChangeShapeType="1"/>
            </p:cNvSpPr>
            <p:nvPr/>
          </p:nvSpPr>
          <p:spPr bwMode="auto">
            <a:xfrm>
              <a:off x="3004" y="3422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30" name="Line 29"/>
            <p:cNvSpPr>
              <a:spLocks noChangeShapeType="1"/>
            </p:cNvSpPr>
            <p:nvPr/>
          </p:nvSpPr>
          <p:spPr bwMode="auto">
            <a:xfrm>
              <a:off x="4012" y="3422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31" name="Text Box 30"/>
            <p:cNvSpPr txBox="1">
              <a:spLocks noChangeArrowheads="1"/>
            </p:cNvSpPr>
            <p:nvPr/>
          </p:nvSpPr>
          <p:spPr bwMode="auto">
            <a:xfrm>
              <a:off x="1084" y="3326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first</a:t>
              </a:r>
            </a:p>
          </p:txBody>
        </p:sp>
        <p:sp>
          <p:nvSpPr>
            <p:cNvPr id="19532" name="Rectangle 31"/>
            <p:cNvSpPr>
              <a:spLocks noChangeArrowheads="1"/>
            </p:cNvSpPr>
            <p:nvPr/>
          </p:nvSpPr>
          <p:spPr bwMode="auto">
            <a:xfrm>
              <a:off x="2908" y="3614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9533" name="Text Box 32"/>
            <p:cNvSpPr txBox="1">
              <a:spLocks noChangeArrowheads="1"/>
            </p:cNvSpPr>
            <p:nvPr/>
          </p:nvSpPr>
          <p:spPr bwMode="auto">
            <a:xfrm>
              <a:off x="2476" y="3614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del</a:t>
              </a:r>
            </a:p>
          </p:txBody>
        </p:sp>
        <p:sp>
          <p:nvSpPr>
            <p:cNvPr id="19534" name="Freeform 33"/>
            <p:cNvSpPr>
              <a:spLocks/>
            </p:cNvSpPr>
            <p:nvPr/>
          </p:nvSpPr>
          <p:spPr bwMode="auto">
            <a:xfrm>
              <a:off x="3004" y="3470"/>
              <a:ext cx="528" cy="240"/>
            </a:xfrm>
            <a:custGeom>
              <a:avLst/>
              <a:gdLst>
                <a:gd name="T0" fmla="*/ 0 w 528"/>
                <a:gd name="T1" fmla="*/ 240 h 240"/>
                <a:gd name="T2" fmla="*/ 240 w 528"/>
                <a:gd name="T3" fmla="*/ 240 h 240"/>
                <a:gd name="T4" fmla="*/ 528 w 528"/>
                <a:gd name="T5" fmla="*/ 0 h 240"/>
                <a:gd name="T6" fmla="*/ 0 60000 65536"/>
                <a:gd name="T7" fmla="*/ 0 60000 65536"/>
                <a:gd name="T8" fmla="*/ 0 60000 65536"/>
                <a:gd name="T9" fmla="*/ 0 w 528"/>
                <a:gd name="T10" fmla="*/ 0 h 240"/>
                <a:gd name="T11" fmla="*/ 528 w 528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240">
                  <a:moveTo>
                    <a:pt x="0" y="240"/>
                  </a:moveTo>
                  <a:lnTo>
                    <a:pt x="240" y="240"/>
                  </a:lnTo>
                  <a:lnTo>
                    <a:pt x="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35" name="Line 34"/>
            <p:cNvSpPr>
              <a:spLocks noChangeShapeType="1"/>
            </p:cNvSpPr>
            <p:nvPr/>
          </p:nvSpPr>
          <p:spPr bwMode="auto">
            <a:xfrm>
              <a:off x="1612" y="3422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36" name="Line 35"/>
            <p:cNvSpPr>
              <a:spLocks noChangeShapeType="1"/>
            </p:cNvSpPr>
            <p:nvPr/>
          </p:nvSpPr>
          <p:spPr bwMode="auto">
            <a:xfrm>
              <a:off x="2188" y="3422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37" name="Line 36"/>
            <p:cNvSpPr>
              <a:spLocks noChangeShapeType="1"/>
            </p:cNvSpPr>
            <p:nvPr/>
          </p:nvSpPr>
          <p:spPr bwMode="auto">
            <a:xfrm>
              <a:off x="1948" y="342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38" name="Line 37"/>
            <p:cNvSpPr>
              <a:spLocks noChangeShapeType="1"/>
            </p:cNvSpPr>
            <p:nvPr/>
          </p:nvSpPr>
          <p:spPr bwMode="auto">
            <a:xfrm>
              <a:off x="5020" y="3422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39" name="Rectangle 38"/>
            <p:cNvSpPr>
              <a:spLocks noChangeArrowheads="1"/>
            </p:cNvSpPr>
            <p:nvPr/>
          </p:nvSpPr>
          <p:spPr bwMode="auto">
            <a:xfrm>
              <a:off x="3916" y="3614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9540" name="Text Box 39"/>
            <p:cNvSpPr txBox="1">
              <a:spLocks noChangeArrowheads="1"/>
            </p:cNvSpPr>
            <p:nvPr/>
          </p:nvSpPr>
          <p:spPr bwMode="auto">
            <a:xfrm>
              <a:off x="3484" y="3614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succ</a:t>
              </a:r>
            </a:p>
          </p:txBody>
        </p:sp>
        <p:sp>
          <p:nvSpPr>
            <p:cNvPr id="19541" name="Freeform 40"/>
            <p:cNvSpPr>
              <a:spLocks/>
            </p:cNvSpPr>
            <p:nvPr/>
          </p:nvSpPr>
          <p:spPr bwMode="auto">
            <a:xfrm>
              <a:off x="4012" y="3470"/>
              <a:ext cx="528" cy="240"/>
            </a:xfrm>
            <a:custGeom>
              <a:avLst/>
              <a:gdLst>
                <a:gd name="T0" fmla="*/ 0 w 528"/>
                <a:gd name="T1" fmla="*/ 240 h 240"/>
                <a:gd name="T2" fmla="*/ 240 w 528"/>
                <a:gd name="T3" fmla="*/ 240 h 240"/>
                <a:gd name="T4" fmla="*/ 528 w 528"/>
                <a:gd name="T5" fmla="*/ 0 h 240"/>
                <a:gd name="T6" fmla="*/ 0 60000 65536"/>
                <a:gd name="T7" fmla="*/ 0 60000 65536"/>
                <a:gd name="T8" fmla="*/ 0 60000 65536"/>
                <a:gd name="T9" fmla="*/ 0 w 528"/>
                <a:gd name="T10" fmla="*/ 0 h 240"/>
                <a:gd name="T11" fmla="*/ 528 w 528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240">
                  <a:moveTo>
                    <a:pt x="0" y="240"/>
                  </a:moveTo>
                  <a:lnTo>
                    <a:pt x="240" y="240"/>
                  </a:lnTo>
                  <a:lnTo>
                    <a:pt x="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104"/>
          <p:cNvGrpSpPr>
            <a:grpSpLocks/>
          </p:cNvGrpSpPr>
          <p:nvPr/>
        </p:nvGrpSpPr>
        <p:grpSpPr bwMode="auto">
          <a:xfrm>
            <a:off x="561934" y="2205038"/>
            <a:ext cx="7391400" cy="3810000"/>
            <a:chOff x="1036" y="1593"/>
            <a:chExt cx="4656" cy="2400"/>
          </a:xfrm>
        </p:grpSpPr>
        <p:sp>
          <p:nvSpPr>
            <p:cNvPr id="19501" name="Rectangle 42"/>
            <p:cNvSpPr>
              <a:spLocks noChangeArrowheads="1"/>
            </p:cNvSpPr>
            <p:nvPr/>
          </p:nvSpPr>
          <p:spPr bwMode="auto">
            <a:xfrm>
              <a:off x="1036" y="1593"/>
              <a:ext cx="4656" cy="2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9502" name="Rectangle 43"/>
            <p:cNvSpPr>
              <a:spLocks noChangeArrowheads="1"/>
            </p:cNvSpPr>
            <p:nvPr/>
          </p:nvSpPr>
          <p:spPr bwMode="auto">
            <a:xfrm>
              <a:off x="1084" y="1641"/>
              <a:ext cx="3936" cy="15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81000" algn="l"/>
                  <a:tab pos="9525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81000" algn="l"/>
                  <a:tab pos="9525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To delete node </a:t>
              </a:r>
              <a:r>
                <a:rPr lang="en-US" altLang="en-US" sz="2000" i="1">
                  <a:latin typeface="Times New Roman" pitchFamily="18" charset="0"/>
                </a:rPr>
                <a:t>del</a:t>
              </a:r>
              <a:r>
                <a:rPr lang="en-US" altLang="en-US" sz="2000">
                  <a:latin typeface="Times New Roman" pitchFamily="18" charset="0"/>
                </a:rPr>
                <a:t> from the SLL headed by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1.	Let </a:t>
              </a:r>
              <a:r>
                <a:rPr lang="en-US" altLang="en-US" sz="2000" i="1">
                  <a:latin typeface="Times New Roman" pitchFamily="18" charset="0"/>
                </a:rPr>
                <a:t>succ</a:t>
              </a:r>
              <a:r>
                <a:rPr lang="en-US" altLang="en-US" sz="2000">
                  <a:latin typeface="Times New Roman" pitchFamily="18" charset="0"/>
                </a:rPr>
                <a:t> be </a:t>
              </a:r>
              <a:r>
                <a:rPr lang="en-US" altLang="en-US" sz="2000" i="1">
                  <a:latin typeface="Times New Roman" pitchFamily="18" charset="0"/>
                </a:rPr>
                <a:t>del</a:t>
              </a:r>
              <a:r>
                <a:rPr lang="en-US" altLang="en-US" sz="2000">
                  <a:latin typeface="Times New Roman" pitchFamily="18" charset="0"/>
                </a:rPr>
                <a:t>’s successor.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2.	If </a:t>
              </a:r>
              <a:r>
                <a:rPr lang="en-US" altLang="en-US" sz="2000" i="1">
                  <a:latin typeface="Times New Roman" pitchFamily="18" charset="0"/>
                </a:rPr>
                <a:t>del</a:t>
              </a:r>
              <a:r>
                <a:rPr lang="en-US" altLang="en-US" sz="2000">
                  <a:latin typeface="Times New Roman" pitchFamily="18" charset="0"/>
                </a:rPr>
                <a:t> =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2.1.	Set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</a:rPr>
                <a:t>succ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3.	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Else: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3.1.	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Let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pred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 be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del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’s predecessor.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3.2.	Set </a:t>
              </a:r>
              <a:r>
                <a:rPr lang="en-US" altLang="en-US" sz="2000" i="1">
                  <a:latin typeface="Times New Roman" pitchFamily="18" charset="0"/>
                </a:rPr>
                <a:t>pred</a:t>
              </a:r>
              <a:r>
                <a:rPr lang="en-US" altLang="en-US" sz="2000">
                  <a:latin typeface="Times New Roman" pitchFamily="18" charset="0"/>
                </a:rPr>
                <a:t>’s successor to </a:t>
              </a:r>
              <a:r>
                <a:rPr lang="en-US" altLang="en-US" sz="2000" i="1">
                  <a:latin typeface="Times New Roman" pitchFamily="18" charset="0"/>
                </a:rPr>
                <a:t>succ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4.	Terminate.</a:t>
              </a:r>
              <a:endParaRPr lang="en-GB" altLang="en-US" sz="2000">
                <a:latin typeface="Times New Roman" pitchFamily="18" charset="0"/>
              </a:endParaRPr>
            </a:p>
          </p:txBody>
        </p:sp>
        <p:sp>
          <p:nvSpPr>
            <p:cNvPr id="19503" name="Rectangle 44"/>
            <p:cNvSpPr>
              <a:spLocks noChangeArrowheads="1"/>
            </p:cNvSpPr>
            <p:nvPr/>
          </p:nvSpPr>
          <p:spPr bwMode="auto">
            <a:xfrm>
              <a:off x="1516" y="3417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9504" name="Text Box 45"/>
            <p:cNvSpPr txBox="1">
              <a:spLocks noChangeArrowheads="1"/>
            </p:cNvSpPr>
            <p:nvPr/>
          </p:nvSpPr>
          <p:spPr bwMode="auto">
            <a:xfrm>
              <a:off x="2524" y="341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dog</a:t>
              </a:r>
            </a:p>
          </p:txBody>
        </p:sp>
        <p:sp>
          <p:nvSpPr>
            <p:cNvPr id="19505" name="Text Box 46"/>
            <p:cNvSpPr txBox="1">
              <a:spLocks noChangeArrowheads="1"/>
            </p:cNvSpPr>
            <p:nvPr/>
          </p:nvSpPr>
          <p:spPr bwMode="auto">
            <a:xfrm>
              <a:off x="3532" y="341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eel</a:t>
              </a:r>
            </a:p>
          </p:txBody>
        </p:sp>
        <p:sp>
          <p:nvSpPr>
            <p:cNvPr id="19506" name="Text Box 47"/>
            <p:cNvSpPr txBox="1">
              <a:spLocks noChangeArrowheads="1"/>
            </p:cNvSpPr>
            <p:nvPr/>
          </p:nvSpPr>
          <p:spPr bwMode="auto">
            <a:xfrm>
              <a:off x="4540" y="341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fox</a:t>
              </a:r>
            </a:p>
          </p:txBody>
        </p:sp>
        <p:sp>
          <p:nvSpPr>
            <p:cNvPr id="19507" name="Line 48"/>
            <p:cNvSpPr>
              <a:spLocks noChangeShapeType="1"/>
            </p:cNvSpPr>
            <p:nvPr/>
          </p:nvSpPr>
          <p:spPr bwMode="auto">
            <a:xfrm>
              <a:off x="3004" y="3513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08" name="Line 49"/>
            <p:cNvSpPr>
              <a:spLocks noChangeShapeType="1"/>
            </p:cNvSpPr>
            <p:nvPr/>
          </p:nvSpPr>
          <p:spPr bwMode="auto">
            <a:xfrm>
              <a:off x="4012" y="3513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09" name="Text Box 50"/>
            <p:cNvSpPr txBox="1">
              <a:spLocks noChangeArrowheads="1"/>
            </p:cNvSpPr>
            <p:nvPr/>
          </p:nvSpPr>
          <p:spPr bwMode="auto">
            <a:xfrm>
              <a:off x="1084" y="3417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first</a:t>
              </a:r>
            </a:p>
          </p:txBody>
        </p:sp>
        <p:sp>
          <p:nvSpPr>
            <p:cNvPr id="19510" name="Rectangle 51"/>
            <p:cNvSpPr>
              <a:spLocks noChangeArrowheads="1"/>
            </p:cNvSpPr>
            <p:nvPr/>
          </p:nvSpPr>
          <p:spPr bwMode="auto">
            <a:xfrm>
              <a:off x="2908" y="3705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9511" name="Text Box 52"/>
            <p:cNvSpPr txBox="1">
              <a:spLocks noChangeArrowheads="1"/>
            </p:cNvSpPr>
            <p:nvPr/>
          </p:nvSpPr>
          <p:spPr bwMode="auto">
            <a:xfrm>
              <a:off x="2476" y="3705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del</a:t>
              </a:r>
            </a:p>
          </p:txBody>
        </p:sp>
        <p:sp>
          <p:nvSpPr>
            <p:cNvPr id="19512" name="Freeform 53"/>
            <p:cNvSpPr>
              <a:spLocks/>
            </p:cNvSpPr>
            <p:nvPr/>
          </p:nvSpPr>
          <p:spPr bwMode="auto">
            <a:xfrm>
              <a:off x="3004" y="3561"/>
              <a:ext cx="528" cy="240"/>
            </a:xfrm>
            <a:custGeom>
              <a:avLst/>
              <a:gdLst>
                <a:gd name="T0" fmla="*/ 0 w 528"/>
                <a:gd name="T1" fmla="*/ 240 h 240"/>
                <a:gd name="T2" fmla="*/ 240 w 528"/>
                <a:gd name="T3" fmla="*/ 240 h 240"/>
                <a:gd name="T4" fmla="*/ 528 w 528"/>
                <a:gd name="T5" fmla="*/ 0 h 240"/>
                <a:gd name="T6" fmla="*/ 0 60000 65536"/>
                <a:gd name="T7" fmla="*/ 0 60000 65536"/>
                <a:gd name="T8" fmla="*/ 0 60000 65536"/>
                <a:gd name="T9" fmla="*/ 0 w 528"/>
                <a:gd name="T10" fmla="*/ 0 h 240"/>
                <a:gd name="T11" fmla="*/ 528 w 528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240">
                  <a:moveTo>
                    <a:pt x="0" y="240"/>
                  </a:moveTo>
                  <a:lnTo>
                    <a:pt x="240" y="240"/>
                  </a:lnTo>
                  <a:lnTo>
                    <a:pt x="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13" name="Line 54"/>
            <p:cNvSpPr>
              <a:spLocks noChangeShapeType="1"/>
            </p:cNvSpPr>
            <p:nvPr/>
          </p:nvSpPr>
          <p:spPr bwMode="auto">
            <a:xfrm>
              <a:off x="1612" y="3513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14" name="Line 55"/>
            <p:cNvSpPr>
              <a:spLocks noChangeShapeType="1"/>
            </p:cNvSpPr>
            <p:nvPr/>
          </p:nvSpPr>
          <p:spPr bwMode="auto">
            <a:xfrm>
              <a:off x="2188" y="3513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15" name="Line 56"/>
            <p:cNvSpPr>
              <a:spLocks noChangeShapeType="1"/>
            </p:cNvSpPr>
            <p:nvPr/>
          </p:nvSpPr>
          <p:spPr bwMode="auto">
            <a:xfrm>
              <a:off x="1948" y="3513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16" name="Line 57"/>
            <p:cNvSpPr>
              <a:spLocks noChangeShapeType="1"/>
            </p:cNvSpPr>
            <p:nvPr/>
          </p:nvSpPr>
          <p:spPr bwMode="auto">
            <a:xfrm>
              <a:off x="5020" y="3513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17" name="Rectangle 58"/>
            <p:cNvSpPr>
              <a:spLocks noChangeArrowheads="1"/>
            </p:cNvSpPr>
            <p:nvPr/>
          </p:nvSpPr>
          <p:spPr bwMode="auto">
            <a:xfrm>
              <a:off x="3916" y="3705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9518" name="Text Box 59"/>
            <p:cNvSpPr txBox="1">
              <a:spLocks noChangeArrowheads="1"/>
            </p:cNvSpPr>
            <p:nvPr/>
          </p:nvSpPr>
          <p:spPr bwMode="auto">
            <a:xfrm>
              <a:off x="3484" y="3705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succ</a:t>
              </a:r>
            </a:p>
          </p:txBody>
        </p:sp>
        <p:sp>
          <p:nvSpPr>
            <p:cNvPr id="19519" name="Freeform 60"/>
            <p:cNvSpPr>
              <a:spLocks/>
            </p:cNvSpPr>
            <p:nvPr/>
          </p:nvSpPr>
          <p:spPr bwMode="auto">
            <a:xfrm>
              <a:off x="4012" y="3561"/>
              <a:ext cx="528" cy="240"/>
            </a:xfrm>
            <a:custGeom>
              <a:avLst/>
              <a:gdLst>
                <a:gd name="T0" fmla="*/ 0 w 528"/>
                <a:gd name="T1" fmla="*/ 240 h 240"/>
                <a:gd name="T2" fmla="*/ 240 w 528"/>
                <a:gd name="T3" fmla="*/ 240 h 240"/>
                <a:gd name="T4" fmla="*/ 528 w 528"/>
                <a:gd name="T5" fmla="*/ 0 h 240"/>
                <a:gd name="T6" fmla="*/ 0 60000 65536"/>
                <a:gd name="T7" fmla="*/ 0 60000 65536"/>
                <a:gd name="T8" fmla="*/ 0 60000 65536"/>
                <a:gd name="T9" fmla="*/ 0 w 528"/>
                <a:gd name="T10" fmla="*/ 0 h 240"/>
                <a:gd name="T11" fmla="*/ 528 w 528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240">
                  <a:moveTo>
                    <a:pt x="0" y="240"/>
                  </a:moveTo>
                  <a:lnTo>
                    <a:pt x="240" y="240"/>
                  </a:lnTo>
                  <a:lnTo>
                    <a:pt x="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20" name="Rectangle 61"/>
            <p:cNvSpPr>
              <a:spLocks noChangeArrowheads="1"/>
            </p:cNvSpPr>
            <p:nvPr/>
          </p:nvSpPr>
          <p:spPr bwMode="auto">
            <a:xfrm>
              <a:off x="1900" y="3705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9521" name="Text Box 62"/>
            <p:cNvSpPr txBox="1">
              <a:spLocks noChangeArrowheads="1"/>
            </p:cNvSpPr>
            <p:nvPr/>
          </p:nvSpPr>
          <p:spPr bwMode="auto">
            <a:xfrm>
              <a:off x="1468" y="3705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pred</a:t>
              </a:r>
            </a:p>
          </p:txBody>
        </p:sp>
        <p:sp>
          <p:nvSpPr>
            <p:cNvPr id="19522" name="Freeform 63"/>
            <p:cNvSpPr>
              <a:spLocks/>
            </p:cNvSpPr>
            <p:nvPr/>
          </p:nvSpPr>
          <p:spPr bwMode="auto">
            <a:xfrm>
              <a:off x="1996" y="3561"/>
              <a:ext cx="528" cy="240"/>
            </a:xfrm>
            <a:custGeom>
              <a:avLst/>
              <a:gdLst>
                <a:gd name="T0" fmla="*/ 0 w 528"/>
                <a:gd name="T1" fmla="*/ 240 h 240"/>
                <a:gd name="T2" fmla="*/ 240 w 528"/>
                <a:gd name="T3" fmla="*/ 240 h 240"/>
                <a:gd name="T4" fmla="*/ 528 w 528"/>
                <a:gd name="T5" fmla="*/ 0 h 240"/>
                <a:gd name="T6" fmla="*/ 0 60000 65536"/>
                <a:gd name="T7" fmla="*/ 0 60000 65536"/>
                <a:gd name="T8" fmla="*/ 0 60000 65536"/>
                <a:gd name="T9" fmla="*/ 0 w 528"/>
                <a:gd name="T10" fmla="*/ 0 h 240"/>
                <a:gd name="T11" fmla="*/ 528 w 528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240">
                  <a:moveTo>
                    <a:pt x="0" y="240"/>
                  </a:moveTo>
                  <a:lnTo>
                    <a:pt x="240" y="240"/>
                  </a:lnTo>
                  <a:lnTo>
                    <a:pt x="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" name="Group 103"/>
          <p:cNvGrpSpPr>
            <a:grpSpLocks/>
          </p:cNvGrpSpPr>
          <p:nvPr/>
        </p:nvGrpSpPr>
        <p:grpSpPr bwMode="auto">
          <a:xfrm>
            <a:off x="561934" y="2205038"/>
            <a:ext cx="7391400" cy="3810000"/>
            <a:chOff x="1036" y="1706"/>
            <a:chExt cx="4656" cy="2400"/>
          </a:xfrm>
        </p:grpSpPr>
        <p:sp>
          <p:nvSpPr>
            <p:cNvPr id="19479" name="Rectangle 65"/>
            <p:cNvSpPr>
              <a:spLocks noChangeArrowheads="1"/>
            </p:cNvSpPr>
            <p:nvPr/>
          </p:nvSpPr>
          <p:spPr bwMode="auto">
            <a:xfrm>
              <a:off x="1036" y="1706"/>
              <a:ext cx="4656" cy="2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9480" name="Rectangle 66"/>
            <p:cNvSpPr>
              <a:spLocks noChangeArrowheads="1"/>
            </p:cNvSpPr>
            <p:nvPr/>
          </p:nvSpPr>
          <p:spPr bwMode="auto">
            <a:xfrm>
              <a:off x="1084" y="1754"/>
              <a:ext cx="3936" cy="15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81000" algn="l"/>
                  <a:tab pos="9525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81000" algn="l"/>
                  <a:tab pos="9525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  <a:buClr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To delete node </a:t>
              </a:r>
              <a:r>
                <a:rPr lang="en-US" altLang="en-US" sz="2000" i="1">
                  <a:latin typeface="Times New Roman" pitchFamily="18" charset="0"/>
                </a:rPr>
                <a:t>del</a:t>
              </a:r>
              <a:r>
                <a:rPr lang="en-US" altLang="en-US" sz="2000">
                  <a:latin typeface="Times New Roman" pitchFamily="18" charset="0"/>
                </a:rPr>
                <a:t> from the SLL headed by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1.	Let </a:t>
              </a:r>
              <a:r>
                <a:rPr lang="en-US" altLang="en-US" sz="2000" i="1">
                  <a:latin typeface="Times New Roman" pitchFamily="18" charset="0"/>
                </a:rPr>
                <a:t>succ</a:t>
              </a:r>
              <a:r>
                <a:rPr lang="en-US" altLang="en-US" sz="2000">
                  <a:latin typeface="Times New Roman" pitchFamily="18" charset="0"/>
                </a:rPr>
                <a:t> be </a:t>
              </a:r>
              <a:r>
                <a:rPr lang="en-US" altLang="en-US" sz="2000" i="1">
                  <a:latin typeface="Times New Roman" pitchFamily="18" charset="0"/>
                </a:rPr>
                <a:t>del</a:t>
              </a:r>
              <a:r>
                <a:rPr lang="en-US" altLang="en-US" sz="2000">
                  <a:latin typeface="Times New Roman" pitchFamily="18" charset="0"/>
                </a:rPr>
                <a:t>’s successor.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2.	If </a:t>
              </a:r>
              <a:r>
                <a:rPr lang="en-US" altLang="en-US" sz="2000" i="1">
                  <a:latin typeface="Times New Roman" pitchFamily="18" charset="0"/>
                </a:rPr>
                <a:t>del</a:t>
              </a:r>
              <a:r>
                <a:rPr lang="en-US" altLang="en-US" sz="2000">
                  <a:latin typeface="Times New Roman" pitchFamily="18" charset="0"/>
                </a:rPr>
                <a:t> =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2.1.	Set </a:t>
              </a:r>
              <a:r>
                <a:rPr lang="en-US" altLang="en-US" sz="2000" i="1">
                  <a:latin typeface="Times New Roman" pitchFamily="18" charset="0"/>
                </a:rPr>
                <a:t>first</a:t>
              </a:r>
              <a:r>
                <a:rPr lang="en-US" altLang="en-US" sz="2000">
                  <a:latin typeface="Times New Roman" pitchFamily="18" charset="0"/>
                </a:rPr>
                <a:t> to </a:t>
              </a:r>
              <a:r>
                <a:rPr lang="en-US" altLang="en-US" sz="2000" i="1">
                  <a:latin typeface="Times New Roman" pitchFamily="18" charset="0"/>
                </a:rPr>
                <a:t>succ</a:t>
              </a:r>
              <a:r>
                <a:rPr lang="en-US" altLang="en-US" sz="2000"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3.	Else: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3.1.	Let </a:t>
              </a:r>
              <a:r>
                <a:rPr lang="en-US" altLang="en-US" sz="2000" i="1">
                  <a:latin typeface="Times New Roman" pitchFamily="18" charset="0"/>
                </a:rPr>
                <a:t>pred</a:t>
              </a:r>
              <a:r>
                <a:rPr lang="en-US" altLang="en-US" sz="2000">
                  <a:latin typeface="Times New Roman" pitchFamily="18" charset="0"/>
                </a:rPr>
                <a:t> be </a:t>
              </a:r>
              <a:r>
                <a:rPr lang="en-US" altLang="en-US" sz="2000" i="1">
                  <a:latin typeface="Times New Roman" pitchFamily="18" charset="0"/>
                </a:rPr>
                <a:t>del</a:t>
              </a:r>
              <a:r>
                <a:rPr lang="en-US" altLang="en-US" sz="2000">
                  <a:latin typeface="Times New Roman" pitchFamily="18" charset="0"/>
                </a:rPr>
                <a:t>’s predecessor.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	3.2.	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Set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pred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’s successor to </a:t>
              </a:r>
              <a:r>
                <a:rPr lang="en-US" altLang="en-US" sz="2000" i="1">
                  <a:solidFill>
                    <a:srgbClr val="FF0000"/>
                  </a:solidFill>
                  <a:latin typeface="Times New Roman" pitchFamily="18" charset="0"/>
                </a:rPr>
                <a:t>succ</a:t>
              </a:r>
              <a:r>
                <a:rPr lang="en-US" altLang="en-US" sz="2000">
                  <a:solidFill>
                    <a:srgbClr val="FF0000"/>
                  </a:solidFill>
                  <a:latin typeface="Times New Roman" pitchFamily="18" charset="0"/>
                </a:rPr>
                <a:t>.</a:t>
              </a:r>
              <a:br>
                <a:rPr lang="en-US" altLang="en-US" sz="2000">
                  <a:latin typeface="Times New Roman" pitchFamily="18" charset="0"/>
                </a:rPr>
              </a:br>
              <a:r>
                <a:rPr lang="en-US" altLang="en-US" sz="2000">
                  <a:latin typeface="Times New Roman" pitchFamily="18" charset="0"/>
                </a:rPr>
                <a:t>4.	Terminate.</a:t>
              </a:r>
              <a:endParaRPr lang="en-GB" altLang="en-US" sz="2000">
                <a:latin typeface="Times New Roman" pitchFamily="18" charset="0"/>
              </a:endParaRPr>
            </a:p>
          </p:txBody>
        </p:sp>
        <p:sp>
          <p:nvSpPr>
            <p:cNvPr id="19481" name="Rectangle 67"/>
            <p:cNvSpPr>
              <a:spLocks noChangeArrowheads="1"/>
            </p:cNvSpPr>
            <p:nvPr/>
          </p:nvSpPr>
          <p:spPr bwMode="auto">
            <a:xfrm>
              <a:off x="1516" y="3530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9482" name="Text Box 68"/>
            <p:cNvSpPr txBox="1">
              <a:spLocks noChangeArrowheads="1"/>
            </p:cNvSpPr>
            <p:nvPr/>
          </p:nvSpPr>
          <p:spPr bwMode="auto">
            <a:xfrm>
              <a:off x="2524" y="3530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dog</a:t>
              </a:r>
            </a:p>
          </p:txBody>
        </p:sp>
        <p:sp>
          <p:nvSpPr>
            <p:cNvPr id="19483" name="Text Box 69"/>
            <p:cNvSpPr txBox="1">
              <a:spLocks noChangeArrowheads="1"/>
            </p:cNvSpPr>
            <p:nvPr/>
          </p:nvSpPr>
          <p:spPr bwMode="auto">
            <a:xfrm>
              <a:off x="3532" y="3530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eel</a:t>
              </a:r>
            </a:p>
          </p:txBody>
        </p:sp>
        <p:sp>
          <p:nvSpPr>
            <p:cNvPr id="19484" name="Text Box 70"/>
            <p:cNvSpPr txBox="1">
              <a:spLocks noChangeArrowheads="1"/>
            </p:cNvSpPr>
            <p:nvPr/>
          </p:nvSpPr>
          <p:spPr bwMode="auto">
            <a:xfrm>
              <a:off x="4540" y="3530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fox</a:t>
              </a:r>
            </a:p>
          </p:txBody>
        </p:sp>
        <p:sp>
          <p:nvSpPr>
            <p:cNvPr id="19485" name="Line 71"/>
            <p:cNvSpPr>
              <a:spLocks noChangeShapeType="1"/>
            </p:cNvSpPr>
            <p:nvPr/>
          </p:nvSpPr>
          <p:spPr bwMode="auto">
            <a:xfrm>
              <a:off x="4012" y="3626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86" name="Text Box 72"/>
            <p:cNvSpPr txBox="1">
              <a:spLocks noChangeArrowheads="1"/>
            </p:cNvSpPr>
            <p:nvPr/>
          </p:nvSpPr>
          <p:spPr bwMode="auto">
            <a:xfrm>
              <a:off x="1084" y="3530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first</a:t>
              </a:r>
            </a:p>
          </p:txBody>
        </p:sp>
        <p:sp>
          <p:nvSpPr>
            <p:cNvPr id="19487" name="Rectangle 73"/>
            <p:cNvSpPr>
              <a:spLocks noChangeArrowheads="1"/>
            </p:cNvSpPr>
            <p:nvPr/>
          </p:nvSpPr>
          <p:spPr bwMode="auto">
            <a:xfrm>
              <a:off x="2908" y="3818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9488" name="Text Box 74"/>
            <p:cNvSpPr txBox="1">
              <a:spLocks noChangeArrowheads="1"/>
            </p:cNvSpPr>
            <p:nvPr/>
          </p:nvSpPr>
          <p:spPr bwMode="auto">
            <a:xfrm>
              <a:off x="2476" y="3818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del</a:t>
              </a:r>
            </a:p>
          </p:txBody>
        </p:sp>
        <p:sp>
          <p:nvSpPr>
            <p:cNvPr id="19489" name="Freeform 75"/>
            <p:cNvSpPr>
              <a:spLocks/>
            </p:cNvSpPr>
            <p:nvPr/>
          </p:nvSpPr>
          <p:spPr bwMode="auto">
            <a:xfrm>
              <a:off x="3004" y="3674"/>
              <a:ext cx="528" cy="240"/>
            </a:xfrm>
            <a:custGeom>
              <a:avLst/>
              <a:gdLst>
                <a:gd name="T0" fmla="*/ 0 w 528"/>
                <a:gd name="T1" fmla="*/ 240 h 240"/>
                <a:gd name="T2" fmla="*/ 240 w 528"/>
                <a:gd name="T3" fmla="*/ 240 h 240"/>
                <a:gd name="T4" fmla="*/ 528 w 528"/>
                <a:gd name="T5" fmla="*/ 0 h 240"/>
                <a:gd name="T6" fmla="*/ 0 60000 65536"/>
                <a:gd name="T7" fmla="*/ 0 60000 65536"/>
                <a:gd name="T8" fmla="*/ 0 60000 65536"/>
                <a:gd name="T9" fmla="*/ 0 w 528"/>
                <a:gd name="T10" fmla="*/ 0 h 240"/>
                <a:gd name="T11" fmla="*/ 528 w 528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240">
                  <a:moveTo>
                    <a:pt x="0" y="240"/>
                  </a:moveTo>
                  <a:lnTo>
                    <a:pt x="240" y="240"/>
                  </a:lnTo>
                  <a:lnTo>
                    <a:pt x="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90" name="Line 76"/>
            <p:cNvSpPr>
              <a:spLocks noChangeShapeType="1"/>
            </p:cNvSpPr>
            <p:nvPr/>
          </p:nvSpPr>
          <p:spPr bwMode="auto">
            <a:xfrm>
              <a:off x="1612" y="3626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91" name="Line 77"/>
            <p:cNvSpPr>
              <a:spLocks noChangeShapeType="1"/>
            </p:cNvSpPr>
            <p:nvPr/>
          </p:nvSpPr>
          <p:spPr bwMode="auto">
            <a:xfrm>
              <a:off x="2188" y="3626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92" name="Line 78"/>
            <p:cNvSpPr>
              <a:spLocks noChangeShapeType="1"/>
            </p:cNvSpPr>
            <p:nvPr/>
          </p:nvSpPr>
          <p:spPr bwMode="auto">
            <a:xfrm>
              <a:off x="1948" y="3626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93" name="Line 79"/>
            <p:cNvSpPr>
              <a:spLocks noChangeShapeType="1"/>
            </p:cNvSpPr>
            <p:nvPr/>
          </p:nvSpPr>
          <p:spPr bwMode="auto">
            <a:xfrm>
              <a:off x="5020" y="3626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94" name="Rectangle 80"/>
            <p:cNvSpPr>
              <a:spLocks noChangeArrowheads="1"/>
            </p:cNvSpPr>
            <p:nvPr/>
          </p:nvSpPr>
          <p:spPr bwMode="auto">
            <a:xfrm>
              <a:off x="3916" y="3818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9495" name="Text Box 81"/>
            <p:cNvSpPr txBox="1">
              <a:spLocks noChangeArrowheads="1"/>
            </p:cNvSpPr>
            <p:nvPr/>
          </p:nvSpPr>
          <p:spPr bwMode="auto">
            <a:xfrm>
              <a:off x="3484" y="3818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succ</a:t>
              </a:r>
            </a:p>
          </p:txBody>
        </p:sp>
        <p:sp>
          <p:nvSpPr>
            <p:cNvPr id="19496" name="Freeform 82"/>
            <p:cNvSpPr>
              <a:spLocks/>
            </p:cNvSpPr>
            <p:nvPr/>
          </p:nvSpPr>
          <p:spPr bwMode="auto">
            <a:xfrm>
              <a:off x="4012" y="3674"/>
              <a:ext cx="528" cy="240"/>
            </a:xfrm>
            <a:custGeom>
              <a:avLst/>
              <a:gdLst>
                <a:gd name="T0" fmla="*/ 0 w 528"/>
                <a:gd name="T1" fmla="*/ 240 h 240"/>
                <a:gd name="T2" fmla="*/ 240 w 528"/>
                <a:gd name="T3" fmla="*/ 240 h 240"/>
                <a:gd name="T4" fmla="*/ 528 w 528"/>
                <a:gd name="T5" fmla="*/ 0 h 240"/>
                <a:gd name="T6" fmla="*/ 0 60000 65536"/>
                <a:gd name="T7" fmla="*/ 0 60000 65536"/>
                <a:gd name="T8" fmla="*/ 0 60000 65536"/>
                <a:gd name="T9" fmla="*/ 0 w 528"/>
                <a:gd name="T10" fmla="*/ 0 h 240"/>
                <a:gd name="T11" fmla="*/ 528 w 528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240">
                  <a:moveTo>
                    <a:pt x="0" y="240"/>
                  </a:moveTo>
                  <a:lnTo>
                    <a:pt x="240" y="240"/>
                  </a:lnTo>
                  <a:lnTo>
                    <a:pt x="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97" name="Rectangle 83"/>
            <p:cNvSpPr>
              <a:spLocks noChangeArrowheads="1"/>
            </p:cNvSpPr>
            <p:nvPr/>
          </p:nvSpPr>
          <p:spPr bwMode="auto">
            <a:xfrm>
              <a:off x="1900" y="3818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9498" name="Text Box 84"/>
            <p:cNvSpPr txBox="1">
              <a:spLocks noChangeArrowheads="1"/>
            </p:cNvSpPr>
            <p:nvPr/>
          </p:nvSpPr>
          <p:spPr bwMode="auto">
            <a:xfrm>
              <a:off x="1468" y="3818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pred</a:t>
              </a:r>
            </a:p>
          </p:txBody>
        </p:sp>
        <p:sp>
          <p:nvSpPr>
            <p:cNvPr id="19499" name="Freeform 85"/>
            <p:cNvSpPr>
              <a:spLocks/>
            </p:cNvSpPr>
            <p:nvPr/>
          </p:nvSpPr>
          <p:spPr bwMode="auto">
            <a:xfrm>
              <a:off x="1996" y="3674"/>
              <a:ext cx="528" cy="240"/>
            </a:xfrm>
            <a:custGeom>
              <a:avLst/>
              <a:gdLst>
                <a:gd name="T0" fmla="*/ 0 w 528"/>
                <a:gd name="T1" fmla="*/ 240 h 240"/>
                <a:gd name="T2" fmla="*/ 240 w 528"/>
                <a:gd name="T3" fmla="*/ 240 h 240"/>
                <a:gd name="T4" fmla="*/ 528 w 528"/>
                <a:gd name="T5" fmla="*/ 0 h 240"/>
                <a:gd name="T6" fmla="*/ 0 60000 65536"/>
                <a:gd name="T7" fmla="*/ 0 60000 65536"/>
                <a:gd name="T8" fmla="*/ 0 60000 65536"/>
                <a:gd name="T9" fmla="*/ 0 w 528"/>
                <a:gd name="T10" fmla="*/ 0 h 240"/>
                <a:gd name="T11" fmla="*/ 528 w 528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240">
                  <a:moveTo>
                    <a:pt x="0" y="240"/>
                  </a:moveTo>
                  <a:lnTo>
                    <a:pt x="240" y="240"/>
                  </a:lnTo>
                  <a:lnTo>
                    <a:pt x="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00" name="Freeform 86"/>
            <p:cNvSpPr>
              <a:spLocks/>
            </p:cNvSpPr>
            <p:nvPr/>
          </p:nvSpPr>
          <p:spPr bwMode="auto">
            <a:xfrm>
              <a:off x="3004" y="3434"/>
              <a:ext cx="1536" cy="192"/>
            </a:xfrm>
            <a:custGeom>
              <a:avLst/>
              <a:gdLst>
                <a:gd name="T0" fmla="*/ 0 w 1536"/>
                <a:gd name="T1" fmla="*/ 192 h 192"/>
                <a:gd name="T2" fmla="*/ 528 w 1536"/>
                <a:gd name="T3" fmla="*/ 0 h 192"/>
                <a:gd name="T4" fmla="*/ 1104 w 1536"/>
                <a:gd name="T5" fmla="*/ 0 h 192"/>
                <a:gd name="T6" fmla="*/ 1536 w 1536"/>
                <a:gd name="T7" fmla="*/ 144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36"/>
                <a:gd name="T13" fmla="*/ 0 h 192"/>
                <a:gd name="T14" fmla="*/ 1536 w 1536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36" h="192">
                  <a:moveTo>
                    <a:pt x="0" y="192"/>
                  </a:moveTo>
                  <a:lnTo>
                    <a:pt x="528" y="0"/>
                  </a:lnTo>
                  <a:lnTo>
                    <a:pt x="1104" y="0"/>
                  </a:lnTo>
                  <a:lnTo>
                    <a:pt x="1536" y="144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107"/>
          <p:cNvGrpSpPr>
            <a:grpSpLocks/>
          </p:cNvGrpSpPr>
          <p:nvPr/>
        </p:nvGrpSpPr>
        <p:grpSpPr bwMode="auto">
          <a:xfrm>
            <a:off x="561934" y="2205038"/>
            <a:ext cx="7391400" cy="3810000"/>
            <a:chOff x="1036" y="1461"/>
            <a:chExt cx="4656" cy="2400"/>
          </a:xfrm>
        </p:grpSpPr>
        <p:sp>
          <p:nvSpPr>
            <p:cNvPr id="19465" name="Rectangle 88"/>
            <p:cNvSpPr>
              <a:spLocks noChangeArrowheads="1"/>
            </p:cNvSpPr>
            <p:nvPr/>
          </p:nvSpPr>
          <p:spPr bwMode="auto">
            <a:xfrm>
              <a:off x="1036" y="1461"/>
              <a:ext cx="4656" cy="2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9466" name="Rectangle 89"/>
            <p:cNvSpPr>
              <a:spLocks noChangeArrowheads="1"/>
            </p:cNvSpPr>
            <p:nvPr/>
          </p:nvSpPr>
          <p:spPr bwMode="auto">
            <a:xfrm>
              <a:off x="1084" y="1509"/>
              <a:ext cx="3936" cy="15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tabLst>
                  <a:tab pos="381000" algn="l"/>
                  <a:tab pos="952500" algn="l"/>
                </a:tabLst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tabLst>
                  <a:tab pos="381000" algn="l"/>
                  <a:tab pos="952500" algn="l"/>
                </a:tabLst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tabLst>
                  <a:tab pos="381000" algn="l"/>
                  <a:tab pos="952500" algn="l"/>
                </a:tabLs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ts val="1800"/>
                </a:spcBef>
                <a:buClrTx/>
                <a:buFontTx/>
                <a:buNone/>
              </a:pPr>
              <a:r>
                <a:rPr lang="en-US" altLang="en-US" sz="2000" dirty="0">
                  <a:latin typeface="Times New Roman" pitchFamily="18" charset="0"/>
                </a:rPr>
                <a:t>To delete node </a:t>
              </a:r>
              <a:r>
                <a:rPr lang="en-US" altLang="en-US" sz="2000" i="1" dirty="0">
                  <a:latin typeface="Times New Roman" pitchFamily="18" charset="0"/>
                </a:rPr>
                <a:t>del</a:t>
              </a:r>
              <a:r>
                <a:rPr lang="en-US" altLang="en-US" sz="2000" dirty="0">
                  <a:latin typeface="Times New Roman" pitchFamily="18" charset="0"/>
                </a:rPr>
                <a:t> from the SLL headed by </a:t>
              </a:r>
              <a:r>
                <a:rPr lang="en-US" altLang="en-US" sz="2000" i="1" dirty="0">
                  <a:latin typeface="Times New Roman" pitchFamily="18" charset="0"/>
                </a:rPr>
                <a:t>first</a:t>
              </a:r>
              <a:r>
                <a:rPr lang="en-US" altLang="en-US" sz="2000" dirty="0">
                  <a:latin typeface="Times New Roman" pitchFamily="18" charset="0"/>
                </a:rPr>
                <a:t>:</a:t>
              </a:r>
              <a:br>
                <a:rPr lang="en-US" altLang="en-US" sz="2000" dirty="0">
                  <a:latin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</a:rPr>
                <a:t>1.	Let </a:t>
              </a:r>
              <a:r>
                <a:rPr lang="en-US" altLang="en-US" sz="2000" i="1" dirty="0">
                  <a:latin typeface="Times New Roman" pitchFamily="18" charset="0"/>
                </a:rPr>
                <a:t>next</a:t>
              </a:r>
              <a:r>
                <a:rPr lang="en-US" altLang="en-US" sz="2000" dirty="0">
                  <a:latin typeface="Times New Roman" pitchFamily="18" charset="0"/>
                </a:rPr>
                <a:t> be </a:t>
              </a:r>
              <a:r>
                <a:rPr lang="en-US" altLang="en-US" sz="2000" i="1" dirty="0" err="1">
                  <a:latin typeface="Times New Roman" pitchFamily="18" charset="0"/>
                </a:rPr>
                <a:t>del</a:t>
              </a:r>
              <a:r>
                <a:rPr lang="en-US" altLang="en-US" sz="2000" dirty="0" err="1">
                  <a:latin typeface="Times New Roman" pitchFamily="18" charset="0"/>
                </a:rPr>
                <a:t>’s</a:t>
              </a:r>
              <a:r>
                <a:rPr lang="en-US" altLang="en-US" sz="2000" dirty="0">
                  <a:latin typeface="Times New Roman" pitchFamily="18" charset="0"/>
                </a:rPr>
                <a:t> next.</a:t>
              </a:r>
              <a:br>
                <a:rPr lang="en-US" altLang="en-US" sz="2000" dirty="0">
                  <a:latin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</a:rPr>
                <a:t>2.	If </a:t>
              </a:r>
              <a:r>
                <a:rPr lang="en-US" altLang="en-US" sz="2000" i="1" dirty="0">
                  <a:latin typeface="Times New Roman" pitchFamily="18" charset="0"/>
                </a:rPr>
                <a:t>del</a:t>
              </a:r>
              <a:r>
                <a:rPr lang="en-US" altLang="en-US" sz="2000" dirty="0">
                  <a:latin typeface="Times New Roman" pitchFamily="18" charset="0"/>
                </a:rPr>
                <a:t> = </a:t>
              </a:r>
              <a:r>
                <a:rPr lang="en-US" altLang="en-US" sz="2000" i="1" dirty="0">
                  <a:latin typeface="Times New Roman" pitchFamily="18" charset="0"/>
                </a:rPr>
                <a:t>first</a:t>
              </a:r>
              <a:r>
                <a:rPr lang="en-US" altLang="en-US" sz="2000" dirty="0">
                  <a:latin typeface="Times New Roman" pitchFamily="18" charset="0"/>
                </a:rPr>
                <a:t>:</a:t>
              </a:r>
              <a:br>
                <a:rPr lang="en-US" altLang="en-US" sz="2000" dirty="0">
                  <a:latin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</a:rPr>
                <a:t>	2.1.	Set </a:t>
              </a:r>
              <a:r>
                <a:rPr lang="en-US" altLang="en-US" sz="2000" i="1" dirty="0">
                  <a:latin typeface="Times New Roman" pitchFamily="18" charset="0"/>
                </a:rPr>
                <a:t>first</a:t>
              </a:r>
              <a:r>
                <a:rPr lang="en-US" altLang="en-US" sz="2000" dirty="0">
                  <a:latin typeface="Times New Roman" pitchFamily="18" charset="0"/>
                </a:rPr>
                <a:t> to </a:t>
              </a:r>
              <a:r>
                <a:rPr lang="en-US" altLang="en-US" sz="2000" i="1" dirty="0">
                  <a:latin typeface="Times New Roman" pitchFamily="18" charset="0"/>
                </a:rPr>
                <a:t>next</a:t>
              </a:r>
              <a:r>
                <a:rPr lang="en-US" altLang="en-US" sz="2000" dirty="0">
                  <a:latin typeface="Times New Roman" pitchFamily="18" charset="0"/>
                </a:rPr>
                <a:t>.</a:t>
              </a:r>
              <a:br>
                <a:rPr lang="en-US" altLang="en-US" sz="2000" dirty="0">
                  <a:latin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</a:rPr>
                <a:t>3.	Else:</a:t>
              </a:r>
              <a:br>
                <a:rPr lang="en-US" altLang="en-US" sz="2000" dirty="0">
                  <a:latin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</a:rPr>
                <a:t>	3.1.	Let </a:t>
              </a:r>
              <a:r>
                <a:rPr lang="en-US" altLang="en-US" sz="2000" i="1" dirty="0" err="1">
                  <a:latin typeface="Times New Roman" pitchFamily="18" charset="0"/>
                </a:rPr>
                <a:t>pred</a:t>
              </a:r>
              <a:r>
                <a:rPr lang="en-US" altLang="en-US" sz="2000" dirty="0">
                  <a:latin typeface="Times New Roman" pitchFamily="18" charset="0"/>
                </a:rPr>
                <a:t> be </a:t>
              </a:r>
              <a:r>
                <a:rPr lang="en-US" altLang="en-US" sz="2000" i="1" dirty="0" err="1">
                  <a:latin typeface="Times New Roman" pitchFamily="18" charset="0"/>
                </a:rPr>
                <a:t>del</a:t>
              </a:r>
              <a:r>
                <a:rPr lang="en-US" altLang="en-US" sz="2000" dirty="0" err="1">
                  <a:latin typeface="Times New Roman" pitchFamily="18" charset="0"/>
                </a:rPr>
                <a:t>’s</a:t>
              </a:r>
              <a:r>
                <a:rPr lang="en-US" altLang="en-US" sz="2000" dirty="0">
                  <a:latin typeface="Times New Roman" pitchFamily="18" charset="0"/>
                </a:rPr>
                <a:t> predecessor.</a:t>
              </a:r>
              <a:br>
                <a:rPr lang="en-US" altLang="en-US" sz="2000" dirty="0">
                  <a:latin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</a:rPr>
                <a:t>	3.2.	Set </a:t>
              </a:r>
              <a:r>
                <a:rPr lang="en-US" altLang="en-US" sz="2000" i="1" dirty="0" err="1">
                  <a:latin typeface="Times New Roman" pitchFamily="18" charset="0"/>
                </a:rPr>
                <a:t>pred</a:t>
              </a:r>
              <a:r>
                <a:rPr lang="en-US" altLang="en-US" sz="2000" dirty="0" err="1">
                  <a:latin typeface="Times New Roman" pitchFamily="18" charset="0"/>
                </a:rPr>
                <a:t>’s</a:t>
              </a:r>
              <a:r>
                <a:rPr lang="en-US" altLang="en-US" sz="2000" dirty="0">
                  <a:latin typeface="Times New Roman" pitchFamily="18" charset="0"/>
                </a:rPr>
                <a:t> next to </a:t>
              </a:r>
              <a:r>
                <a:rPr lang="en-US" altLang="en-US" sz="2000" i="1" dirty="0">
                  <a:latin typeface="Times New Roman" pitchFamily="18" charset="0"/>
                </a:rPr>
                <a:t>next</a:t>
              </a:r>
              <a:r>
                <a:rPr lang="en-US" altLang="en-US" sz="2000" dirty="0">
                  <a:latin typeface="Times New Roman" pitchFamily="18" charset="0"/>
                </a:rPr>
                <a:t>.</a:t>
              </a:r>
              <a:br>
                <a:rPr lang="en-US" altLang="en-US" sz="2000" dirty="0">
                  <a:latin typeface="Times New Roman" pitchFamily="18" charset="0"/>
                </a:rPr>
              </a:br>
              <a:r>
                <a:rPr lang="en-US" altLang="en-US" sz="2000" dirty="0">
                  <a:latin typeface="Times New Roman" pitchFamily="18" charset="0"/>
                </a:rPr>
                <a:t>4.	</a:t>
              </a:r>
              <a:r>
                <a:rPr lang="en-US" altLang="en-US" sz="2000" dirty="0">
                  <a:solidFill>
                    <a:srgbClr val="FF0000"/>
                  </a:solidFill>
                  <a:latin typeface="Times New Roman" pitchFamily="18" charset="0"/>
                </a:rPr>
                <a:t>Terminate.</a:t>
              </a:r>
              <a:endParaRPr lang="en-GB" altLang="en-US" sz="2000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9467" name="Rectangle 90"/>
            <p:cNvSpPr>
              <a:spLocks noChangeArrowheads="1"/>
            </p:cNvSpPr>
            <p:nvPr/>
          </p:nvSpPr>
          <p:spPr bwMode="auto">
            <a:xfrm>
              <a:off x="1516" y="3285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9468" name="Text Box 91"/>
            <p:cNvSpPr txBox="1">
              <a:spLocks noChangeArrowheads="1"/>
            </p:cNvSpPr>
            <p:nvPr/>
          </p:nvSpPr>
          <p:spPr bwMode="auto">
            <a:xfrm>
              <a:off x="2524" y="3285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dog</a:t>
              </a:r>
            </a:p>
          </p:txBody>
        </p:sp>
        <p:sp>
          <p:nvSpPr>
            <p:cNvPr id="19469" name="Text Box 92"/>
            <p:cNvSpPr txBox="1">
              <a:spLocks noChangeArrowheads="1"/>
            </p:cNvSpPr>
            <p:nvPr/>
          </p:nvSpPr>
          <p:spPr bwMode="auto">
            <a:xfrm>
              <a:off x="3532" y="3285"/>
              <a:ext cx="576" cy="17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eel</a:t>
              </a:r>
            </a:p>
          </p:txBody>
        </p:sp>
        <p:sp>
          <p:nvSpPr>
            <p:cNvPr id="19470" name="Text Box 93"/>
            <p:cNvSpPr txBox="1">
              <a:spLocks noChangeArrowheads="1"/>
            </p:cNvSpPr>
            <p:nvPr/>
          </p:nvSpPr>
          <p:spPr bwMode="auto">
            <a:xfrm>
              <a:off x="4540" y="3285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fox</a:t>
              </a:r>
            </a:p>
          </p:txBody>
        </p:sp>
        <p:sp>
          <p:nvSpPr>
            <p:cNvPr id="19471" name="Line 94"/>
            <p:cNvSpPr>
              <a:spLocks noChangeShapeType="1"/>
            </p:cNvSpPr>
            <p:nvPr/>
          </p:nvSpPr>
          <p:spPr bwMode="auto">
            <a:xfrm>
              <a:off x="4012" y="3381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72" name="Text Box 95"/>
            <p:cNvSpPr txBox="1">
              <a:spLocks noChangeArrowheads="1"/>
            </p:cNvSpPr>
            <p:nvPr/>
          </p:nvSpPr>
          <p:spPr bwMode="auto">
            <a:xfrm>
              <a:off x="1084" y="3285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 i="1">
                  <a:latin typeface="Times New Roman" pitchFamily="18" charset="0"/>
                </a:rPr>
                <a:t>first</a:t>
              </a:r>
            </a:p>
          </p:txBody>
        </p:sp>
        <p:sp>
          <p:nvSpPr>
            <p:cNvPr id="19473" name="Line 96"/>
            <p:cNvSpPr>
              <a:spLocks noChangeShapeType="1"/>
            </p:cNvSpPr>
            <p:nvPr/>
          </p:nvSpPr>
          <p:spPr bwMode="auto">
            <a:xfrm>
              <a:off x="1612" y="3381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74" name="Line 97"/>
            <p:cNvSpPr>
              <a:spLocks noChangeShapeType="1"/>
            </p:cNvSpPr>
            <p:nvPr/>
          </p:nvSpPr>
          <p:spPr bwMode="auto">
            <a:xfrm>
              <a:off x="2188" y="3381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75" name="Line 98"/>
            <p:cNvSpPr>
              <a:spLocks noChangeShapeType="1"/>
            </p:cNvSpPr>
            <p:nvPr/>
          </p:nvSpPr>
          <p:spPr bwMode="auto">
            <a:xfrm>
              <a:off x="1948" y="3381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76" name="Line 99"/>
            <p:cNvSpPr>
              <a:spLocks noChangeShapeType="1"/>
            </p:cNvSpPr>
            <p:nvPr/>
          </p:nvSpPr>
          <p:spPr bwMode="auto">
            <a:xfrm>
              <a:off x="5020" y="3381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77" name="Freeform 100"/>
            <p:cNvSpPr>
              <a:spLocks/>
            </p:cNvSpPr>
            <p:nvPr/>
          </p:nvSpPr>
          <p:spPr bwMode="auto">
            <a:xfrm>
              <a:off x="3004" y="3189"/>
              <a:ext cx="1536" cy="192"/>
            </a:xfrm>
            <a:custGeom>
              <a:avLst/>
              <a:gdLst>
                <a:gd name="T0" fmla="*/ 0 w 1536"/>
                <a:gd name="T1" fmla="*/ 192 h 192"/>
                <a:gd name="T2" fmla="*/ 528 w 1536"/>
                <a:gd name="T3" fmla="*/ 0 h 192"/>
                <a:gd name="T4" fmla="*/ 1104 w 1536"/>
                <a:gd name="T5" fmla="*/ 0 h 192"/>
                <a:gd name="T6" fmla="*/ 1536 w 1536"/>
                <a:gd name="T7" fmla="*/ 144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36"/>
                <a:gd name="T13" fmla="*/ 0 h 192"/>
                <a:gd name="T14" fmla="*/ 1536 w 1536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36" h="192">
                  <a:moveTo>
                    <a:pt x="0" y="192"/>
                  </a:moveTo>
                  <a:lnTo>
                    <a:pt x="528" y="0"/>
                  </a:lnTo>
                  <a:lnTo>
                    <a:pt x="1104" y="0"/>
                  </a:lnTo>
                  <a:lnTo>
                    <a:pt x="1536" y="144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78" name="AutoShape 101"/>
            <p:cNvSpPr>
              <a:spLocks/>
            </p:cNvSpPr>
            <p:nvPr/>
          </p:nvSpPr>
          <p:spPr bwMode="auto">
            <a:xfrm>
              <a:off x="4060" y="3593"/>
              <a:ext cx="544" cy="155"/>
            </a:xfrm>
            <a:prstGeom prst="callout1">
              <a:avLst>
                <a:gd name="adj1" fmla="val 46454"/>
                <a:gd name="adj2" fmla="val -8824"/>
                <a:gd name="adj3" fmla="val -64514"/>
                <a:gd name="adj4" fmla="val -40440"/>
              </a:avLst>
            </a:prstGeom>
            <a:noFill/>
            <a:ln w="9525">
              <a:solidFill>
                <a:schemeClr val="accent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dirty="0">
                  <a:solidFill>
                    <a:schemeClr val="accent1">
                      <a:lumMod val="75000"/>
                    </a:schemeClr>
                  </a:solidFill>
                </a:rPr>
                <a:t>garbage</a:t>
              </a:r>
              <a:endParaRPr lang="en-GB" altLang="en-US" sz="18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endParaRPr>
            </a:p>
          </p:txBody>
        </p:sp>
      </p:grpSp>
      <p:sp>
        <p:nvSpPr>
          <p:cNvPr id="194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SLL deletion </a:t>
            </a:r>
            <a:r>
              <a:rPr lang="en-US" altLang="en-US" sz="3200" i="1" dirty="0"/>
              <a:t>(3)</a:t>
            </a:r>
            <a:endParaRPr lang="en-GB" altLang="en-US" sz="3200" dirty="0"/>
          </a:p>
        </p:txBody>
      </p:sp>
      <p:sp>
        <p:nvSpPr>
          <p:cNvPr id="19464" name="Rectangle 3"/>
          <p:cNvSpPr>
            <a:spLocks noGrp="1" noChangeArrowheads="1"/>
          </p:cNvSpPr>
          <p:nvPr>
            <p:ph idx="1"/>
          </p:nvPr>
        </p:nvSpPr>
        <p:spPr>
          <a:xfrm>
            <a:off x="369949" y="1371600"/>
            <a:ext cx="7620000" cy="4800600"/>
          </a:xfrm>
          <a:noFill/>
        </p:spPr>
        <p:txBody>
          <a:bodyPr/>
          <a:lstStyle/>
          <a:p>
            <a:pPr eaLnBrk="1" hangingPunct="1"/>
            <a:r>
              <a:rPr lang="en-US" altLang="en-US" dirty="0"/>
              <a:t>Animation (deleting an intermediate node):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728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SLL deletion </a:t>
            </a:r>
            <a:r>
              <a:rPr lang="en-US" altLang="en-US" sz="3200" i="1" dirty="0"/>
              <a:t>(4)</a:t>
            </a:r>
            <a:endParaRPr lang="en-GB" altLang="en-US" sz="3200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Analysis: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en-US"/>
              <a:t>	Let </a:t>
            </a:r>
            <a:r>
              <a:rPr lang="en-US" altLang="en-US" i="1"/>
              <a:t>n</a:t>
            </a:r>
            <a:r>
              <a:rPr lang="en-US" altLang="en-US"/>
              <a:t> be the SLL’s length.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en-US"/>
              <a:t>	Step 3.1 must visit all nodes from the first node to the deleted node’s predecessor. There are between 0 and </a:t>
            </a:r>
            <a:r>
              <a:rPr lang="en-US" altLang="en-US" i="1"/>
              <a:t>n</a:t>
            </a:r>
            <a:r>
              <a:rPr lang="en-US" altLang="en-US"/>
              <a:t>–1 such nodes.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en-US"/>
              <a:t>	Average no. of nodes visited  =  (</a:t>
            </a:r>
            <a:r>
              <a:rPr lang="en-US" altLang="en-US" i="1"/>
              <a:t>n</a:t>
            </a:r>
            <a:r>
              <a:rPr lang="en-US" altLang="en-US"/>
              <a:t> – 1)/2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en-US" altLang="en-US"/>
              <a:t>	Time complexity is </a:t>
            </a:r>
            <a:r>
              <a:rPr lang="en-US" altLang="en-US" i="1"/>
              <a:t>O</a:t>
            </a:r>
            <a:r>
              <a:rPr lang="en-US" altLang="en-US"/>
              <a:t>(</a:t>
            </a:r>
            <a:r>
              <a:rPr lang="en-US" altLang="en-US" i="1"/>
              <a:t>n</a:t>
            </a:r>
            <a:r>
              <a:rPr lang="en-US" altLang="en-US"/>
              <a:t>).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2010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SLL deletion </a:t>
            </a:r>
            <a:r>
              <a:rPr lang="en-US" altLang="en-US" sz="3200" i="1" dirty="0"/>
              <a:t>(</a:t>
            </a:r>
            <a:r>
              <a:rPr lang="en-US" altLang="en-US" sz="3200" i="1"/>
              <a:t>5) – Java method (in SLL)</a:t>
            </a:r>
            <a:endParaRPr lang="en-GB" altLang="en-US" sz="3200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828800"/>
            <a:ext cx="8229600" cy="3581400"/>
          </a:xfrm>
          <a:noFill/>
          <a:ln>
            <a:solidFill>
              <a:schemeClr val="accent1"/>
            </a:solidFill>
          </a:ln>
        </p:spPr>
        <p:txBody>
          <a:bodyPr/>
          <a:lstStyle/>
          <a:p>
            <a:pPr eaLnBrk="1" hangingPunct="1"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void</a:t>
            </a:r>
            <a:r>
              <a:rPr lang="en-US" altLang="en-US" sz="2000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delete (Node&lt;E&gt; </a:t>
            </a:r>
            <a:r>
              <a:rPr lang="en-US" altLang="en-US" sz="2000" dirty="0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del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) {</a:t>
            </a:r>
            <a:br>
              <a:rPr lang="en-US" altLang="en-US" sz="200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   </a:t>
            </a:r>
            <a:r>
              <a:rPr lang="en-US" altLang="en-US" sz="200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Delete node 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del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 from this SLL.</a:t>
            </a:r>
            <a:b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</a:b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Node&lt;E&gt; </a:t>
            </a:r>
            <a:r>
              <a:rPr lang="en-US" altLang="en-US" sz="2000" dirty="0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next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 </a:t>
            </a:r>
            <a:r>
              <a:rPr lang="en-US" altLang="en-US" sz="2000" dirty="0" err="1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del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.</a:t>
            </a:r>
            <a:r>
              <a:rPr lang="en-US" altLang="en-US" sz="2000" dirty="0" err="1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next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</a:t>
            </a:r>
            <a:r>
              <a:rPr lang="en-US" altLang="en-US" sz="2000" dirty="0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del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== </a:t>
            </a:r>
            <a:r>
              <a:rPr lang="en-US" altLang="en-US" sz="2000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first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) </a:t>
            </a:r>
            <a:r>
              <a:rPr lang="en-US" altLang="en-US" sz="2000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first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= </a:t>
            </a:r>
            <a:r>
              <a:rPr lang="en-US" altLang="en-US" sz="2000" dirty="0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next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else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Node&lt;E&gt; </a:t>
            </a:r>
            <a:r>
              <a:rPr lang="en-US" altLang="en-US" sz="2000" dirty="0" err="1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pred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= </a:t>
            </a:r>
            <a:r>
              <a:rPr lang="en-US" altLang="en-US" sz="2000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first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while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</a:t>
            </a:r>
            <a:r>
              <a:rPr lang="en-US" altLang="en-US" sz="2000" dirty="0" err="1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pred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.</a:t>
            </a:r>
            <a:r>
              <a:rPr lang="en-US" altLang="en-US" sz="2000" dirty="0" err="1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next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!= </a:t>
            </a:r>
            <a:r>
              <a:rPr lang="en-US" altLang="en-US" sz="2000" dirty="0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del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)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</a:t>
            </a:r>
            <a:r>
              <a:rPr lang="en-US" altLang="en-US" sz="2000" dirty="0" err="1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pred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 </a:t>
            </a:r>
            <a:r>
              <a:rPr lang="en-US" altLang="en-US" sz="2000" dirty="0" err="1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pred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.</a:t>
            </a:r>
            <a:r>
              <a:rPr lang="en-US" altLang="en-US" sz="2000" dirty="0" err="1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next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 err="1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pred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.</a:t>
            </a:r>
            <a:r>
              <a:rPr lang="en-US" altLang="en-US" sz="2000" dirty="0" err="1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next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 </a:t>
            </a:r>
            <a:r>
              <a:rPr lang="en-US" altLang="en-US" sz="2000" dirty="0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next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6320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Searching</a:t>
            </a:r>
            <a:endParaRPr lang="en-GB" altLang="en-US" sz="3200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b="1"/>
              <a:t>Problem</a:t>
            </a:r>
            <a:r>
              <a:rPr lang="en-US" altLang="en-US"/>
              <a:t>: Search for a given target value in a linked-list.</a:t>
            </a:r>
          </a:p>
          <a:p>
            <a:pPr eaLnBrk="1" hangingPunct="1"/>
            <a:r>
              <a:rPr lang="en-US" altLang="en-US"/>
              <a:t>Idea: Follow links from the first node to the last node, terminating when we find a node whose element matches the target value.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073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SLL searching </a:t>
            </a:r>
            <a:r>
              <a:rPr lang="en-US" altLang="en-US" sz="3200" i="1" dirty="0"/>
              <a:t>(1)</a:t>
            </a:r>
            <a:endParaRPr lang="en-GB" altLang="en-US" sz="3200" i="1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257300" algn="l"/>
              </a:tabLst>
            </a:pPr>
            <a:r>
              <a:rPr lang="en-US" altLang="en-US" b="1"/>
              <a:t>Unsorted SLL linear search algorithm</a:t>
            </a:r>
            <a:r>
              <a:rPr lang="en-US" altLang="en-US"/>
              <a:t>: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257300" algn="l"/>
              </a:tabLst>
            </a:pPr>
            <a:r>
              <a:rPr lang="en-US" altLang="en-US" sz="2000">
                <a:latin typeface="Times New Roman" pitchFamily="18" charset="0"/>
              </a:rPr>
              <a:t>	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To find which (if any) node of the SLL headed by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first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contains an element equal to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target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257300" algn="l"/>
              </a:tabLst>
            </a:pP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1.	For each node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curr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in the SLL headed by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first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, repeat: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1.1.	If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target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 is equal to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curr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’s element, terminate with 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		answer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curr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altLang="en-US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2.	Terminate yielding </a:t>
            </a:r>
            <a:r>
              <a:rPr lang="en-US" altLang="en-US" sz="2000" i="1">
                <a:latin typeface="Times New Roman" pitchFamily="18" charset="0"/>
                <a:cs typeface="Times New Roman" pitchFamily="18" charset="0"/>
              </a:rPr>
              <a:t>none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229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SLL searching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4305300" algn="l"/>
                <a:tab pos="5740400" algn="l"/>
              </a:tabLst>
            </a:pPr>
            <a:r>
              <a:rPr lang="en-US" altLang="en-US"/>
              <a:t>Analysis (counting comparisons):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  <a:tabLst>
                <a:tab pos="4305300" algn="l"/>
                <a:tab pos="5740400" algn="l"/>
              </a:tabLst>
            </a:pPr>
            <a:r>
              <a:rPr lang="en-US" altLang="en-US">
                <a:cs typeface="Times New Roman" pitchFamily="18" charset="0"/>
              </a:rPr>
              <a:t>	Let </a:t>
            </a:r>
            <a:r>
              <a:rPr lang="en-US" altLang="en-US" i="1">
                <a:cs typeface="Times New Roman" pitchFamily="18" charset="0"/>
              </a:rPr>
              <a:t>n</a:t>
            </a:r>
            <a:r>
              <a:rPr lang="en-US" altLang="en-US">
                <a:cs typeface="Times New Roman" pitchFamily="18" charset="0"/>
              </a:rPr>
              <a:t> be the SLL’s length.</a:t>
            </a:r>
          </a:p>
          <a:p>
            <a:pPr eaLnBrk="1" hangingPunct="1">
              <a:tabLst>
                <a:tab pos="4305300" algn="l"/>
                <a:tab pos="5740400" algn="l"/>
              </a:tabLst>
            </a:pPr>
            <a:r>
              <a:rPr lang="en-US" altLang="en-US">
                <a:cs typeface="Times New Roman" pitchFamily="18" charset="0"/>
              </a:rPr>
              <a:t>If the search is </a:t>
            </a:r>
            <a:r>
              <a:rPr lang="en-US" altLang="en-US" b="1">
                <a:cs typeface="Times New Roman" pitchFamily="18" charset="0"/>
              </a:rPr>
              <a:t>successful</a:t>
            </a:r>
            <a:r>
              <a:rPr lang="en-US" altLang="en-US">
                <a:cs typeface="Times New Roman" pitchFamily="18" charset="0"/>
              </a:rPr>
              <a:t>:</a:t>
            </a:r>
          </a:p>
          <a:p>
            <a:pPr eaLnBrk="1" hangingPunct="1">
              <a:spcBef>
                <a:spcPts val="900"/>
              </a:spcBef>
              <a:buClr>
                <a:schemeClr val="tx2"/>
              </a:buClr>
              <a:buFont typeface="Wingdings" pitchFamily="2" charset="2"/>
              <a:buNone/>
              <a:tabLst>
                <a:tab pos="4305300" algn="l"/>
                <a:tab pos="5740400" algn="l"/>
              </a:tabLst>
            </a:pPr>
            <a:r>
              <a:rPr lang="en-US" altLang="en-US">
                <a:cs typeface="Times New Roman" pitchFamily="18" charset="0"/>
              </a:rPr>
              <a:t>	Average no. of comparisons	=  (</a:t>
            </a:r>
            <a:r>
              <a:rPr lang="en-US" altLang="en-US" i="1">
                <a:cs typeface="Times New Roman" pitchFamily="18" charset="0"/>
              </a:rPr>
              <a:t>n</a:t>
            </a:r>
            <a:r>
              <a:rPr lang="en-US" altLang="en-US">
                <a:cs typeface="Times New Roman" pitchFamily="18" charset="0"/>
              </a:rPr>
              <a:t> + 1)/2</a:t>
            </a:r>
            <a:br>
              <a:rPr lang="en-US" altLang="en-US">
                <a:cs typeface="Times New Roman" pitchFamily="18" charset="0"/>
              </a:rPr>
            </a:br>
            <a:r>
              <a:rPr lang="en-US" altLang="en-US">
                <a:cs typeface="Times New Roman" pitchFamily="18" charset="0"/>
              </a:rPr>
              <a:t>	</a:t>
            </a:r>
            <a:r>
              <a:rPr lang="en-US" altLang="en-US">
                <a:cs typeface="Times New Roman" pitchFamily="18" charset="0"/>
                <a:sym typeface="Symbol" pitchFamily="18" charset="2"/>
              </a:rPr>
              <a:t></a:t>
            </a:r>
            <a:r>
              <a:rPr lang="en-US" altLang="en-US">
                <a:cs typeface="Times New Roman" pitchFamily="18" charset="0"/>
              </a:rPr>
              <a:t>  </a:t>
            </a:r>
            <a:r>
              <a:rPr lang="en-US" altLang="en-US" i="1">
                <a:cs typeface="Times New Roman" pitchFamily="18" charset="0"/>
              </a:rPr>
              <a:t>n</a:t>
            </a:r>
            <a:r>
              <a:rPr lang="en-US" altLang="en-US">
                <a:cs typeface="Times New Roman" pitchFamily="18" charset="0"/>
              </a:rPr>
              <a:t>/2</a:t>
            </a:r>
          </a:p>
          <a:p>
            <a:pPr eaLnBrk="1" hangingPunct="1">
              <a:tabLst>
                <a:tab pos="4305300" algn="l"/>
                <a:tab pos="5740400" algn="l"/>
              </a:tabLst>
            </a:pPr>
            <a:r>
              <a:rPr lang="en-US" altLang="en-US">
                <a:cs typeface="Times New Roman" pitchFamily="18" charset="0"/>
              </a:rPr>
              <a:t>If the search is </a:t>
            </a:r>
            <a:r>
              <a:rPr lang="en-US" altLang="en-US" b="1">
                <a:cs typeface="Times New Roman" pitchFamily="18" charset="0"/>
              </a:rPr>
              <a:t>unsuccessful</a:t>
            </a:r>
            <a:r>
              <a:rPr lang="en-US" altLang="en-US">
                <a:cs typeface="Times New Roman" pitchFamily="18" charset="0"/>
              </a:rPr>
              <a:t>:</a:t>
            </a:r>
          </a:p>
          <a:p>
            <a:pPr eaLnBrk="1" hangingPunct="1">
              <a:spcBef>
                <a:spcPts val="900"/>
              </a:spcBef>
              <a:buClr>
                <a:schemeClr val="tx2"/>
              </a:buClr>
              <a:buFont typeface="Wingdings" pitchFamily="2" charset="2"/>
              <a:buNone/>
              <a:tabLst>
                <a:tab pos="4305300" algn="l"/>
                <a:tab pos="5740400" algn="l"/>
              </a:tabLst>
            </a:pPr>
            <a:r>
              <a:rPr lang="en-US" altLang="en-US">
                <a:cs typeface="Times New Roman" pitchFamily="18" charset="0"/>
              </a:rPr>
              <a:t>	No. of comparisons  =  </a:t>
            </a:r>
            <a:r>
              <a:rPr lang="en-US" altLang="en-US" i="1">
                <a:cs typeface="Times New Roman" pitchFamily="18" charset="0"/>
              </a:rPr>
              <a:t>n</a:t>
            </a:r>
            <a:endParaRPr lang="en-US" altLang="en-US">
              <a:cs typeface="Times New Roman" pitchFamily="18" charset="0"/>
            </a:endParaRPr>
          </a:p>
          <a:p>
            <a:pPr eaLnBrk="1" hangingPunct="1">
              <a:tabLst>
                <a:tab pos="4305300" algn="l"/>
                <a:tab pos="5740400" algn="l"/>
              </a:tabLst>
            </a:pPr>
            <a:r>
              <a:rPr lang="en-US" altLang="en-US">
                <a:cs typeface="Times New Roman" pitchFamily="18" charset="0"/>
              </a:rPr>
              <a:t>In either case, time complexity is </a:t>
            </a:r>
            <a:r>
              <a:rPr lang="en-US" altLang="en-US" i="1">
                <a:cs typeface="Times New Roman" pitchFamily="18" charset="0"/>
              </a:rPr>
              <a:t>O</a:t>
            </a:r>
            <a:r>
              <a:rPr lang="en-US" altLang="en-US">
                <a:cs typeface="Times New Roman" pitchFamily="18" charset="0"/>
              </a:rPr>
              <a:t>(</a:t>
            </a:r>
            <a:r>
              <a:rPr lang="en-US" altLang="en-US" i="1">
                <a:cs typeface="Times New Roman" pitchFamily="18" charset="0"/>
              </a:rPr>
              <a:t>n</a:t>
            </a:r>
            <a:r>
              <a:rPr lang="en-US" altLang="en-US">
                <a:cs typeface="Times New Roman" pitchFamily="18" charset="0"/>
              </a:rPr>
              <a:t>).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1958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SLL searching </a:t>
            </a:r>
            <a:r>
              <a:rPr lang="en-US" altLang="en-US" sz="3200" i="1" dirty="0"/>
              <a:t>(</a:t>
            </a:r>
            <a:r>
              <a:rPr lang="en-US" altLang="en-US" sz="3200" i="1"/>
              <a:t>3) Java method (in SLL)</a:t>
            </a:r>
            <a:endParaRPr lang="en-GB" altLang="en-US" sz="3200" i="1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209800"/>
            <a:ext cx="8229600" cy="685800"/>
          </a:xfrm>
          <a:noFill/>
        </p:spPr>
        <p:txBody>
          <a:bodyPr>
            <a:normAutofit fontScale="92500" lnSpcReduction="20000"/>
          </a:bodyPr>
          <a:lstStyle/>
          <a:p>
            <a:pPr eaLnBrk="1" hangingPunct="1"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>
                <a:solidFill>
                  <a:schemeClr val="tx2"/>
                </a:solidFill>
              </a:rPr>
              <a:t>See Moodle </a:t>
            </a:r>
            <a:r>
              <a:rPr lang="en-US" altLang="en-US"/>
              <a:t>(for this and all the previous methods)</a:t>
            </a:r>
            <a:endParaRPr lang="en-US" altLang="en-US" dirty="0"/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</a:t>
            </a:r>
            <a:endParaRPr lang="en-US" altLang="en-US" sz="2000" dirty="0">
              <a:latin typeface="Courier New" pitchFamily="49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1940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Other SLL algorithms</a:t>
            </a:r>
            <a:endParaRPr lang="en-GB" altLang="en-US" sz="3200" i="1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4305300" algn="l"/>
                <a:tab pos="5740400" algn="l"/>
              </a:tabLst>
            </a:pPr>
            <a:r>
              <a:rPr lang="en-US" altLang="en-US" dirty="0"/>
              <a:t>Some other array algorithms can easily be adapted to SLLs:</a:t>
            </a:r>
          </a:p>
          <a:p>
            <a:pPr lvl="1" eaLnBrk="1" hangingPunct="1">
              <a:tabLst>
                <a:tab pos="4305300" algn="l"/>
                <a:tab pos="5740400" algn="l"/>
              </a:tabLst>
            </a:pPr>
            <a:r>
              <a:rPr lang="en-GB" altLang="en-US" dirty="0"/>
              <a:t>merging</a:t>
            </a:r>
          </a:p>
          <a:p>
            <a:pPr lvl="1" eaLnBrk="1" hangingPunct="1">
              <a:tabLst>
                <a:tab pos="4305300" algn="l"/>
                <a:tab pos="5740400" algn="l"/>
              </a:tabLst>
            </a:pPr>
            <a:r>
              <a:rPr lang="en-GB" altLang="en-US" dirty="0"/>
              <a:t>selection sort</a:t>
            </a:r>
          </a:p>
          <a:p>
            <a:pPr lvl="1" eaLnBrk="1" hangingPunct="1">
              <a:tabLst>
                <a:tab pos="4305300" algn="l"/>
                <a:tab pos="5740400" algn="l"/>
              </a:tabLst>
            </a:pPr>
            <a:r>
              <a:rPr lang="en-GB" altLang="en-US" dirty="0"/>
              <a:t>merge-sort</a:t>
            </a:r>
            <a:endParaRPr lang="en-US" altLang="en-US" dirty="0"/>
          </a:p>
          <a:p>
            <a:pPr eaLnBrk="1" hangingPunct="1">
              <a:tabLst>
                <a:tab pos="4305300" algn="l"/>
                <a:tab pos="5740400" algn="l"/>
              </a:tabLst>
            </a:pPr>
            <a:r>
              <a:rPr lang="en-US" altLang="en-US" dirty="0"/>
              <a:t>But not:</a:t>
            </a:r>
          </a:p>
          <a:p>
            <a:pPr lvl="1" eaLnBrk="1" hangingPunct="1">
              <a:tabLst>
                <a:tab pos="4305300" algn="l"/>
                <a:tab pos="5740400" algn="l"/>
              </a:tabLst>
            </a:pPr>
            <a:r>
              <a:rPr lang="en-GB" altLang="en-US" dirty="0"/>
              <a:t>binary search.</a:t>
            </a:r>
            <a:endParaRPr lang="en-US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57200" y="4876800"/>
            <a:ext cx="8001000" cy="156966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/>
              <a:t>Implementation of generic  SLL  </a:t>
            </a:r>
            <a:r>
              <a:rPr lang="en-GB" sz="2400" dirty="0"/>
              <a:t>can be found on Moodle, together with a class “Animals”, to test </a:t>
            </a:r>
            <a:r>
              <a:rPr lang="en-GB" sz="2400"/>
              <a:t>the methods.</a:t>
            </a:r>
          </a:p>
          <a:p>
            <a:endParaRPr lang="en-GB" sz="2400"/>
          </a:p>
          <a:p>
            <a:r>
              <a:rPr lang="en-GB" sz="2400"/>
              <a:t>Also DLL class, coming up.. </a:t>
            </a:r>
            <a:endParaRPr lang="en-GB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0262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Doubly-linked-lists </a:t>
            </a:r>
            <a:r>
              <a:rPr lang="en-US" altLang="en-US" sz="3200" i="1" dirty="0"/>
              <a:t>(1)</a:t>
            </a:r>
            <a:endParaRPr lang="en-GB" altLang="en-US" sz="3200" i="1" dirty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402137" y="1372644"/>
            <a:ext cx="7620000" cy="4800600"/>
          </a:xfrm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A </a:t>
            </a:r>
            <a:r>
              <a:rPr lang="en-US" altLang="en-US" b="1" dirty="0">
                <a:cs typeface="Times New Roman" pitchFamily="18" charset="0"/>
              </a:rPr>
              <a:t>doubly-linked-list</a:t>
            </a:r>
            <a:r>
              <a:rPr lang="en-US" altLang="en-US" dirty="0">
                <a:cs typeface="Times New Roman" pitchFamily="18" charset="0"/>
              </a:rPr>
              <a:t>  (</a:t>
            </a:r>
            <a:r>
              <a:rPr lang="en-US" altLang="en-US" b="1" dirty="0">
                <a:cs typeface="Times New Roman" pitchFamily="18" charset="0"/>
              </a:rPr>
              <a:t>DLL</a:t>
            </a:r>
            <a:r>
              <a:rPr lang="en-US" altLang="en-US" dirty="0">
                <a:cs typeface="Times New Roman" pitchFamily="18" charset="0"/>
              </a:rPr>
              <a:t>) consists of a header together with a sequence of nodes connected by links in both direction: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Each DLL node contains a single element, plus a link to the node’s successor (next) (or null), plus a link to the node’s predecessor (or null).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The DLL header contains links to the DLL’s first and last nodes (or null if the DLL is empty).</a:t>
            </a:r>
          </a:p>
        </p:txBody>
      </p:sp>
      <p:grpSp>
        <p:nvGrpSpPr>
          <p:cNvPr id="2" name="Group 36"/>
          <p:cNvGrpSpPr>
            <a:grpSpLocks/>
          </p:cNvGrpSpPr>
          <p:nvPr/>
        </p:nvGrpSpPr>
        <p:grpSpPr bwMode="auto">
          <a:xfrm>
            <a:off x="776287" y="4361877"/>
            <a:ext cx="6988175" cy="619125"/>
            <a:chOff x="1315" y="2880"/>
            <a:chExt cx="4402" cy="390"/>
          </a:xfrm>
        </p:grpSpPr>
        <p:sp>
          <p:nvSpPr>
            <p:cNvPr id="27667" name="Rectangle 5"/>
            <p:cNvSpPr>
              <a:spLocks noChangeArrowheads="1"/>
            </p:cNvSpPr>
            <p:nvPr/>
          </p:nvSpPr>
          <p:spPr bwMode="auto">
            <a:xfrm>
              <a:off x="1315" y="2886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7668" name="Rectangle 6"/>
            <p:cNvSpPr>
              <a:spLocks noChangeArrowheads="1"/>
            </p:cNvSpPr>
            <p:nvPr/>
          </p:nvSpPr>
          <p:spPr bwMode="auto">
            <a:xfrm>
              <a:off x="1315" y="3078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7669" name="Text Box 7"/>
            <p:cNvSpPr txBox="1">
              <a:spLocks noChangeArrowheads="1"/>
            </p:cNvSpPr>
            <p:nvPr/>
          </p:nvSpPr>
          <p:spPr bwMode="auto">
            <a:xfrm>
              <a:off x="1939" y="2880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pig</a:t>
              </a:r>
            </a:p>
          </p:txBody>
        </p:sp>
        <p:sp>
          <p:nvSpPr>
            <p:cNvPr id="27670" name="Text Box 8"/>
            <p:cNvSpPr txBox="1">
              <a:spLocks noChangeArrowheads="1"/>
            </p:cNvSpPr>
            <p:nvPr/>
          </p:nvSpPr>
          <p:spPr bwMode="auto">
            <a:xfrm>
              <a:off x="2947" y="2880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dog</a:t>
              </a:r>
            </a:p>
          </p:txBody>
        </p:sp>
        <p:sp>
          <p:nvSpPr>
            <p:cNvPr id="27671" name="Text Box 9"/>
            <p:cNvSpPr txBox="1">
              <a:spLocks noChangeArrowheads="1"/>
            </p:cNvSpPr>
            <p:nvPr/>
          </p:nvSpPr>
          <p:spPr bwMode="auto">
            <a:xfrm>
              <a:off x="4963" y="2880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rat</a:t>
              </a:r>
            </a:p>
          </p:txBody>
        </p:sp>
        <p:sp>
          <p:nvSpPr>
            <p:cNvPr id="27672" name="Line 10"/>
            <p:cNvSpPr>
              <a:spLocks noChangeShapeType="1"/>
            </p:cNvSpPr>
            <p:nvPr/>
          </p:nvSpPr>
          <p:spPr bwMode="auto">
            <a:xfrm>
              <a:off x="2419" y="2934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73" name="Line 11"/>
            <p:cNvSpPr>
              <a:spLocks noChangeShapeType="1"/>
            </p:cNvSpPr>
            <p:nvPr/>
          </p:nvSpPr>
          <p:spPr bwMode="auto">
            <a:xfrm>
              <a:off x="5443" y="2934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74" name="Freeform 12"/>
            <p:cNvSpPr>
              <a:spLocks/>
            </p:cNvSpPr>
            <p:nvPr/>
          </p:nvSpPr>
          <p:spPr bwMode="auto">
            <a:xfrm>
              <a:off x="1411" y="2934"/>
              <a:ext cx="528" cy="48"/>
            </a:xfrm>
            <a:custGeom>
              <a:avLst/>
              <a:gdLst>
                <a:gd name="T0" fmla="*/ 0 w 528"/>
                <a:gd name="T1" fmla="*/ 48 h 48"/>
                <a:gd name="T2" fmla="*/ 96 w 528"/>
                <a:gd name="T3" fmla="*/ 0 h 48"/>
                <a:gd name="T4" fmla="*/ 528 w 528"/>
                <a:gd name="T5" fmla="*/ 0 h 48"/>
                <a:gd name="T6" fmla="*/ 0 60000 65536"/>
                <a:gd name="T7" fmla="*/ 0 60000 65536"/>
                <a:gd name="T8" fmla="*/ 0 60000 65536"/>
                <a:gd name="T9" fmla="*/ 0 w 528"/>
                <a:gd name="T10" fmla="*/ 0 h 48"/>
                <a:gd name="T11" fmla="*/ 528 w 528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48">
                  <a:moveTo>
                    <a:pt x="0" y="48"/>
                  </a:moveTo>
                  <a:lnTo>
                    <a:pt x="96" y="0"/>
                  </a:lnTo>
                  <a:lnTo>
                    <a:pt x="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75" name="Line 13"/>
            <p:cNvSpPr>
              <a:spLocks noChangeShapeType="1"/>
            </p:cNvSpPr>
            <p:nvPr/>
          </p:nvSpPr>
          <p:spPr bwMode="auto">
            <a:xfrm flipH="1">
              <a:off x="4531" y="2999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76" name="Line 14"/>
            <p:cNvSpPr>
              <a:spLocks noChangeShapeType="1"/>
            </p:cNvSpPr>
            <p:nvPr/>
          </p:nvSpPr>
          <p:spPr bwMode="auto">
            <a:xfrm flipH="1">
              <a:off x="2515" y="2999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77" name="Line 15"/>
            <p:cNvSpPr>
              <a:spLocks noChangeShapeType="1"/>
            </p:cNvSpPr>
            <p:nvPr/>
          </p:nvSpPr>
          <p:spPr bwMode="auto">
            <a:xfrm>
              <a:off x="2035" y="2999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78" name="Freeform 16"/>
            <p:cNvSpPr>
              <a:spLocks/>
            </p:cNvSpPr>
            <p:nvPr/>
          </p:nvSpPr>
          <p:spPr bwMode="auto">
            <a:xfrm>
              <a:off x="1403" y="3000"/>
              <a:ext cx="4314" cy="176"/>
            </a:xfrm>
            <a:custGeom>
              <a:avLst/>
              <a:gdLst>
                <a:gd name="T0" fmla="*/ 0 w 4314"/>
                <a:gd name="T1" fmla="*/ 176 h 176"/>
                <a:gd name="T2" fmla="*/ 4314 w 4314"/>
                <a:gd name="T3" fmla="*/ 172 h 176"/>
                <a:gd name="T4" fmla="*/ 4314 w 4314"/>
                <a:gd name="T5" fmla="*/ 0 h 176"/>
                <a:gd name="T6" fmla="*/ 4133 w 4314"/>
                <a:gd name="T7" fmla="*/ 0 h 17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14"/>
                <a:gd name="T13" fmla="*/ 0 h 176"/>
                <a:gd name="T14" fmla="*/ 4314 w 4314"/>
                <a:gd name="T15" fmla="*/ 176 h 17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14" h="176">
                  <a:moveTo>
                    <a:pt x="0" y="176"/>
                  </a:moveTo>
                  <a:lnTo>
                    <a:pt x="4314" y="172"/>
                  </a:lnTo>
                  <a:lnTo>
                    <a:pt x="4314" y="0"/>
                  </a:lnTo>
                  <a:lnTo>
                    <a:pt x="4133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79" name="Text Box 17"/>
            <p:cNvSpPr txBox="1">
              <a:spLocks noChangeArrowheads="1"/>
            </p:cNvSpPr>
            <p:nvPr/>
          </p:nvSpPr>
          <p:spPr bwMode="auto">
            <a:xfrm>
              <a:off x="3955" y="2880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27680" name="Line 18"/>
            <p:cNvSpPr>
              <a:spLocks noChangeShapeType="1"/>
            </p:cNvSpPr>
            <p:nvPr/>
          </p:nvSpPr>
          <p:spPr bwMode="auto">
            <a:xfrm>
              <a:off x="3427" y="2934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81" name="Line 19"/>
            <p:cNvSpPr>
              <a:spLocks noChangeShapeType="1"/>
            </p:cNvSpPr>
            <p:nvPr/>
          </p:nvSpPr>
          <p:spPr bwMode="auto">
            <a:xfrm flipH="1">
              <a:off x="3523" y="2999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82" name="Line 20"/>
            <p:cNvSpPr>
              <a:spLocks noChangeShapeType="1"/>
            </p:cNvSpPr>
            <p:nvPr/>
          </p:nvSpPr>
          <p:spPr bwMode="auto">
            <a:xfrm>
              <a:off x="4435" y="2934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" name="Group 37"/>
          <p:cNvGrpSpPr>
            <a:grpSpLocks/>
          </p:cNvGrpSpPr>
          <p:nvPr/>
        </p:nvGrpSpPr>
        <p:grpSpPr bwMode="auto">
          <a:xfrm>
            <a:off x="841375" y="5573713"/>
            <a:ext cx="2209800" cy="619125"/>
            <a:chOff x="1315" y="3450"/>
            <a:chExt cx="1392" cy="390"/>
          </a:xfrm>
        </p:grpSpPr>
        <p:sp>
          <p:nvSpPr>
            <p:cNvPr id="27660" name="Rectangle 22"/>
            <p:cNvSpPr>
              <a:spLocks noChangeArrowheads="1"/>
            </p:cNvSpPr>
            <p:nvPr/>
          </p:nvSpPr>
          <p:spPr bwMode="auto">
            <a:xfrm>
              <a:off x="1315" y="3456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7661" name="Rectangle 23"/>
            <p:cNvSpPr>
              <a:spLocks noChangeArrowheads="1"/>
            </p:cNvSpPr>
            <p:nvPr/>
          </p:nvSpPr>
          <p:spPr bwMode="auto">
            <a:xfrm>
              <a:off x="1315" y="3648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7662" name="Text Box 24"/>
            <p:cNvSpPr txBox="1">
              <a:spLocks noChangeArrowheads="1"/>
            </p:cNvSpPr>
            <p:nvPr/>
          </p:nvSpPr>
          <p:spPr bwMode="auto">
            <a:xfrm>
              <a:off x="1939" y="3450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dog</a:t>
              </a:r>
            </a:p>
          </p:txBody>
        </p:sp>
        <p:sp>
          <p:nvSpPr>
            <p:cNvPr id="27663" name="Freeform 25"/>
            <p:cNvSpPr>
              <a:spLocks/>
            </p:cNvSpPr>
            <p:nvPr/>
          </p:nvSpPr>
          <p:spPr bwMode="auto">
            <a:xfrm>
              <a:off x="1411" y="3504"/>
              <a:ext cx="528" cy="48"/>
            </a:xfrm>
            <a:custGeom>
              <a:avLst/>
              <a:gdLst>
                <a:gd name="T0" fmla="*/ 0 w 528"/>
                <a:gd name="T1" fmla="*/ 48 h 48"/>
                <a:gd name="T2" fmla="*/ 96 w 528"/>
                <a:gd name="T3" fmla="*/ 0 h 48"/>
                <a:gd name="T4" fmla="*/ 528 w 528"/>
                <a:gd name="T5" fmla="*/ 0 h 48"/>
                <a:gd name="T6" fmla="*/ 0 60000 65536"/>
                <a:gd name="T7" fmla="*/ 0 60000 65536"/>
                <a:gd name="T8" fmla="*/ 0 60000 65536"/>
                <a:gd name="T9" fmla="*/ 0 w 528"/>
                <a:gd name="T10" fmla="*/ 0 h 48"/>
                <a:gd name="T11" fmla="*/ 528 w 528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48">
                  <a:moveTo>
                    <a:pt x="0" y="48"/>
                  </a:moveTo>
                  <a:lnTo>
                    <a:pt x="96" y="0"/>
                  </a:lnTo>
                  <a:lnTo>
                    <a:pt x="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64" name="Line 26"/>
            <p:cNvSpPr>
              <a:spLocks noChangeShapeType="1"/>
            </p:cNvSpPr>
            <p:nvPr/>
          </p:nvSpPr>
          <p:spPr bwMode="auto">
            <a:xfrm>
              <a:off x="2035" y="3589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65" name="Line 27"/>
            <p:cNvSpPr>
              <a:spLocks noChangeShapeType="1"/>
            </p:cNvSpPr>
            <p:nvPr/>
          </p:nvSpPr>
          <p:spPr bwMode="auto">
            <a:xfrm>
              <a:off x="2395" y="3504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66" name="Freeform 28"/>
            <p:cNvSpPr>
              <a:spLocks/>
            </p:cNvSpPr>
            <p:nvPr/>
          </p:nvSpPr>
          <p:spPr bwMode="auto">
            <a:xfrm>
              <a:off x="1411" y="3600"/>
              <a:ext cx="1296" cy="144"/>
            </a:xfrm>
            <a:custGeom>
              <a:avLst/>
              <a:gdLst>
                <a:gd name="T0" fmla="*/ 0 w 1296"/>
                <a:gd name="T1" fmla="*/ 144 h 144"/>
                <a:gd name="T2" fmla="*/ 1296 w 1296"/>
                <a:gd name="T3" fmla="*/ 144 h 144"/>
                <a:gd name="T4" fmla="*/ 1296 w 1296"/>
                <a:gd name="T5" fmla="*/ 0 h 144"/>
                <a:gd name="T6" fmla="*/ 1104 w 1296"/>
                <a:gd name="T7" fmla="*/ 0 h 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96"/>
                <a:gd name="T13" fmla="*/ 0 h 144"/>
                <a:gd name="T14" fmla="*/ 1296 w 1296"/>
                <a:gd name="T15" fmla="*/ 144 h 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96" h="144">
                  <a:moveTo>
                    <a:pt x="0" y="144"/>
                  </a:moveTo>
                  <a:lnTo>
                    <a:pt x="1296" y="144"/>
                  </a:lnTo>
                  <a:lnTo>
                    <a:pt x="1296" y="0"/>
                  </a:lnTo>
                  <a:lnTo>
                    <a:pt x="1104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38"/>
          <p:cNvGrpSpPr>
            <a:grpSpLocks/>
          </p:cNvGrpSpPr>
          <p:nvPr/>
        </p:nvGrpSpPr>
        <p:grpSpPr bwMode="auto">
          <a:xfrm>
            <a:off x="5042577" y="5583238"/>
            <a:ext cx="2541587" cy="609600"/>
            <a:chOff x="3859" y="3456"/>
            <a:chExt cx="1601" cy="384"/>
          </a:xfrm>
        </p:grpSpPr>
        <p:sp>
          <p:nvSpPr>
            <p:cNvPr id="27655" name="Rectangle 30"/>
            <p:cNvSpPr>
              <a:spLocks noChangeArrowheads="1"/>
            </p:cNvSpPr>
            <p:nvPr/>
          </p:nvSpPr>
          <p:spPr bwMode="auto">
            <a:xfrm>
              <a:off x="3859" y="3456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7656" name="Rectangle 31"/>
            <p:cNvSpPr>
              <a:spLocks noChangeArrowheads="1"/>
            </p:cNvSpPr>
            <p:nvPr/>
          </p:nvSpPr>
          <p:spPr bwMode="auto">
            <a:xfrm>
              <a:off x="3859" y="3648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7657" name="Line 32"/>
            <p:cNvSpPr>
              <a:spLocks noChangeShapeType="1"/>
            </p:cNvSpPr>
            <p:nvPr/>
          </p:nvSpPr>
          <p:spPr bwMode="auto">
            <a:xfrm>
              <a:off x="3955" y="3744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58" name="Line 33"/>
            <p:cNvSpPr>
              <a:spLocks noChangeShapeType="1"/>
            </p:cNvSpPr>
            <p:nvPr/>
          </p:nvSpPr>
          <p:spPr bwMode="auto">
            <a:xfrm>
              <a:off x="3955" y="355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59" name="AutoShape 34"/>
            <p:cNvSpPr>
              <a:spLocks/>
            </p:cNvSpPr>
            <p:nvPr/>
          </p:nvSpPr>
          <p:spPr bwMode="auto">
            <a:xfrm>
              <a:off x="4740" y="3566"/>
              <a:ext cx="720" cy="182"/>
            </a:xfrm>
            <a:prstGeom prst="callout1">
              <a:avLst>
                <a:gd name="adj1" fmla="val 39560"/>
                <a:gd name="adj2" fmla="val -6667"/>
                <a:gd name="adj3" fmla="val 36264"/>
                <a:gd name="adj4" fmla="val -80694"/>
              </a:avLst>
            </a:prstGeom>
            <a:noFill/>
            <a:ln w="9525">
              <a:solidFill>
                <a:schemeClr val="accent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chemeClr val="accent1">
                      <a:lumMod val="75000"/>
                    </a:schemeClr>
                  </a:solidFill>
                </a:rPr>
                <a:t>empty DLL</a:t>
              </a:r>
              <a:endParaRPr lang="en-GB" altLang="en-US" sz="180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endParaRPr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417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Doubly-linked-lists </a:t>
            </a:r>
            <a:r>
              <a:rPr lang="en-US" altLang="en-US" sz="3200" i="1" dirty="0"/>
              <a:t>(</a:t>
            </a:r>
            <a:r>
              <a:rPr lang="en-US" altLang="en-US" sz="3200" i="1"/>
              <a:t>2) Java class</a:t>
            </a:r>
            <a:endParaRPr lang="en-GB" altLang="en-US" sz="3200" i="1" dirty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038600"/>
          </a:xfrm>
          <a:noFill/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class</a:t>
            </a:r>
            <a:r>
              <a:rPr lang="en-US" altLang="en-US" sz="200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DLL&lt;E&gt;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Each 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DLL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 object is the header of a </a:t>
            </a:r>
            <a:b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doubly-linked-list.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 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Node&lt;E&gt; </a:t>
            </a:r>
            <a:r>
              <a:rPr lang="en-US" altLang="en-US" sz="2000" dirty="0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first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, </a:t>
            </a:r>
            <a:r>
              <a:rPr lang="en-US" altLang="en-US" sz="2000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last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;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endParaRPr lang="en-US" altLang="en-US" sz="2000" dirty="0">
              <a:latin typeface="Courier New" pitchFamily="49" charset="0"/>
              <a:cs typeface="Times New Roman" pitchFamily="18" charset="0"/>
            </a:endParaRP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DLL ()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Construct an empty DLL</a:t>
            </a:r>
            <a:r>
              <a:rPr lang="en-US" altLang="en-US" sz="2000" dirty="0">
                <a:cs typeface="Times New Roman" pitchFamily="18" charset="0"/>
              </a:rPr>
              <a:t>.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   </a:t>
            </a:r>
            <a:r>
              <a:rPr lang="en-US" altLang="en-US" sz="2000" dirty="0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first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 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null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   </a:t>
            </a:r>
            <a:r>
              <a:rPr lang="en-US" altLang="en-US" sz="2000" dirty="0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last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 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null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…</a:t>
            </a:r>
          </a:p>
        </p:txBody>
      </p:sp>
      <p:sp>
        <p:nvSpPr>
          <p:cNvPr id="418820" name="AutoShape 4"/>
          <p:cNvSpPr>
            <a:spLocks/>
          </p:cNvSpPr>
          <p:nvPr/>
        </p:nvSpPr>
        <p:spPr bwMode="auto">
          <a:xfrm>
            <a:off x="5257800" y="5029200"/>
            <a:ext cx="1981200" cy="288925"/>
          </a:xfrm>
          <a:prstGeom prst="callout1">
            <a:avLst>
              <a:gd name="adj1" fmla="val 39560"/>
              <a:gd name="adj2" fmla="val -3847"/>
              <a:gd name="adj3" fmla="val 41208"/>
              <a:gd name="adj4" fmla="val -131412"/>
            </a:avLst>
          </a:prstGeom>
          <a:noFill/>
          <a:ln w="9525">
            <a:solidFill>
              <a:srgbClr val="C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tx2"/>
                </a:solidFill>
              </a:rPr>
              <a:t>methods (to follow)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804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882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Doubly-linked-lists </a:t>
            </a:r>
            <a:r>
              <a:rPr lang="en-US" altLang="en-US" sz="3200" i="1" dirty="0"/>
              <a:t>(</a:t>
            </a:r>
            <a:r>
              <a:rPr lang="en-US" altLang="en-US" sz="3200" i="1"/>
              <a:t>3) Java class contd.</a:t>
            </a:r>
            <a:endParaRPr lang="en-GB" altLang="en-US" sz="3200" i="1" dirty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905000"/>
            <a:ext cx="8641080" cy="4648200"/>
          </a:xfrm>
          <a:noFill/>
          <a:ln>
            <a:solidFill>
              <a:schemeClr val="accent1"/>
            </a:solidFill>
          </a:ln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  <a:tab pos="2514600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</a:t>
            </a:r>
          </a:p>
          <a:p>
            <a:pPr eaLnBrk="1" hangingPunct="1">
              <a:lnSpc>
                <a:spcPct val="120000"/>
              </a:lnSpc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  <a:tab pos="2514600" algn="l"/>
              </a:tabLst>
            </a:pPr>
            <a:r>
              <a:rPr lang="en-US" altLang="en-US" sz="200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 //////////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Inner class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 //////////</a:t>
            </a:r>
          </a:p>
          <a:p>
            <a:pPr eaLnBrk="1" hangingPunct="1">
              <a:lnSpc>
                <a:spcPct val="120000"/>
              </a:lnSpc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  <a:tab pos="2514600" algn="l"/>
              </a:tabLst>
            </a:pP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 sz="200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static</a:t>
            </a:r>
            <a:r>
              <a:rPr lang="en-US" altLang="en-US" sz="2000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class</a:t>
            </a:r>
            <a:r>
              <a:rPr lang="en-US" altLang="en-US" sz="200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Node&lt;E&gt;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{</a:t>
            </a:r>
            <a:br>
              <a:rPr lang="en-US" altLang="en-US" sz="200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 </a:t>
            </a:r>
            <a:r>
              <a:rPr lang="en-US" altLang="en-US" sz="200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Each 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Node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 object is a node of a </a:t>
            </a:r>
            <a:br>
              <a:rPr lang="en-US" altLang="en-US" sz="200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  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doubly-linked-list. </a:t>
            </a:r>
            <a:endParaRPr lang="en-US" altLang="en-US" sz="2000" dirty="0">
              <a:solidFill>
                <a:srgbClr val="92D050"/>
              </a:solidFill>
              <a:latin typeface="Courier New" pitchFamily="49" charset="0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  <a:tab pos="2514600" algn="l"/>
              </a:tabLst>
            </a:pP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  </a:t>
            </a:r>
            <a:r>
              <a:rPr lang="en-US" altLang="en-US" sz="2000" b="1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 sz="200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E </a:t>
            </a:r>
            <a:r>
              <a:rPr lang="en-US" altLang="en-US" sz="2000" dirty="0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element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 </a:t>
            </a:r>
            <a:r>
              <a:rPr lang="en-US" altLang="en-US" sz="2000" b="1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 sz="200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Node&lt;E&gt; </a:t>
            </a:r>
            <a:r>
              <a:rPr lang="en-US" altLang="en-US" sz="2000" dirty="0" err="1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pred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, </a:t>
            </a:r>
            <a:r>
              <a:rPr lang="en-US" altLang="en-US" sz="2000" dirty="0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next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</a:p>
          <a:p>
            <a:pPr eaLnBrk="1" hangingPunct="1">
              <a:lnSpc>
                <a:spcPct val="120000"/>
              </a:lnSpc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  <a:tab pos="2514600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	</a:t>
            </a:r>
          </a:p>
          <a:p>
            <a:pPr eaLnBrk="1" hangingPunct="1">
              <a:lnSpc>
                <a:spcPct val="120000"/>
              </a:lnSpc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  <a:tab pos="2514600" algn="l"/>
              </a:tabLst>
            </a:pPr>
            <a:r>
              <a:rPr lang="en-US" altLang="en-US" sz="2000" b="1">
                <a:latin typeface="Courier New" pitchFamily="49" charset="0"/>
                <a:cs typeface="Times New Roman" pitchFamily="18" charset="0"/>
              </a:rPr>
              <a:t>   </a:t>
            </a:r>
            <a:r>
              <a:rPr lang="en-US" altLang="en-US" sz="2000" b="1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Node (E </a:t>
            </a:r>
            <a:r>
              <a:rPr lang="en-US" altLang="en-US" sz="2000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elem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, Node&lt;E&gt; </a:t>
            </a:r>
            <a:r>
              <a:rPr lang="en-US" altLang="en-US" sz="2000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pred1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, Node&lt;E&gt; </a:t>
            </a:r>
            <a:r>
              <a:rPr lang="en-US" altLang="en-US" sz="2000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next1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)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element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= </a:t>
            </a:r>
            <a:r>
              <a:rPr lang="en-US" altLang="en-US" sz="2000" dirty="0" err="1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elem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pred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= </a:t>
            </a:r>
            <a:r>
              <a:rPr lang="en-US" altLang="en-US" sz="2000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pred1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; </a:t>
            </a:r>
            <a:r>
              <a:rPr lang="en-US" altLang="en-US" sz="2000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next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= </a:t>
            </a:r>
            <a:r>
              <a:rPr lang="en-US" altLang="en-US" sz="2000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next1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}</a:t>
            </a:r>
          </a:p>
          <a:p>
            <a:pPr eaLnBrk="1" hangingPunct="1">
              <a:lnSpc>
                <a:spcPct val="120000"/>
              </a:lnSpc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  <a:tab pos="2514600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}</a:t>
            </a:r>
          </a:p>
          <a:p>
            <a:pPr eaLnBrk="1" hangingPunct="1">
              <a:lnSpc>
                <a:spcPct val="120000"/>
              </a:lnSpc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  <a:tab pos="2514600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1391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</a:t>
            </a:r>
            <a:r>
              <a:rPr lang="en-US" altLang="en-US" sz="3200"/>
              <a:t>DLL traversal – Java (in DLL)</a:t>
            </a:r>
            <a:endParaRPr lang="en-GB" altLang="en-US" sz="3200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2743200"/>
          </a:xfrm>
          <a:noFill/>
          <a:ln>
            <a:solidFill>
              <a:schemeClr val="accent1"/>
            </a:solidFill>
          </a:ln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void</a:t>
            </a:r>
            <a:r>
              <a:rPr lang="en-US" altLang="en-US" sz="2000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printLastToFirst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 </a:t>
            </a:r>
            <a:r>
              <a:rPr lang="en-US" altLang="en-US" sz="2000">
                <a:solidFill>
                  <a:srgbClr val="92D050"/>
                </a:solidFill>
                <a:cs typeface="Times New Roman" pitchFamily="18" charset="0"/>
              </a:rPr>
              <a:t>Print all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elements in this DLL, in last-to-first order.</a:t>
            </a:r>
            <a:b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Node&lt;E&gt; </a:t>
            </a:r>
            <a:r>
              <a:rPr lang="en-US" altLang="en-US" sz="2000" dirty="0" err="1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curr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= </a:t>
            </a:r>
            <a:r>
              <a:rPr lang="en-US" altLang="en-US" sz="2000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last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while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</a:t>
            </a:r>
            <a:r>
              <a:rPr lang="en-US" altLang="en-US" sz="2000" dirty="0" err="1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curr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!= 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  <a:cs typeface="Times New Roman" pitchFamily="18" charset="0"/>
              </a:rPr>
              <a:t>null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System.</a:t>
            </a:r>
            <a:r>
              <a:rPr lang="en-US" altLang="en-US" sz="2000" dirty="0" err="1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out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.println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(</a:t>
            </a:r>
            <a:r>
              <a:rPr lang="en-US" altLang="en-US" sz="2000" dirty="0" err="1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curr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.</a:t>
            </a:r>
            <a:r>
              <a:rPr lang="en-US" altLang="en-US" sz="2000" dirty="0" err="1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element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 err="1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curr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 </a:t>
            </a:r>
            <a:r>
              <a:rPr lang="en-US" altLang="en-US" sz="2000" dirty="0" err="1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curr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.</a:t>
            </a:r>
            <a:r>
              <a:rPr lang="en-US" altLang="en-US" sz="2000" dirty="0" err="1">
                <a:solidFill>
                  <a:srgbClr val="0070C0"/>
                </a:solidFill>
                <a:latin typeface="Courier New" pitchFamily="49" charset="0"/>
                <a:cs typeface="Times New Roman" pitchFamily="18" charset="0"/>
              </a:rPr>
              <a:t>pred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  <a:br>
              <a:rPr lang="en-US" altLang="en-US" sz="200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}</a:t>
            </a:r>
            <a:endParaRPr lang="en-US" altLang="en-US" sz="2000" dirty="0">
              <a:latin typeface="Courier New" pitchFamily="49" charset="0"/>
              <a:cs typeface="Times New Roman" pitchFamily="18" charset="0"/>
            </a:endParaRPr>
          </a:p>
        </p:txBody>
      </p:sp>
      <p:grpSp>
        <p:nvGrpSpPr>
          <p:cNvPr id="2" name="Group 125"/>
          <p:cNvGrpSpPr>
            <a:grpSpLocks/>
          </p:cNvGrpSpPr>
          <p:nvPr/>
        </p:nvGrpSpPr>
        <p:grpSpPr bwMode="auto">
          <a:xfrm>
            <a:off x="801688" y="5203826"/>
            <a:ext cx="6553200" cy="1371600"/>
            <a:chOff x="1315" y="3427"/>
            <a:chExt cx="4128" cy="864"/>
          </a:xfrm>
        </p:grpSpPr>
        <p:sp>
          <p:nvSpPr>
            <p:cNvPr id="30822" name="Rectangle 106"/>
            <p:cNvSpPr>
              <a:spLocks noChangeArrowheads="1"/>
            </p:cNvSpPr>
            <p:nvPr/>
          </p:nvSpPr>
          <p:spPr bwMode="auto">
            <a:xfrm>
              <a:off x="1315" y="3427"/>
              <a:ext cx="4128" cy="86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0823" name="Rectangle 109"/>
            <p:cNvSpPr>
              <a:spLocks noChangeArrowheads="1"/>
            </p:cNvSpPr>
            <p:nvPr/>
          </p:nvSpPr>
          <p:spPr bwMode="auto">
            <a:xfrm>
              <a:off x="1939" y="3529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0824" name="Rectangle 110"/>
            <p:cNvSpPr>
              <a:spLocks noChangeArrowheads="1"/>
            </p:cNvSpPr>
            <p:nvPr/>
          </p:nvSpPr>
          <p:spPr bwMode="auto">
            <a:xfrm>
              <a:off x="1939" y="3721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0825" name="Text Box 111"/>
            <p:cNvSpPr txBox="1">
              <a:spLocks noChangeArrowheads="1"/>
            </p:cNvSpPr>
            <p:nvPr/>
          </p:nvSpPr>
          <p:spPr bwMode="auto">
            <a:xfrm>
              <a:off x="2563" y="352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ant</a:t>
              </a:r>
            </a:p>
          </p:txBody>
        </p:sp>
        <p:sp>
          <p:nvSpPr>
            <p:cNvPr id="30826" name="Text Box 112"/>
            <p:cNvSpPr txBox="1">
              <a:spLocks noChangeArrowheads="1"/>
            </p:cNvSpPr>
            <p:nvPr/>
          </p:nvSpPr>
          <p:spPr bwMode="auto">
            <a:xfrm>
              <a:off x="3571" y="352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bat</a:t>
              </a:r>
            </a:p>
          </p:txBody>
        </p:sp>
        <p:sp>
          <p:nvSpPr>
            <p:cNvPr id="30827" name="Text Box 113"/>
            <p:cNvSpPr txBox="1">
              <a:spLocks noChangeArrowheads="1"/>
            </p:cNvSpPr>
            <p:nvPr/>
          </p:nvSpPr>
          <p:spPr bwMode="auto">
            <a:xfrm>
              <a:off x="4579" y="352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30828" name="Line 114"/>
            <p:cNvSpPr>
              <a:spLocks noChangeShapeType="1"/>
            </p:cNvSpPr>
            <p:nvPr/>
          </p:nvSpPr>
          <p:spPr bwMode="auto">
            <a:xfrm>
              <a:off x="3043" y="3577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829" name="Line 115"/>
            <p:cNvSpPr>
              <a:spLocks noChangeShapeType="1"/>
            </p:cNvSpPr>
            <p:nvPr/>
          </p:nvSpPr>
          <p:spPr bwMode="auto">
            <a:xfrm>
              <a:off x="4051" y="3577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830" name="Line 116"/>
            <p:cNvSpPr>
              <a:spLocks noChangeShapeType="1"/>
            </p:cNvSpPr>
            <p:nvPr/>
          </p:nvSpPr>
          <p:spPr bwMode="auto">
            <a:xfrm>
              <a:off x="5059" y="357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831" name="Freeform 117"/>
            <p:cNvSpPr>
              <a:spLocks/>
            </p:cNvSpPr>
            <p:nvPr/>
          </p:nvSpPr>
          <p:spPr bwMode="auto">
            <a:xfrm>
              <a:off x="2035" y="3577"/>
              <a:ext cx="528" cy="48"/>
            </a:xfrm>
            <a:custGeom>
              <a:avLst/>
              <a:gdLst>
                <a:gd name="T0" fmla="*/ 0 w 528"/>
                <a:gd name="T1" fmla="*/ 48 h 48"/>
                <a:gd name="T2" fmla="*/ 96 w 528"/>
                <a:gd name="T3" fmla="*/ 0 h 48"/>
                <a:gd name="T4" fmla="*/ 528 w 528"/>
                <a:gd name="T5" fmla="*/ 0 h 48"/>
                <a:gd name="T6" fmla="*/ 0 60000 65536"/>
                <a:gd name="T7" fmla="*/ 0 60000 65536"/>
                <a:gd name="T8" fmla="*/ 0 60000 65536"/>
                <a:gd name="T9" fmla="*/ 0 w 528"/>
                <a:gd name="T10" fmla="*/ 0 h 48"/>
                <a:gd name="T11" fmla="*/ 528 w 528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48">
                  <a:moveTo>
                    <a:pt x="0" y="48"/>
                  </a:moveTo>
                  <a:lnTo>
                    <a:pt x="96" y="0"/>
                  </a:lnTo>
                  <a:lnTo>
                    <a:pt x="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832" name="Line 118"/>
            <p:cNvSpPr>
              <a:spLocks noChangeShapeType="1"/>
            </p:cNvSpPr>
            <p:nvPr/>
          </p:nvSpPr>
          <p:spPr bwMode="auto">
            <a:xfrm flipH="1">
              <a:off x="4147" y="3673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833" name="Line 119"/>
            <p:cNvSpPr>
              <a:spLocks noChangeShapeType="1"/>
            </p:cNvSpPr>
            <p:nvPr/>
          </p:nvSpPr>
          <p:spPr bwMode="auto">
            <a:xfrm flipH="1">
              <a:off x="3139" y="3673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834" name="Line 120"/>
            <p:cNvSpPr>
              <a:spLocks noChangeShapeType="1"/>
            </p:cNvSpPr>
            <p:nvPr/>
          </p:nvSpPr>
          <p:spPr bwMode="auto">
            <a:xfrm>
              <a:off x="2659" y="367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835" name="Freeform 121"/>
            <p:cNvSpPr>
              <a:spLocks/>
            </p:cNvSpPr>
            <p:nvPr/>
          </p:nvSpPr>
          <p:spPr bwMode="auto">
            <a:xfrm>
              <a:off x="2035" y="3673"/>
              <a:ext cx="3312" cy="144"/>
            </a:xfrm>
            <a:custGeom>
              <a:avLst/>
              <a:gdLst>
                <a:gd name="T0" fmla="*/ 0 w 3312"/>
                <a:gd name="T1" fmla="*/ 144 h 144"/>
                <a:gd name="T2" fmla="*/ 3312 w 3312"/>
                <a:gd name="T3" fmla="*/ 144 h 144"/>
                <a:gd name="T4" fmla="*/ 3312 w 3312"/>
                <a:gd name="T5" fmla="*/ 0 h 144"/>
                <a:gd name="T6" fmla="*/ 3120 w 3312"/>
                <a:gd name="T7" fmla="*/ 0 h 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12"/>
                <a:gd name="T13" fmla="*/ 0 h 144"/>
                <a:gd name="T14" fmla="*/ 3312 w 3312"/>
                <a:gd name="T15" fmla="*/ 144 h 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12" h="144">
                  <a:moveTo>
                    <a:pt x="0" y="144"/>
                  </a:moveTo>
                  <a:lnTo>
                    <a:pt x="3312" y="144"/>
                  </a:lnTo>
                  <a:lnTo>
                    <a:pt x="3312" y="0"/>
                  </a:lnTo>
                  <a:lnTo>
                    <a:pt x="312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836" name="Text Box 122"/>
            <p:cNvSpPr txBox="1">
              <a:spLocks noChangeArrowheads="1"/>
            </p:cNvSpPr>
            <p:nvPr/>
          </p:nvSpPr>
          <p:spPr bwMode="auto">
            <a:xfrm>
              <a:off x="1363" y="3523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first</a:t>
              </a:r>
            </a:p>
          </p:txBody>
        </p:sp>
        <p:sp>
          <p:nvSpPr>
            <p:cNvPr id="30837" name="Text Box 123"/>
            <p:cNvSpPr txBox="1">
              <a:spLocks noChangeArrowheads="1"/>
            </p:cNvSpPr>
            <p:nvPr/>
          </p:nvSpPr>
          <p:spPr bwMode="auto">
            <a:xfrm>
              <a:off x="1363" y="3715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last</a:t>
              </a:r>
            </a:p>
          </p:txBody>
        </p:sp>
      </p:grpSp>
      <p:grpSp>
        <p:nvGrpSpPr>
          <p:cNvPr id="3" name="Group 104"/>
          <p:cNvGrpSpPr>
            <a:grpSpLocks/>
          </p:cNvGrpSpPr>
          <p:nvPr/>
        </p:nvGrpSpPr>
        <p:grpSpPr bwMode="auto">
          <a:xfrm>
            <a:off x="801688" y="5199063"/>
            <a:ext cx="6553200" cy="1371600"/>
            <a:chOff x="1202" y="2886"/>
            <a:chExt cx="4128" cy="864"/>
          </a:xfrm>
        </p:grpSpPr>
        <p:grpSp>
          <p:nvGrpSpPr>
            <p:cNvPr id="30786" name="Group 5"/>
            <p:cNvGrpSpPr>
              <a:grpSpLocks/>
            </p:cNvGrpSpPr>
            <p:nvPr/>
          </p:nvGrpSpPr>
          <p:grpSpPr bwMode="auto">
            <a:xfrm>
              <a:off x="1202" y="2886"/>
              <a:ext cx="4128" cy="864"/>
              <a:chOff x="576" y="0"/>
              <a:chExt cx="4128" cy="864"/>
            </a:xfrm>
          </p:grpSpPr>
          <p:sp>
            <p:nvSpPr>
              <p:cNvPr id="30806" name="Rectangle 6"/>
              <p:cNvSpPr>
                <a:spLocks noChangeArrowheads="1"/>
              </p:cNvSpPr>
              <p:nvPr/>
            </p:nvSpPr>
            <p:spPr bwMode="auto">
              <a:xfrm>
                <a:off x="576" y="0"/>
                <a:ext cx="4128" cy="864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0807" name="Rectangle 7"/>
              <p:cNvSpPr>
                <a:spLocks noChangeArrowheads="1"/>
              </p:cNvSpPr>
              <p:nvPr/>
            </p:nvSpPr>
            <p:spPr bwMode="auto">
              <a:xfrm>
                <a:off x="1200" y="102"/>
                <a:ext cx="192" cy="192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0808" name="Rectangle 8"/>
              <p:cNvSpPr>
                <a:spLocks noChangeArrowheads="1"/>
              </p:cNvSpPr>
              <p:nvPr/>
            </p:nvSpPr>
            <p:spPr bwMode="auto">
              <a:xfrm>
                <a:off x="1200" y="294"/>
                <a:ext cx="192" cy="192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0809" name="Text Box 9"/>
              <p:cNvSpPr txBox="1">
                <a:spLocks noChangeArrowheads="1"/>
              </p:cNvSpPr>
              <p:nvPr/>
            </p:nvSpPr>
            <p:spPr bwMode="auto">
              <a:xfrm>
                <a:off x="1824" y="96"/>
                <a:ext cx="576" cy="198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buClrTx/>
                  <a:buFontTx/>
                  <a:buNone/>
                </a:pPr>
                <a:r>
                  <a:rPr lang="en-GB" altLang="en-US" sz="2000">
                    <a:latin typeface="Times New Roman" pitchFamily="18" charset="0"/>
                  </a:rPr>
                  <a:t>ant</a:t>
                </a:r>
              </a:p>
            </p:txBody>
          </p:sp>
          <p:sp>
            <p:nvSpPr>
              <p:cNvPr id="30810" name="Text Box 10"/>
              <p:cNvSpPr txBox="1">
                <a:spLocks noChangeArrowheads="1"/>
              </p:cNvSpPr>
              <p:nvPr/>
            </p:nvSpPr>
            <p:spPr bwMode="auto">
              <a:xfrm>
                <a:off x="2832" y="96"/>
                <a:ext cx="576" cy="198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buClrTx/>
                  <a:buFontTx/>
                  <a:buNone/>
                </a:pPr>
                <a:r>
                  <a:rPr lang="en-GB" altLang="en-US" sz="2000">
                    <a:latin typeface="Times New Roman" pitchFamily="18" charset="0"/>
                  </a:rPr>
                  <a:t>bat</a:t>
                </a:r>
              </a:p>
            </p:txBody>
          </p:sp>
          <p:sp>
            <p:nvSpPr>
              <p:cNvPr id="30811" name="Text Box 11"/>
              <p:cNvSpPr txBox="1">
                <a:spLocks noChangeArrowheads="1"/>
              </p:cNvSpPr>
              <p:nvPr/>
            </p:nvSpPr>
            <p:spPr bwMode="auto">
              <a:xfrm>
                <a:off x="3840" y="96"/>
                <a:ext cx="576" cy="198"/>
              </a:xfrm>
              <a:prstGeom prst="rect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buClrTx/>
                  <a:buFontTx/>
                  <a:buNone/>
                </a:pPr>
                <a:r>
                  <a:rPr lang="en-GB" altLang="en-US" sz="2000">
                    <a:latin typeface="Times New Roman" pitchFamily="18" charset="0"/>
                  </a:rPr>
                  <a:t>cat</a:t>
                </a:r>
              </a:p>
            </p:txBody>
          </p:sp>
          <p:sp>
            <p:nvSpPr>
              <p:cNvPr id="30812" name="Line 12"/>
              <p:cNvSpPr>
                <a:spLocks noChangeShapeType="1"/>
              </p:cNvSpPr>
              <p:nvPr/>
            </p:nvSpPr>
            <p:spPr bwMode="auto">
              <a:xfrm>
                <a:off x="2304" y="150"/>
                <a:ext cx="52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813" name="Line 13"/>
              <p:cNvSpPr>
                <a:spLocks noChangeShapeType="1"/>
              </p:cNvSpPr>
              <p:nvPr/>
            </p:nvSpPr>
            <p:spPr bwMode="auto">
              <a:xfrm>
                <a:off x="3312" y="150"/>
                <a:ext cx="52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814" name="Line 14"/>
              <p:cNvSpPr>
                <a:spLocks noChangeShapeType="1"/>
              </p:cNvSpPr>
              <p:nvPr/>
            </p:nvSpPr>
            <p:spPr bwMode="auto">
              <a:xfrm>
                <a:off x="4320" y="150"/>
                <a:ext cx="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815" name="Freeform 15"/>
              <p:cNvSpPr>
                <a:spLocks/>
              </p:cNvSpPr>
              <p:nvPr/>
            </p:nvSpPr>
            <p:spPr bwMode="auto">
              <a:xfrm>
                <a:off x="1296" y="150"/>
                <a:ext cx="528" cy="48"/>
              </a:xfrm>
              <a:custGeom>
                <a:avLst/>
                <a:gdLst>
                  <a:gd name="T0" fmla="*/ 0 w 528"/>
                  <a:gd name="T1" fmla="*/ 48 h 48"/>
                  <a:gd name="T2" fmla="*/ 96 w 528"/>
                  <a:gd name="T3" fmla="*/ 0 h 48"/>
                  <a:gd name="T4" fmla="*/ 528 w 528"/>
                  <a:gd name="T5" fmla="*/ 0 h 48"/>
                  <a:gd name="T6" fmla="*/ 0 60000 65536"/>
                  <a:gd name="T7" fmla="*/ 0 60000 65536"/>
                  <a:gd name="T8" fmla="*/ 0 60000 65536"/>
                  <a:gd name="T9" fmla="*/ 0 w 528"/>
                  <a:gd name="T10" fmla="*/ 0 h 48"/>
                  <a:gd name="T11" fmla="*/ 528 w 528"/>
                  <a:gd name="T12" fmla="*/ 48 h 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28" h="48">
                    <a:moveTo>
                      <a:pt x="0" y="48"/>
                    </a:moveTo>
                    <a:lnTo>
                      <a:pt x="96" y="0"/>
                    </a:lnTo>
                    <a:lnTo>
                      <a:pt x="528" y="0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816" name="Line 16"/>
              <p:cNvSpPr>
                <a:spLocks noChangeShapeType="1"/>
              </p:cNvSpPr>
              <p:nvPr/>
            </p:nvSpPr>
            <p:spPr bwMode="auto">
              <a:xfrm flipH="1">
                <a:off x="3408" y="246"/>
                <a:ext cx="52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817" name="Line 17"/>
              <p:cNvSpPr>
                <a:spLocks noChangeShapeType="1"/>
              </p:cNvSpPr>
              <p:nvPr/>
            </p:nvSpPr>
            <p:spPr bwMode="auto">
              <a:xfrm flipH="1">
                <a:off x="2400" y="246"/>
                <a:ext cx="52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818" name="Line 18"/>
              <p:cNvSpPr>
                <a:spLocks noChangeShapeType="1"/>
              </p:cNvSpPr>
              <p:nvPr/>
            </p:nvSpPr>
            <p:spPr bwMode="auto">
              <a:xfrm>
                <a:off x="1920" y="246"/>
                <a:ext cx="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819" name="Freeform 19"/>
              <p:cNvSpPr>
                <a:spLocks/>
              </p:cNvSpPr>
              <p:nvPr/>
            </p:nvSpPr>
            <p:spPr bwMode="auto">
              <a:xfrm>
                <a:off x="1296" y="246"/>
                <a:ext cx="3312" cy="144"/>
              </a:xfrm>
              <a:custGeom>
                <a:avLst/>
                <a:gdLst>
                  <a:gd name="T0" fmla="*/ 0 w 3312"/>
                  <a:gd name="T1" fmla="*/ 144 h 144"/>
                  <a:gd name="T2" fmla="*/ 3312 w 3312"/>
                  <a:gd name="T3" fmla="*/ 144 h 144"/>
                  <a:gd name="T4" fmla="*/ 3312 w 3312"/>
                  <a:gd name="T5" fmla="*/ 0 h 144"/>
                  <a:gd name="T6" fmla="*/ 3120 w 3312"/>
                  <a:gd name="T7" fmla="*/ 0 h 1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312"/>
                  <a:gd name="T13" fmla="*/ 0 h 144"/>
                  <a:gd name="T14" fmla="*/ 3312 w 3312"/>
                  <a:gd name="T15" fmla="*/ 144 h 1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312" h="144">
                    <a:moveTo>
                      <a:pt x="0" y="144"/>
                    </a:moveTo>
                    <a:lnTo>
                      <a:pt x="3312" y="144"/>
                    </a:lnTo>
                    <a:lnTo>
                      <a:pt x="3312" y="0"/>
                    </a:lnTo>
                    <a:lnTo>
                      <a:pt x="3120" y="0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 type="oval" w="med" len="med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820" name="Text Box 20"/>
              <p:cNvSpPr txBox="1">
                <a:spLocks noChangeArrowheads="1"/>
              </p:cNvSpPr>
              <p:nvPr/>
            </p:nvSpPr>
            <p:spPr bwMode="auto">
              <a:xfrm>
                <a:off x="624" y="96"/>
                <a:ext cx="52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r">
                  <a:buClrTx/>
                  <a:buFontTx/>
                  <a:buNone/>
                </a:pPr>
                <a:r>
                  <a:rPr lang="en-GB" altLang="en-US" sz="2000">
                    <a:latin typeface="Courier New" pitchFamily="49" charset="0"/>
                  </a:rPr>
                  <a:t>first</a:t>
                </a:r>
              </a:p>
            </p:txBody>
          </p:sp>
          <p:sp>
            <p:nvSpPr>
              <p:cNvPr id="30821" name="Text Box 21"/>
              <p:cNvSpPr txBox="1">
                <a:spLocks noChangeArrowheads="1"/>
              </p:cNvSpPr>
              <p:nvPr/>
            </p:nvSpPr>
            <p:spPr bwMode="auto">
              <a:xfrm>
                <a:off x="624" y="288"/>
                <a:ext cx="52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r">
                  <a:buClrTx/>
                  <a:buFontTx/>
                  <a:buNone/>
                </a:pPr>
                <a:r>
                  <a:rPr lang="en-GB" altLang="en-US" sz="2000">
                    <a:latin typeface="Courier New" pitchFamily="49" charset="0"/>
                  </a:rPr>
                  <a:t>last</a:t>
                </a:r>
              </a:p>
            </p:txBody>
          </p:sp>
        </p:grpSp>
        <p:sp>
          <p:nvSpPr>
            <p:cNvPr id="30787" name="Rectangle 22"/>
            <p:cNvSpPr>
              <a:spLocks noChangeArrowheads="1"/>
            </p:cNvSpPr>
            <p:nvPr/>
          </p:nvSpPr>
          <p:spPr bwMode="auto">
            <a:xfrm>
              <a:off x="1202" y="2886"/>
              <a:ext cx="4128" cy="86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0788" name="Rectangle 23"/>
            <p:cNvSpPr>
              <a:spLocks noChangeArrowheads="1"/>
            </p:cNvSpPr>
            <p:nvPr/>
          </p:nvSpPr>
          <p:spPr bwMode="auto">
            <a:xfrm>
              <a:off x="1826" y="3462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0789" name="Text Box 24"/>
            <p:cNvSpPr txBox="1">
              <a:spLocks noChangeArrowheads="1"/>
            </p:cNvSpPr>
            <p:nvPr/>
          </p:nvSpPr>
          <p:spPr bwMode="auto">
            <a:xfrm>
              <a:off x="1250" y="3462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curr</a:t>
              </a:r>
            </a:p>
          </p:txBody>
        </p:sp>
        <p:sp>
          <p:nvSpPr>
            <p:cNvPr id="30790" name="Rectangle 25"/>
            <p:cNvSpPr>
              <a:spLocks noChangeArrowheads="1"/>
            </p:cNvSpPr>
            <p:nvPr/>
          </p:nvSpPr>
          <p:spPr bwMode="auto">
            <a:xfrm>
              <a:off x="1826" y="2988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0791" name="Rectangle 26"/>
            <p:cNvSpPr>
              <a:spLocks noChangeArrowheads="1"/>
            </p:cNvSpPr>
            <p:nvPr/>
          </p:nvSpPr>
          <p:spPr bwMode="auto">
            <a:xfrm>
              <a:off x="1826" y="3180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0792" name="Text Box 27"/>
            <p:cNvSpPr txBox="1">
              <a:spLocks noChangeArrowheads="1"/>
            </p:cNvSpPr>
            <p:nvPr/>
          </p:nvSpPr>
          <p:spPr bwMode="auto">
            <a:xfrm>
              <a:off x="2450" y="298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ant</a:t>
              </a:r>
            </a:p>
          </p:txBody>
        </p:sp>
        <p:sp>
          <p:nvSpPr>
            <p:cNvPr id="30793" name="Text Box 28"/>
            <p:cNvSpPr txBox="1">
              <a:spLocks noChangeArrowheads="1"/>
            </p:cNvSpPr>
            <p:nvPr/>
          </p:nvSpPr>
          <p:spPr bwMode="auto">
            <a:xfrm>
              <a:off x="3458" y="298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bat</a:t>
              </a:r>
            </a:p>
          </p:txBody>
        </p:sp>
        <p:sp>
          <p:nvSpPr>
            <p:cNvPr id="30794" name="Text Box 29"/>
            <p:cNvSpPr txBox="1">
              <a:spLocks noChangeArrowheads="1"/>
            </p:cNvSpPr>
            <p:nvPr/>
          </p:nvSpPr>
          <p:spPr bwMode="auto">
            <a:xfrm>
              <a:off x="4466" y="298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30795" name="Line 30"/>
            <p:cNvSpPr>
              <a:spLocks noChangeShapeType="1"/>
            </p:cNvSpPr>
            <p:nvPr/>
          </p:nvSpPr>
          <p:spPr bwMode="auto">
            <a:xfrm>
              <a:off x="2930" y="3036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96" name="Line 31"/>
            <p:cNvSpPr>
              <a:spLocks noChangeShapeType="1"/>
            </p:cNvSpPr>
            <p:nvPr/>
          </p:nvSpPr>
          <p:spPr bwMode="auto">
            <a:xfrm>
              <a:off x="3938" y="3036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97" name="Line 32"/>
            <p:cNvSpPr>
              <a:spLocks noChangeShapeType="1"/>
            </p:cNvSpPr>
            <p:nvPr/>
          </p:nvSpPr>
          <p:spPr bwMode="auto">
            <a:xfrm>
              <a:off x="4946" y="303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98" name="Freeform 33"/>
            <p:cNvSpPr>
              <a:spLocks/>
            </p:cNvSpPr>
            <p:nvPr/>
          </p:nvSpPr>
          <p:spPr bwMode="auto">
            <a:xfrm>
              <a:off x="1922" y="3036"/>
              <a:ext cx="528" cy="48"/>
            </a:xfrm>
            <a:custGeom>
              <a:avLst/>
              <a:gdLst>
                <a:gd name="T0" fmla="*/ 0 w 528"/>
                <a:gd name="T1" fmla="*/ 48 h 48"/>
                <a:gd name="T2" fmla="*/ 96 w 528"/>
                <a:gd name="T3" fmla="*/ 0 h 48"/>
                <a:gd name="T4" fmla="*/ 528 w 528"/>
                <a:gd name="T5" fmla="*/ 0 h 48"/>
                <a:gd name="T6" fmla="*/ 0 60000 65536"/>
                <a:gd name="T7" fmla="*/ 0 60000 65536"/>
                <a:gd name="T8" fmla="*/ 0 60000 65536"/>
                <a:gd name="T9" fmla="*/ 0 w 528"/>
                <a:gd name="T10" fmla="*/ 0 h 48"/>
                <a:gd name="T11" fmla="*/ 528 w 528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48">
                  <a:moveTo>
                    <a:pt x="0" y="48"/>
                  </a:moveTo>
                  <a:lnTo>
                    <a:pt x="96" y="0"/>
                  </a:lnTo>
                  <a:lnTo>
                    <a:pt x="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99" name="Line 34"/>
            <p:cNvSpPr>
              <a:spLocks noChangeShapeType="1"/>
            </p:cNvSpPr>
            <p:nvPr/>
          </p:nvSpPr>
          <p:spPr bwMode="auto">
            <a:xfrm flipH="1">
              <a:off x="4034" y="3132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800" name="Line 35"/>
            <p:cNvSpPr>
              <a:spLocks noChangeShapeType="1"/>
            </p:cNvSpPr>
            <p:nvPr/>
          </p:nvSpPr>
          <p:spPr bwMode="auto">
            <a:xfrm flipH="1">
              <a:off x="3026" y="3132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801" name="Line 36"/>
            <p:cNvSpPr>
              <a:spLocks noChangeShapeType="1"/>
            </p:cNvSpPr>
            <p:nvPr/>
          </p:nvSpPr>
          <p:spPr bwMode="auto">
            <a:xfrm>
              <a:off x="2546" y="313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802" name="Freeform 37"/>
            <p:cNvSpPr>
              <a:spLocks/>
            </p:cNvSpPr>
            <p:nvPr/>
          </p:nvSpPr>
          <p:spPr bwMode="auto">
            <a:xfrm>
              <a:off x="1922" y="3132"/>
              <a:ext cx="3312" cy="144"/>
            </a:xfrm>
            <a:custGeom>
              <a:avLst/>
              <a:gdLst>
                <a:gd name="T0" fmla="*/ 0 w 3312"/>
                <a:gd name="T1" fmla="*/ 144 h 144"/>
                <a:gd name="T2" fmla="*/ 3312 w 3312"/>
                <a:gd name="T3" fmla="*/ 144 h 144"/>
                <a:gd name="T4" fmla="*/ 3312 w 3312"/>
                <a:gd name="T5" fmla="*/ 0 h 144"/>
                <a:gd name="T6" fmla="*/ 3120 w 3312"/>
                <a:gd name="T7" fmla="*/ 0 h 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12"/>
                <a:gd name="T13" fmla="*/ 0 h 144"/>
                <a:gd name="T14" fmla="*/ 3312 w 3312"/>
                <a:gd name="T15" fmla="*/ 144 h 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12" h="144">
                  <a:moveTo>
                    <a:pt x="0" y="144"/>
                  </a:moveTo>
                  <a:lnTo>
                    <a:pt x="3312" y="144"/>
                  </a:lnTo>
                  <a:lnTo>
                    <a:pt x="3312" y="0"/>
                  </a:lnTo>
                  <a:lnTo>
                    <a:pt x="312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803" name="Text Box 38"/>
            <p:cNvSpPr txBox="1">
              <a:spLocks noChangeArrowheads="1"/>
            </p:cNvSpPr>
            <p:nvPr/>
          </p:nvSpPr>
          <p:spPr bwMode="auto">
            <a:xfrm>
              <a:off x="1250" y="2982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first</a:t>
              </a:r>
            </a:p>
          </p:txBody>
        </p:sp>
        <p:sp>
          <p:nvSpPr>
            <p:cNvPr id="30804" name="Text Box 39"/>
            <p:cNvSpPr txBox="1">
              <a:spLocks noChangeArrowheads="1"/>
            </p:cNvSpPr>
            <p:nvPr/>
          </p:nvSpPr>
          <p:spPr bwMode="auto">
            <a:xfrm>
              <a:off x="1250" y="3174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last</a:t>
              </a:r>
            </a:p>
          </p:txBody>
        </p:sp>
        <p:sp>
          <p:nvSpPr>
            <p:cNvPr id="30805" name="Freeform 40"/>
            <p:cNvSpPr>
              <a:spLocks/>
            </p:cNvSpPr>
            <p:nvPr/>
          </p:nvSpPr>
          <p:spPr bwMode="auto">
            <a:xfrm>
              <a:off x="1922" y="3174"/>
              <a:ext cx="2544" cy="384"/>
            </a:xfrm>
            <a:custGeom>
              <a:avLst/>
              <a:gdLst>
                <a:gd name="T0" fmla="*/ 0 w 2544"/>
                <a:gd name="T1" fmla="*/ 384 h 384"/>
                <a:gd name="T2" fmla="*/ 2160 w 2544"/>
                <a:gd name="T3" fmla="*/ 384 h 384"/>
                <a:gd name="T4" fmla="*/ 2544 w 2544"/>
                <a:gd name="T5" fmla="*/ 0 h 384"/>
                <a:gd name="T6" fmla="*/ 0 60000 65536"/>
                <a:gd name="T7" fmla="*/ 0 60000 65536"/>
                <a:gd name="T8" fmla="*/ 0 60000 65536"/>
                <a:gd name="T9" fmla="*/ 0 w 2544"/>
                <a:gd name="T10" fmla="*/ 0 h 384"/>
                <a:gd name="T11" fmla="*/ 2544 w 2544"/>
                <a:gd name="T12" fmla="*/ 384 h 3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44" h="384">
                  <a:moveTo>
                    <a:pt x="0" y="384"/>
                  </a:moveTo>
                  <a:lnTo>
                    <a:pt x="2160" y="384"/>
                  </a:lnTo>
                  <a:lnTo>
                    <a:pt x="2544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" name="Group 103"/>
          <p:cNvGrpSpPr>
            <a:grpSpLocks/>
          </p:cNvGrpSpPr>
          <p:nvPr/>
        </p:nvGrpSpPr>
        <p:grpSpPr bwMode="auto">
          <a:xfrm>
            <a:off x="801688" y="5199063"/>
            <a:ext cx="6553200" cy="1371600"/>
            <a:chOff x="1202" y="2977"/>
            <a:chExt cx="4128" cy="864"/>
          </a:xfrm>
        </p:grpSpPr>
        <p:sp>
          <p:nvSpPr>
            <p:cNvPr id="30767" name="Rectangle 42"/>
            <p:cNvSpPr>
              <a:spLocks noChangeArrowheads="1"/>
            </p:cNvSpPr>
            <p:nvPr/>
          </p:nvSpPr>
          <p:spPr bwMode="auto">
            <a:xfrm>
              <a:off x="1202" y="2977"/>
              <a:ext cx="4128" cy="86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0768" name="Rectangle 43"/>
            <p:cNvSpPr>
              <a:spLocks noChangeArrowheads="1"/>
            </p:cNvSpPr>
            <p:nvPr/>
          </p:nvSpPr>
          <p:spPr bwMode="auto">
            <a:xfrm>
              <a:off x="1826" y="3553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0769" name="Text Box 44"/>
            <p:cNvSpPr txBox="1">
              <a:spLocks noChangeArrowheads="1"/>
            </p:cNvSpPr>
            <p:nvPr/>
          </p:nvSpPr>
          <p:spPr bwMode="auto">
            <a:xfrm>
              <a:off x="1250" y="3553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curr</a:t>
              </a:r>
            </a:p>
          </p:txBody>
        </p:sp>
        <p:sp>
          <p:nvSpPr>
            <p:cNvPr id="30770" name="Rectangle 45"/>
            <p:cNvSpPr>
              <a:spLocks noChangeArrowheads="1"/>
            </p:cNvSpPr>
            <p:nvPr/>
          </p:nvSpPr>
          <p:spPr bwMode="auto">
            <a:xfrm>
              <a:off x="1826" y="3079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0771" name="Rectangle 46"/>
            <p:cNvSpPr>
              <a:spLocks noChangeArrowheads="1"/>
            </p:cNvSpPr>
            <p:nvPr/>
          </p:nvSpPr>
          <p:spPr bwMode="auto">
            <a:xfrm>
              <a:off x="1826" y="3271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0772" name="Text Box 47"/>
            <p:cNvSpPr txBox="1">
              <a:spLocks noChangeArrowheads="1"/>
            </p:cNvSpPr>
            <p:nvPr/>
          </p:nvSpPr>
          <p:spPr bwMode="auto">
            <a:xfrm>
              <a:off x="2450" y="307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ant</a:t>
              </a:r>
            </a:p>
          </p:txBody>
        </p:sp>
        <p:sp>
          <p:nvSpPr>
            <p:cNvPr id="30773" name="Text Box 48"/>
            <p:cNvSpPr txBox="1">
              <a:spLocks noChangeArrowheads="1"/>
            </p:cNvSpPr>
            <p:nvPr/>
          </p:nvSpPr>
          <p:spPr bwMode="auto">
            <a:xfrm>
              <a:off x="3458" y="307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bat</a:t>
              </a:r>
            </a:p>
          </p:txBody>
        </p:sp>
        <p:sp>
          <p:nvSpPr>
            <p:cNvPr id="30774" name="Text Box 49"/>
            <p:cNvSpPr txBox="1">
              <a:spLocks noChangeArrowheads="1"/>
            </p:cNvSpPr>
            <p:nvPr/>
          </p:nvSpPr>
          <p:spPr bwMode="auto">
            <a:xfrm>
              <a:off x="4466" y="3073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30775" name="Line 50"/>
            <p:cNvSpPr>
              <a:spLocks noChangeShapeType="1"/>
            </p:cNvSpPr>
            <p:nvPr/>
          </p:nvSpPr>
          <p:spPr bwMode="auto">
            <a:xfrm>
              <a:off x="2930" y="3127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76" name="Line 51"/>
            <p:cNvSpPr>
              <a:spLocks noChangeShapeType="1"/>
            </p:cNvSpPr>
            <p:nvPr/>
          </p:nvSpPr>
          <p:spPr bwMode="auto">
            <a:xfrm>
              <a:off x="3938" y="3127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77" name="Line 52"/>
            <p:cNvSpPr>
              <a:spLocks noChangeShapeType="1"/>
            </p:cNvSpPr>
            <p:nvPr/>
          </p:nvSpPr>
          <p:spPr bwMode="auto">
            <a:xfrm>
              <a:off x="4946" y="312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78" name="Freeform 53"/>
            <p:cNvSpPr>
              <a:spLocks/>
            </p:cNvSpPr>
            <p:nvPr/>
          </p:nvSpPr>
          <p:spPr bwMode="auto">
            <a:xfrm>
              <a:off x="1922" y="3127"/>
              <a:ext cx="528" cy="48"/>
            </a:xfrm>
            <a:custGeom>
              <a:avLst/>
              <a:gdLst>
                <a:gd name="T0" fmla="*/ 0 w 528"/>
                <a:gd name="T1" fmla="*/ 48 h 48"/>
                <a:gd name="T2" fmla="*/ 96 w 528"/>
                <a:gd name="T3" fmla="*/ 0 h 48"/>
                <a:gd name="T4" fmla="*/ 528 w 528"/>
                <a:gd name="T5" fmla="*/ 0 h 48"/>
                <a:gd name="T6" fmla="*/ 0 60000 65536"/>
                <a:gd name="T7" fmla="*/ 0 60000 65536"/>
                <a:gd name="T8" fmla="*/ 0 60000 65536"/>
                <a:gd name="T9" fmla="*/ 0 w 528"/>
                <a:gd name="T10" fmla="*/ 0 h 48"/>
                <a:gd name="T11" fmla="*/ 528 w 528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48">
                  <a:moveTo>
                    <a:pt x="0" y="48"/>
                  </a:moveTo>
                  <a:lnTo>
                    <a:pt x="96" y="0"/>
                  </a:lnTo>
                  <a:lnTo>
                    <a:pt x="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79" name="Line 54"/>
            <p:cNvSpPr>
              <a:spLocks noChangeShapeType="1"/>
            </p:cNvSpPr>
            <p:nvPr/>
          </p:nvSpPr>
          <p:spPr bwMode="auto">
            <a:xfrm flipH="1">
              <a:off x="4034" y="3223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80" name="Line 55"/>
            <p:cNvSpPr>
              <a:spLocks noChangeShapeType="1"/>
            </p:cNvSpPr>
            <p:nvPr/>
          </p:nvSpPr>
          <p:spPr bwMode="auto">
            <a:xfrm flipH="1">
              <a:off x="3026" y="3223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81" name="Line 56"/>
            <p:cNvSpPr>
              <a:spLocks noChangeShapeType="1"/>
            </p:cNvSpPr>
            <p:nvPr/>
          </p:nvSpPr>
          <p:spPr bwMode="auto">
            <a:xfrm>
              <a:off x="2546" y="322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82" name="Freeform 57"/>
            <p:cNvSpPr>
              <a:spLocks/>
            </p:cNvSpPr>
            <p:nvPr/>
          </p:nvSpPr>
          <p:spPr bwMode="auto">
            <a:xfrm>
              <a:off x="1922" y="3223"/>
              <a:ext cx="3312" cy="144"/>
            </a:xfrm>
            <a:custGeom>
              <a:avLst/>
              <a:gdLst>
                <a:gd name="T0" fmla="*/ 0 w 3312"/>
                <a:gd name="T1" fmla="*/ 144 h 144"/>
                <a:gd name="T2" fmla="*/ 3312 w 3312"/>
                <a:gd name="T3" fmla="*/ 144 h 144"/>
                <a:gd name="T4" fmla="*/ 3312 w 3312"/>
                <a:gd name="T5" fmla="*/ 0 h 144"/>
                <a:gd name="T6" fmla="*/ 3120 w 3312"/>
                <a:gd name="T7" fmla="*/ 0 h 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12"/>
                <a:gd name="T13" fmla="*/ 0 h 144"/>
                <a:gd name="T14" fmla="*/ 3312 w 3312"/>
                <a:gd name="T15" fmla="*/ 144 h 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12" h="144">
                  <a:moveTo>
                    <a:pt x="0" y="144"/>
                  </a:moveTo>
                  <a:lnTo>
                    <a:pt x="3312" y="144"/>
                  </a:lnTo>
                  <a:lnTo>
                    <a:pt x="3312" y="0"/>
                  </a:lnTo>
                  <a:lnTo>
                    <a:pt x="312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83" name="Text Box 58"/>
            <p:cNvSpPr txBox="1">
              <a:spLocks noChangeArrowheads="1"/>
            </p:cNvSpPr>
            <p:nvPr/>
          </p:nvSpPr>
          <p:spPr bwMode="auto">
            <a:xfrm>
              <a:off x="1250" y="3073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first</a:t>
              </a:r>
            </a:p>
          </p:txBody>
        </p:sp>
        <p:sp>
          <p:nvSpPr>
            <p:cNvPr id="30784" name="Text Box 59"/>
            <p:cNvSpPr txBox="1">
              <a:spLocks noChangeArrowheads="1"/>
            </p:cNvSpPr>
            <p:nvPr/>
          </p:nvSpPr>
          <p:spPr bwMode="auto">
            <a:xfrm>
              <a:off x="1250" y="3265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last</a:t>
              </a:r>
            </a:p>
          </p:txBody>
        </p:sp>
        <p:sp>
          <p:nvSpPr>
            <p:cNvPr id="30785" name="Freeform 60"/>
            <p:cNvSpPr>
              <a:spLocks/>
            </p:cNvSpPr>
            <p:nvPr/>
          </p:nvSpPr>
          <p:spPr bwMode="auto">
            <a:xfrm>
              <a:off x="1930" y="3265"/>
              <a:ext cx="1528" cy="384"/>
            </a:xfrm>
            <a:custGeom>
              <a:avLst/>
              <a:gdLst>
                <a:gd name="T0" fmla="*/ 0 w 1528"/>
                <a:gd name="T1" fmla="*/ 384 h 384"/>
                <a:gd name="T2" fmla="*/ 1144 w 1528"/>
                <a:gd name="T3" fmla="*/ 384 h 384"/>
                <a:gd name="T4" fmla="*/ 1528 w 1528"/>
                <a:gd name="T5" fmla="*/ 0 h 384"/>
                <a:gd name="T6" fmla="*/ 0 60000 65536"/>
                <a:gd name="T7" fmla="*/ 0 60000 65536"/>
                <a:gd name="T8" fmla="*/ 0 60000 65536"/>
                <a:gd name="T9" fmla="*/ 0 w 1528"/>
                <a:gd name="T10" fmla="*/ 0 h 384"/>
                <a:gd name="T11" fmla="*/ 1528 w 1528"/>
                <a:gd name="T12" fmla="*/ 384 h 3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8" h="384">
                  <a:moveTo>
                    <a:pt x="0" y="384"/>
                  </a:moveTo>
                  <a:lnTo>
                    <a:pt x="1144" y="384"/>
                  </a:lnTo>
                  <a:lnTo>
                    <a:pt x="1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102"/>
          <p:cNvGrpSpPr>
            <a:grpSpLocks/>
          </p:cNvGrpSpPr>
          <p:nvPr/>
        </p:nvGrpSpPr>
        <p:grpSpPr bwMode="auto">
          <a:xfrm>
            <a:off x="801688" y="5199063"/>
            <a:ext cx="6553200" cy="1371600"/>
            <a:chOff x="1202" y="3070"/>
            <a:chExt cx="4128" cy="864"/>
          </a:xfrm>
        </p:grpSpPr>
        <p:sp>
          <p:nvSpPr>
            <p:cNvPr id="30748" name="Rectangle 62"/>
            <p:cNvSpPr>
              <a:spLocks noChangeArrowheads="1"/>
            </p:cNvSpPr>
            <p:nvPr/>
          </p:nvSpPr>
          <p:spPr bwMode="auto">
            <a:xfrm>
              <a:off x="1202" y="3070"/>
              <a:ext cx="4128" cy="86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0749" name="Rectangle 63"/>
            <p:cNvSpPr>
              <a:spLocks noChangeArrowheads="1"/>
            </p:cNvSpPr>
            <p:nvPr/>
          </p:nvSpPr>
          <p:spPr bwMode="auto">
            <a:xfrm>
              <a:off x="1826" y="3646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0750" name="Text Box 64"/>
            <p:cNvSpPr txBox="1">
              <a:spLocks noChangeArrowheads="1"/>
            </p:cNvSpPr>
            <p:nvPr/>
          </p:nvSpPr>
          <p:spPr bwMode="auto">
            <a:xfrm>
              <a:off x="1250" y="3646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curr</a:t>
              </a:r>
            </a:p>
          </p:txBody>
        </p:sp>
        <p:sp>
          <p:nvSpPr>
            <p:cNvPr id="30751" name="Rectangle 65"/>
            <p:cNvSpPr>
              <a:spLocks noChangeArrowheads="1"/>
            </p:cNvSpPr>
            <p:nvPr/>
          </p:nvSpPr>
          <p:spPr bwMode="auto">
            <a:xfrm>
              <a:off x="1826" y="3172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0752" name="Rectangle 66"/>
            <p:cNvSpPr>
              <a:spLocks noChangeArrowheads="1"/>
            </p:cNvSpPr>
            <p:nvPr/>
          </p:nvSpPr>
          <p:spPr bwMode="auto">
            <a:xfrm>
              <a:off x="1826" y="3364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0753" name="Text Box 67"/>
            <p:cNvSpPr txBox="1">
              <a:spLocks noChangeArrowheads="1"/>
            </p:cNvSpPr>
            <p:nvPr/>
          </p:nvSpPr>
          <p:spPr bwMode="auto">
            <a:xfrm>
              <a:off x="2450" y="316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ant</a:t>
              </a:r>
            </a:p>
          </p:txBody>
        </p:sp>
        <p:sp>
          <p:nvSpPr>
            <p:cNvPr id="30754" name="Text Box 68"/>
            <p:cNvSpPr txBox="1">
              <a:spLocks noChangeArrowheads="1"/>
            </p:cNvSpPr>
            <p:nvPr/>
          </p:nvSpPr>
          <p:spPr bwMode="auto">
            <a:xfrm>
              <a:off x="3458" y="316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bat</a:t>
              </a:r>
            </a:p>
          </p:txBody>
        </p:sp>
        <p:sp>
          <p:nvSpPr>
            <p:cNvPr id="30755" name="Text Box 69"/>
            <p:cNvSpPr txBox="1">
              <a:spLocks noChangeArrowheads="1"/>
            </p:cNvSpPr>
            <p:nvPr/>
          </p:nvSpPr>
          <p:spPr bwMode="auto">
            <a:xfrm>
              <a:off x="4466" y="3166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30756" name="Line 70"/>
            <p:cNvSpPr>
              <a:spLocks noChangeShapeType="1"/>
            </p:cNvSpPr>
            <p:nvPr/>
          </p:nvSpPr>
          <p:spPr bwMode="auto">
            <a:xfrm>
              <a:off x="2930" y="3220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57" name="Line 71"/>
            <p:cNvSpPr>
              <a:spLocks noChangeShapeType="1"/>
            </p:cNvSpPr>
            <p:nvPr/>
          </p:nvSpPr>
          <p:spPr bwMode="auto">
            <a:xfrm>
              <a:off x="3938" y="3220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58" name="Line 72"/>
            <p:cNvSpPr>
              <a:spLocks noChangeShapeType="1"/>
            </p:cNvSpPr>
            <p:nvPr/>
          </p:nvSpPr>
          <p:spPr bwMode="auto">
            <a:xfrm>
              <a:off x="4946" y="322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59" name="Freeform 73"/>
            <p:cNvSpPr>
              <a:spLocks/>
            </p:cNvSpPr>
            <p:nvPr/>
          </p:nvSpPr>
          <p:spPr bwMode="auto">
            <a:xfrm>
              <a:off x="1922" y="3220"/>
              <a:ext cx="528" cy="48"/>
            </a:xfrm>
            <a:custGeom>
              <a:avLst/>
              <a:gdLst>
                <a:gd name="T0" fmla="*/ 0 w 528"/>
                <a:gd name="T1" fmla="*/ 48 h 48"/>
                <a:gd name="T2" fmla="*/ 96 w 528"/>
                <a:gd name="T3" fmla="*/ 0 h 48"/>
                <a:gd name="T4" fmla="*/ 528 w 528"/>
                <a:gd name="T5" fmla="*/ 0 h 48"/>
                <a:gd name="T6" fmla="*/ 0 60000 65536"/>
                <a:gd name="T7" fmla="*/ 0 60000 65536"/>
                <a:gd name="T8" fmla="*/ 0 60000 65536"/>
                <a:gd name="T9" fmla="*/ 0 w 528"/>
                <a:gd name="T10" fmla="*/ 0 h 48"/>
                <a:gd name="T11" fmla="*/ 528 w 528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48">
                  <a:moveTo>
                    <a:pt x="0" y="48"/>
                  </a:moveTo>
                  <a:lnTo>
                    <a:pt x="96" y="0"/>
                  </a:lnTo>
                  <a:lnTo>
                    <a:pt x="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60" name="Line 74"/>
            <p:cNvSpPr>
              <a:spLocks noChangeShapeType="1"/>
            </p:cNvSpPr>
            <p:nvPr/>
          </p:nvSpPr>
          <p:spPr bwMode="auto">
            <a:xfrm flipH="1">
              <a:off x="4034" y="3316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61" name="Line 75"/>
            <p:cNvSpPr>
              <a:spLocks noChangeShapeType="1"/>
            </p:cNvSpPr>
            <p:nvPr/>
          </p:nvSpPr>
          <p:spPr bwMode="auto">
            <a:xfrm flipH="1">
              <a:off x="3026" y="3316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62" name="Line 76"/>
            <p:cNvSpPr>
              <a:spLocks noChangeShapeType="1"/>
            </p:cNvSpPr>
            <p:nvPr/>
          </p:nvSpPr>
          <p:spPr bwMode="auto">
            <a:xfrm>
              <a:off x="2546" y="331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63" name="Freeform 77"/>
            <p:cNvSpPr>
              <a:spLocks/>
            </p:cNvSpPr>
            <p:nvPr/>
          </p:nvSpPr>
          <p:spPr bwMode="auto">
            <a:xfrm>
              <a:off x="1922" y="3316"/>
              <a:ext cx="3312" cy="144"/>
            </a:xfrm>
            <a:custGeom>
              <a:avLst/>
              <a:gdLst>
                <a:gd name="T0" fmla="*/ 0 w 3312"/>
                <a:gd name="T1" fmla="*/ 144 h 144"/>
                <a:gd name="T2" fmla="*/ 3312 w 3312"/>
                <a:gd name="T3" fmla="*/ 144 h 144"/>
                <a:gd name="T4" fmla="*/ 3312 w 3312"/>
                <a:gd name="T5" fmla="*/ 0 h 144"/>
                <a:gd name="T6" fmla="*/ 3120 w 3312"/>
                <a:gd name="T7" fmla="*/ 0 h 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12"/>
                <a:gd name="T13" fmla="*/ 0 h 144"/>
                <a:gd name="T14" fmla="*/ 3312 w 3312"/>
                <a:gd name="T15" fmla="*/ 144 h 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12" h="144">
                  <a:moveTo>
                    <a:pt x="0" y="144"/>
                  </a:moveTo>
                  <a:lnTo>
                    <a:pt x="3312" y="144"/>
                  </a:lnTo>
                  <a:lnTo>
                    <a:pt x="3312" y="0"/>
                  </a:lnTo>
                  <a:lnTo>
                    <a:pt x="312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64" name="Text Box 78"/>
            <p:cNvSpPr txBox="1">
              <a:spLocks noChangeArrowheads="1"/>
            </p:cNvSpPr>
            <p:nvPr/>
          </p:nvSpPr>
          <p:spPr bwMode="auto">
            <a:xfrm>
              <a:off x="1250" y="3166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first</a:t>
              </a:r>
            </a:p>
          </p:txBody>
        </p:sp>
        <p:sp>
          <p:nvSpPr>
            <p:cNvPr id="30765" name="Text Box 79"/>
            <p:cNvSpPr txBox="1">
              <a:spLocks noChangeArrowheads="1"/>
            </p:cNvSpPr>
            <p:nvPr/>
          </p:nvSpPr>
          <p:spPr bwMode="auto">
            <a:xfrm>
              <a:off x="1250" y="3358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last</a:t>
              </a:r>
            </a:p>
          </p:txBody>
        </p:sp>
        <p:sp>
          <p:nvSpPr>
            <p:cNvPr id="30766" name="Freeform 80"/>
            <p:cNvSpPr>
              <a:spLocks/>
            </p:cNvSpPr>
            <p:nvPr/>
          </p:nvSpPr>
          <p:spPr bwMode="auto">
            <a:xfrm>
              <a:off x="1930" y="3358"/>
              <a:ext cx="520" cy="384"/>
            </a:xfrm>
            <a:custGeom>
              <a:avLst/>
              <a:gdLst>
                <a:gd name="T0" fmla="*/ 0 w 520"/>
                <a:gd name="T1" fmla="*/ 384 h 384"/>
                <a:gd name="T2" fmla="*/ 136 w 520"/>
                <a:gd name="T3" fmla="*/ 384 h 384"/>
                <a:gd name="T4" fmla="*/ 520 w 520"/>
                <a:gd name="T5" fmla="*/ 0 h 384"/>
                <a:gd name="T6" fmla="*/ 0 60000 65536"/>
                <a:gd name="T7" fmla="*/ 0 60000 65536"/>
                <a:gd name="T8" fmla="*/ 0 60000 65536"/>
                <a:gd name="T9" fmla="*/ 0 w 520"/>
                <a:gd name="T10" fmla="*/ 0 h 384"/>
                <a:gd name="T11" fmla="*/ 520 w 520"/>
                <a:gd name="T12" fmla="*/ 384 h 3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0" h="384">
                  <a:moveTo>
                    <a:pt x="0" y="384"/>
                  </a:moveTo>
                  <a:lnTo>
                    <a:pt x="136" y="384"/>
                  </a:lnTo>
                  <a:lnTo>
                    <a:pt x="52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" name="Group 101"/>
          <p:cNvGrpSpPr>
            <a:grpSpLocks/>
          </p:cNvGrpSpPr>
          <p:nvPr/>
        </p:nvGrpSpPr>
        <p:grpSpPr bwMode="auto">
          <a:xfrm>
            <a:off x="801688" y="5199063"/>
            <a:ext cx="6553200" cy="1371600"/>
            <a:chOff x="1202" y="3156"/>
            <a:chExt cx="4128" cy="864"/>
          </a:xfrm>
        </p:grpSpPr>
        <p:sp>
          <p:nvSpPr>
            <p:cNvPr id="30729" name="Rectangle 82"/>
            <p:cNvSpPr>
              <a:spLocks noChangeArrowheads="1"/>
            </p:cNvSpPr>
            <p:nvPr/>
          </p:nvSpPr>
          <p:spPr bwMode="auto">
            <a:xfrm>
              <a:off x="1202" y="3156"/>
              <a:ext cx="4128" cy="86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0730" name="Rectangle 83"/>
            <p:cNvSpPr>
              <a:spLocks noChangeArrowheads="1"/>
            </p:cNvSpPr>
            <p:nvPr/>
          </p:nvSpPr>
          <p:spPr bwMode="auto">
            <a:xfrm>
              <a:off x="1826" y="3732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0731" name="Text Box 84"/>
            <p:cNvSpPr txBox="1">
              <a:spLocks noChangeArrowheads="1"/>
            </p:cNvSpPr>
            <p:nvPr/>
          </p:nvSpPr>
          <p:spPr bwMode="auto">
            <a:xfrm>
              <a:off x="1250" y="3732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curr</a:t>
              </a:r>
            </a:p>
          </p:txBody>
        </p:sp>
        <p:sp>
          <p:nvSpPr>
            <p:cNvPr id="30732" name="Rectangle 85"/>
            <p:cNvSpPr>
              <a:spLocks noChangeArrowheads="1"/>
            </p:cNvSpPr>
            <p:nvPr/>
          </p:nvSpPr>
          <p:spPr bwMode="auto">
            <a:xfrm>
              <a:off x="1826" y="3258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0733" name="Rectangle 86"/>
            <p:cNvSpPr>
              <a:spLocks noChangeArrowheads="1"/>
            </p:cNvSpPr>
            <p:nvPr/>
          </p:nvSpPr>
          <p:spPr bwMode="auto">
            <a:xfrm>
              <a:off x="1826" y="3450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0734" name="Text Box 87"/>
            <p:cNvSpPr txBox="1">
              <a:spLocks noChangeArrowheads="1"/>
            </p:cNvSpPr>
            <p:nvPr/>
          </p:nvSpPr>
          <p:spPr bwMode="auto">
            <a:xfrm>
              <a:off x="2450" y="325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ant</a:t>
              </a:r>
            </a:p>
          </p:txBody>
        </p:sp>
        <p:sp>
          <p:nvSpPr>
            <p:cNvPr id="30735" name="Text Box 88"/>
            <p:cNvSpPr txBox="1">
              <a:spLocks noChangeArrowheads="1"/>
            </p:cNvSpPr>
            <p:nvPr/>
          </p:nvSpPr>
          <p:spPr bwMode="auto">
            <a:xfrm>
              <a:off x="3458" y="325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bat</a:t>
              </a:r>
            </a:p>
          </p:txBody>
        </p:sp>
        <p:sp>
          <p:nvSpPr>
            <p:cNvPr id="30736" name="Text Box 89"/>
            <p:cNvSpPr txBox="1">
              <a:spLocks noChangeArrowheads="1"/>
            </p:cNvSpPr>
            <p:nvPr/>
          </p:nvSpPr>
          <p:spPr bwMode="auto">
            <a:xfrm>
              <a:off x="4466" y="325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30737" name="Line 90"/>
            <p:cNvSpPr>
              <a:spLocks noChangeShapeType="1"/>
            </p:cNvSpPr>
            <p:nvPr/>
          </p:nvSpPr>
          <p:spPr bwMode="auto">
            <a:xfrm>
              <a:off x="2930" y="3306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38" name="Line 91"/>
            <p:cNvSpPr>
              <a:spLocks noChangeShapeType="1"/>
            </p:cNvSpPr>
            <p:nvPr/>
          </p:nvSpPr>
          <p:spPr bwMode="auto">
            <a:xfrm>
              <a:off x="3938" y="3306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39" name="Line 92"/>
            <p:cNvSpPr>
              <a:spLocks noChangeShapeType="1"/>
            </p:cNvSpPr>
            <p:nvPr/>
          </p:nvSpPr>
          <p:spPr bwMode="auto">
            <a:xfrm>
              <a:off x="4946" y="330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40" name="Freeform 93"/>
            <p:cNvSpPr>
              <a:spLocks/>
            </p:cNvSpPr>
            <p:nvPr/>
          </p:nvSpPr>
          <p:spPr bwMode="auto">
            <a:xfrm>
              <a:off x="1922" y="3306"/>
              <a:ext cx="528" cy="48"/>
            </a:xfrm>
            <a:custGeom>
              <a:avLst/>
              <a:gdLst>
                <a:gd name="T0" fmla="*/ 0 w 528"/>
                <a:gd name="T1" fmla="*/ 48 h 48"/>
                <a:gd name="T2" fmla="*/ 96 w 528"/>
                <a:gd name="T3" fmla="*/ 0 h 48"/>
                <a:gd name="T4" fmla="*/ 528 w 528"/>
                <a:gd name="T5" fmla="*/ 0 h 48"/>
                <a:gd name="T6" fmla="*/ 0 60000 65536"/>
                <a:gd name="T7" fmla="*/ 0 60000 65536"/>
                <a:gd name="T8" fmla="*/ 0 60000 65536"/>
                <a:gd name="T9" fmla="*/ 0 w 528"/>
                <a:gd name="T10" fmla="*/ 0 h 48"/>
                <a:gd name="T11" fmla="*/ 528 w 528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48">
                  <a:moveTo>
                    <a:pt x="0" y="48"/>
                  </a:moveTo>
                  <a:lnTo>
                    <a:pt x="96" y="0"/>
                  </a:lnTo>
                  <a:lnTo>
                    <a:pt x="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41" name="Line 94"/>
            <p:cNvSpPr>
              <a:spLocks noChangeShapeType="1"/>
            </p:cNvSpPr>
            <p:nvPr/>
          </p:nvSpPr>
          <p:spPr bwMode="auto">
            <a:xfrm flipH="1">
              <a:off x="4034" y="3402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42" name="Line 95"/>
            <p:cNvSpPr>
              <a:spLocks noChangeShapeType="1"/>
            </p:cNvSpPr>
            <p:nvPr/>
          </p:nvSpPr>
          <p:spPr bwMode="auto">
            <a:xfrm flipH="1">
              <a:off x="3026" y="3402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43" name="Line 96"/>
            <p:cNvSpPr>
              <a:spLocks noChangeShapeType="1"/>
            </p:cNvSpPr>
            <p:nvPr/>
          </p:nvSpPr>
          <p:spPr bwMode="auto">
            <a:xfrm>
              <a:off x="2546" y="340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44" name="Freeform 97"/>
            <p:cNvSpPr>
              <a:spLocks/>
            </p:cNvSpPr>
            <p:nvPr/>
          </p:nvSpPr>
          <p:spPr bwMode="auto">
            <a:xfrm>
              <a:off x="1922" y="3402"/>
              <a:ext cx="3312" cy="144"/>
            </a:xfrm>
            <a:custGeom>
              <a:avLst/>
              <a:gdLst>
                <a:gd name="T0" fmla="*/ 0 w 3312"/>
                <a:gd name="T1" fmla="*/ 144 h 144"/>
                <a:gd name="T2" fmla="*/ 3312 w 3312"/>
                <a:gd name="T3" fmla="*/ 144 h 144"/>
                <a:gd name="T4" fmla="*/ 3312 w 3312"/>
                <a:gd name="T5" fmla="*/ 0 h 144"/>
                <a:gd name="T6" fmla="*/ 3120 w 3312"/>
                <a:gd name="T7" fmla="*/ 0 h 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12"/>
                <a:gd name="T13" fmla="*/ 0 h 144"/>
                <a:gd name="T14" fmla="*/ 3312 w 3312"/>
                <a:gd name="T15" fmla="*/ 144 h 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12" h="144">
                  <a:moveTo>
                    <a:pt x="0" y="144"/>
                  </a:moveTo>
                  <a:lnTo>
                    <a:pt x="3312" y="144"/>
                  </a:lnTo>
                  <a:lnTo>
                    <a:pt x="3312" y="0"/>
                  </a:lnTo>
                  <a:lnTo>
                    <a:pt x="312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45" name="Text Box 98"/>
            <p:cNvSpPr txBox="1">
              <a:spLocks noChangeArrowheads="1"/>
            </p:cNvSpPr>
            <p:nvPr/>
          </p:nvSpPr>
          <p:spPr bwMode="auto">
            <a:xfrm>
              <a:off x="1250" y="3252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first</a:t>
              </a:r>
            </a:p>
          </p:txBody>
        </p:sp>
        <p:sp>
          <p:nvSpPr>
            <p:cNvPr id="30746" name="Text Box 99"/>
            <p:cNvSpPr txBox="1">
              <a:spLocks noChangeArrowheads="1"/>
            </p:cNvSpPr>
            <p:nvPr/>
          </p:nvSpPr>
          <p:spPr bwMode="auto">
            <a:xfrm>
              <a:off x="1250" y="3444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last</a:t>
              </a:r>
            </a:p>
          </p:txBody>
        </p:sp>
        <p:sp>
          <p:nvSpPr>
            <p:cNvPr id="30747" name="Line 100"/>
            <p:cNvSpPr>
              <a:spLocks noChangeShapeType="1"/>
            </p:cNvSpPr>
            <p:nvPr/>
          </p:nvSpPr>
          <p:spPr bwMode="auto">
            <a:xfrm>
              <a:off x="1922" y="382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7200" y="4378374"/>
            <a:ext cx="6897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/>
              <a:t>Animation:</a:t>
            </a:r>
          </a:p>
        </p:txBody>
      </p:sp>
    </p:spTree>
    <p:extLst>
      <p:ext uri="{BB962C8B-B14F-4D97-AF65-F5344CB8AC3E}">
        <p14:creationId xmlns:p14="http://schemas.microsoft.com/office/powerpoint/2010/main" val="3145445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" y="533400"/>
            <a:ext cx="8229600" cy="990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/>
              <a:t>DLL – Java method to delete first node (in DLL)</a:t>
            </a:r>
            <a:endParaRPr lang="en-GB" altLang="en-US" sz="3200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266700" y="1752600"/>
            <a:ext cx="8229600" cy="1981200"/>
          </a:xfrm>
          <a:noFill/>
          <a:ln>
            <a:solidFill>
              <a:schemeClr val="accent1"/>
            </a:solidFill>
          </a:ln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 sz="2000" dirty="0">
                <a:latin typeface="Courier New" pitchFamily="49" charset="0"/>
              </a:rPr>
              <a:t>	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</a:rPr>
              <a:t>public</a:t>
            </a:r>
            <a:r>
              <a:rPr lang="en-US" altLang="en-US" sz="2000" dirty="0">
                <a:solidFill>
                  <a:srgbClr val="B21E92"/>
                </a:solidFill>
                <a:latin typeface="Courier New" pitchFamily="49" charset="0"/>
              </a:rPr>
              <a:t> 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</a:rPr>
              <a:t>void</a:t>
            </a:r>
            <a:r>
              <a:rPr lang="en-US" altLang="en-US" sz="2000" dirty="0">
                <a:solidFill>
                  <a:srgbClr val="B21E92"/>
                </a:solidFill>
                <a:latin typeface="Courier New" pitchFamily="49" charset="0"/>
              </a:rPr>
              <a:t> </a:t>
            </a:r>
            <a:r>
              <a:rPr lang="en-US" altLang="en-US" sz="2000" dirty="0" err="1">
                <a:latin typeface="Courier New" pitchFamily="49" charset="0"/>
              </a:rPr>
              <a:t>deleteFirst</a:t>
            </a:r>
            <a:r>
              <a:rPr lang="en-US" altLang="en-US" sz="2000" dirty="0">
                <a:latin typeface="Courier New" pitchFamily="49" charset="0"/>
              </a:rPr>
              <a:t> () {</a:t>
            </a:r>
            <a:br>
              <a:rPr lang="en-US" altLang="en-US" sz="2000" dirty="0">
                <a:latin typeface="Courier New" pitchFamily="49" charset="0"/>
              </a:rPr>
            </a:b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</a:rPr>
              <a:t>// </a:t>
            </a:r>
            <a:r>
              <a:rPr lang="en-US" altLang="en-US" sz="2000" dirty="0">
                <a:solidFill>
                  <a:srgbClr val="92D050"/>
                </a:solidFill>
              </a:rPr>
              <a:t>Delete this DLL’s first node (assuming length &gt; 0).</a:t>
            </a:r>
            <a:br>
              <a:rPr lang="en-US" altLang="en-US" sz="2000" dirty="0">
                <a:solidFill>
                  <a:srgbClr val="92D050"/>
                </a:solidFill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	Node&lt;E&gt; </a:t>
            </a:r>
            <a:r>
              <a:rPr lang="en-US" altLang="en-US" sz="2000" dirty="0">
                <a:solidFill>
                  <a:schemeClr val="accent2"/>
                </a:solidFill>
                <a:latin typeface="Courier New" pitchFamily="49" charset="0"/>
              </a:rPr>
              <a:t>second</a:t>
            </a:r>
            <a:r>
              <a:rPr lang="en-US" altLang="en-US" sz="2000" dirty="0">
                <a:latin typeface="Courier New" pitchFamily="49" charset="0"/>
              </a:rPr>
              <a:t> = </a:t>
            </a:r>
            <a:r>
              <a:rPr lang="en-US" altLang="en-US" sz="2000" dirty="0" err="1">
                <a:solidFill>
                  <a:srgbClr val="0070C0"/>
                </a:solidFill>
                <a:latin typeface="Courier New" pitchFamily="49" charset="0"/>
              </a:rPr>
              <a:t>first</a:t>
            </a:r>
            <a:r>
              <a:rPr lang="en-US" altLang="en-US" sz="2000" dirty="0" err="1">
                <a:latin typeface="Courier New" pitchFamily="49" charset="0"/>
              </a:rPr>
              <a:t>.</a:t>
            </a:r>
            <a:r>
              <a:rPr lang="en-US" altLang="en-US" sz="2000" dirty="0" err="1">
                <a:solidFill>
                  <a:srgbClr val="0070C0"/>
                </a:solidFill>
                <a:latin typeface="Courier New" pitchFamily="49" charset="0"/>
              </a:rPr>
              <a:t>next</a:t>
            </a:r>
            <a:r>
              <a:rPr lang="en-US" altLang="en-US" sz="2000" dirty="0">
                <a:latin typeface="Courier New" pitchFamily="49" charset="0"/>
              </a:rPr>
              <a:t>;</a:t>
            </a:r>
            <a:br>
              <a:rPr lang="en-US" altLang="en-US" sz="2000" dirty="0">
                <a:latin typeface="Courier New" pitchFamily="49" charset="0"/>
              </a:rPr>
            </a:br>
            <a:r>
              <a:rPr lang="en-US" altLang="en-US" sz="2000" dirty="0">
                <a:latin typeface="Courier New" pitchFamily="49" charset="0"/>
              </a:rPr>
              <a:t>	</a:t>
            </a:r>
            <a:r>
              <a:rPr lang="en-US" altLang="en-US" sz="2000" dirty="0" err="1">
                <a:solidFill>
                  <a:schemeClr val="accent2"/>
                </a:solidFill>
                <a:latin typeface="Courier New" pitchFamily="49" charset="0"/>
              </a:rPr>
              <a:t>second</a:t>
            </a:r>
            <a:r>
              <a:rPr lang="en-US" altLang="en-US" sz="2000" dirty="0" err="1">
                <a:latin typeface="Courier New" pitchFamily="49" charset="0"/>
              </a:rPr>
              <a:t>.</a:t>
            </a:r>
            <a:r>
              <a:rPr lang="en-US" altLang="en-US" sz="2000" dirty="0" err="1">
                <a:solidFill>
                  <a:srgbClr val="0070C0"/>
                </a:solidFill>
                <a:latin typeface="Courier New" pitchFamily="49" charset="0"/>
              </a:rPr>
              <a:t>pred</a:t>
            </a:r>
            <a:r>
              <a:rPr lang="en-US" altLang="en-US" sz="2000" dirty="0">
                <a:latin typeface="Courier New" pitchFamily="49" charset="0"/>
              </a:rPr>
              <a:t> = 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</a:rPr>
              <a:t>null</a:t>
            </a:r>
            <a:r>
              <a:rPr lang="en-US" altLang="en-US" sz="2000" dirty="0">
                <a:latin typeface="Courier New" pitchFamily="49" charset="0"/>
              </a:rPr>
              <a:t>;</a:t>
            </a:r>
            <a:br>
              <a:rPr lang="en-US" altLang="en-US" sz="2000" dirty="0">
                <a:latin typeface="Courier New" pitchFamily="49" charset="0"/>
              </a:rPr>
            </a:br>
            <a:r>
              <a:rPr lang="en-US" altLang="en-US" sz="2000" dirty="0">
                <a:latin typeface="Courier New" pitchFamily="49" charset="0"/>
              </a:rPr>
              <a:t>	</a:t>
            </a:r>
            <a:r>
              <a:rPr lang="en-US" altLang="en-US" sz="2000" dirty="0">
                <a:solidFill>
                  <a:srgbClr val="0070C0"/>
                </a:solidFill>
                <a:latin typeface="Courier New" pitchFamily="49" charset="0"/>
              </a:rPr>
              <a:t>first</a:t>
            </a:r>
            <a:r>
              <a:rPr lang="en-US" altLang="en-US" sz="2000" dirty="0">
                <a:latin typeface="Courier New" pitchFamily="49" charset="0"/>
              </a:rPr>
              <a:t> = </a:t>
            </a:r>
            <a:r>
              <a:rPr lang="en-US" altLang="en-US" sz="2000" dirty="0">
                <a:solidFill>
                  <a:schemeClr val="accent2"/>
                </a:solidFill>
                <a:latin typeface="Courier New" pitchFamily="49" charset="0"/>
              </a:rPr>
              <a:t>second</a:t>
            </a:r>
            <a:r>
              <a:rPr lang="en-US" altLang="en-US" sz="2000" dirty="0">
                <a:latin typeface="Courier New" pitchFamily="49" charset="0"/>
              </a:rPr>
              <a:t>;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}</a:t>
            </a:r>
            <a:endParaRPr lang="en-US" altLang="en-US" sz="2000" dirty="0">
              <a:latin typeface="Courier New" pitchFamily="49" charset="0"/>
            </a:endParaRPr>
          </a:p>
        </p:txBody>
      </p:sp>
      <p:grpSp>
        <p:nvGrpSpPr>
          <p:cNvPr id="2" name="Group 84"/>
          <p:cNvGrpSpPr>
            <a:grpSpLocks/>
          </p:cNvGrpSpPr>
          <p:nvPr/>
        </p:nvGrpSpPr>
        <p:grpSpPr bwMode="auto">
          <a:xfrm>
            <a:off x="723900" y="4656138"/>
            <a:ext cx="6629400" cy="1524000"/>
            <a:chOff x="1224" y="2795"/>
            <a:chExt cx="4176" cy="960"/>
          </a:xfrm>
        </p:grpSpPr>
        <p:sp>
          <p:nvSpPr>
            <p:cNvPr id="31809" name="Rectangle 5"/>
            <p:cNvSpPr>
              <a:spLocks noChangeArrowheads="1"/>
            </p:cNvSpPr>
            <p:nvPr/>
          </p:nvSpPr>
          <p:spPr bwMode="auto">
            <a:xfrm>
              <a:off x="1224" y="2795"/>
              <a:ext cx="4176" cy="9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1810" name="Rectangle 6"/>
            <p:cNvSpPr>
              <a:spLocks noChangeArrowheads="1"/>
            </p:cNvSpPr>
            <p:nvPr/>
          </p:nvSpPr>
          <p:spPr bwMode="auto">
            <a:xfrm>
              <a:off x="1896" y="2993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1811" name="Rectangle 7"/>
            <p:cNvSpPr>
              <a:spLocks noChangeArrowheads="1"/>
            </p:cNvSpPr>
            <p:nvPr/>
          </p:nvSpPr>
          <p:spPr bwMode="auto">
            <a:xfrm>
              <a:off x="1896" y="3185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1812" name="Text Box 8"/>
            <p:cNvSpPr txBox="1">
              <a:spLocks noChangeArrowheads="1"/>
            </p:cNvSpPr>
            <p:nvPr/>
          </p:nvSpPr>
          <p:spPr bwMode="auto">
            <a:xfrm>
              <a:off x="2520" y="298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ant</a:t>
              </a:r>
            </a:p>
          </p:txBody>
        </p:sp>
        <p:sp>
          <p:nvSpPr>
            <p:cNvPr id="31813" name="Text Box 9"/>
            <p:cNvSpPr txBox="1">
              <a:spLocks noChangeArrowheads="1"/>
            </p:cNvSpPr>
            <p:nvPr/>
          </p:nvSpPr>
          <p:spPr bwMode="auto">
            <a:xfrm>
              <a:off x="3528" y="298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bat</a:t>
              </a:r>
            </a:p>
          </p:txBody>
        </p:sp>
        <p:sp>
          <p:nvSpPr>
            <p:cNvPr id="31814" name="Text Box 10"/>
            <p:cNvSpPr txBox="1">
              <a:spLocks noChangeArrowheads="1"/>
            </p:cNvSpPr>
            <p:nvPr/>
          </p:nvSpPr>
          <p:spPr bwMode="auto">
            <a:xfrm>
              <a:off x="4536" y="298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31815" name="Line 11"/>
            <p:cNvSpPr>
              <a:spLocks noChangeShapeType="1"/>
            </p:cNvSpPr>
            <p:nvPr/>
          </p:nvSpPr>
          <p:spPr bwMode="auto">
            <a:xfrm>
              <a:off x="3000" y="3041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16" name="Line 12"/>
            <p:cNvSpPr>
              <a:spLocks noChangeShapeType="1"/>
            </p:cNvSpPr>
            <p:nvPr/>
          </p:nvSpPr>
          <p:spPr bwMode="auto">
            <a:xfrm>
              <a:off x="4008" y="3041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17" name="Line 13"/>
            <p:cNvSpPr>
              <a:spLocks noChangeShapeType="1"/>
            </p:cNvSpPr>
            <p:nvPr/>
          </p:nvSpPr>
          <p:spPr bwMode="auto">
            <a:xfrm>
              <a:off x="5016" y="304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18" name="Freeform 14"/>
            <p:cNvSpPr>
              <a:spLocks/>
            </p:cNvSpPr>
            <p:nvPr/>
          </p:nvSpPr>
          <p:spPr bwMode="auto">
            <a:xfrm>
              <a:off x="1992" y="3041"/>
              <a:ext cx="528" cy="48"/>
            </a:xfrm>
            <a:custGeom>
              <a:avLst/>
              <a:gdLst>
                <a:gd name="T0" fmla="*/ 0 w 528"/>
                <a:gd name="T1" fmla="*/ 48 h 48"/>
                <a:gd name="T2" fmla="*/ 96 w 528"/>
                <a:gd name="T3" fmla="*/ 0 h 48"/>
                <a:gd name="T4" fmla="*/ 528 w 528"/>
                <a:gd name="T5" fmla="*/ 0 h 48"/>
                <a:gd name="T6" fmla="*/ 0 60000 65536"/>
                <a:gd name="T7" fmla="*/ 0 60000 65536"/>
                <a:gd name="T8" fmla="*/ 0 60000 65536"/>
                <a:gd name="T9" fmla="*/ 0 w 528"/>
                <a:gd name="T10" fmla="*/ 0 h 48"/>
                <a:gd name="T11" fmla="*/ 528 w 528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48">
                  <a:moveTo>
                    <a:pt x="0" y="48"/>
                  </a:moveTo>
                  <a:lnTo>
                    <a:pt x="96" y="0"/>
                  </a:lnTo>
                  <a:lnTo>
                    <a:pt x="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19" name="Line 15"/>
            <p:cNvSpPr>
              <a:spLocks noChangeShapeType="1"/>
            </p:cNvSpPr>
            <p:nvPr/>
          </p:nvSpPr>
          <p:spPr bwMode="auto">
            <a:xfrm flipH="1">
              <a:off x="4104" y="3137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20" name="Line 16"/>
            <p:cNvSpPr>
              <a:spLocks noChangeShapeType="1"/>
            </p:cNvSpPr>
            <p:nvPr/>
          </p:nvSpPr>
          <p:spPr bwMode="auto">
            <a:xfrm flipH="1">
              <a:off x="3096" y="3137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21" name="Line 17"/>
            <p:cNvSpPr>
              <a:spLocks noChangeShapeType="1"/>
            </p:cNvSpPr>
            <p:nvPr/>
          </p:nvSpPr>
          <p:spPr bwMode="auto">
            <a:xfrm>
              <a:off x="2616" y="313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22" name="Freeform 18"/>
            <p:cNvSpPr>
              <a:spLocks/>
            </p:cNvSpPr>
            <p:nvPr/>
          </p:nvSpPr>
          <p:spPr bwMode="auto">
            <a:xfrm>
              <a:off x="1992" y="3137"/>
              <a:ext cx="3312" cy="144"/>
            </a:xfrm>
            <a:custGeom>
              <a:avLst/>
              <a:gdLst>
                <a:gd name="T0" fmla="*/ 0 w 3312"/>
                <a:gd name="T1" fmla="*/ 144 h 144"/>
                <a:gd name="T2" fmla="*/ 3312 w 3312"/>
                <a:gd name="T3" fmla="*/ 144 h 144"/>
                <a:gd name="T4" fmla="*/ 3312 w 3312"/>
                <a:gd name="T5" fmla="*/ 0 h 144"/>
                <a:gd name="T6" fmla="*/ 3120 w 3312"/>
                <a:gd name="T7" fmla="*/ 0 h 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12"/>
                <a:gd name="T13" fmla="*/ 0 h 144"/>
                <a:gd name="T14" fmla="*/ 3312 w 3312"/>
                <a:gd name="T15" fmla="*/ 144 h 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12" h="144">
                  <a:moveTo>
                    <a:pt x="0" y="144"/>
                  </a:moveTo>
                  <a:lnTo>
                    <a:pt x="3312" y="144"/>
                  </a:lnTo>
                  <a:lnTo>
                    <a:pt x="3312" y="0"/>
                  </a:lnTo>
                  <a:lnTo>
                    <a:pt x="312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23" name="Text Box 19"/>
            <p:cNvSpPr txBox="1">
              <a:spLocks noChangeArrowheads="1"/>
            </p:cNvSpPr>
            <p:nvPr/>
          </p:nvSpPr>
          <p:spPr bwMode="auto">
            <a:xfrm>
              <a:off x="1320" y="2987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first</a:t>
              </a:r>
            </a:p>
          </p:txBody>
        </p:sp>
        <p:sp>
          <p:nvSpPr>
            <p:cNvPr id="31824" name="Text Box 20"/>
            <p:cNvSpPr txBox="1">
              <a:spLocks noChangeArrowheads="1"/>
            </p:cNvSpPr>
            <p:nvPr/>
          </p:nvSpPr>
          <p:spPr bwMode="auto">
            <a:xfrm>
              <a:off x="1320" y="3179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last</a:t>
              </a:r>
            </a:p>
          </p:txBody>
        </p:sp>
      </p:grpSp>
      <p:grpSp>
        <p:nvGrpSpPr>
          <p:cNvPr id="3" name="Group 83"/>
          <p:cNvGrpSpPr>
            <a:grpSpLocks/>
          </p:cNvGrpSpPr>
          <p:nvPr/>
        </p:nvGrpSpPr>
        <p:grpSpPr bwMode="auto">
          <a:xfrm>
            <a:off x="723900" y="4656138"/>
            <a:ext cx="6629400" cy="1524000"/>
            <a:chOff x="1224" y="2886"/>
            <a:chExt cx="4176" cy="960"/>
          </a:xfrm>
        </p:grpSpPr>
        <p:sp>
          <p:nvSpPr>
            <p:cNvPr id="31790" name="Rectangle 22"/>
            <p:cNvSpPr>
              <a:spLocks noChangeArrowheads="1"/>
            </p:cNvSpPr>
            <p:nvPr/>
          </p:nvSpPr>
          <p:spPr bwMode="auto">
            <a:xfrm>
              <a:off x="1224" y="2886"/>
              <a:ext cx="4176" cy="9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1791" name="Rectangle 23"/>
            <p:cNvSpPr>
              <a:spLocks noChangeArrowheads="1"/>
            </p:cNvSpPr>
            <p:nvPr/>
          </p:nvSpPr>
          <p:spPr bwMode="auto">
            <a:xfrm>
              <a:off x="1896" y="3558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1792" name="Text Box 24"/>
            <p:cNvSpPr txBox="1">
              <a:spLocks noChangeArrowheads="1"/>
            </p:cNvSpPr>
            <p:nvPr/>
          </p:nvSpPr>
          <p:spPr bwMode="auto">
            <a:xfrm>
              <a:off x="1272" y="3558"/>
              <a:ext cx="5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second</a:t>
              </a:r>
            </a:p>
          </p:txBody>
        </p:sp>
        <p:sp>
          <p:nvSpPr>
            <p:cNvPr id="31793" name="Rectangle 25"/>
            <p:cNvSpPr>
              <a:spLocks noChangeArrowheads="1"/>
            </p:cNvSpPr>
            <p:nvPr/>
          </p:nvSpPr>
          <p:spPr bwMode="auto">
            <a:xfrm>
              <a:off x="1896" y="3084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1794" name="Rectangle 26"/>
            <p:cNvSpPr>
              <a:spLocks noChangeArrowheads="1"/>
            </p:cNvSpPr>
            <p:nvPr/>
          </p:nvSpPr>
          <p:spPr bwMode="auto">
            <a:xfrm>
              <a:off x="1896" y="3276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1795" name="Text Box 27"/>
            <p:cNvSpPr txBox="1">
              <a:spLocks noChangeArrowheads="1"/>
            </p:cNvSpPr>
            <p:nvPr/>
          </p:nvSpPr>
          <p:spPr bwMode="auto">
            <a:xfrm>
              <a:off x="2520" y="307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ant</a:t>
              </a:r>
            </a:p>
          </p:txBody>
        </p:sp>
        <p:sp>
          <p:nvSpPr>
            <p:cNvPr id="31796" name="Text Box 28"/>
            <p:cNvSpPr txBox="1">
              <a:spLocks noChangeArrowheads="1"/>
            </p:cNvSpPr>
            <p:nvPr/>
          </p:nvSpPr>
          <p:spPr bwMode="auto">
            <a:xfrm>
              <a:off x="3528" y="307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bat</a:t>
              </a:r>
            </a:p>
          </p:txBody>
        </p:sp>
        <p:sp>
          <p:nvSpPr>
            <p:cNvPr id="31797" name="Text Box 29"/>
            <p:cNvSpPr txBox="1">
              <a:spLocks noChangeArrowheads="1"/>
            </p:cNvSpPr>
            <p:nvPr/>
          </p:nvSpPr>
          <p:spPr bwMode="auto">
            <a:xfrm>
              <a:off x="4536" y="307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31798" name="Line 30"/>
            <p:cNvSpPr>
              <a:spLocks noChangeShapeType="1"/>
            </p:cNvSpPr>
            <p:nvPr/>
          </p:nvSpPr>
          <p:spPr bwMode="auto">
            <a:xfrm>
              <a:off x="3000" y="3132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99" name="Line 31"/>
            <p:cNvSpPr>
              <a:spLocks noChangeShapeType="1"/>
            </p:cNvSpPr>
            <p:nvPr/>
          </p:nvSpPr>
          <p:spPr bwMode="auto">
            <a:xfrm>
              <a:off x="4008" y="3132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00" name="Line 32"/>
            <p:cNvSpPr>
              <a:spLocks noChangeShapeType="1"/>
            </p:cNvSpPr>
            <p:nvPr/>
          </p:nvSpPr>
          <p:spPr bwMode="auto">
            <a:xfrm>
              <a:off x="5016" y="313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01" name="Freeform 33"/>
            <p:cNvSpPr>
              <a:spLocks/>
            </p:cNvSpPr>
            <p:nvPr/>
          </p:nvSpPr>
          <p:spPr bwMode="auto">
            <a:xfrm>
              <a:off x="1992" y="3132"/>
              <a:ext cx="528" cy="48"/>
            </a:xfrm>
            <a:custGeom>
              <a:avLst/>
              <a:gdLst>
                <a:gd name="T0" fmla="*/ 0 w 528"/>
                <a:gd name="T1" fmla="*/ 48 h 48"/>
                <a:gd name="T2" fmla="*/ 96 w 528"/>
                <a:gd name="T3" fmla="*/ 0 h 48"/>
                <a:gd name="T4" fmla="*/ 528 w 528"/>
                <a:gd name="T5" fmla="*/ 0 h 48"/>
                <a:gd name="T6" fmla="*/ 0 60000 65536"/>
                <a:gd name="T7" fmla="*/ 0 60000 65536"/>
                <a:gd name="T8" fmla="*/ 0 60000 65536"/>
                <a:gd name="T9" fmla="*/ 0 w 528"/>
                <a:gd name="T10" fmla="*/ 0 h 48"/>
                <a:gd name="T11" fmla="*/ 528 w 528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48">
                  <a:moveTo>
                    <a:pt x="0" y="48"/>
                  </a:moveTo>
                  <a:lnTo>
                    <a:pt x="96" y="0"/>
                  </a:lnTo>
                  <a:lnTo>
                    <a:pt x="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02" name="Line 34"/>
            <p:cNvSpPr>
              <a:spLocks noChangeShapeType="1"/>
            </p:cNvSpPr>
            <p:nvPr/>
          </p:nvSpPr>
          <p:spPr bwMode="auto">
            <a:xfrm flipH="1">
              <a:off x="4104" y="3228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03" name="Line 35"/>
            <p:cNvSpPr>
              <a:spLocks noChangeShapeType="1"/>
            </p:cNvSpPr>
            <p:nvPr/>
          </p:nvSpPr>
          <p:spPr bwMode="auto">
            <a:xfrm flipH="1">
              <a:off x="3096" y="3228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04" name="Line 36"/>
            <p:cNvSpPr>
              <a:spLocks noChangeShapeType="1"/>
            </p:cNvSpPr>
            <p:nvPr/>
          </p:nvSpPr>
          <p:spPr bwMode="auto">
            <a:xfrm>
              <a:off x="2616" y="322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05" name="Freeform 37"/>
            <p:cNvSpPr>
              <a:spLocks/>
            </p:cNvSpPr>
            <p:nvPr/>
          </p:nvSpPr>
          <p:spPr bwMode="auto">
            <a:xfrm>
              <a:off x="1992" y="3228"/>
              <a:ext cx="3312" cy="144"/>
            </a:xfrm>
            <a:custGeom>
              <a:avLst/>
              <a:gdLst>
                <a:gd name="T0" fmla="*/ 0 w 3312"/>
                <a:gd name="T1" fmla="*/ 144 h 144"/>
                <a:gd name="T2" fmla="*/ 3312 w 3312"/>
                <a:gd name="T3" fmla="*/ 144 h 144"/>
                <a:gd name="T4" fmla="*/ 3312 w 3312"/>
                <a:gd name="T5" fmla="*/ 0 h 144"/>
                <a:gd name="T6" fmla="*/ 3120 w 3312"/>
                <a:gd name="T7" fmla="*/ 0 h 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12"/>
                <a:gd name="T13" fmla="*/ 0 h 144"/>
                <a:gd name="T14" fmla="*/ 3312 w 3312"/>
                <a:gd name="T15" fmla="*/ 144 h 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12" h="144">
                  <a:moveTo>
                    <a:pt x="0" y="144"/>
                  </a:moveTo>
                  <a:lnTo>
                    <a:pt x="3312" y="144"/>
                  </a:lnTo>
                  <a:lnTo>
                    <a:pt x="3312" y="0"/>
                  </a:lnTo>
                  <a:lnTo>
                    <a:pt x="312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06" name="Text Box 38"/>
            <p:cNvSpPr txBox="1">
              <a:spLocks noChangeArrowheads="1"/>
            </p:cNvSpPr>
            <p:nvPr/>
          </p:nvSpPr>
          <p:spPr bwMode="auto">
            <a:xfrm>
              <a:off x="1320" y="3078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first</a:t>
              </a:r>
            </a:p>
          </p:txBody>
        </p:sp>
        <p:sp>
          <p:nvSpPr>
            <p:cNvPr id="31807" name="Text Box 39"/>
            <p:cNvSpPr txBox="1">
              <a:spLocks noChangeArrowheads="1"/>
            </p:cNvSpPr>
            <p:nvPr/>
          </p:nvSpPr>
          <p:spPr bwMode="auto">
            <a:xfrm>
              <a:off x="1320" y="3270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last</a:t>
              </a:r>
            </a:p>
          </p:txBody>
        </p:sp>
        <p:sp>
          <p:nvSpPr>
            <p:cNvPr id="31808" name="Freeform 40"/>
            <p:cNvSpPr>
              <a:spLocks/>
            </p:cNvSpPr>
            <p:nvPr/>
          </p:nvSpPr>
          <p:spPr bwMode="auto">
            <a:xfrm>
              <a:off x="2000" y="3270"/>
              <a:ext cx="1528" cy="384"/>
            </a:xfrm>
            <a:custGeom>
              <a:avLst/>
              <a:gdLst>
                <a:gd name="T0" fmla="*/ 0 w 1528"/>
                <a:gd name="T1" fmla="*/ 384 h 384"/>
                <a:gd name="T2" fmla="*/ 1144 w 1528"/>
                <a:gd name="T3" fmla="*/ 384 h 384"/>
                <a:gd name="T4" fmla="*/ 1528 w 1528"/>
                <a:gd name="T5" fmla="*/ 0 h 384"/>
                <a:gd name="T6" fmla="*/ 0 60000 65536"/>
                <a:gd name="T7" fmla="*/ 0 60000 65536"/>
                <a:gd name="T8" fmla="*/ 0 60000 65536"/>
                <a:gd name="T9" fmla="*/ 0 w 1528"/>
                <a:gd name="T10" fmla="*/ 0 h 384"/>
                <a:gd name="T11" fmla="*/ 1528 w 1528"/>
                <a:gd name="T12" fmla="*/ 384 h 3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8" h="384">
                  <a:moveTo>
                    <a:pt x="0" y="384"/>
                  </a:moveTo>
                  <a:lnTo>
                    <a:pt x="1144" y="384"/>
                  </a:lnTo>
                  <a:lnTo>
                    <a:pt x="1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82"/>
          <p:cNvGrpSpPr>
            <a:grpSpLocks/>
          </p:cNvGrpSpPr>
          <p:nvPr/>
        </p:nvGrpSpPr>
        <p:grpSpPr bwMode="auto">
          <a:xfrm>
            <a:off x="723900" y="4656138"/>
            <a:ext cx="6629400" cy="1524000"/>
            <a:chOff x="1224" y="2976"/>
            <a:chExt cx="4176" cy="960"/>
          </a:xfrm>
        </p:grpSpPr>
        <p:sp>
          <p:nvSpPr>
            <p:cNvPr id="31771" name="Rectangle 42"/>
            <p:cNvSpPr>
              <a:spLocks noChangeArrowheads="1"/>
            </p:cNvSpPr>
            <p:nvPr/>
          </p:nvSpPr>
          <p:spPr bwMode="auto">
            <a:xfrm>
              <a:off x="1224" y="2976"/>
              <a:ext cx="4176" cy="9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1772" name="Rectangle 43"/>
            <p:cNvSpPr>
              <a:spLocks noChangeArrowheads="1"/>
            </p:cNvSpPr>
            <p:nvPr/>
          </p:nvSpPr>
          <p:spPr bwMode="auto">
            <a:xfrm>
              <a:off x="1896" y="3648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1773" name="Text Box 44"/>
            <p:cNvSpPr txBox="1">
              <a:spLocks noChangeArrowheads="1"/>
            </p:cNvSpPr>
            <p:nvPr/>
          </p:nvSpPr>
          <p:spPr bwMode="auto">
            <a:xfrm>
              <a:off x="1272" y="3648"/>
              <a:ext cx="5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second</a:t>
              </a:r>
            </a:p>
          </p:txBody>
        </p:sp>
        <p:sp>
          <p:nvSpPr>
            <p:cNvPr id="31774" name="Rectangle 45"/>
            <p:cNvSpPr>
              <a:spLocks noChangeArrowheads="1"/>
            </p:cNvSpPr>
            <p:nvPr/>
          </p:nvSpPr>
          <p:spPr bwMode="auto">
            <a:xfrm>
              <a:off x="1896" y="3174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1775" name="Rectangle 46"/>
            <p:cNvSpPr>
              <a:spLocks noChangeArrowheads="1"/>
            </p:cNvSpPr>
            <p:nvPr/>
          </p:nvSpPr>
          <p:spPr bwMode="auto">
            <a:xfrm>
              <a:off x="1896" y="3366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1776" name="Text Box 47"/>
            <p:cNvSpPr txBox="1">
              <a:spLocks noChangeArrowheads="1"/>
            </p:cNvSpPr>
            <p:nvPr/>
          </p:nvSpPr>
          <p:spPr bwMode="auto">
            <a:xfrm>
              <a:off x="2520" y="316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ant</a:t>
              </a:r>
            </a:p>
          </p:txBody>
        </p:sp>
        <p:sp>
          <p:nvSpPr>
            <p:cNvPr id="31777" name="Text Box 48"/>
            <p:cNvSpPr txBox="1">
              <a:spLocks noChangeArrowheads="1"/>
            </p:cNvSpPr>
            <p:nvPr/>
          </p:nvSpPr>
          <p:spPr bwMode="auto">
            <a:xfrm>
              <a:off x="3528" y="316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bat</a:t>
              </a:r>
            </a:p>
          </p:txBody>
        </p:sp>
        <p:sp>
          <p:nvSpPr>
            <p:cNvPr id="31778" name="Text Box 49"/>
            <p:cNvSpPr txBox="1">
              <a:spLocks noChangeArrowheads="1"/>
            </p:cNvSpPr>
            <p:nvPr/>
          </p:nvSpPr>
          <p:spPr bwMode="auto">
            <a:xfrm>
              <a:off x="4536" y="316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31779" name="Line 50"/>
            <p:cNvSpPr>
              <a:spLocks noChangeShapeType="1"/>
            </p:cNvSpPr>
            <p:nvPr/>
          </p:nvSpPr>
          <p:spPr bwMode="auto">
            <a:xfrm>
              <a:off x="3000" y="3222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80" name="Line 51"/>
            <p:cNvSpPr>
              <a:spLocks noChangeShapeType="1"/>
            </p:cNvSpPr>
            <p:nvPr/>
          </p:nvSpPr>
          <p:spPr bwMode="auto">
            <a:xfrm>
              <a:off x="4008" y="3222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81" name="Line 52"/>
            <p:cNvSpPr>
              <a:spLocks noChangeShapeType="1"/>
            </p:cNvSpPr>
            <p:nvPr/>
          </p:nvSpPr>
          <p:spPr bwMode="auto">
            <a:xfrm>
              <a:off x="5016" y="322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82" name="Line 53"/>
            <p:cNvSpPr>
              <a:spLocks noChangeShapeType="1"/>
            </p:cNvSpPr>
            <p:nvPr/>
          </p:nvSpPr>
          <p:spPr bwMode="auto">
            <a:xfrm flipH="1">
              <a:off x="4104" y="3318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83" name="Line 54"/>
            <p:cNvSpPr>
              <a:spLocks noChangeShapeType="1"/>
            </p:cNvSpPr>
            <p:nvPr/>
          </p:nvSpPr>
          <p:spPr bwMode="auto">
            <a:xfrm>
              <a:off x="2616" y="331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84" name="Freeform 55"/>
            <p:cNvSpPr>
              <a:spLocks/>
            </p:cNvSpPr>
            <p:nvPr/>
          </p:nvSpPr>
          <p:spPr bwMode="auto">
            <a:xfrm>
              <a:off x="1992" y="3318"/>
              <a:ext cx="3312" cy="144"/>
            </a:xfrm>
            <a:custGeom>
              <a:avLst/>
              <a:gdLst>
                <a:gd name="T0" fmla="*/ 0 w 3312"/>
                <a:gd name="T1" fmla="*/ 144 h 144"/>
                <a:gd name="T2" fmla="*/ 3312 w 3312"/>
                <a:gd name="T3" fmla="*/ 144 h 144"/>
                <a:gd name="T4" fmla="*/ 3312 w 3312"/>
                <a:gd name="T5" fmla="*/ 0 h 144"/>
                <a:gd name="T6" fmla="*/ 3120 w 3312"/>
                <a:gd name="T7" fmla="*/ 0 h 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12"/>
                <a:gd name="T13" fmla="*/ 0 h 144"/>
                <a:gd name="T14" fmla="*/ 3312 w 3312"/>
                <a:gd name="T15" fmla="*/ 144 h 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12" h="144">
                  <a:moveTo>
                    <a:pt x="0" y="144"/>
                  </a:moveTo>
                  <a:lnTo>
                    <a:pt x="3312" y="144"/>
                  </a:lnTo>
                  <a:lnTo>
                    <a:pt x="3312" y="0"/>
                  </a:lnTo>
                  <a:lnTo>
                    <a:pt x="312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85" name="Text Box 56"/>
            <p:cNvSpPr txBox="1">
              <a:spLocks noChangeArrowheads="1"/>
            </p:cNvSpPr>
            <p:nvPr/>
          </p:nvSpPr>
          <p:spPr bwMode="auto">
            <a:xfrm>
              <a:off x="1320" y="3168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first</a:t>
              </a:r>
            </a:p>
          </p:txBody>
        </p:sp>
        <p:sp>
          <p:nvSpPr>
            <p:cNvPr id="31786" name="Text Box 57"/>
            <p:cNvSpPr txBox="1">
              <a:spLocks noChangeArrowheads="1"/>
            </p:cNvSpPr>
            <p:nvPr/>
          </p:nvSpPr>
          <p:spPr bwMode="auto">
            <a:xfrm>
              <a:off x="1320" y="3360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last</a:t>
              </a:r>
            </a:p>
          </p:txBody>
        </p:sp>
        <p:sp>
          <p:nvSpPr>
            <p:cNvPr id="31787" name="Freeform 58"/>
            <p:cNvSpPr>
              <a:spLocks/>
            </p:cNvSpPr>
            <p:nvPr/>
          </p:nvSpPr>
          <p:spPr bwMode="auto">
            <a:xfrm>
              <a:off x="2000" y="3360"/>
              <a:ext cx="1528" cy="384"/>
            </a:xfrm>
            <a:custGeom>
              <a:avLst/>
              <a:gdLst>
                <a:gd name="T0" fmla="*/ 0 w 1528"/>
                <a:gd name="T1" fmla="*/ 384 h 384"/>
                <a:gd name="T2" fmla="*/ 1144 w 1528"/>
                <a:gd name="T3" fmla="*/ 384 h 384"/>
                <a:gd name="T4" fmla="*/ 1528 w 1528"/>
                <a:gd name="T5" fmla="*/ 0 h 384"/>
                <a:gd name="T6" fmla="*/ 0 60000 65536"/>
                <a:gd name="T7" fmla="*/ 0 60000 65536"/>
                <a:gd name="T8" fmla="*/ 0 60000 65536"/>
                <a:gd name="T9" fmla="*/ 0 w 1528"/>
                <a:gd name="T10" fmla="*/ 0 h 384"/>
                <a:gd name="T11" fmla="*/ 1528 w 1528"/>
                <a:gd name="T12" fmla="*/ 384 h 3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8" h="384">
                  <a:moveTo>
                    <a:pt x="0" y="384"/>
                  </a:moveTo>
                  <a:lnTo>
                    <a:pt x="1144" y="384"/>
                  </a:lnTo>
                  <a:lnTo>
                    <a:pt x="1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88" name="Line 59"/>
            <p:cNvSpPr>
              <a:spLocks noChangeShapeType="1"/>
            </p:cNvSpPr>
            <p:nvPr/>
          </p:nvSpPr>
          <p:spPr bwMode="auto">
            <a:xfrm>
              <a:off x="3624" y="331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89" name="Freeform 60"/>
            <p:cNvSpPr>
              <a:spLocks/>
            </p:cNvSpPr>
            <p:nvPr/>
          </p:nvSpPr>
          <p:spPr bwMode="auto">
            <a:xfrm>
              <a:off x="1992" y="3216"/>
              <a:ext cx="528" cy="48"/>
            </a:xfrm>
            <a:custGeom>
              <a:avLst/>
              <a:gdLst>
                <a:gd name="T0" fmla="*/ 0 w 528"/>
                <a:gd name="T1" fmla="*/ 48 h 48"/>
                <a:gd name="T2" fmla="*/ 96 w 528"/>
                <a:gd name="T3" fmla="*/ 0 h 48"/>
                <a:gd name="T4" fmla="*/ 528 w 528"/>
                <a:gd name="T5" fmla="*/ 0 h 48"/>
                <a:gd name="T6" fmla="*/ 0 60000 65536"/>
                <a:gd name="T7" fmla="*/ 0 60000 65536"/>
                <a:gd name="T8" fmla="*/ 0 60000 65536"/>
                <a:gd name="T9" fmla="*/ 0 w 528"/>
                <a:gd name="T10" fmla="*/ 0 h 48"/>
                <a:gd name="T11" fmla="*/ 528 w 528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48">
                  <a:moveTo>
                    <a:pt x="0" y="48"/>
                  </a:moveTo>
                  <a:lnTo>
                    <a:pt x="96" y="0"/>
                  </a:lnTo>
                  <a:lnTo>
                    <a:pt x="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" name="Group 81"/>
          <p:cNvGrpSpPr>
            <a:grpSpLocks/>
          </p:cNvGrpSpPr>
          <p:nvPr/>
        </p:nvGrpSpPr>
        <p:grpSpPr bwMode="auto">
          <a:xfrm>
            <a:off x="723900" y="4656138"/>
            <a:ext cx="6629400" cy="1524000"/>
            <a:chOff x="1224" y="3060"/>
            <a:chExt cx="4176" cy="960"/>
          </a:xfrm>
        </p:grpSpPr>
        <p:sp>
          <p:nvSpPr>
            <p:cNvPr id="31752" name="Rectangle 62"/>
            <p:cNvSpPr>
              <a:spLocks noChangeArrowheads="1"/>
            </p:cNvSpPr>
            <p:nvPr/>
          </p:nvSpPr>
          <p:spPr bwMode="auto">
            <a:xfrm>
              <a:off x="1224" y="3060"/>
              <a:ext cx="4176" cy="9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1753" name="Rectangle 63"/>
            <p:cNvSpPr>
              <a:spLocks noChangeArrowheads="1"/>
            </p:cNvSpPr>
            <p:nvPr/>
          </p:nvSpPr>
          <p:spPr bwMode="auto">
            <a:xfrm>
              <a:off x="1896" y="3732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1754" name="Text Box 64"/>
            <p:cNvSpPr txBox="1">
              <a:spLocks noChangeArrowheads="1"/>
            </p:cNvSpPr>
            <p:nvPr/>
          </p:nvSpPr>
          <p:spPr bwMode="auto">
            <a:xfrm>
              <a:off x="1272" y="3732"/>
              <a:ext cx="5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second</a:t>
              </a:r>
            </a:p>
          </p:txBody>
        </p:sp>
        <p:sp>
          <p:nvSpPr>
            <p:cNvPr id="31755" name="Rectangle 65"/>
            <p:cNvSpPr>
              <a:spLocks noChangeArrowheads="1"/>
            </p:cNvSpPr>
            <p:nvPr/>
          </p:nvSpPr>
          <p:spPr bwMode="auto">
            <a:xfrm>
              <a:off x="1896" y="3258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1756" name="Rectangle 66"/>
            <p:cNvSpPr>
              <a:spLocks noChangeArrowheads="1"/>
            </p:cNvSpPr>
            <p:nvPr/>
          </p:nvSpPr>
          <p:spPr bwMode="auto">
            <a:xfrm>
              <a:off x="1896" y="3450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1757" name="Text Box 67"/>
            <p:cNvSpPr txBox="1">
              <a:spLocks noChangeArrowheads="1"/>
            </p:cNvSpPr>
            <p:nvPr/>
          </p:nvSpPr>
          <p:spPr bwMode="auto">
            <a:xfrm>
              <a:off x="2520" y="325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ant</a:t>
              </a:r>
            </a:p>
          </p:txBody>
        </p:sp>
        <p:sp>
          <p:nvSpPr>
            <p:cNvPr id="31758" name="Text Box 68"/>
            <p:cNvSpPr txBox="1">
              <a:spLocks noChangeArrowheads="1"/>
            </p:cNvSpPr>
            <p:nvPr/>
          </p:nvSpPr>
          <p:spPr bwMode="auto">
            <a:xfrm>
              <a:off x="3528" y="325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bat</a:t>
              </a:r>
            </a:p>
          </p:txBody>
        </p:sp>
        <p:sp>
          <p:nvSpPr>
            <p:cNvPr id="31759" name="Text Box 69"/>
            <p:cNvSpPr txBox="1">
              <a:spLocks noChangeArrowheads="1"/>
            </p:cNvSpPr>
            <p:nvPr/>
          </p:nvSpPr>
          <p:spPr bwMode="auto">
            <a:xfrm>
              <a:off x="4536" y="325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31760" name="Line 70"/>
            <p:cNvSpPr>
              <a:spLocks noChangeShapeType="1"/>
            </p:cNvSpPr>
            <p:nvPr/>
          </p:nvSpPr>
          <p:spPr bwMode="auto">
            <a:xfrm>
              <a:off x="3000" y="3306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61" name="Line 71"/>
            <p:cNvSpPr>
              <a:spLocks noChangeShapeType="1"/>
            </p:cNvSpPr>
            <p:nvPr/>
          </p:nvSpPr>
          <p:spPr bwMode="auto">
            <a:xfrm>
              <a:off x="4008" y="3306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62" name="Line 72"/>
            <p:cNvSpPr>
              <a:spLocks noChangeShapeType="1"/>
            </p:cNvSpPr>
            <p:nvPr/>
          </p:nvSpPr>
          <p:spPr bwMode="auto">
            <a:xfrm>
              <a:off x="5016" y="330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63" name="Line 73"/>
            <p:cNvSpPr>
              <a:spLocks noChangeShapeType="1"/>
            </p:cNvSpPr>
            <p:nvPr/>
          </p:nvSpPr>
          <p:spPr bwMode="auto">
            <a:xfrm flipH="1">
              <a:off x="4104" y="3402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64" name="Line 74"/>
            <p:cNvSpPr>
              <a:spLocks noChangeShapeType="1"/>
            </p:cNvSpPr>
            <p:nvPr/>
          </p:nvSpPr>
          <p:spPr bwMode="auto">
            <a:xfrm>
              <a:off x="2616" y="340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65" name="Freeform 75"/>
            <p:cNvSpPr>
              <a:spLocks/>
            </p:cNvSpPr>
            <p:nvPr/>
          </p:nvSpPr>
          <p:spPr bwMode="auto">
            <a:xfrm>
              <a:off x="1992" y="3402"/>
              <a:ext cx="3312" cy="144"/>
            </a:xfrm>
            <a:custGeom>
              <a:avLst/>
              <a:gdLst>
                <a:gd name="T0" fmla="*/ 0 w 3312"/>
                <a:gd name="T1" fmla="*/ 144 h 144"/>
                <a:gd name="T2" fmla="*/ 3312 w 3312"/>
                <a:gd name="T3" fmla="*/ 144 h 144"/>
                <a:gd name="T4" fmla="*/ 3312 w 3312"/>
                <a:gd name="T5" fmla="*/ 0 h 144"/>
                <a:gd name="T6" fmla="*/ 3120 w 3312"/>
                <a:gd name="T7" fmla="*/ 0 h 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12"/>
                <a:gd name="T13" fmla="*/ 0 h 144"/>
                <a:gd name="T14" fmla="*/ 3312 w 3312"/>
                <a:gd name="T15" fmla="*/ 144 h 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12" h="144">
                  <a:moveTo>
                    <a:pt x="0" y="144"/>
                  </a:moveTo>
                  <a:lnTo>
                    <a:pt x="3312" y="144"/>
                  </a:lnTo>
                  <a:lnTo>
                    <a:pt x="3312" y="0"/>
                  </a:lnTo>
                  <a:lnTo>
                    <a:pt x="312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66" name="Text Box 76"/>
            <p:cNvSpPr txBox="1">
              <a:spLocks noChangeArrowheads="1"/>
            </p:cNvSpPr>
            <p:nvPr/>
          </p:nvSpPr>
          <p:spPr bwMode="auto">
            <a:xfrm>
              <a:off x="1320" y="3252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first</a:t>
              </a:r>
            </a:p>
          </p:txBody>
        </p:sp>
        <p:sp>
          <p:nvSpPr>
            <p:cNvPr id="31767" name="Text Box 77"/>
            <p:cNvSpPr txBox="1">
              <a:spLocks noChangeArrowheads="1"/>
            </p:cNvSpPr>
            <p:nvPr/>
          </p:nvSpPr>
          <p:spPr bwMode="auto">
            <a:xfrm>
              <a:off x="1320" y="3444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last</a:t>
              </a:r>
            </a:p>
          </p:txBody>
        </p:sp>
        <p:sp>
          <p:nvSpPr>
            <p:cNvPr id="31768" name="Freeform 78"/>
            <p:cNvSpPr>
              <a:spLocks/>
            </p:cNvSpPr>
            <p:nvPr/>
          </p:nvSpPr>
          <p:spPr bwMode="auto">
            <a:xfrm>
              <a:off x="2000" y="3444"/>
              <a:ext cx="1528" cy="384"/>
            </a:xfrm>
            <a:custGeom>
              <a:avLst/>
              <a:gdLst>
                <a:gd name="T0" fmla="*/ 0 w 1528"/>
                <a:gd name="T1" fmla="*/ 384 h 384"/>
                <a:gd name="T2" fmla="*/ 1144 w 1528"/>
                <a:gd name="T3" fmla="*/ 384 h 384"/>
                <a:gd name="T4" fmla="*/ 1528 w 1528"/>
                <a:gd name="T5" fmla="*/ 0 h 384"/>
                <a:gd name="T6" fmla="*/ 0 60000 65536"/>
                <a:gd name="T7" fmla="*/ 0 60000 65536"/>
                <a:gd name="T8" fmla="*/ 0 60000 65536"/>
                <a:gd name="T9" fmla="*/ 0 w 1528"/>
                <a:gd name="T10" fmla="*/ 0 h 384"/>
                <a:gd name="T11" fmla="*/ 1528 w 1528"/>
                <a:gd name="T12" fmla="*/ 384 h 3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8" h="384">
                  <a:moveTo>
                    <a:pt x="0" y="384"/>
                  </a:moveTo>
                  <a:lnTo>
                    <a:pt x="1144" y="384"/>
                  </a:lnTo>
                  <a:lnTo>
                    <a:pt x="1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69" name="Line 79"/>
            <p:cNvSpPr>
              <a:spLocks noChangeShapeType="1"/>
            </p:cNvSpPr>
            <p:nvPr/>
          </p:nvSpPr>
          <p:spPr bwMode="auto">
            <a:xfrm>
              <a:off x="3624" y="339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70" name="Freeform 80"/>
            <p:cNvSpPr>
              <a:spLocks/>
            </p:cNvSpPr>
            <p:nvPr/>
          </p:nvSpPr>
          <p:spPr bwMode="auto">
            <a:xfrm>
              <a:off x="1992" y="3156"/>
              <a:ext cx="1536" cy="192"/>
            </a:xfrm>
            <a:custGeom>
              <a:avLst/>
              <a:gdLst>
                <a:gd name="T0" fmla="*/ 0 w 1536"/>
                <a:gd name="T1" fmla="*/ 192 h 192"/>
                <a:gd name="T2" fmla="*/ 528 w 1536"/>
                <a:gd name="T3" fmla="*/ 0 h 192"/>
                <a:gd name="T4" fmla="*/ 1104 w 1536"/>
                <a:gd name="T5" fmla="*/ 0 h 192"/>
                <a:gd name="T6" fmla="*/ 1536 w 1536"/>
                <a:gd name="T7" fmla="*/ 96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36"/>
                <a:gd name="T13" fmla="*/ 0 h 192"/>
                <a:gd name="T14" fmla="*/ 1536 w 1536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36" h="192">
                  <a:moveTo>
                    <a:pt x="0" y="192"/>
                  </a:moveTo>
                  <a:lnTo>
                    <a:pt x="528" y="0"/>
                  </a:lnTo>
                  <a:lnTo>
                    <a:pt x="1104" y="0"/>
                  </a:lnTo>
                  <a:lnTo>
                    <a:pt x="1536" y="9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1980" y="4041974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Animation:</a:t>
            </a:r>
          </a:p>
        </p:txBody>
      </p:sp>
    </p:spTree>
    <p:extLst>
      <p:ext uri="{BB962C8B-B14F-4D97-AF65-F5344CB8AC3E}">
        <p14:creationId xmlns:p14="http://schemas.microsoft.com/office/powerpoint/2010/main" val="4205400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DLL method to delete last node (in DLL)</a:t>
            </a:r>
            <a:endParaRPr lang="en-GB" altLang="en-US" sz="3200" dirty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2057400"/>
          </a:xfrm>
          <a:noFill/>
          <a:ln>
            <a:solidFill>
              <a:schemeClr val="accent1"/>
            </a:solidFill>
          </a:ln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9500" algn="l"/>
                <a:tab pos="1435100" algn="l"/>
                <a:tab pos="1790700" algn="l"/>
                <a:tab pos="2159000" algn="l"/>
              </a:tabLst>
            </a:pPr>
            <a:r>
              <a:rPr lang="en-US" altLang="en-US" sz="2000" dirty="0">
                <a:latin typeface="Courier New" pitchFamily="49" charset="0"/>
              </a:rPr>
              <a:t>	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</a:rPr>
              <a:t>public</a:t>
            </a:r>
            <a:r>
              <a:rPr lang="en-US" altLang="en-US" sz="2000" dirty="0">
                <a:solidFill>
                  <a:srgbClr val="B21E92"/>
                </a:solidFill>
                <a:latin typeface="Courier New" pitchFamily="49" charset="0"/>
              </a:rPr>
              <a:t> 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</a:rPr>
              <a:t>void</a:t>
            </a:r>
            <a:r>
              <a:rPr lang="en-US" altLang="en-US" sz="2000" dirty="0">
                <a:solidFill>
                  <a:srgbClr val="B21E92"/>
                </a:solidFill>
                <a:latin typeface="Courier New" pitchFamily="49" charset="0"/>
              </a:rPr>
              <a:t> </a:t>
            </a:r>
            <a:r>
              <a:rPr lang="en-US" altLang="en-US" sz="2000" dirty="0" err="1">
                <a:latin typeface="Courier New" pitchFamily="49" charset="0"/>
              </a:rPr>
              <a:t>deleteLast</a:t>
            </a:r>
            <a:r>
              <a:rPr lang="en-US" altLang="en-US" sz="2000" dirty="0">
                <a:latin typeface="Courier New" pitchFamily="49" charset="0"/>
              </a:rPr>
              <a:t> () {</a:t>
            </a:r>
            <a:br>
              <a:rPr lang="en-US" altLang="en-US" sz="2000" dirty="0">
                <a:latin typeface="Courier New" pitchFamily="49" charset="0"/>
              </a:rPr>
            </a:b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</a:rPr>
              <a:t>// </a:t>
            </a:r>
            <a:r>
              <a:rPr lang="en-US" altLang="en-US" sz="2000" dirty="0">
                <a:solidFill>
                  <a:srgbClr val="92D050"/>
                </a:solidFill>
              </a:rPr>
              <a:t>Delete this DLL’s last node (assuming length &gt; 0).</a:t>
            </a:r>
            <a:br>
              <a:rPr lang="en-US" altLang="en-US" sz="2000" dirty="0">
                <a:solidFill>
                  <a:srgbClr val="92D050"/>
                </a:solidFill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	Node&lt;E&gt; </a:t>
            </a:r>
            <a:r>
              <a:rPr lang="en-US" altLang="en-US" sz="2000" dirty="0">
                <a:solidFill>
                  <a:schemeClr val="accent2"/>
                </a:solidFill>
                <a:latin typeface="Courier New" pitchFamily="49" charset="0"/>
              </a:rPr>
              <a:t>penult</a:t>
            </a:r>
            <a:r>
              <a:rPr lang="en-US" altLang="en-US" sz="2000" dirty="0">
                <a:latin typeface="Courier New" pitchFamily="49" charset="0"/>
              </a:rPr>
              <a:t> = </a:t>
            </a:r>
            <a:r>
              <a:rPr lang="en-US" altLang="en-US" sz="2000" dirty="0" err="1">
                <a:solidFill>
                  <a:srgbClr val="0070C0"/>
                </a:solidFill>
                <a:latin typeface="Courier New" pitchFamily="49" charset="0"/>
              </a:rPr>
              <a:t>last</a:t>
            </a:r>
            <a:r>
              <a:rPr lang="en-US" altLang="en-US" sz="2000" dirty="0" err="1">
                <a:latin typeface="Courier New" pitchFamily="49" charset="0"/>
              </a:rPr>
              <a:t>.</a:t>
            </a:r>
            <a:r>
              <a:rPr lang="en-US" altLang="en-US" sz="2000" dirty="0" err="1">
                <a:solidFill>
                  <a:srgbClr val="0070C0"/>
                </a:solidFill>
                <a:latin typeface="Courier New" pitchFamily="49" charset="0"/>
              </a:rPr>
              <a:t>pred</a:t>
            </a:r>
            <a:r>
              <a:rPr lang="en-US" altLang="en-US" sz="2000" dirty="0">
                <a:latin typeface="Courier New" pitchFamily="49" charset="0"/>
              </a:rPr>
              <a:t>;</a:t>
            </a:r>
            <a:br>
              <a:rPr lang="en-US" altLang="en-US" sz="2000" dirty="0">
                <a:latin typeface="Courier New" pitchFamily="49" charset="0"/>
              </a:rPr>
            </a:br>
            <a:r>
              <a:rPr lang="en-US" altLang="en-US" sz="2000" dirty="0">
                <a:latin typeface="Courier New" pitchFamily="49" charset="0"/>
              </a:rPr>
              <a:t>	</a:t>
            </a:r>
            <a:r>
              <a:rPr lang="en-US" altLang="en-US" sz="2000" dirty="0" err="1">
                <a:solidFill>
                  <a:schemeClr val="accent2"/>
                </a:solidFill>
                <a:latin typeface="Courier New" pitchFamily="49" charset="0"/>
              </a:rPr>
              <a:t>penult</a:t>
            </a:r>
            <a:r>
              <a:rPr lang="en-US" altLang="en-US" sz="2000" dirty="0" err="1">
                <a:latin typeface="Courier New" pitchFamily="49" charset="0"/>
              </a:rPr>
              <a:t>.</a:t>
            </a:r>
            <a:r>
              <a:rPr lang="en-US" altLang="en-US" sz="2000" dirty="0" err="1">
                <a:solidFill>
                  <a:srgbClr val="0070C0"/>
                </a:solidFill>
                <a:latin typeface="Courier New" pitchFamily="49" charset="0"/>
              </a:rPr>
              <a:t>next</a:t>
            </a:r>
            <a:r>
              <a:rPr lang="en-US" altLang="en-US" sz="2000" dirty="0">
                <a:latin typeface="Courier New" pitchFamily="49" charset="0"/>
              </a:rPr>
              <a:t> = </a:t>
            </a:r>
            <a:r>
              <a:rPr lang="en-US" altLang="en-US" sz="2000" b="1" dirty="0">
                <a:solidFill>
                  <a:srgbClr val="B21E92"/>
                </a:solidFill>
                <a:latin typeface="Courier New" pitchFamily="49" charset="0"/>
              </a:rPr>
              <a:t>null</a:t>
            </a:r>
            <a:r>
              <a:rPr lang="en-US" altLang="en-US" sz="2000" dirty="0">
                <a:latin typeface="Courier New" pitchFamily="49" charset="0"/>
              </a:rPr>
              <a:t>;</a:t>
            </a:r>
            <a:br>
              <a:rPr lang="en-US" altLang="en-US" sz="2000" dirty="0">
                <a:latin typeface="Courier New" pitchFamily="49" charset="0"/>
              </a:rPr>
            </a:br>
            <a:r>
              <a:rPr lang="en-US" altLang="en-US" sz="2000" dirty="0">
                <a:latin typeface="Courier New" pitchFamily="49" charset="0"/>
              </a:rPr>
              <a:t>	</a:t>
            </a:r>
            <a:r>
              <a:rPr lang="en-US" altLang="en-US" sz="2000" dirty="0">
                <a:solidFill>
                  <a:srgbClr val="0070C0"/>
                </a:solidFill>
                <a:latin typeface="Courier New" pitchFamily="49" charset="0"/>
              </a:rPr>
              <a:t>last</a:t>
            </a:r>
            <a:r>
              <a:rPr lang="en-US" altLang="en-US" sz="2000" dirty="0">
                <a:latin typeface="Courier New" pitchFamily="49" charset="0"/>
              </a:rPr>
              <a:t> = </a:t>
            </a:r>
            <a:r>
              <a:rPr lang="en-US" altLang="en-US" sz="2000" dirty="0">
                <a:solidFill>
                  <a:schemeClr val="accent2"/>
                </a:solidFill>
                <a:latin typeface="Courier New" pitchFamily="49" charset="0"/>
              </a:rPr>
              <a:t>penult</a:t>
            </a:r>
            <a:r>
              <a:rPr lang="en-US" altLang="en-US" sz="2000" dirty="0">
                <a:latin typeface="Courier New" pitchFamily="49" charset="0"/>
              </a:rPr>
              <a:t>;</a:t>
            </a:r>
            <a:br>
              <a:rPr lang="en-US" altLang="en-US" sz="2000">
                <a:latin typeface="Courier New" pitchFamily="49" charset="0"/>
              </a:rPr>
            </a:br>
            <a:r>
              <a:rPr lang="en-US" altLang="en-US" sz="2000">
                <a:latin typeface="Courier New" pitchFamily="49" charset="0"/>
              </a:rPr>
              <a:t>}</a:t>
            </a:r>
            <a:endParaRPr lang="en-US" altLang="en-US" sz="2000" dirty="0">
              <a:latin typeface="Courier New" pitchFamily="49" charset="0"/>
            </a:endParaRPr>
          </a:p>
        </p:txBody>
      </p:sp>
      <p:grpSp>
        <p:nvGrpSpPr>
          <p:cNvPr id="2" name="Group 84"/>
          <p:cNvGrpSpPr>
            <a:grpSpLocks/>
          </p:cNvGrpSpPr>
          <p:nvPr/>
        </p:nvGrpSpPr>
        <p:grpSpPr bwMode="auto">
          <a:xfrm>
            <a:off x="571500" y="4808538"/>
            <a:ext cx="6629400" cy="1524000"/>
            <a:chOff x="1224" y="2795"/>
            <a:chExt cx="4176" cy="960"/>
          </a:xfrm>
        </p:grpSpPr>
        <p:sp>
          <p:nvSpPr>
            <p:cNvPr id="32833" name="Rectangle 5"/>
            <p:cNvSpPr>
              <a:spLocks noChangeArrowheads="1"/>
            </p:cNvSpPr>
            <p:nvPr/>
          </p:nvSpPr>
          <p:spPr bwMode="auto">
            <a:xfrm>
              <a:off x="1224" y="2795"/>
              <a:ext cx="4176" cy="9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34" name="Rectangle 6"/>
            <p:cNvSpPr>
              <a:spLocks noChangeArrowheads="1"/>
            </p:cNvSpPr>
            <p:nvPr/>
          </p:nvSpPr>
          <p:spPr bwMode="auto">
            <a:xfrm>
              <a:off x="1896" y="2993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35" name="Rectangle 7"/>
            <p:cNvSpPr>
              <a:spLocks noChangeArrowheads="1"/>
            </p:cNvSpPr>
            <p:nvPr/>
          </p:nvSpPr>
          <p:spPr bwMode="auto">
            <a:xfrm>
              <a:off x="1896" y="3185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36" name="Text Box 8"/>
            <p:cNvSpPr txBox="1">
              <a:spLocks noChangeArrowheads="1"/>
            </p:cNvSpPr>
            <p:nvPr/>
          </p:nvSpPr>
          <p:spPr bwMode="auto">
            <a:xfrm>
              <a:off x="2520" y="298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ant</a:t>
              </a:r>
            </a:p>
          </p:txBody>
        </p:sp>
        <p:sp>
          <p:nvSpPr>
            <p:cNvPr id="32837" name="Text Box 9"/>
            <p:cNvSpPr txBox="1">
              <a:spLocks noChangeArrowheads="1"/>
            </p:cNvSpPr>
            <p:nvPr/>
          </p:nvSpPr>
          <p:spPr bwMode="auto">
            <a:xfrm>
              <a:off x="3528" y="298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bat</a:t>
              </a:r>
            </a:p>
          </p:txBody>
        </p:sp>
        <p:sp>
          <p:nvSpPr>
            <p:cNvPr id="32838" name="Text Box 10"/>
            <p:cNvSpPr txBox="1">
              <a:spLocks noChangeArrowheads="1"/>
            </p:cNvSpPr>
            <p:nvPr/>
          </p:nvSpPr>
          <p:spPr bwMode="auto">
            <a:xfrm>
              <a:off x="4536" y="2987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32839" name="Line 11"/>
            <p:cNvSpPr>
              <a:spLocks noChangeShapeType="1"/>
            </p:cNvSpPr>
            <p:nvPr/>
          </p:nvSpPr>
          <p:spPr bwMode="auto">
            <a:xfrm>
              <a:off x="3000" y="3041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40" name="Line 12"/>
            <p:cNvSpPr>
              <a:spLocks noChangeShapeType="1"/>
            </p:cNvSpPr>
            <p:nvPr/>
          </p:nvSpPr>
          <p:spPr bwMode="auto">
            <a:xfrm>
              <a:off x="4008" y="3041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41" name="Line 13"/>
            <p:cNvSpPr>
              <a:spLocks noChangeShapeType="1"/>
            </p:cNvSpPr>
            <p:nvPr/>
          </p:nvSpPr>
          <p:spPr bwMode="auto">
            <a:xfrm>
              <a:off x="5016" y="3041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42" name="Freeform 14"/>
            <p:cNvSpPr>
              <a:spLocks/>
            </p:cNvSpPr>
            <p:nvPr/>
          </p:nvSpPr>
          <p:spPr bwMode="auto">
            <a:xfrm>
              <a:off x="1992" y="3041"/>
              <a:ext cx="528" cy="48"/>
            </a:xfrm>
            <a:custGeom>
              <a:avLst/>
              <a:gdLst>
                <a:gd name="T0" fmla="*/ 0 w 528"/>
                <a:gd name="T1" fmla="*/ 48 h 48"/>
                <a:gd name="T2" fmla="*/ 96 w 528"/>
                <a:gd name="T3" fmla="*/ 0 h 48"/>
                <a:gd name="T4" fmla="*/ 528 w 528"/>
                <a:gd name="T5" fmla="*/ 0 h 48"/>
                <a:gd name="T6" fmla="*/ 0 60000 65536"/>
                <a:gd name="T7" fmla="*/ 0 60000 65536"/>
                <a:gd name="T8" fmla="*/ 0 60000 65536"/>
                <a:gd name="T9" fmla="*/ 0 w 528"/>
                <a:gd name="T10" fmla="*/ 0 h 48"/>
                <a:gd name="T11" fmla="*/ 528 w 528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48">
                  <a:moveTo>
                    <a:pt x="0" y="48"/>
                  </a:moveTo>
                  <a:lnTo>
                    <a:pt x="96" y="0"/>
                  </a:lnTo>
                  <a:lnTo>
                    <a:pt x="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43" name="Line 15"/>
            <p:cNvSpPr>
              <a:spLocks noChangeShapeType="1"/>
            </p:cNvSpPr>
            <p:nvPr/>
          </p:nvSpPr>
          <p:spPr bwMode="auto">
            <a:xfrm flipH="1">
              <a:off x="4104" y="3137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44" name="Line 16"/>
            <p:cNvSpPr>
              <a:spLocks noChangeShapeType="1"/>
            </p:cNvSpPr>
            <p:nvPr/>
          </p:nvSpPr>
          <p:spPr bwMode="auto">
            <a:xfrm flipH="1">
              <a:off x="3096" y="3137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45" name="Line 17"/>
            <p:cNvSpPr>
              <a:spLocks noChangeShapeType="1"/>
            </p:cNvSpPr>
            <p:nvPr/>
          </p:nvSpPr>
          <p:spPr bwMode="auto">
            <a:xfrm>
              <a:off x="2616" y="313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46" name="Freeform 18"/>
            <p:cNvSpPr>
              <a:spLocks/>
            </p:cNvSpPr>
            <p:nvPr/>
          </p:nvSpPr>
          <p:spPr bwMode="auto">
            <a:xfrm>
              <a:off x="1992" y="3137"/>
              <a:ext cx="3312" cy="144"/>
            </a:xfrm>
            <a:custGeom>
              <a:avLst/>
              <a:gdLst>
                <a:gd name="T0" fmla="*/ 0 w 3312"/>
                <a:gd name="T1" fmla="*/ 144 h 144"/>
                <a:gd name="T2" fmla="*/ 3312 w 3312"/>
                <a:gd name="T3" fmla="*/ 144 h 144"/>
                <a:gd name="T4" fmla="*/ 3312 w 3312"/>
                <a:gd name="T5" fmla="*/ 0 h 144"/>
                <a:gd name="T6" fmla="*/ 3120 w 3312"/>
                <a:gd name="T7" fmla="*/ 0 h 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12"/>
                <a:gd name="T13" fmla="*/ 0 h 144"/>
                <a:gd name="T14" fmla="*/ 3312 w 3312"/>
                <a:gd name="T15" fmla="*/ 144 h 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12" h="144">
                  <a:moveTo>
                    <a:pt x="0" y="144"/>
                  </a:moveTo>
                  <a:lnTo>
                    <a:pt x="3312" y="144"/>
                  </a:lnTo>
                  <a:lnTo>
                    <a:pt x="3312" y="0"/>
                  </a:lnTo>
                  <a:lnTo>
                    <a:pt x="312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47" name="Text Box 19"/>
            <p:cNvSpPr txBox="1">
              <a:spLocks noChangeArrowheads="1"/>
            </p:cNvSpPr>
            <p:nvPr/>
          </p:nvSpPr>
          <p:spPr bwMode="auto">
            <a:xfrm>
              <a:off x="1320" y="2987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first</a:t>
              </a:r>
            </a:p>
          </p:txBody>
        </p:sp>
        <p:sp>
          <p:nvSpPr>
            <p:cNvPr id="32848" name="Text Box 20"/>
            <p:cNvSpPr txBox="1">
              <a:spLocks noChangeArrowheads="1"/>
            </p:cNvSpPr>
            <p:nvPr/>
          </p:nvSpPr>
          <p:spPr bwMode="auto">
            <a:xfrm>
              <a:off x="1320" y="3179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last</a:t>
              </a:r>
            </a:p>
          </p:txBody>
        </p:sp>
      </p:grpSp>
      <p:grpSp>
        <p:nvGrpSpPr>
          <p:cNvPr id="3" name="Group 83"/>
          <p:cNvGrpSpPr>
            <a:grpSpLocks/>
          </p:cNvGrpSpPr>
          <p:nvPr/>
        </p:nvGrpSpPr>
        <p:grpSpPr bwMode="auto">
          <a:xfrm>
            <a:off x="571500" y="4808538"/>
            <a:ext cx="6629400" cy="1524000"/>
            <a:chOff x="1224" y="2886"/>
            <a:chExt cx="4176" cy="960"/>
          </a:xfrm>
        </p:grpSpPr>
        <p:sp>
          <p:nvSpPr>
            <p:cNvPr id="32814" name="Rectangle 22"/>
            <p:cNvSpPr>
              <a:spLocks noChangeArrowheads="1"/>
            </p:cNvSpPr>
            <p:nvPr/>
          </p:nvSpPr>
          <p:spPr bwMode="auto">
            <a:xfrm>
              <a:off x="1224" y="2886"/>
              <a:ext cx="4176" cy="9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15" name="Rectangle 23"/>
            <p:cNvSpPr>
              <a:spLocks noChangeArrowheads="1"/>
            </p:cNvSpPr>
            <p:nvPr/>
          </p:nvSpPr>
          <p:spPr bwMode="auto">
            <a:xfrm>
              <a:off x="1896" y="3558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16" name="Text Box 24"/>
            <p:cNvSpPr txBox="1">
              <a:spLocks noChangeArrowheads="1"/>
            </p:cNvSpPr>
            <p:nvPr/>
          </p:nvSpPr>
          <p:spPr bwMode="auto">
            <a:xfrm>
              <a:off x="1272" y="3558"/>
              <a:ext cx="5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penult</a:t>
              </a:r>
            </a:p>
          </p:txBody>
        </p:sp>
        <p:sp>
          <p:nvSpPr>
            <p:cNvPr id="32817" name="Rectangle 25"/>
            <p:cNvSpPr>
              <a:spLocks noChangeArrowheads="1"/>
            </p:cNvSpPr>
            <p:nvPr/>
          </p:nvSpPr>
          <p:spPr bwMode="auto">
            <a:xfrm>
              <a:off x="1896" y="3084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18" name="Rectangle 26"/>
            <p:cNvSpPr>
              <a:spLocks noChangeArrowheads="1"/>
            </p:cNvSpPr>
            <p:nvPr/>
          </p:nvSpPr>
          <p:spPr bwMode="auto">
            <a:xfrm>
              <a:off x="1896" y="3276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19" name="Text Box 27"/>
            <p:cNvSpPr txBox="1">
              <a:spLocks noChangeArrowheads="1"/>
            </p:cNvSpPr>
            <p:nvPr/>
          </p:nvSpPr>
          <p:spPr bwMode="auto">
            <a:xfrm>
              <a:off x="2520" y="307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ant</a:t>
              </a:r>
            </a:p>
          </p:txBody>
        </p:sp>
        <p:sp>
          <p:nvSpPr>
            <p:cNvPr id="32820" name="Text Box 28"/>
            <p:cNvSpPr txBox="1">
              <a:spLocks noChangeArrowheads="1"/>
            </p:cNvSpPr>
            <p:nvPr/>
          </p:nvSpPr>
          <p:spPr bwMode="auto">
            <a:xfrm>
              <a:off x="3528" y="307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bat</a:t>
              </a:r>
            </a:p>
          </p:txBody>
        </p:sp>
        <p:sp>
          <p:nvSpPr>
            <p:cNvPr id="32821" name="Text Box 29"/>
            <p:cNvSpPr txBox="1">
              <a:spLocks noChangeArrowheads="1"/>
            </p:cNvSpPr>
            <p:nvPr/>
          </p:nvSpPr>
          <p:spPr bwMode="auto">
            <a:xfrm>
              <a:off x="4536" y="3078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32822" name="Line 30"/>
            <p:cNvSpPr>
              <a:spLocks noChangeShapeType="1"/>
            </p:cNvSpPr>
            <p:nvPr/>
          </p:nvSpPr>
          <p:spPr bwMode="auto">
            <a:xfrm>
              <a:off x="3000" y="3132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23" name="Line 31"/>
            <p:cNvSpPr>
              <a:spLocks noChangeShapeType="1"/>
            </p:cNvSpPr>
            <p:nvPr/>
          </p:nvSpPr>
          <p:spPr bwMode="auto">
            <a:xfrm>
              <a:off x="4008" y="3132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24" name="Line 32"/>
            <p:cNvSpPr>
              <a:spLocks noChangeShapeType="1"/>
            </p:cNvSpPr>
            <p:nvPr/>
          </p:nvSpPr>
          <p:spPr bwMode="auto">
            <a:xfrm>
              <a:off x="5016" y="313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25" name="Freeform 33"/>
            <p:cNvSpPr>
              <a:spLocks/>
            </p:cNvSpPr>
            <p:nvPr/>
          </p:nvSpPr>
          <p:spPr bwMode="auto">
            <a:xfrm>
              <a:off x="1992" y="3132"/>
              <a:ext cx="528" cy="48"/>
            </a:xfrm>
            <a:custGeom>
              <a:avLst/>
              <a:gdLst>
                <a:gd name="T0" fmla="*/ 0 w 528"/>
                <a:gd name="T1" fmla="*/ 48 h 48"/>
                <a:gd name="T2" fmla="*/ 96 w 528"/>
                <a:gd name="T3" fmla="*/ 0 h 48"/>
                <a:gd name="T4" fmla="*/ 528 w 528"/>
                <a:gd name="T5" fmla="*/ 0 h 48"/>
                <a:gd name="T6" fmla="*/ 0 60000 65536"/>
                <a:gd name="T7" fmla="*/ 0 60000 65536"/>
                <a:gd name="T8" fmla="*/ 0 60000 65536"/>
                <a:gd name="T9" fmla="*/ 0 w 528"/>
                <a:gd name="T10" fmla="*/ 0 h 48"/>
                <a:gd name="T11" fmla="*/ 528 w 528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48">
                  <a:moveTo>
                    <a:pt x="0" y="48"/>
                  </a:moveTo>
                  <a:lnTo>
                    <a:pt x="96" y="0"/>
                  </a:lnTo>
                  <a:lnTo>
                    <a:pt x="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26" name="Line 34"/>
            <p:cNvSpPr>
              <a:spLocks noChangeShapeType="1"/>
            </p:cNvSpPr>
            <p:nvPr/>
          </p:nvSpPr>
          <p:spPr bwMode="auto">
            <a:xfrm flipH="1">
              <a:off x="4104" y="3228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27" name="Line 35"/>
            <p:cNvSpPr>
              <a:spLocks noChangeShapeType="1"/>
            </p:cNvSpPr>
            <p:nvPr/>
          </p:nvSpPr>
          <p:spPr bwMode="auto">
            <a:xfrm flipH="1">
              <a:off x="3096" y="3228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28" name="Line 36"/>
            <p:cNvSpPr>
              <a:spLocks noChangeShapeType="1"/>
            </p:cNvSpPr>
            <p:nvPr/>
          </p:nvSpPr>
          <p:spPr bwMode="auto">
            <a:xfrm>
              <a:off x="2616" y="322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29" name="Freeform 37"/>
            <p:cNvSpPr>
              <a:spLocks/>
            </p:cNvSpPr>
            <p:nvPr/>
          </p:nvSpPr>
          <p:spPr bwMode="auto">
            <a:xfrm>
              <a:off x="1992" y="3228"/>
              <a:ext cx="3312" cy="144"/>
            </a:xfrm>
            <a:custGeom>
              <a:avLst/>
              <a:gdLst>
                <a:gd name="T0" fmla="*/ 0 w 3312"/>
                <a:gd name="T1" fmla="*/ 144 h 144"/>
                <a:gd name="T2" fmla="*/ 3312 w 3312"/>
                <a:gd name="T3" fmla="*/ 144 h 144"/>
                <a:gd name="T4" fmla="*/ 3312 w 3312"/>
                <a:gd name="T5" fmla="*/ 0 h 144"/>
                <a:gd name="T6" fmla="*/ 3120 w 3312"/>
                <a:gd name="T7" fmla="*/ 0 h 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12"/>
                <a:gd name="T13" fmla="*/ 0 h 144"/>
                <a:gd name="T14" fmla="*/ 3312 w 3312"/>
                <a:gd name="T15" fmla="*/ 144 h 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12" h="144">
                  <a:moveTo>
                    <a:pt x="0" y="144"/>
                  </a:moveTo>
                  <a:lnTo>
                    <a:pt x="3312" y="144"/>
                  </a:lnTo>
                  <a:lnTo>
                    <a:pt x="3312" y="0"/>
                  </a:lnTo>
                  <a:lnTo>
                    <a:pt x="312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30" name="Text Box 38"/>
            <p:cNvSpPr txBox="1">
              <a:spLocks noChangeArrowheads="1"/>
            </p:cNvSpPr>
            <p:nvPr/>
          </p:nvSpPr>
          <p:spPr bwMode="auto">
            <a:xfrm>
              <a:off x="1320" y="3078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first</a:t>
              </a:r>
            </a:p>
          </p:txBody>
        </p:sp>
        <p:sp>
          <p:nvSpPr>
            <p:cNvPr id="32831" name="Text Box 39"/>
            <p:cNvSpPr txBox="1">
              <a:spLocks noChangeArrowheads="1"/>
            </p:cNvSpPr>
            <p:nvPr/>
          </p:nvSpPr>
          <p:spPr bwMode="auto">
            <a:xfrm>
              <a:off x="1320" y="3270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last</a:t>
              </a:r>
            </a:p>
          </p:txBody>
        </p:sp>
        <p:sp>
          <p:nvSpPr>
            <p:cNvPr id="32832" name="Freeform 40"/>
            <p:cNvSpPr>
              <a:spLocks/>
            </p:cNvSpPr>
            <p:nvPr/>
          </p:nvSpPr>
          <p:spPr bwMode="auto">
            <a:xfrm>
              <a:off x="2000" y="3270"/>
              <a:ext cx="1528" cy="384"/>
            </a:xfrm>
            <a:custGeom>
              <a:avLst/>
              <a:gdLst>
                <a:gd name="T0" fmla="*/ 0 w 1528"/>
                <a:gd name="T1" fmla="*/ 384 h 384"/>
                <a:gd name="T2" fmla="*/ 1144 w 1528"/>
                <a:gd name="T3" fmla="*/ 384 h 384"/>
                <a:gd name="T4" fmla="*/ 1528 w 1528"/>
                <a:gd name="T5" fmla="*/ 0 h 384"/>
                <a:gd name="T6" fmla="*/ 0 60000 65536"/>
                <a:gd name="T7" fmla="*/ 0 60000 65536"/>
                <a:gd name="T8" fmla="*/ 0 60000 65536"/>
                <a:gd name="T9" fmla="*/ 0 w 1528"/>
                <a:gd name="T10" fmla="*/ 0 h 384"/>
                <a:gd name="T11" fmla="*/ 1528 w 1528"/>
                <a:gd name="T12" fmla="*/ 384 h 3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8" h="384">
                  <a:moveTo>
                    <a:pt x="0" y="384"/>
                  </a:moveTo>
                  <a:lnTo>
                    <a:pt x="1144" y="384"/>
                  </a:lnTo>
                  <a:lnTo>
                    <a:pt x="1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82"/>
          <p:cNvGrpSpPr>
            <a:grpSpLocks/>
          </p:cNvGrpSpPr>
          <p:nvPr/>
        </p:nvGrpSpPr>
        <p:grpSpPr bwMode="auto">
          <a:xfrm>
            <a:off x="571500" y="4808538"/>
            <a:ext cx="6629400" cy="1524000"/>
            <a:chOff x="1224" y="2977"/>
            <a:chExt cx="4176" cy="960"/>
          </a:xfrm>
        </p:grpSpPr>
        <p:sp>
          <p:nvSpPr>
            <p:cNvPr id="32795" name="Rectangle 42"/>
            <p:cNvSpPr>
              <a:spLocks noChangeArrowheads="1"/>
            </p:cNvSpPr>
            <p:nvPr/>
          </p:nvSpPr>
          <p:spPr bwMode="auto">
            <a:xfrm>
              <a:off x="1224" y="2977"/>
              <a:ext cx="4176" cy="9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96" name="Rectangle 43"/>
            <p:cNvSpPr>
              <a:spLocks noChangeArrowheads="1"/>
            </p:cNvSpPr>
            <p:nvPr/>
          </p:nvSpPr>
          <p:spPr bwMode="auto">
            <a:xfrm>
              <a:off x="1896" y="3649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97" name="Text Box 44"/>
            <p:cNvSpPr txBox="1">
              <a:spLocks noChangeArrowheads="1"/>
            </p:cNvSpPr>
            <p:nvPr/>
          </p:nvSpPr>
          <p:spPr bwMode="auto">
            <a:xfrm>
              <a:off x="1272" y="3649"/>
              <a:ext cx="5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penult</a:t>
              </a:r>
            </a:p>
          </p:txBody>
        </p:sp>
        <p:sp>
          <p:nvSpPr>
            <p:cNvPr id="32798" name="Rectangle 45"/>
            <p:cNvSpPr>
              <a:spLocks noChangeArrowheads="1"/>
            </p:cNvSpPr>
            <p:nvPr/>
          </p:nvSpPr>
          <p:spPr bwMode="auto">
            <a:xfrm>
              <a:off x="1896" y="3175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99" name="Rectangle 46"/>
            <p:cNvSpPr>
              <a:spLocks noChangeArrowheads="1"/>
            </p:cNvSpPr>
            <p:nvPr/>
          </p:nvSpPr>
          <p:spPr bwMode="auto">
            <a:xfrm>
              <a:off x="1896" y="3367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800" name="Text Box 47"/>
            <p:cNvSpPr txBox="1">
              <a:spLocks noChangeArrowheads="1"/>
            </p:cNvSpPr>
            <p:nvPr/>
          </p:nvSpPr>
          <p:spPr bwMode="auto">
            <a:xfrm>
              <a:off x="2520" y="3169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ant</a:t>
              </a:r>
            </a:p>
          </p:txBody>
        </p:sp>
        <p:sp>
          <p:nvSpPr>
            <p:cNvPr id="32801" name="Text Box 48"/>
            <p:cNvSpPr txBox="1">
              <a:spLocks noChangeArrowheads="1"/>
            </p:cNvSpPr>
            <p:nvPr/>
          </p:nvSpPr>
          <p:spPr bwMode="auto">
            <a:xfrm>
              <a:off x="3528" y="3169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bat</a:t>
              </a:r>
            </a:p>
          </p:txBody>
        </p:sp>
        <p:sp>
          <p:nvSpPr>
            <p:cNvPr id="32802" name="Text Box 49"/>
            <p:cNvSpPr txBox="1">
              <a:spLocks noChangeArrowheads="1"/>
            </p:cNvSpPr>
            <p:nvPr/>
          </p:nvSpPr>
          <p:spPr bwMode="auto">
            <a:xfrm>
              <a:off x="4536" y="3169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32803" name="Line 50"/>
            <p:cNvSpPr>
              <a:spLocks noChangeShapeType="1"/>
            </p:cNvSpPr>
            <p:nvPr/>
          </p:nvSpPr>
          <p:spPr bwMode="auto">
            <a:xfrm>
              <a:off x="3000" y="3223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4" name="Line 51"/>
            <p:cNvSpPr>
              <a:spLocks noChangeShapeType="1"/>
            </p:cNvSpPr>
            <p:nvPr/>
          </p:nvSpPr>
          <p:spPr bwMode="auto">
            <a:xfrm>
              <a:off x="5016" y="322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5" name="Line 52"/>
            <p:cNvSpPr>
              <a:spLocks noChangeShapeType="1"/>
            </p:cNvSpPr>
            <p:nvPr/>
          </p:nvSpPr>
          <p:spPr bwMode="auto">
            <a:xfrm flipH="1">
              <a:off x="4104" y="3319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6" name="Line 53"/>
            <p:cNvSpPr>
              <a:spLocks noChangeShapeType="1"/>
            </p:cNvSpPr>
            <p:nvPr/>
          </p:nvSpPr>
          <p:spPr bwMode="auto">
            <a:xfrm>
              <a:off x="2616" y="3319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7" name="Freeform 54"/>
            <p:cNvSpPr>
              <a:spLocks/>
            </p:cNvSpPr>
            <p:nvPr/>
          </p:nvSpPr>
          <p:spPr bwMode="auto">
            <a:xfrm>
              <a:off x="1992" y="3319"/>
              <a:ext cx="3312" cy="144"/>
            </a:xfrm>
            <a:custGeom>
              <a:avLst/>
              <a:gdLst>
                <a:gd name="T0" fmla="*/ 0 w 3312"/>
                <a:gd name="T1" fmla="*/ 144 h 144"/>
                <a:gd name="T2" fmla="*/ 3312 w 3312"/>
                <a:gd name="T3" fmla="*/ 144 h 144"/>
                <a:gd name="T4" fmla="*/ 3312 w 3312"/>
                <a:gd name="T5" fmla="*/ 0 h 144"/>
                <a:gd name="T6" fmla="*/ 3120 w 3312"/>
                <a:gd name="T7" fmla="*/ 0 h 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12"/>
                <a:gd name="T13" fmla="*/ 0 h 144"/>
                <a:gd name="T14" fmla="*/ 3312 w 3312"/>
                <a:gd name="T15" fmla="*/ 144 h 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12" h="144">
                  <a:moveTo>
                    <a:pt x="0" y="144"/>
                  </a:moveTo>
                  <a:lnTo>
                    <a:pt x="3312" y="144"/>
                  </a:lnTo>
                  <a:lnTo>
                    <a:pt x="3312" y="0"/>
                  </a:lnTo>
                  <a:lnTo>
                    <a:pt x="312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8" name="Text Box 55"/>
            <p:cNvSpPr txBox="1">
              <a:spLocks noChangeArrowheads="1"/>
            </p:cNvSpPr>
            <p:nvPr/>
          </p:nvSpPr>
          <p:spPr bwMode="auto">
            <a:xfrm>
              <a:off x="1320" y="3169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first</a:t>
              </a:r>
            </a:p>
          </p:txBody>
        </p:sp>
        <p:sp>
          <p:nvSpPr>
            <p:cNvPr id="32809" name="Text Box 56"/>
            <p:cNvSpPr txBox="1">
              <a:spLocks noChangeArrowheads="1"/>
            </p:cNvSpPr>
            <p:nvPr/>
          </p:nvSpPr>
          <p:spPr bwMode="auto">
            <a:xfrm>
              <a:off x="1320" y="3361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last</a:t>
              </a:r>
            </a:p>
          </p:txBody>
        </p:sp>
        <p:sp>
          <p:nvSpPr>
            <p:cNvPr id="32810" name="Freeform 57"/>
            <p:cNvSpPr>
              <a:spLocks/>
            </p:cNvSpPr>
            <p:nvPr/>
          </p:nvSpPr>
          <p:spPr bwMode="auto">
            <a:xfrm>
              <a:off x="2000" y="3361"/>
              <a:ext cx="1528" cy="384"/>
            </a:xfrm>
            <a:custGeom>
              <a:avLst/>
              <a:gdLst>
                <a:gd name="T0" fmla="*/ 0 w 1528"/>
                <a:gd name="T1" fmla="*/ 384 h 384"/>
                <a:gd name="T2" fmla="*/ 1144 w 1528"/>
                <a:gd name="T3" fmla="*/ 384 h 384"/>
                <a:gd name="T4" fmla="*/ 1528 w 1528"/>
                <a:gd name="T5" fmla="*/ 0 h 384"/>
                <a:gd name="T6" fmla="*/ 0 60000 65536"/>
                <a:gd name="T7" fmla="*/ 0 60000 65536"/>
                <a:gd name="T8" fmla="*/ 0 60000 65536"/>
                <a:gd name="T9" fmla="*/ 0 w 1528"/>
                <a:gd name="T10" fmla="*/ 0 h 384"/>
                <a:gd name="T11" fmla="*/ 1528 w 1528"/>
                <a:gd name="T12" fmla="*/ 384 h 3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8" h="384">
                  <a:moveTo>
                    <a:pt x="0" y="384"/>
                  </a:moveTo>
                  <a:lnTo>
                    <a:pt x="1144" y="384"/>
                  </a:lnTo>
                  <a:lnTo>
                    <a:pt x="1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11" name="Freeform 58"/>
            <p:cNvSpPr>
              <a:spLocks/>
            </p:cNvSpPr>
            <p:nvPr/>
          </p:nvSpPr>
          <p:spPr bwMode="auto">
            <a:xfrm>
              <a:off x="1992" y="3217"/>
              <a:ext cx="528" cy="48"/>
            </a:xfrm>
            <a:custGeom>
              <a:avLst/>
              <a:gdLst>
                <a:gd name="T0" fmla="*/ 0 w 528"/>
                <a:gd name="T1" fmla="*/ 48 h 48"/>
                <a:gd name="T2" fmla="*/ 96 w 528"/>
                <a:gd name="T3" fmla="*/ 0 h 48"/>
                <a:gd name="T4" fmla="*/ 528 w 528"/>
                <a:gd name="T5" fmla="*/ 0 h 48"/>
                <a:gd name="T6" fmla="*/ 0 60000 65536"/>
                <a:gd name="T7" fmla="*/ 0 60000 65536"/>
                <a:gd name="T8" fmla="*/ 0 60000 65536"/>
                <a:gd name="T9" fmla="*/ 0 w 528"/>
                <a:gd name="T10" fmla="*/ 0 h 48"/>
                <a:gd name="T11" fmla="*/ 528 w 528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48">
                  <a:moveTo>
                    <a:pt x="0" y="48"/>
                  </a:moveTo>
                  <a:lnTo>
                    <a:pt x="96" y="0"/>
                  </a:lnTo>
                  <a:lnTo>
                    <a:pt x="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12" name="Line 59"/>
            <p:cNvSpPr>
              <a:spLocks noChangeShapeType="1"/>
            </p:cNvSpPr>
            <p:nvPr/>
          </p:nvSpPr>
          <p:spPr bwMode="auto">
            <a:xfrm>
              <a:off x="4008" y="3217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13" name="Line 60"/>
            <p:cNvSpPr>
              <a:spLocks noChangeShapeType="1"/>
            </p:cNvSpPr>
            <p:nvPr/>
          </p:nvSpPr>
          <p:spPr bwMode="auto">
            <a:xfrm flipH="1">
              <a:off x="3096" y="3313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" name="Group 81"/>
          <p:cNvGrpSpPr>
            <a:grpSpLocks/>
          </p:cNvGrpSpPr>
          <p:nvPr/>
        </p:nvGrpSpPr>
        <p:grpSpPr bwMode="auto">
          <a:xfrm>
            <a:off x="571500" y="4808538"/>
            <a:ext cx="6629400" cy="1524000"/>
            <a:chOff x="1224" y="3060"/>
            <a:chExt cx="4176" cy="960"/>
          </a:xfrm>
        </p:grpSpPr>
        <p:sp>
          <p:nvSpPr>
            <p:cNvPr id="32776" name="Rectangle 62"/>
            <p:cNvSpPr>
              <a:spLocks noChangeArrowheads="1"/>
            </p:cNvSpPr>
            <p:nvPr/>
          </p:nvSpPr>
          <p:spPr bwMode="auto">
            <a:xfrm>
              <a:off x="1224" y="3060"/>
              <a:ext cx="4176" cy="9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77" name="Rectangle 63"/>
            <p:cNvSpPr>
              <a:spLocks noChangeArrowheads="1"/>
            </p:cNvSpPr>
            <p:nvPr/>
          </p:nvSpPr>
          <p:spPr bwMode="auto">
            <a:xfrm>
              <a:off x="1896" y="3732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78" name="Text Box 64"/>
            <p:cNvSpPr txBox="1">
              <a:spLocks noChangeArrowheads="1"/>
            </p:cNvSpPr>
            <p:nvPr/>
          </p:nvSpPr>
          <p:spPr bwMode="auto">
            <a:xfrm>
              <a:off x="1272" y="3732"/>
              <a:ext cx="5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penult</a:t>
              </a:r>
            </a:p>
          </p:txBody>
        </p:sp>
        <p:sp>
          <p:nvSpPr>
            <p:cNvPr id="32779" name="Rectangle 65"/>
            <p:cNvSpPr>
              <a:spLocks noChangeArrowheads="1"/>
            </p:cNvSpPr>
            <p:nvPr/>
          </p:nvSpPr>
          <p:spPr bwMode="auto">
            <a:xfrm>
              <a:off x="1896" y="3258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80" name="Rectangle 66"/>
            <p:cNvSpPr>
              <a:spLocks noChangeArrowheads="1"/>
            </p:cNvSpPr>
            <p:nvPr/>
          </p:nvSpPr>
          <p:spPr bwMode="auto">
            <a:xfrm>
              <a:off x="1896" y="3450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2781" name="Text Box 67"/>
            <p:cNvSpPr txBox="1">
              <a:spLocks noChangeArrowheads="1"/>
            </p:cNvSpPr>
            <p:nvPr/>
          </p:nvSpPr>
          <p:spPr bwMode="auto">
            <a:xfrm>
              <a:off x="2520" y="325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ant</a:t>
              </a:r>
            </a:p>
          </p:txBody>
        </p:sp>
        <p:sp>
          <p:nvSpPr>
            <p:cNvPr id="32782" name="Text Box 68"/>
            <p:cNvSpPr txBox="1">
              <a:spLocks noChangeArrowheads="1"/>
            </p:cNvSpPr>
            <p:nvPr/>
          </p:nvSpPr>
          <p:spPr bwMode="auto">
            <a:xfrm>
              <a:off x="3528" y="325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bat</a:t>
              </a:r>
            </a:p>
          </p:txBody>
        </p:sp>
        <p:sp>
          <p:nvSpPr>
            <p:cNvPr id="32783" name="Text Box 69"/>
            <p:cNvSpPr txBox="1">
              <a:spLocks noChangeArrowheads="1"/>
            </p:cNvSpPr>
            <p:nvPr/>
          </p:nvSpPr>
          <p:spPr bwMode="auto">
            <a:xfrm>
              <a:off x="4536" y="325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cat</a:t>
              </a:r>
            </a:p>
          </p:txBody>
        </p:sp>
        <p:sp>
          <p:nvSpPr>
            <p:cNvPr id="32784" name="Line 70"/>
            <p:cNvSpPr>
              <a:spLocks noChangeShapeType="1"/>
            </p:cNvSpPr>
            <p:nvPr/>
          </p:nvSpPr>
          <p:spPr bwMode="auto">
            <a:xfrm>
              <a:off x="3000" y="3306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85" name="Line 71"/>
            <p:cNvSpPr>
              <a:spLocks noChangeShapeType="1"/>
            </p:cNvSpPr>
            <p:nvPr/>
          </p:nvSpPr>
          <p:spPr bwMode="auto">
            <a:xfrm>
              <a:off x="5016" y="330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86" name="Line 72"/>
            <p:cNvSpPr>
              <a:spLocks noChangeShapeType="1"/>
            </p:cNvSpPr>
            <p:nvPr/>
          </p:nvSpPr>
          <p:spPr bwMode="auto">
            <a:xfrm flipH="1">
              <a:off x="4104" y="3402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87" name="Line 73"/>
            <p:cNvSpPr>
              <a:spLocks noChangeShapeType="1"/>
            </p:cNvSpPr>
            <p:nvPr/>
          </p:nvSpPr>
          <p:spPr bwMode="auto">
            <a:xfrm>
              <a:off x="2616" y="340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88" name="Text Box 74"/>
            <p:cNvSpPr txBox="1">
              <a:spLocks noChangeArrowheads="1"/>
            </p:cNvSpPr>
            <p:nvPr/>
          </p:nvSpPr>
          <p:spPr bwMode="auto">
            <a:xfrm>
              <a:off x="1320" y="3252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first</a:t>
              </a:r>
            </a:p>
          </p:txBody>
        </p:sp>
        <p:sp>
          <p:nvSpPr>
            <p:cNvPr id="32789" name="Text Box 75"/>
            <p:cNvSpPr txBox="1">
              <a:spLocks noChangeArrowheads="1"/>
            </p:cNvSpPr>
            <p:nvPr/>
          </p:nvSpPr>
          <p:spPr bwMode="auto">
            <a:xfrm>
              <a:off x="1320" y="3444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2000">
                  <a:latin typeface="Courier New" pitchFamily="49" charset="0"/>
                </a:rPr>
                <a:t>last</a:t>
              </a:r>
            </a:p>
          </p:txBody>
        </p:sp>
        <p:sp>
          <p:nvSpPr>
            <p:cNvPr id="32790" name="Freeform 76"/>
            <p:cNvSpPr>
              <a:spLocks/>
            </p:cNvSpPr>
            <p:nvPr/>
          </p:nvSpPr>
          <p:spPr bwMode="auto">
            <a:xfrm>
              <a:off x="2000" y="3444"/>
              <a:ext cx="1528" cy="384"/>
            </a:xfrm>
            <a:custGeom>
              <a:avLst/>
              <a:gdLst>
                <a:gd name="T0" fmla="*/ 0 w 1528"/>
                <a:gd name="T1" fmla="*/ 384 h 384"/>
                <a:gd name="T2" fmla="*/ 1144 w 1528"/>
                <a:gd name="T3" fmla="*/ 384 h 384"/>
                <a:gd name="T4" fmla="*/ 1528 w 1528"/>
                <a:gd name="T5" fmla="*/ 0 h 384"/>
                <a:gd name="T6" fmla="*/ 0 60000 65536"/>
                <a:gd name="T7" fmla="*/ 0 60000 65536"/>
                <a:gd name="T8" fmla="*/ 0 60000 65536"/>
                <a:gd name="T9" fmla="*/ 0 w 1528"/>
                <a:gd name="T10" fmla="*/ 0 h 384"/>
                <a:gd name="T11" fmla="*/ 1528 w 1528"/>
                <a:gd name="T12" fmla="*/ 384 h 3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8" h="384">
                  <a:moveTo>
                    <a:pt x="0" y="384"/>
                  </a:moveTo>
                  <a:lnTo>
                    <a:pt x="1144" y="384"/>
                  </a:lnTo>
                  <a:lnTo>
                    <a:pt x="1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1" name="Freeform 77"/>
            <p:cNvSpPr>
              <a:spLocks/>
            </p:cNvSpPr>
            <p:nvPr/>
          </p:nvSpPr>
          <p:spPr bwMode="auto">
            <a:xfrm>
              <a:off x="1992" y="3300"/>
              <a:ext cx="528" cy="48"/>
            </a:xfrm>
            <a:custGeom>
              <a:avLst/>
              <a:gdLst>
                <a:gd name="T0" fmla="*/ 0 w 528"/>
                <a:gd name="T1" fmla="*/ 48 h 48"/>
                <a:gd name="T2" fmla="*/ 96 w 528"/>
                <a:gd name="T3" fmla="*/ 0 h 48"/>
                <a:gd name="T4" fmla="*/ 528 w 528"/>
                <a:gd name="T5" fmla="*/ 0 h 48"/>
                <a:gd name="T6" fmla="*/ 0 60000 65536"/>
                <a:gd name="T7" fmla="*/ 0 60000 65536"/>
                <a:gd name="T8" fmla="*/ 0 60000 65536"/>
                <a:gd name="T9" fmla="*/ 0 w 528"/>
                <a:gd name="T10" fmla="*/ 0 h 48"/>
                <a:gd name="T11" fmla="*/ 528 w 528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48">
                  <a:moveTo>
                    <a:pt x="0" y="48"/>
                  </a:moveTo>
                  <a:lnTo>
                    <a:pt x="96" y="0"/>
                  </a:lnTo>
                  <a:lnTo>
                    <a:pt x="52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2" name="Line 78"/>
            <p:cNvSpPr>
              <a:spLocks noChangeShapeType="1"/>
            </p:cNvSpPr>
            <p:nvPr/>
          </p:nvSpPr>
          <p:spPr bwMode="auto">
            <a:xfrm>
              <a:off x="4008" y="330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3" name="Freeform 79"/>
            <p:cNvSpPr>
              <a:spLocks/>
            </p:cNvSpPr>
            <p:nvPr/>
          </p:nvSpPr>
          <p:spPr bwMode="auto">
            <a:xfrm>
              <a:off x="1992" y="3444"/>
              <a:ext cx="2272" cy="96"/>
            </a:xfrm>
            <a:custGeom>
              <a:avLst/>
              <a:gdLst>
                <a:gd name="T0" fmla="*/ 0 w 2272"/>
                <a:gd name="T1" fmla="*/ 96 h 96"/>
                <a:gd name="T2" fmla="*/ 2272 w 2272"/>
                <a:gd name="T3" fmla="*/ 96 h 96"/>
                <a:gd name="T4" fmla="*/ 2104 w 2272"/>
                <a:gd name="T5" fmla="*/ 0 h 96"/>
                <a:gd name="T6" fmla="*/ 0 60000 65536"/>
                <a:gd name="T7" fmla="*/ 0 60000 65536"/>
                <a:gd name="T8" fmla="*/ 0 60000 65536"/>
                <a:gd name="T9" fmla="*/ 0 w 2272"/>
                <a:gd name="T10" fmla="*/ 0 h 96"/>
                <a:gd name="T11" fmla="*/ 2272 w 2272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72" h="96">
                  <a:moveTo>
                    <a:pt x="0" y="96"/>
                  </a:moveTo>
                  <a:lnTo>
                    <a:pt x="2272" y="96"/>
                  </a:lnTo>
                  <a:lnTo>
                    <a:pt x="2104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4" name="Line 80"/>
            <p:cNvSpPr>
              <a:spLocks noChangeShapeType="1"/>
            </p:cNvSpPr>
            <p:nvPr/>
          </p:nvSpPr>
          <p:spPr bwMode="auto">
            <a:xfrm flipH="1">
              <a:off x="3096" y="3396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71500" y="3906827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Animation:</a:t>
            </a:r>
          </a:p>
        </p:txBody>
      </p:sp>
    </p:spTree>
    <p:extLst>
      <p:ext uri="{BB962C8B-B14F-4D97-AF65-F5344CB8AC3E}">
        <p14:creationId xmlns:p14="http://schemas.microsoft.com/office/powerpoint/2010/main" val="828363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DLL insertion </a:t>
            </a:r>
            <a:r>
              <a:rPr lang="en-US" altLang="en-US" sz="3200" i="1" dirty="0"/>
              <a:t>(1)</a:t>
            </a:r>
            <a:endParaRPr lang="en-GB" altLang="en-US" sz="3200" dirty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723900" algn="l"/>
                <a:tab pos="1257300" algn="l"/>
              </a:tabLst>
            </a:pPr>
            <a:r>
              <a:rPr lang="en-US" altLang="en-US" b="1" dirty="0"/>
              <a:t>DLL insertion algorithm</a:t>
            </a:r>
            <a:r>
              <a:rPr lang="en-US" altLang="en-US" dirty="0"/>
              <a:t>: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257300" algn="l"/>
              </a:tabLst>
            </a:pPr>
            <a:r>
              <a:rPr lang="en-US" altLang="en-US" sz="2000" dirty="0">
                <a:latin typeface="Times New Roman" pitchFamily="18" charset="0"/>
              </a:rPr>
              <a:t>	To insert </a:t>
            </a:r>
            <a:r>
              <a:rPr lang="en-US" altLang="en-US" sz="2000" i="1" dirty="0" err="1">
                <a:latin typeface="Times New Roman" pitchFamily="18" charset="0"/>
              </a:rPr>
              <a:t>elem</a:t>
            </a:r>
            <a:r>
              <a:rPr lang="en-US" altLang="en-US" sz="2000" dirty="0">
                <a:latin typeface="Times New Roman" pitchFamily="18" charset="0"/>
              </a:rPr>
              <a:t> at a given point in the DLL headed by (</a:t>
            </a:r>
            <a:r>
              <a:rPr lang="en-US" altLang="en-US" sz="2000" i="1" dirty="0">
                <a:latin typeface="Times New Roman" pitchFamily="18" charset="0"/>
              </a:rPr>
              <a:t>first</a:t>
            </a:r>
            <a:r>
              <a:rPr lang="en-US" altLang="en-US" sz="2000" dirty="0">
                <a:latin typeface="Times New Roman" pitchFamily="18" charset="0"/>
              </a:rPr>
              <a:t>, </a:t>
            </a:r>
            <a:r>
              <a:rPr lang="en-US" altLang="en-US" sz="2000" i="1" dirty="0">
                <a:latin typeface="Times New Roman" pitchFamily="18" charset="0"/>
              </a:rPr>
              <a:t>last</a:t>
            </a:r>
            <a:r>
              <a:rPr lang="en-US" altLang="en-US" sz="2000" dirty="0">
                <a:latin typeface="Times New Roman" pitchFamily="18" charset="0"/>
              </a:rPr>
              <a:t>):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257300" algn="l"/>
              </a:tabLst>
            </a:pPr>
            <a:r>
              <a:rPr lang="en-US" altLang="en-US" sz="2000" dirty="0">
                <a:latin typeface="Times New Roman" pitchFamily="18" charset="0"/>
              </a:rPr>
              <a:t>	1.	Make </a:t>
            </a:r>
            <a:r>
              <a:rPr lang="en-US" altLang="en-US" sz="2000" i="1" dirty="0">
                <a:latin typeface="Times New Roman" pitchFamily="18" charset="0"/>
              </a:rPr>
              <a:t>ins</a:t>
            </a:r>
            <a:r>
              <a:rPr lang="en-US" altLang="en-US" sz="2000" dirty="0">
                <a:latin typeface="Times New Roman" pitchFamily="18" charset="0"/>
              </a:rPr>
              <a:t> a link to a newly-created node with element </a:t>
            </a:r>
            <a:r>
              <a:rPr lang="en-US" altLang="en-US" sz="2000" i="1" dirty="0" err="1">
                <a:latin typeface="Times New Roman" pitchFamily="18" charset="0"/>
              </a:rPr>
              <a:t>elem</a:t>
            </a:r>
            <a:r>
              <a:rPr lang="en-US" altLang="en-US" sz="2000" dirty="0">
                <a:latin typeface="Times New Roman" pitchFamily="18" charset="0"/>
              </a:rPr>
              <a:t> 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	and with predecessor and next both null.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2.	If </a:t>
            </a:r>
            <a:r>
              <a:rPr lang="en-US" altLang="en-US" sz="2000" i="1" dirty="0">
                <a:latin typeface="Times New Roman" pitchFamily="18" charset="0"/>
              </a:rPr>
              <a:t>first</a:t>
            </a:r>
            <a:r>
              <a:rPr lang="en-US" altLang="en-US" sz="2000" dirty="0">
                <a:latin typeface="Times New Roman" pitchFamily="18" charset="0"/>
              </a:rPr>
              <a:t> = </a:t>
            </a:r>
            <a:r>
              <a:rPr lang="en-US" altLang="en-US" sz="2000" i="1" dirty="0">
                <a:latin typeface="Times New Roman" pitchFamily="18" charset="0"/>
              </a:rPr>
              <a:t>last</a:t>
            </a:r>
            <a:r>
              <a:rPr lang="en-US" altLang="en-US" sz="2000" dirty="0">
                <a:latin typeface="Times New Roman" pitchFamily="18" charset="0"/>
              </a:rPr>
              <a:t> = null: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	2.1.	Set </a:t>
            </a:r>
            <a:r>
              <a:rPr lang="en-US" altLang="en-US" sz="2000" i="1" dirty="0">
                <a:latin typeface="Times New Roman" pitchFamily="18" charset="0"/>
              </a:rPr>
              <a:t>first</a:t>
            </a:r>
            <a:r>
              <a:rPr lang="en-US" altLang="en-US" sz="2000" dirty="0">
                <a:latin typeface="Times New Roman" pitchFamily="18" charset="0"/>
              </a:rPr>
              <a:t> to </a:t>
            </a:r>
            <a:r>
              <a:rPr lang="en-US" altLang="en-US" sz="2000" i="1" dirty="0">
                <a:latin typeface="Times New Roman" pitchFamily="18" charset="0"/>
              </a:rPr>
              <a:t>ins</a:t>
            </a:r>
            <a:r>
              <a:rPr lang="en-US" altLang="en-US" sz="2000" dirty="0">
                <a:latin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	2.2.	Set </a:t>
            </a:r>
            <a:r>
              <a:rPr lang="en-US" altLang="en-US" sz="2000" i="1" dirty="0">
                <a:latin typeface="Times New Roman" pitchFamily="18" charset="0"/>
              </a:rPr>
              <a:t>last</a:t>
            </a:r>
            <a:r>
              <a:rPr lang="en-US" altLang="en-US" sz="2000" dirty="0">
                <a:latin typeface="Times New Roman" pitchFamily="18" charset="0"/>
              </a:rPr>
              <a:t> to </a:t>
            </a:r>
            <a:r>
              <a:rPr lang="en-US" altLang="en-US" sz="2000" i="1" dirty="0">
                <a:latin typeface="Times New Roman" pitchFamily="18" charset="0"/>
              </a:rPr>
              <a:t>ins</a:t>
            </a:r>
            <a:r>
              <a:rPr lang="en-US" altLang="en-US" sz="2000" dirty="0">
                <a:latin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3.	Else, if the insertion point is before node </a:t>
            </a:r>
            <a:r>
              <a:rPr lang="en-US" altLang="en-US" sz="2000" i="1" dirty="0">
                <a:latin typeface="Times New Roman" pitchFamily="18" charset="0"/>
              </a:rPr>
              <a:t>first</a:t>
            </a:r>
            <a:r>
              <a:rPr lang="en-US" altLang="en-US" sz="2000" dirty="0">
                <a:latin typeface="Times New Roman" pitchFamily="18" charset="0"/>
              </a:rPr>
              <a:t>: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	3.1.	Set </a:t>
            </a:r>
            <a:r>
              <a:rPr lang="en-US" altLang="en-US" sz="2000" i="1" dirty="0" err="1">
                <a:latin typeface="Times New Roman" pitchFamily="18" charset="0"/>
              </a:rPr>
              <a:t>ins</a:t>
            </a:r>
            <a:r>
              <a:rPr lang="en-US" altLang="en-US" sz="2000" dirty="0" err="1">
                <a:latin typeface="Times New Roman" pitchFamily="18" charset="0"/>
              </a:rPr>
              <a:t>’s</a:t>
            </a:r>
            <a:r>
              <a:rPr lang="en-US" altLang="en-US" sz="2000" dirty="0">
                <a:latin typeface="Times New Roman" pitchFamily="18" charset="0"/>
              </a:rPr>
              <a:t>  next to </a:t>
            </a:r>
            <a:r>
              <a:rPr lang="en-US" altLang="en-US" sz="2000" i="1" dirty="0">
                <a:latin typeface="Times New Roman" pitchFamily="18" charset="0"/>
              </a:rPr>
              <a:t>first</a:t>
            </a:r>
            <a:r>
              <a:rPr lang="en-US" altLang="en-US" sz="2000" dirty="0">
                <a:latin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	3.2.	Set </a:t>
            </a:r>
            <a:r>
              <a:rPr lang="en-US" altLang="en-US" sz="2000" i="1" dirty="0">
                <a:latin typeface="Times New Roman" pitchFamily="18" charset="0"/>
              </a:rPr>
              <a:t>first</a:t>
            </a:r>
            <a:r>
              <a:rPr lang="en-US" altLang="en-US" sz="2000" dirty="0">
                <a:latin typeface="Times New Roman" pitchFamily="18" charset="0"/>
              </a:rPr>
              <a:t>’s predecessor to </a:t>
            </a:r>
            <a:r>
              <a:rPr lang="en-US" altLang="en-US" sz="2000" i="1" dirty="0">
                <a:latin typeface="Times New Roman" pitchFamily="18" charset="0"/>
              </a:rPr>
              <a:t>ins</a:t>
            </a:r>
            <a:r>
              <a:rPr lang="en-US" altLang="en-US" sz="2000" dirty="0">
                <a:latin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	3.3.	Set </a:t>
            </a:r>
            <a:r>
              <a:rPr lang="en-US" altLang="en-US" sz="2000" i="1" dirty="0">
                <a:latin typeface="Times New Roman" pitchFamily="18" charset="0"/>
              </a:rPr>
              <a:t>first</a:t>
            </a:r>
            <a:r>
              <a:rPr lang="en-US" altLang="en-US" sz="2000" dirty="0">
                <a:latin typeface="Times New Roman" pitchFamily="18" charset="0"/>
              </a:rPr>
              <a:t> to </a:t>
            </a:r>
            <a:r>
              <a:rPr lang="en-US" altLang="en-US" sz="2000" i="1" dirty="0">
                <a:latin typeface="Times New Roman" pitchFamily="18" charset="0"/>
              </a:rPr>
              <a:t>ins</a:t>
            </a:r>
            <a:r>
              <a:rPr lang="en-US" altLang="en-US" sz="2000" dirty="0">
                <a:latin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4.	Else, if the insertion point is after node </a:t>
            </a:r>
            <a:r>
              <a:rPr lang="en-US" altLang="en-US" sz="2000" i="1" dirty="0">
                <a:latin typeface="Times New Roman" pitchFamily="18" charset="0"/>
              </a:rPr>
              <a:t>last</a:t>
            </a:r>
            <a:r>
              <a:rPr lang="en-US" altLang="en-US" sz="2000" dirty="0">
                <a:latin typeface="Times New Roman" pitchFamily="18" charset="0"/>
              </a:rPr>
              <a:t>: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	4.1.	Set </a:t>
            </a:r>
            <a:r>
              <a:rPr lang="en-US" altLang="en-US" sz="2000" i="1" dirty="0" err="1">
                <a:latin typeface="Times New Roman" pitchFamily="18" charset="0"/>
              </a:rPr>
              <a:t>ins</a:t>
            </a:r>
            <a:r>
              <a:rPr lang="en-US" altLang="en-US" sz="2000" dirty="0" err="1">
                <a:latin typeface="Times New Roman" pitchFamily="18" charset="0"/>
              </a:rPr>
              <a:t>’s</a:t>
            </a:r>
            <a:r>
              <a:rPr lang="en-US" altLang="en-US" sz="2000" dirty="0">
                <a:latin typeface="Times New Roman" pitchFamily="18" charset="0"/>
              </a:rPr>
              <a:t> predecessor to </a:t>
            </a:r>
            <a:r>
              <a:rPr lang="en-US" altLang="en-US" sz="2000" i="1" dirty="0">
                <a:latin typeface="Times New Roman" pitchFamily="18" charset="0"/>
              </a:rPr>
              <a:t>last</a:t>
            </a:r>
            <a:r>
              <a:rPr lang="en-US" altLang="en-US" sz="2000" dirty="0">
                <a:latin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	4.2.	Set </a:t>
            </a:r>
            <a:r>
              <a:rPr lang="en-US" altLang="en-US" sz="2000" i="1" dirty="0">
                <a:latin typeface="Times New Roman" pitchFamily="18" charset="0"/>
              </a:rPr>
              <a:t>last</a:t>
            </a:r>
            <a:r>
              <a:rPr lang="en-US" altLang="en-US" sz="2000" dirty="0">
                <a:latin typeface="Times New Roman" pitchFamily="18" charset="0"/>
              </a:rPr>
              <a:t>’s next to </a:t>
            </a:r>
            <a:r>
              <a:rPr lang="en-US" altLang="en-US" sz="2000" i="1" dirty="0">
                <a:latin typeface="Times New Roman" pitchFamily="18" charset="0"/>
              </a:rPr>
              <a:t>ins</a:t>
            </a:r>
            <a:r>
              <a:rPr lang="en-US" altLang="en-US" sz="2000" dirty="0">
                <a:latin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	4.3.	Set </a:t>
            </a:r>
            <a:r>
              <a:rPr lang="en-US" altLang="en-US" sz="2000" i="1" dirty="0">
                <a:latin typeface="Times New Roman" pitchFamily="18" charset="0"/>
              </a:rPr>
              <a:t>last</a:t>
            </a:r>
            <a:r>
              <a:rPr lang="en-US" altLang="en-US" sz="2000" dirty="0">
                <a:latin typeface="Times New Roman" pitchFamily="18" charset="0"/>
              </a:rPr>
              <a:t> to </a:t>
            </a:r>
            <a:r>
              <a:rPr lang="en-US" altLang="en-US" sz="2000" i="1" dirty="0">
                <a:latin typeface="Times New Roman" pitchFamily="18" charset="0"/>
              </a:rPr>
              <a:t>ins</a:t>
            </a:r>
            <a:r>
              <a:rPr lang="en-US" altLang="en-US" sz="2000" dirty="0">
                <a:latin typeface="Times New Roman" pitchFamily="18" charset="0"/>
              </a:rPr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3062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DLL insertion </a:t>
            </a:r>
            <a:r>
              <a:rPr lang="en-US" altLang="en-US" sz="3200" i="1" dirty="0"/>
              <a:t>(2)</a:t>
            </a:r>
            <a:endParaRPr lang="en-GB" altLang="en-US" sz="3200" dirty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257300" algn="l"/>
              </a:tabLst>
            </a:pPr>
            <a:r>
              <a:rPr lang="en-US" altLang="en-US" dirty="0"/>
              <a:t>DLL insertion algorithm </a:t>
            </a:r>
            <a:r>
              <a:rPr lang="en-US" altLang="en-US" i="1" dirty="0"/>
              <a:t>(continued)</a:t>
            </a:r>
            <a:r>
              <a:rPr lang="en-US" altLang="en-US" dirty="0"/>
              <a:t>: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257300" algn="l"/>
              </a:tabLst>
            </a:pPr>
            <a:r>
              <a:rPr lang="en-US" altLang="en-US" sz="2000" dirty="0">
                <a:latin typeface="Times New Roman" pitchFamily="18" charset="0"/>
              </a:rPr>
              <a:t>	5.	Else, if the insertion point is after the node </a:t>
            </a:r>
            <a:r>
              <a:rPr lang="en-US" altLang="en-US" sz="2000" i="1" dirty="0" err="1">
                <a:latin typeface="Times New Roman" pitchFamily="18" charset="0"/>
              </a:rPr>
              <a:t>pred</a:t>
            </a:r>
            <a:r>
              <a:rPr lang="en-US" altLang="en-US" sz="2000" dirty="0">
                <a:latin typeface="Times New Roman" pitchFamily="18" charset="0"/>
              </a:rPr>
              <a:t> and before 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	the node </a:t>
            </a:r>
            <a:r>
              <a:rPr lang="en-US" altLang="en-US" sz="2000" i="1" dirty="0">
                <a:latin typeface="Times New Roman" pitchFamily="18" charset="0"/>
              </a:rPr>
              <a:t> next</a:t>
            </a:r>
            <a:r>
              <a:rPr lang="en-US" altLang="en-US" sz="2000" dirty="0">
                <a:latin typeface="Times New Roman" pitchFamily="18" charset="0"/>
              </a:rPr>
              <a:t>: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	5.1.	Set </a:t>
            </a:r>
            <a:r>
              <a:rPr lang="en-US" altLang="en-US" sz="2000" i="1" dirty="0" err="1">
                <a:latin typeface="Times New Roman" pitchFamily="18" charset="0"/>
              </a:rPr>
              <a:t>ins</a:t>
            </a:r>
            <a:r>
              <a:rPr lang="en-US" altLang="en-US" sz="2000" dirty="0" err="1">
                <a:latin typeface="Times New Roman" pitchFamily="18" charset="0"/>
              </a:rPr>
              <a:t>’s</a:t>
            </a:r>
            <a:r>
              <a:rPr lang="en-US" altLang="en-US" sz="2000" dirty="0">
                <a:latin typeface="Times New Roman" pitchFamily="18" charset="0"/>
              </a:rPr>
              <a:t> predecessor to </a:t>
            </a:r>
            <a:r>
              <a:rPr lang="en-US" altLang="en-US" sz="2000" i="1" dirty="0">
                <a:latin typeface="Times New Roman" pitchFamily="18" charset="0"/>
              </a:rPr>
              <a:t>pred</a:t>
            </a:r>
            <a:r>
              <a:rPr lang="en-US" altLang="en-US" sz="2000" dirty="0">
                <a:latin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	5.2.	Set </a:t>
            </a:r>
            <a:r>
              <a:rPr lang="en-US" altLang="en-US" sz="2000" i="1" dirty="0" err="1">
                <a:latin typeface="Times New Roman" pitchFamily="18" charset="0"/>
              </a:rPr>
              <a:t>ins</a:t>
            </a:r>
            <a:r>
              <a:rPr lang="en-US" altLang="en-US" sz="2000" dirty="0" err="1">
                <a:latin typeface="Times New Roman" pitchFamily="18" charset="0"/>
              </a:rPr>
              <a:t>’s</a:t>
            </a:r>
            <a:r>
              <a:rPr lang="en-US" altLang="en-US" sz="2000" dirty="0">
                <a:latin typeface="Times New Roman" pitchFamily="18" charset="0"/>
              </a:rPr>
              <a:t> next to </a:t>
            </a:r>
            <a:r>
              <a:rPr lang="en-US" altLang="en-US" sz="2000" i="1" dirty="0">
                <a:latin typeface="Times New Roman" pitchFamily="18" charset="0"/>
              </a:rPr>
              <a:t>next</a:t>
            </a:r>
            <a:r>
              <a:rPr lang="en-US" altLang="en-US" sz="2000" dirty="0">
                <a:latin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	5.3.	Set </a:t>
            </a:r>
            <a:r>
              <a:rPr lang="en-US" altLang="en-US" sz="2000" i="1" dirty="0" err="1">
                <a:latin typeface="Times New Roman" pitchFamily="18" charset="0"/>
              </a:rPr>
              <a:t>pred</a:t>
            </a:r>
            <a:r>
              <a:rPr lang="en-US" altLang="en-US" sz="2000" dirty="0" err="1">
                <a:latin typeface="Times New Roman" pitchFamily="18" charset="0"/>
              </a:rPr>
              <a:t>’s</a:t>
            </a:r>
            <a:r>
              <a:rPr lang="en-US" altLang="en-US" sz="2000" dirty="0">
                <a:latin typeface="Times New Roman" pitchFamily="18" charset="0"/>
              </a:rPr>
              <a:t> next to </a:t>
            </a:r>
            <a:r>
              <a:rPr lang="en-US" altLang="en-US" sz="2000" i="1" dirty="0">
                <a:latin typeface="Times New Roman" pitchFamily="18" charset="0"/>
              </a:rPr>
              <a:t>ins</a:t>
            </a:r>
            <a:r>
              <a:rPr lang="en-US" altLang="en-US" sz="2000" dirty="0">
                <a:latin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	5.4.	Set </a:t>
            </a:r>
            <a:r>
              <a:rPr lang="en-US" altLang="en-US" sz="2000" i="1" dirty="0" err="1">
                <a:latin typeface="Times New Roman" pitchFamily="18" charset="0"/>
              </a:rPr>
              <a:t>next</a:t>
            </a:r>
            <a:r>
              <a:rPr lang="en-US" altLang="en-US" sz="2000" dirty="0" err="1">
                <a:latin typeface="Times New Roman" pitchFamily="18" charset="0"/>
              </a:rPr>
              <a:t>’s</a:t>
            </a:r>
            <a:r>
              <a:rPr lang="en-US" altLang="en-US" sz="2000" dirty="0">
                <a:latin typeface="Times New Roman" pitchFamily="18" charset="0"/>
              </a:rPr>
              <a:t> predecessor to </a:t>
            </a:r>
            <a:r>
              <a:rPr lang="en-US" altLang="en-US" sz="2000" i="1" dirty="0">
                <a:latin typeface="Times New Roman" pitchFamily="18" charset="0"/>
              </a:rPr>
              <a:t>ins</a:t>
            </a:r>
            <a:r>
              <a:rPr lang="en-US" altLang="en-US" sz="2000" dirty="0">
                <a:latin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6.	Terminate.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0989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DLL deletion</a:t>
            </a:r>
            <a:endParaRPr lang="en-GB" altLang="en-US" sz="3200" dirty="0"/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257300" algn="l"/>
              </a:tabLst>
            </a:pPr>
            <a:r>
              <a:rPr lang="en-US" altLang="en-US" b="1" dirty="0"/>
              <a:t>DLL deletion algorithm</a:t>
            </a:r>
            <a:r>
              <a:rPr lang="en-US" altLang="en-US" dirty="0"/>
              <a:t>: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257300" algn="l"/>
              </a:tabLst>
            </a:pPr>
            <a:r>
              <a:rPr lang="en-US" altLang="en-US" sz="2000" dirty="0">
                <a:latin typeface="Times New Roman" pitchFamily="18" charset="0"/>
              </a:rPr>
              <a:t>	To delete node </a:t>
            </a:r>
            <a:r>
              <a:rPr lang="en-US" altLang="en-US" sz="2000" i="1" dirty="0">
                <a:latin typeface="Times New Roman" pitchFamily="18" charset="0"/>
              </a:rPr>
              <a:t>del</a:t>
            </a:r>
            <a:r>
              <a:rPr lang="en-US" altLang="en-US" sz="2000" dirty="0">
                <a:latin typeface="Times New Roman" pitchFamily="18" charset="0"/>
              </a:rPr>
              <a:t> from the DLL headed by (</a:t>
            </a:r>
            <a:r>
              <a:rPr lang="en-US" altLang="en-US" sz="2000" i="1" dirty="0">
                <a:latin typeface="Times New Roman" pitchFamily="18" charset="0"/>
              </a:rPr>
              <a:t>first</a:t>
            </a:r>
            <a:r>
              <a:rPr lang="en-US" altLang="en-US" sz="2000" dirty="0">
                <a:latin typeface="Times New Roman" pitchFamily="18" charset="0"/>
              </a:rPr>
              <a:t>, </a:t>
            </a:r>
            <a:r>
              <a:rPr lang="en-US" altLang="en-US" sz="2000" i="1" dirty="0">
                <a:latin typeface="Times New Roman" pitchFamily="18" charset="0"/>
              </a:rPr>
              <a:t>last</a:t>
            </a:r>
            <a:r>
              <a:rPr lang="en-US" altLang="en-US" sz="2000" dirty="0">
                <a:latin typeface="Times New Roman" pitchFamily="18" charset="0"/>
              </a:rPr>
              <a:t>):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257300" algn="l"/>
              </a:tabLst>
            </a:pPr>
            <a:r>
              <a:rPr lang="en-US" altLang="en-US" sz="2000" dirty="0">
                <a:latin typeface="Times New Roman" pitchFamily="18" charset="0"/>
              </a:rPr>
              <a:t>	1.	Let </a:t>
            </a:r>
            <a:r>
              <a:rPr lang="en-US" altLang="en-US" sz="2000" i="1" dirty="0">
                <a:latin typeface="Times New Roman" pitchFamily="18" charset="0"/>
              </a:rPr>
              <a:t>next </a:t>
            </a:r>
            <a:r>
              <a:rPr lang="en-US" altLang="en-US" sz="2000" dirty="0">
                <a:latin typeface="Times New Roman" pitchFamily="18" charset="0"/>
              </a:rPr>
              <a:t> be </a:t>
            </a:r>
            <a:r>
              <a:rPr lang="en-US" altLang="en-US" sz="2000" i="1" dirty="0" err="1">
                <a:latin typeface="Times New Roman" pitchFamily="18" charset="0"/>
              </a:rPr>
              <a:t>del</a:t>
            </a:r>
            <a:r>
              <a:rPr lang="en-US" altLang="en-US" sz="2000" dirty="0" err="1">
                <a:latin typeface="Times New Roman" pitchFamily="18" charset="0"/>
              </a:rPr>
              <a:t>’s</a:t>
            </a:r>
            <a:r>
              <a:rPr lang="en-US" altLang="en-US" sz="2000" dirty="0">
                <a:latin typeface="Times New Roman" pitchFamily="18" charset="0"/>
              </a:rPr>
              <a:t> next, 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	and let </a:t>
            </a:r>
            <a:r>
              <a:rPr lang="en-US" altLang="en-US" sz="2000" i="1" dirty="0" err="1">
                <a:latin typeface="Times New Roman" pitchFamily="18" charset="0"/>
              </a:rPr>
              <a:t>pred</a:t>
            </a:r>
            <a:r>
              <a:rPr lang="en-US" altLang="en-US" sz="2000" dirty="0">
                <a:latin typeface="Times New Roman" pitchFamily="18" charset="0"/>
              </a:rPr>
              <a:t> be </a:t>
            </a:r>
            <a:r>
              <a:rPr lang="en-US" altLang="en-US" sz="2000" i="1" dirty="0" err="1">
                <a:latin typeface="Times New Roman" pitchFamily="18" charset="0"/>
              </a:rPr>
              <a:t>del</a:t>
            </a:r>
            <a:r>
              <a:rPr lang="en-US" altLang="en-US" sz="2000" dirty="0" err="1">
                <a:latin typeface="Times New Roman" pitchFamily="18" charset="0"/>
              </a:rPr>
              <a:t>’s</a:t>
            </a:r>
            <a:r>
              <a:rPr lang="en-US" altLang="en-US" sz="2000" dirty="0">
                <a:latin typeface="Times New Roman" pitchFamily="18" charset="0"/>
              </a:rPr>
              <a:t> predecessor.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2.	If </a:t>
            </a:r>
            <a:r>
              <a:rPr lang="en-US" altLang="en-US" sz="2000" i="1" dirty="0">
                <a:latin typeface="Times New Roman" pitchFamily="18" charset="0"/>
              </a:rPr>
              <a:t>del</a:t>
            </a:r>
            <a:r>
              <a:rPr lang="en-US" altLang="en-US" sz="2000" dirty="0">
                <a:latin typeface="Times New Roman" pitchFamily="18" charset="0"/>
              </a:rPr>
              <a:t> = </a:t>
            </a:r>
            <a:r>
              <a:rPr lang="en-US" altLang="en-US" sz="2000" i="1" dirty="0">
                <a:latin typeface="Times New Roman" pitchFamily="18" charset="0"/>
              </a:rPr>
              <a:t>first</a:t>
            </a:r>
            <a:r>
              <a:rPr lang="en-US" altLang="en-US" sz="2000" dirty="0">
                <a:latin typeface="Times New Roman" pitchFamily="18" charset="0"/>
              </a:rPr>
              <a:t>: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	2.1.	Set </a:t>
            </a:r>
            <a:r>
              <a:rPr lang="en-US" altLang="en-US" sz="2000" i="1" dirty="0">
                <a:latin typeface="Times New Roman" pitchFamily="18" charset="0"/>
              </a:rPr>
              <a:t>first</a:t>
            </a:r>
            <a:r>
              <a:rPr lang="en-US" altLang="en-US" sz="2000" dirty="0">
                <a:latin typeface="Times New Roman" pitchFamily="18" charset="0"/>
              </a:rPr>
              <a:t> to </a:t>
            </a:r>
            <a:r>
              <a:rPr lang="en-US" altLang="en-US" sz="2000" i="1" dirty="0">
                <a:latin typeface="Times New Roman" pitchFamily="18" charset="0"/>
              </a:rPr>
              <a:t>next</a:t>
            </a:r>
            <a:r>
              <a:rPr lang="en-US" altLang="en-US" sz="2000" dirty="0">
                <a:latin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3.	Else: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	3.1.	Set </a:t>
            </a:r>
            <a:r>
              <a:rPr lang="en-US" altLang="en-US" sz="2000" i="1" dirty="0" err="1">
                <a:latin typeface="Times New Roman" pitchFamily="18" charset="0"/>
              </a:rPr>
              <a:t>pred</a:t>
            </a:r>
            <a:r>
              <a:rPr lang="en-US" altLang="en-US" sz="2000" dirty="0" err="1">
                <a:latin typeface="Times New Roman" pitchFamily="18" charset="0"/>
              </a:rPr>
              <a:t>’s</a:t>
            </a:r>
            <a:r>
              <a:rPr lang="en-US" altLang="en-US" sz="2000" dirty="0">
                <a:latin typeface="Times New Roman" pitchFamily="18" charset="0"/>
              </a:rPr>
              <a:t> next to </a:t>
            </a:r>
            <a:r>
              <a:rPr lang="en-US" altLang="en-US" sz="2000" i="1" dirty="0">
                <a:latin typeface="Times New Roman" pitchFamily="18" charset="0"/>
              </a:rPr>
              <a:t>next</a:t>
            </a:r>
            <a:r>
              <a:rPr lang="en-US" altLang="en-US" sz="2000" dirty="0">
                <a:latin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4.	If </a:t>
            </a:r>
            <a:r>
              <a:rPr lang="en-US" altLang="en-US" sz="2000" i="1" dirty="0">
                <a:latin typeface="Times New Roman" pitchFamily="18" charset="0"/>
              </a:rPr>
              <a:t>del</a:t>
            </a:r>
            <a:r>
              <a:rPr lang="en-US" altLang="en-US" sz="2000" dirty="0">
                <a:latin typeface="Times New Roman" pitchFamily="18" charset="0"/>
              </a:rPr>
              <a:t> = </a:t>
            </a:r>
            <a:r>
              <a:rPr lang="en-US" altLang="en-US" sz="2000" i="1" dirty="0">
                <a:latin typeface="Times New Roman" pitchFamily="18" charset="0"/>
              </a:rPr>
              <a:t>last</a:t>
            </a:r>
            <a:r>
              <a:rPr lang="en-US" altLang="en-US" sz="2000" dirty="0">
                <a:latin typeface="Times New Roman" pitchFamily="18" charset="0"/>
              </a:rPr>
              <a:t>: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	4.1.	Set </a:t>
            </a:r>
            <a:r>
              <a:rPr lang="en-US" altLang="en-US" sz="2000" i="1" dirty="0">
                <a:latin typeface="Times New Roman" pitchFamily="18" charset="0"/>
              </a:rPr>
              <a:t>last</a:t>
            </a:r>
            <a:r>
              <a:rPr lang="en-US" altLang="en-US" sz="2000" dirty="0">
                <a:latin typeface="Times New Roman" pitchFamily="18" charset="0"/>
              </a:rPr>
              <a:t> to </a:t>
            </a:r>
            <a:r>
              <a:rPr lang="en-US" altLang="en-US" sz="2000" i="1" dirty="0">
                <a:latin typeface="Times New Roman" pitchFamily="18" charset="0"/>
              </a:rPr>
              <a:t>pred</a:t>
            </a:r>
            <a:r>
              <a:rPr lang="en-US" altLang="en-US" sz="2000" dirty="0">
                <a:latin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5.	Else: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	5.1.	Set </a:t>
            </a:r>
            <a:r>
              <a:rPr lang="en-US" altLang="en-US" sz="2000" i="1" dirty="0" err="1">
                <a:latin typeface="Times New Roman" pitchFamily="18" charset="0"/>
              </a:rPr>
              <a:t>next</a:t>
            </a:r>
            <a:r>
              <a:rPr lang="en-US" altLang="en-US" sz="2000" dirty="0" err="1">
                <a:latin typeface="Times New Roman" pitchFamily="18" charset="0"/>
              </a:rPr>
              <a:t>’s</a:t>
            </a:r>
            <a:r>
              <a:rPr lang="en-US" altLang="en-US" sz="2000" dirty="0">
                <a:latin typeface="Times New Roman" pitchFamily="18" charset="0"/>
              </a:rPr>
              <a:t> predecessor to </a:t>
            </a:r>
            <a:r>
              <a:rPr lang="en-US" altLang="en-US" sz="2000" i="1" dirty="0">
                <a:latin typeface="Times New Roman" pitchFamily="18" charset="0"/>
              </a:rPr>
              <a:t>pred</a:t>
            </a:r>
            <a:r>
              <a:rPr lang="en-US" altLang="en-US" sz="2000" dirty="0">
                <a:latin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</a:rPr>
              <a:t>6.	Terminate.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96000" y="4114800"/>
            <a:ext cx="2775531" cy="156966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/>
              <a:t>Java code for full insertion and deletion omitted – see Moodle</a:t>
            </a:r>
          </a:p>
        </p:txBody>
      </p:sp>
    </p:spTree>
    <p:extLst>
      <p:ext uri="{BB962C8B-B14F-4D97-AF65-F5344CB8AC3E}">
        <p14:creationId xmlns:p14="http://schemas.microsoft.com/office/powerpoint/2010/main" val="3467420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914400"/>
            <a:ext cx="7315200" cy="71913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Comparison of SLL and DLL algorithms</a:t>
            </a:r>
            <a:endParaRPr lang="en-GB" altLang="en-US" sz="3200" dirty="0"/>
          </a:p>
        </p:txBody>
      </p:sp>
      <p:graphicFrame>
        <p:nvGraphicFramePr>
          <p:cNvPr id="395351" name="Group 87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295443556"/>
              </p:ext>
            </p:extLst>
          </p:nvPr>
        </p:nvGraphicFramePr>
        <p:xfrm>
          <a:off x="304800" y="2385775"/>
          <a:ext cx="4464050" cy="1584704"/>
        </p:xfrm>
        <a:graphic>
          <a:graphicData uri="http://schemas.openxmlformats.org/drawingml/2006/table">
            <a:tbl>
              <a:tblPr/>
              <a:tblGrid>
                <a:gridCol w="157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4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1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Algorithm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SLL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DLL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Insertion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</a:t>
                      </a: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(1)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</a:t>
                      </a: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(1)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Deletion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</a:t>
                      </a: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</a:t>
                      </a:r>
                      <a:r>
                        <a:rPr kumimoji="0" lang="en-GB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</a:t>
                      </a: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(1)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Search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</a:t>
                      </a: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</a:t>
                      </a:r>
                      <a:r>
                        <a:rPr kumimoji="0" lang="en-GB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</a:t>
                      </a: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</a:t>
                      </a:r>
                      <a:r>
                        <a:rPr kumimoji="0" lang="en-GB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4876800" y="2808795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Insert after given node </a:t>
            </a:r>
            <a:r>
              <a:rPr lang="en-GB" dirty="0" err="1"/>
              <a:t>pred</a:t>
            </a:r>
            <a:endParaRPr lang="en-GB" dirty="0"/>
          </a:p>
        </p:txBody>
      </p:sp>
      <p:sp>
        <p:nvSpPr>
          <p:cNvPr id="3" name="TextBox 2"/>
          <p:cNvSpPr txBox="1"/>
          <p:nvPr/>
        </p:nvSpPr>
        <p:spPr>
          <a:xfrm>
            <a:off x="4876800" y="3178127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Delete given node 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0" y="3547458"/>
            <a:ext cx="426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Have to run along whole list in both cases</a:t>
            </a:r>
          </a:p>
        </p:txBody>
      </p:sp>
    </p:spTree>
    <p:extLst>
      <p:ext uri="{BB962C8B-B14F-4D97-AF65-F5344CB8AC3E}">
        <p14:creationId xmlns:p14="http://schemas.microsoft.com/office/powerpoint/2010/main" val="1173542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778</TotalTime>
  <Words>4564</Words>
  <Application>Microsoft Macintosh PowerPoint</Application>
  <PresentationFormat>On-screen Show (4:3)</PresentationFormat>
  <Paragraphs>495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Calibri</vt:lpstr>
      <vt:lpstr>Courier New</vt:lpstr>
      <vt:lpstr>Times New Roman</vt:lpstr>
      <vt:lpstr>Wingdings</vt:lpstr>
      <vt:lpstr>Clarity</vt:lpstr>
      <vt:lpstr> 4.  Linked-List Data Structures</vt:lpstr>
      <vt:lpstr>Linked-lists (1)</vt:lpstr>
      <vt:lpstr>Linked-lists (2)</vt:lpstr>
      <vt:lpstr>Singly-linked-lists (1)</vt:lpstr>
      <vt:lpstr>Singly-linked-lists (2) – Java class</vt:lpstr>
      <vt:lpstr>Singly-linked-lists (3) – Java class contd</vt:lpstr>
      <vt:lpstr>Example: SLL traversal</vt:lpstr>
      <vt:lpstr>Example: SLL manipulation</vt:lpstr>
      <vt:lpstr>Insertion</vt:lpstr>
      <vt:lpstr>SLL insertion (1)</vt:lpstr>
      <vt:lpstr>SLL insertion (2)</vt:lpstr>
      <vt:lpstr>SLL insertion (3)</vt:lpstr>
      <vt:lpstr>SLL insertion (4) – as Java method (in SLL)</vt:lpstr>
      <vt:lpstr>Deletion</vt:lpstr>
      <vt:lpstr>SLL deletion (1)</vt:lpstr>
      <vt:lpstr>SLL deletion (2)</vt:lpstr>
      <vt:lpstr>SLL deletion (3)</vt:lpstr>
      <vt:lpstr>SLL deletion (4)</vt:lpstr>
      <vt:lpstr>SLL deletion (5) – Java method (in SLL)</vt:lpstr>
      <vt:lpstr>Searching</vt:lpstr>
      <vt:lpstr>SLL searching (1)</vt:lpstr>
      <vt:lpstr>SLL searching (2)</vt:lpstr>
      <vt:lpstr>SLL searching (3) Java method (in SLL)</vt:lpstr>
      <vt:lpstr>Other SLL algorithms</vt:lpstr>
      <vt:lpstr>Doubly-linked-lists (1)</vt:lpstr>
      <vt:lpstr>Doubly-linked-lists (2) Java class</vt:lpstr>
      <vt:lpstr>Doubly-linked-lists (3) Java class contd.</vt:lpstr>
      <vt:lpstr>Example: DLL traversal – Java (in DLL)</vt:lpstr>
      <vt:lpstr>DLL – Java method to delete first node (in DLL)</vt:lpstr>
      <vt:lpstr>DLL method to delete last node (in DLL)</vt:lpstr>
      <vt:lpstr>DLL insertion (1)</vt:lpstr>
      <vt:lpstr>DLL insertion (2)</vt:lpstr>
      <vt:lpstr>DLL deletion</vt:lpstr>
      <vt:lpstr>Comparison of SLL and DLL algorithms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 Linked-List Data Structures</dc:title>
  <dc:creator>Alice</dc:creator>
  <cp:lastModifiedBy>Alice Miller</cp:lastModifiedBy>
  <cp:revision>46</cp:revision>
  <dcterms:created xsi:type="dcterms:W3CDTF">2006-08-16T00:00:00Z</dcterms:created>
  <dcterms:modified xsi:type="dcterms:W3CDTF">2021-04-06T09:50:40Z</dcterms:modified>
</cp:coreProperties>
</file>