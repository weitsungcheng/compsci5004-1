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9" r:id="rId3"/>
    <p:sldId id="260" r:id="rId4"/>
    <p:sldId id="388" r:id="rId5"/>
    <p:sldId id="332" r:id="rId6"/>
    <p:sldId id="389" r:id="rId7"/>
    <p:sldId id="390" r:id="rId8"/>
    <p:sldId id="333" r:id="rId9"/>
    <p:sldId id="334" r:id="rId10"/>
    <p:sldId id="391" r:id="rId11"/>
    <p:sldId id="335" r:id="rId12"/>
    <p:sldId id="337" r:id="rId13"/>
    <p:sldId id="401" r:id="rId14"/>
    <p:sldId id="396" r:id="rId15"/>
    <p:sldId id="402" r:id="rId16"/>
    <p:sldId id="403" r:id="rId17"/>
    <p:sldId id="404" r:id="rId18"/>
    <p:sldId id="40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54"/>
  </p:normalViewPr>
  <p:slideViewPr>
    <p:cSldViewPr>
      <p:cViewPr varScale="1">
        <p:scale>
          <a:sx n="95" d="100"/>
          <a:sy n="95" d="100"/>
        </p:scale>
        <p:origin x="14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EAA1B-E5FE-47E3-BE41-71802FFB2CED}" type="datetimeFigureOut">
              <a:rPr lang="en-GB" smtClean="0"/>
              <a:t>01/05/2024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9EF70-8062-433E-90DE-DF72B60A81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65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E0FF-947A-4287-BCBD-5C393F52AC8F}" type="datetime1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7849-A743-4F0D-90B4-382E4BF63E7C}" type="datetime1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5488-08E4-419B-B4BE-9E5B2BC698D6}" type="datetime1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12BA-2DDB-4C11-B6AB-8C41B9C1B846}" type="datetime1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504-C747-48FA-A969-DC352BCE564A}" type="datetime1">
              <a:rPr lang="en-US" smtClean="0"/>
              <a:t>5/1/24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A336-B5E7-4D51-BDEE-3B4DCDF17D3A}" type="datetime1">
              <a:rPr lang="en-US" smtClean="0"/>
              <a:t>5/1/24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EDFE-E587-4F6C-93FF-2D24FB6BBFE3}" type="datetime1">
              <a:rPr lang="en-US" smtClean="0"/>
              <a:t>5/1/24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72DC-DDEB-43FB-80B4-6E6E8346740A}" type="datetime1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2E40-0A3B-41FE-9BA0-49560738553A}" type="datetime1">
              <a:rPr lang="en-US" smtClean="0"/>
              <a:t>5/1/24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60A5-AE21-490A-B50A-4174735A8ADE}" type="datetime1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7398-942A-4BA6-A66D-F1B8C7CB2793}" type="datetime1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C31B534-816C-4D09-8B3E-6175E11BD82D}" type="datetime1">
              <a:rPr lang="en-US" smtClean="0"/>
              <a:t>5/1/24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8196" y="908050"/>
            <a:ext cx="8280400" cy="12954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13.  </a:t>
            </a:r>
            <a:r>
              <a:rPr lang="en-GB" altLang="en-US" sz="3600" dirty="0" err="1">
                <a:solidFill>
                  <a:schemeClr val="folHlink"/>
                </a:solidFill>
              </a:rPr>
              <a:t>GeNERAL</a:t>
            </a:r>
            <a:r>
              <a:rPr lang="en-GB" altLang="en-US" sz="3600" dirty="0">
                <a:solidFill>
                  <a:schemeClr val="folHlink"/>
                </a:solidFill>
              </a:rPr>
              <a:t>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626" y="3657600"/>
            <a:ext cx="8245475" cy="304800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Some algorithms </a:t>
            </a:r>
            <a:r>
              <a:rPr lang="en-US" altLang="en-US" sz="2400" b="1" dirty="0"/>
              <a:t>out of the context </a:t>
            </a:r>
            <a:r>
              <a:rPr lang="en-US" altLang="en-US" sz="2400" dirty="0"/>
              <a:t>of ADTs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dirty="0"/>
              <a:t>Graphs: 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dirty="0"/>
              <a:t>     Depth-first search and breadth-first search</a:t>
            </a:r>
            <a:endParaRPr lang="en-US" altLang="en-US" sz="2400" dirty="0"/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dirty="0"/>
              <a:t>     Shortest path</a:t>
            </a:r>
            <a:endParaRPr lang="en-US" altLang="en-US" sz="2400" dirty="0"/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Bin packing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1870075" y="476250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0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Introduction –why these slides </a:t>
            </a:r>
            <a:endParaRPr lang="en-GB" altLang="en-US" i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14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There are some common algorithms that you might be asked about in a job interview (for example)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Many of these are graph-based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Just a few slides so far, may extend in future years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 will not go through the slides completely. But the </a:t>
            </a:r>
            <a:r>
              <a:rPr lang="en-US" altLang="en-US" dirty="0">
                <a:solidFill>
                  <a:srgbClr val="FF0000"/>
                </a:solidFill>
              </a:rPr>
              <a:t>bin packing slides are examinable</a:t>
            </a:r>
            <a:r>
              <a:rPr lang="en-US" altLang="en-US" dirty="0"/>
              <a:t> (rest are not).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0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5EE0-8A36-1966-0BDA-D6C3759C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C9726-E795-70CA-23A6-56D4AB7E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33564"/>
          </a:xfrm>
        </p:spPr>
        <p:txBody>
          <a:bodyPr>
            <a:normAutofit/>
          </a:bodyPr>
          <a:lstStyle/>
          <a:p>
            <a:r>
              <a:rPr lang="en-US" sz="2000" dirty="0"/>
              <a:t>A graph G consists of a set of vertices V and a set of edges E</a:t>
            </a:r>
          </a:p>
          <a:p>
            <a:r>
              <a:rPr lang="en-US" sz="2000" dirty="0"/>
              <a:t>A tree is a graph that has no cycles</a:t>
            </a:r>
          </a:p>
          <a:p>
            <a:endParaRPr lang="en-US" sz="2000" dirty="0"/>
          </a:p>
          <a:p>
            <a:r>
              <a:rPr lang="en-US" sz="2000" dirty="0"/>
              <a:t>Examples: 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</a:p>
          <a:p>
            <a:pPr marL="0" indent="0">
              <a:buNone/>
            </a:pPr>
            <a:r>
              <a:rPr lang="en-US" sz="2000" dirty="0"/>
              <a:t>  </a:t>
            </a:r>
          </a:p>
          <a:p>
            <a:pPr marL="0" indent="0">
              <a:buNone/>
            </a:pPr>
            <a:r>
              <a:rPr lang="en-US" sz="2000" dirty="0"/>
              <a:t>  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DD2E9-154C-2CEA-570E-EE557C11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2DB3C5-643C-8031-FF9F-538E5A09B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952" y="2362200"/>
            <a:ext cx="1512000" cy="1440000"/>
          </a:xfrm>
          <a:prstGeom prst="rect">
            <a:avLst/>
          </a:prstGeom>
        </p:spPr>
      </p:pic>
      <p:pic>
        <p:nvPicPr>
          <p:cNvPr id="17" name="Picture 2" descr="O:\ramsey presentation\ramsey333.png">
            <a:extLst>
              <a:ext uri="{FF2B5EF4-FFF2-40B4-BE49-F238E27FC236}">
                <a16:creationId xmlns:a16="http://schemas.microsoft.com/office/drawing/2014/main" id="{041E8781-AA9E-8C10-F9AA-5EDB3B187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47" y="3604925"/>
            <a:ext cx="3312368" cy="330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diagram of a network&#10;&#10;Description automatically generated">
            <a:extLst>
              <a:ext uri="{FF2B5EF4-FFF2-40B4-BE49-F238E27FC236}">
                <a16:creationId xmlns:a16="http://schemas.microsoft.com/office/drawing/2014/main" id="{44F66611-92EA-3D2F-6525-931307278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049" y="3553291"/>
            <a:ext cx="2923916" cy="2664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6CA51A3-E799-5724-9F06-2197FF923664}"/>
              </a:ext>
            </a:extLst>
          </p:cNvPr>
          <p:cNvSpPr txBox="1"/>
          <p:nvPr/>
        </p:nvSpPr>
        <p:spPr>
          <a:xfrm>
            <a:off x="5867400" y="6324600"/>
            <a:ext cx="318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labelled vertices</a:t>
            </a:r>
          </a:p>
        </p:txBody>
      </p:sp>
    </p:spTree>
    <p:extLst>
      <p:ext uri="{BB962C8B-B14F-4D97-AF65-F5344CB8AC3E}">
        <p14:creationId xmlns:p14="http://schemas.microsoft.com/office/powerpoint/2010/main" val="211978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6C85EAB-69D3-B2F9-47D3-64C4D7751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traversal </a:t>
            </a:r>
            <a:r>
              <a:rPr lang="en-US" altLang="en-US" i="1"/>
              <a:t>(2)</a:t>
            </a:r>
            <a:endParaRPr lang="en-GB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EE5D419-0B65-0224-1A44-A1DD6453F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716088"/>
            <a:ext cx="7200900" cy="4608512"/>
          </a:xfrm>
          <a:noFill/>
        </p:spPr>
        <p:txBody>
          <a:bodyPr/>
          <a:lstStyle/>
          <a:p>
            <a:pPr eaLnBrk="1" hangingPunct="1"/>
            <a:r>
              <a:rPr lang="en-GB" altLang="en-US" dirty="0"/>
              <a:t>A graph traversal algorithm could reach the same vertex along several different paths.</a:t>
            </a:r>
          </a:p>
          <a:p>
            <a:pPr eaLnBrk="1" hangingPunct="1"/>
            <a:r>
              <a:rPr lang="en-GB" altLang="en-US" dirty="0"/>
              <a:t>So it must “mark” each vertex the first time it is reached, to avoid visiting the same vertex repeatedly. (Otherwise traversal of a cyclic graph would never terminate.)</a:t>
            </a:r>
          </a:p>
          <a:p>
            <a:pPr eaLnBrk="1" hangingPunct="1"/>
            <a:r>
              <a:rPr lang="en-GB" altLang="en-US" dirty="0"/>
              <a:t>Alternative ways to mark vertices:</a:t>
            </a:r>
          </a:p>
          <a:p>
            <a:pPr lvl="1" eaLnBrk="1" hangingPunct="1"/>
            <a:r>
              <a:rPr lang="en-GB" altLang="en-US" dirty="0"/>
              <a:t>Store a </a:t>
            </a:r>
            <a:r>
              <a:rPr lang="en-GB" altLang="en-US" dirty="0" err="1"/>
              <a:t>boolean</a:t>
            </a:r>
            <a:r>
              <a:rPr lang="en-GB" altLang="en-US" dirty="0"/>
              <a:t> flag in each vertex, initially false. To mark a vertex, set this flag to true.</a:t>
            </a:r>
          </a:p>
          <a:p>
            <a:pPr lvl="1" eaLnBrk="1" hangingPunct="1"/>
            <a:r>
              <a:rPr lang="en-GB" altLang="en-US" dirty="0"/>
              <a:t>Maintain a separate set of vertices, initially empty. To mark a vertex, add it to this set.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F5E16E0-745F-E0A0-858D-6CA09272A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Depth-first traversal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7374D31-2F36-85DE-9742-7891C7F8F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b="1"/>
              <a:t>Depth-first traversal</a:t>
            </a:r>
            <a:r>
              <a:rPr lang="en-GB" altLang="en-US"/>
              <a:t> will traverse one possible path as far as possible, before traversing any alternative paths.</a:t>
            </a:r>
          </a:p>
          <a:p>
            <a:pPr eaLnBrk="1" hangingPunct="1"/>
            <a:r>
              <a:rPr lang="en-GB" altLang="en-US"/>
              <a:t>Illustration (starting from London):</a:t>
            </a:r>
            <a:endParaRPr lang="en-US" altLang="en-US"/>
          </a:p>
        </p:txBody>
      </p:sp>
      <p:grpSp>
        <p:nvGrpSpPr>
          <p:cNvPr id="2" name="Group 60">
            <a:extLst>
              <a:ext uri="{FF2B5EF4-FFF2-40B4-BE49-F238E27FC236}">
                <a16:creationId xmlns:a16="http://schemas.microsoft.com/office/drawing/2014/main" id="{F826DD04-85AE-3000-8368-B61C77D32E85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3576638"/>
            <a:ext cx="5827713" cy="1978025"/>
            <a:chOff x="838" y="2189"/>
            <a:chExt cx="3671" cy="1246"/>
          </a:xfrm>
        </p:grpSpPr>
        <p:sp>
          <p:nvSpPr>
            <p:cNvPr id="40990" name="Line 5">
              <a:extLst>
                <a:ext uri="{FF2B5EF4-FFF2-40B4-BE49-F238E27FC236}">
                  <a16:creationId xmlns:a16="http://schemas.microsoft.com/office/drawing/2014/main" id="{22770B4F-9661-A115-8352-614314D92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470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Line 6">
              <a:extLst>
                <a:ext uri="{FF2B5EF4-FFF2-40B4-BE49-F238E27FC236}">
                  <a16:creationId xmlns:a16="http://schemas.microsoft.com/office/drawing/2014/main" id="{9C91CA76-73BD-08D5-A252-8AE1D4201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923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2" name="Line 7">
              <a:extLst>
                <a:ext uri="{FF2B5EF4-FFF2-40B4-BE49-F238E27FC236}">
                  <a16:creationId xmlns:a16="http://schemas.microsoft.com/office/drawing/2014/main" id="{BA3B442C-17D0-FB25-90F1-E2BEBB754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2470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3" name="Line 8">
              <a:extLst>
                <a:ext uri="{FF2B5EF4-FFF2-40B4-BE49-F238E27FC236}">
                  <a16:creationId xmlns:a16="http://schemas.microsoft.com/office/drawing/2014/main" id="{E1E42A66-9D83-9EBD-B650-35F5DCB4B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2923"/>
              <a:ext cx="454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4" name="Line 9">
              <a:extLst>
                <a:ext uri="{FF2B5EF4-FFF2-40B4-BE49-F238E27FC236}">
                  <a16:creationId xmlns:a16="http://schemas.microsoft.com/office/drawing/2014/main" id="{ED2C8063-EB6B-97E8-0067-EB103460F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2279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5" name="Line 10">
              <a:extLst>
                <a:ext uri="{FF2B5EF4-FFF2-40B4-BE49-F238E27FC236}">
                  <a16:creationId xmlns:a16="http://schemas.microsoft.com/office/drawing/2014/main" id="{36975A73-73B7-8660-39EC-9554A3A8E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2" y="2469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6" name="Line 11">
              <a:extLst>
                <a:ext uri="{FF2B5EF4-FFF2-40B4-BE49-F238E27FC236}">
                  <a16:creationId xmlns:a16="http://schemas.microsoft.com/office/drawing/2014/main" id="{57284534-8F3E-B271-E9C3-0388B52A4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469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7" name="Line 12">
              <a:extLst>
                <a:ext uri="{FF2B5EF4-FFF2-40B4-BE49-F238E27FC236}">
                  <a16:creationId xmlns:a16="http://schemas.microsoft.com/office/drawing/2014/main" id="{4B6F15D3-3EA8-3240-7A8D-FB1C68ABC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923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Line 13">
              <a:extLst>
                <a:ext uri="{FF2B5EF4-FFF2-40B4-BE49-F238E27FC236}">
                  <a16:creationId xmlns:a16="http://schemas.microsoft.com/office/drawing/2014/main" id="{A49FF154-18EC-B0FB-4196-E7F463069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2" y="3377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Line 14">
              <a:extLst>
                <a:ext uri="{FF2B5EF4-FFF2-40B4-BE49-F238E27FC236}">
                  <a16:creationId xmlns:a16="http://schemas.microsoft.com/office/drawing/2014/main" id="{58A6E4D7-5C38-1448-EFF5-B631CDE06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3376"/>
              <a:ext cx="1361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0" name="Line 15">
              <a:extLst>
                <a:ext uri="{FF2B5EF4-FFF2-40B4-BE49-F238E27FC236}">
                  <a16:creationId xmlns:a16="http://schemas.microsoft.com/office/drawing/2014/main" id="{43C36304-FD06-6F7E-E010-BF8B5B515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923"/>
              <a:ext cx="1361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1" name="Text Box 16">
              <a:extLst>
                <a:ext uri="{FF2B5EF4-FFF2-40B4-BE49-F238E27FC236}">
                  <a16:creationId xmlns:a16="http://schemas.microsoft.com/office/drawing/2014/main" id="{B38B8328-A595-BBE1-C0F4-809065F11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3278"/>
              <a:ext cx="540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London</a:t>
              </a:r>
              <a:endParaRPr lang="en-US" altLang="en-US" sz="1800"/>
            </a:p>
          </p:txBody>
        </p:sp>
        <p:sp>
          <p:nvSpPr>
            <p:cNvPr id="41002" name="Text Box 17">
              <a:extLst>
                <a:ext uri="{FF2B5EF4-FFF2-40B4-BE49-F238E27FC236}">
                  <a16:creationId xmlns:a16="http://schemas.microsoft.com/office/drawing/2014/main" id="{D1860CAE-7EA2-938B-0328-B6F2E4B94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2370"/>
              <a:ext cx="814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Manchester</a:t>
              </a:r>
              <a:endParaRPr lang="en-US" altLang="en-US" sz="1800"/>
            </a:p>
          </p:txBody>
        </p:sp>
        <p:sp>
          <p:nvSpPr>
            <p:cNvPr id="41003" name="Text Box 18">
              <a:extLst>
                <a:ext uri="{FF2B5EF4-FFF2-40B4-BE49-F238E27FC236}">
                  <a16:creationId xmlns:a16="http://schemas.microsoft.com/office/drawing/2014/main" id="{81BFC029-6E6E-494A-F81F-A5B63BD80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824"/>
              <a:ext cx="862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Birmingham</a:t>
              </a:r>
              <a:endParaRPr lang="en-US" altLang="en-US" sz="1800"/>
            </a:p>
          </p:txBody>
        </p:sp>
        <p:sp>
          <p:nvSpPr>
            <p:cNvPr id="41004" name="Text Box 19">
              <a:extLst>
                <a:ext uri="{FF2B5EF4-FFF2-40B4-BE49-F238E27FC236}">
                  <a16:creationId xmlns:a16="http://schemas.microsoft.com/office/drawing/2014/main" id="{5E6DC2BF-2C03-D1EB-43CF-969C3B8F0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" y="3285"/>
              <a:ext cx="456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Bristol</a:t>
              </a:r>
              <a:endParaRPr lang="en-US" altLang="en-US" sz="1800"/>
            </a:p>
          </p:txBody>
        </p:sp>
        <p:sp>
          <p:nvSpPr>
            <p:cNvPr id="41005" name="Text Box 20">
              <a:extLst>
                <a:ext uri="{FF2B5EF4-FFF2-40B4-BE49-F238E27FC236}">
                  <a16:creationId xmlns:a16="http://schemas.microsoft.com/office/drawing/2014/main" id="{2EFCEB9B-584F-44E3-714F-A391622B0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278"/>
              <a:ext cx="634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Swansea</a:t>
              </a:r>
              <a:endParaRPr lang="en-US" altLang="en-US" sz="1800"/>
            </a:p>
          </p:txBody>
        </p:sp>
        <p:sp>
          <p:nvSpPr>
            <p:cNvPr id="41006" name="Text Box 21">
              <a:extLst>
                <a:ext uri="{FF2B5EF4-FFF2-40B4-BE49-F238E27FC236}">
                  <a16:creationId xmlns:a16="http://schemas.microsoft.com/office/drawing/2014/main" id="{B33AFB67-6429-1B6F-0073-5720FBF1A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2379"/>
              <a:ext cx="635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Liverpool</a:t>
              </a:r>
              <a:endParaRPr lang="en-US" altLang="en-US" sz="1800"/>
            </a:p>
          </p:txBody>
        </p:sp>
        <p:sp>
          <p:nvSpPr>
            <p:cNvPr id="41007" name="Text Box 22">
              <a:extLst>
                <a:ext uri="{FF2B5EF4-FFF2-40B4-BE49-F238E27FC236}">
                  <a16:creationId xmlns:a16="http://schemas.microsoft.com/office/drawing/2014/main" id="{F8EB504A-9957-265B-A8AE-44261CF98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2370"/>
              <a:ext cx="452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Leeds</a:t>
              </a:r>
              <a:endParaRPr lang="en-US" altLang="en-US" sz="1800"/>
            </a:p>
          </p:txBody>
        </p:sp>
        <p:sp>
          <p:nvSpPr>
            <p:cNvPr id="41008" name="Text Box 23">
              <a:extLst>
                <a:ext uri="{FF2B5EF4-FFF2-40B4-BE49-F238E27FC236}">
                  <a16:creationId xmlns:a16="http://schemas.microsoft.com/office/drawing/2014/main" id="{D448D2E8-878E-6BE3-AF49-359A296FD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824"/>
              <a:ext cx="494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Rugby</a:t>
              </a:r>
              <a:endParaRPr lang="en-US" altLang="en-US" sz="1800"/>
            </a:p>
          </p:txBody>
        </p:sp>
        <p:sp>
          <p:nvSpPr>
            <p:cNvPr id="41009" name="Text Box 24">
              <a:extLst>
                <a:ext uri="{FF2B5EF4-FFF2-40B4-BE49-F238E27FC236}">
                  <a16:creationId xmlns:a16="http://schemas.microsoft.com/office/drawing/2014/main" id="{99CD542A-4757-8B99-81E6-320EFF81E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2643"/>
              <a:ext cx="453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Dublin</a:t>
              </a:r>
              <a:endParaRPr lang="en-US" altLang="en-US" sz="1800"/>
            </a:p>
          </p:txBody>
        </p:sp>
        <p:sp>
          <p:nvSpPr>
            <p:cNvPr id="41010" name="Text Box 25">
              <a:extLst>
                <a:ext uri="{FF2B5EF4-FFF2-40B4-BE49-F238E27FC236}">
                  <a16:creationId xmlns:a16="http://schemas.microsoft.com/office/drawing/2014/main" id="{32A8A0B2-1C9D-58B0-CD4B-392A90303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2189"/>
              <a:ext cx="453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Belfast</a:t>
              </a:r>
              <a:endParaRPr lang="en-US" altLang="en-US" sz="1800"/>
            </a:p>
          </p:txBody>
        </p:sp>
      </p:grpSp>
      <p:grpSp>
        <p:nvGrpSpPr>
          <p:cNvPr id="3" name="Group 57">
            <a:extLst>
              <a:ext uri="{FF2B5EF4-FFF2-40B4-BE49-F238E27FC236}">
                <a16:creationId xmlns:a16="http://schemas.microsoft.com/office/drawing/2014/main" id="{B70D59D6-D2A2-5248-4011-4380A3C92414}"/>
              </a:ext>
            </a:extLst>
          </p:cNvPr>
          <p:cNvGrpSpPr>
            <a:grpSpLocks/>
          </p:cNvGrpSpPr>
          <p:nvPr/>
        </p:nvGrpSpPr>
        <p:grpSpPr bwMode="auto">
          <a:xfrm>
            <a:off x="3275013" y="3602038"/>
            <a:ext cx="5473700" cy="2190750"/>
            <a:chOff x="2063" y="2217"/>
            <a:chExt cx="3448" cy="1380"/>
          </a:xfrm>
        </p:grpSpPr>
        <p:sp>
          <p:nvSpPr>
            <p:cNvPr id="40988" name="Text Box 27">
              <a:extLst>
                <a:ext uri="{FF2B5EF4-FFF2-40B4-BE49-F238E27FC236}">
                  <a16:creationId xmlns:a16="http://schemas.microsoft.com/office/drawing/2014/main" id="{75806FB7-F6CD-F5DA-FB2D-40FB34F30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453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Liverpool</a:t>
              </a:r>
            </a:p>
          </p:txBody>
        </p:sp>
        <p:sp>
          <p:nvSpPr>
            <p:cNvPr id="40989" name="Text Box 28">
              <a:extLst>
                <a:ext uri="{FF2B5EF4-FFF2-40B4-BE49-F238E27FC236}">
                  <a16:creationId xmlns:a16="http://schemas.microsoft.com/office/drawing/2014/main" id="{4C984B7B-39F3-D13F-54A0-D822AA6CA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2217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</p:grpSp>
      <p:sp>
        <p:nvSpPr>
          <p:cNvPr id="395293" name="Text Box 29">
            <a:extLst>
              <a:ext uri="{FF2B5EF4-FFF2-40B4-BE49-F238E27FC236}">
                <a16:creationId xmlns:a16="http://schemas.microsoft.com/office/drawing/2014/main" id="{B32D4AA5-2B2D-6CAD-93E3-DDD44C0A8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3468688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cs typeface="Times New Roman" panose="02020603050405020304" pitchFamily="18" charset="0"/>
              </a:rPr>
              <a:t>Possible order of visits:</a:t>
            </a:r>
          </a:p>
        </p:txBody>
      </p:sp>
      <p:grpSp>
        <p:nvGrpSpPr>
          <p:cNvPr id="4" name="Group 52">
            <a:extLst>
              <a:ext uri="{FF2B5EF4-FFF2-40B4-BE49-F238E27FC236}">
                <a16:creationId xmlns:a16="http://schemas.microsoft.com/office/drawing/2014/main" id="{2403E4AF-D6B3-CC78-90B7-0EB30025A7F2}"/>
              </a:ext>
            </a:extLst>
          </p:cNvPr>
          <p:cNvGrpSpPr>
            <a:grpSpLocks/>
          </p:cNvGrpSpPr>
          <p:nvPr/>
        </p:nvGrpSpPr>
        <p:grpSpPr bwMode="auto">
          <a:xfrm>
            <a:off x="6875463" y="4041775"/>
            <a:ext cx="1873250" cy="1304925"/>
            <a:chOff x="4331" y="2494"/>
            <a:chExt cx="1180" cy="822"/>
          </a:xfrm>
        </p:grpSpPr>
        <p:sp>
          <p:nvSpPr>
            <p:cNvPr id="40986" name="Text Box 31">
              <a:extLst>
                <a:ext uri="{FF2B5EF4-FFF2-40B4-BE49-F238E27FC236}">
                  <a16:creationId xmlns:a16="http://schemas.microsoft.com/office/drawing/2014/main" id="{C9E14D2C-C1AA-A9E5-806E-082E1ED8A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3124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0987" name="Text Box 32">
              <a:extLst>
                <a:ext uri="{FF2B5EF4-FFF2-40B4-BE49-F238E27FC236}">
                  <a16:creationId xmlns:a16="http://schemas.microsoft.com/office/drawing/2014/main" id="{F30B970A-838F-72BA-1040-FDC6B88B8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494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London</a:t>
              </a:r>
            </a:p>
          </p:txBody>
        </p:sp>
      </p:grpSp>
      <p:grpSp>
        <p:nvGrpSpPr>
          <p:cNvPr id="5" name="Group 53">
            <a:extLst>
              <a:ext uri="{FF2B5EF4-FFF2-40B4-BE49-F238E27FC236}">
                <a16:creationId xmlns:a16="http://schemas.microsoft.com/office/drawing/2014/main" id="{BFB83144-6DE8-BE6F-38F3-263E4265D154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343400"/>
            <a:ext cx="4105275" cy="985838"/>
            <a:chOff x="2925" y="2684"/>
            <a:chExt cx="2586" cy="621"/>
          </a:xfrm>
        </p:grpSpPr>
        <p:sp>
          <p:nvSpPr>
            <p:cNvPr id="40984" name="Text Box 34">
              <a:extLst>
                <a:ext uri="{FF2B5EF4-FFF2-40B4-BE49-F238E27FC236}">
                  <a16:creationId xmlns:a16="http://schemas.microsoft.com/office/drawing/2014/main" id="{E983D860-218F-F3BD-4C56-8B5315789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113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0985" name="Text Box 35">
              <a:extLst>
                <a:ext uri="{FF2B5EF4-FFF2-40B4-BE49-F238E27FC236}">
                  <a16:creationId xmlns:a16="http://schemas.microsoft.com/office/drawing/2014/main" id="{15280CE6-917D-6B05-0117-547FB24D6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684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Bristol</a:t>
              </a:r>
            </a:p>
          </p:txBody>
        </p:sp>
      </p:grpSp>
      <p:grpSp>
        <p:nvGrpSpPr>
          <p:cNvPr id="6" name="Group 54">
            <a:extLst>
              <a:ext uri="{FF2B5EF4-FFF2-40B4-BE49-F238E27FC236}">
                <a16:creationId xmlns:a16="http://schemas.microsoft.com/office/drawing/2014/main" id="{8FD11E22-FBD5-09EA-D284-BDF1289CF918}"/>
              </a:ext>
            </a:extLst>
          </p:cNvPr>
          <p:cNvGrpSpPr>
            <a:grpSpLocks/>
          </p:cNvGrpSpPr>
          <p:nvPr/>
        </p:nvGrpSpPr>
        <p:grpSpPr bwMode="auto">
          <a:xfrm>
            <a:off x="3201988" y="4645025"/>
            <a:ext cx="5546725" cy="684213"/>
            <a:chOff x="2017" y="2874"/>
            <a:chExt cx="3494" cy="431"/>
          </a:xfrm>
        </p:grpSpPr>
        <p:sp>
          <p:nvSpPr>
            <p:cNvPr id="40982" name="Text Box 37">
              <a:extLst>
                <a:ext uri="{FF2B5EF4-FFF2-40B4-BE49-F238E27FC236}">
                  <a16:creationId xmlns:a16="http://schemas.microsoft.com/office/drawing/2014/main" id="{D3BEB26B-3C36-B088-C459-ABDFF361F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" y="3113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0983" name="Text Box 38">
              <a:extLst>
                <a:ext uri="{FF2B5EF4-FFF2-40B4-BE49-F238E27FC236}">
                  <a16:creationId xmlns:a16="http://schemas.microsoft.com/office/drawing/2014/main" id="{F6D6AFDC-3843-4B33-1A51-69539D556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874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Swansea</a:t>
              </a:r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63E27714-96A3-8F86-A075-58FBCBA453E8}"/>
              </a:ext>
            </a:extLst>
          </p:cNvPr>
          <p:cNvGrpSpPr>
            <a:grpSpLocks/>
          </p:cNvGrpSpPr>
          <p:nvPr/>
        </p:nvGrpSpPr>
        <p:grpSpPr bwMode="auto">
          <a:xfrm>
            <a:off x="4714875" y="4322763"/>
            <a:ext cx="4033838" cy="852487"/>
            <a:chOff x="2970" y="2671"/>
            <a:chExt cx="2541" cy="537"/>
          </a:xfrm>
        </p:grpSpPr>
        <p:sp>
          <p:nvSpPr>
            <p:cNvPr id="40980" name="Text Box 40">
              <a:extLst>
                <a:ext uri="{FF2B5EF4-FFF2-40B4-BE49-F238E27FC236}">
                  <a16:creationId xmlns:a16="http://schemas.microsoft.com/office/drawing/2014/main" id="{AF54538C-A73E-41CE-BB75-CC8DAEF27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" y="2671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0981" name="Text Box 41">
              <a:extLst>
                <a:ext uri="{FF2B5EF4-FFF2-40B4-BE49-F238E27FC236}">
                  <a16:creationId xmlns:a16="http://schemas.microsoft.com/office/drawing/2014/main" id="{CB76FBE3-689C-26D4-5F38-329B536D5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064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Birmingham</a:t>
              </a:r>
            </a:p>
          </p:txBody>
        </p:sp>
      </p:grpSp>
      <p:grpSp>
        <p:nvGrpSpPr>
          <p:cNvPr id="8" name="Group 56">
            <a:extLst>
              <a:ext uri="{FF2B5EF4-FFF2-40B4-BE49-F238E27FC236}">
                <a16:creationId xmlns:a16="http://schemas.microsoft.com/office/drawing/2014/main" id="{78D55286-918F-06F8-0DE8-69CAAD9A2391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3602038"/>
            <a:ext cx="4032250" cy="1874837"/>
            <a:chOff x="2971" y="2217"/>
            <a:chExt cx="2540" cy="1181"/>
          </a:xfrm>
        </p:grpSpPr>
        <p:sp>
          <p:nvSpPr>
            <p:cNvPr id="40978" name="Text Box 43">
              <a:extLst>
                <a:ext uri="{FF2B5EF4-FFF2-40B4-BE49-F238E27FC236}">
                  <a16:creationId xmlns:a16="http://schemas.microsoft.com/office/drawing/2014/main" id="{B1A4AF21-7940-E4F3-089D-EF8B1C272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2217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0979" name="Text Box 44">
              <a:extLst>
                <a:ext uri="{FF2B5EF4-FFF2-40B4-BE49-F238E27FC236}">
                  <a16:creationId xmlns:a16="http://schemas.microsoft.com/office/drawing/2014/main" id="{58B55E97-CACD-3D69-0704-AA6EDC774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254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Manchester</a:t>
              </a:r>
            </a:p>
          </p:txBody>
        </p:sp>
      </p:grpSp>
      <p:grpSp>
        <p:nvGrpSpPr>
          <p:cNvPr id="9" name="Group 58">
            <a:extLst>
              <a:ext uri="{FF2B5EF4-FFF2-40B4-BE49-F238E27FC236}">
                <a16:creationId xmlns:a16="http://schemas.microsoft.com/office/drawing/2014/main" id="{687A5585-9635-2B88-2AE7-232E5F609536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602038"/>
            <a:ext cx="2592388" cy="2492375"/>
            <a:chOff x="3878" y="2217"/>
            <a:chExt cx="1633" cy="1570"/>
          </a:xfrm>
        </p:grpSpPr>
        <p:sp>
          <p:nvSpPr>
            <p:cNvPr id="40976" name="Text Box 46">
              <a:extLst>
                <a:ext uri="{FF2B5EF4-FFF2-40B4-BE49-F238E27FC236}">
                  <a16:creationId xmlns:a16="http://schemas.microsoft.com/office/drawing/2014/main" id="{E09A9FA5-7BB4-6C58-1DEA-08A6BDCA6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217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0977" name="Text Box 47">
              <a:extLst>
                <a:ext uri="{FF2B5EF4-FFF2-40B4-BE49-F238E27FC236}">
                  <a16:creationId xmlns:a16="http://schemas.microsoft.com/office/drawing/2014/main" id="{CF7A3857-9C26-64E5-D499-FD58768FE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643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Leeds</a:t>
              </a:r>
            </a:p>
          </p:txBody>
        </p:sp>
      </p:grpSp>
      <p:grpSp>
        <p:nvGrpSpPr>
          <p:cNvPr id="10" name="Group 59">
            <a:extLst>
              <a:ext uri="{FF2B5EF4-FFF2-40B4-BE49-F238E27FC236}">
                <a16:creationId xmlns:a16="http://schemas.microsoft.com/office/drawing/2014/main" id="{EE4B7E0D-601A-AC21-3B2F-E2087607CBD3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322763"/>
            <a:ext cx="2592388" cy="2058987"/>
            <a:chOff x="3878" y="2671"/>
            <a:chExt cx="1633" cy="1297"/>
          </a:xfrm>
        </p:grpSpPr>
        <p:sp>
          <p:nvSpPr>
            <p:cNvPr id="40974" name="Text Box 49">
              <a:extLst>
                <a:ext uri="{FF2B5EF4-FFF2-40B4-BE49-F238E27FC236}">
                  <a16:creationId xmlns:a16="http://schemas.microsoft.com/office/drawing/2014/main" id="{953B9F9A-65DA-62E7-C64E-A57FC545E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671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0975" name="Text Box 50">
              <a:extLst>
                <a:ext uri="{FF2B5EF4-FFF2-40B4-BE49-F238E27FC236}">
                  <a16:creationId xmlns:a16="http://schemas.microsoft.com/office/drawing/2014/main" id="{E39B5651-40F3-3F38-9801-FB8B20EB4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824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Rugby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95A9DEF-FB95-A2E3-DCC6-6D37C9D38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Depth-first traversal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689519D-079D-F659-05F3-9149F769F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882775" algn="l"/>
              </a:tabLst>
            </a:pPr>
            <a:r>
              <a:rPr lang="en-GB" altLang="en-US" b="1"/>
              <a:t>Depth-first graph traversal algorithm</a:t>
            </a:r>
            <a:r>
              <a:rPr lang="en-GB" altLang="en-US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882775" algn="l"/>
              </a:tabLst>
            </a:pPr>
            <a:r>
              <a:rPr lang="en-GB" altLang="en-US" sz="2000">
                <a:latin typeface="Times New Roman" panose="02020603050405020304" pitchFamily="18" charset="0"/>
              </a:rPr>
              <a:t>	To traverse graph </a:t>
            </a:r>
            <a:r>
              <a:rPr lang="en-GB" altLang="en-US" sz="2000" i="1">
                <a:latin typeface="Times New Roman" panose="02020603050405020304" pitchFamily="18" charset="0"/>
              </a:rPr>
              <a:t>g</a:t>
            </a:r>
            <a:r>
              <a:rPr lang="en-GB" altLang="en-US" sz="2000">
                <a:latin typeface="Times New Roman" panose="02020603050405020304" pitchFamily="18" charset="0"/>
              </a:rPr>
              <a:t> in depth-first order, starting at vertex 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882775" algn="l"/>
              </a:tabLst>
            </a:pPr>
            <a:r>
              <a:rPr lang="en-GB" altLang="en-US" sz="2000">
                <a:latin typeface="Times New Roman" panose="02020603050405020304" pitchFamily="18" charset="0"/>
              </a:rPr>
              <a:t>	1.	Make </a:t>
            </a:r>
            <a:r>
              <a:rPr lang="en-GB" altLang="en-US" sz="2000" i="1">
                <a:latin typeface="Times New Roman" panose="02020603050405020304" pitchFamily="18" charset="0"/>
              </a:rPr>
              <a:t>vertex-stack</a:t>
            </a:r>
            <a:r>
              <a:rPr lang="en-GB" altLang="en-US" sz="2000">
                <a:latin typeface="Times New Roman" panose="02020603050405020304" pitchFamily="18" charset="0"/>
              </a:rPr>
              <a:t> contain only vertex 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, and mark 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 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as reached.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2.	While </a:t>
            </a:r>
            <a:r>
              <a:rPr lang="en-GB" altLang="en-US" sz="2000" i="1">
                <a:latin typeface="Times New Roman" panose="02020603050405020304" pitchFamily="18" charset="0"/>
              </a:rPr>
              <a:t>vertex-stack</a:t>
            </a:r>
            <a:r>
              <a:rPr lang="en-GB" altLang="en-US" sz="2000">
                <a:latin typeface="Times New Roman" panose="02020603050405020304" pitchFamily="18" charset="0"/>
              </a:rPr>
              <a:t> is not empty, repeat: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2.1.	Remove the top element of </a:t>
            </a:r>
            <a:r>
              <a:rPr lang="en-GB" altLang="en-US" sz="2000" i="1">
                <a:latin typeface="Times New Roman" panose="02020603050405020304" pitchFamily="18" charset="0"/>
              </a:rPr>
              <a:t>vertex-stack</a:t>
            </a:r>
            <a:r>
              <a:rPr lang="en-GB" altLang="en-US" sz="2000">
                <a:latin typeface="Times New Roman" panose="02020603050405020304" pitchFamily="18" charset="0"/>
              </a:rPr>
              <a:t> into </a:t>
            </a:r>
            <a:r>
              <a:rPr lang="en-GB" altLang="en-US" sz="2000" i="1">
                <a:latin typeface="Times New Roman" panose="02020603050405020304" pitchFamily="18" charset="0"/>
              </a:rPr>
              <a:t>v</a:t>
            </a:r>
            <a:r>
              <a:rPr lang="en-GB" altLang="en-US" sz="2000">
                <a:latin typeface="Times New Roman" panose="02020603050405020304" pitchFamily="18" charset="0"/>
              </a:rPr>
              <a:t>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2.2.	Visit vertex </a:t>
            </a:r>
            <a:r>
              <a:rPr lang="en-GB" altLang="en-US" sz="2000" i="1">
                <a:latin typeface="Times New Roman" panose="02020603050405020304" pitchFamily="18" charset="0"/>
              </a:rPr>
              <a:t>v</a:t>
            </a:r>
            <a:r>
              <a:rPr lang="en-GB" altLang="en-US" sz="2000">
                <a:latin typeface="Times New Roman" panose="02020603050405020304" pitchFamily="18" charset="0"/>
              </a:rPr>
              <a:t>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2.3.	For each unreached successor </a:t>
            </a:r>
            <a:r>
              <a:rPr lang="en-GB" altLang="en-US" sz="2000" i="1">
                <a:latin typeface="Times New Roman" panose="02020603050405020304" pitchFamily="18" charset="0"/>
              </a:rPr>
              <a:t>w</a:t>
            </a:r>
            <a:r>
              <a:rPr lang="en-GB" altLang="en-US" sz="2000">
                <a:latin typeface="Times New Roman" panose="02020603050405020304" pitchFamily="18" charset="0"/>
              </a:rPr>
              <a:t> of vertex </a:t>
            </a:r>
            <a:r>
              <a:rPr lang="en-GB" altLang="en-US" sz="2000" i="1">
                <a:latin typeface="Times New Roman" panose="02020603050405020304" pitchFamily="18" charset="0"/>
              </a:rPr>
              <a:t>v</a:t>
            </a:r>
            <a:r>
              <a:rPr lang="en-GB" altLang="en-US" sz="2000">
                <a:latin typeface="Times New Roman" panose="02020603050405020304" pitchFamily="18" charset="0"/>
              </a:rPr>
              <a:t>, repeat: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2.3.1.	Add vertex </a:t>
            </a:r>
            <a:r>
              <a:rPr lang="en-GB" altLang="en-US" sz="2000" i="1">
                <a:latin typeface="Times New Roman" panose="02020603050405020304" pitchFamily="18" charset="0"/>
              </a:rPr>
              <a:t>w</a:t>
            </a:r>
            <a:r>
              <a:rPr lang="en-GB" altLang="en-US" sz="2000">
                <a:latin typeface="Times New Roman" panose="02020603050405020304" pitchFamily="18" charset="0"/>
              </a:rPr>
              <a:t> to </a:t>
            </a:r>
            <a:r>
              <a:rPr lang="en-GB" altLang="en-US" sz="2000" i="1">
                <a:latin typeface="Times New Roman" panose="02020603050405020304" pitchFamily="18" charset="0"/>
              </a:rPr>
              <a:t>vertex-stack</a:t>
            </a:r>
            <a:r>
              <a:rPr lang="en-GB" altLang="en-US" sz="2000">
                <a:latin typeface="Times New Roman" panose="02020603050405020304" pitchFamily="18" charset="0"/>
              </a:rPr>
              <a:t>, and mark </a:t>
            </a:r>
            <a:r>
              <a:rPr lang="en-GB" altLang="en-US" sz="2000" i="1">
                <a:latin typeface="Times New Roman" panose="02020603050405020304" pitchFamily="18" charset="0"/>
              </a:rPr>
              <a:t>w</a:t>
            </a:r>
            <a:r>
              <a:rPr lang="en-GB" altLang="en-US" sz="2000">
                <a:latin typeface="Times New Roman" panose="02020603050405020304" pitchFamily="18" charset="0"/>
              </a:rPr>
              <a:t> as 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	reached.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3.	Terminate.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19F00D6-C082-034B-F619-6CD24B744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Breadth-first traversal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00DB450-B1BE-B401-A1EC-6D3B3E715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b="1"/>
              <a:t>Breadth-first traversal</a:t>
            </a:r>
            <a:r>
              <a:rPr lang="en-GB" altLang="en-US"/>
              <a:t> will visit all successors of a vertex, before visiting any of </a:t>
            </a:r>
            <a:r>
              <a:rPr lang="en-GB" altLang="en-US" i="1"/>
              <a:t>their</a:t>
            </a:r>
            <a:r>
              <a:rPr lang="en-GB" altLang="en-US"/>
              <a:t> successors. It will traverse shorter paths before longer paths.</a:t>
            </a:r>
          </a:p>
          <a:p>
            <a:pPr eaLnBrk="1" hangingPunct="1"/>
            <a:r>
              <a:rPr lang="en-GB" altLang="en-US"/>
              <a:t>Illustration (starting from London):</a:t>
            </a:r>
            <a:endParaRPr lang="en-US" altLang="en-US"/>
          </a:p>
        </p:txBody>
      </p:sp>
      <p:grpSp>
        <p:nvGrpSpPr>
          <p:cNvPr id="2" name="Group 85">
            <a:extLst>
              <a:ext uri="{FF2B5EF4-FFF2-40B4-BE49-F238E27FC236}">
                <a16:creationId xmlns:a16="http://schemas.microsoft.com/office/drawing/2014/main" id="{CC1F5D10-9E67-51CA-102B-57359309566D}"/>
              </a:ext>
            </a:extLst>
          </p:cNvPr>
          <p:cNvGrpSpPr>
            <a:grpSpLocks/>
          </p:cNvGrpSpPr>
          <p:nvPr/>
        </p:nvGrpSpPr>
        <p:grpSpPr bwMode="auto">
          <a:xfrm>
            <a:off x="3275013" y="3565525"/>
            <a:ext cx="5473700" cy="2671763"/>
            <a:chOff x="2063" y="2246"/>
            <a:chExt cx="3448" cy="1683"/>
          </a:xfrm>
        </p:grpSpPr>
        <p:sp>
          <p:nvSpPr>
            <p:cNvPr id="43057" name="Text Box 27">
              <a:extLst>
                <a:ext uri="{FF2B5EF4-FFF2-40B4-BE49-F238E27FC236}">
                  <a16:creationId xmlns:a16="http://schemas.microsoft.com/office/drawing/2014/main" id="{FD29C412-0C73-AB5F-0FFE-29EA8F9E6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785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Liverpool</a:t>
              </a:r>
            </a:p>
          </p:txBody>
        </p:sp>
        <p:sp>
          <p:nvSpPr>
            <p:cNvPr id="43058" name="Text Box 28">
              <a:extLst>
                <a:ext uri="{FF2B5EF4-FFF2-40B4-BE49-F238E27FC236}">
                  <a16:creationId xmlns:a16="http://schemas.microsoft.com/office/drawing/2014/main" id="{9725E5AC-960D-5933-96FF-345DD4689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2246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</p:grpSp>
      <p:sp>
        <p:nvSpPr>
          <p:cNvPr id="459805" name="Text Box 29">
            <a:extLst>
              <a:ext uri="{FF2B5EF4-FFF2-40B4-BE49-F238E27FC236}">
                <a16:creationId xmlns:a16="http://schemas.microsoft.com/office/drawing/2014/main" id="{EC97C056-C295-A691-2D7E-A31DCE02B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3367088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cs typeface="Times New Roman" panose="02020603050405020304" pitchFamily="18" charset="0"/>
              </a:rPr>
              <a:t>Possible order of visits:</a:t>
            </a:r>
          </a:p>
        </p:txBody>
      </p:sp>
      <p:grpSp>
        <p:nvGrpSpPr>
          <p:cNvPr id="3" name="Group 78">
            <a:extLst>
              <a:ext uri="{FF2B5EF4-FFF2-40B4-BE49-F238E27FC236}">
                <a16:creationId xmlns:a16="http://schemas.microsoft.com/office/drawing/2014/main" id="{B9EFC2AD-C563-71C2-D72C-EA79D5837995}"/>
              </a:ext>
            </a:extLst>
          </p:cNvPr>
          <p:cNvGrpSpPr>
            <a:grpSpLocks/>
          </p:cNvGrpSpPr>
          <p:nvPr/>
        </p:nvGrpSpPr>
        <p:grpSpPr bwMode="auto">
          <a:xfrm>
            <a:off x="6875463" y="4005263"/>
            <a:ext cx="1873250" cy="1304925"/>
            <a:chOff x="4331" y="2523"/>
            <a:chExt cx="1180" cy="822"/>
          </a:xfrm>
        </p:grpSpPr>
        <p:sp>
          <p:nvSpPr>
            <p:cNvPr id="43055" name="Text Box 31">
              <a:extLst>
                <a:ext uri="{FF2B5EF4-FFF2-40B4-BE49-F238E27FC236}">
                  <a16:creationId xmlns:a16="http://schemas.microsoft.com/office/drawing/2014/main" id="{D37EEE8E-59D7-D6D8-B618-422F1DF62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3153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3056" name="Text Box 32">
              <a:extLst>
                <a:ext uri="{FF2B5EF4-FFF2-40B4-BE49-F238E27FC236}">
                  <a16:creationId xmlns:a16="http://schemas.microsoft.com/office/drawing/2014/main" id="{54071BC3-0A7A-9A3E-70F3-5C6956B57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523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London</a:t>
              </a:r>
            </a:p>
          </p:txBody>
        </p:sp>
      </p:grpSp>
      <p:grpSp>
        <p:nvGrpSpPr>
          <p:cNvPr id="4" name="Group 79">
            <a:extLst>
              <a:ext uri="{FF2B5EF4-FFF2-40B4-BE49-F238E27FC236}">
                <a16:creationId xmlns:a16="http://schemas.microsoft.com/office/drawing/2014/main" id="{1BF6E170-1601-F89B-2697-52DED9BB5B74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306888"/>
            <a:ext cx="4105275" cy="985837"/>
            <a:chOff x="2925" y="2713"/>
            <a:chExt cx="2586" cy="621"/>
          </a:xfrm>
        </p:grpSpPr>
        <p:sp>
          <p:nvSpPr>
            <p:cNvPr id="43053" name="Text Box 34">
              <a:extLst>
                <a:ext uri="{FF2B5EF4-FFF2-40B4-BE49-F238E27FC236}">
                  <a16:creationId xmlns:a16="http://schemas.microsoft.com/office/drawing/2014/main" id="{CEEA9C27-72FE-7F85-DFA3-BFE81E8D7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142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3054" name="Text Box 35">
              <a:extLst>
                <a:ext uri="{FF2B5EF4-FFF2-40B4-BE49-F238E27FC236}">
                  <a16:creationId xmlns:a16="http://schemas.microsoft.com/office/drawing/2014/main" id="{FE2685B6-0168-AD72-B1FC-4C1F2F782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713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Bristol</a:t>
              </a:r>
            </a:p>
          </p:txBody>
        </p:sp>
      </p:grpSp>
      <p:grpSp>
        <p:nvGrpSpPr>
          <p:cNvPr id="5" name="Group 82">
            <a:extLst>
              <a:ext uri="{FF2B5EF4-FFF2-40B4-BE49-F238E27FC236}">
                <a16:creationId xmlns:a16="http://schemas.microsoft.com/office/drawing/2014/main" id="{11A13A2D-3AC5-8093-8480-47C6F4568D2F}"/>
              </a:ext>
            </a:extLst>
          </p:cNvPr>
          <p:cNvGrpSpPr>
            <a:grpSpLocks/>
          </p:cNvGrpSpPr>
          <p:nvPr/>
        </p:nvGrpSpPr>
        <p:grpSpPr bwMode="auto">
          <a:xfrm>
            <a:off x="3201988" y="4987925"/>
            <a:ext cx="5510212" cy="385763"/>
            <a:chOff x="2017" y="3142"/>
            <a:chExt cx="3471" cy="243"/>
          </a:xfrm>
        </p:grpSpPr>
        <p:sp>
          <p:nvSpPr>
            <p:cNvPr id="43051" name="Text Box 37">
              <a:extLst>
                <a:ext uri="{FF2B5EF4-FFF2-40B4-BE49-F238E27FC236}">
                  <a16:creationId xmlns:a16="http://schemas.microsoft.com/office/drawing/2014/main" id="{FFE86A45-3EDD-19C2-6625-BEC3BD349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" y="3142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3052" name="Text Box 38">
              <a:extLst>
                <a:ext uri="{FF2B5EF4-FFF2-40B4-BE49-F238E27FC236}">
                  <a16:creationId xmlns:a16="http://schemas.microsoft.com/office/drawing/2014/main" id="{44E5F6FD-A0B7-8CB2-2E31-469E2EE6B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3241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Swansea</a:t>
              </a:r>
            </a:p>
          </p:txBody>
        </p:sp>
      </p:grpSp>
      <p:grpSp>
        <p:nvGrpSpPr>
          <p:cNvPr id="6" name="Group 80">
            <a:extLst>
              <a:ext uri="{FF2B5EF4-FFF2-40B4-BE49-F238E27FC236}">
                <a16:creationId xmlns:a16="http://schemas.microsoft.com/office/drawing/2014/main" id="{47D33F2A-DA34-3F97-8594-4BB07C5BBB84}"/>
              </a:ext>
            </a:extLst>
          </p:cNvPr>
          <p:cNvGrpSpPr>
            <a:grpSpLocks/>
          </p:cNvGrpSpPr>
          <p:nvPr/>
        </p:nvGrpSpPr>
        <p:grpSpPr bwMode="auto">
          <a:xfrm>
            <a:off x="4714875" y="4286250"/>
            <a:ext cx="4033838" cy="523875"/>
            <a:chOff x="2970" y="2700"/>
            <a:chExt cx="2541" cy="330"/>
          </a:xfrm>
        </p:grpSpPr>
        <p:sp>
          <p:nvSpPr>
            <p:cNvPr id="43049" name="Text Box 40">
              <a:extLst>
                <a:ext uri="{FF2B5EF4-FFF2-40B4-BE49-F238E27FC236}">
                  <a16:creationId xmlns:a16="http://schemas.microsoft.com/office/drawing/2014/main" id="{3DC62B6D-7433-860E-E6DF-D554383A1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" y="2700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3050" name="Text Box 41">
              <a:extLst>
                <a:ext uri="{FF2B5EF4-FFF2-40B4-BE49-F238E27FC236}">
                  <a16:creationId xmlns:a16="http://schemas.microsoft.com/office/drawing/2014/main" id="{6C7C3B01-CE6B-72DD-9BC5-06A9B17FF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886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Birmingham</a:t>
              </a:r>
            </a:p>
          </p:txBody>
        </p:sp>
      </p:grpSp>
      <p:grpSp>
        <p:nvGrpSpPr>
          <p:cNvPr id="7" name="Group 83">
            <a:extLst>
              <a:ext uri="{FF2B5EF4-FFF2-40B4-BE49-F238E27FC236}">
                <a16:creationId xmlns:a16="http://schemas.microsoft.com/office/drawing/2014/main" id="{31433A24-C15C-F65B-F3AF-1A26335A474D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3565525"/>
            <a:ext cx="4032250" cy="2095500"/>
            <a:chOff x="2971" y="2246"/>
            <a:chExt cx="2540" cy="1320"/>
          </a:xfrm>
        </p:grpSpPr>
        <p:sp>
          <p:nvSpPr>
            <p:cNvPr id="43047" name="Text Box 43">
              <a:extLst>
                <a:ext uri="{FF2B5EF4-FFF2-40B4-BE49-F238E27FC236}">
                  <a16:creationId xmlns:a16="http://schemas.microsoft.com/office/drawing/2014/main" id="{F0437E14-4430-18EB-3D9E-E7D67989A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2246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3048" name="Text Box 44">
              <a:extLst>
                <a:ext uri="{FF2B5EF4-FFF2-40B4-BE49-F238E27FC236}">
                  <a16:creationId xmlns:a16="http://schemas.microsoft.com/office/drawing/2014/main" id="{63086D14-EB47-513E-2B73-AF9B012AA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422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Manchester</a:t>
              </a:r>
            </a:p>
          </p:txBody>
        </p:sp>
      </p:grpSp>
      <p:grpSp>
        <p:nvGrpSpPr>
          <p:cNvPr id="8" name="Group 84">
            <a:extLst>
              <a:ext uri="{FF2B5EF4-FFF2-40B4-BE49-F238E27FC236}">
                <a16:creationId xmlns:a16="http://schemas.microsoft.com/office/drawing/2014/main" id="{CBE808A3-6FA3-835E-EB01-751A556A9FE9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565525"/>
            <a:ext cx="2592388" cy="2384425"/>
            <a:chOff x="3878" y="2246"/>
            <a:chExt cx="1633" cy="1502"/>
          </a:xfrm>
        </p:grpSpPr>
        <p:sp>
          <p:nvSpPr>
            <p:cNvPr id="43045" name="Text Box 46">
              <a:extLst>
                <a:ext uri="{FF2B5EF4-FFF2-40B4-BE49-F238E27FC236}">
                  <a16:creationId xmlns:a16="http://schemas.microsoft.com/office/drawing/2014/main" id="{255F1FAB-1CC3-2DA6-3DDF-93012F7FE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246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3046" name="Text Box 47">
              <a:extLst>
                <a:ext uri="{FF2B5EF4-FFF2-40B4-BE49-F238E27FC236}">
                  <a16:creationId xmlns:a16="http://schemas.microsoft.com/office/drawing/2014/main" id="{94109FAC-7483-6532-1D64-7FCD67440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604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Leeds</a:t>
              </a:r>
            </a:p>
          </p:txBody>
        </p:sp>
      </p:grpSp>
      <p:grpSp>
        <p:nvGrpSpPr>
          <p:cNvPr id="9" name="Group 81">
            <a:extLst>
              <a:ext uri="{FF2B5EF4-FFF2-40B4-BE49-F238E27FC236}">
                <a16:creationId xmlns:a16="http://schemas.microsoft.com/office/drawing/2014/main" id="{C644512C-083D-C7ED-1D6F-4D9926E5193D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286250"/>
            <a:ext cx="2592388" cy="798513"/>
            <a:chOff x="3878" y="2700"/>
            <a:chExt cx="1633" cy="503"/>
          </a:xfrm>
        </p:grpSpPr>
        <p:sp>
          <p:nvSpPr>
            <p:cNvPr id="43043" name="Text Box 49">
              <a:extLst>
                <a:ext uri="{FF2B5EF4-FFF2-40B4-BE49-F238E27FC236}">
                  <a16:creationId xmlns:a16="http://schemas.microsoft.com/office/drawing/2014/main" id="{EEC7D781-8991-D0C6-5174-7622A334F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700"/>
              <a:ext cx="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</a:p>
          </p:txBody>
        </p:sp>
        <p:sp>
          <p:nvSpPr>
            <p:cNvPr id="43044" name="Text Box 50">
              <a:extLst>
                <a:ext uri="{FF2B5EF4-FFF2-40B4-BE49-F238E27FC236}">
                  <a16:creationId xmlns:a16="http://schemas.microsoft.com/office/drawing/2014/main" id="{7EEA11A8-8BEC-DA15-9823-D4F274542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059"/>
              <a:ext cx="77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cs typeface="Times New Roman" panose="02020603050405020304" pitchFamily="18" charset="0"/>
                </a:rPr>
                <a:t>Rugby</a:t>
              </a:r>
            </a:p>
          </p:txBody>
        </p:sp>
      </p:grpSp>
      <p:grpSp>
        <p:nvGrpSpPr>
          <p:cNvPr id="10" name="Group 86">
            <a:extLst>
              <a:ext uri="{FF2B5EF4-FFF2-40B4-BE49-F238E27FC236}">
                <a16:creationId xmlns:a16="http://schemas.microsoft.com/office/drawing/2014/main" id="{9AAFBDEE-E1F0-1574-3BBF-C141B74EA9E2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3575050"/>
            <a:ext cx="5827713" cy="1978025"/>
            <a:chOff x="838" y="2189"/>
            <a:chExt cx="3671" cy="1246"/>
          </a:xfrm>
        </p:grpSpPr>
        <p:sp>
          <p:nvSpPr>
            <p:cNvPr id="43022" name="Line 87">
              <a:extLst>
                <a:ext uri="{FF2B5EF4-FFF2-40B4-BE49-F238E27FC236}">
                  <a16:creationId xmlns:a16="http://schemas.microsoft.com/office/drawing/2014/main" id="{449A3FE8-2BE8-4940-DACD-EB158F6AE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470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3" name="Line 88">
              <a:extLst>
                <a:ext uri="{FF2B5EF4-FFF2-40B4-BE49-F238E27FC236}">
                  <a16:creationId xmlns:a16="http://schemas.microsoft.com/office/drawing/2014/main" id="{4AD0C287-89F7-6DDC-24B2-4C26BE9B7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923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4" name="Line 89">
              <a:extLst>
                <a:ext uri="{FF2B5EF4-FFF2-40B4-BE49-F238E27FC236}">
                  <a16:creationId xmlns:a16="http://schemas.microsoft.com/office/drawing/2014/main" id="{F085DE36-1891-D8AE-7BE8-1B2AE9B62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2470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5" name="Line 90">
              <a:extLst>
                <a:ext uri="{FF2B5EF4-FFF2-40B4-BE49-F238E27FC236}">
                  <a16:creationId xmlns:a16="http://schemas.microsoft.com/office/drawing/2014/main" id="{250E5AD3-AAE1-6DC1-72A0-E87BFF73A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2923"/>
              <a:ext cx="454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6" name="Line 91">
              <a:extLst>
                <a:ext uri="{FF2B5EF4-FFF2-40B4-BE49-F238E27FC236}">
                  <a16:creationId xmlns:a16="http://schemas.microsoft.com/office/drawing/2014/main" id="{CD8C3602-4C88-6CBD-39EE-FCFB3F06B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2279"/>
              <a:ext cx="0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7" name="Line 92">
              <a:extLst>
                <a:ext uri="{FF2B5EF4-FFF2-40B4-BE49-F238E27FC236}">
                  <a16:creationId xmlns:a16="http://schemas.microsoft.com/office/drawing/2014/main" id="{B3D3068C-C454-1F04-AC63-F28F36847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2" y="2469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8" name="Line 93">
              <a:extLst>
                <a:ext uri="{FF2B5EF4-FFF2-40B4-BE49-F238E27FC236}">
                  <a16:creationId xmlns:a16="http://schemas.microsoft.com/office/drawing/2014/main" id="{DC4D14D7-5270-D75E-8C8F-F285CF361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469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9" name="Line 94">
              <a:extLst>
                <a:ext uri="{FF2B5EF4-FFF2-40B4-BE49-F238E27FC236}">
                  <a16:creationId xmlns:a16="http://schemas.microsoft.com/office/drawing/2014/main" id="{4809DD70-EBDF-F3F2-E498-57680ED12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923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0" name="Line 95">
              <a:extLst>
                <a:ext uri="{FF2B5EF4-FFF2-40B4-BE49-F238E27FC236}">
                  <a16:creationId xmlns:a16="http://schemas.microsoft.com/office/drawing/2014/main" id="{41E40943-823C-D599-4965-682B3DDEF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2" y="3377"/>
              <a:ext cx="907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1" name="Line 96">
              <a:extLst>
                <a:ext uri="{FF2B5EF4-FFF2-40B4-BE49-F238E27FC236}">
                  <a16:creationId xmlns:a16="http://schemas.microsoft.com/office/drawing/2014/main" id="{E9EE8B79-3D71-429F-672F-E44432273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3376"/>
              <a:ext cx="1361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2" name="Line 97">
              <a:extLst>
                <a:ext uri="{FF2B5EF4-FFF2-40B4-BE49-F238E27FC236}">
                  <a16:creationId xmlns:a16="http://schemas.microsoft.com/office/drawing/2014/main" id="{6DED2BE4-7702-85D7-F06B-70DF9C4DD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2923"/>
              <a:ext cx="1361" cy="45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3" name="Text Box 98">
              <a:extLst>
                <a:ext uri="{FF2B5EF4-FFF2-40B4-BE49-F238E27FC236}">
                  <a16:creationId xmlns:a16="http://schemas.microsoft.com/office/drawing/2014/main" id="{B740DA5D-6E55-7101-756D-F10904128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3278"/>
              <a:ext cx="540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London</a:t>
              </a:r>
              <a:endParaRPr lang="en-US" altLang="en-US" sz="1800"/>
            </a:p>
          </p:txBody>
        </p:sp>
        <p:sp>
          <p:nvSpPr>
            <p:cNvPr id="43034" name="Text Box 99">
              <a:extLst>
                <a:ext uri="{FF2B5EF4-FFF2-40B4-BE49-F238E27FC236}">
                  <a16:creationId xmlns:a16="http://schemas.microsoft.com/office/drawing/2014/main" id="{23DA9A29-3CE8-37E3-BA55-BA7735E5F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2370"/>
              <a:ext cx="814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Manchester</a:t>
              </a:r>
              <a:endParaRPr lang="en-US" altLang="en-US" sz="1800"/>
            </a:p>
          </p:txBody>
        </p:sp>
        <p:sp>
          <p:nvSpPr>
            <p:cNvPr id="43035" name="Text Box 100">
              <a:extLst>
                <a:ext uri="{FF2B5EF4-FFF2-40B4-BE49-F238E27FC236}">
                  <a16:creationId xmlns:a16="http://schemas.microsoft.com/office/drawing/2014/main" id="{B7B7A9EB-0CF1-7F66-8F9B-218F463CD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824"/>
              <a:ext cx="862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Birmingham</a:t>
              </a:r>
              <a:endParaRPr lang="en-US" altLang="en-US" sz="1800"/>
            </a:p>
          </p:txBody>
        </p:sp>
        <p:sp>
          <p:nvSpPr>
            <p:cNvPr id="43036" name="Text Box 101">
              <a:extLst>
                <a:ext uri="{FF2B5EF4-FFF2-40B4-BE49-F238E27FC236}">
                  <a16:creationId xmlns:a16="http://schemas.microsoft.com/office/drawing/2014/main" id="{9BC4FDD2-12A0-7A9E-4089-8756622DB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" y="3285"/>
              <a:ext cx="456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Bristol</a:t>
              </a:r>
              <a:endParaRPr lang="en-US" altLang="en-US" sz="1800"/>
            </a:p>
          </p:txBody>
        </p:sp>
        <p:sp>
          <p:nvSpPr>
            <p:cNvPr id="43037" name="Text Box 102">
              <a:extLst>
                <a:ext uri="{FF2B5EF4-FFF2-40B4-BE49-F238E27FC236}">
                  <a16:creationId xmlns:a16="http://schemas.microsoft.com/office/drawing/2014/main" id="{D065B962-297A-6406-A44D-2F642BD75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278"/>
              <a:ext cx="634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Swansea</a:t>
              </a:r>
              <a:endParaRPr lang="en-US" altLang="en-US" sz="1800"/>
            </a:p>
          </p:txBody>
        </p:sp>
        <p:sp>
          <p:nvSpPr>
            <p:cNvPr id="43038" name="Text Box 103">
              <a:extLst>
                <a:ext uri="{FF2B5EF4-FFF2-40B4-BE49-F238E27FC236}">
                  <a16:creationId xmlns:a16="http://schemas.microsoft.com/office/drawing/2014/main" id="{8A48AEEF-A341-447F-3A8C-BDFBFFF6B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2379"/>
              <a:ext cx="635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Liverpool</a:t>
              </a:r>
              <a:endParaRPr lang="en-US" altLang="en-US" sz="1800"/>
            </a:p>
          </p:txBody>
        </p:sp>
        <p:sp>
          <p:nvSpPr>
            <p:cNvPr id="43039" name="Text Box 104">
              <a:extLst>
                <a:ext uri="{FF2B5EF4-FFF2-40B4-BE49-F238E27FC236}">
                  <a16:creationId xmlns:a16="http://schemas.microsoft.com/office/drawing/2014/main" id="{E546E5CF-250D-9E23-1507-0465AB429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2370"/>
              <a:ext cx="452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Leeds</a:t>
              </a:r>
              <a:endParaRPr lang="en-US" altLang="en-US" sz="1800"/>
            </a:p>
          </p:txBody>
        </p:sp>
        <p:sp>
          <p:nvSpPr>
            <p:cNvPr id="43040" name="Text Box 105">
              <a:extLst>
                <a:ext uri="{FF2B5EF4-FFF2-40B4-BE49-F238E27FC236}">
                  <a16:creationId xmlns:a16="http://schemas.microsoft.com/office/drawing/2014/main" id="{51D41BBD-F9F5-E678-0795-7E46FDFAF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824"/>
              <a:ext cx="494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Rugby</a:t>
              </a:r>
              <a:endParaRPr lang="en-US" altLang="en-US" sz="1800"/>
            </a:p>
          </p:txBody>
        </p:sp>
        <p:sp>
          <p:nvSpPr>
            <p:cNvPr id="43041" name="Text Box 106">
              <a:extLst>
                <a:ext uri="{FF2B5EF4-FFF2-40B4-BE49-F238E27FC236}">
                  <a16:creationId xmlns:a16="http://schemas.microsoft.com/office/drawing/2014/main" id="{96537829-CA05-7D40-2C33-B5F3E0450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2643"/>
              <a:ext cx="453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Dublin</a:t>
              </a:r>
              <a:endParaRPr lang="en-US" altLang="en-US" sz="1800"/>
            </a:p>
          </p:txBody>
        </p:sp>
        <p:sp>
          <p:nvSpPr>
            <p:cNvPr id="43042" name="Text Box 107">
              <a:extLst>
                <a:ext uri="{FF2B5EF4-FFF2-40B4-BE49-F238E27FC236}">
                  <a16:creationId xmlns:a16="http://schemas.microsoft.com/office/drawing/2014/main" id="{CD2B2089-7714-865F-1B00-DE1034B0B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2189"/>
              <a:ext cx="453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Belfast</a:t>
              </a:r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8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BABAA85-B718-A255-EBE1-F0DDF98FD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Breadth-first traversal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7BAFBE6-4ED5-EFD2-6C15-D9FBB2507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882775" algn="l"/>
              </a:tabLst>
            </a:pPr>
            <a:r>
              <a:rPr lang="en-GB" altLang="en-US" b="1"/>
              <a:t>Breadth-first graph traversal algorithm</a:t>
            </a:r>
            <a:r>
              <a:rPr lang="en-GB" altLang="en-US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882775" algn="l"/>
              </a:tabLst>
            </a:pPr>
            <a:r>
              <a:rPr lang="en-GB" altLang="en-US" sz="2000">
                <a:latin typeface="Times New Roman" panose="02020603050405020304" pitchFamily="18" charset="0"/>
              </a:rPr>
              <a:t>	To traverse graph </a:t>
            </a:r>
            <a:r>
              <a:rPr lang="en-GB" altLang="en-US" sz="2000" i="1">
                <a:latin typeface="Times New Roman" panose="02020603050405020304" pitchFamily="18" charset="0"/>
              </a:rPr>
              <a:t>g</a:t>
            </a:r>
            <a:r>
              <a:rPr lang="en-GB" altLang="en-US" sz="2000">
                <a:latin typeface="Times New Roman" panose="02020603050405020304" pitchFamily="18" charset="0"/>
              </a:rPr>
              <a:t> in breadth-first order, starting at vertex 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882775" algn="l"/>
              </a:tabLst>
            </a:pPr>
            <a:r>
              <a:rPr lang="en-GB" altLang="en-US" sz="2000">
                <a:latin typeface="Times New Roman" panose="02020603050405020304" pitchFamily="18" charset="0"/>
              </a:rPr>
              <a:t>	1.	Make </a:t>
            </a:r>
            <a:r>
              <a:rPr lang="en-GB" altLang="en-US" sz="2000" i="1">
                <a:latin typeface="Times New Roman" panose="02020603050405020304" pitchFamily="18" charset="0"/>
              </a:rPr>
              <a:t>vertex-queue</a:t>
            </a:r>
            <a:r>
              <a:rPr lang="en-GB" altLang="en-US" sz="2000">
                <a:latin typeface="Times New Roman" panose="02020603050405020304" pitchFamily="18" charset="0"/>
              </a:rPr>
              <a:t> contain only vertex 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, and mark 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 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as reached.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2.	While </a:t>
            </a:r>
            <a:r>
              <a:rPr lang="en-GB" altLang="en-US" sz="2000" i="1">
                <a:latin typeface="Times New Roman" panose="02020603050405020304" pitchFamily="18" charset="0"/>
              </a:rPr>
              <a:t>vertex-queue</a:t>
            </a:r>
            <a:r>
              <a:rPr lang="en-GB" altLang="en-US" sz="2000">
                <a:latin typeface="Times New Roman" panose="02020603050405020304" pitchFamily="18" charset="0"/>
              </a:rPr>
              <a:t> is not empty, repeat: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2.1.	Remove the front element of </a:t>
            </a:r>
            <a:r>
              <a:rPr lang="en-GB" altLang="en-US" sz="2000" i="1">
                <a:latin typeface="Times New Roman" panose="02020603050405020304" pitchFamily="18" charset="0"/>
              </a:rPr>
              <a:t>vertex-queue</a:t>
            </a:r>
            <a:r>
              <a:rPr lang="en-GB" altLang="en-US" sz="2000">
                <a:latin typeface="Times New Roman" panose="02020603050405020304" pitchFamily="18" charset="0"/>
              </a:rPr>
              <a:t> into </a:t>
            </a:r>
            <a:r>
              <a:rPr lang="en-GB" altLang="en-US" sz="2000" i="1">
                <a:latin typeface="Times New Roman" panose="02020603050405020304" pitchFamily="18" charset="0"/>
              </a:rPr>
              <a:t>v</a:t>
            </a:r>
            <a:r>
              <a:rPr lang="en-GB" altLang="en-US" sz="2000">
                <a:latin typeface="Times New Roman" panose="02020603050405020304" pitchFamily="18" charset="0"/>
              </a:rPr>
              <a:t>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2.2.	Visit vertex </a:t>
            </a:r>
            <a:r>
              <a:rPr lang="en-GB" altLang="en-US" sz="2000" i="1">
                <a:latin typeface="Times New Roman" panose="02020603050405020304" pitchFamily="18" charset="0"/>
              </a:rPr>
              <a:t>v</a:t>
            </a:r>
            <a:r>
              <a:rPr lang="en-GB" altLang="en-US" sz="2000">
                <a:latin typeface="Times New Roman" panose="02020603050405020304" pitchFamily="18" charset="0"/>
              </a:rPr>
              <a:t>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2.3.	For each unreached successor </a:t>
            </a:r>
            <a:r>
              <a:rPr lang="en-GB" altLang="en-US" sz="2000" i="1">
                <a:latin typeface="Times New Roman" panose="02020603050405020304" pitchFamily="18" charset="0"/>
              </a:rPr>
              <a:t>w</a:t>
            </a:r>
            <a:r>
              <a:rPr lang="en-GB" altLang="en-US" sz="2000">
                <a:latin typeface="Times New Roman" panose="02020603050405020304" pitchFamily="18" charset="0"/>
              </a:rPr>
              <a:t> of vertex </a:t>
            </a:r>
            <a:r>
              <a:rPr lang="en-GB" altLang="en-US" sz="2000" i="1">
                <a:latin typeface="Times New Roman" panose="02020603050405020304" pitchFamily="18" charset="0"/>
              </a:rPr>
              <a:t>v</a:t>
            </a:r>
            <a:r>
              <a:rPr lang="en-GB" altLang="en-US" sz="2000">
                <a:latin typeface="Times New Roman" panose="02020603050405020304" pitchFamily="18" charset="0"/>
              </a:rPr>
              <a:t>, repeat: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2.3.1.	Add vertex </a:t>
            </a:r>
            <a:r>
              <a:rPr lang="en-GB" altLang="en-US" sz="2000" i="1">
                <a:latin typeface="Times New Roman" panose="02020603050405020304" pitchFamily="18" charset="0"/>
              </a:rPr>
              <a:t>w</a:t>
            </a:r>
            <a:r>
              <a:rPr lang="en-GB" altLang="en-US" sz="2000">
                <a:latin typeface="Times New Roman" panose="02020603050405020304" pitchFamily="18" charset="0"/>
              </a:rPr>
              <a:t> to </a:t>
            </a:r>
            <a:r>
              <a:rPr lang="en-GB" altLang="en-US" sz="2000" i="1">
                <a:latin typeface="Times New Roman" panose="02020603050405020304" pitchFamily="18" charset="0"/>
              </a:rPr>
              <a:t>vertex-queue</a:t>
            </a:r>
            <a:r>
              <a:rPr lang="en-GB" altLang="en-US" sz="2000">
                <a:latin typeface="Times New Roman" panose="02020603050405020304" pitchFamily="18" charset="0"/>
              </a:rPr>
              <a:t>, and mark </a:t>
            </a:r>
            <a:r>
              <a:rPr lang="en-GB" altLang="en-US" sz="2000" i="1">
                <a:latin typeface="Times New Roman" panose="02020603050405020304" pitchFamily="18" charset="0"/>
              </a:rPr>
              <a:t>w</a:t>
            </a:r>
            <a:r>
              <a:rPr lang="en-GB" altLang="en-US" sz="2000">
                <a:latin typeface="Times New Roman" panose="02020603050405020304" pitchFamily="18" charset="0"/>
              </a:rPr>
              <a:t> as 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	reached.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3.	Terminate.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72C9B5F-B401-65F4-4DC5-23AD2B052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search </a:t>
            </a:r>
            <a:r>
              <a:rPr lang="en-US" altLang="en-US" i="1"/>
              <a:t>(1)</a:t>
            </a:r>
            <a:endParaRPr lang="en-GB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0593FFD-833A-21A6-F45B-D37B927AF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/>
              <a:t>A </a:t>
            </a:r>
            <a:r>
              <a:rPr lang="en-GB" altLang="en-US" b="1"/>
              <a:t>graph</a:t>
            </a:r>
            <a:r>
              <a:rPr lang="en-GB" altLang="en-US"/>
              <a:t> </a:t>
            </a:r>
            <a:r>
              <a:rPr lang="en-GB" altLang="en-US" b="1"/>
              <a:t>search</a:t>
            </a:r>
            <a:r>
              <a:rPr lang="en-GB" altLang="en-US"/>
              <a:t> problem entails finding a path between two given vertices. E.g.:</a:t>
            </a:r>
          </a:p>
          <a:p>
            <a:pPr lvl="1" eaLnBrk="1" hangingPunct="1"/>
            <a:r>
              <a:rPr lang="en-GB" altLang="en-US"/>
              <a:t>Is there a road route from Glasgow to Dublin?</a:t>
            </a:r>
          </a:p>
          <a:p>
            <a:pPr lvl="1" eaLnBrk="1" hangingPunct="1"/>
            <a:r>
              <a:rPr lang="en-GB" altLang="en-US"/>
              <a:t>What is the length of the shortest route from Glasgow to London?</a:t>
            </a:r>
          </a:p>
          <a:p>
            <a:pPr eaLnBrk="1" hangingPunct="1"/>
            <a:r>
              <a:rPr lang="en-GB" altLang="en-US"/>
              <a:t>Graph search algorithms are similar to graph traversal algorithms, except that they terminate as soon as a solution is found.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27FC624-27B6-8550-26C0-CE444078BB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search </a:t>
            </a:r>
            <a:r>
              <a:rPr lang="en-US" altLang="en-US" i="1"/>
              <a:t>(2)</a:t>
            </a:r>
            <a:endParaRPr lang="en-GB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72B399D-7387-A9F0-7E88-B216EDB44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b="1"/>
              <a:t>Depth-first search</a:t>
            </a:r>
            <a:r>
              <a:rPr lang="en-GB" altLang="en-US"/>
              <a:t> will explore one possible path as far as possible, before exploring any alternative paths.</a:t>
            </a:r>
          </a:p>
          <a:p>
            <a:pPr eaLnBrk="1" hangingPunct="1"/>
            <a:r>
              <a:rPr lang="en-GB" altLang="en-US" b="1"/>
              <a:t>Breadth-first search</a:t>
            </a:r>
            <a:r>
              <a:rPr lang="en-GB" altLang="en-US"/>
              <a:t> will explore shorter paths before longer paths.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B27C8D1-5110-6F7E-9B7C-411BF3837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Shortest path </a:t>
            </a:r>
            <a:r>
              <a:rPr lang="en-US" altLang="en-US" i="1"/>
              <a:t>(1)</a:t>
            </a:r>
            <a:endParaRPr lang="en-GB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346557D-6396-DA7E-5D35-B78B051CB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Problem: Given a road network, find the shortest path between place </a:t>
            </a:r>
            <a:r>
              <a:rPr lang="en-US" altLang="en-US" i="1"/>
              <a:t>start</a:t>
            </a:r>
            <a:r>
              <a:rPr lang="en-US" altLang="en-US"/>
              <a:t> and place </a:t>
            </a:r>
            <a:r>
              <a:rPr lang="en-US" altLang="en-US" i="1"/>
              <a:t>dest</a:t>
            </a:r>
            <a:r>
              <a:rPr lang="en-US" altLang="en-US"/>
              <a:t>.</a:t>
            </a:r>
          </a:p>
          <a:p>
            <a:pPr eaLnBrk="1" hangingPunct="1"/>
            <a:r>
              <a:rPr lang="en-GB" altLang="en-US"/>
              <a:t>Idea:</a:t>
            </a:r>
          </a:p>
          <a:p>
            <a:pPr lvl="1" eaLnBrk="1" hangingPunct="1"/>
            <a:r>
              <a:rPr lang="en-GB" altLang="en-US"/>
              <a:t>Use breadth-first search.</a:t>
            </a:r>
          </a:p>
          <a:p>
            <a:pPr lvl="1" eaLnBrk="1" hangingPunct="1"/>
            <a:r>
              <a:rPr lang="en-GB" altLang="en-US"/>
              <a:t>For each place </a:t>
            </a:r>
            <a:r>
              <a:rPr lang="en-GB" altLang="en-US" i="1"/>
              <a:t>p</a:t>
            </a:r>
            <a:r>
              <a:rPr lang="en-GB" altLang="en-US"/>
              <a:t>, let </a:t>
            </a:r>
            <a:r>
              <a:rPr lang="en-GB" altLang="en-US" i="1"/>
              <a:t>pred</a:t>
            </a:r>
            <a:r>
              <a:rPr lang="en-GB" altLang="en-US"/>
              <a:t>[</a:t>
            </a:r>
            <a:r>
              <a:rPr lang="en-GB" altLang="en-US" i="1"/>
              <a:t>p</a:t>
            </a:r>
            <a:r>
              <a:rPr lang="en-GB" altLang="en-US"/>
              <a:t>] be the predecessor of </a:t>
            </a:r>
            <a:r>
              <a:rPr lang="en-GB" altLang="en-US" i="1"/>
              <a:t>p</a:t>
            </a:r>
            <a:r>
              <a:rPr lang="en-GB" altLang="en-US"/>
              <a:t> on the shortest path so far found from </a:t>
            </a:r>
            <a:r>
              <a:rPr lang="en-GB" altLang="en-US" i="1"/>
              <a:t>start</a:t>
            </a:r>
            <a:r>
              <a:rPr lang="en-GB" altLang="en-US"/>
              <a:t> to </a:t>
            </a:r>
            <a:r>
              <a:rPr lang="en-GB" altLang="en-US" i="1"/>
              <a:t>p</a:t>
            </a:r>
            <a:r>
              <a:rPr lang="en-GB" altLang="en-US"/>
              <a:t>, and let </a:t>
            </a:r>
            <a:r>
              <a:rPr lang="en-GB" altLang="en-US" i="1"/>
              <a:t>dist</a:t>
            </a:r>
            <a:r>
              <a:rPr lang="en-GB" altLang="en-US"/>
              <a:t>[</a:t>
            </a:r>
            <a:r>
              <a:rPr lang="en-GB" altLang="en-US" i="1"/>
              <a:t>p</a:t>
            </a:r>
            <a:r>
              <a:rPr lang="en-GB" altLang="en-US"/>
              <a:t>] be the distance along that path.</a:t>
            </a:r>
          </a:p>
          <a:p>
            <a:pPr lvl="1" eaLnBrk="1" hangingPunct="1"/>
            <a:r>
              <a:rPr lang="en-GB" altLang="en-US"/>
              <a:t>Initialize each </a:t>
            </a:r>
            <a:r>
              <a:rPr lang="en-GB" altLang="en-US" i="1"/>
              <a:t>dist</a:t>
            </a:r>
            <a:r>
              <a:rPr lang="en-GB" altLang="en-US"/>
              <a:t>[</a:t>
            </a:r>
            <a:r>
              <a:rPr lang="en-GB" altLang="en-US" i="1"/>
              <a:t>p</a:t>
            </a:r>
            <a:r>
              <a:rPr lang="en-GB" altLang="en-US"/>
              <a:t>] to </a:t>
            </a:r>
            <a:r>
              <a:rPr lang="en-GB" altLang="en-US">
                <a:sym typeface="Symbol" pitchFamily="2" charset="2"/>
              </a:rPr>
              <a:t></a:t>
            </a:r>
            <a:r>
              <a:rPr lang="en-GB" altLang="en-US"/>
              <a:t> (infinity).</a:t>
            </a:r>
          </a:p>
          <a:p>
            <a:pPr lvl="1" eaLnBrk="1" hangingPunct="1"/>
            <a:r>
              <a:rPr lang="en-GB" altLang="en-US"/>
              <a:t>Thereafter reduce </a:t>
            </a:r>
            <a:r>
              <a:rPr lang="en-GB" altLang="en-US" i="1"/>
              <a:t>dist</a:t>
            </a:r>
            <a:r>
              <a:rPr lang="en-GB" altLang="en-US"/>
              <a:t>[</a:t>
            </a:r>
            <a:r>
              <a:rPr lang="en-GB" altLang="en-US" i="1"/>
              <a:t>p</a:t>
            </a:r>
            <a:r>
              <a:rPr lang="en-GB" altLang="en-US"/>
              <a:t>] (and update </a:t>
            </a:r>
            <a:r>
              <a:rPr lang="en-GB" altLang="en-US" i="1"/>
              <a:t>pred</a:t>
            </a:r>
            <a:r>
              <a:rPr lang="en-GB" altLang="en-US"/>
              <a:t>[</a:t>
            </a:r>
            <a:r>
              <a:rPr lang="en-GB" altLang="en-US" i="1"/>
              <a:t>p</a:t>
            </a:r>
            <a:r>
              <a:rPr lang="en-GB" altLang="en-US"/>
              <a:t>]) whenever a shorter path to </a:t>
            </a:r>
            <a:r>
              <a:rPr lang="en-GB" altLang="en-US" i="1"/>
              <a:t>p</a:t>
            </a:r>
            <a:r>
              <a:rPr lang="en-GB" altLang="en-US"/>
              <a:t> is found.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0AA1B4D-E7F2-7DC3-D6D0-DA996146A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Shortest path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CC37E00-B232-A2BC-61C0-77AC65167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b="1"/>
              <a:t>Shortest-path algorithm</a:t>
            </a:r>
            <a:r>
              <a:rPr lang="en-US" altLang="en-US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 sz="2000">
                <a:latin typeface="Times New Roman" panose="02020603050405020304" pitchFamily="18" charset="0"/>
              </a:rPr>
              <a:t>	To find the shortest path through a road network from place </a:t>
            </a:r>
            <a:r>
              <a:rPr lang="en-US" altLang="en-US" sz="2000" i="1">
                <a:latin typeface="Times New Roman" panose="02020603050405020304" pitchFamily="18" charset="0"/>
              </a:rPr>
              <a:t>start</a:t>
            </a:r>
            <a:r>
              <a:rPr lang="en-US" altLang="en-US" sz="2000">
                <a:latin typeface="Times New Roman" panose="02020603050405020304" pitchFamily="18" charset="0"/>
              </a:rPr>
              <a:t> to place </a:t>
            </a:r>
            <a:r>
              <a:rPr lang="en-US" altLang="en-US" sz="2000" i="1">
                <a:latin typeface="Times New Roman" panose="02020603050405020304" pitchFamily="18" charset="0"/>
              </a:rPr>
              <a:t>dest</a:t>
            </a:r>
            <a:r>
              <a:rPr lang="en-US" altLang="en-US" sz="200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GB" altLang="en-US" sz="2000">
                <a:latin typeface="Times New Roman" panose="02020603050405020304" pitchFamily="18" charset="0"/>
              </a:rPr>
              <a:t>	1.	Make </a:t>
            </a:r>
            <a:r>
              <a:rPr lang="en-GB" altLang="en-US" sz="2000" i="1">
                <a:latin typeface="Times New Roman" panose="02020603050405020304" pitchFamily="18" charset="0"/>
              </a:rPr>
              <a:t>places</a:t>
            </a:r>
            <a:r>
              <a:rPr lang="en-GB" altLang="en-US" sz="2000">
                <a:latin typeface="Times New Roman" panose="02020603050405020304" pitchFamily="18" charset="0"/>
              </a:rPr>
              <a:t> contain all places in the road network.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2.	Set </a:t>
            </a:r>
            <a:r>
              <a:rPr lang="en-GB" altLang="en-US" sz="2000" i="1">
                <a:latin typeface="Times New Roman" panose="02020603050405020304" pitchFamily="18" charset="0"/>
              </a:rPr>
              <a:t>dist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] to 0 and set </a:t>
            </a:r>
            <a:r>
              <a:rPr lang="en-GB" altLang="en-US" sz="2000" i="1">
                <a:latin typeface="Times New Roman" panose="02020603050405020304" pitchFamily="18" charset="0"/>
              </a:rPr>
              <a:t>pred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] to </a:t>
            </a:r>
            <a:r>
              <a:rPr lang="en-GB" altLang="en-US" sz="2000" i="1">
                <a:latin typeface="Times New Roman" panose="02020603050405020304" pitchFamily="18" charset="0"/>
              </a:rPr>
              <a:t>none</a:t>
            </a:r>
            <a:r>
              <a:rPr lang="en-GB" altLang="en-US" sz="2000">
                <a:latin typeface="Times New Roman" panose="02020603050405020304" pitchFamily="18" charset="0"/>
              </a:rPr>
              <a:t>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3.	For each place 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 other than 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3.1.	Set </a:t>
            </a:r>
            <a:r>
              <a:rPr lang="en-GB" altLang="en-US" sz="2000" i="1">
                <a:latin typeface="Times New Roman" panose="02020603050405020304" pitchFamily="18" charset="0"/>
              </a:rPr>
              <a:t>dist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] to </a:t>
            </a:r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GB" altLang="en-US" sz="2000">
                <a:latin typeface="Times New Roman" panose="02020603050405020304" pitchFamily="18" charset="0"/>
              </a:rPr>
              <a:t> and set </a:t>
            </a:r>
            <a:r>
              <a:rPr lang="en-GB" altLang="en-US" sz="2000" i="1">
                <a:latin typeface="Times New Roman" panose="02020603050405020304" pitchFamily="18" charset="0"/>
              </a:rPr>
              <a:t>pred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] to </a:t>
            </a:r>
            <a:r>
              <a:rPr lang="en-GB" altLang="en-US" sz="2000" i="1">
                <a:latin typeface="Times New Roman" panose="02020603050405020304" pitchFamily="18" charset="0"/>
              </a:rPr>
              <a:t>none</a:t>
            </a:r>
            <a:r>
              <a:rPr lang="en-US" altLang="en-US" sz="2000">
                <a:latin typeface="Times New Roman" panose="02020603050405020304" pitchFamily="18" charset="0"/>
              </a:rPr>
              <a:t>.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4.	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4E35446-5E29-3929-ED71-9002CAC5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Shortest path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263ADD6-6969-8C4E-3704-35B0452F9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5713" algn="l"/>
                <a:tab pos="1979613" algn="l"/>
              </a:tabLst>
            </a:pPr>
            <a:r>
              <a:rPr lang="en-US" altLang="en-US"/>
              <a:t>Shortest-path algorithm </a:t>
            </a:r>
            <a:r>
              <a:rPr lang="en-US" altLang="en-US" i="1"/>
              <a:t>(continued)</a:t>
            </a:r>
            <a:r>
              <a:rPr lang="en-US" altLang="en-US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255713" algn="l"/>
                <a:tab pos="1979613" algn="l"/>
              </a:tabLst>
            </a:pPr>
            <a:r>
              <a:rPr lang="en-GB" altLang="en-US" sz="2000">
                <a:latin typeface="Times New Roman" panose="02020603050405020304" pitchFamily="18" charset="0"/>
              </a:rPr>
              <a:t>	4.	While </a:t>
            </a:r>
            <a:r>
              <a:rPr lang="en-GB" altLang="en-US" sz="2000" i="1">
                <a:latin typeface="Times New Roman" panose="02020603050405020304" pitchFamily="18" charset="0"/>
              </a:rPr>
              <a:t>places</a:t>
            </a:r>
            <a:r>
              <a:rPr lang="en-GB" altLang="en-US" sz="2000">
                <a:latin typeface="Times New Roman" panose="02020603050405020304" pitchFamily="18" charset="0"/>
              </a:rPr>
              <a:t> is not empty, repeat: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4.1.	Remove from </a:t>
            </a:r>
            <a:r>
              <a:rPr lang="en-GB" altLang="en-US" sz="2000" i="1">
                <a:latin typeface="Times New Roman" panose="02020603050405020304" pitchFamily="18" charset="0"/>
              </a:rPr>
              <a:t>places</a:t>
            </a:r>
            <a:r>
              <a:rPr lang="en-GB" altLang="en-US" sz="2000">
                <a:latin typeface="Times New Roman" panose="02020603050405020304" pitchFamily="18" charset="0"/>
              </a:rPr>
              <a:t> the place 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 with least </a:t>
            </a:r>
            <a:r>
              <a:rPr lang="en-GB" altLang="en-US" sz="2000" i="1">
                <a:latin typeface="Times New Roman" panose="02020603050405020304" pitchFamily="18" charset="0"/>
              </a:rPr>
              <a:t>dist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].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4.2.	If 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 = </a:t>
            </a:r>
            <a:r>
              <a:rPr lang="en-GB" altLang="en-US" sz="2000" i="1">
                <a:latin typeface="Times New Roman" panose="02020603050405020304" pitchFamily="18" charset="0"/>
              </a:rPr>
              <a:t>dest</a:t>
            </a:r>
            <a:r>
              <a:rPr lang="en-GB" altLang="en-US" sz="2000">
                <a:latin typeface="Times New Roman" panose="02020603050405020304" pitchFamily="18" charset="0"/>
              </a:rPr>
              <a:t>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4.2.1.	Terminate with the path 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	«</a:t>
            </a:r>
            <a:r>
              <a:rPr lang="en-GB" altLang="en-US" sz="2000" i="1">
                <a:latin typeface="Times New Roman" panose="02020603050405020304" pitchFamily="18" charset="0"/>
              </a:rPr>
              <a:t>start</a:t>
            </a:r>
            <a:r>
              <a:rPr lang="en-GB" altLang="en-US" sz="2000">
                <a:latin typeface="Times New Roman" panose="02020603050405020304" pitchFamily="18" charset="0"/>
              </a:rPr>
              <a:t>, …, </a:t>
            </a:r>
            <a:r>
              <a:rPr lang="en-GB" altLang="en-US" sz="2000" i="1">
                <a:latin typeface="Times New Roman" panose="02020603050405020304" pitchFamily="18" charset="0"/>
              </a:rPr>
              <a:t>pred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pred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dest</a:t>
            </a:r>
            <a:r>
              <a:rPr lang="en-GB" altLang="en-US" sz="2000">
                <a:latin typeface="Times New Roman" panose="02020603050405020304" pitchFamily="18" charset="0"/>
              </a:rPr>
              <a:t>]], </a:t>
            </a:r>
            <a:r>
              <a:rPr lang="en-GB" altLang="en-US" sz="2000" i="1">
                <a:latin typeface="Times New Roman" panose="02020603050405020304" pitchFamily="18" charset="0"/>
              </a:rPr>
              <a:t>pred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dest</a:t>
            </a:r>
            <a:r>
              <a:rPr lang="en-GB" altLang="en-US" sz="2000">
                <a:latin typeface="Times New Roman" panose="02020603050405020304" pitchFamily="18" charset="0"/>
              </a:rPr>
              <a:t>], </a:t>
            </a:r>
            <a:r>
              <a:rPr lang="en-GB" altLang="en-US" sz="2000" i="1">
                <a:latin typeface="Times New Roman" panose="02020603050405020304" pitchFamily="18" charset="0"/>
              </a:rPr>
              <a:t>dest</a:t>
            </a:r>
            <a:r>
              <a:rPr lang="en-GB" altLang="en-US" sz="2000">
                <a:latin typeface="Times New Roman" panose="02020603050405020304" pitchFamily="18" charset="0"/>
              </a:rPr>
              <a:t>».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4.3.	For each road connecting 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 and another place </a:t>
            </a:r>
            <a:r>
              <a:rPr lang="en-GB" altLang="en-US" sz="2000" i="1">
                <a:latin typeface="Times New Roman" panose="02020603050405020304" pitchFamily="18" charset="0"/>
              </a:rPr>
              <a:t>q</a:t>
            </a:r>
            <a:r>
              <a:rPr lang="en-GB" altLang="en-US" sz="2000">
                <a:latin typeface="Times New Roman" panose="02020603050405020304" pitchFamily="18" charset="0"/>
              </a:rPr>
              <a:t>, 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such that </a:t>
            </a:r>
            <a:r>
              <a:rPr lang="en-GB" altLang="en-US" sz="2000" i="1">
                <a:latin typeface="Times New Roman" panose="02020603050405020304" pitchFamily="18" charset="0"/>
              </a:rPr>
              <a:t>q</a:t>
            </a:r>
            <a:r>
              <a:rPr lang="en-GB" altLang="en-US" sz="2000">
                <a:latin typeface="Times New Roman" panose="02020603050405020304" pitchFamily="18" charset="0"/>
              </a:rPr>
              <a:t> is in </a:t>
            </a:r>
            <a:r>
              <a:rPr lang="en-GB" altLang="en-US" sz="2000" i="1">
                <a:latin typeface="Times New Roman" panose="02020603050405020304" pitchFamily="18" charset="0"/>
              </a:rPr>
              <a:t>places</a:t>
            </a:r>
            <a:r>
              <a:rPr lang="en-GB" altLang="en-US" sz="2000">
                <a:latin typeface="Times New Roman" panose="02020603050405020304" pitchFamily="18" charset="0"/>
              </a:rPr>
              <a:t>, repeat: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4.3.1.	Let </a:t>
            </a:r>
            <a:r>
              <a:rPr lang="en-GB" altLang="en-US" sz="2000" i="1">
                <a:latin typeface="Times New Roman" panose="02020603050405020304" pitchFamily="18" charset="0"/>
              </a:rPr>
              <a:t>d</a:t>
            </a:r>
            <a:r>
              <a:rPr lang="en-GB" altLang="en-US" sz="2000">
                <a:latin typeface="Times New Roman" panose="02020603050405020304" pitchFamily="18" charset="0"/>
              </a:rPr>
              <a:t> be </a:t>
            </a:r>
            <a:r>
              <a:rPr lang="en-GB" altLang="en-US" sz="2000" i="1">
                <a:latin typeface="Times New Roman" panose="02020603050405020304" pitchFamily="18" charset="0"/>
              </a:rPr>
              <a:t>dist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] + (distance from 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 to </a:t>
            </a:r>
            <a:r>
              <a:rPr lang="en-GB" altLang="en-US" sz="2000" i="1">
                <a:latin typeface="Times New Roman" panose="02020603050405020304" pitchFamily="18" charset="0"/>
              </a:rPr>
              <a:t>q</a:t>
            </a:r>
            <a:r>
              <a:rPr lang="en-GB" altLang="en-US" sz="2000">
                <a:latin typeface="Times New Roman" panose="02020603050405020304" pitchFamily="18" charset="0"/>
              </a:rPr>
              <a:t>).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		4.3.2.	If </a:t>
            </a:r>
            <a:r>
              <a:rPr lang="en-GB" altLang="en-US" sz="2000" i="1">
                <a:latin typeface="Times New Roman" panose="02020603050405020304" pitchFamily="18" charset="0"/>
              </a:rPr>
              <a:t>d</a:t>
            </a:r>
            <a:r>
              <a:rPr lang="en-GB" altLang="en-US" sz="2000">
                <a:latin typeface="Times New Roman" panose="02020603050405020304" pitchFamily="18" charset="0"/>
              </a:rPr>
              <a:t> &lt; </a:t>
            </a:r>
            <a:r>
              <a:rPr lang="en-GB" altLang="en-US" sz="2000" i="1">
                <a:latin typeface="Times New Roman" panose="02020603050405020304" pitchFamily="18" charset="0"/>
              </a:rPr>
              <a:t>dist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q</a:t>
            </a:r>
            <a:r>
              <a:rPr lang="en-GB" altLang="en-US" sz="2000">
                <a:latin typeface="Times New Roman" panose="02020603050405020304" pitchFamily="18" charset="0"/>
              </a:rPr>
              <a:t>], set </a:t>
            </a:r>
            <a:r>
              <a:rPr lang="en-GB" altLang="en-US" sz="2000" i="1">
                <a:latin typeface="Times New Roman" panose="02020603050405020304" pitchFamily="18" charset="0"/>
              </a:rPr>
              <a:t>dist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q</a:t>
            </a:r>
            <a:r>
              <a:rPr lang="en-GB" altLang="en-US" sz="2000">
                <a:latin typeface="Times New Roman" panose="02020603050405020304" pitchFamily="18" charset="0"/>
              </a:rPr>
              <a:t>] to </a:t>
            </a:r>
            <a:r>
              <a:rPr lang="en-GB" altLang="en-US" sz="2000" i="1">
                <a:latin typeface="Times New Roman" panose="02020603050405020304" pitchFamily="18" charset="0"/>
              </a:rPr>
              <a:t>d</a:t>
            </a:r>
            <a:r>
              <a:rPr lang="en-GB" altLang="en-US" sz="2000">
                <a:latin typeface="Times New Roman" panose="02020603050405020304" pitchFamily="18" charset="0"/>
              </a:rPr>
              <a:t> and set </a:t>
            </a:r>
            <a:r>
              <a:rPr lang="en-GB" altLang="en-US" sz="2000" i="1">
                <a:latin typeface="Times New Roman" panose="02020603050405020304" pitchFamily="18" charset="0"/>
              </a:rPr>
              <a:t>pred</a:t>
            </a:r>
            <a:r>
              <a:rPr lang="en-GB" altLang="en-US" sz="2000">
                <a:latin typeface="Times New Roman" panose="02020603050405020304" pitchFamily="18" charset="0"/>
              </a:rPr>
              <a:t>[</a:t>
            </a:r>
            <a:r>
              <a:rPr lang="en-GB" altLang="en-US" sz="2000" i="1">
                <a:latin typeface="Times New Roman" panose="02020603050405020304" pitchFamily="18" charset="0"/>
              </a:rPr>
              <a:t>q</a:t>
            </a:r>
            <a:r>
              <a:rPr lang="en-GB" altLang="en-US" sz="2000">
                <a:latin typeface="Times New Roman" panose="02020603050405020304" pitchFamily="18" charset="0"/>
              </a:rPr>
              <a:t>] to </a:t>
            </a:r>
            <a:r>
              <a:rPr lang="en-GB" altLang="en-US" sz="2000" i="1">
                <a:latin typeface="Times New Roman" panose="02020603050405020304" pitchFamily="18" charset="0"/>
              </a:rPr>
              <a:t>p</a:t>
            </a:r>
            <a:r>
              <a:rPr lang="en-GB" altLang="en-US" sz="2000">
                <a:latin typeface="Times New Roman" panose="02020603050405020304" pitchFamily="18" charset="0"/>
              </a:rPr>
              <a:t>.</a:t>
            </a:r>
            <a:br>
              <a:rPr lang="en-GB" altLang="en-US" sz="2000">
                <a:latin typeface="Times New Roman" panose="02020603050405020304" pitchFamily="18" charset="0"/>
              </a:rPr>
            </a:br>
            <a:r>
              <a:rPr lang="en-GB" altLang="en-US" sz="2000">
                <a:latin typeface="Times New Roman" panose="02020603050405020304" pitchFamily="18" charset="0"/>
              </a:rPr>
              <a:t>5.	Terminate with no path.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" name="Line Callout 3 (No Border) 6">
            <a:extLst>
              <a:ext uri="{FF2B5EF4-FFF2-40B4-BE49-F238E27FC236}">
                <a16:creationId xmlns:a16="http://schemas.microsoft.com/office/drawing/2014/main" id="{A975FA1D-4372-F67A-63CD-55DCEFE3A84F}"/>
              </a:ext>
            </a:extLst>
          </p:cNvPr>
          <p:cNvSpPr/>
          <p:nvPr/>
        </p:nvSpPr>
        <p:spPr>
          <a:xfrm>
            <a:off x="1871663" y="5516563"/>
            <a:ext cx="3384550" cy="649287"/>
          </a:xfrm>
          <a:prstGeom prst="callout3">
            <a:avLst>
              <a:gd name="adj1" fmla="val 30078"/>
              <a:gd name="adj2" fmla="val -1999"/>
              <a:gd name="adj3" fmla="val 18584"/>
              <a:gd name="adj4" fmla="val -9027"/>
              <a:gd name="adj5" fmla="val -302464"/>
              <a:gd name="adj6" fmla="val -9546"/>
              <a:gd name="adj7" fmla="val -357300"/>
              <a:gd name="adj8" fmla="val 2551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>
              <a:defRPr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cs typeface="Arial" pitchFamily="34" charset="0"/>
              </a:rPr>
              <a:t>At this point, we have already found the shortest path to </a:t>
            </a:r>
            <a:r>
              <a:rPr lang="en-GB" i="1" dirty="0" err="1">
                <a:solidFill>
                  <a:schemeClr val="bg2">
                    <a:lumMod val="50000"/>
                  </a:schemeClr>
                </a:solidFill>
                <a:cs typeface="Arial" pitchFamily="34" charset="0"/>
              </a:rPr>
              <a:t>dest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cs typeface="Arial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44ECB34-12DA-AD73-814A-0991CD9DE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Shortest path </a:t>
            </a:r>
            <a:r>
              <a:rPr lang="en-US" altLang="en-US" i="1"/>
              <a:t>(4)</a:t>
            </a:r>
            <a:endParaRPr lang="en-GB" altLang="en-US" i="1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8DBBD87-2329-E02F-55DB-E7A7A1128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5922963" algn="ctr"/>
              </a:tabLst>
            </a:pPr>
            <a:r>
              <a:rPr lang="en-US" altLang="en-US"/>
              <a:t>Illustration –</a:t>
            </a:r>
            <a:br>
              <a:rPr lang="en-US" altLang="en-US"/>
            </a:br>
            <a:r>
              <a:rPr lang="en-US" altLang="en-US"/>
              <a:t>shortest path from </a:t>
            </a:r>
            <a:br>
              <a:rPr lang="en-US" altLang="en-US"/>
            </a:br>
            <a:r>
              <a:rPr lang="en-US" altLang="en-US"/>
              <a:t>Lo(ndon) to Le(eds):</a:t>
            </a: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0F0ABEC2-DACA-8591-7336-91CBBF50C1F6}"/>
              </a:ext>
            </a:extLst>
          </p:cNvPr>
          <p:cNvGrpSpPr>
            <a:grpSpLocks/>
          </p:cNvGrpSpPr>
          <p:nvPr/>
        </p:nvGrpSpPr>
        <p:grpSpPr bwMode="auto">
          <a:xfrm>
            <a:off x="5938838" y="1390650"/>
            <a:ext cx="2917825" cy="1785938"/>
            <a:chOff x="5938838" y="1390650"/>
            <a:chExt cx="2917638" cy="1785938"/>
          </a:xfrm>
        </p:grpSpPr>
        <p:sp>
          <p:nvSpPr>
            <p:cNvPr id="50190" name="Line 5">
              <a:extLst>
                <a:ext uri="{FF2B5EF4-FFF2-40B4-BE49-F238E27FC236}">
                  <a16:creationId xmlns:a16="http://schemas.microsoft.com/office/drawing/2014/main" id="{1CF753A4-25FD-7278-4583-A32B9781C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5713" y="2254250"/>
              <a:ext cx="1439863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1" name="Line 6">
              <a:extLst>
                <a:ext uri="{FF2B5EF4-FFF2-40B4-BE49-F238E27FC236}">
                  <a16:creationId xmlns:a16="http://schemas.microsoft.com/office/drawing/2014/main" id="{B370DA8A-D83C-6EE9-6475-5F94D32CF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5713" y="1535113"/>
              <a:ext cx="0" cy="719138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2" name="Line 7">
              <a:extLst>
                <a:ext uri="{FF2B5EF4-FFF2-40B4-BE49-F238E27FC236}">
                  <a16:creationId xmlns:a16="http://schemas.microsoft.com/office/drawing/2014/main" id="{4B69BE8C-D786-2BBB-F98A-501A101C4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5713" y="2254250"/>
              <a:ext cx="0" cy="719138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3" name="Line 8">
              <a:extLst>
                <a:ext uri="{FF2B5EF4-FFF2-40B4-BE49-F238E27FC236}">
                  <a16:creationId xmlns:a16="http://schemas.microsoft.com/office/drawing/2014/main" id="{E9338D97-9FD4-DC5E-AFE6-025A93343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5575" y="1535113"/>
              <a:ext cx="0" cy="719138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4" name="Line 9">
              <a:extLst>
                <a:ext uri="{FF2B5EF4-FFF2-40B4-BE49-F238E27FC236}">
                  <a16:creationId xmlns:a16="http://schemas.microsoft.com/office/drawing/2014/main" id="{E5D1DC8A-5CF7-D8C0-5D11-40FCD2F33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5575" y="2254250"/>
              <a:ext cx="720725" cy="719138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5" name="Line 10">
              <a:extLst>
                <a:ext uri="{FF2B5EF4-FFF2-40B4-BE49-F238E27FC236}">
                  <a16:creationId xmlns:a16="http://schemas.microsoft.com/office/drawing/2014/main" id="{0B193B50-51A5-5440-4470-29D523E8A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5713" y="1533525"/>
              <a:ext cx="1439863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6" name="Line 11">
              <a:extLst>
                <a:ext uri="{FF2B5EF4-FFF2-40B4-BE49-F238E27FC236}">
                  <a16:creationId xmlns:a16="http://schemas.microsoft.com/office/drawing/2014/main" id="{CF077385-9B5A-AB35-ECBB-0232CD9A6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5713" y="2973388"/>
              <a:ext cx="2160588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7" name="Line 12">
              <a:extLst>
                <a:ext uri="{FF2B5EF4-FFF2-40B4-BE49-F238E27FC236}">
                  <a16:creationId xmlns:a16="http://schemas.microsoft.com/office/drawing/2014/main" id="{738382F3-3A1F-CFC8-3929-21019F0B5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5713" y="2254250"/>
              <a:ext cx="2160588" cy="719138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8" name="Text Box 13">
              <a:extLst>
                <a:ext uri="{FF2B5EF4-FFF2-40B4-BE49-F238E27FC236}">
                  <a16:creationId xmlns:a16="http://schemas.microsoft.com/office/drawing/2014/main" id="{E731630A-A670-6929-87E7-BAB05F3EB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8700" y="1749425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170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199" name="Text Box 14">
              <a:extLst>
                <a:ext uri="{FF2B5EF4-FFF2-40B4-BE49-F238E27FC236}">
                  <a16:creationId xmlns:a16="http://schemas.microsoft.com/office/drawing/2014/main" id="{4F3F63F4-875F-3609-2822-DA6F0EC82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8838" y="1763713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130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200" name="Text Box 15">
              <a:extLst>
                <a:ext uri="{FF2B5EF4-FFF2-40B4-BE49-F238E27FC236}">
                  <a16:creationId xmlns:a16="http://schemas.microsoft.com/office/drawing/2014/main" id="{2F22F9A6-6364-6ED5-3C43-AB698E686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8838" y="2482850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140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201" name="Text Box 16">
              <a:extLst>
                <a:ext uri="{FF2B5EF4-FFF2-40B4-BE49-F238E27FC236}">
                  <a16:creationId xmlns:a16="http://schemas.microsoft.com/office/drawing/2014/main" id="{829D1CC0-7A8F-0F03-11A7-263FDBF5D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9925" y="1504950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70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202" name="Text Box 17">
              <a:extLst>
                <a:ext uri="{FF2B5EF4-FFF2-40B4-BE49-F238E27FC236}">
                  <a16:creationId xmlns:a16="http://schemas.microsoft.com/office/drawing/2014/main" id="{BDC4C8A0-C04B-E1E2-8888-D9D221C40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0863" y="2470150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150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203" name="Text Box 18">
              <a:extLst>
                <a:ext uri="{FF2B5EF4-FFF2-40B4-BE49-F238E27FC236}">
                  <a16:creationId xmlns:a16="http://schemas.microsoft.com/office/drawing/2014/main" id="{FC978A89-EBC7-01F4-810E-466129F27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4025" y="2457450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220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204" name="Text Box 19">
              <a:extLst>
                <a:ext uri="{FF2B5EF4-FFF2-40B4-BE49-F238E27FC236}">
                  <a16:creationId xmlns:a16="http://schemas.microsoft.com/office/drawing/2014/main" id="{781AC716-7453-9FDC-229B-D28E8E6B2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932113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190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205" name="Text Box 20">
              <a:extLst>
                <a:ext uri="{FF2B5EF4-FFF2-40B4-BE49-F238E27FC236}">
                  <a16:creationId xmlns:a16="http://schemas.microsoft.com/office/drawing/2014/main" id="{16C9D3B4-45BF-F5DE-95EE-8CDC9CDD9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6900" y="2038350"/>
              <a:ext cx="3603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600">
                  <a:solidFill>
                    <a:srgbClr val="3333CC"/>
                  </a:solidFill>
                </a:rPr>
                <a:t>60</a:t>
              </a:r>
              <a:endParaRPr lang="en-US" altLang="en-US" sz="1600">
                <a:solidFill>
                  <a:srgbClr val="3333CC"/>
                </a:solidFill>
              </a:endParaRPr>
            </a:p>
          </p:txBody>
        </p:sp>
        <p:sp>
          <p:nvSpPr>
            <p:cNvPr id="50206" name="Text Box 21">
              <a:extLst>
                <a:ext uri="{FF2B5EF4-FFF2-40B4-BE49-F238E27FC236}">
                  <a16:creationId xmlns:a16="http://schemas.microsoft.com/office/drawing/2014/main" id="{76E946B8-4401-8AC2-0FA2-DBEE5A1B5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6476" y="2830513"/>
              <a:ext cx="720000" cy="2381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buClrTx/>
                <a:buFontTx/>
                <a:buNone/>
              </a:pPr>
              <a:r>
                <a:rPr lang="en-GB" altLang="en-US" sz="1800"/>
                <a:t>Lo</a:t>
              </a:r>
              <a:endParaRPr lang="en-US" altLang="en-US" sz="1800"/>
            </a:p>
          </p:txBody>
        </p:sp>
        <p:sp>
          <p:nvSpPr>
            <p:cNvPr id="50207" name="Text Box 22">
              <a:extLst>
                <a:ext uri="{FF2B5EF4-FFF2-40B4-BE49-F238E27FC236}">
                  <a16:creationId xmlns:a16="http://schemas.microsoft.com/office/drawing/2014/main" id="{543F1F95-0C62-9BC9-6956-370367AE0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236" y="1427163"/>
              <a:ext cx="720000" cy="2381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buClrTx/>
                <a:buFontTx/>
                <a:buNone/>
              </a:pPr>
              <a:r>
                <a:rPr lang="en-GB" altLang="en-US" sz="1800"/>
                <a:t>Ma</a:t>
              </a:r>
              <a:endParaRPr lang="en-US" altLang="en-US" sz="1800"/>
            </a:p>
          </p:txBody>
        </p:sp>
        <p:sp>
          <p:nvSpPr>
            <p:cNvPr id="50208" name="Text Box 23">
              <a:extLst>
                <a:ext uri="{FF2B5EF4-FFF2-40B4-BE49-F238E27FC236}">
                  <a16:creationId xmlns:a16="http://schemas.microsoft.com/office/drawing/2014/main" id="{52AAC165-AA30-06E0-25B8-636599450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236" y="2095500"/>
              <a:ext cx="720000" cy="2381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buClrTx/>
                <a:buFontTx/>
                <a:buNone/>
              </a:pPr>
              <a:r>
                <a:rPr lang="en-GB" altLang="en-US" sz="1800"/>
                <a:t>Bi</a:t>
              </a:r>
              <a:endParaRPr lang="en-US" altLang="en-US" sz="1800"/>
            </a:p>
          </p:txBody>
        </p:sp>
        <p:sp>
          <p:nvSpPr>
            <p:cNvPr id="50209" name="Text Box 24">
              <a:extLst>
                <a:ext uri="{FF2B5EF4-FFF2-40B4-BE49-F238E27FC236}">
                  <a16:creationId xmlns:a16="http://schemas.microsoft.com/office/drawing/2014/main" id="{916B418A-D14D-2BC1-7467-9390F97B1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2175" y="2841625"/>
              <a:ext cx="720000" cy="2381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buClrTx/>
                <a:buFontTx/>
                <a:buNone/>
              </a:pPr>
              <a:r>
                <a:rPr lang="en-GB" altLang="en-US" sz="1800"/>
                <a:t>Br</a:t>
              </a:r>
              <a:endParaRPr lang="en-US" altLang="en-US" sz="1800"/>
            </a:p>
          </p:txBody>
        </p:sp>
        <p:sp>
          <p:nvSpPr>
            <p:cNvPr id="50210" name="Text Box 25">
              <a:extLst>
                <a:ext uri="{FF2B5EF4-FFF2-40B4-BE49-F238E27FC236}">
                  <a16:creationId xmlns:a16="http://schemas.microsoft.com/office/drawing/2014/main" id="{10DD40BB-FFE4-39A5-1F8D-98EE5F4DD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5213" y="1390650"/>
              <a:ext cx="720000" cy="2381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buClrTx/>
                <a:buFontTx/>
                <a:buNone/>
              </a:pPr>
              <a:r>
                <a:rPr lang="en-GB" altLang="en-US" sz="1800"/>
                <a:t>Le</a:t>
              </a:r>
              <a:endParaRPr lang="en-US" altLang="en-US" sz="1800"/>
            </a:p>
          </p:txBody>
        </p:sp>
        <p:sp>
          <p:nvSpPr>
            <p:cNvPr id="50211" name="Text Box 26">
              <a:extLst>
                <a:ext uri="{FF2B5EF4-FFF2-40B4-BE49-F238E27FC236}">
                  <a16:creationId xmlns:a16="http://schemas.microsoft.com/office/drawing/2014/main" id="{974776C9-D76E-9108-47F6-D9DD63469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6396" y="2089150"/>
              <a:ext cx="720000" cy="2381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ts val="1800"/>
                </a:lnSpc>
                <a:buClrTx/>
                <a:buFontTx/>
                <a:buNone/>
              </a:pPr>
              <a:r>
                <a:rPr lang="en-GB" altLang="en-US" sz="1800"/>
                <a:t>Ru</a:t>
              </a:r>
              <a:endParaRPr lang="en-US" altLang="en-US" sz="1800"/>
            </a:p>
          </p:txBody>
        </p:sp>
      </p:grpSp>
      <p:sp>
        <p:nvSpPr>
          <p:cNvPr id="465951" name="Rectangle 31">
            <a:extLst>
              <a:ext uri="{FF2B5EF4-FFF2-40B4-BE49-F238E27FC236}">
                <a16:creationId xmlns:a16="http://schemas.microsoft.com/office/drawing/2014/main" id="{BCFD12A6-5796-949C-5727-729C85D76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465513"/>
            <a:ext cx="8280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5000"/>
              </a:spcBef>
              <a:buFont typeface="Wingdings" pitchFamily="2" charset="2"/>
              <a:buNone/>
            </a:pPr>
            <a:r>
              <a:rPr lang="en-GB" altLang="en-US" sz="1800"/>
              <a:t>		Bi	Br	Le	Lo	Ma	Ru	</a:t>
            </a:r>
            <a:r>
              <a:rPr lang="en-GB" altLang="en-US" sz="1800" i="1"/>
              <a:t>places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GB" altLang="en-US" sz="1800"/>
              <a:t>	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none,0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{Bi,Br,Le,</a:t>
            </a:r>
            <a:r>
              <a:rPr lang="en-GB" altLang="en-US" sz="1800" u="sng"/>
              <a:t>Lo</a:t>
            </a:r>
            <a:r>
              <a:rPr lang="en-GB" altLang="en-US" sz="1800"/>
              <a:t>,Ma,Ru}</a:t>
            </a:r>
            <a:endParaRPr lang="en-US" altLang="en-US" sz="1800"/>
          </a:p>
        </p:txBody>
      </p:sp>
      <p:sp>
        <p:nvSpPr>
          <p:cNvPr id="465952" name="Rectangle 32">
            <a:extLst>
              <a:ext uri="{FF2B5EF4-FFF2-40B4-BE49-F238E27FC236}">
                <a16:creationId xmlns:a16="http://schemas.microsoft.com/office/drawing/2014/main" id="{D71106FC-5CA2-8109-DB75-4226F4D70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4257675"/>
            <a:ext cx="8280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12788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9945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GB" altLang="en-US" sz="1800"/>
              <a:t>		Lo,</a:t>
            </a:r>
            <a:r>
              <a:rPr lang="en-GB" altLang="en-US" sz="1800">
                <a:sym typeface="Symbol" pitchFamily="2" charset="2"/>
              </a:rPr>
              <a:t>220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190</a:t>
            </a:r>
            <a:r>
              <a:rPr lang="en-GB" altLang="en-US" sz="1800"/>
              <a:t>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none,0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150</a:t>
            </a:r>
            <a:r>
              <a:rPr lang="en-GB" altLang="en-US" sz="1800"/>
              <a:t>	{Bi,Br,Le,Ma,</a:t>
            </a:r>
            <a:r>
              <a:rPr lang="en-GB" altLang="en-US" sz="1800" u="sng"/>
              <a:t>Ru</a:t>
            </a:r>
            <a:r>
              <a:rPr lang="en-GB" altLang="en-US" sz="1800"/>
              <a:t>}</a:t>
            </a:r>
            <a:endParaRPr lang="en-US" altLang="en-US" sz="1800"/>
          </a:p>
        </p:txBody>
      </p:sp>
      <p:sp>
        <p:nvSpPr>
          <p:cNvPr id="465953" name="Rectangle 33">
            <a:extLst>
              <a:ext uri="{FF2B5EF4-FFF2-40B4-BE49-F238E27FC236}">
                <a16:creationId xmlns:a16="http://schemas.microsoft.com/office/drawing/2014/main" id="{A3773617-373D-48DE-FEE7-F1DF7374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5121275"/>
            <a:ext cx="8280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GB" altLang="en-US" sz="1800"/>
              <a:t>		Ru,</a:t>
            </a:r>
            <a:r>
              <a:rPr lang="en-GB" altLang="en-US" sz="1800">
                <a:sym typeface="Symbol" pitchFamily="2" charset="2"/>
              </a:rPr>
              <a:t>210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190</a:t>
            </a:r>
            <a:r>
              <a:rPr lang="en-GB" altLang="en-US" sz="1800"/>
              <a:t>	Ru,</a:t>
            </a:r>
            <a:r>
              <a:rPr lang="en-GB" altLang="en-US" sz="1800">
                <a:sym typeface="Symbol" pitchFamily="2" charset="2"/>
              </a:rPr>
              <a:t>320</a:t>
            </a:r>
            <a:r>
              <a:rPr lang="en-GB" altLang="en-US" sz="1800"/>
              <a:t>	none,0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150</a:t>
            </a:r>
            <a:r>
              <a:rPr lang="en-GB" altLang="en-US" sz="1800"/>
              <a:t>	{</a:t>
            </a:r>
            <a:r>
              <a:rPr lang="en-GB" altLang="en-US" sz="1800" u="sng"/>
              <a:t>Bi</a:t>
            </a:r>
            <a:r>
              <a:rPr lang="en-GB" altLang="en-US" sz="1800"/>
              <a:t>,Le,Ma}</a:t>
            </a:r>
            <a:endParaRPr lang="en-US" altLang="en-US" sz="1800"/>
          </a:p>
        </p:txBody>
      </p:sp>
      <p:sp>
        <p:nvSpPr>
          <p:cNvPr id="465954" name="Rectangle 34">
            <a:extLst>
              <a:ext uri="{FF2B5EF4-FFF2-40B4-BE49-F238E27FC236}">
                <a16:creationId xmlns:a16="http://schemas.microsoft.com/office/drawing/2014/main" id="{18C11BB0-97E7-CA78-7791-52B201D65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5553075"/>
            <a:ext cx="8280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310063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GB" altLang="en-US" sz="1800"/>
              <a:t>		Ru,</a:t>
            </a:r>
            <a:r>
              <a:rPr lang="en-GB" altLang="en-US" sz="1800">
                <a:sym typeface="Symbol" pitchFamily="2" charset="2"/>
              </a:rPr>
              <a:t>210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190</a:t>
            </a:r>
            <a:r>
              <a:rPr lang="en-GB" altLang="en-US" sz="1800"/>
              <a:t>	Ru,</a:t>
            </a:r>
            <a:r>
              <a:rPr lang="en-GB" altLang="en-US" sz="1800">
                <a:sym typeface="Symbol" pitchFamily="2" charset="2"/>
              </a:rPr>
              <a:t>320</a:t>
            </a:r>
            <a:r>
              <a:rPr lang="en-GB" altLang="en-US" sz="1800"/>
              <a:t>	none,0	Bi,</a:t>
            </a:r>
            <a:r>
              <a:rPr lang="en-GB" altLang="en-US" sz="1800">
                <a:sym typeface="Symbol" pitchFamily="2" charset="2"/>
              </a:rPr>
              <a:t>340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150</a:t>
            </a:r>
            <a:r>
              <a:rPr lang="en-GB" altLang="en-US" sz="1800"/>
              <a:t>	{</a:t>
            </a:r>
            <a:r>
              <a:rPr lang="en-GB" altLang="en-US" sz="1800" u="sng"/>
              <a:t>Le</a:t>
            </a:r>
            <a:r>
              <a:rPr lang="en-GB" altLang="en-US" sz="1800"/>
              <a:t>,Ma}</a:t>
            </a:r>
            <a:endParaRPr lang="en-US" altLang="en-US" sz="1800"/>
          </a:p>
        </p:txBody>
      </p:sp>
      <p:sp>
        <p:nvSpPr>
          <p:cNvPr id="465955" name="Rectangle 35">
            <a:extLst>
              <a:ext uri="{FF2B5EF4-FFF2-40B4-BE49-F238E27FC236}">
                <a16:creationId xmlns:a16="http://schemas.microsoft.com/office/drawing/2014/main" id="{13917C26-155B-FC0A-435D-0F79D38FD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5984875"/>
            <a:ext cx="8280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GB" altLang="en-US" sz="1800"/>
              <a:t>	Shortest path is «Lo, Ru, Le».</a:t>
            </a:r>
            <a:endParaRPr lang="en-US" altLang="en-US" sz="1800"/>
          </a:p>
        </p:txBody>
      </p:sp>
      <p:sp>
        <p:nvSpPr>
          <p:cNvPr id="465974" name="Rectangle 54">
            <a:extLst>
              <a:ext uri="{FF2B5EF4-FFF2-40B4-BE49-F238E27FC236}">
                <a16:creationId xmlns:a16="http://schemas.microsoft.com/office/drawing/2014/main" id="{8218098C-0C74-D4B0-5146-315EFE60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4689475"/>
            <a:ext cx="8280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ctr"/>
                <a:tab pos="1614488" algn="ctr"/>
                <a:tab pos="2505075" algn="ctr"/>
                <a:tab pos="3408363" algn="ctr"/>
                <a:tab pos="4298950" algn="ctr"/>
                <a:tab pos="5200650" algn="ctr"/>
                <a:tab pos="6816725" algn="ctr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GB" altLang="en-US" sz="1800"/>
              <a:t>		Ru,</a:t>
            </a:r>
            <a:r>
              <a:rPr lang="en-GB" altLang="en-US" sz="1800">
                <a:sym typeface="Symbol" pitchFamily="2" charset="2"/>
              </a:rPr>
              <a:t>210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190</a:t>
            </a:r>
            <a:r>
              <a:rPr lang="en-GB" altLang="en-US" sz="1800"/>
              <a:t>	Ru,</a:t>
            </a:r>
            <a:r>
              <a:rPr lang="en-GB" altLang="en-US" sz="1800">
                <a:sym typeface="Symbol" pitchFamily="2" charset="2"/>
              </a:rPr>
              <a:t>320</a:t>
            </a:r>
            <a:r>
              <a:rPr lang="en-GB" altLang="en-US" sz="1800"/>
              <a:t>	none,0	none,</a:t>
            </a:r>
            <a:r>
              <a:rPr lang="en-GB" altLang="en-US" sz="1800">
                <a:sym typeface="Symbol" pitchFamily="2" charset="2"/>
              </a:rPr>
              <a:t></a:t>
            </a:r>
            <a:r>
              <a:rPr lang="en-GB" altLang="en-US" sz="1800"/>
              <a:t>	Lo,</a:t>
            </a:r>
            <a:r>
              <a:rPr lang="en-GB" altLang="en-US" sz="1800">
                <a:sym typeface="Symbol" pitchFamily="2" charset="2"/>
              </a:rPr>
              <a:t>150</a:t>
            </a:r>
            <a:r>
              <a:rPr lang="en-GB" altLang="en-US" sz="1800"/>
              <a:t>	{Bi,</a:t>
            </a:r>
            <a:r>
              <a:rPr lang="en-GB" altLang="en-US" sz="1800" u="sng"/>
              <a:t>Br</a:t>
            </a:r>
            <a:r>
              <a:rPr lang="en-GB" altLang="en-US" sz="1800"/>
              <a:t>,Le,Ma}</a:t>
            </a:r>
            <a:endParaRPr lang="en-US" altLang="en-US" sz="1800"/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26475A97-2AAA-249E-513D-CA1B82D61342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249613"/>
            <a:ext cx="828675" cy="574675"/>
            <a:chOff x="395536" y="3248980"/>
            <a:chExt cx="828092" cy="576064"/>
          </a:xfrm>
        </p:grpSpPr>
        <p:sp>
          <p:nvSpPr>
            <p:cNvPr id="35" name="Line Callout 1 (No Border) 34">
              <a:extLst>
                <a:ext uri="{FF2B5EF4-FFF2-40B4-BE49-F238E27FC236}">
                  <a16:creationId xmlns:a16="http://schemas.microsoft.com/office/drawing/2014/main" id="{7C4017C5-E543-0B1F-49B5-4965DC0D1D8A}"/>
                </a:ext>
              </a:extLst>
            </p:cNvPr>
            <p:cNvSpPr/>
            <p:nvPr/>
          </p:nvSpPr>
          <p:spPr>
            <a:xfrm>
              <a:off x="395536" y="3500411"/>
              <a:ext cx="828092" cy="324633"/>
            </a:xfrm>
            <a:prstGeom prst="callout1">
              <a:avLst>
                <a:gd name="adj1" fmla="val 81052"/>
                <a:gd name="adj2" fmla="val 104958"/>
                <a:gd name="adj3" fmla="val 123496"/>
                <a:gd name="adj4" fmla="val 123715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r">
                <a:defRPr/>
              </a:pPr>
              <a:r>
                <a:rPr lang="en-GB" i="1" dirty="0" err="1">
                  <a:solidFill>
                    <a:schemeClr val="bg2">
                      <a:lumMod val="50000"/>
                    </a:schemeClr>
                  </a:solidFill>
                </a:rPr>
                <a:t>pred</a:t>
              </a:r>
              <a:r>
                <a:rPr lang="en-GB" dirty="0">
                  <a:solidFill>
                    <a:schemeClr val="bg2">
                      <a:lumMod val="50000"/>
                    </a:schemeClr>
                  </a:solidFill>
                </a:rPr>
                <a:t>[Bi]</a:t>
              </a:r>
            </a:p>
          </p:txBody>
        </p:sp>
        <p:sp>
          <p:nvSpPr>
            <p:cNvPr id="36" name="Line Callout 1 (No Border) 35">
              <a:extLst>
                <a:ext uri="{FF2B5EF4-FFF2-40B4-BE49-F238E27FC236}">
                  <a16:creationId xmlns:a16="http://schemas.microsoft.com/office/drawing/2014/main" id="{0AACCA9B-AAF2-0A80-E1C3-DFD108228DA9}"/>
                </a:ext>
              </a:extLst>
            </p:cNvPr>
            <p:cNvSpPr/>
            <p:nvPr/>
          </p:nvSpPr>
          <p:spPr>
            <a:xfrm>
              <a:off x="395536" y="3248980"/>
              <a:ext cx="828092" cy="324633"/>
            </a:xfrm>
            <a:prstGeom prst="callout1">
              <a:avLst>
                <a:gd name="adj1" fmla="val 81052"/>
                <a:gd name="adj2" fmla="val 104958"/>
                <a:gd name="adj3" fmla="val 215117"/>
                <a:gd name="adj4" fmla="val 175341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r">
                <a:defRPr/>
              </a:pPr>
              <a:r>
                <a:rPr lang="en-GB" i="1" dirty="0">
                  <a:solidFill>
                    <a:schemeClr val="bg2">
                      <a:lumMod val="50000"/>
                    </a:schemeClr>
                  </a:solidFill>
                </a:rPr>
                <a:t>dist</a:t>
              </a:r>
              <a:r>
                <a:rPr lang="en-GB" dirty="0">
                  <a:solidFill>
                    <a:schemeClr val="bg2">
                      <a:lumMod val="50000"/>
                    </a:schemeClr>
                  </a:solidFill>
                </a:rPr>
                <a:t>[Bi]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51" grpId="0"/>
      <p:bldP spid="465952" grpId="0"/>
      <p:bldP spid="465953" grpId="0"/>
      <p:bldP spid="465954" grpId="0"/>
      <p:bldP spid="465955" grpId="0"/>
      <p:bldP spid="46597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Bin-packing (1) </a:t>
            </a:r>
            <a:endParaRPr lang="en-GB" altLang="en-US" i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14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Suppose we have a number of objects that are to be placed in bins which have fixed capacity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Objects have different sizes, and we want to use as few bins as possible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/>
              <a:t>  …but there is no limit to the number of bins available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What is the most efficient way to pack the bins? We want to </a:t>
            </a:r>
            <a:r>
              <a:rPr lang="en-US" altLang="en-US" dirty="0" err="1"/>
              <a:t>minimise</a:t>
            </a:r>
            <a:r>
              <a:rPr lang="en-US" altLang="en-US" dirty="0"/>
              <a:t> wasted space (and consequently </a:t>
            </a:r>
            <a:r>
              <a:rPr lang="en-US" altLang="en-US" dirty="0" err="1"/>
              <a:t>minimise</a:t>
            </a:r>
            <a:r>
              <a:rPr lang="en-US" altLang="en-US" dirty="0"/>
              <a:t> the number of bins required).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There are various simple algorithms to use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No one method is best for all 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30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CF43-4EA7-DF8E-E4FE-B94F05EF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 packing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AF54F-0628-CF52-C021-B1B931CC4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Algorithms include:</a:t>
            </a:r>
          </a:p>
          <a:p>
            <a:r>
              <a:rPr lang="en-US" sz="2000" dirty="0"/>
              <a:t>Best fit: place next item into the bin with the maximum load it fits into (or open a new bin)</a:t>
            </a:r>
          </a:p>
          <a:p>
            <a:r>
              <a:rPr lang="en-US" sz="2000" dirty="0"/>
              <a:t>Worst fit: place next item into the bin with the minimum load it fits into (or open a new bin)</a:t>
            </a:r>
          </a:p>
          <a:p>
            <a:r>
              <a:rPr lang="en-US" sz="2000" dirty="0"/>
              <a:t>First fit: place next item into the first bin it will fit into (or open a new bin)</a:t>
            </a:r>
          </a:p>
          <a:p>
            <a:r>
              <a:rPr lang="en-US" sz="2000" dirty="0"/>
              <a:t>(there are many more)</a:t>
            </a:r>
          </a:p>
          <a:p>
            <a:r>
              <a:rPr lang="en-US" sz="2000" dirty="0"/>
              <a:t>Lower bound on number of bins used is </a:t>
            </a:r>
            <a:r>
              <a:rPr lang="en-US" sz="2000" dirty="0" err="1"/>
              <a:t>cei</a:t>
            </a:r>
            <a:r>
              <a:rPr lang="en-US" sz="2000" dirty="0"/>
              <a:t>[(total load)/capacity]</a:t>
            </a:r>
          </a:p>
          <a:p>
            <a:pPr marL="0" indent="0">
              <a:buNone/>
            </a:pPr>
            <a:r>
              <a:rPr lang="en-US" sz="2000" dirty="0"/>
              <a:t>   ceiling (a) = smallest integer &gt;= a</a:t>
            </a:r>
          </a:p>
          <a:p>
            <a:r>
              <a:rPr lang="en-US" sz="2000" dirty="0"/>
              <a:t>Measure of how well an algorithm packs the bins:</a:t>
            </a:r>
          </a:p>
          <a:p>
            <a:pPr marL="0" indent="0">
              <a:buNone/>
            </a:pPr>
            <a:r>
              <a:rPr lang="en-US" sz="2000" dirty="0"/>
              <a:t>   average waste = </a:t>
            </a:r>
          </a:p>
          <a:p>
            <a:pPr marL="0" indent="0">
              <a:buNone/>
            </a:pPr>
            <a:r>
              <a:rPr lang="en-US" sz="2000" dirty="0"/>
              <a:t>                 (total unused space in used bins)/(number of bins used)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Examples, see over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42EA8-7ADC-A04D-14E2-9CB30F5B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44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9824-5D4A-C2DB-82A8-BF633E66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F83FA-B2F4-8D5D-2602-B493F1988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loads = </a:t>
            </a:r>
            <a:r>
              <a:rPr lang="en-GB" sz="2000" dirty="0">
                <a:effectLst/>
                <a:latin typeface="Arial" panose="020B0604020202020204" pitchFamily="34" charset="0"/>
              </a:rPr>
              <a:t>{</a:t>
            </a:r>
            <a:r>
              <a:rPr lang="en-GB" sz="1600" dirty="0">
                <a:effectLst/>
                <a:latin typeface="Arial" panose="020B0604020202020204" pitchFamily="34" charset="0"/>
              </a:rPr>
              <a:t>9,5,6,1,7,2,4,1</a:t>
            </a:r>
            <a:r>
              <a:rPr lang="en-GB" sz="2000" dirty="0">
                <a:effectLst/>
                <a:latin typeface="Arial" panose="020B0604020202020204" pitchFamily="34" charset="0"/>
              </a:rPr>
              <a:t>};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Lower bound for number of bins is  4.00</a:t>
            </a:r>
          </a:p>
          <a:p>
            <a:pPr marL="0" indent="0">
              <a:buNone/>
            </a:pPr>
            <a:endParaRPr lang="en-GB" sz="2000" dirty="0">
              <a:effectLst/>
              <a:latin typeface="Menlo" panose="020B0609030804020204" pitchFamily="49" charset="0"/>
            </a:endParaRPr>
          </a:p>
          <a:p>
            <a:r>
              <a:rPr lang="en-GB" sz="2000" dirty="0">
                <a:effectLst/>
                <a:latin typeface="Menlo" panose="020B0609030804020204" pitchFamily="49" charset="0"/>
              </a:rPr>
              <a:t>Using first fit bins contain: [10, 8, 10, 7]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Average waste is: 1.25</a:t>
            </a:r>
          </a:p>
          <a:p>
            <a:endParaRPr lang="en-GB" sz="2000" dirty="0">
              <a:effectLst/>
              <a:latin typeface="Menlo" panose="020B0609030804020204" pitchFamily="49" charset="0"/>
            </a:endParaRPr>
          </a:p>
          <a:p>
            <a:r>
              <a:rPr lang="en-GB" sz="2000" dirty="0">
                <a:effectLst/>
                <a:latin typeface="Menlo" panose="020B0609030804020204" pitchFamily="49" charset="0"/>
              </a:rPr>
              <a:t>Using best fit bins contain: [10, 5, 10, 10]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Average waste is: 1.25</a:t>
            </a:r>
          </a:p>
          <a:p>
            <a:endParaRPr lang="en-GB" sz="2000" dirty="0">
              <a:effectLst/>
              <a:latin typeface="Menlo" panose="020B0609030804020204" pitchFamily="49" charset="0"/>
            </a:endParaRPr>
          </a:p>
          <a:p>
            <a:r>
              <a:rPr lang="en-GB" sz="2000" dirty="0">
                <a:effectLst/>
                <a:latin typeface="Menlo" panose="020B0609030804020204" pitchFamily="49" charset="0"/>
              </a:rPr>
              <a:t>Using worst fit bins contain: [9, 8, 10, </a:t>
            </a:r>
            <a:r>
              <a:rPr lang="en-GB" sz="2000" dirty="0">
                <a:latin typeface="Menlo" panose="020B0609030804020204" pitchFamily="49" charset="0"/>
              </a:rPr>
              <a:t>8</a:t>
            </a:r>
            <a:r>
              <a:rPr lang="en-GB" sz="2000" dirty="0">
                <a:effectLst/>
                <a:latin typeface="Menlo" panose="020B0609030804020204" pitchFamily="49" charset="0"/>
              </a:rPr>
              <a:t>]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Average waste is: 1.25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A810D-2BE2-7D8E-1AFE-A05FA28C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53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9824-5D4A-C2DB-82A8-BF633E66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F83FA-B2F4-8D5D-2602-B493F1988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loads = </a:t>
            </a:r>
            <a:r>
              <a:rPr lang="en-GB" sz="2000" dirty="0">
                <a:effectLst/>
                <a:latin typeface="Arial" panose="020B0604020202020204" pitchFamily="34" charset="0"/>
              </a:rPr>
              <a:t>{</a:t>
            </a:r>
            <a:r>
              <a:rPr lang="en-GB" sz="1600" dirty="0">
                <a:effectLst/>
                <a:latin typeface="Arial" panose="020B0604020202020204" pitchFamily="34" charset="0"/>
              </a:rPr>
              <a:t>1,2,3,4,5,6,7,8,9,5,1,4</a:t>
            </a:r>
            <a:r>
              <a:rPr lang="en-GB" sz="2000" dirty="0">
                <a:effectLst/>
                <a:latin typeface="Arial" panose="020B0604020202020204" pitchFamily="34" charset="0"/>
              </a:rPr>
              <a:t>};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Lower bound for number of bins is  6.00</a:t>
            </a:r>
          </a:p>
          <a:p>
            <a:pPr marL="0" indent="0">
              <a:buNone/>
            </a:pPr>
            <a:endParaRPr lang="en-GB" sz="2000" dirty="0">
              <a:effectLst/>
              <a:latin typeface="Menlo" panose="020B0609030804020204" pitchFamily="49" charset="0"/>
            </a:endParaRPr>
          </a:p>
          <a:p>
            <a:r>
              <a:rPr lang="en-GB" sz="2000" dirty="0">
                <a:effectLst/>
                <a:latin typeface="Menlo" panose="020B0609030804020204" pitchFamily="49" charset="0"/>
              </a:rPr>
              <a:t>Using first fit bins contain: [</a:t>
            </a:r>
            <a:r>
              <a:rPr lang="en-GB" sz="1600" dirty="0">
                <a:effectLst/>
                <a:latin typeface="Menlo" panose="020B0609030804020204" pitchFamily="49" charset="0"/>
              </a:rPr>
              <a:t>10, 10, 7, 7, 8, 9, 4</a:t>
            </a:r>
            <a:r>
              <a:rPr lang="en-GB" sz="2000" dirty="0">
                <a:effectLst/>
                <a:latin typeface="Menlo" panose="020B0609030804020204" pitchFamily="49" charset="0"/>
              </a:rPr>
              <a:t>]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Average waste is: </a:t>
            </a:r>
            <a:r>
              <a:rPr lang="en-GB" sz="1600" dirty="0">
                <a:effectLst/>
                <a:latin typeface="Menlo" panose="020B0609030804020204" pitchFamily="49" charset="0"/>
              </a:rPr>
              <a:t>2.14</a:t>
            </a:r>
            <a:endParaRPr lang="en-GB" sz="2000" dirty="0">
              <a:effectLst/>
              <a:latin typeface="Menlo" panose="020B0609030804020204" pitchFamily="49" charset="0"/>
            </a:endParaRPr>
          </a:p>
          <a:p>
            <a:endParaRPr lang="en-GB" sz="2000" dirty="0">
              <a:effectLst/>
              <a:latin typeface="Menlo" panose="020B0609030804020204" pitchFamily="49" charset="0"/>
            </a:endParaRPr>
          </a:p>
          <a:p>
            <a:r>
              <a:rPr lang="en-GB" sz="2000" dirty="0">
                <a:effectLst/>
                <a:latin typeface="Menlo" panose="020B0609030804020204" pitchFamily="49" charset="0"/>
              </a:rPr>
              <a:t>Using best fit bins contain: [</a:t>
            </a:r>
            <a:r>
              <a:rPr lang="en-GB" sz="1600" dirty="0">
                <a:effectLst/>
                <a:latin typeface="Menlo" panose="020B0609030804020204" pitchFamily="49" charset="0"/>
              </a:rPr>
              <a:t>10, 10, 10, 7, 8, 10</a:t>
            </a:r>
            <a:r>
              <a:rPr lang="en-GB" sz="2000" dirty="0">
                <a:effectLst/>
                <a:latin typeface="Menlo" panose="020B0609030804020204" pitchFamily="49" charset="0"/>
              </a:rPr>
              <a:t>]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Average waste is: </a:t>
            </a:r>
            <a:r>
              <a:rPr lang="en-GB" sz="1600" dirty="0">
                <a:effectLst/>
                <a:latin typeface="Menlo" panose="020B0609030804020204" pitchFamily="49" charset="0"/>
              </a:rPr>
              <a:t>0.83</a:t>
            </a:r>
            <a:r>
              <a:rPr lang="en-GB" sz="2000" dirty="0">
                <a:effectLst/>
                <a:latin typeface="Menlo" panose="020B0609030804020204" pitchFamily="49" charset="0"/>
              </a:rPr>
              <a:t> </a:t>
            </a:r>
          </a:p>
          <a:p>
            <a:endParaRPr lang="en-GB" sz="2000" dirty="0">
              <a:effectLst/>
              <a:latin typeface="Menlo" panose="020B0609030804020204" pitchFamily="49" charset="0"/>
            </a:endParaRPr>
          </a:p>
          <a:p>
            <a:r>
              <a:rPr lang="en-GB" sz="2000" dirty="0">
                <a:effectLst/>
                <a:latin typeface="Menlo" panose="020B0609030804020204" pitchFamily="49" charset="0"/>
              </a:rPr>
              <a:t>Using worst fit bins contain: [</a:t>
            </a:r>
            <a:r>
              <a:rPr lang="en-GB" sz="1600" dirty="0">
                <a:latin typeface="Menlo" panose="020B0609030804020204" pitchFamily="49" charset="0"/>
              </a:rPr>
              <a:t>10</a:t>
            </a:r>
            <a:r>
              <a:rPr lang="en-GB" sz="1600" dirty="0">
                <a:effectLst/>
                <a:latin typeface="Menlo" panose="020B0609030804020204" pitchFamily="49" charset="0"/>
              </a:rPr>
              <a:t>, </a:t>
            </a:r>
            <a:r>
              <a:rPr lang="en-GB" sz="1600" dirty="0">
                <a:latin typeface="Menlo" panose="020B0609030804020204" pitchFamily="49" charset="0"/>
              </a:rPr>
              <a:t>10</a:t>
            </a:r>
            <a:r>
              <a:rPr lang="en-GB" sz="1600" dirty="0">
                <a:effectLst/>
                <a:latin typeface="Menlo" panose="020B0609030804020204" pitchFamily="49" charset="0"/>
              </a:rPr>
              <a:t>, </a:t>
            </a:r>
            <a:r>
              <a:rPr lang="en-GB" sz="1600" dirty="0">
                <a:latin typeface="Menlo" panose="020B0609030804020204" pitchFamily="49" charset="0"/>
              </a:rPr>
              <a:t>7</a:t>
            </a:r>
            <a:r>
              <a:rPr lang="en-GB" sz="1600" dirty="0">
                <a:effectLst/>
                <a:latin typeface="Menlo" panose="020B0609030804020204" pitchFamily="49" charset="0"/>
              </a:rPr>
              <a:t>, 7, 8, 9, 4</a:t>
            </a:r>
            <a:r>
              <a:rPr lang="en-GB" sz="2000" dirty="0">
                <a:effectLst/>
                <a:latin typeface="Menlo" panose="020B0609030804020204" pitchFamily="49" charset="0"/>
              </a:rPr>
              <a:t>]</a:t>
            </a:r>
          </a:p>
          <a:p>
            <a:pPr marL="0" indent="0">
              <a:buNone/>
            </a:pPr>
            <a:r>
              <a:rPr lang="en-GB" sz="2000" dirty="0">
                <a:effectLst/>
                <a:latin typeface="Menlo" panose="020B0609030804020204" pitchFamily="49" charset="0"/>
              </a:rPr>
              <a:t> Average waste is: 2.14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generalAlgorithms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binPacking.java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(or write your own!)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A810D-2BE2-7D8E-1AFE-A05FA28C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56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1159</TotalTime>
  <Words>1749</Words>
  <Application>Microsoft Macintosh PowerPoint</Application>
  <PresentationFormat>On-screen Show (4:3)</PresentationFormat>
  <Paragraphs>197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Menlo</vt:lpstr>
      <vt:lpstr>Symbol</vt:lpstr>
      <vt:lpstr>Times New Roman</vt:lpstr>
      <vt:lpstr>Wingdings</vt:lpstr>
      <vt:lpstr>Clarity</vt:lpstr>
      <vt:lpstr>13.  GeNERAL Algorithms</vt:lpstr>
      <vt:lpstr>Introduction –why these slides </vt:lpstr>
      <vt:lpstr>Graphs</vt:lpstr>
      <vt:lpstr>Graph traversal (2)</vt:lpstr>
      <vt:lpstr>Depth-first traversal (1)</vt:lpstr>
      <vt:lpstr>Depth-first traversal (2)</vt:lpstr>
      <vt:lpstr>Breadth-first traversal (1)</vt:lpstr>
      <vt:lpstr>Breadth-first traversal (2)</vt:lpstr>
      <vt:lpstr>Graph search (1)</vt:lpstr>
      <vt:lpstr>Graph search (2)</vt:lpstr>
      <vt:lpstr>Shortest path (1)</vt:lpstr>
      <vt:lpstr>Shortest path (2)</vt:lpstr>
      <vt:lpstr>Shortest path (3)</vt:lpstr>
      <vt:lpstr>Shortest path (4)</vt:lpstr>
      <vt:lpstr>Bin-packing (1) </vt:lpstr>
      <vt:lpstr>Bin packing (2)</vt:lpstr>
      <vt:lpstr>Example 1</vt:lpstr>
      <vt:lpstr>Example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12.  Hash-Table Data Structures</dc:title>
  <dc:creator>Alice</dc:creator>
  <cp:lastModifiedBy>Alice Miller</cp:lastModifiedBy>
  <cp:revision>52</cp:revision>
  <dcterms:created xsi:type="dcterms:W3CDTF">2006-08-16T00:00:00Z</dcterms:created>
  <dcterms:modified xsi:type="dcterms:W3CDTF">2024-05-01T13:02:44Z</dcterms:modified>
</cp:coreProperties>
</file>