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3317"/>
  </p:normalViewPr>
  <p:slideViewPr>
    <p:cSldViewPr>
      <p:cViewPr varScale="1">
        <p:scale>
          <a:sx n="62" d="100"/>
          <a:sy n="62" d="100"/>
        </p:scale>
        <p:origin x="352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E3D50F-4237-45C8-B64A-01289A817092}" type="datetimeFigureOut">
              <a:rPr lang="en-GB" smtClean="0"/>
              <a:t>06/04/2021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24687F-730F-4B14-AFA7-CFE071D4A1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88178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65122-1828-4F75-8FD8-624EFDDC0F4B}" type="datetime1">
              <a:rPr lang="en-US" smtClean="0"/>
              <a:t>4/6/21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6F422-E067-4844-89B0-F49D02C4004B}" type="datetime1">
              <a:rPr lang="en-US" smtClean="0"/>
              <a:t>4/6/21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41056-256E-4589-A75E-A5F929B63704}" type="datetime1">
              <a:rPr lang="en-US" smtClean="0"/>
              <a:t>4/6/21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D98D9-44B5-4402-9082-D0D9C1492B4B}" type="datetime1">
              <a:rPr lang="en-US" smtClean="0"/>
              <a:t>4/6/21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8AC0B-ABBD-4122-85BA-B6B99338B934}" type="datetime1">
              <a:rPr lang="en-US" smtClean="0"/>
              <a:t>4/6/21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45E67-1801-498D-9398-0D5122602A60}" type="datetime1">
              <a:rPr lang="en-US" smtClean="0"/>
              <a:t>4/6/21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E70E6-F1F7-4F6D-8B3D-948B45E54F85}" type="datetime1">
              <a:rPr lang="en-US" smtClean="0"/>
              <a:t>4/6/21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60D81-0DD5-4D43-9153-8CFFC1BA2FB8}" type="datetime1">
              <a:rPr lang="en-US" smtClean="0"/>
              <a:t>4/6/21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E2782-86CE-4F2E-AC14-7F9B8BCC9CD7}" type="datetime1">
              <a:rPr lang="en-US" smtClean="0"/>
              <a:t>4/6/21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11C3F-26DC-4E5C-ACA9-44AFCA4D04F2}" type="datetime1">
              <a:rPr lang="en-US" smtClean="0"/>
              <a:t>4/6/21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5ADAB-0BA5-4593-94FF-9CE9C85CEA95}" type="datetime1">
              <a:rPr lang="en-US" smtClean="0"/>
              <a:t>4/6/21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99D61B5F-C84A-4D9A-8EED-EF6CE83AEFE6}" type="datetime1">
              <a:rPr lang="en-US" smtClean="0"/>
              <a:t>4/6/21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4844" y="1295400"/>
            <a:ext cx="8280400" cy="736600"/>
          </a:xfrm>
        </p:spPr>
        <p:txBody>
          <a:bodyPr/>
          <a:lstStyle/>
          <a:p>
            <a:pPr algn="ctr" eaLnBrk="1" hangingPunct="1"/>
            <a:br>
              <a:rPr lang="en-GB" altLang="en-US" sz="3600" dirty="0">
                <a:solidFill>
                  <a:schemeClr val="folHlink"/>
                </a:solidFill>
              </a:rPr>
            </a:br>
            <a:r>
              <a:rPr lang="en-GB" altLang="en-US" sz="3600" dirty="0">
                <a:solidFill>
                  <a:schemeClr val="folHlink"/>
                </a:solidFill>
              </a:rPr>
              <a:t>6. Stack ADTs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762000" y="3581400"/>
            <a:ext cx="6159500" cy="3565525"/>
          </a:xfrm>
        </p:spPr>
        <p:txBody>
          <a:bodyPr/>
          <a:lstStyle/>
          <a:p>
            <a:pPr marL="360363" indent="-360363" eaLnBrk="1" hangingPunct="1">
              <a:buClr>
                <a:schemeClr val="bg1"/>
              </a:buClr>
              <a:buFont typeface="Wingdings" pitchFamily="2" charset="2"/>
              <a:buChar char="§"/>
            </a:pPr>
            <a:r>
              <a:rPr lang="en-US" altLang="en-US" sz="2400" dirty="0"/>
              <a:t>Stack concepts</a:t>
            </a:r>
          </a:p>
          <a:p>
            <a:pPr marL="360363" indent="-360363" eaLnBrk="1" hangingPunct="1">
              <a:buClr>
                <a:schemeClr val="bg1"/>
              </a:buClr>
              <a:buFont typeface="Wingdings" pitchFamily="2" charset="2"/>
              <a:buChar char="§"/>
            </a:pPr>
            <a:r>
              <a:rPr lang="en-US" altLang="en-US" sz="2400" dirty="0"/>
              <a:t>Stack applications</a:t>
            </a:r>
          </a:p>
          <a:p>
            <a:pPr marL="360363" indent="-360363" eaLnBrk="1" hangingPunct="1">
              <a:buClr>
                <a:schemeClr val="bg1"/>
              </a:buClr>
              <a:buFont typeface="Wingdings" pitchFamily="2" charset="2"/>
              <a:buChar char="§"/>
            </a:pPr>
            <a:r>
              <a:rPr lang="en-US" altLang="en-US" sz="2400" dirty="0"/>
              <a:t>Stack ADTs: requirements, contracts</a:t>
            </a:r>
          </a:p>
          <a:p>
            <a:pPr marL="360363" indent="-360363" eaLnBrk="1" hangingPunct="1">
              <a:buClr>
                <a:schemeClr val="bg1"/>
              </a:buClr>
              <a:buFont typeface="Wingdings" pitchFamily="2" charset="2"/>
              <a:buChar char="§"/>
            </a:pPr>
            <a:r>
              <a:rPr lang="en-US" altLang="en-US" sz="2400" dirty="0"/>
              <a:t>Implementations of stacks: using arrays and linked-lists</a:t>
            </a:r>
          </a:p>
          <a:p>
            <a:pPr marL="360363" indent="-360363" eaLnBrk="1" hangingPunct="1">
              <a:buClr>
                <a:schemeClr val="bg1"/>
              </a:buClr>
              <a:buFont typeface="Wingdings" pitchFamily="2" charset="2"/>
              <a:buChar char="§"/>
            </a:pPr>
            <a:r>
              <a:rPr lang="en-US" altLang="en-US" sz="2400" dirty="0"/>
              <a:t>Stacks in the Java class library</a:t>
            </a:r>
            <a:endParaRPr lang="en-GB" altLang="en-US" sz="2400" dirty="0"/>
          </a:p>
        </p:txBody>
      </p:sp>
      <p:sp>
        <p:nvSpPr>
          <p:cNvPr id="3076" name="Rectangle 5"/>
          <p:cNvSpPr>
            <a:spLocks noChangeArrowheads="1"/>
          </p:cNvSpPr>
          <p:nvPr/>
        </p:nvSpPr>
        <p:spPr bwMode="auto">
          <a:xfrm>
            <a:off x="1908175" y="6380163"/>
            <a:ext cx="5256213" cy="43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buFont typeface="Wingdings" pitchFamily="2" charset="2"/>
              <a:buNone/>
            </a:pPr>
            <a:r>
              <a:rPr lang="en-GB" altLang="en-US" sz="2000">
                <a:solidFill>
                  <a:schemeClr val="bg1"/>
                </a:solidFill>
                <a:cs typeface="Arial" charset="0"/>
              </a:rPr>
              <a:t>© 2008 David A Watt, University of Glasgow</a:t>
            </a:r>
          </a:p>
        </p:txBody>
      </p:sp>
      <p:sp>
        <p:nvSpPr>
          <p:cNvPr id="3077" name="Rectangle 6"/>
          <p:cNvSpPr>
            <a:spLocks noChangeArrowheads="1"/>
          </p:cNvSpPr>
          <p:nvPr/>
        </p:nvSpPr>
        <p:spPr bwMode="auto">
          <a:xfrm>
            <a:off x="2192100" y="347472"/>
            <a:ext cx="3925887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buFont typeface="Wingdings" pitchFamily="2" charset="2"/>
              <a:buNone/>
            </a:pPr>
            <a:r>
              <a:rPr lang="en-GB" altLang="en-US" sz="2000" dirty="0">
                <a:solidFill>
                  <a:schemeClr val="tx2"/>
                </a:solidFill>
                <a:cs typeface="Arial" charset="0"/>
              </a:rPr>
              <a:t>Algorithms &amp; Data Structures (M)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784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Stack concepts</a:t>
            </a:r>
            <a:endParaRPr lang="en-GB" altLang="en-US" sz="3200" i="1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>
                <a:cs typeface="Times New Roman" pitchFamily="18" charset="0"/>
              </a:rPr>
              <a:t>A </a:t>
            </a:r>
            <a:r>
              <a:rPr lang="en-US" altLang="en-US" b="1">
                <a:cs typeface="Times New Roman" pitchFamily="18" charset="0"/>
              </a:rPr>
              <a:t>stack</a:t>
            </a:r>
            <a:r>
              <a:rPr lang="en-US" altLang="en-US">
                <a:cs typeface="Times New Roman" pitchFamily="18" charset="0"/>
              </a:rPr>
              <a:t> is a last-in-first-out sequence of elements. Elements can added and removed only at one end (the </a:t>
            </a:r>
            <a:r>
              <a:rPr lang="en-US" altLang="en-US" b="1">
                <a:cs typeface="Times New Roman" pitchFamily="18" charset="0"/>
              </a:rPr>
              <a:t>top</a:t>
            </a:r>
            <a:r>
              <a:rPr lang="en-US" altLang="en-US">
                <a:cs typeface="Times New Roman" pitchFamily="18" charset="0"/>
              </a:rPr>
              <a:t> of the stack).</a:t>
            </a:r>
          </a:p>
          <a:p>
            <a:pPr eaLnBrk="1" hangingPunct="1"/>
            <a:r>
              <a:rPr lang="en-US" altLang="en-US"/>
              <a:t>We can </a:t>
            </a:r>
            <a:r>
              <a:rPr lang="en-US" altLang="en-US" b="1"/>
              <a:t>push</a:t>
            </a:r>
            <a:r>
              <a:rPr lang="en-US" altLang="en-US"/>
              <a:t> an element on to the stack, i.e., add it at the top of the stack.</a:t>
            </a:r>
          </a:p>
          <a:p>
            <a:pPr eaLnBrk="1" hangingPunct="1"/>
            <a:r>
              <a:rPr lang="en-US" altLang="en-US"/>
              <a:t>We can </a:t>
            </a:r>
            <a:r>
              <a:rPr lang="en-US" altLang="en-US" b="1"/>
              <a:t>pop</a:t>
            </a:r>
            <a:r>
              <a:rPr lang="en-US" altLang="en-US"/>
              <a:t> an element from the stack, i.e., remove it from the top of the stack.</a:t>
            </a:r>
          </a:p>
          <a:p>
            <a:pPr eaLnBrk="1" hangingPunct="1"/>
            <a:r>
              <a:rPr lang="en-US" altLang="en-US"/>
              <a:t>The </a:t>
            </a:r>
            <a:r>
              <a:rPr lang="en-US" altLang="en-US" b="1"/>
              <a:t>size</a:t>
            </a:r>
            <a:r>
              <a:rPr lang="en-US" altLang="en-US"/>
              <a:t> (or </a:t>
            </a:r>
            <a:r>
              <a:rPr lang="en-US" altLang="en-US" b="1"/>
              <a:t>depth</a:t>
            </a:r>
            <a:r>
              <a:rPr lang="en-US" altLang="en-US"/>
              <a:t>) of a stack is the number of elements it contains.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3585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Example: stack of books</a:t>
            </a:r>
            <a:endParaRPr lang="en-GB" altLang="en-US" sz="3200" i="1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358631" y="1343025"/>
            <a:ext cx="7620000" cy="4800600"/>
          </a:xfrm>
          <a:noFill/>
        </p:spPr>
        <p:txBody>
          <a:bodyPr/>
          <a:lstStyle/>
          <a:p>
            <a:pPr eaLnBrk="1" hangingPunct="1"/>
            <a:r>
              <a:rPr lang="en-US" altLang="en-US" dirty="0"/>
              <a:t>Consider a stack of books on a table:</a:t>
            </a:r>
          </a:p>
          <a:p>
            <a:pPr eaLnBrk="1" hangingPunct="1">
              <a:spcBef>
                <a:spcPts val="900"/>
              </a:spcBef>
              <a:buClr>
                <a:schemeClr val="tx1"/>
              </a:buClr>
              <a:buFont typeface="Wingdings" pitchFamily="2" charset="2"/>
              <a:buNone/>
            </a:pPr>
            <a:endParaRPr lang="en-US" altLang="en-US" sz="2000" dirty="0">
              <a:latin typeface="Times New Roman" pitchFamily="18" charset="0"/>
            </a:endParaRPr>
          </a:p>
        </p:txBody>
      </p:sp>
      <p:grpSp>
        <p:nvGrpSpPr>
          <p:cNvPr id="2" name="Group 131"/>
          <p:cNvGrpSpPr>
            <a:grpSpLocks/>
          </p:cNvGrpSpPr>
          <p:nvPr/>
        </p:nvGrpSpPr>
        <p:grpSpPr bwMode="auto">
          <a:xfrm>
            <a:off x="207169" y="2318544"/>
            <a:ext cx="1871662" cy="2573338"/>
            <a:chOff x="431" y="1392"/>
            <a:chExt cx="1179" cy="1621"/>
          </a:xfrm>
        </p:grpSpPr>
        <p:sp>
          <p:nvSpPr>
            <p:cNvPr id="5204" name="Text Box 5"/>
            <p:cNvSpPr txBox="1">
              <a:spLocks noChangeArrowheads="1"/>
            </p:cNvSpPr>
            <p:nvPr/>
          </p:nvSpPr>
          <p:spPr bwMode="auto">
            <a:xfrm>
              <a:off x="584" y="1392"/>
              <a:ext cx="96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buClrTx/>
                <a:buFontTx/>
                <a:buNone/>
              </a:pPr>
              <a:r>
                <a:rPr lang="en-GB" altLang="en-US" sz="2000" dirty="0"/>
                <a:t>Initially:</a:t>
              </a:r>
            </a:p>
          </p:txBody>
        </p:sp>
        <p:grpSp>
          <p:nvGrpSpPr>
            <p:cNvPr id="5205" name="Group 108"/>
            <p:cNvGrpSpPr>
              <a:grpSpLocks/>
            </p:cNvGrpSpPr>
            <p:nvPr/>
          </p:nvGrpSpPr>
          <p:grpSpPr bwMode="auto">
            <a:xfrm>
              <a:off x="431" y="2387"/>
              <a:ext cx="1179" cy="408"/>
              <a:chOff x="431" y="3332"/>
              <a:chExt cx="1179" cy="408"/>
            </a:xfrm>
          </p:grpSpPr>
          <p:sp>
            <p:nvSpPr>
              <p:cNvPr id="5225" name="Freeform 7"/>
              <p:cNvSpPr>
                <a:spLocks/>
              </p:cNvSpPr>
              <p:nvPr/>
            </p:nvSpPr>
            <p:spPr bwMode="auto">
              <a:xfrm>
                <a:off x="431" y="3423"/>
                <a:ext cx="1179" cy="317"/>
              </a:xfrm>
              <a:custGeom>
                <a:avLst/>
                <a:gdLst>
                  <a:gd name="T0" fmla="*/ 226 w 1179"/>
                  <a:gd name="T1" fmla="*/ 0 h 317"/>
                  <a:gd name="T2" fmla="*/ 0 w 1179"/>
                  <a:gd name="T3" fmla="*/ 317 h 317"/>
                  <a:gd name="T4" fmla="*/ 952 w 1179"/>
                  <a:gd name="T5" fmla="*/ 317 h 317"/>
                  <a:gd name="T6" fmla="*/ 1179 w 1179"/>
                  <a:gd name="T7" fmla="*/ 0 h 317"/>
                  <a:gd name="T8" fmla="*/ 226 w 1179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9"/>
                  <a:gd name="T16" fmla="*/ 0 h 317"/>
                  <a:gd name="T17" fmla="*/ 1179 w 1179"/>
                  <a:gd name="T18" fmla="*/ 317 h 3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9" h="317">
                    <a:moveTo>
                      <a:pt x="226" y="0"/>
                    </a:moveTo>
                    <a:lnTo>
                      <a:pt x="0" y="317"/>
                    </a:lnTo>
                    <a:lnTo>
                      <a:pt x="952" y="317"/>
                    </a:lnTo>
                    <a:lnTo>
                      <a:pt x="1179" y="0"/>
                    </a:lnTo>
                    <a:lnTo>
                      <a:pt x="226" y="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226" name="Freeform 8"/>
              <p:cNvSpPr>
                <a:spLocks/>
              </p:cNvSpPr>
              <p:nvPr/>
            </p:nvSpPr>
            <p:spPr bwMode="auto">
              <a:xfrm>
                <a:off x="431" y="3333"/>
                <a:ext cx="1179" cy="317"/>
              </a:xfrm>
              <a:custGeom>
                <a:avLst/>
                <a:gdLst>
                  <a:gd name="T0" fmla="*/ 226 w 1179"/>
                  <a:gd name="T1" fmla="*/ 0 h 317"/>
                  <a:gd name="T2" fmla="*/ 0 w 1179"/>
                  <a:gd name="T3" fmla="*/ 317 h 317"/>
                  <a:gd name="T4" fmla="*/ 952 w 1179"/>
                  <a:gd name="T5" fmla="*/ 317 h 317"/>
                  <a:gd name="T6" fmla="*/ 1179 w 1179"/>
                  <a:gd name="T7" fmla="*/ 0 h 317"/>
                  <a:gd name="T8" fmla="*/ 226 w 1179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9"/>
                  <a:gd name="T16" fmla="*/ 0 h 317"/>
                  <a:gd name="T17" fmla="*/ 1179 w 1179"/>
                  <a:gd name="T18" fmla="*/ 317 h 3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9" h="317">
                    <a:moveTo>
                      <a:pt x="226" y="0"/>
                    </a:moveTo>
                    <a:lnTo>
                      <a:pt x="0" y="317"/>
                    </a:lnTo>
                    <a:lnTo>
                      <a:pt x="952" y="317"/>
                    </a:lnTo>
                    <a:lnTo>
                      <a:pt x="1179" y="0"/>
                    </a:lnTo>
                    <a:lnTo>
                      <a:pt x="22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227" name="Freeform 9"/>
              <p:cNvSpPr>
                <a:spLocks/>
              </p:cNvSpPr>
              <p:nvPr/>
            </p:nvSpPr>
            <p:spPr bwMode="auto">
              <a:xfrm>
                <a:off x="1383" y="3332"/>
                <a:ext cx="227" cy="408"/>
              </a:xfrm>
              <a:custGeom>
                <a:avLst/>
                <a:gdLst>
                  <a:gd name="T0" fmla="*/ 0 w 227"/>
                  <a:gd name="T1" fmla="*/ 318 h 408"/>
                  <a:gd name="T2" fmla="*/ 227 w 227"/>
                  <a:gd name="T3" fmla="*/ 0 h 408"/>
                  <a:gd name="T4" fmla="*/ 227 w 227"/>
                  <a:gd name="T5" fmla="*/ 91 h 408"/>
                  <a:gd name="T6" fmla="*/ 0 w 227"/>
                  <a:gd name="T7" fmla="*/ 408 h 408"/>
                  <a:gd name="T8" fmla="*/ 0 w 227"/>
                  <a:gd name="T9" fmla="*/ 318 h 40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7"/>
                  <a:gd name="T16" fmla="*/ 0 h 408"/>
                  <a:gd name="T17" fmla="*/ 227 w 227"/>
                  <a:gd name="T18" fmla="*/ 408 h 40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7" h="408">
                    <a:moveTo>
                      <a:pt x="0" y="318"/>
                    </a:moveTo>
                    <a:lnTo>
                      <a:pt x="227" y="0"/>
                    </a:lnTo>
                    <a:lnTo>
                      <a:pt x="227" y="91"/>
                    </a:lnTo>
                    <a:lnTo>
                      <a:pt x="0" y="408"/>
                    </a:lnTo>
                    <a:lnTo>
                      <a:pt x="0" y="31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228" name="Rectangle 10"/>
              <p:cNvSpPr>
                <a:spLocks noChangeArrowheads="1"/>
              </p:cNvSpPr>
              <p:nvPr/>
            </p:nvSpPr>
            <p:spPr bwMode="auto">
              <a:xfrm>
                <a:off x="431" y="3650"/>
                <a:ext cx="952" cy="9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800"/>
              </a:p>
            </p:txBody>
          </p:sp>
        </p:grpSp>
        <p:grpSp>
          <p:nvGrpSpPr>
            <p:cNvPr id="5206" name="Group 111"/>
            <p:cNvGrpSpPr>
              <a:grpSpLocks/>
            </p:cNvGrpSpPr>
            <p:nvPr/>
          </p:nvGrpSpPr>
          <p:grpSpPr bwMode="auto">
            <a:xfrm>
              <a:off x="584" y="2296"/>
              <a:ext cx="864" cy="340"/>
              <a:chOff x="584" y="3249"/>
              <a:chExt cx="864" cy="340"/>
            </a:xfrm>
          </p:grpSpPr>
          <p:sp>
            <p:nvSpPr>
              <p:cNvPr id="5220" name="Freeform 12"/>
              <p:cNvSpPr>
                <a:spLocks/>
              </p:cNvSpPr>
              <p:nvPr/>
            </p:nvSpPr>
            <p:spPr bwMode="auto">
              <a:xfrm>
                <a:off x="584" y="3393"/>
                <a:ext cx="864" cy="192"/>
              </a:xfrm>
              <a:custGeom>
                <a:avLst/>
                <a:gdLst>
                  <a:gd name="T0" fmla="*/ 0 w 864"/>
                  <a:gd name="T1" fmla="*/ 192 h 192"/>
                  <a:gd name="T2" fmla="*/ 720 w 864"/>
                  <a:gd name="T3" fmla="*/ 192 h 192"/>
                  <a:gd name="T4" fmla="*/ 864 w 864"/>
                  <a:gd name="T5" fmla="*/ 0 h 192"/>
                  <a:gd name="T6" fmla="*/ 192 w 864"/>
                  <a:gd name="T7" fmla="*/ 0 h 192"/>
                  <a:gd name="T8" fmla="*/ 0 w 864"/>
                  <a:gd name="T9" fmla="*/ 192 h 1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64"/>
                  <a:gd name="T16" fmla="*/ 0 h 192"/>
                  <a:gd name="T17" fmla="*/ 864 w 864"/>
                  <a:gd name="T18" fmla="*/ 192 h 1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64" h="192">
                    <a:moveTo>
                      <a:pt x="0" y="192"/>
                    </a:moveTo>
                    <a:lnTo>
                      <a:pt x="720" y="192"/>
                    </a:lnTo>
                    <a:lnTo>
                      <a:pt x="864" y="0"/>
                    </a:lnTo>
                    <a:lnTo>
                      <a:pt x="192" y="0"/>
                    </a:lnTo>
                    <a:lnTo>
                      <a:pt x="0" y="192"/>
                    </a:lnTo>
                    <a:close/>
                  </a:path>
                </a:pathLst>
              </a:custGeom>
              <a:solidFill>
                <a:schemeClr val="fol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221" name="Freeform 13"/>
              <p:cNvSpPr>
                <a:spLocks/>
              </p:cNvSpPr>
              <p:nvPr/>
            </p:nvSpPr>
            <p:spPr bwMode="auto">
              <a:xfrm>
                <a:off x="1256" y="3249"/>
                <a:ext cx="144" cy="336"/>
              </a:xfrm>
              <a:custGeom>
                <a:avLst/>
                <a:gdLst>
                  <a:gd name="T0" fmla="*/ 0 w 144"/>
                  <a:gd name="T1" fmla="*/ 192 h 336"/>
                  <a:gd name="T2" fmla="*/ 0 w 144"/>
                  <a:gd name="T3" fmla="*/ 336 h 336"/>
                  <a:gd name="T4" fmla="*/ 144 w 144"/>
                  <a:gd name="T5" fmla="*/ 144 h 336"/>
                  <a:gd name="T6" fmla="*/ 144 w 144"/>
                  <a:gd name="T7" fmla="*/ 0 h 336"/>
                  <a:gd name="T8" fmla="*/ 0 w 144"/>
                  <a:gd name="T9" fmla="*/ 192 h 3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44"/>
                  <a:gd name="T16" fmla="*/ 0 h 336"/>
                  <a:gd name="T17" fmla="*/ 144 w 144"/>
                  <a:gd name="T18" fmla="*/ 336 h 3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44" h="336">
                    <a:moveTo>
                      <a:pt x="0" y="192"/>
                    </a:moveTo>
                    <a:lnTo>
                      <a:pt x="0" y="336"/>
                    </a:lnTo>
                    <a:lnTo>
                      <a:pt x="144" y="144"/>
                    </a:lnTo>
                    <a:lnTo>
                      <a:pt x="144" y="0"/>
                    </a:lnTo>
                    <a:lnTo>
                      <a:pt x="0" y="192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222" name="Rectangle 14"/>
              <p:cNvSpPr>
                <a:spLocks noChangeArrowheads="1"/>
              </p:cNvSpPr>
              <p:nvPr/>
            </p:nvSpPr>
            <p:spPr bwMode="auto">
              <a:xfrm>
                <a:off x="584" y="3441"/>
                <a:ext cx="720" cy="144"/>
              </a:xfrm>
              <a:prstGeom prst="rect">
                <a:avLst/>
              </a:prstGeom>
              <a:solidFill>
                <a:schemeClr val="folHlink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5223" name="Freeform 15"/>
              <p:cNvSpPr>
                <a:spLocks/>
              </p:cNvSpPr>
              <p:nvPr/>
            </p:nvSpPr>
            <p:spPr bwMode="auto">
              <a:xfrm>
                <a:off x="584" y="3249"/>
                <a:ext cx="864" cy="192"/>
              </a:xfrm>
              <a:custGeom>
                <a:avLst/>
                <a:gdLst>
                  <a:gd name="T0" fmla="*/ 0 w 864"/>
                  <a:gd name="T1" fmla="*/ 192 h 192"/>
                  <a:gd name="T2" fmla="*/ 720 w 864"/>
                  <a:gd name="T3" fmla="*/ 192 h 192"/>
                  <a:gd name="T4" fmla="*/ 864 w 864"/>
                  <a:gd name="T5" fmla="*/ 0 h 192"/>
                  <a:gd name="T6" fmla="*/ 192 w 864"/>
                  <a:gd name="T7" fmla="*/ 0 h 192"/>
                  <a:gd name="T8" fmla="*/ 0 w 864"/>
                  <a:gd name="T9" fmla="*/ 192 h 1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64"/>
                  <a:gd name="T16" fmla="*/ 0 h 192"/>
                  <a:gd name="T17" fmla="*/ 864 w 864"/>
                  <a:gd name="T18" fmla="*/ 192 h 1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64" h="192">
                    <a:moveTo>
                      <a:pt x="0" y="192"/>
                    </a:moveTo>
                    <a:lnTo>
                      <a:pt x="720" y="192"/>
                    </a:lnTo>
                    <a:lnTo>
                      <a:pt x="864" y="0"/>
                    </a:lnTo>
                    <a:lnTo>
                      <a:pt x="192" y="0"/>
                    </a:lnTo>
                    <a:lnTo>
                      <a:pt x="0" y="192"/>
                    </a:lnTo>
                    <a:close/>
                  </a:path>
                </a:pathLst>
              </a:custGeom>
              <a:solidFill>
                <a:schemeClr val="fol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224" name="Text Box 16"/>
              <p:cNvSpPr txBox="1">
                <a:spLocks noChangeArrowheads="1"/>
              </p:cNvSpPr>
              <p:nvPr/>
            </p:nvSpPr>
            <p:spPr bwMode="auto">
              <a:xfrm>
                <a:off x="584" y="3435"/>
                <a:ext cx="720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>
                  <a:buClrTx/>
                  <a:buFontTx/>
                  <a:buNone/>
                </a:pPr>
                <a:r>
                  <a:rPr lang="en-GB" altLang="en-US" sz="1600">
                    <a:latin typeface="Times New Roman" pitchFamily="18" charset="0"/>
                  </a:rPr>
                  <a:t>Moby Dick</a:t>
                </a:r>
              </a:p>
            </p:txBody>
          </p:sp>
        </p:grpSp>
        <p:grpSp>
          <p:nvGrpSpPr>
            <p:cNvPr id="5207" name="Group 17"/>
            <p:cNvGrpSpPr>
              <a:grpSpLocks/>
            </p:cNvGrpSpPr>
            <p:nvPr/>
          </p:nvGrpSpPr>
          <p:grpSpPr bwMode="auto">
            <a:xfrm>
              <a:off x="584" y="2160"/>
              <a:ext cx="864" cy="346"/>
              <a:chOff x="1968" y="1920"/>
              <a:chExt cx="864" cy="346"/>
            </a:xfrm>
          </p:grpSpPr>
          <p:sp>
            <p:nvSpPr>
              <p:cNvPr id="5215" name="Freeform 18"/>
              <p:cNvSpPr>
                <a:spLocks/>
              </p:cNvSpPr>
              <p:nvPr/>
            </p:nvSpPr>
            <p:spPr bwMode="auto">
              <a:xfrm>
                <a:off x="1968" y="2064"/>
                <a:ext cx="864" cy="192"/>
              </a:xfrm>
              <a:custGeom>
                <a:avLst/>
                <a:gdLst>
                  <a:gd name="T0" fmla="*/ 0 w 864"/>
                  <a:gd name="T1" fmla="*/ 192 h 192"/>
                  <a:gd name="T2" fmla="*/ 720 w 864"/>
                  <a:gd name="T3" fmla="*/ 192 h 192"/>
                  <a:gd name="T4" fmla="*/ 864 w 864"/>
                  <a:gd name="T5" fmla="*/ 0 h 192"/>
                  <a:gd name="T6" fmla="*/ 192 w 864"/>
                  <a:gd name="T7" fmla="*/ 0 h 192"/>
                  <a:gd name="T8" fmla="*/ 0 w 864"/>
                  <a:gd name="T9" fmla="*/ 192 h 1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64"/>
                  <a:gd name="T16" fmla="*/ 0 h 192"/>
                  <a:gd name="T17" fmla="*/ 864 w 864"/>
                  <a:gd name="T18" fmla="*/ 192 h 1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64" h="192">
                    <a:moveTo>
                      <a:pt x="0" y="192"/>
                    </a:moveTo>
                    <a:lnTo>
                      <a:pt x="720" y="192"/>
                    </a:lnTo>
                    <a:lnTo>
                      <a:pt x="864" y="0"/>
                    </a:lnTo>
                    <a:lnTo>
                      <a:pt x="192" y="0"/>
                    </a:lnTo>
                    <a:lnTo>
                      <a:pt x="0" y="192"/>
                    </a:lnTo>
                    <a:close/>
                  </a:path>
                </a:pathLst>
              </a:custGeom>
              <a:solidFill>
                <a:srgbClr val="FF99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216" name="Freeform 19"/>
              <p:cNvSpPr>
                <a:spLocks/>
              </p:cNvSpPr>
              <p:nvPr/>
            </p:nvSpPr>
            <p:spPr bwMode="auto">
              <a:xfrm>
                <a:off x="2640" y="1920"/>
                <a:ext cx="144" cy="336"/>
              </a:xfrm>
              <a:custGeom>
                <a:avLst/>
                <a:gdLst>
                  <a:gd name="T0" fmla="*/ 0 w 144"/>
                  <a:gd name="T1" fmla="*/ 192 h 336"/>
                  <a:gd name="T2" fmla="*/ 0 w 144"/>
                  <a:gd name="T3" fmla="*/ 336 h 336"/>
                  <a:gd name="T4" fmla="*/ 144 w 144"/>
                  <a:gd name="T5" fmla="*/ 144 h 336"/>
                  <a:gd name="T6" fmla="*/ 144 w 144"/>
                  <a:gd name="T7" fmla="*/ 0 h 336"/>
                  <a:gd name="T8" fmla="*/ 0 w 144"/>
                  <a:gd name="T9" fmla="*/ 192 h 3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44"/>
                  <a:gd name="T16" fmla="*/ 0 h 336"/>
                  <a:gd name="T17" fmla="*/ 144 w 144"/>
                  <a:gd name="T18" fmla="*/ 336 h 3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44" h="336">
                    <a:moveTo>
                      <a:pt x="0" y="192"/>
                    </a:moveTo>
                    <a:lnTo>
                      <a:pt x="0" y="336"/>
                    </a:lnTo>
                    <a:lnTo>
                      <a:pt x="144" y="144"/>
                    </a:lnTo>
                    <a:lnTo>
                      <a:pt x="144" y="0"/>
                    </a:lnTo>
                    <a:lnTo>
                      <a:pt x="0" y="192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217" name="Freeform 20"/>
              <p:cNvSpPr>
                <a:spLocks/>
              </p:cNvSpPr>
              <p:nvPr/>
            </p:nvSpPr>
            <p:spPr bwMode="auto">
              <a:xfrm>
                <a:off x="1968" y="1920"/>
                <a:ext cx="864" cy="192"/>
              </a:xfrm>
              <a:custGeom>
                <a:avLst/>
                <a:gdLst>
                  <a:gd name="T0" fmla="*/ 0 w 864"/>
                  <a:gd name="T1" fmla="*/ 192 h 192"/>
                  <a:gd name="T2" fmla="*/ 720 w 864"/>
                  <a:gd name="T3" fmla="*/ 192 h 192"/>
                  <a:gd name="T4" fmla="*/ 864 w 864"/>
                  <a:gd name="T5" fmla="*/ 0 h 192"/>
                  <a:gd name="T6" fmla="*/ 192 w 864"/>
                  <a:gd name="T7" fmla="*/ 0 h 192"/>
                  <a:gd name="T8" fmla="*/ 0 w 864"/>
                  <a:gd name="T9" fmla="*/ 192 h 1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64"/>
                  <a:gd name="T16" fmla="*/ 0 h 192"/>
                  <a:gd name="T17" fmla="*/ 864 w 864"/>
                  <a:gd name="T18" fmla="*/ 192 h 1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64" h="192">
                    <a:moveTo>
                      <a:pt x="0" y="192"/>
                    </a:moveTo>
                    <a:lnTo>
                      <a:pt x="720" y="192"/>
                    </a:lnTo>
                    <a:lnTo>
                      <a:pt x="864" y="0"/>
                    </a:lnTo>
                    <a:lnTo>
                      <a:pt x="192" y="0"/>
                    </a:lnTo>
                    <a:lnTo>
                      <a:pt x="0" y="192"/>
                    </a:lnTo>
                    <a:close/>
                  </a:path>
                </a:pathLst>
              </a:custGeom>
              <a:solidFill>
                <a:srgbClr val="FF99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218" name="Rectangle 21"/>
              <p:cNvSpPr>
                <a:spLocks noChangeArrowheads="1"/>
              </p:cNvSpPr>
              <p:nvPr/>
            </p:nvSpPr>
            <p:spPr bwMode="auto">
              <a:xfrm>
                <a:off x="1968" y="2112"/>
                <a:ext cx="720" cy="144"/>
              </a:xfrm>
              <a:prstGeom prst="rect">
                <a:avLst/>
              </a:prstGeom>
              <a:solidFill>
                <a:srgbClr val="FF99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5219" name="Text Box 22"/>
              <p:cNvSpPr txBox="1">
                <a:spLocks noChangeArrowheads="1"/>
              </p:cNvSpPr>
              <p:nvPr/>
            </p:nvSpPr>
            <p:spPr bwMode="auto">
              <a:xfrm>
                <a:off x="1968" y="2112"/>
                <a:ext cx="720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>
                  <a:buClrTx/>
                  <a:buFontTx/>
                  <a:buNone/>
                </a:pPr>
                <a:r>
                  <a:rPr lang="en-GB" altLang="en-US" sz="1600">
                    <a:latin typeface="Times New Roman" pitchFamily="18" charset="0"/>
                  </a:rPr>
                  <a:t>War &amp; Peace</a:t>
                </a:r>
              </a:p>
            </p:txBody>
          </p:sp>
        </p:grpSp>
        <p:grpSp>
          <p:nvGrpSpPr>
            <p:cNvPr id="5208" name="Group 23"/>
            <p:cNvGrpSpPr>
              <a:grpSpLocks/>
            </p:cNvGrpSpPr>
            <p:nvPr/>
          </p:nvGrpSpPr>
          <p:grpSpPr bwMode="auto">
            <a:xfrm>
              <a:off x="584" y="2016"/>
              <a:ext cx="864" cy="346"/>
              <a:chOff x="720" y="1776"/>
              <a:chExt cx="864" cy="346"/>
            </a:xfrm>
          </p:grpSpPr>
          <p:sp>
            <p:nvSpPr>
              <p:cNvPr id="5210" name="Freeform 24"/>
              <p:cNvSpPr>
                <a:spLocks/>
              </p:cNvSpPr>
              <p:nvPr/>
            </p:nvSpPr>
            <p:spPr bwMode="auto">
              <a:xfrm>
                <a:off x="720" y="1920"/>
                <a:ext cx="864" cy="192"/>
              </a:xfrm>
              <a:custGeom>
                <a:avLst/>
                <a:gdLst>
                  <a:gd name="T0" fmla="*/ 0 w 864"/>
                  <a:gd name="T1" fmla="*/ 192 h 192"/>
                  <a:gd name="T2" fmla="*/ 720 w 864"/>
                  <a:gd name="T3" fmla="*/ 192 h 192"/>
                  <a:gd name="T4" fmla="*/ 864 w 864"/>
                  <a:gd name="T5" fmla="*/ 0 h 192"/>
                  <a:gd name="T6" fmla="*/ 192 w 864"/>
                  <a:gd name="T7" fmla="*/ 0 h 192"/>
                  <a:gd name="T8" fmla="*/ 0 w 864"/>
                  <a:gd name="T9" fmla="*/ 192 h 1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64"/>
                  <a:gd name="T16" fmla="*/ 0 h 192"/>
                  <a:gd name="T17" fmla="*/ 864 w 864"/>
                  <a:gd name="T18" fmla="*/ 192 h 1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64" h="192">
                    <a:moveTo>
                      <a:pt x="0" y="192"/>
                    </a:moveTo>
                    <a:lnTo>
                      <a:pt x="720" y="192"/>
                    </a:lnTo>
                    <a:lnTo>
                      <a:pt x="864" y="0"/>
                    </a:lnTo>
                    <a:lnTo>
                      <a:pt x="192" y="0"/>
                    </a:lnTo>
                    <a:lnTo>
                      <a:pt x="0" y="192"/>
                    </a:lnTo>
                    <a:close/>
                  </a:path>
                </a:pathLst>
              </a:custGeom>
              <a:solidFill>
                <a:srgbClr val="00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211" name="Freeform 25"/>
              <p:cNvSpPr>
                <a:spLocks/>
              </p:cNvSpPr>
              <p:nvPr/>
            </p:nvSpPr>
            <p:spPr bwMode="auto">
              <a:xfrm>
                <a:off x="1392" y="1776"/>
                <a:ext cx="144" cy="336"/>
              </a:xfrm>
              <a:custGeom>
                <a:avLst/>
                <a:gdLst>
                  <a:gd name="T0" fmla="*/ 0 w 144"/>
                  <a:gd name="T1" fmla="*/ 192 h 336"/>
                  <a:gd name="T2" fmla="*/ 0 w 144"/>
                  <a:gd name="T3" fmla="*/ 336 h 336"/>
                  <a:gd name="T4" fmla="*/ 144 w 144"/>
                  <a:gd name="T5" fmla="*/ 144 h 336"/>
                  <a:gd name="T6" fmla="*/ 144 w 144"/>
                  <a:gd name="T7" fmla="*/ 0 h 336"/>
                  <a:gd name="T8" fmla="*/ 0 w 144"/>
                  <a:gd name="T9" fmla="*/ 192 h 3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44"/>
                  <a:gd name="T16" fmla="*/ 0 h 336"/>
                  <a:gd name="T17" fmla="*/ 144 w 144"/>
                  <a:gd name="T18" fmla="*/ 336 h 3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44" h="336">
                    <a:moveTo>
                      <a:pt x="0" y="192"/>
                    </a:moveTo>
                    <a:lnTo>
                      <a:pt x="0" y="336"/>
                    </a:lnTo>
                    <a:lnTo>
                      <a:pt x="144" y="144"/>
                    </a:lnTo>
                    <a:lnTo>
                      <a:pt x="144" y="0"/>
                    </a:lnTo>
                    <a:lnTo>
                      <a:pt x="0" y="192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212" name="Rectangle 26"/>
              <p:cNvSpPr>
                <a:spLocks noChangeArrowheads="1"/>
              </p:cNvSpPr>
              <p:nvPr/>
            </p:nvSpPr>
            <p:spPr bwMode="auto">
              <a:xfrm>
                <a:off x="720" y="1968"/>
                <a:ext cx="720" cy="144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5213" name="Freeform 27"/>
              <p:cNvSpPr>
                <a:spLocks/>
              </p:cNvSpPr>
              <p:nvPr/>
            </p:nvSpPr>
            <p:spPr bwMode="auto">
              <a:xfrm>
                <a:off x="720" y="1776"/>
                <a:ext cx="864" cy="192"/>
              </a:xfrm>
              <a:custGeom>
                <a:avLst/>
                <a:gdLst>
                  <a:gd name="T0" fmla="*/ 0 w 864"/>
                  <a:gd name="T1" fmla="*/ 192 h 192"/>
                  <a:gd name="T2" fmla="*/ 720 w 864"/>
                  <a:gd name="T3" fmla="*/ 192 h 192"/>
                  <a:gd name="T4" fmla="*/ 864 w 864"/>
                  <a:gd name="T5" fmla="*/ 0 h 192"/>
                  <a:gd name="T6" fmla="*/ 192 w 864"/>
                  <a:gd name="T7" fmla="*/ 0 h 192"/>
                  <a:gd name="T8" fmla="*/ 0 w 864"/>
                  <a:gd name="T9" fmla="*/ 192 h 1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64"/>
                  <a:gd name="T16" fmla="*/ 0 h 192"/>
                  <a:gd name="T17" fmla="*/ 864 w 864"/>
                  <a:gd name="T18" fmla="*/ 192 h 1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64" h="192">
                    <a:moveTo>
                      <a:pt x="0" y="192"/>
                    </a:moveTo>
                    <a:lnTo>
                      <a:pt x="720" y="192"/>
                    </a:lnTo>
                    <a:lnTo>
                      <a:pt x="864" y="0"/>
                    </a:lnTo>
                    <a:lnTo>
                      <a:pt x="192" y="0"/>
                    </a:lnTo>
                    <a:lnTo>
                      <a:pt x="0" y="192"/>
                    </a:lnTo>
                    <a:close/>
                  </a:path>
                </a:pathLst>
              </a:custGeom>
              <a:solidFill>
                <a:srgbClr val="00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214" name="Text Box 28"/>
              <p:cNvSpPr txBox="1">
                <a:spLocks noChangeArrowheads="1"/>
              </p:cNvSpPr>
              <p:nvPr/>
            </p:nvSpPr>
            <p:spPr bwMode="auto">
              <a:xfrm>
                <a:off x="720" y="1968"/>
                <a:ext cx="720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>
                  <a:buClrTx/>
                  <a:buFontTx/>
                  <a:buNone/>
                </a:pPr>
                <a:r>
                  <a:rPr lang="en-GB" altLang="en-US" sz="1600">
                    <a:latin typeface="Times New Roman" pitchFamily="18" charset="0"/>
                  </a:rPr>
                  <a:t>Rob Roy</a:t>
                </a:r>
              </a:p>
            </p:txBody>
          </p:sp>
        </p:grpSp>
        <p:sp>
          <p:nvSpPr>
            <p:cNvPr id="5209" name="Text Box 29"/>
            <p:cNvSpPr txBox="1">
              <a:spLocks noChangeArrowheads="1"/>
            </p:cNvSpPr>
            <p:nvPr/>
          </p:nvSpPr>
          <p:spPr bwMode="auto">
            <a:xfrm>
              <a:off x="453" y="2840"/>
              <a:ext cx="95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(size = 3)</a:t>
              </a:r>
            </a:p>
          </p:txBody>
        </p:sp>
      </p:grpSp>
      <p:grpSp>
        <p:nvGrpSpPr>
          <p:cNvPr id="7" name="Group 132"/>
          <p:cNvGrpSpPr>
            <a:grpSpLocks/>
          </p:cNvGrpSpPr>
          <p:nvPr/>
        </p:nvGrpSpPr>
        <p:grpSpPr bwMode="auto">
          <a:xfrm>
            <a:off x="2118776" y="2304256"/>
            <a:ext cx="1871663" cy="2573338"/>
            <a:chOff x="1746" y="1392"/>
            <a:chExt cx="1179" cy="1621"/>
          </a:xfrm>
        </p:grpSpPr>
        <p:sp>
          <p:nvSpPr>
            <p:cNvPr id="5185" name="Text Box 57"/>
            <p:cNvSpPr txBox="1">
              <a:spLocks noChangeArrowheads="1"/>
            </p:cNvSpPr>
            <p:nvPr/>
          </p:nvSpPr>
          <p:spPr bwMode="auto">
            <a:xfrm>
              <a:off x="1920" y="1392"/>
              <a:ext cx="960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buClrTx/>
                <a:buFontTx/>
                <a:buNone/>
              </a:pPr>
              <a:r>
                <a:rPr lang="en-GB" altLang="en-US" sz="2000" dirty="0"/>
                <a:t>After popping a book:</a:t>
              </a:r>
            </a:p>
          </p:txBody>
        </p:sp>
        <p:sp>
          <p:nvSpPr>
            <p:cNvPr id="5186" name="Text Box 58"/>
            <p:cNvSpPr txBox="1">
              <a:spLocks noChangeArrowheads="1"/>
            </p:cNvSpPr>
            <p:nvPr/>
          </p:nvSpPr>
          <p:spPr bwMode="auto">
            <a:xfrm>
              <a:off x="1811" y="2840"/>
              <a:ext cx="95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(size = 2)</a:t>
              </a:r>
            </a:p>
          </p:txBody>
        </p:sp>
        <p:grpSp>
          <p:nvGrpSpPr>
            <p:cNvPr id="5187" name="Group 109"/>
            <p:cNvGrpSpPr>
              <a:grpSpLocks/>
            </p:cNvGrpSpPr>
            <p:nvPr/>
          </p:nvGrpSpPr>
          <p:grpSpPr bwMode="auto">
            <a:xfrm>
              <a:off x="1746" y="2387"/>
              <a:ext cx="1179" cy="408"/>
              <a:chOff x="1746" y="3340"/>
              <a:chExt cx="1179" cy="408"/>
            </a:xfrm>
          </p:grpSpPr>
          <p:sp>
            <p:nvSpPr>
              <p:cNvPr id="5200" name="Freeform 60"/>
              <p:cNvSpPr>
                <a:spLocks/>
              </p:cNvSpPr>
              <p:nvPr/>
            </p:nvSpPr>
            <p:spPr bwMode="auto">
              <a:xfrm>
                <a:off x="1746" y="3431"/>
                <a:ext cx="1179" cy="317"/>
              </a:xfrm>
              <a:custGeom>
                <a:avLst/>
                <a:gdLst>
                  <a:gd name="T0" fmla="*/ 226 w 1179"/>
                  <a:gd name="T1" fmla="*/ 0 h 317"/>
                  <a:gd name="T2" fmla="*/ 0 w 1179"/>
                  <a:gd name="T3" fmla="*/ 317 h 317"/>
                  <a:gd name="T4" fmla="*/ 952 w 1179"/>
                  <a:gd name="T5" fmla="*/ 317 h 317"/>
                  <a:gd name="T6" fmla="*/ 1179 w 1179"/>
                  <a:gd name="T7" fmla="*/ 0 h 317"/>
                  <a:gd name="T8" fmla="*/ 226 w 1179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9"/>
                  <a:gd name="T16" fmla="*/ 0 h 317"/>
                  <a:gd name="T17" fmla="*/ 1179 w 1179"/>
                  <a:gd name="T18" fmla="*/ 317 h 3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9" h="317">
                    <a:moveTo>
                      <a:pt x="226" y="0"/>
                    </a:moveTo>
                    <a:lnTo>
                      <a:pt x="0" y="317"/>
                    </a:lnTo>
                    <a:lnTo>
                      <a:pt x="952" y="317"/>
                    </a:lnTo>
                    <a:lnTo>
                      <a:pt x="1179" y="0"/>
                    </a:lnTo>
                    <a:lnTo>
                      <a:pt x="226" y="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201" name="Freeform 61"/>
              <p:cNvSpPr>
                <a:spLocks/>
              </p:cNvSpPr>
              <p:nvPr/>
            </p:nvSpPr>
            <p:spPr bwMode="auto">
              <a:xfrm>
                <a:off x="1746" y="3341"/>
                <a:ext cx="1179" cy="317"/>
              </a:xfrm>
              <a:custGeom>
                <a:avLst/>
                <a:gdLst>
                  <a:gd name="T0" fmla="*/ 226 w 1179"/>
                  <a:gd name="T1" fmla="*/ 0 h 317"/>
                  <a:gd name="T2" fmla="*/ 0 w 1179"/>
                  <a:gd name="T3" fmla="*/ 317 h 317"/>
                  <a:gd name="T4" fmla="*/ 952 w 1179"/>
                  <a:gd name="T5" fmla="*/ 317 h 317"/>
                  <a:gd name="T6" fmla="*/ 1179 w 1179"/>
                  <a:gd name="T7" fmla="*/ 0 h 317"/>
                  <a:gd name="T8" fmla="*/ 226 w 1179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9"/>
                  <a:gd name="T16" fmla="*/ 0 h 317"/>
                  <a:gd name="T17" fmla="*/ 1179 w 1179"/>
                  <a:gd name="T18" fmla="*/ 317 h 3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9" h="317">
                    <a:moveTo>
                      <a:pt x="226" y="0"/>
                    </a:moveTo>
                    <a:lnTo>
                      <a:pt x="0" y="317"/>
                    </a:lnTo>
                    <a:lnTo>
                      <a:pt x="952" y="317"/>
                    </a:lnTo>
                    <a:lnTo>
                      <a:pt x="1179" y="0"/>
                    </a:lnTo>
                    <a:lnTo>
                      <a:pt x="22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202" name="Freeform 62"/>
              <p:cNvSpPr>
                <a:spLocks/>
              </p:cNvSpPr>
              <p:nvPr/>
            </p:nvSpPr>
            <p:spPr bwMode="auto">
              <a:xfrm>
                <a:off x="2698" y="3340"/>
                <a:ext cx="227" cy="408"/>
              </a:xfrm>
              <a:custGeom>
                <a:avLst/>
                <a:gdLst>
                  <a:gd name="T0" fmla="*/ 0 w 227"/>
                  <a:gd name="T1" fmla="*/ 318 h 408"/>
                  <a:gd name="T2" fmla="*/ 227 w 227"/>
                  <a:gd name="T3" fmla="*/ 0 h 408"/>
                  <a:gd name="T4" fmla="*/ 227 w 227"/>
                  <a:gd name="T5" fmla="*/ 91 h 408"/>
                  <a:gd name="T6" fmla="*/ 0 w 227"/>
                  <a:gd name="T7" fmla="*/ 408 h 408"/>
                  <a:gd name="T8" fmla="*/ 0 w 227"/>
                  <a:gd name="T9" fmla="*/ 318 h 40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7"/>
                  <a:gd name="T16" fmla="*/ 0 h 408"/>
                  <a:gd name="T17" fmla="*/ 227 w 227"/>
                  <a:gd name="T18" fmla="*/ 408 h 40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7" h="408">
                    <a:moveTo>
                      <a:pt x="0" y="318"/>
                    </a:moveTo>
                    <a:lnTo>
                      <a:pt x="227" y="0"/>
                    </a:lnTo>
                    <a:lnTo>
                      <a:pt x="227" y="91"/>
                    </a:lnTo>
                    <a:lnTo>
                      <a:pt x="0" y="408"/>
                    </a:lnTo>
                    <a:lnTo>
                      <a:pt x="0" y="31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203" name="Rectangle 63"/>
              <p:cNvSpPr>
                <a:spLocks noChangeArrowheads="1"/>
              </p:cNvSpPr>
              <p:nvPr/>
            </p:nvSpPr>
            <p:spPr bwMode="auto">
              <a:xfrm>
                <a:off x="1746" y="3658"/>
                <a:ext cx="952" cy="9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800"/>
              </a:p>
            </p:txBody>
          </p:sp>
        </p:grpSp>
        <p:grpSp>
          <p:nvGrpSpPr>
            <p:cNvPr id="5188" name="Group 112"/>
            <p:cNvGrpSpPr>
              <a:grpSpLocks/>
            </p:cNvGrpSpPr>
            <p:nvPr/>
          </p:nvGrpSpPr>
          <p:grpSpPr bwMode="auto">
            <a:xfrm>
              <a:off x="1903" y="2296"/>
              <a:ext cx="864" cy="340"/>
              <a:chOff x="584" y="3249"/>
              <a:chExt cx="864" cy="340"/>
            </a:xfrm>
          </p:grpSpPr>
          <p:sp>
            <p:nvSpPr>
              <p:cNvPr id="5195" name="Freeform 113"/>
              <p:cNvSpPr>
                <a:spLocks/>
              </p:cNvSpPr>
              <p:nvPr/>
            </p:nvSpPr>
            <p:spPr bwMode="auto">
              <a:xfrm>
                <a:off x="584" y="3393"/>
                <a:ext cx="864" cy="192"/>
              </a:xfrm>
              <a:custGeom>
                <a:avLst/>
                <a:gdLst>
                  <a:gd name="T0" fmla="*/ 0 w 864"/>
                  <a:gd name="T1" fmla="*/ 192 h 192"/>
                  <a:gd name="T2" fmla="*/ 720 w 864"/>
                  <a:gd name="T3" fmla="*/ 192 h 192"/>
                  <a:gd name="T4" fmla="*/ 864 w 864"/>
                  <a:gd name="T5" fmla="*/ 0 h 192"/>
                  <a:gd name="T6" fmla="*/ 192 w 864"/>
                  <a:gd name="T7" fmla="*/ 0 h 192"/>
                  <a:gd name="T8" fmla="*/ 0 w 864"/>
                  <a:gd name="T9" fmla="*/ 192 h 1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64"/>
                  <a:gd name="T16" fmla="*/ 0 h 192"/>
                  <a:gd name="T17" fmla="*/ 864 w 864"/>
                  <a:gd name="T18" fmla="*/ 192 h 1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64" h="192">
                    <a:moveTo>
                      <a:pt x="0" y="192"/>
                    </a:moveTo>
                    <a:lnTo>
                      <a:pt x="720" y="192"/>
                    </a:lnTo>
                    <a:lnTo>
                      <a:pt x="864" y="0"/>
                    </a:lnTo>
                    <a:lnTo>
                      <a:pt x="192" y="0"/>
                    </a:lnTo>
                    <a:lnTo>
                      <a:pt x="0" y="192"/>
                    </a:lnTo>
                    <a:close/>
                  </a:path>
                </a:pathLst>
              </a:custGeom>
              <a:solidFill>
                <a:schemeClr val="fol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196" name="Freeform 114"/>
              <p:cNvSpPr>
                <a:spLocks/>
              </p:cNvSpPr>
              <p:nvPr/>
            </p:nvSpPr>
            <p:spPr bwMode="auto">
              <a:xfrm>
                <a:off x="1256" y="3249"/>
                <a:ext cx="144" cy="336"/>
              </a:xfrm>
              <a:custGeom>
                <a:avLst/>
                <a:gdLst>
                  <a:gd name="T0" fmla="*/ 0 w 144"/>
                  <a:gd name="T1" fmla="*/ 192 h 336"/>
                  <a:gd name="T2" fmla="*/ 0 w 144"/>
                  <a:gd name="T3" fmla="*/ 336 h 336"/>
                  <a:gd name="T4" fmla="*/ 144 w 144"/>
                  <a:gd name="T5" fmla="*/ 144 h 336"/>
                  <a:gd name="T6" fmla="*/ 144 w 144"/>
                  <a:gd name="T7" fmla="*/ 0 h 336"/>
                  <a:gd name="T8" fmla="*/ 0 w 144"/>
                  <a:gd name="T9" fmla="*/ 192 h 3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44"/>
                  <a:gd name="T16" fmla="*/ 0 h 336"/>
                  <a:gd name="T17" fmla="*/ 144 w 144"/>
                  <a:gd name="T18" fmla="*/ 336 h 3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44" h="336">
                    <a:moveTo>
                      <a:pt x="0" y="192"/>
                    </a:moveTo>
                    <a:lnTo>
                      <a:pt x="0" y="336"/>
                    </a:lnTo>
                    <a:lnTo>
                      <a:pt x="144" y="144"/>
                    </a:lnTo>
                    <a:lnTo>
                      <a:pt x="144" y="0"/>
                    </a:lnTo>
                    <a:lnTo>
                      <a:pt x="0" y="192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197" name="Rectangle 115"/>
              <p:cNvSpPr>
                <a:spLocks noChangeArrowheads="1"/>
              </p:cNvSpPr>
              <p:nvPr/>
            </p:nvSpPr>
            <p:spPr bwMode="auto">
              <a:xfrm>
                <a:off x="584" y="3441"/>
                <a:ext cx="720" cy="144"/>
              </a:xfrm>
              <a:prstGeom prst="rect">
                <a:avLst/>
              </a:prstGeom>
              <a:solidFill>
                <a:schemeClr val="folHlink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5198" name="Freeform 116"/>
              <p:cNvSpPr>
                <a:spLocks/>
              </p:cNvSpPr>
              <p:nvPr/>
            </p:nvSpPr>
            <p:spPr bwMode="auto">
              <a:xfrm>
                <a:off x="584" y="3249"/>
                <a:ext cx="864" cy="192"/>
              </a:xfrm>
              <a:custGeom>
                <a:avLst/>
                <a:gdLst>
                  <a:gd name="T0" fmla="*/ 0 w 864"/>
                  <a:gd name="T1" fmla="*/ 192 h 192"/>
                  <a:gd name="T2" fmla="*/ 720 w 864"/>
                  <a:gd name="T3" fmla="*/ 192 h 192"/>
                  <a:gd name="T4" fmla="*/ 864 w 864"/>
                  <a:gd name="T5" fmla="*/ 0 h 192"/>
                  <a:gd name="T6" fmla="*/ 192 w 864"/>
                  <a:gd name="T7" fmla="*/ 0 h 192"/>
                  <a:gd name="T8" fmla="*/ 0 w 864"/>
                  <a:gd name="T9" fmla="*/ 192 h 1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64"/>
                  <a:gd name="T16" fmla="*/ 0 h 192"/>
                  <a:gd name="T17" fmla="*/ 864 w 864"/>
                  <a:gd name="T18" fmla="*/ 192 h 1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64" h="192">
                    <a:moveTo>
                      <a:pt x="0" y="192"/>
                    </a:moveTo>
                    <a:lnTo>
                      <a:pt x="720" y="192"/>
                    </a:lnTo>
                    <a:lnTo>
                      <a:pt x="864" y="0"/>
                    </a:lnTo>
                    <a:lnTo>
                      <a:pt x="192" y="0"/>
                    </a:lnTo>
                    <a:lnTo>
                      <a:pt x="0" y="192"/>
                    </a:lnTo>
                    <a:close/>
                  </a:path>
                </a:pathLst>
              </a:custGeom>
              <a:solidFill>
                <a:schemeClr val="fol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199" name="Text Box 117"/>
              <p:cNvSpPr txBox="1">
                <a:spLocks noChangeArrowheads="1"/>
              </p:cNvSpPr>
              <p:nvPr/>
            </p:nvSpPr>
            <p:spPr bwMode="auto">
              <a:xfrm>
                <a:off x="584" y="3435"/>
                <a:ext cx="720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>
                  <a:buClrTx/>
                  <a:buFontTx/>
                  <a:buNone/>
                </a:pPr>
                <a:r>
                  <a:rPr lang="en-GB" altLang="en-US" sz="1600">
                    <a:latin typeface="Times New Roman" pitchFamily="18" charset="0"/>
                  </a:rPr>
                  <a:t>Moby Dick</a:t>
                </a:r>
              </a:p>
            </p:txBody>
          </p:sp>
        </p:grpSp>
        <p:grpSp>
          <p:nvGrpSpPr>
            <p:cNvPr id="5189" name="Group 70"/>
            <p:cNvGrpSpPr>
              <a:grpSpLocks/>
            </p:cNvGrpSpPr>
            <p:nvPr/>
          </p:nvGrpSpPr>
          <p:grpSpPr bwMode="auto">
            <a:xfrm>
              <a:off x="1899" y="2168"/>
              <a:ext cx="864" cy="346"/>
              <a:chOff x="1968" y="1920"/>
              <a:chExt cx="864" cy="346"/>
            </a:xfrm>
          </p:grpSpPr>
          <p:sp>
            <p:nvSpPr>
              <p:cNvPr id="5190" name="Freeform 71"/>
              <p:cNvSpPr>
                <a:spLocks/>
              </p:cNvSpPr>
              <p:nvPr/>
            </p:nvSpPr>
            <p:spPr bwMode="auto">
              <a:xfrm>
                <a:off x="1968" y="2064"/>
                <a:ext cx="864" cy="192"/>
              </a:xfrm>
              <a:custGeom>
                <a:avLst/>
                <a:gdLst>
                  <a:gd name="T0" fmla="*/ 0 w 864"/>
                  <a:gd name="T1" fmla="*/ 192 h 192"/>
                  <a:gd name="T2" fmla="*/ 720 w 864"/>
                  <a:gd name="T3" fmla="*/ 192 h 192"/>
                  <a:gd name="T4" fmla="*/ 864 w 864"/>
                  <a:gd name="T5" fmla="*/ 0 h 192"/>
                  <a:gd name="T6" fmla="*/ 192 w 864"/>
                  <a:gd name="T7" fmla="*/ 0 h 192"/>
                  <a:gd name="T8" fmla="*/ 0 w 864"/>
                  <a:gd name="T9" fmla="*/ 192 h 1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64"/>
                  <a:gd name="T16" fmla="*/ 0 h 192"/>
                  <a:gd name="T17" fmla="*/ 864 w 864"/>
                  <a:gd name="T18" fmla="*/ 192 h 1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64" h="192">
                    <a:moveTo>
                      <a:pt x="0" y="192"/>
                    </a:moveTo>
                    <a:lnTo>
                      <a:pt x="720" y="192"/>
                    </a:lnTo>
                    <a:lnTo>
                      <a:pt x="864" y="0"/>
                    </a:lnTo>
                    <a:lnTo>
                      <a:pt x="192" y="0"/>
                    </a:lnTo>
                    <a:lnTo>
                      <a:pt x="0" y="192"/>
                    </a:lnTo>
                    <a:close/>
                  </a:path>
                </a:pathLst>
              </a:custGeom>
              <a:solidFill>
                <a:srgbClr val="FF99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191" name="Freeform 72"/>
              <p:cNvSpPr>
                <a:spLocks/>
              </p:cNvSpPr>
              <p:nvPr/>
            </p:nvSpPr>
            <p:spPr bwMode="auto">
              <a:xfrm>
                <a:off x="2640" y="1920"/>
                <a:ext cx="144" cy="336"/>
              </a:xfrm>
              <a:custGeom>
                <a:avLst/>
                <a:gdLst>
                  <a:gd name="T0" fmla="*/ 0 w 144"/>
                  <a:gd name="T1" fmla="*/ 192 h 336"/>
                  <a:gd name="T2" fmla="*/ 0 w 144"/>
                  <a:gd name="T3" fmla="*/ 336 h 336"/>
                  <a:gd name="T4" fmla="*/ 144 w 144"/>
                  <a:gd name="T5" fmla="*/ 144 h 336"/>
                  <a:gd name="T6" fmla="*/ 144 w 144"/>
                  <a:gd name="T7" fmla="*/ 0 h 336"/>
                  <a:gd name="T8" fmla="*/ 0 w 144"/>
                  <a:gd name="T9" fmla="*/ 192 h 3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44"/>
                  <a:gd name="T16" fmla="*/ 0 h 336"/>
                  <a:gd name="T17" fmla="*/ 144 w 144"/>
                  <a:gd name="T18" fmla="*/ 336 h 3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44" h="336">
                    <a:moveTo>
                      <a:pt x="0" y="192"/>
                    </a:moveTo>
                    <a:lnTo>
                      <a:pt x="0" y="336"/>
                    </a:lnTo>
                    <a:lnTo>
                      <a:pt x="144" y="144"/>
                    </a:lnTo>
                    <a:lnTo>
                      <a:pt x="144" y="0"/>
                    </a:lnTo>
                    <a:lnTo>
                      <a:pt x="0" y="192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192" name="Freeform 73"/>
              <p:cNvSpPr>
                <a:spLocks/>
              </p:cNvSpPr>
              <p:nvPr/>
            </p:nvSpPr>
            <p:spPr bwMode="auto">
              <a:xfrm>
                <a:off x="1968" y="1920"/>
                <a:ext cx="864" cy="192"/>
              </a:xfrm>
              <a:custGeom>
                <a:avLst/>
                <a:gdLst>
                  <a:gd name="T0" fmla="*/ 0 w 864"/>
                  <a:gd name="T1" fmla="*/ 192 h 192"/>
                  <a:gd name="T2" fmla="*/ 720 w 864"/>
                  <a:gd name="T3" fmla="*/ 192 h 192"/>
                  <a:gd name="T4" fmla="*/ 864 w 864"/>
                  <a:gd name="T5" fmla="*/ 0 h 192"/>
                  <a:gd name="T6" fmla="*/ 192 w 864"/>
                  <a:gd name="T7" fmla="*/ 0 h 192"/>
                  <a:gd name="T8" fmla="*/ 0 w 864"/>
                  <a:gd name="T9" fmla="*/ 192 h 1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64"/>
                  <a:gd name="T16" fmla="*/ 0 h 192"/>
                  <a:gd name="T17" fmla="*/ 864 w 864"/>
                  <a:gd name="T18" fmla="*/ 192 h 1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64" h="192">
                    <a:moveTo>
                      <a:pt x="0" y="192"/>
                    </a:moveTo>
                    <a:lnTo>
                      <a:pt x="720" y="192"/>
                    </a:lnTo>
                    <a:lnTo>
                      <a:pt x="864" y="0"/>
                    </a:lnTo>
                    <a:lnTo>
                      <a:pt x="192" y="0"/>
                    </a:lnTo>
                    <a:lnTo>
                      <a:pt x="0" y="192"/>
                    </a:lnTo>
                    <a:close/>
                  </a:path>
                </a:pathLst>
              </a:custGeom>
              <a:solidFill>
                <a:srgbClr val="FF99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193" name="Rectangle 74"/>
              <p:cNvSpPr>
                <a:spLocks noChangeArrowheads="1"/>
              </p:cNvSpPr>
              <p:nvPr/>
            </p:nvSpPr>
            <p:spPr bwMode="auto">
              <a:xfrm>
                <a:off x="1968" y="2112"/>
                <a:ext cx="720" cy="144"/>
              </a:xfrm>
              <a:prstGeom prst="rect">
                <a:avLst/>
              </a:prstGeom>
              <a:solidFill>
                <a:srgbClr val="FF99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5194" name="Text Box 75"/>
              <p:cNvSpPr txBox="1">
                <a:spLocks noChangeArrowheads="1"/>
              </p:cNvSpPr>
              <p:nvPr/>
            </p:nvSpPr>
            <p:spPr bwMode="auto">
              <a:xfrm>
                <a:off x="1968" y="2112"/>
                <a:ext cx="720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>
                  <a:buClrTx/>
                  <a:buFontTx/>
                  <a:buNone/>
                </a:pPr>
                <a:r>
                  <a:rPr lang="en-GB" altLang="en-US" sz="1600">
                    <a:latin typeface="Times New Roman" pitchFamily="18" charset="0"/>
                  </a:rPr>
                  <a:t>War &amp; Peace</a:t>
                </a:r>
              </a:p>
            </p:txBody>
          </p:sp>
        </p:grpSp>
      </p:grpSp>
      <p:grpSp>
        <p:nvGrpSpPr>
          <p:cNvPr id="11" name="Group 133"/>
          <p:cNvGrpSpPr>
            <a:grpSpLocks/>
          </p:cNvGrpSpPr>
          <p:nvPr/>
        </p:nvGrpSpPr>
        <p:grpSpPr bwMode="auto">
          <a:xfrm>
            <a:off x="3967463" y="2319534"/>
            <a:ext cx="1908175" cy="2573338"/>
            <a:chOff x="3061" y="1392"/>
            <a:chExt cx="1202" cy="1621"/>
          </a:xfrm>
        </p:grpSpPr>
        <p:grpSp>
          <p:nvGrpSpPr>
            <p:cNvPr id="5160" name="Group 31"/>
            <p:cNvGrpSpPr>
              <a:grpSpLocks/>
            </p:cNvGrpSpPr>
            <p:nvPr/>
          </p:nvGrpSpPr>
          <p:grpSpPr bwMode="auto">
            <a:xfrm>
              <a:off x="3061" y="2387"/>
              <a:ext cx="1179" cy="408"/>
              <a:chOff x="567" y="3294"/>
              <a:chExt cx="1179" cy="408"/>
            </a:xfrm>
          </p:grpSpPr>
          <p:sp>
            <p:nvSpPr>
              <p:cNvPr id="5181" name="Freeform 32"/>
              <p:cNvSpPr>
                <a:spLocks/>
              </p:cNvSpPr>
              <p:nvPr/>
            </p:nvSpPr>
            <p:spPr bwMode="auto">
              <a:xfrm>
                <a:off x="567" y="3385"/>
                <a:ext cx="1179" cy="317"/>
              </a:xfrm>
              <a:custGeom>
                <a:avLst/>
                <a:gdLst>
                  <a:gd name="T0" fmla="*/ 226 w 1179"/>
                  <a:gd name="T1" fmla="*/ 0 h 317"/>
                  <a:gd name="T2" fmla="*/ 0 w 1179"/>
                  <a:gd name="T3" fmla="*/ 317 h 317"/>
                  <a:gd name="T4" fmla="*/ 952 w 1179"/>
                  <a:gd name="T5" fmla="*/ 317 h 317"/>
                  <a:gd name="T6" fmla="*/ 1179 w 1179"/>
                  <a:gd name="T7" fmla="*/ 0 h 317"/>
                  <a:gd name="T8" fmla="*/ 226 w 1179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9"/>
                  <a:gd name="T16" fmla="*/ 0 h 317"/>
                  <a:gd name="T17" fmla="*/ 1179 w 1179"/>
                  <a:gd name="T18" fmla="*/ 317 h 3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9" h="317">
                    <a:moveTo>
                      <a:pt x="226" y="0"/>
                    </a:moveTo>
                    <a:lnTo>
                      <a:pt x="0" y="317"/>
                    </a:lnTo>
                    <a:lnTo>
                      <a:pt x="952" y="317"/>
                    </a:lnTo>
                    <a:lnTo>
                      <a:pt x="1179" y="0"/>
                    </a:lnTo>
                    <a:lnTo>
                      <a:pt x="226" y="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182" name="Freeform 33"/>
              <p:cNvSpPr>
                <a:spLocks/>
              </p:cNvSpPr>
              <p:nvPr/>
            </p:nvSpPr>
            <p:spPr bwMode="auto">
              <a:xfrm>
                <a:off x="567" y="3295"/>
                <a:ext cx="1179" cy="317"/>
              </a:xfrm>
              <a:custGeom>
                <a:avLst/>
                <a:gdLst>
                  <a:gd name="T0" fmla="*/ 226 w 1179"/>
                  <a:gd name="T1" fmla="*/ 0 h 317"/>
                  <a:gd name="T2" fmla="*/ 0 w 1179"/>
                  <a:gd name="T3" fmla="*/ 317 h 317"/>
                  <a:gd name="T4" fmla="*/ 952 w 1179"/>
                  <a:gd name="T5" fmla="*/ 317 h 317"/>
                  <a:gd name="T6" fmla="*/ 1179 w 1179"/>
                  <a:gd name="T7" fmla="*/ 0 h 317"/>
                  <a:gd name="T8" fmla="*/ 226 w 1179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9"/>
                  <a:gd name="T16" fmla="*/ 0 h 317"/>
                  <a:gd name="T17" fmla="*/ 1179 w 1179"/>
                  <a:gd name="T18" fmla="*/ 317 h 3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9" h="317">
                    <a:moveTo>
                      <a:pt x="226" y="0"/>
                    </a:moveTo>
                    <a:lnTo>
                      <a:pt x="0" y="317"/>
                    </a:lnTo>
                    <a:lnTo>
                      <a:pt x="952" y="317"/>
                    </a:lnTo>
                    <a:lnTo>
                      <a:pt x="1179" y="0"/>
                    </a:lnTo>
                    <a:lnTo>
                      <a:pt x="22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183" name="Rectangle 34"/>
              <p:cNvSpPr>
                <a:spLocks noChangeArrowheads="1"/>
              </p:cNvSpPr>
              <p:nvPr/>
            </p:nvSpPr>
            <p:spPr bwMode="auto">
              <a:xfrm>
                <a:off x="567" y="3612"/>
                <a:ext cx="952" cy="9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5184" name="Freeform 35"/>
              <p:cNvSpPr>
                <a:spLocks/>
              </p:cNvSpPr>
              <p:nvPr/>
            </p:nvSpPr>
            <p:spPr bwMode="auto">
              <a:xfrm>
                <a:off x="1519" y="3294"/>
                <a:ext cx="227" cy="408"/>
              </a:xfrm>
              <a:custGeom>
                <a:avLst/>
                <a:gdLst>
                  <a:gd name="T0" fmla="*/ 0 w 227"/>
                  <a:gd name="T1" fmla="*/ 318 h 408"/>
                  <a:gd name="T2" fmla="*/ 227 w 227"/>
                  <a:gd name="T3" fmla="*/ 0 h 408"/>
                  <a:gd name="T4" fmla="*/ 227 w 227"/>
                  <a:gd name="T5" fmla="*/ 91 h 408"/>
                  <a:gd name="T6" fmla="*/ 0 w 227"/>
                  <a:gd name="T7" fmla="*/ 408 h 408"/>
                  <a:gd name="T8" fmla="*/ 0 w 227"/>
                  <a:gd name="T9" fmla="*/ 318 h 40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7"/>
                  <a:gd name="T16" fmla="*/ 0 h 408"/>
                  <a:gd name="T17" fmla="*/ 227 w 227"/>
                  <a:gd name="T18" fmla="*/ 408 h 40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7" h="408">
                    <a:moveTo>
                      <a:pt x="0" y="318"/>
                    </a:moveTo>
                    <a:lnTo>
                      <a:pt x="227" y="0"/>
                    </a:lnTo>
                    <a:lnTo>
                      <a:pt x="227" y="91"/>
                    </a:lnTo>
                    <a:lnTo>
                      <a:pt x="0" y="408"/>
                    </a:lnTo>
                    <a:lnTo>
                      <a:pt x="0" y="31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5161" name="Text Box 42"/>
            <p:cNvSpPr txBox="1">
              <a:spLocks noChangeArrowheads="1"/>
            </p:cNvSpPr>
            <p:nvPr/>
          </p:nvSpPr>
          <p:spPr bwMode="auto">
            <a:xfrm>
              <a:off x="3214" y="1392"/>
              <a:ext cx="1049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buClrTx/>
                <a:buFontTx/>
                <a:buNone/>
              </a:pPr>
              <a:r>
                <a:rPr lang="en-GB" altLang="en-US" sz="2000" dirty="0"/>
                <a:t>After pushing “Mme Bovary”:</a:t>
              </a:r>
            </a:p>
          </p:txBody>
        </p:sp>
        <p:sp>
          <p:nvSpPr>
            <p:cNvPr id="5162" name="Text Box 55"/>
            <p:cNvSpPr txBox="1">
              <a:spLocks noChangeArrowheads="1"/>
            </p:cNvSpPr>
            <p:nvPr/>
          </p:nvSpPr>
          <p:spPr bwMode="auto">
            <a:xfrm>
              <a:off x="3127" y="2840"/>
              <a:ext cx="95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(size = 3)</a:t>
              </a:r>
            </a:p>
          </p:txBody>
        </p:sp>
        <p:grpSp>
          <p:nvGrpSpPr>
            <p:cNvPr id="5163" name="Group 118"/>
            <p:cNvGrpSpPr>
              <a:grpSpLocks/>
            </p:cNvGrpSpPr>
            <p:nvPr/>
          </p:nvGrpSpPr>
          <p:grpSpPr bwMode="auto">
            <a:xfrm>
              <a:off x="3218" y="2296"/>
              <a:ext cx="864" cy="340"/>
              <a:chOff x="584" y="3249"/>
              <a:chExt cx="864" cy="340"/>
            </a:xfrm>
          </p:grpSpPr>
          <p:sp>
            <p:nvSpPr>
              <p:cNvPr id="5176" name="Freeform 119"/>
              <p:cNvSpPr>
                <a:spLocks/>
              </p:cNvSpPr>
              <p:nvPr/>
            </p:nvSpPr>
            <p:spPr bwMode="auto">
              <a:xfrm>
                <a:off x="584" y="3393"/>
                <a:ext cx="864" cy="192"/>
              </a:xfrm>
              <a:custGeom>
                <a:avLst/>
                <a:gdLst>
                  <a:gd name="T0" fmla="*/ 0 w 864"/>
                  <a:gd name="T1" fmla="*/ 192 h 192"/>
                  <a:gd name="T2" fmla="*/ 720 w 864"/>
                  <a:gd name="T3" fmla="*/ 192 h 192"/>
                  <a:gd name="T4" fmla="*/ 864 w 864"/>
                  <a:gd name="T5" fmla="*/ 0 h 192"/>
                  <a:gd name="T6" fmla="*/ 192 w 864"/>
                  <a:gd name="T7" fmla="*/ 0 h 192"/>
                  <a:gd name="T8" fmla="*/ 0 w 864"/>
                  <a:gd name="T9" fmla="*/ 192 h 1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64"/>
                  <a:gd name="T16" fmla="*/ 0 h 192"/>
                  <a:gd name="T17" fmla="*/ 864 w 864"/>
                  <a:gd name="T18" fmla="*/ 192 h 1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64" h="192">
                    <a:moveTo>
                      <a:pt x="0" y="192"/>
                    </a:moveTo>
                    <a:lnTo>
                      <a:pt x="720" y="192"/>
                    </a:lnTo>
                    <a:lnTo>
                      <a:pt x="864" y="0"/>
                    </a:lnTo>
                    <a:lnTo>
                      <a:pt x="192" y="0"/>
                    </a:lnTo>
                    <a:lnTo>
                      <a:pt x="0" y="192"/>
                    </a:lnTo>
                    <a:close/>
                  </a:path>
                </a:pathLst>
              </a:custGeom>
              <a:solidFill>
                <a:schemeClr val="fol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177" name="Freeform 120"/>
              <p:cNvSpPr>
                <a:spLocks/>
              </p:cNvSpPr>
              <p:nvPr/>
            </p:nvSpPr>
            <p:spPr bwMode="auto">
              <a:xfrm>
                <a:off x="1256" y="3249"/>
                <a:ext cx="144" cy="336"/>
              </a:xfrm>
              <a:custGeom>
                <a:avLst/>
                <a:gdLst>
                  <a:gd name="T0" fmla="*/ 0 w 144"/>
                  <a:gd name="T1" fmla="*/ 192 h 336"/>
                  <a:gd name="T2" fmla="*/ 0 w 144"/>
                  <a:gd name="T3" fmla="*/ 336 h 336"/>
                  <a:gd name="T4" fmla="*/ 144 w 144"/>
                  <a:gd name="T5" fmla="*/ 144 h 336"/>
                  <a:gd name="T6" fmla="*/ 144 w 144"/>
                  <a:gd name="T7" fmla="*/ 0 h 336"/>
                  <a:gd name="T8" fmla="*/ 0 w 144"/>
                  <a:gd name="T9" fmla="*/ 192 h 3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44"/>
                  <a:gd name="T16" fmla="*/ 0 h 336"/>
                  <a:gd name="T17" fmla="*/ 144 w 144"/>
                  <a:gd name="T18" fmla="*/ 336 h 3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44" h="336">
                    <a:moveTo>
                      <a:pt x="0" y="192"/>
                    </a:moveTo>
                    <a:lnTo>
                      <a:pt x="0" y="336"/>
                    </a:lnTo>
                    <a:lnTo>
                      <a:pt x="144" y="144"/>
                    </a:lnTo>
                    <a:lnTo>
                      <a:pt x="144" y="0"/>
                    </a:lnTo>
                    <a:lnTo>
                      <a:pt x="0" y="192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178" name="Rectangle 121"/>
              <p:cNvSpPr>
                <a:spLocks noChangeArrowheads="1"/>
              </p:cNvSpPr>
              <p:nvPr/>
            </p:nvSpPr>
            <p:spPr bwMode="auto">
              <a:xfrm>
                <a:off x="584" y="3441"/>
                <a:ext cx="720" cy="144"/>
              </a:xfrm>
              <a:prstGeom prst="rect">
                <a:avLst/>
              </a:prstGeom>
              <a:solidFill>
                <a:schemeClr val="folHlink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5179" name="Freeform 122"/>
              <p:cNvSpPr>
                <a:spLocks/>
              </p:cNvSpPr>
              <p:nvPr/>
            </p:nvSpPr>
            <p:spPr bwMode="auto">
              <a:xfrm>
                <a:off x="584" y="3249"/>
                <a:ext cx="864" cy="192"/>
              </a:xfrm>
              <a:custGeom>
                <a:avLst/>
                <a:gdLst>
                  <a:gd name="T0" fmla="*/ 0 w 864"/>
                  <a:gd name="T1" fmla="*/ 192 h 192"/>
                  <a:gd name="T2" fmla="*/ 720 w 864"/>
                  <a:gd name="T3" fmla="*/ 192 h 192"/>
                  <a:gd name="T4" fmla="*/ 864 w 864"/>
                  <a:gd name="T5" fmla="*/ 0 h 192"/>
                  <a:gd name="T6" fmla="*/ 192 w 864"/>
                  <a:gd name="T7" fmla="*/ 0 h 192"/>
                  <a:gd name="T8" fmla="*/ 0 w 864"/>
                  <a:gd name="T9" fmla="*/ 192 h 1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64"/>
                  <a:gd name="T16" fmla="*/ 0 h 192"/>
                  <a:gd name="T17" fmla="*/ 864 w 864"/>
                  <a:gd name="T18" fmla="*/ 192 h 1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64" h="192">
                    <a:moveTo>
                      <a:pt x="0" y="192"/>
                    </a:moveTo>
                    <a:lnTo>
                      <a:pt x="720" y="192"/>
                    </a:lnTo>
                    <a:lnTo>
                      <a:pt x="864" y="0"/>
                    </a:lnTo>
                    <a:lnTo>
                      <a:pt x="192" y="0"/>
                    </a:lnTo>
                    <a:lnTo>
                      <a:pt x="0" y="192"/>
                    </a:lnTo>
                    <a:close/>
                  </a:path>
                </a:pathLst>
              </a:custGeom>
              <a:solidFill>
                <a:schemeClr val="fol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180" name="Text Box 123"/>
              <p:cNvSpPr txBox="1">
                <a:spLocks noChangeArrowheads="1"/>
              </p:cNvSpPr>
              <p:nvPr/>
            </p:nvSpPr>
            <p:spPr bwMode="auto">
              <a:xfrm>
                <a:off x="584" y="3435"/>
                <a:ext cx="720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>
                  <a:buClrTx/>
                  <a:buFontTx/>
                  <a:buNone/>
                </a:pPr>
                <a:r>
                  <a:rPr lang="en-GB" altLang="en-US" sz="1600">
                    <a:latin typeface="Times New Roman" pitchFamily="18" charset="0"/>
                  </a:rPr>
                  <a:t>Moby Dick</a:t>
                </a:r>
              </a:p>
            </p:txBody>
          </p:sp>
        </p:grpSp>
        <p:grpSp>
          <p:nvGrpSpPr>
            <p:cNvPr id="5164" name="Group 43"/>
            <p:cNvGrpSpPr>
              <a:grpSpLocks/>
            </p:cNvGrpSpPr>
            <p:nvPr/>
          </p:nvGrpSpPr>
          <p:grpSpPr bwMode="auto">
            <a:xfrm>
              <a:off x="3218" y="2160"/>
              <a:ext cx="864" cy="346"/>
              <a:chOff x="1968" y="1920"/>
              <a:chExt cx="864" cy="346"/>
            </a:xfrm>
          </p:grpSpPr>
          <p:sp>
            <p:nvSpPr>
              <p:cNvPr id="5171" name="Freeform 44"/>
              <p:cNvSpPr>
                <a:spLocks/>
              </p:cNvSpPr>
              <p:nvPr/>
            </p:nvSpPr>
            <p:spPr bwMode="auto">
              <a:xfrm>
                <a:off x="1968" y="2064"/>
                <a:ext cx="864" cy="192"/>
              </a:xfrm>
              <a:custGeom>
                <a:avLst/>
                <a:gdLst>
                  <a:gd name="T0" fmla="*/ 0 w 864"/>
                  <a:gd name="T1" fmla="*/ 192 h 192"/>
                  <a:gd name="T2" fmla="*/ 720 w 864"/>
                  <a:gd name="T3" fmla="*/ 192 h 192"/>
                  <a:gd name="T4" fmla="*/ 864 w 864"/>
                  <a:gd name="T5" fmla="*/ 0 h 192"/>
                  <a:gd name="T6" fmla="*/ 192 w 864"/>
                  <a:gd name="T7" fmla="*/ 0 h 192"/>
                  <a:gd name="T8" fmla="*/ 0 w 864"/>
                  <a:gd name="T9" fmla="*/ 192 h 1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64"/>
                  <a:gd name="T16" fmla="*/ 0 h 192"/>
                  <a:gd name="T17" fmla="*/ 864 w 864"/>
                  <a:gd name="T18" fmla="*/ 192 h 1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64" h="192">
                    <a:moveTo>
                      <a:pt x="0" y="192"/>
                    </a:moveTo>
                    <a:lnTo>
                      <a:pt x="720" y="192"/>
                    </a:lnTo>
                    <a:lnTo>
                      <a:pt x="864" y="0"/>
                    </a:lnTo>
                    <a:lnTo>
                      <a:pt x="192" y="0"/>
                    </a:lnTo>
                    <a:lnTo>
                      <a:pt x="0" y="192"/>
                    </a:lnTo>
                    <a:close/>
                  </a:path>
                </a:pathLst>
              </a:custGeom>
              <a:solidFill>
                <a:srgbClr val="FF99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172" name="Freeform 45"/>
              <p:cNvSpPr>
                <a:spLocks/>
              </p:cNvSpPr>
              <p:nvPr/>
            </p:nvSpPr>
            <p:spPr bwMode="auto">
              <a:xfrm>
                <a:off x="2640" y="1920"/>
                <a:ext cx="144" cy="336"/>
              </a:xfrm>
              <a:custGeom>
                <a:avLst/>
                <a:gdLst>
                  <a:gd name="T0" fmla="*/ 0 w 144"/>
                  <a:gd name="T1" fmla="*/ 192 h 336"/>
                  <a:gd name="T2" fmla="*/ 0 w 144"/>
                  <a:gd name="T3" fmla="*/ 336 h 336"/>
                  <a:gd name="T4" fmla="*/ 144 w 144"/>
                  <a:gd name="T5" fmla="*/ 144 h 336"/>
                  <a:gd name="T6" fmla="*/ 144 w 144"/>
                  <a:gd name="T7" fmla="*/ 0 h 336"/>
                  <a:gd name="T8" fmla="*/ 0 w 144"/>
                  <a:gd name="T9" fmla="*/ 192 h 3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44"/>
                  <a:gd name="T16" fmla="*/ 0 h 336"/>
                  <a:gd name="T17" fmla="*/ 144 w 144"/>
                  <a:gd name="T18" fmla="*/ 336 h 3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44" h="336">
                    <a:moveTo>
                      <a:pt x="0" y="192"/>
                    </a:moveTo>
                    <a:lnTo>
                      <a:pt x="0" y="336"/>
                    </a:lnTo>
                    <a:lnTo>
                      <a:pt x="144" y="144"/>
                    </a:lnTo>
                    <a:lnTo>
                      <a:pt x="144" y="0"/>
                    </a:lnTo>
                    <a:lnTo>
                      <a:pt x="0" y="192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173" name="Freeform 46"/>
              <p:cNvSpPr>
                <a:spLocks/>
              </p:cNvSpPr>
              <p:nvPr/>
            </p:nvSpPr>
            <p:spPr bwMode="auto">
              <a:xfrm>
                <a:off x="1968" y="1920"/>
                <a:ext cx="864" cy="192"/>
              </a:xfrm>
              <a:custGeom>
                <a:avLst/>
                <a:gdLst>
                  <a:gd name="T0" fmla="*/ 0 w 864"/>
                  <a:gd name="T1" fmla="*/ 192 h 192"/>
                  <a:gd name="T2" fmla="*/ 720 w 864"/>
                  <a:gd name="T3" fmla="*/ 192 h 192"/>
                  <a:gd name="T4" fmla="*/ 864 w 864"/>
                  <a:gd name="T5" fmla="*/ 0 h 192"/>
                  <a:gd name="T6" fmla="*/ 192 w 864"/>
                  <a:gd name="T7" fmla="*/ 0 h 192"/>
                  <a:gd name="T8" fmla="*/ 0 w 864"/>
                  <a:gd name="T9" fmla="*/ 192 h 1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64"/>
                  <a:gd name="T16" fmla="*/ 0 h 192"/>
                  <a:gd name="T17" fmla="*/ 864 w 864"/>
                  <a:gd name="T18" fmla="*/ 192 h 1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64" h="192">
                    <a:moveTo>
                      <a:pt x="0" y="192"/>
                    </a:moveTo>
                    <a:lnTo>
                      <a:pt x="720" y="192"/>
                    </a:lnTo>
                    <a:lnTo>
                      <a:pt x="864" y="0"/>
                    </a:lnTo>
                    <a:lnTo>
                      <a:pt x="192" y="0"/>
                    </a:lnTo>
                    <a:lnTo>
                      <a:pt x="0" y="192"/>
                    </a:lnTo>
                    <a:close/>
                  </a:path>
                </a:pathLst>
              </a:custGeom>
              <a:solidFill>
                <a:srgbClr val="FF99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174" name="Rectangle 47"/>
              <p:cNvSpPr>
                <a:spLocks noChangeArrowheads="1"/>
              </p:cNvSpPr>
              <p:nvPr/>
            </p:nvSpPr>
            <p:spPr bwMode="auto">
              <a:xfrm>
                <a:off x="1968" y="2112"/>
                <a:ext cx="720" cy="144"/>
              </a:xfrm>
              <a:prstGeom prst="rect">
                <a:avLst/>
              </a:prstGeom>
              <a:solidFill>
                <a:srgbClr val="FF99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5175" name="Text Box 48"/>
              <p:cNvSpPr txBox="1">
                <a:spLocks noChangeArrowheads="1"/>
              </p:cNvSpPr>
              <p:nvPr/>
            </p:nvSpPr>
            <p:spPr bwMode="auto">
              <a:xfrm>
                <a:off x="1968" y="2112"/>
                <a:ext cx="720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>
                  <a:buClrTx/>
                  <a:buFontTx/>
                  <a:buNone/>
                </a:pPr>
                <a:r>
                  <a:rPr lang="en-GB" altLang="en-US" sz="1600">
                    <a:latin typeface="Times New Roman" pitchFamily="18" charset="0"/>
                  </a:rPr>
                  <a:t>War &amp; Peace</a:t>
                </a:r>
              </a:p>
            </p:txBody>
          </p:sp>
        </p:grpSp>
        <p:grpSp>
          <p:nvGrpSpPr>
            <p:cNvPr id="5165" name="Group 49"/>
            <p:cNvGrpSpPr>
              <a:grpSpLocks/>
            </p:cNvGrpSpPr>
            <p:nvPr/>
          </p:nvGrpSpPr>
          <p:grpSpPr bwMode="auto">
            <a:xfrm>
              <a:off x="3218" y="2016"/>
              <a:ext cx="864" cy="346"/>
              <a:chOff x="4368" y="912"/>
              <a:chExt cx="864" cy="346"/>
            </a:xfrm>
          </p:grpSpPr>
          <p:sp>
            <p:nvSpPr>
              <p:cNvPr id="5166" name="Freeform 50"/>
              <p:cNvSpPr>
                <a:spLocks/>
              </p:cNvSpPr>
              <p:nvPr/>
            </p:nvSpPr>
            <p:spPr bwMode="auto">
              <a:xfrm>
                <a:off x="4368" y="1056"/>
                <a:ext cx="864" cy="192"/>
              </a:xfrm>
              <a:custGeom>
                <a:avLst/>
                <a:gdLst>
                  <a:gd name="T0" fmla="*/ 0 w 864"/>
                  <a:gd name="T1" fmla="*/ 192 h 192"/>
                  <a:gd name="T2" fmla="*/ 720 w 864"/>
                  <a:gd name="T3" fmla="*/ 192 h 192"/>
                  <a:gd name="T4" fmla="*/ 864 w 864"/>
                  <a:gd name="T5" fmla="*/ 0 h 192"/>
                  <a:gd name="T6" fmla="*/ 192 w 864"/>
                  <a:gd name="T7" fmla="*/ 0 h 192"/>
                  <a:gd name="T8" fmla="*/ 0 w 864"/>
                  <a:gd name="T9" fmla="*/ 192 h 1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64"/>
                  <a:gd name="T16" fmla="*/ 0 h 192"/>
                  <a:gd name="T17" fmla="*/ 864 w 864"/>
                  <a:gd name="T18" fmla="*/ 192 h 1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64" h="192">
                    <a:moveTo>
                      <a:pt x="0" y="192"/>
                    </a:moveTo>
                    <a:lnTo>
                      <a:pt x="720" y="192"/>
                    </a:lnTo>
                    <a:lnTo>
                      <a:pt x="864" y="0"/>
                    </a:lnTo>
                    <a:lnTo>
                      <a:pt x="192" y="0"/>
                    </a:lnTo>
                    <a:lnTo>
                      <a:pt x="0" y="192"/>
                    </a:lnTo>
                    <a:close/>
                  </a:path>
                </a:pathLst>
              </a:cu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167" name="Freeform 51"/>
              <p:cNvSpPr>
                <a:spLocks/>
              </p:cNvSpPr>
              <p:nvPr/>
            </p:nvSpPr>
            <p:spPr bwMode="auto">
              <a:xfrm>
                <a:off x="5040" y="912"/>
                <a:ext cx="144" cy="336"/>
              </a:xfrm>
              <a:custGeom>
                <a:avLst/>
                <a:gdLst>
                  <a:gd name="T0" fmla="*/ 0 w 144"/>
                  <a:gd name="T1" fmla="*/ 192 h 336"/>
                  <a:gd name="T2" fmla="*/ 0 w 144"/>
                  <a:gd name="T3" fmla="*/ 336 h 336"/>
                  <a:gd name="T4" fmla="*/ 144 w 144"/>
                  <a:gd name="T5" fmla="*/ 144 h 336"/>
                  <a:gd name="T6" fmla="*/ 144 w 144"/>
                  <a:gd name="T7" fmla="*/ 0 h 336"/>
                  <a:gd name="T8" fmla="*/ 0 w 144"/>
                  <a:gd name="T9" fmla="*/ 192 h 3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44"/>
                  <a:gd name="T16" fmla="*/ 0 h 336"/>
                  <a:gd name="T17" fmla="*/ 144 w 144"/>
                  <a:gd name="T18" fmla="*/ 336 h 3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44" h="336">
                    <a:moveTo>
                      <a:pt x="0" y="192"/>
                    </a:moveTo>
                    <a:lnTo>
                      <a:pt x="0" y="336"/>
                    </a:lnTo>
                    <a:lnTo>
                      <a:pt x="144" y="144"/>
                    </a:lnTo>
                    <a:lnTo>
                      <a:pt x="144" y="0"/>
                    </a:lnTo>
                    <a:lnTo>
                      <a:pt x="0" y="192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168" name="Rectangle 52"/>
              <p:cNvSpPr>
                <a:spLocks noChangeArrowheads="1"/>
              </p:cNvSpPr>
              <p:nvPr/>
            </p:nvSpPr>
            <p:spPr bwMode="auto">
              <a:xfrm>
                <a:off x="4368" y="1104"/>
                <a:ext cx="720" cy="144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5169" name="Freeform 53"/>
              <p:cNvSpPr>
                <a:spLocks/>
              </p:cNvSpPr>
              <p:nvPr/>
            </p:nvSpPr>
            <p:spPr bwMode="auto">
              <a:xfrm>
                <a:off x="4368" y="912"/>
                <a:ext cx="864" cy="192"/>
              </a:xfrm>
              <a:custGeom>
                <a:avLst/>
                <a:gdLst>
                  <a:gd name="T0" fmla="*/ 0 w 864"/>
                  <a:gd name="T1" fmla="*/ 192 h 192"/>
                  <a:gd name="T2" fmla="*/ 720 w 864"/>
                  <a:gd name="T3" fmla="*/ 192 h 192"/>
                  <a:gd name="T4" fmla="*/ 864 w 864"/>
                  <a:gd name="T5" fmla="*/ 0 h 192"/>
                  <a:gd name="T6" fmla="*/ 192 w 864"/>
                  <a:gd name="T7" fmla="*/ 0 h 192"/>
                  <a:gd name="T8" fmla="*/ 0 w 864"/>
                  <a:gd name="T9" fmla="*/ 192 h 1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64"/>
                  <a:gd name="T16" fmla="*/ 0 h 192"/>
                  <a:gd name="T17" fmla="*/ 864 w 864"/>
                  <a:gd name="T18" fmla="*/ 192 h 1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64" h="192">
                    <a:moveTo>
                      <a:pt x="0" y="192"/>
                    </a:moveTo>
                    <a:lnTo>
                      <a:pt x="720" y="192"/>
                    </a:lnTo>
                    <a:lnTo>
                      <a:pt x="864" y="0"/>
                    </a:lnTo>
                    <a:lnTo>
                      <a:pt x="192" y="0"/>
                    </a:lnTo>
                    <a:lnTo>
                      <a:pt x="0" y="192"/>
                    </a:lnTo>
                    <a:close/>
                  </a:path>
                </a:pathLst>
              </a:cu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170" name="Text Box 54"/>
              <p:cNvSpPr txBox="1">
                <a:spLocks noChangeArrowheads="1"/>
              </p:cNvSpPr>
              <p:nvPr/>
            </p:nvSpPr>
            <p:spPr bwMode="auto">
              <a:xfrm>
                <a:off x="4368" y="1104"/>
                <a:ext cx="720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>
                  <a:buClrTx/>
                  <a:buFontTx/>
                  <a:buNone/>
                </a:pPr>
                <a:r>
                  <a:rPr lang="en-GB" altLang="en-US" sz="1600">
                    <a:latin typeface="Times New Roman" pitchFamily="18" charset="0"/>
                  </a:rPr>
                  <a:t>Mme Bovary</a:t>
                </a:r>
              </a:p>
            </p:txBody>
          </p:sp>
        </p:grpSp>
      </p:grpSp>
      <p:grpSp>
        <p:nvGrpSpPr>
          <p:cNvPr id="16" name="Group 134"/>
          <p:cNvGrpSpPr>
            <a:grpSpLocks/>
          </p:cNvGrpSpPr>
          <p:nvPr/>
        </p:nvGrpSpPr>
        <p:grpSpPr bwMode="auto">
          <a:xfrm>
            <a:off x="5875639" y="2331409"/>
            <a:ext cx="1871662" cy="2573338"/>
            <a:chOff x="4377" y="1392"/>
            <a:chExt cx="1179" cy="1621"/>
          </a:xfrm>
        </p:grpSpPr>
        <p:sp>
          <p:nvSpPr>
            <p:cNvPr id="5129" name="Text Box 77"/>
            <p:cNvSpPr txBox="1">
              <a:spLocks noChangeArrowheads="1"/>
            </p:cNvSpPr>
            <p:nvPr/>
          </p:nvSpPr>
          <p:spPr bwMode="auto">
            <a:xfrm>
              <a:off x="4509" y="1392"/>
              <a:ext cx="960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buClrTx/>
                <a:buFontTx/>
                <a:buNone/>
              </a:pPr>
              <a:r>
                <a:rPr lang="en-GB" altLang="en-US" sz="2000"/>
                <a:t>After pushing “Odyssey”:</a:t>
              </a:r>
            </a:p>
          </p:txBody>
        </p:sp>
        <p:sp>
          <p:nvSpPr>
            <p:cNvPr id="5130" name="Text Box 78"/>
            <p:cNvSpPr txBox="1">
              <a:spLocks noChangeArrowheads="1"/>
            </p:cNvSpPr>
            <p:nvPr/>
          </p:nvSpPr>
          <p:spPr bwMode="auto">
            <a:xfrm>
              <a:off x="4444" y="2840"/>
              <a:ext cx="95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(size = 4)</a:t>
              </a:r>
            </a:p>
          </p:txBody>
        </p:sp>
        <p:grpSp>
          <p:nvGrpSpPr>
            <p:cNvPr id="5131" name="Group 79"/>
            <p:cNvGrpSpPr>
              <a:grpSpLocks/>
            </p:cNvGrpSpPr>
            <p:nvPr/>
          </p:nvGrpSpPr>
          <p:grpSpPr bwMode="auto">
            <a:xfrm>
              <a:off x="4377" y="2387"/>
              <a:ext cx="1179" cy="408"/>
              <a:chOff x="567" y="3294"/>
              <a:chExt cx="1179" cy="408"/>
            </a:xfrm>
          </p:grpSpPr>
          <p:sp>
            <p:nvSpPr>
              <p:cNvPr id="5156" name="Freeform 80"/>
              <p:cNvSpPr>
                <a:spLocks/>
              </p:cNvSpPr>
              <p:nvPr/>
            </p:nvSpPr>
            <p:spPr bwMode="auto">
              <a:xfrm>
                <a:off x="567" y="3385"/>
                <a:ext cx="1179" cy="317"/>
              </a:xfrm>
              <a:custGeom>
                <a:avLst/>
                <a:gdLst>
                  <a:gd name="T0" fmla="*/ 226 w 1179"/>
                  <a:gd name="T1" fmla="*/ 0 h 317"/>
                  <a:gd name="T2" fmla="*/ 0 w 1179"/>
                  <a:gd name="T3" fmla="*/ 317 h 317"/>
                  <a:gd name="T4" fmla="*/ 952 w 1179"/>
                  <a:gd name="T5" fmla="*/ 317 h 317"/>
                  <a:gd name="T6" fmla="*/ 1179 w 1179"/>
                  <a:gd name="T7" fmla="*/ 0 h 317"/>
                  <a:gd name="T8" fmla="*/ 226 w 1179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9"/>
                  <a:gd name="T16" fmla="*/ 0 h 317"/>
                  <a:gd name="T17" fmla="*/ 1179 w 1179"/>
                  <a:gd name="T18" fmla="*/ 317 h 3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9" h="317">
                    <a:moveTo>
                      <a:pt x="226" y="0"/>
                    </a:moveTo>
                    <a:lnTo>
                      <a:pt x="0" y="317"/>
                    </a:lnTo>
                    <a:lnTo>
                      <a:pt x="952" y="317"/>
                    </a:lnTo>
                    <a:lnTo>
                      <a:pt x="1179" y="0"/>
                    </a:lnTo>
                    <a:lnTo>
                      <a:pt x="226" y="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157" name="Freeform 81"/>
              <p:cNvSpPr>
                <a:spLocks/>
              </p:cNvSpPr>
              <p:nvPr/>
            </p:nvSpPr>
            <p:spPr bwMode="auto">
              <a:xfrm>
                <a:off x="567" y="3295"/>
                <a:ext cx="1179" cy="317"/>
              </a:xfrm>
              <a:custGeom>
                <a:avLst/>
                <a:gdLst>
                  <a:gd name="T0" fmla="*/ 226 w 1179"/>
                  <a:gd name="T1" fmla="*/ 0 h 317"/>
                  <a:gd name="T2" fmla="*/ 0 w 1179"/>
                  <a:gd name="T3" fmla="*/ 317 h 317"/>
                  <a:gd name="T4" fmla="*/ 952 w 1179"/>
                  <a:gd name="T5" fmla="*/ 317 h 317"/>
                  <a:gd name="T6" fmla="*/ 1179 w 1179"/>
                  <a:gd name="T7" fmla="*/ 0 h 317"/>
                  <a:gd name="T8" fmla="*/ 226 w 1179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9"/>
                  <a:gd name="T16" fmla="*/ 0 h 317"/>
                  <a:gd name="T17" fmla="*/ 1179 w 1179"/>
                  <a:gd name="T18" fmla="*/ 317 h 3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9" h="317">
                    <a:moveTo>
                      <a:pt x="226" y="0"/>
                    </a:moveTo>
                    <a:lnTo>
                      <a:pt x="0" y="317"/>
                    </a:lnTo>
                    <a:lnTo>
                      <a:pt x="952" y="317"/>
                    </a:lnTo>
                    <a:lnTo>
                      <a:pt x="1179" y="0"/>
                    </a:lnTo>
                    <a:lnTo>
                      <a:pt x="22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158" name="Rectangle 82"/>
              <p:cNvSpPr>
                <a:spLocks noChangeArrowheads="1"/>
              </p:cNvSpPr>
              <p:nvPr/>
            </p:nvSpPr>
            <p:spPr bwMode="auto">
              <a:xfrm>
                <a:off x="567" y="3612"/>
                <a:ext cx="952" cy="9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5159" name="Freeform 83"/>
              <p:cNvSpPr>
                <a:spLocks/>
              </p:cNvSpPr>
              <p:nvPr/>
            </p:nvSpPr>
            <p:spPr bwMode="auto">
              <a:xfrm>
                <a:off x="1519" y="3294"/>
                <a:ext cx="227" cy="408"/>
              </a:xfrm>
              <a:custGeom>
                <a:avLst/>
                <a:gdLst>
                  <a:gd name="T0" fmla="*/ 0 w 227"/>
                  <a:gd name="T1" fmla="*/ 318 h 408"/>
                  <a:gd name="T2" fmla="*/ 227 w 227"/>
                  <a:gd name="T3" fmla="*/ 0 h 408"/>
                  <a:gd name="T4" fmla="*/ 227 w 227"/>
                  <a:gd name="T5" fmla="*/ 91 h 408"/>
                  <a:gd name="T6" fmla="*/ 0 w 227"/>
                  <a:gd name="T7" fmla="*/ 408 h 408"/>
                  <a:gd name="T8" fmla="*/ 0 w 227"/>
                  <a:gd name="T9" fmla="*/ 318 h 40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7"/>
                  <a:gd name="T16" fmla="*/ 0 h 408"/>
                  <a:gd name="T17" fmla="*/ 227 w 227"/>
                  <a:gd name="T18" fmla="*/ 408 h 40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7" h="408">
                    <a:moveTo>
                      <a:pt x="0" y="318"/>
                    </a:moveTo>
                    <a:lnTo>
                      <a:pt x="227" y="0"/>
                    </a:lnTo>
                    <a:lnTo>
                      <a:pt x="227" y="91"/>
                    </a:lnTo>
                    <a:lnTo>
                      <a:pt x="0" y="408"/>
                    </a:lnTo>
                    <a:lnTo>
                      <a:pt x="0" y="31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5132" name="Group 124"/>
            <p:cNvGrpSpPr>
              <a:grpSpLocks/>
            </p:cNvGrpSpPr>
            <p:nvPr/>
          </p:nvGrpSpPr>
          <p:grpSpPr bwMode="auto">
            <a:xfrm>
              <a:off x="4533" y="2296"/>
              <a:ext cx="864" cy="340"/>
              <a:chOff x="584" y="3249"/>
              <a:chExt cx="864" cy="340"/>
            </a:xfrm>
          </p:grpSpPr>
          <p:sp>
            <p:nvSpPr>
              <p:cNvPr id="5151" name="Freeform 125"/>
              <p:cNvSpPr>
                <a:spLocks/>
              </p:cNvSpPr>
              <p:nvPr/>
            </p:nvSpPr>
            <p:spPr bwMode="auto">
              <a:xfrm>
                <a:off x="584" y="3393"/>
                <a:ext cx="864" cy="192"/>
              </a:xfrm>
              <a:custGeom>
                <a:avLst/>
                <a:gdLst>
                  <a:gd name="T0" fmla="*/ 0 w 864"/>
                  <a:gd name="T1" fmla="*/ 192 h 192"/>
                  <a:gd name="T2" fmla="*/ 720 w 864"/>
                  <a:gd name="T3" fmla="*/ 192 h 192"/>
                  <a:gd name="T4" fmla="*/ 864 w 864"/>
                  <a:gd name="T5" fmla="*/ 0 h 192"/>
                  <a:gd name="T6" fmla="*/ 192 w 864"/>
                  <a:gd name="T7" fmla="*/ 0 h 192"/>
                  <a:gd name="T8" fmla="*/ 0 w 864"/>
                  <a:gd name="T9" fmla="*/ 192 h 1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64"/>
                  <a:gd name="T16" fmla="*/ 0 h 192"/>
                  <a:gd name="T17" fmla="*/ 864 w 864"/>
                  <a:gd name="T18" fmla="*/ 192 h 1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64" h="192">
                    <a:moveTo>
                      <a:pt x="0" y="192"/>
                    </a:moveTo>
                    <a:lnTo>
                      <a:pt x="720" y="192"/>
                    </a:lnTo>
                    <a:lnTo>
                      <a:pt x="864" y="0"/>
                    </a:lnTo>
                    <a:lnTo>
                      <a:pt x="192" y="0"/>
                    </a:lnTo>
                    <a:lnTo>
                      <a:pt x="0" y="192"/>
                    </a:lnTo>
                    <a:close/>
                  </a:path>
                </a:pathLst>
              </a:custGeom>
              <a:solidFill>
                <a:schemeClr val="fol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152" name="Freeform 126"/>
              <p:cNvSpPr>
                <a:spLocks/>
              </p:cNvSpPr>
              <p:nvPr/>
            </p:nvSpPr>
            <p:spPr bwMode="auto">
              <a:xfrm>
                <a:off x="1256" y="3249"/>
                <a:ext cx="144" cy="336"/>
              </a:xfrm>
              <a:custGeom>
                <a:avLst/>
                <a:gdLst>
                  <a:gd name="T0" fmla="*/ 0 w 144"/>
                  <a:gd name="T1" fmla="*/ 192 h 336"/>
                  <a:gd name="T2" fmla="*/ 0 w 144"/>
                  <a:gd name="T3" fmla="*/ 336 h 336"/>
                  <a:gd name="T4" fmla="*/ 144 w 144"/>
                  <a:gd name="T5" fmla="*/ 144 h 336"/>
                  <a:gd name="T6" fmla="*/ 144 w 144"/>
                  <a:gd name="T7" fmla="*/ 0 h 336"/>
                  <a:gd name="T8" fmla="*/ 0 w 144"/>
                  <a:gd name="T9" fmla="*/ 192 h 3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44"/>
                  <a:gd name="T16" fmla="*/ 0 h 336"/>
                  <a:gd name="T17" fmla="*/ 144 w 144"/>
                  <a:gd name="T18" fmla="*/ 336 h 3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44" h="336">
                    <a:moveTo>
                      <a:pt x="0" y="192"/>
                    </a:moveTo>
                    <a:lnTo>
                      <a:pt x="0" y="336"/>
                    </a:lnTo>
                    <a:lnTo>
                      <a:pt x="144" y="144"/>
                    </a:lnTo>
                    <a:lnTo>
                      <a:pt x="144" y="0"/>
                    </a:lnTo>
                    <a:lnTo>
                      <a:pt x="0" y="192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153" name="Rectangle 127"/>
              <p:cNvSpPr>
                <a:spLocks noChangeArrowheads="1"/>
              </p:cNvSpPr>
              <p:nvPr/>
            </p:nvSpPr>
            <p:spPr bwMode="auto">
              <a:xfrm>
                <a:off x="584" y="3441"/>
                <a:ext cx="720" cy="144"/>
              </a:xfrm>
              <a:prstGeom prst="rect">
                <a:avLst/>
              </a:prstGeom>
              <a:solidFill>
                <a:schemeClr val="folHlink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5154" name="Freeform 128"/>
              <p:cNvSpPr>
                <a:spLocks/>
              </p:cNvSpPr>
              <p:nvPr/>
            </p:nvSpPr>
            <p:spPr bwMode="auto">
              <a:xfrm>
                <a:off x="584" y="3249"/>
                <a:ext cx="864" cy="192"/>
              </a:xfrm>
              <a:custGeom>
                <a:avLst/>
                <a:gdLst>
                  <a:gd name="T0" fmla="*/ 0 w 864"/>
                  <a:gd name="T1" fmla="*/ 192 h 192"/>
                  <a:gd name="T2" fmla="*/ 720 w 864"/>
                  <a:gd name="T3" fmla="*/ 192 h 192"/>
                  <a:gd name="T4" fmla="*/ 864 w 864"/>
                  <a:gd name="T5" fmla="*/ 0 h 192"/>
                  <a:gd name="T6" fmla="*/ 192 w 864"/>
                  <a:gd name="T7" fmla="*/ 0 h 192"/>
                  <a:gd name="T8" fmla="*/ 0 w 864"/>
                  <a:gd name="T9" fmla="*/ 192 h 1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64"/>
                  <a:gd name="T16" fmla="*/ 0 h 192"/>
                  <a:gd name="T17" fmla="*/ 864 w 864"/>
                  <a:gd name="T18" fmla="*/ 192 h 1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64" h="192">
                    <a:moveTo>
                      <a:pt x="0" y="192"/>
                    </a:moveTo>
                    <a:lnTo>
                      <a:pt x="720" y="192"/>
                    </a:lnTo>
                    <a:lnTo>
                      <a:pt x="864" y="0"/>
                    </a:lnTo>
                    <a:lnTo>
                      <a:pt x="192" y="0"/>
                    </a:lnTo>
                    <a:lnTo>
                      <a:pt x="0" y="192"/>
                    </a:lnTo>
                    <a:close/>
                  </a:path>
                </a:pathLst>
              </a:custGeom>
              <a:solidFill>
                <a:schemeClr val="fol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155" name="Text Box 129"/>
              <p:cNvSpPr txBox="1">
                <a:spLocks noChangeArrowheads="1"/>
              </p:cNvSpPr>
              <p:nvPr/>
            </p:nvSpPr>
            <p:spPr bwMode="auto">
              <a:xfrm>
                <a:off x="584" y="3435"/>
                <a:ext cx="720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>
                  <a:buClrTx/>
                  <a:buFontTx/>
                  <a:buNone/>
                </a:pPr>
                <a:r>
                  <a:rPr lang="en-GB" altLang="en-US" sz="1600">
                    <a:latin typeface="Times New Roman" pitchFamily="18" charset="0"/>
                  </a:rPr>
                  <a:t>Moby Dick</a:t>
                </a:r>
              </a:p>
            </p:txBody>
          </p:sp>
        </p:grpSp>
        <p:grpSp>
          <p:nvGrpSpPr>
            <p:cNvPr id="5133" name="Group 90"/>
            <p:cNvGrpSpPr>
              <a:grpSpLocks/>
            </p:cNvGrpSpPr>
            <p:nvPr/>
          </p:nvGrpSpPr>
          <p:grpSpPr bwMode="auto">
            <a:xfrm>
              <a:off x="4536" y="2160"/>
              <a:ext cx="864" cy="346"/>
              <a:chOff x="1968" y="1920"/>
              <a:chExt cx="864" cy="346"/>
            </a:xfrm>
          </p:grpSpPr>
          <p:sp>
            <p:nvSpPr>
              <p:cNvPr id="5146" name="Freeform 91"/>
              <p:cNvSpPr>
                <a:spLocks/>
              </p:cNvSpPr>
              <p:nvPr/>
            </p:nvSpPr>
            <p:spPr bwMode="auto">
              <a:xfrm>
                <a:off x="1968" y="2064"/>
                <a:ext cx="864" cy="192"/>
              </a:xfrm>
              <a:custGeom>
                <a:avLst/>
                <a:gdLst>
                  <a:gd name="T0" fmla="*/ 0 w 864"/>
                  <a:gd name="T1" fmla="*/ 192 h 192"/>
                  <a:gd name="T2" fmla="*/ 720 w 864"/>
                  <a:gd name="T3" fmla="*/ 192 h 192"/>
                  <a:gd name="T4" fmla="*/ 864 w 864"/>
                  <a:gd name="T5" fmla="*/ 0 h 192"/>
                  <a:gd name="T6" fmla="*/ 192 w 864"/>
                  <a:gd name="T7" fmla="*/ 0 h 192"/>
                  <a:gd name="T8" fmla="*/ 0 w 864"/>
                  <a:gd name="T9" fmla="*/ 192 h 1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64"/>
                  <a:gd name="T16" fmla="*/ 0 h 192"/>
                  <a:gd name="T17" fmla="*/ 864 w 864"/>
                  <a:gd name="T18" fmla="*/ 192 h 1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64" h="192">
                    <a:moveTo>
                      <a:pt x="0" y="192"/>
                    </a:moveTo>
                    <a:lnTo>
                      <a:pt x="720" y="192"/>
                    </a:lnTo>
                    <a:lnTo>
                      <a:pt x="864" y="0"/>
                    </a:lnTo>
                    <a:lnTo>
                      <a:pt x="192" y="0"/>
                    </a:lnTo>
                    <a:lnTo>
                      <a:pt x="0" y="192"/>
                    </a:lnTo>
                    <a:close/>
                  </a:path>
                </a:pathLst>
              </a:custGeom>
              <a:solidFill>
                <a:srgbClr val="FF99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147" name="Freeform 92"/>
              <p:cNvSpPr>
                <a:spLocks/>
              </p:cNvSpPr>
              <p:nvPr/>
            </p:nvSpPr>
            <p:spPr bwMode="auto">
              <a:xfrm>
                <a:off x="2640" y="1920"/>
                <a:ext cx="144" cy="336"/>
              </a:xfrm>
              <a:custGeom>
                <a:avLst/>
                <a:gdLst>
                  <a:gd name="T0" fmla="*/ 0 w 144"/>
                  <a:gd name="T1" fmla="*/ 192 h 336"/>
                  <a:gd name="T2" fmla="*/ 0 w 144"/>
                  <a:gd name="T3" fmla="*/ 336 h 336"/>
                  <a:gd name="T4" fmla="*/ 144 w 144"/>
                  <a:gd name="T5" fmla="*/ 144 h 336"/>
                  <a:gd name="T6" fmla="*/ 144 w 144"/>
                  <a:gd name="T7" fmla="*/ 0 h 336"/>
                  <a:gd name="T8" fmla="*/ 0 w 144"/>
                  <a:gd name="T9" fmla="*/ 192 h 3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44"/>
                  <a:gd name="T16" fmla="*/ 0 h 336"/>
                  <a:gd name="T17" fmla="*/ 144 w 144"/>
                  <a:gd name="T18" fmla="*/ 336 h 3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44" h="336">
                    <a:moveTo>
                      <a:pt x="0" y="192"/>
                    </a:moveTo>
                    <a:lnTo>
                      <a:pt x="0" y="336"/>
                    </a:lnTo>
                    <a:lnTo>
                      <a:pt x="144" y="144"/>
                    </a:lnTo>
                    <a:lnTo>
                      <a:pt x="144" y="0"/>
                    </a:lnTo>
                    <a:lnTo>
                      <a:pt x="0" y="192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148" name="Freeform 93"/>
              <p:cNvSpPr>
                <a:spLocks/>
              </p:cNvSpPr>
              <p:nvPr/>
            </p:nvSpPr>
            <p:spPr bwMode="auto">
              <a:xfrm>
                <a:off x="1968" y="1920"/>
                <a:ext cx="864" cy="192"/>
              </a:xfrm>
              <a:custGeom>
                <a:avLst/>
                <a:gdLst>
                  <a:gd name="T0" fmla="*/ 0 w 864"/>
                  <a:gd name="T1" fmla="*/ 192 h 192"/>
                  <a:gd name="T2" fmla="*/ 720 w 864"/>
                  <a:gd name="T3" fmla="*/ 192 h 192"/>
                  <a:gd name="T4" fmla="*/ 864 w 864"/>
                  <a:gd name="T5" fmla="*/ 0 h 192"/>
                  <a:gd name="T6" fmla="*/ 192 w 864"/>
                  <a:gd name="T7" fmla="*/ 0 h 192"/>
                  <a:gd name="T8" fmla="*/ 0 w 864"/>
                  <a:gd name="T9" fmla="*/ 192 h 1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64"/>
                  <a:gd name="T16" fmla="*/ 0 h 192"/>
                  <a:gd name="T17" fmla="*/ 864 w 864"/>
                  <a:gd name="T18" fmla="*/ 192 h 1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64" h="192">
                    <a:moveTo>
                      <a:pt x="0" y="192"/>
                    </a:moveTo>
                    <a:lnTo>
                      <a:pt x="720" y="192"/>
                    </a:lnTo>
                    <a:lnTo>
                      <a:pt x="864" y="0"/>
                    </a:lnTo>
                    <a:lnTo>
                      <a:pt x="192" y="0"/>
                    </a:lnTo>
                    <a:lnTo>
                      <a:pt x="0" y="192"/>
                    </a:lnTo>
                    <a:close/>
                  </a:path>
                </a:pathLst>
              </a:custGeom>
              <a:solidFill>
                <a:srgbClr val="FF99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149" name="Rectangle 94"/>
              <p:cNvSpPr>
                <a:spLocks noChangeArrowheads="1"/>
              </p:cNvSpPr>
              <p:nvPr/>
            </p:nvSpPr>
            <p:spPr bwMode="auto">
              <a:xfrm>
                <a:off x="1968" y="2112"/>
                <a:ext cx="720" cy="144"/>
              </a:xfrm>
              <a:prstGeom prst="rect">
                <a:avLst/>
              </a:prstGeom>
              <a:solidFill>
                <a:srgbClr val="FF99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5150" name="Text Box 95"/>
              <p:cNvSpPr txBox="1">
                <a:spLocks noChangeArrowheads="1"/>
              </p:cNvSpPr>
              <p:nvPr/>
            </p:nvSpPr>
            <p:spPr bwMode="auto">
              <a:xfrm>
                <a:off x="1968" y="2112"/>
                <a:ext cx="720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>
                  <a:buClrTx/>
                  <a:buFontTx/>
                  <a:buNone/>
                </a:pPr>
                <a:r>
                  <a:rPr lang="en-GB" altLang="en-US" sz="1600">
                    <a:latin typeface="Times New Roman" pitchFamily="18" charset="0"/>
                  </a:rPr>
                  <a:t>War &amp; Peace</a:t>
                </a:r>
              </a:p>
            </p:txBody>
          </p:sp>
        </p:grpSp>
        <p:grpSp>
          <p:nvGrpSpPr>
            <p:cNvPr id="5134" name="Group 96"/>
            <p:cNvGrpSpPr>
              <a:grpSpLocks/>
            </p:cNvGrpSpPr>
            <p:nvPr/>
          </p:nvGrpSpPr>
          <p:grpSpPr bwMode="auto">
            <a:xfrm>
              <a:off x="4536" y="2016"/>
              <a:ext cx="864" cy="346"/>
              <a:chOff x="4368" y="912"/>
              <a:chExt cx="864" cy="346"/>
            </a:xfrm>
          </p:grpSpPr>
          <p:sp>
            <p:nvSpPr>
              <p:cNvPr id="5141" name="Freeform 97"/>
              <p:cNvSpPr>
                <a:spLocks/>
              </p:cNvSpPr>
              <p:nvPr/>
            </p:nvSpPr>
            <p:spPr bwMode="auto">
              <a:xfrm>
                <a:off x="4368" y="1056"/>
                <a:ext cx="864" cy="192"/>
              </a:xfrm>
              <a:custGeom>
                <a:avLst/>
                <a:gdLst>
                  <a:gd name="T0" fmla="*/ 0 w 864"/>
                  <a:gd name="T1" fmla="*/ 192 h 192"/>
                  <a:gd name="T2" fmla="*/ 720 w 864"/>
                  <a:gd name="T3" fmla="*/ 192 h 192"/>
                  <a:gd name="T4" fmla="*/ 864 w 864"/>
                  <a:gd name="T5" fmla="*/ 0 h 192"/>
                  <a:gd name="T6" fmla="*/ 192 w 864"/>
                  <a:gd name="T7" fmla="*/ 0 h 192"/>
                  <a:gd name="T8" fmla="*/ 0 w 864"/>
                  <a:gd name="T9" fmla="*/ 192 h 1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64"/>
                  <a:gd name="T16" fmla="*/ 0 h 192"/>
                  <a:gd name="T17" fmla="*/ 864 w 864"/>
                  <a:gd name="T18" fmla="*/ 192 h 1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64" h="192">
                    <a:moveTo>
                      <a:pt x="0" y="192"/>
                    </a:moveTo>
                    <a:lnTo>
                      <a:pt x="720" y="192"/>
                    </a:lnTo>
                    <a:lnTo>
                      <a:pt x="864" y="0"/>
                    </a:lnTo>
                    <a:lnTo>
                      <a:pt x="192" y="0"/>
                    </a:lnTo>
                    <a:lnTo>
                      <a:pt x="0" y="192"/>
                    </a:lnTo>
                    <a:close/>
                  </a:path>
                </a:pathLst>
              </a:cu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142" name="Freeform 98"/>
              <p:cNvSpPr>
                <a:spLocks/>
              </p:cNvSpPr>
              <p:nvPr/>
            </p:nvSpPr>
            <p:spPr bwMode="auto">
              <a:xfrm>
                <a:off x="5040" y="912"/>
                <a:ext cx="144" cy="336"/>
              </a:xfrm>
              <a:custGeom>
                <a:avLst/>
                <a:gdLst>
                  <a:gd name="T0" fmla="*/ 0 w 144"/>
                  <a:gd name="T1" fmla="*/ 192 h 336"/>
                  <a:gd name="T2" fmla="*/ 0 w 144"/>
                  <a:gd name="T3" fmla="*/ 336 h 336"/>
                  <a:gd name="T4" fmla="*/ 144 w 144"/>
                  <a:gd name="T5" fmla="*/ 144 h 336"/>
                  <a:gd name="T6" fmla="*/ 144 w 144"/>
                  <a:gd name="T7" fmla="*/ 0 h 336"/>
                  <a:gd name="T8" fmla="*/ 0 w 144"/>
                  <a:gd name="T9" fmla="*/ 192 h 3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44"/>
                  <a:gd name="T16" fmla="*/ 0 h 336"/>
                  <a:gd name="T17" fmla="*/ 144 w 144"/>
                  <a:gd name="T18" fmla="*/ 336 h 3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44" h="336">
                    <a:moveTo>
                      <a:pt x="0" y="192"/>
                    </a:moveTo>
                    <a:lnTo>
                      <a:pt x="0" y="336"/>
                    </a:lnTo>
                    <a:lnTo>
                      <a:pt x="144" y="144"/>
                    </a:lnTo>
                    <a:lnTo>
                      <a:pt x="144" y="0"/>
                    </a:lnTo>
                    <a:lnTo>
                      <a:pt x="0" y="192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143" name="Rectangle 99"/>
              <p:cNvSpPr>
                <a:spLocks noChangeArrowheads="1"/>
              </p:cNvSpPr>
              <p:nvPr/>
            </p:nvSpPr>
            <p:spPr bwMode="auto">
              <a:xfrm>
                <a:off x="4368" y="1104"/>
                <a:ext cx="720" cy="144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5144" name="Freeform 100"/>
              <p:cNvSpPr>
                <a:spLocks/>
              </p:cNvSpPr>
              <p:nvPr/>
            </p:nvSpPr>
            <p:spPr bwMode="auto">
              <a:xfrm>
                <a:off x="4368" y="912"/>
                <a:ext cx="864" cy="192"/>
              </a:xfrm>
              <a:custGeom>
                <a:avLst/>
                <a:gdLst>
                  <a:gd name="T0" fmla="*/ 0 w 864"/>
                  <a:gd name="T1" fmla="*/ 192 h 192"/>
                  <a:gd name="T2" fmla="*/ 720 w 864"/>
                  <a:gd name="T3" fmla="*/ 192 h 192"/>
                  <a:gd name="T4" fmla="*/ 864 w 864"/>
                  <a:gd name="T5" fmla="*/ 0 h 192"/>
                  <a:gd name="T6" fmla="*/ 192 w 864"/>
                  <a:gd name="T7" fmla="*/ 0 h 192"/>
                  <a:gd name="T8" fmla="*/ 0 w 864"/>
                  <a:gd name="T9" fmla="*/ 192 h 1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64"/>
                  <a:gd name="T16" fmla="*/ 0 h 192"/>
                  <a:gd name="T17" fmla="*/ 864 w 864"/>
                  <a:gd name="T18" fmla="*/ 192 h 1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64" h="192">
                    <a:moveTo>
                      <a:pt x="0" y="192"/>
                    </a:moveTo>
                    <a:lnTo>
                      <a:pt x="720" y="192"/>
                    </a:lnTo>
                    <a:lnTo>
                      <a:pt x="864" y="0"/>
                    </a:lnTo>
                    <a:lnTo>
                      <a:pt x="192" y="0"/>
                    </a:lnTo>
                    <a:lnTo>
                      <a:pt x="0" y="192"/>
                    </a:lnTo>
                    <a:close/>
                  </a:path>
                </a:pathLst>
              </a:cu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145" name="Text Box 101"/>
              <p:cNvSpPr txBox="1">
                <a:spLocks noChangeArrowheads="1"/>
              </p:cNvSpPr>
              <p:nvPr/>
            </p:nvSpPr>
            <p:spPr bwMode="auto">
              <a:xfrm>
                <a:off x="4368" y="1104"/>
                <a:ext cx="720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>
                  <a:buClrTx/>
                  <a:buFontTx/>
                  <a:buNone/>
                </a:pPr>
                <a:r>
                  <a:rPr lang="en-GB" altLang="en-US" sz="1600">
                    <a:latin typeface="Times New Roman" pitchFamily="18" charset="0"/>
                  </a:rPr>
                  <a:t>Mme Bovary</a:t>
                </a:r>
              </a:p>
            </p:txBody>
          </p:sp>
        </p:grpSp>
        <p:grpSp>
          <p:nvGrpSpPr>
            <p:cNvPr id="5135" name="Group 102"/>
            <p:cNvGrpSpPr>
              <a:grpSpLocks/>
            </p:cNvGrpSpPr>
            <p:nvPr/>
          </p:nvGrpSpPr>
          <p:grpSpPr bwMode="auto">
            <a:xfrm>
              <a:off x="4539" y="1865"/>
              <a:ext cx="864" cy="352"/>
              <a:chOff x="4649" y="890"/>
              <a:chExt cx="864" cy="352"/>
            </a:xfrm>
          </p:grpSpPr>
          <p:sp>
            <p:nvSpPr>
              <p:cNvPr id="5136" name="Freeform 103"/>
              <p:cNvSpPr>
                <a:spLocks/>
              </p:cNvSpPr>
              <p:nvPr/>
            </p:nvSpPr>
            <p:spPr bwMode="auto">
              <a:xfrm>
                <a:off x="4649" y="1034"/>
                <a:ext cx="864" cy="192"/>
              </a:xfrm>
              <a:custGeom>
                <a:avLst/>
                <a:gdLst>
                  <a:gd name="T0" fmla="*/ 0 w 864"/>
                  <a:gd name="T1" fmla="*/ 192 h 192"/>
                  <a:gd name="T2" fmla="*/ 720 w 864"/>
                  <a:gd name="T3" fmla="*/ 192 h 192"/>
                  <a:gd name="T4" fmla="*/ 864 w 864"/>
                  <a:gd name="T5" fmla="*/ 0 h 192"/>
                  <a:gd name="T6" fmla="*/ 192 w 864"/>
                  <a:gd name="T7" fmla="*/ 0 h 192"/>
                  <a:gd name="T8" fmla="*/ 0 w 864"/>
                  <a:gd name="T9" fmla="*/ 192 h 1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64"/>
                  <a:gd name="T16" fmla="*/ 0 h 192"/>
                  <a:gd name="T17" fmla="*/ 864 w 864"/>
                  <a:gd name="T18" fmla="*/ 192 h 1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64" h="192">
                    <a:moveTo>
                      <a:pt x="0" y="192"/>
                    </a:moveTo>
                    <a:lnTo>
                      <a:pt x="720" y="192"/>
                    </a:lnTo>
                    <a:lnTo>
                      <a:pt x="864" y="0"/>
                    </a:lnTo>
                    <a:lnTo>
                      <a:pt x="192" y="0"/>
                    </a:lnTo>
                    <a:lnTo>
                      <a:pt x="0" y="192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137" name="Freeform 104"/>
              <p:cNvSpPr>
                <a:spLocks/>
              </p:cNvSpPr>
              <p:nvPr/>
            </p:nvSpPr>
            <p:spPr bwMode="auto">
              <a:xfrm>
                <a:off x="5321" y="890"/>
                <a:ext cx="144" cy="336"/>
              </a:xfrm>
              <a:custGeom>
                <a:avLst/>
                <a:gdLst>
                  <a:gd name="T0" fmla="*/ 0 w 144"/>
                  <a:gd name="T1" fmla="*/ 192 h 336"/>
                  <a:gd name="T2" fmla="*/ 0 w 144"/>
                  <a:gd name="T3" fmla="*/ 336 h 336"/>
                  <a:gd name="T4" fmla="*/ 144 w 144"/>
                  <a:gd name="T5" fmla="*/ 144 h 336"/>
                  <a:gd name="T6" fmla="*/ 144 w 144"/>
                  <a:gd name="T7" fmla="*/ 0 h 336"/>
                  <a:gd name="T8" fmla="*/ 0 w 144"/>
                  <a:gd name="T9" fmla="*/ 192 h 3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44"/>
                  <a:gd name="T16" fmla="*/ 0 h 336"/>
                  <a:gd name="T17" fmla="*/ 144 w 144"/>
                  <a:gd name="T18" fmla="*/ 336 h 3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44" h="336">
                    <a:moveTo>
                      <a:pt x="0" y="192"/>
                    </a:moveTo>
                    <a:lnTo>
                      <a:pt x="0" y="336"/>
                    </a:lnTo>
                    <a:lnTo>
                      <a:pt x="144" y="144"/>
                    </a:lnTo>
                    <a:lnTo>
                      <a:pt x="144" y="0"/>
                    </a:lnTo>
                    <a:lnTo>
                      <a:pt x="0" y="192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138" name="Rectangle 105"/>
              <p:cNvSpPr>
                <a:spLocks noChangeArrowheads="1"/>
              </p:cNvSpPr>
              <p:nvPr/>
            </p:nvSpPr>
            <p:spPr bwMode="auto">
              <a:xfrm>
                <a:off x="4649" y="1082"/>
                <a:ext cx="720" cy="144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5139" name="Freeform 106"/>
              <p:cNvSpPr>
                <a:spLocks/>
              </p:cNvSpPr>
              <p:nvPr/>
            </p:nvSpPr>
            <p:spPr bwMode="auto">
              <a:xfrm>
                <a:off x="4649" y="890"/>
                <a:ext cx="864" cy="192"/>
              </a:xfrm>
              <a:custGeom>
                <a:avLst/>
                <a:gdLst>
                  <a:gd name="T0" fmla="*/ 0 w 864"/>
                  <a:gd name="T1" fmla="*/ 192 h 192"/>
                  <a:gd name="T2" fmla="*/ 720 w 864"/>
                  <a:gd name="T3" fmla="*/ 192 h 192"/>
                  <a:gd name="T4" fmla="*/ 864 w 864"/>
                  <a:gd name="T5" fmla="*/ 0 h 192"/>
                  <a:gd name="T6" fmla="*/ 192 w 864"/>
                  <a:gd name="T7" fmla="*/ 0 h 192"/>
                  <a:gd name="T8" fmla="*/ 0 w 864"/>
                  <a:gd name="T9" fmla="*/ 192 h 1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64"/>
                  <a:gd name="T16" fmla="*/ 0 h 192"/>
                  <a:gd name="T17" fmla="*/ 864 w 864"/>
                  <a:gd name="T18" fmla="*/ 192 h 1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64" h="192">
                    <a:moveTo>
                      <a:pt x="0" y="192"/>
                    </a:moveTo>
                    <a:lnTo>
                      <a:pt x="720" y="192"/>
                    </a:lnTo>
                    <a:lnTo>
                      <a:pt x="864" y="0"/>
                    </a:lnTo>
                    <a:lnTo>
                      <a:pt x="192" y="0"/>
                    </a:lnTo>
                    <a:lnTo>
                      <a:pt x="0" y="192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140" name="Text Box 107"/>
              <p:cNvSpPr txBox="1">
                <a:spLocks noChangeArrowheads="1"/>
              </p:cNvSpPr>
              <p:nvPr/>
            </p:nvSpPr>
            <p:spPr bwMode="auto">
              <a:xfrm>
                <a:off x="4649" y="1082"/>
                <a:ext cx="720" cy="160"/>
              </a:xfrm>
              <a:prstGeom prst="rect">
                <a:avLst/>
              </a:prstGeom>
              <a:solidFill>
                <a:srgbClr val="00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>
                <a:spAutoFit/>
              </a:bodyPr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>
                  <a:buClrTx/>
                  <a:buFontTx/>
                  <a:buNone/>
                </a:pPr>
                <a:r>
                  <a:rPr lang="en-GB" altLang="en-US" sz="1600">
                    <a:latin typeface="Times New Roman" pitchFamily="18" charset="0"/>
                  </a:rPr>
                  <a:t>Odyssey</a:t>
                </a:r>
              </a:p>
            </p:txBody>
          </p:sp>
        </p:grpSp>
      </p:grpSp>
      <p:sp>
        <p:nvSpPr>
          <p:cNvPr id="384130" name="Rectangle 130"/>
          <p:cNvSpPr>
            <a:spLocks noChangeArrowheads="1"/>
          </p:cNvSpPr>
          <p:nvPr/>
        </p:nvSpPr>
        <p:spPr bwMode="auto">
          <a:xfrm>
            <a:off x="340027" y="5429003"/>
            <a:ext cx="7164387" cy="1128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2000" dirty="0"/>
              <a:t>It is a stack because we can add (push) and remove (pop) books only at the top.</a:t>
            </a:r>
          </a:p>
          <a:p>
            <a:pPr eaLnBrk="1" hangingPunct="1">
              <a:spcBef>
                <a:spcPts val="900"/>
              </a:spcBef>
              <a:buClr>
                <a:schemeClr val="tx1"/>
              </a:buClr>
              <a:buFont typeface="Wingdings" pitchFamily="2" charset="2"/>
              <a:buNone/>
            </a:pPr>
            <a:endParaRPr lang="en-US" altLang="en-US" sz="2000" dirty="0">
              <a:latin typeface="Times New Roman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941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413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Stack applications</a:t>
            </a:r>
            <a:endParaRPr lang="en-GB" altLang="en-US" sz="3200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>
                <a:cs typeface="Times New Roman" pitchFamily="18" charset="0"/>
              </a:rPr>
              <a:t>Interpreter (e.g., Java Virtual Machine):</a:t>
            </a:r>
          </a:p>
          <a:p>
            <a:pPr lvl="1" eaLnBrk="1" hangingPunct="1">
              <a:buFont typeface="Times New Roman" pitchFamily="18" charset="0"/>
              <a:buChar char="–"/>
            </a:pPr>
            <a:r>
              <a:rPr lang="en-US" altLang="en-US">
                <a:cs typeface="Times New Roman" pitchFamily="18" charset="0"/>
              </a:rPr>
              <a:t>uses a stack to contain intermediate results during evaluation of complicated expressions</a:t>
            </a:r>
          </a:p>
          <a:p>
            <a:pPr lvl="1" eaLnBrk="1" hangingPunct="1">
              <a:buFont typeface="Times New Roman" pitchFamily="18" charset="0"/>
              <a:buChar char="–"/>
            </a:pPr>
            <a:r>
              <a:rPr lang="en-US" altLang="en-US">
                <a:cs typeface="Times New Roman" pitchFamily="18" charset="0"/>
              </a:rPr>
              <a:t>also uses the stack to contain arguments and return addresses for method calls and returns.</a:t>
            </a:r>
          </a:p>
          <a:p>
            <a:pPr eaLnBrk="1" hangingPunct="1"/>
            <a:r>
              <a:rPr lang="en-US" altLang="en-US"/>
              <a:t>Parser (e.g., XML parser, parser in Java compiler):</a:t>
            </a:r>
          </a:p>
          <a:p>
            <a:pPr lvl="1" eaLnBrk="1" hangingPunct="1">
              <a:buFont typeface="Times New Roman" pitchFamily="18" charset="0"/>
              <a:buChar char="–"/>
            </a:pPr>
            <a:r>
              <a:rPr lang="en-US" altLang="en-US">
                <a:cs typeface="Times New Roman" pitchFamily="18" charset="0"/>
              </a:rPr>
              <a:t>uses a stack to contain symbols encountered during parsing of the source code.</a:t>
            </a:r>
            <a:endParaRPr lang="en-US" altLang="en-US">
              <a:latin typeface="Times New Roman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66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Example: text-file reversal</a:t>
            </a:r>
            <a:endParaRPr lang="en-GB" altLang="en-US" sz="3200" dirty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600200"/>
            <a:ext cx="7620000" cy="4800600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  <a:tabLst>
                <a:tab pos="723900" algn="l"/>
                <a:tab pos="1257300" algn="l"/>
              </a:tabLst>
            </a:pPr>
            <a:r>
              <a:rPr lang="en-US" altLang="en-US" dirty="0">
                <a:cs typeface="Times New Roman" pitchFamily="18" charset="0"/>
              </a:rPr>
              <a:t>A text file is a sequence of (zero or more) lines.</a:t>
            </a:r>
          </a:p>
          <a:p>
            <a:pPr eaLnBrk="1" hangingPunct="1">
              <a:lnSpc>
                <a:spcPct val="90000"/>
              </a:lnSpc>
              <a:tabLst>
                <a:tab pos="723900" algn="l"/>
                <a:tab pos="1257300" algn="l"/>
              </a:tabLst>
            </a:pPr>
            <a:r>
              <a:rPr lang="en-US" altLang="en-US" dirty="0">
                <a:cs typeface="Times New Roman" pitchFamily="18" charset="0"/>
              </a:rPr>
              <a:t>To reverse the order of these lines, we must store them in a first-in-last-out sequence.</a:t>
            </a:r>
          </a:p>
          <a:p>
            <a:pPr eaLnBrk="1" hangingPunct="1">
              <a:lnSpc>
                <a:spcPct val="90000"/>
              </a:lnSpc>
              <a:tabLst>
                <a:tab pos="723900" algn="l"/>
                <a:tab pos="1257300" algn="l"/>
              </a:tabLst>
            </a:pPr>
            <a:r>
              <a:rPr lang="en-US" altLang="en-US" dirty="0">
                <a:cs typeface="Times New Roman" pitchFamily="18" charset="0"/>
              </a:rPr>
              <a:t>Text-file reversal algorithm: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723900" algn="l"/>
                <a:tab pos="1257300" algn="l"/>
              </a:tabLst>
            </a:pPr>
            <a:r>
              <a:rPr lang="en-US" altLang="en-US" sz="2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To make file </a:t>
            </a:r>
            <a:r>
              <a:rPr lang="en-US" altLang="en-US" sz="2000" i="1" dirty="0">
                <a:latin typeface="Times New Roman" pitchFamily="18" charset="0"/>
                <a:cs typeface="Times New Roman" pitchFamily="18" charset="0"/>
              </a:rPr>
              <a:t>output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 contain the lines of file </a:t>
            </a:r>
            <a:r>
              <a:rPr lang="en-US" altLang="en-US" sz="2000" i="1" dirty="0">
                <a:latin typeface="Times New Roman" pitchFamily="18" charset="0"/>
                <a:cs typeface="Times New Roman" pitchFamily="18" charset="0"/>
              </a:rPr>
              <a:t>input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 in reverse order:</a:t>
            </a:r>
          </a:p>
          <a:p>
            <a:pPr eaLnBrk="1" hangingPunct="1">
              <a:lnSpc>
                <a:spcPct val="90000"/>
              </a:lnSpc>
              <a:spcBef>
                <a:spcPts val="900"/>
              </a:spcBef>
              <a:buFont typeface="Wingdings" pitchFamily="2" charset="2"/>
              <a:buNone/>
              <a:tabLst>
                <a:tab pos="723900" algn="l"/>
                <a:tab pos="1257300" algn="l"/>
              </a:tabLst>
            </a:pP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	1.	Make </a:t>
            </a:r>
            <a:r>
              <a:rPr lang="en-US" altLang="en-US" sz="2000" i="1" dirty="0">
                <a:latin typeface="Times New Roman" pitchFamily="18" charset="0"/>
                <a:cs typeface="Times New Roman" pitchFamily="18" charset="0"/>
              </a:rPr>
              <a:t>line-stack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 empty.</a:t>
            </a:r>
            <a:br>
              <a:rPr lang="en-US" alt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2.	For each </a:t>
            </a:r>
            <a:r>
              <a:rPr lang="en-US" altLang="en-US" sz="2000" i="1" dirty="0">
                <a:latin typeface="Times New Roman" pitchFamily="18" charset="0"/>
                <a:cs typeface="Times New Roman" pitchFamily="18" charset="0"/>
              </a:rPr>
              <a:t>line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 read from </a:t>
            </a:r>
            <a:r>
              <a:rPr lang="en-US" altLang="en-US" sz="2000" i="1" dirty="0">
                <a:latin typeface="Times New Roman" pitchFamily="18" charset="0"/>
                <a:cs typeface="Times New Roman" pitchFamily="18" charset="0"/>
              </a:rPr>
              <a:t>input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, repeat:</a:t>
            </a:r>
            <a:br>
              <a:rPr lang="en-US" alt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	2.1.	Push </a:t>
            </a:r>
            <a:r>
              <a:rPr lang="en-US" altLang="en-US" sz="2000" i="1" dirty="0">
                <a:latin typeface="Times New Roman" pitchFamily="18" charset="0"/>
                <a:cs typeface="Times New Roman" pitchFamily="18" charset="0"/>
              </a:rPr>
              <a:t>line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 on </a:t>
            </a:r>
            <a:r>
              <a:rPr lang="en-US" altLang="en-US" sz="2000" i="1" dirty="0">
                <a:latin typeface="Times New Roman" pitchFamily="18" charset="0"/>
                <a:cs typeface="Times New Roman" pitchFamily="18" charset="0"/>
              </a:rPr>
              <a:t>line-stack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.</a:t>
            </a:r>
            <a:br>
              <a:rPr lang="en-US" alt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3.	While </a:t>
            </a:r>
            <a:r>
              <a:rPr lang="en-US" altLang="en-US" sz="2000" i="1" dirty="0">
                <a:latin typeface="Times New Roman" pitchFamily="18" charset="0"/>
                <a:cs typeface="Times New Roman" pitchFamily="18" charset="0"/>
              </a:rPr>
              <a:t>line-stack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 is not empty, repeat:</a:t>
            </a:r>
            <a:br>
              <a:rPr lang="en-US" alt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	3.1.	Pop a line from </a:t>
            </a:r>
            <a:r>
              <a:rPr lang="en-US" altLang="en-US" sz="2000" i="1" dirty="0">
                <a:latin typeface="Times New Roman" pitchFamily="18" charset="0"/>
                <a:cs typeface="Times New Roman" pitchFamily="18" charset="0"/>
              </a:rPr>
              <a:t>line-stack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 into </a:t>
            </a:r>
            <a:r>
              <a:rPr lang="en-US" altLang="en-US" sz="2000" i="1" dirty="0">
                <a:latin typeface="Times New Roman" pitchFamily="18" charset="0"/>
                <a:cs typeface="Times New Roman" pitchFamily="18" charset="0"/>
              </a:rPr>
              <a:t>line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.</a:t>
            </a:r>
            <a:br>
              <a:rPr lang="en-US" alt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	3.2.	Write </a:t>
            </a:r>
            <a:r>
              <a:rPr lang="en-US" altLang="en-US" sz="2000" i="1" dirty="0">
                <a:latin typeface="Times New Roman" pitchFamily="18" charset="0"/>
                <a:cs typeface="Times New Roman" pitchFamily="18" charset="0"/>
              </a:rPr>
              <a:t>line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 to </a:t>
            </a:r>
            <a:r>
              <a:rPr lang="en-US" altLang="en-US" sz="2000" i="1" dirty="0">
                <a:latin typeface="Times New Roman" pitchFamily="18" charset="0"/>
                <a:cs typeface="Times New Roman" pitchFamily="18" charset="0"/>
              </a:rPr>
              <a:t>output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.</a:t>
            </a:r>
            <a:br>
              <a:rPr lang="en-US" alt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4.	Terminate.</a:t>
            </a:r>
            <a:endParaRPr lang="en-US" altLang="en-US" sz="2000" dirty="0">
              <a:latin typeface="Times New Roman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2758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Example: bracketing </a:t>
            </a:r>
            <a:r>
              <a:rPr lang="en-US" altLang="en-US" sz="3200" i="1" dirty="0"/>
              <a:t>(1)</a:t>
            </a:r>
            <a:endParaRPr lang="en-GB" altLang="en-US" sz="3200" i="1" dirty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62088"/>
            <a:ext cx="7620000" cy="4800600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>
                <a:cs typeface="Times New Roman" pitchFamily="18" charset="0"/>
              </a:rPr>
              <a:t>A phrase is </a:t>
            </a:r>
            <a:r>
              <a:rPr lang="en-US" altLang="en-US" b="1" dirty="0">
                <a:cs typeface="Times New Roman" pitchFamily="18" charset="0"/>
              </a:rPr>
              <a:t>well-bracketed</a:t>
            </a:r>
            <a:r>
              <a:rPr lang="en-US" altLang="en-US" dirty="0">
                <a:cs typeface="Times New Roman" pitchFamily="18" charset="0"/>
              </a:rPr>
              <a:t> if: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>
                <a:cs typeface="Times New Roman" pitchFamily="18" charset="0"/>
              </a:rPr>
              <a:t>for every left bracket, there is a later matching right bracket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>
                <a:cs typeface="Times New Roman" pitchFamily="18" charset="0"/>
              </a:rPr>
              <a:t>for every right bracket, there is an earlier matching left bracket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>
                <a:cs typeface="Times New Roman" pitchFamily="18" charset="0"/>
              </a:rPr>
              <a:t>the sub-phrase between a pair of matching brackets is itself well-bracketed.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>
                <a:cs typeface="Times New Roman" pitchFamily="18" charset="0"/>
              </a:rPr>
              <a:t>Examples and counter-examples (math notation):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i="1" dirty="0">
                <a:cs typeface="Times New Roman" pitchFamily="18" charset="0"/>
              </a:rPr>
              <a:t>	s</a:t>
            </a:r>
            <a:r>
              <a:rPr lang="en-US" altLang="en-US" dirty="0">
                <a:cs typeface="Times New Roman" pitchFamily="18" charset="0"/>
              </a:rPr>
              <a:t> </a:t>
            </a:r>
            <a:r>
              <a:rPr lang="en-US" altLang="en-US" dirty="0">
                <a:latin typeface="Symbol" pitchFamily="18" charset="2"/>
                <a:cs typeface="Times New Roman" pitchFamily="18" charset="0"/>
                <a:sym typeface="Symbol" pitchFamily="18" charset="2"/>
              </a:rPr>
              <a:t></a:t>
            </a:r>
            <a:r>
              <a:rPr lang="en-US" altLang="en-US" dirty="0">
                <a:cs typeface="Times New Roman" pitchFamily="18" charset="0"/>
              </a:rPr>
              <a:t> (</a:t>
            </a:r>
            <a:r>
              <a:rPr lang="en-US" altLang="en-US" i="1" dirty="0">
                <a:cs typeface="Times New Roman" pitchFamily="18" charset="0"/>
              </a:rPr>
              <a:t>s</a:t>
            </a:r>
            <a:r>
              <a:rPr lang="en-US" altLang="en-US" dirty="0">
                <a:cs typeface="Times New Roman" pitchFamily="18" charset="0"/>
              </a:rPr>
              <a:t> – </a:t>
            </a:r>
            <a:r>
              <a:rPr lang="en-US" altLang="en-US" i="1" dirty="0">
                <a:cs typeface="Times New Roman" pitchFamily="18" charset="0"/>
              </a:rPr>
              <a:t>a</a:t>
            </a:r>
            <a:r>
              <a:rPr lang="en-US" altLang="en-US" dirty="0">
                <a:cs typeface="Times New Roman" pitchFamily="18" charset="0"/>
              </a:rPr>
              <a:t>) </a:t>
            </a:r>
            <a:r>
              <a:rPr lang="en-US" altLang="en-US" dirty="0">
                <a:latin typeface="Symbol" pitchFamily="18" charset="2"/>
                <a:cs typeface="Times New Roman" pitchFamily="18" charset="0"/>
                <a:sym typeface="Symbol" pitchFamily="18" charset="2"/>
              </a:rPr>
              <a:t></a:t>
            </a:r>
            <a:r>
              <a:rPr lang="en-US" altLang="en-US" dirty="0">
                <a:cs typeface="Times New Roman" pitchFamily="18" charset="0"/>
              </a:rPr>
              <a:t> (</a:t>
            </a:r>
            <a:r>
              <a:rPr lang="en-US" altLang="en-US" i="1" dirty="0">
                <a:cs typeface="Times New Roman" pitchFamily="18" charset="0"/>
              </a:rPr>
              <a:t>s</a:t>
            </a:r>
            <a:r>
              <a:rPr lang="en-US" altLang="en-US" dirty="0">
                <a:cs typeface="Times New Roman" pitchFamily="18" charset="0"/>
              </a:rPr>
              <a:t> – </a:t>
            </a:r>
            <a:r>
              <a:rPr lang="en-US" altLang="en-US" i="1" dirty="0">
                <a:cs typeface="Times New Roman" pitchFamily="18" charset="0"/>
              </a:rPr>
              <a:t>b</a:t>
            </a:r>
            <a:r>
              <a:rPr lang="en-US" altLang="en-US" dirty="0">
                <a:cs typeface="Times New Roman" pitchFamily="18" charset="0"/>
              </a:rPr>
              <a:t>) </a:t>
            </a:r>
            <a:r>
              <a:rPr lang="en-US" altLang="en-US" dirty="0">
                <a:latin typeface="Symbol" pitchFamily="18" charset="2"/>
                <a:cs typeface="Times New Roman" pitchFamily="18" charset="0"/>
                <a:sym typeface="Symbol" pitchFamily="18" charset="2"/>
              </a:rPr>
              <a:t></a:t>
            </a:r>
            <a:r>
              <a:rPr lang="en-US" altLang="en-US" dirty="0">
                <a:cs typeface="Times New Roman" pitchFamily="18" charset="0"/>
              </a:rPr>
              <a:t> (</a:t>
            </a:r>
            <a:r>
              <a:rPr lang="en-US" altLang="en-US" i="1" dirty="0">
                <a:cs typeface="Times New Roman" pitchFamily="18" charset="0"/>
              </a:rPr>
              <a:t>s</a:t>
            </a:r>
            <a:r>
              <a:rPr lang="en-US" altLang="en-US" dirty="0">
                <a:cs typeface="Times New Roman" pitchFamily="18" charset="0"/>
              </a:rPr>
              <a:t> – </a:t>
            </a:r>
            <a:r>
              <a:rPr lang="en-US" altLang="en-US" i="1" dirty="0">
                <a:cs typeface="Times New Roman" pitchFamily="18" charset="0"/>
              </a:rPr>
              <a:t>c</a:t>
            </a:r>
            <a:r>
              <a:rPr lang="en-US" altLang="en-US" dirty="0">
                <a:cs typeface="Times New Roman" pitchFamily="18" charset="0"/>
              </a:rPr>
              <a:t>)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dirty="0">
                <a:cs typeface="Times New Roman" pitchFamily="18" charset="0"/>
              </a:rPr>
              <a:t>	(– </a:t>
            </a:r>
            <a:r>
              <a:rPr lang="en-US" altLang="en-US" i="1" dirty="0">
                <a:cs typeface="Times New Roman" pitchFamily="18" charset="0"/>
              </a:rPr>
              <a:t>b</a:t>
            </a:r>
            <a:r>
              <a:rPr lang="en-US" altLang="en-US" dirty="0">
                <a:cs typeface="Times New Roman" pitchFamily="18" charset="0"/>
              </a:rPr>
              <a:t> + </a:t>
            </a:r>
            <a:r>
              <a:rPr lang="en-US" altLang="en-US" dirty="0">
                <a:latin typeface="Symbol" pitchFamily="18" charset="2"/>
                <a:cs typeface="Times New Roman" pitchFamily="18" charset="0"/>
                <a:sym typeface="Symbol" pitchFamily="18" charset="2"/>
              </a:rPr>
              <a:t></a:t>
            </a:r>
            <a:r>
              <a:rPr lang="en-US" altLang="en-US" dirty="0">
                <a:cs typeface="Times New Roman" pitchFamily="18" charset="0"/>
              </a:rPr>
              <a:t>[</a:t>
            </a:r>
            <a:r>
              <a:rPr lang="en-US" altLang="en-US" i="1" dirty="0">
                <a:cs typeface="Times New Roman" pitchFamily="18" charset="0"/>
              </a:rPr>
              <a:t>b</a:t>
            </a:r>
            <a:r>
              <a:rPr lang="en-US" altLang="en-US" baseline="30000" dirty="0">
                <a:cs typeface="Times New Roman" pitchFamily="18" charset="0"/>
              </a:rPr>
              <a:t>2</a:t>
            </a:r>
            <a:r>
              <a:rPr lang="en-US" altLang="en-US" dirty="0">
                <a:cs typeface="Times New Roman" pitchFamily="18" charset="0"/>
              </a:rPr>
              <a:t> – 4</a:t>
            </a:r>
            <a:r>
              <a:rPr lang="en-US" altLang="en-US" i="1" dirty="0">
                <a:cs typeface="Times New Roman" pitchFamily="18" charset="0"/>
              </a:rPr>
              <a:t>ac</a:t>
            </a:r>
            <a:r>
              <a:rPr lang="en-US" altLang="en-US" dirty="0">
                <a:cs typeface="Times New Roman" pitchFamily="18" charset="0"/>
              </a:rPr>
              <a:t>]) / 2</a:t>
            </a:r>
            <a:r>
              <a:rPr lang="en-US" altLang="en-US" i="1" dirty="0">
                <a:cs typeface="Times New Roman" pitchFamily="18" charset="0"/>
              </a:rPr>
              <a:t>a</a:t>
            </a:r>
            <a:endParaRPr lang="en-US" altLang="en-US" dirty="0">
              <a:cs typeface="Times New Roman" pitchFamily="18" charset="0"/>
            </a:endParaRP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i="1" dirty="0">
                <a:cs typeface="Times New Roman" pitchFamily="18" charset="0"/>
              </a:rPr>
              <a:t>	s</a:t>
            </a:r>
            <a:r>
              <a:rPr lang="en-US" altLang="en-US" dirty="0">
                <a:cs typeface="Times New Roman" pitchFamily="18" charset="0"/>
              </a:rPr>
              <a:t> </a:t>
            </a:r>
            <a:r>
              <a:rPr lang="en-US" altLang="en-US" dirty="0">
                <a:latin typeface="Symbol" pitchFamily="18" charset="2"/>
                <a:cs typeface="Times New Roman" pitchFamily="18" charset="0"/>
                <a:sym typeface="Symbol" pitchFamily="18" charset="2"/>
              </a:rPr>
              <a:t></a:t>
            </a:r>
            <a:r>
              <a:rPr lang="en-US" altLang="en-US" dirty="0">
                <a:cs typeface="Times New Roman" pitchFamily="18" charset="0"/>
              </a:rPr>
              <a:t> (</a:t>
            </a:r>
            <a:r>
              <a:rPr lang="en-US" altLang="en-US" i="1" dirty="0">
                <a:cs typeface="Times New Roman" pitchFamily="18" charset="0"/>
              </a:rPr>
              <a:t>s</a:t>
            </a:r>
            <a:r>
              <a:rPr lang="en-US" altLang="en-US" dirty="0">
                <a:cs typeface="Times New Roman" pitchFamily="18" charset="0"/>
              </a:rPr>
              <a:t> – </a:t>
            </a:r>
            <a:r>
              <a:rPr lang="en-US" altLang="en-US" i="1" dirty="0">
                <a:cs typeface="Times New Roman" pitchFamily="18" charset="0"/>
              </a:rPr>
              <a:t>a</a:t>
            </a:r>
            <a:r>
              <a:rPr lang="en-US" altLang="en-US" dirty="0">
                <a:cs typeface="Times New Roman" pitchFamily="18" charset="0"/>
              </a:rPr>
              <a:t>) </a:t>
            </a:r>
            <a:r>
              <a:rPr lang="en-US" altLang="en-US" dirty="0">
                <a:latin typeface="Symbol" pitchFamily="18" charset="2"/>
                <a:cs typeface="Times New Roman" pitchFamily="18" charset="0"/>
                <a:sym typeface="Symbol" pitchFamily="18" charset="2"/>
              </a:rPr>
              <a:t></a:t>
            </a:r>
            <a:r>
              <a:rPr lang="en-US" altLang="en-US" dirty="0">
                <a:cs typeface="Times New Roman" pitchFamily="18" charset="0"/>
              </a:rPr>
              <a:t> (</a:t>
            </a:r>
            <a:r>
              <a:rPr lang="en-US" altLang="en-US" i="1" dirty="0">
                <a:cs typeface="Times New Roman" pitchFamily="18" charset="0"/>
              </a:rPr>
              <a:t>s</a:t>
            </a:r>
            <a:r>
              <a:rPr lang="en-US" altLang="en-US" dirty="0">
                <a:cs typeface="Times New Roman" pitchFamily="18" charset="0"/>
              </a:rPr>
              <a:t> – </a:t>
            </a:r>
            <a:r>
              <a:rPr lang="en-US" altLang="en-US" i="1" dirty="0">
                <a:cs typeface="Times New Roman" pitchFamily="18" charset="0"/>
              </a:rPr>
              <a:t>b</a:t>
            </a:r>
            <a:r>
              <a:rPr lang="en-US" altLang="en-US" dirty="0">
                <a:cs typeface="Times New Roman" pitchFamily="18" charset="0"/>
              </a:rPr>
              <a:t> </a:t>
            </a:r>
            <a:r>
              <a:rPr lang="en-US" altLang="en-US" dirty="0">
                <a:latin typeface="Symbol" pitchFamily="18" charset="2"/>
                <a:cs typeface="Times New Roman" pitchFamily="18" charset="0"/>
                <a:sym typeface="Symbol" pitchFamily="18" charset="2"/>
              </a:rPr>
              <a:t></a:t>
            </a:r>
            <a:r>
              <a:rPr lang="en-US" altLang="en-US" dirty="0">
                <a:cs typeface="Times New Roman" pitchFamily="18" charset="0"/>
              </a:rPr>
              <a:t> (</a:t>
            </a:r>
            <a:r>
              <a:rPr lang="en-US" altLang="en-US" i="1" dirty="0">
                <a:cs typeface="Times New Roman" pitchFamily="18" charset="0"/>
              </a:rPr>
              <a:t>s</a:t>
            </a:r>
            <a:r>
              <a:rPr lang="en-US" altLang="en-US" dirty="0">
                <a:cs typeface="Times New Roman" pitchFamily="18" charset="0"/>
              </a:rPr>
              <a:t> – </a:t>
            </a:r>
            <a:r>
              <a:rPr lang="en-US" altLang="en-US" i="1" dirty="0">
                <a:cs typeface="Times New Roman" pitchFamily="18" charset="0"/>
              </a:rPr>
              <a:t>c</a:t>
            </a:r>
            <a:r>
              <a:rPr lang="en-US" altLang="en-US" dirty="0">
                <a:cs typeface="Times New Roman" pitchFamily="18" charset="0"/>
              </a:rPr>
              <a:t>)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dirty="0">
                <a:cs typeface="Times New Roman" pitchFamily="18" charset="0"/>
              </a:rPr>
              <a:t>	(– </a:t>
            </a:r>
            <a:r>
              <a:rPr lang="en-US" altLang="en-US" i="1" dirty="0">
                <a:cs typeface="Times New Roman" pitchFamily="18" charset="0"/>
              </a:rPr>
              <a:t>b</a:t>
            </a:r>
            <a:r>
              <a:rPr lang="en-US" altLang="en-US" dirty="0">
                <a:cs typeface="Times New Roman" pitchFamily="18" charset="0"/>
              </a:rPr>
              <a:t> + </a:t>
            </a:r>
            <a:r>
              <a:rPr lang="en-US" altLang="en-US" dirty="0">
                <a:latin typeface="Symbol" pitchFamily="18" charset="2"/>
                <a:cs typeface="Times New Roman" pitchFamily="18" charset="0"/>
                <a:sym typeface="Symbol" pitchFamily="18" charset="2"/>
              </a:rPr>
              <a:t></a:t>
            </a:r>
            <a:r>
              <a:rPr lang="en-US" altLang="en-US" dirty="0">
                <a:cs typeface="Times New Roman" pitchFamily="18" charset="0"/>
              </a:rPr>
              <a:t>[</a:t>
            </a:r>
            <a:r>
              <a:rPr lang="en-US" altLang="en-US" i="1" dirty="0">
                <a:cs typeface="Times New Roman" pitchFamily="18" charset="0"/>
              </a:rPr>
              <a:t>b</a:t>
            </a:r>
            <a:r>
              <a:rPr lang="en-US" altLang="en-US" baseline="30000" dirty="0">
                <a:cs typeface="Times New Roman" pitchFamily="18" charset="0"/>
              </a:rPr>
              <a:t>2</a:t>
            </a:r>
            <a:r>
              <a:rPr lang="en-US" altLang="en-US" dirty="0">
                <a:cs typeface="Times New Roman" pitchFamily="18" charset="0"/>
              </a:rPr>
              <a:t> – 4</a:t>
            </a:r>
            <a:r>
              <a:rPr lang="en-US" altLang="en-US" i="1" dirty="0">
                <a:cs typeface="Times New Roman" pitchFamily="18" charset="0"/>
              </a:rPr>
              <a:t>ac</a:t>
            </a:r>
            <a:r>
              <a:rPr lang="en-US" altLang="en-US" dirty="0">
                <a:cs typeface="Times New Roman" pitchFamily="18" charset="0"/>
              </a:rPr>
              <a:t>)] / 2</a:t>
            </a:r>
            <a:r>
              <a:rPr lang="en-US" altLang="en-US" i="1" dirty="0">
                <a:cs typeface="Times New Roman" pitchFamily="18" charset="0"/>
              </a:rPr>
              <a:t>a</a:t>
            </a:r>
            <a:endParaRPr lang="en-US" altLang="en-US" dirty="0">
              <a:latin typeface="Times New Roman" pitchFamily="18" charset="0"/>
            </a:endParaRPr>
          </a:p>
        </p:txBody>
      </p:sp>
      <p:sp>
        <p:nvSpPr>
          <p:cNvPr id="387076" name="AutoShape 4"/>
          <p:cNvSpPr>
            <a:spLocks/>
          </p:cNvSpPr>
          <p:nvPr/>
        </p:nvSpPr>
        <p:spPr bwMode="auto">
          <a:xfrm>
            <a:off x="4876800" y="3581400"/>
            <a:ext cx="2305050" cy="234950"/>
          </a:xfrm>
          <a:prstGeom prst="callout1">
            <a:avLst>
              <a:gd name="adj1" fmla="val 48648"/>
              <a:gd name="adj2" fmla="val -3306"/>
              <a:gd name="adj3" fmla="val 48648"/>
              <a:gd name="adj4" fmla="val -29889"/>
            </a:avLst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GB" altLang="en-US" sz="1800" dirty="0">
                <a:solidFill>
                  <a:schemeClr val="accent1">
                    <a:lumMod val="75000"/>
                  </a:schemeClr>
                </a:solidFill>
              </a:rPr>
              <a:t>well-bracketed</a:t>
            </a:r>
            <a:endParaRPr lang="en-US" altLang="en-US" sz="18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87078" name="AutoShape 6"/>
          <p:cNvSpPr>
            <a:spLocks/>
          </p:cNvSpPr>
          <p:nvPr/>
        </p:nvSpPr>
        <p:spPr bwMode="auto">
          <a:xfrm>
            <a:off x="5105400" y="4259580"/>
            <a:ext cx="2305050" cy="234950"/>
          </a:xfrm>
          <a:prstGeom prst="callout1">
            <a:avLst>
              <a:gd name="adj1" fmla="val 48648"/>
              <a:gd name="adj2" fmla="val -3306"/>
              <a:gd name="adj3" fmla="val 48648"/>
              <a:gd name="adj4" fmla="val -38773"/>
            </a:avLst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GB" altLang="en-US" sz="1800" dirty="0">
                <a:solidFill>
                  <a:schemeClr val="accent1">
                    <a:lumMod val="75000"/>
                  </a:schemeClr>
                </a:solidFill>
              </a:rPr>
              <a:t>not well-bracketed</a:t>
            </a:r>
            <a:endParaRPr lang="en-US" altLang="en-US" sz="18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9" name="AutoShape 5"/>
          <p:cNvSpPr>
            <a:spLocks/>
          </p:cNvSpPr>
          <p:nvPr/>
        </p:nvSpPr>
        <p:spPr bwMode="auto">
          <a:xfrm>
            <a:off x="5306972" y="3953399"/>
            <a:ext cx="2305050" cy="234950"/>
          </a:xfrm>
          <a:prstGeom prst="callout1">
            <a:avLst>
              <a:gd name="adj1" fmla="val 48648"/>
              <a:gd name="adj2" fmla="val -3306"/>
              <a:gd name="adj3" fmla="val 42569"/>
              <a:gd name="adj4" fmla="val -57713"/>
            </a:avLst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GB" altLang="en-US" sz="1800" dirty="0">
                <a:solidFill>
                  <a:schemeClr val="accent1">
                    <a:lumMod val="75000"/>
                  </a:schemeClr>
                </a:solidFill>
              </a:rPr>
              <a:t>well-bracketed</a:t>
            </a:r>
            <a:endParaRPr lang="en-US" altLang="en-US" sz="18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" name="AutoShape 7"/>
          <p:cNvSpPr>
            <a:spLocks/>
          </p:cNvSpPr>
          <p:nvPr/>
        </p:nvSpPr>
        <p:spPr bwMode="auto">
          <a:xfrm>
            <a:off x="4648200" y="4555956"/>
            <a:ext cx="2305050" cy="234950"/>
          </a:xfrm>
          <a:prstGeom prst="callout1">
            <a:avLst>
              <a:gd name="adj1" fmla="val 48648"/>
              <a:gd name="adj2" fmla="val -3306"/>
              <a:gd name="adj3" fmla="val 48648"/>
              <a:gd name="adj4" fmla="val -29889"/>
            </a:avLst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GB" altLang="en-US" sz="1800" dirty="0">
                <a:solidFill>
                  <a:schemeClr val="accent1">
                    <a:lumMod val="75000"/>
                  </a:schemeClr>
                </a:solidFill>
              </a:rPr>
              <a:t>not well-bracketed</a:t>
            </a:r>
            <a:endParaRPr lang="en-US" altLang="en-US" sz="18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0522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7076" grpId="0" animBg="1"/>
      <p:bldP spid="387078" grpId="0" animBg="1"/>
      <p:bldP spid="9" grpId="0" animBg="1"/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Example: bracketing </a:t>
            </a:r>
            <a:r>
              <a:rPr lang="en-US" altLang="en-US" sz="3200" i="1" dirty="0"/>
              <a:t>(2)</a:t>
            </a:r>
            <a:endParaRPr lang="en-GB" altLang="en-US" sz="3200" i="1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>
              <a:lnSpc>
                <a:spcPct val="90000"/>
              </a:lnSpc>
              <a:tabLst>
                <a:tab pos="723900" algn="l"/>
                <a:tab pos="1257300" algn="l"/>
                <a:tab pos="1979613" algn="l"/>
              </a:tabLst>
            </a:pPr>
            <a:r>
              <a:rPr lang="en-US" altLang="en-US">
                <a:cs typeface="Times New Roman" pitchFamily="18" charset="0"/>
              </a:rPr>
              <a:t>Bracket matching algorithm: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723900" algn="l"/>
                <a:tab pos="1257300" algn="l"/>
                <a:tab pos="1979613" algn="l"/>
              </a:tabLst>
            </a:pP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	To test whether </a:t>
            </a:r>
            <a:r>
              <a:rPr lang="en-US" altLang="en-US" sz="2000" i="1">
                <a:latin typeface="Times New Roman" pitchFamily="18" charset="0"/>
                <a:cs typeface="Times New Roman" pitchFamily="18" charset="0"/>
              </a:rPr>
              <a:t>phrase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 is well-bracketed:</a:t>
            </a:r>
          </a:p>
          <a:p>
            <a:pPr eaLnBrk="1" hangingPunct="1">
              <a:lnSpc>
                <a:spcPct val="90000"/>
              </a:lnSpc>
              <a:spcBef>
                <a:spcPts val="900"/>
              </a:spcBef>
              <a:buFont typeface="Wingdings" pitchFamily="2" charset="2"/>
              <a:buNone/>
              <a:tabLst>
                <a:tab pos="723900" algn="l"/>
                <a:tab pos="1257300" algn="l"/>
                <a:tab pos="1979613" algn="l"/>
              </a:tabLst>
            </a:pP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	1.	Make </a:t>
            </a:r>
            <a:r>
              <a:rPr lang="en-US" altLang="en-US" sz="2000" i="1">
                <a:latin typeface="Times New Roman" pitchFamily="18" charset="0"/>
                <a:cs typeface="Times New Roman" pitchFamily="18" charset="0"/>
              </a:rPr>
              <a:t>bracket-stack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 empty.</a:t>
            </a:r>
            <a:br>
              <a:rPr lang="en-US" altLang="en-US" sz="200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2.	For each symbol </a:t>
            </a:r>
            <a:r>
              <a:rPr lang="en-US" altLang="en-US" sz="2000" i="1">
                <a:latin typeface="Times New Roman" pitchFamily="18" charset="0"/>
                <a:cs typeface="Times New Roman" pitchFamily="18" charset="0"/>
              </a:rPr>
              <a:t>sym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 in </a:t>
            </a:r>
            <a:r>
              <a:rPr lang="en-US" altLang="en-US" sz="2000" i="1">
                <a:latin typeface="Times New Roman" pitchFamily="18" charset="0"/>
                <a:cs typeface="Times New Roman" pitchFamily="18" charset="0"/>
              </a:rPr>
              <a:t>phrase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 (scanning from left to right), </a:t>
            </a:r>
            <a:br>
              <a:rPr lang="en-US" altLang="en-US" sz="200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	repeat:</a:t>
            </a:r>
            <a:br>
              <a:rPr lang="en-US" altLang="en-US" sz="200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	2.1.	If </a:t>
            </a:r>
            <a:r>
              <a:rPr lang="en-US" altLang="en-US" sz="2000" i="1">
                <a:latin typeface="Times New Roman" pitchFamily="18" charset="0"/>
                <a:cs typeface="Times New Roman" pitchFamily="18" charset="0"/>
              </a:rPr>
              <a:t>sym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 is a left bracket:</a:t>
            </a:r>
            <a:br>
              <a:rPr lang="en-US" altLang="en-US" sz="200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		2.1.1.	Push </a:t>
            </a:r>
            <a:r>
              <a:rPr lang="en-US" altLang="en-US" sz="2000" i="1">
                <a:latin typeface="Times New Roman" pitchFamily="18" charset="0"/>
                <a:cs typeface="Times New Roman" pitchFamily="18" charset="0"/>
              </a:rPr>
              <a:t>sym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 on </a:t>
            </a:r>
            <a:r>
              <a:rPr lang="en-US" altLang="en-US" sz="2000" i="1">
                <a:latin typeface="Times New Roman" pitchFamily="18" charset="0"/>
                <a:cs typeface="Times New Roman" pitchFamily="18" charset="0"/>
              </a:rPr>
              <a:t>bracket-stack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.</a:t>
            </a:r>
            <a:br>
              <a:rPr lang="en-US" altLang="en-US" sz="200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	2.2.	Else, if </a:t>
            </a:r>
            <a:r>
              <a:rPr lang="en-US" altLang="en-US" sz="2000" i="1">
                <a:latin typeface="Times New Roman" pitchFamily="18" charset="0"/>
                <a:cs typeface="Times New Roman" pitchFamily="18" charset="0"/>
              </a:rPr>
              <a:t>sym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 is a right bracket:</a:t>
            </a:r>
            <a:br>
              <a:rPr lang="en-US" altLang="en-US" sz="200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		2.2.1.	If </a:t>
            </a:r>
            <a:r>
              <a:rPr lang="en-US" altLang="en-US" sz="2000" i="1">
                <a:latin typeface="Times New Roman" pitchFamily="18" charset="0"/>
                <a:cs typeface="Times New Roman" pitchFamily="18" charset="0"/>
              </a:rPr>
              <a:t>bracket-stack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 is empty, terminate with false.</a:t>
            </a:r>
            <a:br>
              <a:rPr lang="en-US" altLang="en-US" sz="200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		2.2.2.	Pop a bracket from </a:t>
            </a:r>
            <a:r>
              <a:rPr lang="en-US" altLang="en-US" sz="2000" i="1">
                <a:latin typeface="Times New Roman" pitchFamily="18" charset="0"/>
                <a:cs typeface="Times New Roman" pitchFamily="18" charset="0"/>
              </a:rPr>
              <a:t>bracket-stack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 into </a:t>
            </a:r>
            <a:r>
              <a:rPr lang="en-US" altLang="en-US" sz="2000" i="1">
                <a:latin typeface="Times New Roman" pitchFamily="18" charset="0"/>
                <a:cs typeface="Times New Roman" pitchFamily="18" charset="0"/>
              </a:rPr>
              <a:t>left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.</a:t>
            </a:r>
            <a:br>
              <a:rPr lang="en-US" altLang="en-US" sz="200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		2.2.3.	If </a:t>
            </a:r>
            <a:r>
              <a:rPr lang="en-US" altLang="en-US" sz="2000" i="1">
                <a:latin typeface="Times New Roman" pitchFamily="18" charset="0"/>
                <a:cs typeface="Times New Roman" pitchFamily="18" charset="0"/>
              </a:rPr>
              <a:t>left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altLang="en-US" sz="2000" i="1">
                <a:latin typeface="Times New Roman" pitchFamily="18" charset="0"/>
                <a:cs typeface="Times New Roman" pitchFamily="18" charset="0"/>
              </a:rPr>
              <a:t>sym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 are not matched brackets, </a:t>
            </a:r>
            <a:br>
              <a:rPr lang="en-US" altLang="en-US" sz="200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			terminate with false. </a:t>
            </a:r>
            <a:br>
              <a:rPr lang="en-US" altLang="en-US" sz="200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3.	Terminate with true if </a:t>
            </a:r>
            <a:r>
              <a:rPr lang="en-US" altLang="en-US" sz="2000" i="1">
                <a:latin typeface="Times New Roman" pitchFamily="18" charset="0"/>
                <a:cs typeface="Times New Roman" pitchFamily="18" charset="0"/>
              </a:rPr>
              <a:t>bracket-stack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 is empty, or with false </a:t>
            </a:r>
            <a:br>
              <a:rPr lang="en-US" altLang="en-US" sz="200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	otherwise.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2651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Stack ADT: requirements</a:t>
            </a:r>
            <a:endParaRPr lang="en-GB" altLang="en-US" sz="3200" dirty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600200"/>
            <a:ext cx="7620000" cy="4800600"/>
          </a:xfrm>
          <a:noFill/>
        </p:spPr>
        <p:txBody>
          <a:bodyPr/>
          <a:lstStyle/>
          <a:p>
            <a:pPr eaLnBrk="1" hangingPunct="1"/>
            <a:r>
              <a:rPr lang="en-US" altLang="en-US" dirty="0">
                <a:cs typeface="Times New Roman" pitchFamily="18" charset="0"/>
              </a:rPr>
              <a:t>R</a:t>
            </a:r>
            <a:r>
              <a:rPr lang="en-US" altLang="en-US" dirty="0"/>
              <a:t>equirements:</a:t>
            </a:r>
          </a:p>
          <a:p>
            <a:pPr marL="869950" lvl="1" indent="-412750" eaLnBrk="1" hangingPunct="1">
              <a:buFont typeface="Wingdings" pitchFamily="2" charset="2"/>
              <a:buAutoNum type="arabicParenR"/>
            </a:pPr>
            <a:r>
              <a:rPr lang="en-US" altLang="en-US" dirty="0">
                <a:cs typeface="Times New Roman" pitchFamily="18" charset="0"/>
              </a:rPr>
              <a:t>It must be possible to make a stack empty.</a:t>
            </a:r>
          </a:p>
          <a:p>
            <a:pPr marL="869950" lvl="1" indent="-412750" eaLnBrk="1" hangingPunct="1">
              <a:buFont typeface="Wingdings" pitchFamily="2" charset="2"/>
              <a:buAutoNum type="arabicParenR"/>
            </a:pPr>
            <a:r>
              <a:rPr lang="en-US" altLang="en-US" dirty="0">
                <a:cs typeface="Times New Roman" pitchFamily="18" charset="0"/>
              </a:rPr>
              <a:t>It must be possible to push an element on to a stack (i.e., add it at the top of the stack).</a:t>
            </a:r>
          </a:p>
          <a:p>
            <a:pPr marL="869950" lvl="1" indent="-412750" eaLnBrk="1" hangingPunct="1">
              <a:buFont typeface="Wingdings" pitchFamily="2" charset="2"/>
              <a:buAutoNum type="arabicParenR"/>
            </a:pPr>
            <a:r>
              <a:rPr lang="en-US" altLang="en-US" dirty="0">
                <a:cs typeface="Times New Roman" pitchFamily="18" charset="0"/>
              </a:rPr>
              <a:t>It must be possible to pop the topmost element from a stack (i.e., remove it from the stack).</a:t>
            </a:r>
          </a:p>
          <a:p>
            <a:pPr marL="869950" lvl="1" indent="-412750" eaLnBrk="1" hangingPunct="1">
              <a:buFont typeface="Wingdings" pitchFamily="2" charset="2"/>
              <a:buAutoNum type="arabicParenR"/>
            </a:pPr>
            <a:r>
              <a:rPr lang="en-US" altLang="en-US" dirty="0">
                <a:cs typeface="Times New Roman" pitchFamily="18" charset="0"/>
              </a:rPr>
              <a:t>It must be possible to test whether a stack is empty.</a:t>
            </a:r>
          </a:p>
          <a:p>
            <a:pPr marL="869950" lvl="1" indent="-412750" eaLnBrk="1" hangingPunct="1">
              <a:buFont typeface="Wingdings" pitchFamily="2" charset="2"/>
              <a:buAutoNum type="arabicParenR"/>
            </a:pPr>
            <a:r>
              <a:rPr lang="en-US" altLang="en-US" dirty="0">
                <a:cs typeface="Times New Roman" pitchFamily="18" charset="0"/>
              </a:rPr>
              <a:t>It should be possible to access the topmost element in a stack without popping it.</a:t>
            </a:r>
            <a:endParaRPr lang="en-US" altLang="en-US" dirty="0"/>
          </a:p>
          <a:p>
            <a:pPr eaLnBrk="1" hangingPunct="1">
              <a:spcBef>
                <a:spcPts val="900"/>
              </a:spcBef>
              <a:buClr>
                <a:schemeClr val="tx1"/>
              </a:buClr>
              <a:buFont typeface="Wingdings" pitchFamily="2" charset="2"/>
              <a:buNone/>
            </a:pPr>
            <a:endParaRPr lang="en-US" altLang="en-US" sz="2000" dirty="0">
              <a:latin typeface="Times New Roman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5003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Stack ADT: contract </a:t>
            </a:r>
            <a:r>
              <a:rPr lang="en-US" altLang="en-US" sz="3200" i="1" dirty="0"/>
              <a:t>(1)</a:t>
            </a:r>
            <a:endParaRPr lang="en-GB" altLang="en-US" sz="3200" i="1" dirty="0"/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600200"/>
            <a:ext cx="7620000" cy="4800600"/>
          </a:xfrm>
          <a:noFill/>
        </p:spPr>
        <p:txBody>
          <a:bodyPr/>
          <a:lstStyle/>
          <a:p>
            <a:pPr eaLnBrk="1" hangingPunct="1"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dirty="0">
                <a:cs typeface="Times New Roman" pitchFamily="18" charset="0"/>
              </a:rPr>
              <a:t>Possible contract for </a:t>
            </a:r>
            <a:r>
              <a:rPr lang="en-US" altLang="en-US" i="1" dirty="0">
                <a:cs typeface="Times New Roman" pitchFamily="18" charset="0"/>
              </a:rPr>
              <a:t>homogeneous</a:t>
            </a:r>
            <a:r>
              <a:rPr lang="en-US" altLang="en-US" dirty="0">
                <a:cs typeface="Times New Roman" pitchFamily="18" charset="0"/>
              </a:rPr>
              <a:t> stacks (expressed as a Java generic interface):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interface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Stack&lt;</a:t>
            </a:r>
            <a:r>
              <a:rPr lang="en-US" altLang="en-US" sz="2000" dirty="0">
                <a:solidFill>
                  <a:srgbClr val="CC0099"/>
                </a:solidFill>
                <a:latin typeface="Courier New" pitchFamily="49" charset="0"/>
                <a:cs typeface="Times New Roman" pitchFamily="18" charset="0"/>
              </a:rPr>
              <a:t>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&gt; {</a:t>
            </a:r>
            <a:endParaRPr lang="en-US" altLang="en-US" sz="2000" dirty="0">
              <a:cs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// </a:t>
            </a:r>
            <a:r>
              <a:rPr lang="en-US" altLang="en-US" sz="2000" dirty="0">
                <a:cs typeface="Times New Roman" pitchFamily="18" charset="0"/>
              </a:rPr>
              <a:t>Each 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Stack&lt;</a:t>
            </a:r>
            <a:r>
              <a:rPr lang="en-US" altLang="en-US" sz="2000" dirty="0">
                <a:solidFill>
                  <a:srgbClr val="CC0099"/>
                </a:solidFill>
                <a:latin typeface="Courier New" pitchFamily="49" charset="0"/>
                <a:cs typeface="Times New Roman" pitchFamily="18" charset="0"/>
              </a:rPr>
              <a:t>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&gt;</a:t>
            </a:r>
            <a:r>
              <a:rPr lang="en-US" altLang="en-US" sz="2000" dirty="0">
                <a:cs typeface="Times New Roman" pitchFamily="18" charset="0"/>
              </a:rPr>
              <a:t> object is a homogeneous stack </a:t>
            </a:r>
            <a:br>
              <a:rPr lang="en-US" altLang="en-US" sz="2000" dirty="0">
                <a:cs typeface="Times New Roman" pitchFamily="18" charset="0"/>
              </a:rPr>
            </a:br>
            <a:r>
              <a:rPr lang="en-US" altLang="en-US" sz="2000" dirty="0">
                <a:cs typeface="Times New Roman" pitchFamily="18" charset="0"/>
              </a:rPr>
              <a:t>	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// </a:t>
            </a:r>
            <a:r>
              <a:rPr lang="en-US" altLang="en-US" sz="2000" dirty="0">
                <a:cs typeface="Times New Roman" pitchFamily="18" charset="0"/>
              </a:rPr>
              <a:t>whose elements are of type </a:t>
            </a:r>
            <a:r>
              <a:rPr lang="en-US" altLang="en-US" sz="2000" dirty="0">
                <a:solidFill>
                  <a:srgbClr val="CC0099"/>
                </a:solidFill>
                <a:latin typeface="Courier New" pitchFamily="49" charset="0"/>
                <a:cs typeface="Times New Roman" pitchFamily="18" charset="0"/>
              </a:rPr>
              <a:t>E</a:t>
            </a:r>
            <a:r>
              <a:rPr lang="en-US" altLang="en-US" sz="2000" dirty="0">
                <a:cs typeface="Times New Roman" pitchFamily="18" charset="0"/>
              </a:rPr>
              <a:t>.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/////////////// </a:t>
            </a:r>
            <a:r>
              <a:rPr lang="en-US" altLang="en-US" sz="2000" dirty="0" err="1">
                <a:cs typeface="Times New Roman" pitchFamily="18" charset="0"/>
              </a:rPr>
              <a:t>Accessors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///////////////</a:t>
            </a:r>
            <a:endParaRPr lang="en-US" altLang="en-US" sz="2000" dirty="0">
              <a:cs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b="1" err="1">
                <a:latin typeface="Courier New" pitchFamily="49" charset="0"/>
                <a:cs typeface="Times New Roman" pitchFamily="18" charset="0"/>
              </a:rPr>
              <a:t>boolean</a:t>
            </a: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 isEmpty 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();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// </a:t>
            </a:r>
            <a:r>
              <a:rPr lang="en-US" altLang="en-US" sz="2000" dirty="0">
                <a:cs typeface="Times New Roman" pitchFamily="18" charset="0"/>
              </a:rPr>
              <a:t>Return true if and only if this stack is empty.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dirty="0">
                <a:solidFill>
                  <a:srgbClr val="CC0099"/>
                </a:solidFill>
                <a:latin typeface="Courier New" pitchFamily="49" charset="0"/>
                <a:cs typeface="Times New Roman" pitchFamily="18" charset="0"/>
              </a:rPr>
              <a:t>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peek ();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// </a:t>
            </a:r>
            <a:r>
              <a:rPr lang="en-US" altLang="en-US" sz="2000" dirty="0">
                <a:cs typeface="Times New Roman" pitchFamily="18" charset="0"/>
              </a:rPr>
              <a:t>Return the element at the top of this stack.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5937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Stack ADT: contract </a:t>
            </a:r>
            <a:r>
              <a:rPr lang="en-US" altLang="en-US" sz="3200" i="1" dirty="0"/>
              <a:t>(2)</a:t>
            </a:r>
            <a:endParaRPr lang="en-GB" altLang="en-US" sz="3200" i="1" dirty="0"/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752600"/>
            <a:ext cx="7620000" cy="4800600"/>
          </a:xfrm>
          <a:noFill/>
        </p:spPr>
        <p:txBody>
          <a:bodyPr/>
          <a:lstStyle/>
          <a:p>
            <a:pPr eaLnBrk="1" hangingPunct="1"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dirty="0">
                <a:cs typeface="Times New Roman" pitchFamily="18" charset="0"/>
              </a:rPr>
              <a:t>Possible contract </a:t>
            </a:r>
            <a:r>
              <a:rPr lang="en-US" altLang="en-US" i="1" dirty="0">
                <a:cs typeface="Times New Roman" pitchFamily="18" charset="0"/>
              </a:rPr>
              <a:t>(continued)</a:t>
            </a:r>
            <a:r>
              <a:rPr lang="en-US" altLang="en-US" dirty="0">
                <a:cs typeface="Times New Roman" pitchFamily="18" charset="0"/>
              </a:rPr>
              <a:t>: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////////////// </a:t>
            </a:r>
            <a:r>
              <a:rPr lang="en-US" altLang="en-US" sz="2000" dirty="0">
                <a:cs typeface="Times New Roman" pitchFamily="18" charset="0"/>
              </a:rPr>
              <a:t>Transformers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///////////////</a:t>
            </a:r>
            <a:endParaRPr lang="en-US" altLang="en-US" sz="2000" dirty="0">
              <a:cs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void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clear ();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// </a:t>
            </a:r>
            <a:r>
              <a:rPr lang="en-US" altLang="en-US" sz="2000" dirty="0">
                <a:cs typeface="Times New Roman" pitchFamily="18" charset="0"/>
              </a:rPr>
              <a:t>Make this stack empty.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void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push (</a:t>
            </a:r>
            <a:r>
              <a:rPr lang="en-US" altLang="en-US" sz="2000" dirty="0">
                <a:solidFill>
                  <a:srgbClr val="CC0099"/>
                </a:solidFill>
                <a:latin typeface="Courier New" pitchFamily="49" charset="0"/>
                <a:cs typeface="Times New Roman" pitchFamily="18" charset="0"/>
              </a:rPr>
              <a:t>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it);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// </a:t>
            </a:r>
            <a:r>
              <a:rPr lang="en-US" altLang="en-US" sz="2000" dirty="0">
                <a:cs typeface="Times New Roman" pitchFamily="18" charset="0"/>
              </a:rPr>
              <a:t>Add 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it</a:t>
            </a:r>
            <a:r>
              <a:rPr lang="en-US" altLang="en-US" sz="2000" dirty="0">
                <a:cs typeface="Times New Roman" pitchFamily="18" charset="0"/>
              </a:rPr>
              <a:t> as the top element of this stack.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dirty="0">
                <a:solidFill>
                  <a:srgbClr val="CC0099"/>
                </a:solidFill>
                <a:latin typeface="Courier New" pitchFamily="49" charset="0"/>
                <a:cs typeface="Times New Roman" pitchFamily="18" charset="0"/>
              </a:rPr>
              <a:t>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pop ();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// </a:t>
            </a:r>
            <a:r>
              <a:rPr lang="en-US" altLang="en-US" sz="2000" dirty="0">
                <a:cs typeface="Times New Roman" pitchFamily="18" charset="0"/>
              </a:rPr>
              <a:t>Remove and return the element at the top of this 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// </a:t>
            </a:r>
            <a:r>
              <a:rPr lang="en-US" altLang="en-US" sz="2000" dirty="0">
                <a:cs typeface="Times New Roman" pitchFamily="18" charset="0"/>
              </a:rPr>
              <a:t>stack.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}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4854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sz="3200" dirty="0"/>
              <a:t>Implementation of stacks using arrays </a:t>
            </a:r>
            <a:br>
              <a:rPr lang="en-US" altLang="en-US" sz="3200" dirty="0"/>
            </a:br>
            <a:r>
              <a:rPr lang="en-US" altLang="en-US" sz="3200" i="1" dirty="0"/>
              <a:t>(1)</a:t>
            </a:r>
            <a:endParaRPr lang="en-GB" altLang="en-US" sz="3200" dirty="0"/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>
                <a:cs typeface="Times New Roman" pitchFamily="18" charset="0"/>
              </a:rPr>
              <a:t>Represent a </a:t>
            </a:r>
            <a:r>
              <a:rPr lang="en-US" altLang="en-US" i="1" dirty="0">
                <a:cs typeface="Times New Roman" pitchFamily="18" charset="0"/>
              </a:rPr>
              <a:t>bounded</a:t>
            </a:r>
            <a:r>
              <a:rPr lang="en-US" altLang="en-US" dirty="0">
                <a:cs typeface="Times New Roman" pitchFamily="18" charset="0"/>
              </a:rPr>
              <a:t> stack (size </a:t>
            </a:r>
            <a:r>
              <a:rPr lang="en-US" altLang="en-US" dirty="0">
                <a:latin typeface="Symbol" pitchFamily="18" charset="2"/>
                <a:cs typeface="Times New Roman" pitchFamily="18" charset="0"/>
                <a:sym typeface="Symbol" pitchFamily="18" charset="2"/>
              </a:rPr>
              <a:t></a:t>
            </a:r>
            <a:r>
              <a:rPr lang="en-US" altLang="en-US" dirty="0">
                <a:cs typeface="Times New Roman" pitchFamily="18" charset="0"/>
              </a:rPr>
              <a:t> </a:t>
            </a:r>
            <a:r>
              <a:rPr lang="en-US" altLang="en-US" i="1" dirty="0">
                <a:cs typeface="Times New Roman" pitchFamily="18" charset="0"/>
              </a:rPr>
              <a:t>cap</a:t>
            </a:r>
            <a:r>
              <a:rPr lang="en-US" altLang="en-US" dirty="0">
                <a:cs typeface="Times New Roman" pitchFamily="18" charset="0"/>
              </a:rPr>
              <a:t>) by:</a:t>
            </a:r>
          </a:p>
          <a:p>
            <a:pPr lvl="1" eaLnBrk="1" hangingPunct="1"/>
            <a:r>
              <a:rPr lang="en-US" altLang="en-US" dirty="0">
                <a:cs typeface="Times New Roman" pitchFamily="18" charset="0"/>
              </a:rPr>
              <a:t>a variable </a:t>
            </a:r>
            <a:r>
              <a:rPr lang="en-US" altLang="en-US" i="1" dirty="0">
                <a:cs typeface="Times New Roman" pitchFamily="18" charset="0"/>
              </a:rPr>
              <a:t>size</a:t>
            </a:r>
            <a:endParaRPr lang="en-US" altLang="en-US" dirty="0">
              <a:cs typeface="Times New Roman" pitchFamily="18" charset="0"/>
            </a:endParaRPr>
          </a:p>
          <a:p>
            <a:pPr lvl="1" eaLnBrk="1" hangingPunct="1"/>
            <a:r>
              <a:rPr lang="en-US" altLang="en-US" dirty="0">
                <a:cs typeface="Times New Roman" pitchFamily="18" charset="0"/>
              </a:rPr>
              <a:t>an array </a:t>
            </a:r>
            <a:r>
              <a:rPr lang="en-US" altLang="en-US" i="1" dirty="0" err="1">
                <a:cs typeface="Times New Roman" pitchFamily="18" charset="0"/>
              </a:rPr>
              <a:t>elems</a:t>
            </a:r>
            <a:r>
              <a:rPr lang="en-US" altLang="en-US" dirty="0">
                <a:cs typeface="Times New Roman" pitchFamily="18" charset="0"/>
              </a:rPr>
              <a:t> of length </a:t>
            </a:r>
            <a:r>
              <a:rPr lang="en-US" altLang="en-US" i="1" dirty="0">
                <a:cs typeface="Times New Roman" pitchFamily="18" charset="0"/>
              </a:rPr>
              <a:t>cap</a:t>
            </a:r>
            <a:r>
              <a:rPr lang="en-US" altLang="en-US" dirty="0">
                <a:cs typeface="Times New Roman" pitchFamily="18" charset="0"/>
              </a:rPr>
              <a:t>, containing the elements in </a:t>
            </a:r>
            <a:r>
              <a:rPr lang="en-US" altLang="en-US" i="1" dirty="0" err="1">
                <a:cs typeface="Times New Roman" pitchFamily="18" charset="0"/>
              </a:rPr>
              <a:t>elems</a:t>
            </a:r>
            <a:r>
              <a:rPr lang="en-US" altLang="en-US" dirty="0">
                <a:cs typeface="Times New Roman" pitchFamily="18" charset="0"/>
              </a:rPr>
              <a:t>[0… </a:t>
            </a:r>
            <a:r>
              <a:rPr lang="en-US" altLang="en-US" i="1" dirty="0">
                <a:cs typeface="Times New Roman" pitchFamily="18" charset="0"/>
              </a:rPr>
              <a:t>size</a:t>
            </a:r>
            <a:r>
              <a:rPr lang="en-US" altLang="en-US" dirty="0">
                <a:cs typeface="Times New Roman" pitchFamily="18" charset="0"/>
              </a:rPr>
              <a:t>–1].</a:t>
            </a:r>
            <a:endParaRPr lang="en-US" altLang="en-US" dirty="0">
              <a:latin typeface="Times New Roman" pitchFamily="18" charset="0"/>
            </a:endParaRPr>
          </a:p>
        </p:txBody>
      </p:sp>
      <p:grpSp>
        <p:nvGrpSpPr>
          <p:cNvPr id="2" name="Group 52"/>
          <p:cNvGrpSpPr>
            <a:grpSpLocks/>
          </p:cNvGrpSpPr>
          <p:nvPr/>
        </p:nvGrpSpPr>
        <p:grpSpPr bwMode="auto">
          <a:xfrm>
            <a:off x="627786" y="5532953"/>
            <a:ext cx="5943600" cy="714375"/>
            <a:chOff x="1292" y="3454"/>
            <a:chExt cx="3744" cy="450"/>
          </a:xfrm>
        </p:grpSpPr>
        <p:sp>
          <p:nvSpPr>
            <p:cNvPr id="13347" name="Rectangle 21"/>
            <p:cNvSpPr>
              <a:spLocks noChangeArrowheads="1"/>
            </p:cNvSpPr>
            <p:nvPr/>
          </p:nvSpPr>
          <p:spPr bwMode="auto">
            <a:xfrm>
              <a:off x="1292" y="3568"/>
              <a:ext cx="794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ts val="2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000">
                  <a:solidFill>
                    <a:srgbClr val="000000"/>
                  </a:solidFill>
                </a:rPr>
                <a:t>Illustration</a:t>
              </a:r>
              <a:br>
                <a:rPr lang="en-US" altLang="en-US" sz="2000">
                  <a:solidFill>
                    <a:srgbClr val="000000"/>
                  </a:solidFill>
                </a:rPr>
              </a:br>
              <a:r>
                <a:rPr lang="en-US" altLang="en-US" sz="2000">
                  <a:solidFill>
                    <a:srgbClr val="000000"/>
                  </a:solidFill>
                </a:rPr>
                <a:t>(</a:t>
              </a:r>
              <a:r>
                <a:rPr lang="en-US" altLang="en-US" sz="2000" i="1">
                  <a:solidFill>
                    <a:srgbClr val="000000"/>
                  </a:solidFill>
                </a:rPr>
                <a:t>cap</a:t>
              </a:r>
              <a:r>
                <a:rPr lang="en-US" altLang="en-US" sz="2000">
                  <a:solidFill>
                    <a:srgbClr val="000000"/>
                  </a:solidFill>
                </a:rPr>
                <a:t> = 6):</a:t>
              </a:r>
              <a:endParaRPr lang="en-US" altLang="en-US" sz="2000"/>
            </a:p>
          </p:txBody>
        </p:sp>
        <p:sp>
          <p:nvSpPr>
            <p:cNvPr id="13348" name="Rectangle 22"/>
            <p:cNvSpPr>
              <a:spLocks noChangeArrowheads="1"/>
            </p:cNvSpPr>
            <p:nvPr/>
          </p:nvSpPr>
          <p:spPr bwMode="auto">
            <a:xfrm>
              <a:off x="2151" y="3616"/>
              <a:ext cx="480" cy="28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marL="101600"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dirty="0">
                  <a:latin typeface="Times New Roman" pitchFamily="18" charset="0"/>
                </a:rPr>
                <a:t>Moby Dick</a:t>
              </a:r>
            </a:p>
          </p:txBody>
        </p:sp>
        <p:sp>
          <p:nvSpPr>
            <p:cNvPr id="13349" name="Rectangle 23"/>
            <p:cNvSpPr>
              <a:spLocks noChangeArrowheads="1"/>
            </p:cNvSpPr>
            <p:nvPr/>
          </p:nvSpPr>
          <p:spPr bwMode="auto">
            <a:xfrm>
              <a:off x="2631" y="3616"/>
              <a:ext cx="480" cy="28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marL="101600"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latin typeface="Times New Roman" pitchFamily="18" charset="0"/>
                </a:rPr>
                <a:t>War &amp; Peace</a:t>
              </a:r>
            </a:p>
          </p:txBody>
        </p:sp>
        <p:sp>
          <p:nvSpPr>
            <p:cNvPr id="13350" name="Rectangle 24"/>
            <p:cNvSpPr>
              <a:spLocks noChangeArrowheads="1"/>
            </p:cNvSpPr>
            <p:nvPr/>
          </p:nvSpPr>
          <p:spPr bwMode="auto">
            <a:xfrm>
              <a:off x="3111" y="3616"/>
              <a:ext cx="480" cy="28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marL="101600"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latin typeface="Times New Roman" pitchFamily="18" charset="0"/>
                </a:rPr>
                <a:t>Rob Roy</a:t>
              </a:r>
            </a:p>
          </p:txBody>
        </p:sp>
        <p:sp>
          <p:nvSpPr>
            <p:cNvPr id="13351" name="Rectangle 25"/>
            <p:cNvSpPr>
              <a:spLocks noChangeArrowheads="1"/>
            </p:cNvSpPr>
            <p:nvPr/>
          </p:nvSpPr>
          <p:spPr bwMode="auto">
            <a:xfrm>
              <a:off x="3591" y="3616"/>
              <a:ext cx="480" cy="2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endParaRPr lang="en-US" altLang="en-US" sz="1600">
                <a:latin typeface="Times New Roman" pitchFamily="18" charset="0"/>
              </a:endParaRPr>
            </a:p>
          </p:txBody>
        </p:sp>
        <p:sp>
          <p:nvSpPr>
            <p:cNvPr id="13352" name="Rectangle 26"/>
            <p:cNvSpPr>
              <a:spLocks noChangeArrowheads="1"/>
            </p:cNvSpPr>
            <p:nvPr/>
          </p:nvSpPr>
          <p:spPr bwMode="auto">
            <a:xfrm>
              <a:off x="4071" y="3616"/>
              <a:ext cx="480" cy="2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endParaRPr lang="en-US" altLang="en-US" sz="1600">
                <a:latin typeface="Times New Roman" pitchFamily="18" charset="0"/>
              </a:endParaRPr>
            </a:p>
          </p:txBody>
        </p:sp>
        <p:sp>
          <p:nvSpPr>
            <p:cNvPr id="13353" name="Rectangle 27"/>
            <p:cNvSpPr>
              <a:spLocks noChangeArrowheads="1"/>
            </p:cNvSpPr>
            <p:nvPr/>
          </p:nvSpPr>
          <p:spPr bwMode="auto">
            <a:xfrm>
              <a:off x="4551" y="3616"/>
              <a:ext cx="480" cy="2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endParaRPr lang="en-US" altLang="en-US" sz="1600">
                <a:latin typeface="Times New Roman" pitchFamily="18" charset="0"/>
              </a:endParaRPr>
            </a:p>
          </p:txBody>
        </p:sp>
        <p:sp>
          <p:nvSpPr>
            <p:cNvPr id="13354" name="Rectangle 28"/>
            <p:cNvSpPr>
              <a:spLocks noChangeArrowheads="1"/>
            </p:cNvSpPr>
            <p:nvPr/>
          </p:nvSpPr>
          <p:spPr bwMode="auto">
            <a:xfrm>
              <a:off x="2631" y="3454"/>
              <a:ext cx="485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1</a:t>
              </a:r>
            </a:p>
          </p:txBody>
        </p:sp>
        <p:sp>
          <p:nvSpPr>
            <p:cNvPr id="13355" name="Rectangle 29"/>
            <p:cNvSpPr>
              <a:spLocks noChangeArrowheads="1"/>
            </p:cNvSpPr>
            <p:nvPr/>
          </p:nvSpPr>
          <p:spPr bwMode="auto">
            <a:xfrm>
              <a:off x="2151" y="3460"/>
              <a:ext cx="485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0</a:t>
              </a:r>
            </a:p>
          </p:txBody>
        </p:sp>
        <p:sp>
          <p:nvSpPr>
            <p:cNvPr id="13356" name="Rectangle 30"/>
            <p:cNvSpPr>
              <a:spLocks noChangeArrowheads="1"/>
            </p:cNvSpPr>
            <p:nvPr/>
          </p:nvSpPr>
          <p:spPr bwMode="auto">
            <a:xfrm>
              <a:off x="3111" y="3466"/>
              <a:ext cx="485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2</a:t>
              </a:r>
            </a:p>
          </p:txBody>
        </p:sp>
        <p:sp>
          <p:nvSpPr>
            <p:cNvPr id="13357" name="Rectangle 31"/>
            <p:cNvSpPr>
              <a:spLocks noChangeArrowheads="1"/>
            </p:cNvSpPr>
            <p:nvPr/>
          </p:nvSpPr>
          <p:spPr bwMode="auto">
            <a:xfrm>
              <a:off x="3543" y="3460"/>
              <a:ext cx="582" cy="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i="1"/>
                <a:t>size</a:t>
              </a:r>
              <a:r>
                <a:rPr lang="en-US" altLang="en-US" sz="1800"/>
                <a:t>=3</a:t>
              </a:r>
            </a:p>
          </p:txBody>
        </p:sp>
        <p:sp>
          <p:nvSpPr>
            <p:cNvPr id="13358" name="Rectangle 32"/>
            <p:cNvSpPr>
              <a:spLocks noChangeArrowheads="1"/>
            </p:cNvSpPr>
            <p:nvPr/>
          </p:nvSpPr>
          <p:spPr bwMode="auto">
            <a:xfrm>
              <a:off x="4071" y="3454"/>
              <a:ext cx="485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4</a:t>
              </a:r>
            </a:p>
          </p:txBody>
        </p:sp>
        <p:sp>
          <p:nvSpPr>
            <p:cNvPr id="13359" name="Rectangle 33"/>
            <p:cNvSpPr>
              <a:spLocks noChangeArrowheads="1"/>
            </p:cNvSpPr>
            <p:nvPr/>
          </p:nvSpPr>
          <p:spPr bwMode="auto">
            <a:xfrm>
              <a:off x="4551" y="3460"/>
              <a:ext cx="485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5</a:t>
              </a:r>
            </a:p>
          </p:txBody>
        </p:sp>
      </p:grpSp>
      <p:grpSp>
        <p:nvGrpSpPr>
          <p:cNvPr id="3" name="Group 50"/>
          <p:cNvGrpSpPr>
            <a:grpSpLocks/>
          </p:cNvGrpSpPr>
          <p:nvPr/>
        </p:nvGrpSpPr>
        <p:grpSpPr bwMode="auto">
          <a:xfrm>
            <a:off x="650875" y="3479006"/>
            <a:ext cx="6802438" cy="908050"/>
            <a:chOff x="1292" y="2228"/>
            <a:chExt cx="4285" cy="572"/>
          </a:xfrm>
        </p:grpSpPr>
        <p:sp>
          <p:nvSpPr>
            <p:cNvPr id="13331" name="Rectangle 5"/>
            <p:cNvSpPr>
              <a:spLocks noChangeArrowheads="1"/>
            </p:cNvSpPr>
            <p:nvPr/>
          </p:nvSpPr>
          <p:spPr bwMode="auto">
            <a:xfrm>
              <a:off x="1292" y="2561"/>
              <a:ext cx="796" cy="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ts val="2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000">
                  <a:solidFill>
                    <a:srgbClr val="000000"/>
                  </a:solidFill>
                </a:rPr>
                <a:t>Invariant:</a:t>
              </a:r>
              <a:endParaRPr lang="en-US" altLang="en-US" sz="2000"/>
            </a:p>
          </p:txBody>
        </p:sp>
        <p:sp>
          <p:nvSpPr>
            <p:cNvPr id="13332" name="Rectangle 6"/>
            <p:cNvSpPr>
              <a:spLocks noChangeArrowheads="1"/>
            </p:cNvSpPr>
            <p:nvPr/>
          </p:nvSpPr>
          <p:spPr bwMode="auto">
            <a:xfrm>
              <a:off x="2631" y="2554"/>
              <a:ext cx="480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600"/>
                <a:t>element</a:t>
              </a:r>
            </a:p>
          </p:txBody>
        </p:sp>
        <p:sp>
          <p:nvSpPr>
            <p:cNvPr id="13333" name="Rectangle 7"/>
            <p:cNvSpPr>
              <a:spLocks noChangeArrowheads="1"/>
            </p:cNvSpPr>
            <p:nvPr/>
          </p:nvSpPr>
          <p:spPr bwMode="auto">
            <a:xfrm>
              <a:off x="2151" y="2554"/>
              <a:ext cx="480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600" dirty="0"/>
                <a:t>element</a:t>
              </a:r>
            </a:p>
          </p:txBody>
        </p:sp>
        <p:sp>
          <p:nvSpPr>
            <p:cNvPr id="13334" name="Rectangle 8"/>
            <p:cNvSpPr>
              <a:spLocks noChangeArrowheads="1"/>
            </p:cNvSpPr>
            <p:nvPr/>
          </p:nvSpPr>
          <p:spPr bwMode="auto">
            <a:xfrm>
              <a:off x="2151" y="2404"/>
              <a:ext cx="485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13335" name="Rectangle 9"/>
            <p:cNvSpPr>
              <a:spLocks noChangeArrowheads="1"/>
            </p:cNvSpPr>
            <p:nvPr/>
          </p:nvSpPr>
          <p:spPr bwMode="auto">
            <a:xfrm>
              <a:off x="2631" y="2404"/>
              <a:ext cx="485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13336" name="Rectangle 10"/>
            <p:cNvSpPr>
              <a:spLocks noChangeArrowheads="1"/>
            </p:cNvSpPr>
            <p:nvPr/>
          </p:nvSpPr>
          <p:spPr bwMode="auto">
            <a:xfrm>
              <a:off x="3591" y="2554"/>
              <a:ext cx="480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600"/>
                <a:t>element</a:t>
              </a:r>
            </a:p>
          </p:txBody>
        </p:sp>
        <p:sp>
          <p:nvSpPr>
            <p:cNvPr id="13337" name="Rectangle 11"/>
            <p:cNvSpPr>
              <a:spLocks noChangeArrowheads="1"/>
            </p:cNvSpPr>
            <p:nvPr/>
          </p:nvSpPr>
          <p:spPr bwMode="auto">
            <a:xfrm>
              <a:off x="3543" y="2404"/>
              <a:ext cx="582" cy="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i="1"/>
                <a:t>size</a:t>
              </a:r>
              <a:r>
                <a:rPr lang="en-US" altLang="en-US" sz="1800">
                  <a:cs typeface="Times New Roman" pitchFamily="18" charset="0"/>
                </a:rPr>
                <a:t>–1</a:t>
              </a:r>
              <a:endParaRPr lang="en-US" altLang="en-US" sz="1800" i="1"/>
            </a:p>
          </p:txBody>
        </p:sp>
        <p:sp>
          <p:nvSpPr>
            <p:cNvPr id="13338" name="Rectangle 12"/>
            <p:cNvSpPr>
              <a:spLocks noChangeArrowheads="1"/>
            </p:cNvSpPr>
            <p:nvPr/>
          </p:nvSpPr>
          <p:spPr bwMode="auto">
            <a:xfrm>
              <a:off x="4071" y="2554"/>
              <a:ext cx="48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 i="1">
                <a:latin typeface="Times New Roman" pitchFamily="18" charset="0"/>
              </a:endParaRPr>
            </a:p>
          </p:txBody>
        </p:sp>
        <p:sp>
          <p:nvSpPr>
            <p:cNvPr id="13339" name="Rectangle 14"/>
            <p:cNvSpPr>
              <a:spLocks noChangeArrowheads="1"/>
            </p:cNvSpPr>
            <p:nvPr/>
          </p:nvSpPr>
          <p:spPr bwMode="auto">
            <a:xfrm>
              <a:off x="5031" y="2554"/>
              <a:ext cx="48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 i="1">
                <a:latin typeface="Times New Roman" pitchFamily="18" charset="0"/>
              </a:endParaRPr>
            </a:p>
          </p:txBody>
        </p:sp>
        <p:sp>
          <p:nvSpPr>
            <p:cNvPr id="13340" name="Rectangle 15"/>
            <p:cNvSpPr>
              <a:spLocks noChangeArrowheads="1"/>
            </p:cNvSpPr>
            <p:nvPr/>
          </p:nvSpPr>
          <p:spPr bwMode="auto">
            <a:xfrm>
              <a:off x="5031" y="2404"/>
              <a:ext cx="481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i="1"/>
                <a:t>cap</a:t>
              </a:r>
              <a:r>
                <a:rPr lang="en-US" altLang="en-US" sz="1800">
                  <a:cs typeface="Times New Roman" pitchFamily="18" charset="0"/>
                </a:rPr>
                <a:t>–1</a:t>
              </a:r>
              <a:endParaRPr lang="en-US" altLang="en-US" sz="1800" i="1"/>
            </a:p>
          </p:txBody>
        </p:sp>
        <p:sp>
          <p:nvSpPr>
            <p:cNvPr id="13341" name="Rectangle 16"/>
            <p:cNvSpPr>
              <a:spLocks noChangeArrowheads="1"/>
            </p:cNvSpPr>
            <p:nvPr/>
          </p:nvSpPr>
          <p:spPr bwMode="auto">
            <a:xfrm>
              <a:off x="4551" y="2554"/>
              <a:ext cx="48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 i="1">
                <a:latin typeface="Times New Roman" pitchFamily="18" charset="0"/>
              </a:endParaRPr>
            </a:p>
          </p:txBody>
        </p:sp>
        <p:sp>
          <p:nvSpPr>
            <p:cNvPr id="13342" name="Freeform 17"/>
            <p:cNvSpPr>
              <a:spLocks/>
            </p:cNvSpPr>
            <p:nvPr/>
          </p:nvSpPr>
          <p:spPr bwMode="auto">
            <a:xfrm>
              <a:off x="4695" y="2464"/>
              <a:ext cx="240" cy="336"/>
            </a:xfrm>
            <a:custGeom>
              <a:avLst/>
              <a:gdLst>
                <a:gd name="T0" fmla="*/ 144 w 240"/>
                <a:gd name="T1" fmla="*/ 0 h 336"/>
                <a:gd name="T2" fmla="*/ 0 w 240"/>
                <a:gd name="T3" fmla="*/ 336 h 336"/>
                <a:gd name="T4" fmla="*/ 96 w 240"/>
                <a:gd name="T5" fmla="*/ 336 h 336"/>
                <a:gd name="T6" fmla="*/ 240 w 240"/>
                <a:gd name="T7" fmla="*/ 0 h 336"/>
                <a:gd name="T8" fmla="*/ 144 w 240"/>
                <a:gd name="T9" fmla="*/ 0 h 3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0"/>
                <a:gd name="T16" fmla="*/ 0 h 336"/>
                <a:gd name="T17" fmla="*/ 240 w 240"/>
                <a:gd name="T18" fmla="*/ 336 h 3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0" h="336">
                  <a:moveTo>
                    <a:pt x="144" y="0"/>
                  </a:moveTo>
                  <a:lnTo>
                    <a:pt x="0" y="336"/>
                  </a:lnTo>
                  <a:lnTo>
                    <a:pt x="96" y="336"/>
                  </a:lnTo>
                  <a:lnTo>
                    <a:pt x="240" y="0"/>
                  </a:lnTo>
                  <a:lnTo>
                    <a:pt x="14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343" name="Rectangle 18"/>
            <p:cNvSpPr>
              <a:spLocks noChangeArrowheads="1"/>
            </p:cNvSpPr>
            <p:nvPr/>
          </p:nvSpPr>
          <p:spPr bwMode="auto">
            <a:xfrm>
              <a:off x="3111" y="2554"/>
              <a:ext cx="480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 i="1">
                <a:latin typeface="Times New Roman" pitchFamily="18" charset="0"/>
              </a:endParaRPr>
            </a:p>
          </p:txBody>
        </p:sp>
        <p:sp>
          <p:nvSpPr>
            <p:cNvPr id="13344" name="Freeform 19"/>
            <p:cNvSpPr>
              <a:spLocks/>
            </p:cNvSpPr>
            <p:nvPr/>
          </p:nvSpPr>
          <p:spPr bwMode="auto">
            <a:xfrm>
              <a:off x="3255" y="2464"/>
              <a:ext cx="240" cy="336"/>
            </a:xfrm>
            <a:custGeom>
              <a:avLst/>
              <a:gdLst>
                <a:gd name="T0" fmla="*/ 144 w 240"/>
                <a:gd name="T1" fmla="*/ 0 h 336"/>
                <a:gd name="T2" fmla="*/ 0 w 240"/>
                <a:gd name="T3" fmla="*/ 336 h 336"/>
                <a:gd name="T4" fmla="*/ 96 w 240"/>
                <a:gd name="T5" fmla="*/ 336 h 336"/>
                <a:gd name="T6" fmla="*/ 240 w 240"/>
                <a:gd name="T7" fmla="*/ 0 h 336"/>
                <a:gd name="T8" fmla="*/ 144 w 240"/>
                <a:gd name="T9" fmla="*/ 0 h 3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0"/>
                <a:gd name="T16" fmla="*/ 0 h 336"/>
                <a:gd name="T17" fmla="*/ 240 w 240"/>
                <a:gd name="T18" fmla="*/ 336 h 3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0" h="336">
                  <a:moveTo>
                    <a:pt x="144" y="0"/>
                  </a:moveTo>
                  <a:lnTo>
                    <a:pt x="0" y="336"/>
                  </a:lnTo>
                  <a:lnTo>
                    <a:pt x="96" y="336"/>
                  </a:lnTo>
                  <a:lnTo>
                    <a:pt x="240" y="0"/>
                  </a:lnTo>
                  <a:lnTo>
                    <a:pt x="14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345" name="AutoShape 34"/>
            <p:cNvSpPr>
              <a:spLocks/>
            </p:cNvSpPr>
            <p:nvPr/>
          </p:nvSpPr>
          <p:spPr bwMode="auto">
            <a:xfrm>
              <a:off x="2118" y="2228"/>
              <a:ext cx="1081" cy="136"/>
            </a:xfrm>
            <a:prstGeom prst="callout1">
              <a:avLst>
                <a:gd name="adj1" fmla="val 52940"/>
                <a:gd name="adj2" fmla="val 104440"/>
                <a:gd name="adj3" fmla="val 257352"/>
                <a:gd name="adj4" fmla="val 138759"/>
              </a:avLst>
            </a:prstGeom>
            <a:noFill/>
            <a:ln w="9525">
              <a:solidFill>
                <a:schemeClr val="accent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 dirty="0">
                  <a:solidFill>
                    <a:schemeClr val="accent1">
                      <a:lumMod val="75000"/>
                    </a:schemeClr>
                  </a:solidFill>
                </a:rPr>
                <a:t>topmost element</a:t>
              </a:r>
              <a:endParaRPr lang="en-GB" altLang="en-US" sz="1800" dirty="0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</a:endParaRPr>
            </a:p>
          </p:txBody>
        </p:sp>
        <p:sp>
          <p:nvSpPr>
            <p:cNvPr id="13346" name="AutoShape 35"/>
            <p:cNvSpPr>
              <a:spLocks/>
            </p:cNvSpPr>
            <p:nvPr/>
          </p:nvSpPr>
          <p:spPr bwMode="auto">
            <a:xfrm>
              <a:off x="4795" y="2228"/>
              <a:ext cx="782" cy="133"/>
            </a:xfrm>
            <a:prstGeom prst="callout1">
              <a:avLst>
                <a:gd name="adj1" fmla="val 54134"/>
                <a:gd name="adj2" fmla="val -6139"/>
                <a:gd name="adj3" fmla="val 294736"/>
                <a:gd name="adj4" fmla="val -41944"/>
              </a:avLst>
            </a:prstGeom>
            <a:noFill/>
            <a:ln w="9525">
              <a:solidFill>
                <a:schemeClr val="accent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>
                  <a:solidFill>
                    <a:schemeClr val="accent1">
                      <a:lumMod val="75000"/>
                    </a:schemeClr>
                  </a:solidFill>
                </a:rPr>
                <a:t>unoccupied</a:t>
              </a:r>
              <a:endParaRPr lang="en-GB" altLang="en-US" sz="1800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</a:endParaRPr>
            </a:p>
          </p:txBody>
        </p:sp>
      </p:grpSp>
      <p:grpSp>
        <p:nvGrpSpPr>
          <p:cNvPr id="4" name="Group 51"/>
          <p:cNvGrpSpPr>
            <a:grpSpLocks/>
          </p:cNvGrpSpPr>
          <p:nvPr/>
        </p:nvGrpSpPr>
        <p:grpSpPr bwMode="auto">
          <a:xfrm>
            <a:off x="635723" y="4664075"/>
            <a:ext cx="6699250" cy="628650"/>
            <a:chOff x="1292" y="2932"/>
            <a:chExt cx="4220" cy="396"/>
          </a:xfrm>
        </p:grpSpPr>
        <p:sp>
          <p:nvSpPr>
            <p:cNvPr id="13319" name="Rectangle 37"/>
            <p:cNvSpPr>
              <a:spLocks noChangeArrowheads="1"/>
            </p:cNvSpPr>
            <p:nvPr/>
          </p:nvSpPr>
          <p:spPr bwMode="auto">
            <a:xfrm>
              <a:off x="1292" y="2976"/>
              <a:ext cx="796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ts val="2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000">
                  <a:solidFill>
                    <a:srgbClr val="000000"/>
                  </a:solidFill>
                </a:rPr>
                <a:t>Empty stack:</a:t>
              </a:r>
              <a:endParaRPr lang="en-US" altLang="en-US" sz="2000"/>
            </a:p>
          </p:txBody>
        </p:sp>
        <p:sp>
          <p:nvSpPr>
            <p:cNvPr id="13320" name="Rectangle 38"/>
            <p:cNvSpPr>
              <a:spLocks noChangeArrowheads="1"/>
            </p:cNvSpPr>
            <p:nvPr/>
          </p:nvSpPr>
          <p:spPr bwMode="auto">
            <a:xfrm>
              <a:off x="2631" y="3082"/>
              <a:ext cx="480" cy="19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 i="1">
                <a:latin typeface="Times New Roman" pitchFamily="18" charset="0"/>
              </a:endParaRPr>
            </a:p>
          </p:txBody>
        </p:sp>
        <p:sp>
          <p:nvSpPr>
            <p:cNvPr id="13321" name="Rectangle 39"/>
            <p:cNvSpPr>
              <a:spLocks noChangeArrowheads="1"/>
            </p:cNvSpPr>
            <p:nvPr/>
          </p:nvSpPr>
          <p:spPr bwMode="auto">
            <a:xfrm>
              <a:off x="2151" y="3082"/>
              <a:ext cx="480" cy="19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 i="1">
                <a:latin typeface="Times New Roman" pitchFamily="18" charset="0"/>
              </a:endParaRPr>
            </a:p>
          </p:txBody>
        </p:sp>
        <p:sp>
          <p:nvSpPr>
            <p:cNvPr id="13322" name="Rectangle 41"/>
            <p:cNvSpPr>
              <a:spLocks noChangeArrowheads="1"/>
            </p:cNvSpPr>
            <p:nvPr/>
          </p:nvSpPr>
          <p:spPr bwMode="auto">
            <a:xfrm>
              <a:off x="3591" y="3082"/>
              <a:ext cx="480" cy="19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 i="1">
                <a:latin typeface="Times New Roman" pitchFamily="18" charset="0"/>
              </a:endParaRPr>
            </a:p>
          </p:txBody>
        </p:sp>
        <p:sp>
          <p:nvSpPr>
            <p:cNvPr id="13323" name="Rectangle 42"/>
            <p:cNvSpPr>
              <a:spLocks noChangeArrowheads="1"/>
            </p:cNvSpPr>
            <p:nvPr/>
          </p:nvSpPr>
          <p:spPr bwMode="auto">
            <a:xfrm>
              <a:off x="4071" y="3082"/>
              <a:ext cx="480" cy="19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 i="1">
                <a:latin typeface="Times New Roman" pitchFamily="18" charset="0"/>
              </a:endParaRPr>
            </a:p>
          </p:txBody>
        </p:sp>
        <p:sp>
          <p:nvSpPr>
            <p:cNvPr id="13324" name="Rectangle 43"/>
            <p:cNvSpPr>
              <a:spLocks noChangeArrowheads="1"/>
            </p:cNvSpPr>
            <p:nvPr/>
          </p:nvSpPr>
          <p:spPr bwMode="auto">
            <a:xfrm>
              <a:off x="5031" y="3082"/>
              <a:ext cx="480" cy="19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 i="1">
                <a:latin typeface="Times New Roman" pitchFamily="18" charset="0"/>
              </a:endParaRPr>
            </a:p>
          </p:txBody>
        </p:sp>
        <p:sp>
          <p:nvSpPr>
            <p:cNvPr id="13325" name="Rectangle 44"/>
            <p:cNvSpPr>
              <a:spLocks noChangeArrowheads="1"/>
            </p:cNvSpPr>
            <p:nvPr/>
          </p:nvSpPr>
          <p:spPr bwMode="auto">
            <a:xfrm>
              <a:off x="4551" y="3082"/>
              <a:ext cx="480" cy="19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 i="1">
                <a:latin typeface="Times New Roman" pitchFamily="18" charset="0"/>
              </a:endParaRPr>
            </a:p>
          </p:txBody>
        </p:sp>
        <p:sp>
          <p:nvSpPr>
            <p:cNvPr id="13326" name="Rectangle 45"/>
            <p:cNvSpPr>
              <a:spLocks noChangeArrowheads="1"/>
            </p:cNvSpPr>
            <p:nvPr/>
          </p:nvSpPr>
          <p:spPr bwMode="auto">
            <a:xfrm>
              <a:off x="3111" y="3082"/>
              <a:ext cx="480" cy="19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 i="1">
                <a:latin typeface="Times New Roman" pitchFamily="18" charset="0"/>
              </a:endParaRPr>
            </a:p>
          </p:txBody>
        </p:sp>
        <p:sp>
          <p:nvSpPr>
            <p:cNvPr id="13327" name="Freeform 46"/>
            <p:cNvSpPr>
              <a:spLocks/>
            </p:cNvSpPr>
            <p:nvPr/>
          </p:nvSpPr>
          <p:spPr bwMode="auto">
            <a:xfrm>
              <a:off x="3255" y="2992"/>
              <a:ext cx="240" cy="336"/>
            </a:xfrm>
            <a:custGeom>
              <a:avLst/>
              <a:gdLst>
                <a:gd name="T0" fmla="*/ 144 w 240"/>
                <a:gd name="T1" fmla="*/ 0 h 336"/>
                <a:gd name="T2" fmla="*/ 0 w 240"/>
                <a:gd name="T3" fmla="*/ 336 h 336"/>
                <a:gd name="T4" fmla="*/ 96 w 240"/>
                <a:gd name="T5" fmla="*/ 336 h 336"/>
                <a:gd name="T6" fmla="*/ 240 w 240"/>
                <a:gd name="T7" fmla="*/ 0 h 336"/>
                <a:gd name="T8" fmla="*/ 144 w 240"/>
                <a:gd name="T9" fmla="*/ 0 h 3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0"/>
                <a:gd name="T16" fmla="*/ 0 h 336"/>
                <a:gd name="T17" fmla="*/ 240 w 240"/>
                <a:gd name="T18" fmla="*/ 336 h 3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0" h="336">
                  <a:moveTo>
                    <a:pt x="144" y="0"/>
                  </a:moveTo>
                  <a:lnTo>
                    <a:pt x="0" y="336"/>
                  </a:lnTo>
                  <a:lnTo>
                    <a:pt x="96" y="336"/>
                  </a:lnTo>
                  <a:lnTo>
                    <a:pt x="240" y="0"/>
                  </a:lnTo>
                  <a:lnTo>
                    <a:pt x="14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328" name="Rectangle 47"/>
            <p:cNvSpPr>
              <a:spLocks noChangeArrowheads="1"/>
            </p:cNvSpPr>
            <p:nvPr/>
          </p:nvSpPr>
          <p:spPr bwMode="auto">
            <a:xfrm>
              <a:off x="2103" y="2944"/>
              <a:ext cx="582" cy="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i="1"/>
                <a:t>size</a:t>
              </a:r>
              <a:r>
                <a:rPr lang="en-US" altLang="en-US" sz="1800"/>
                <a:t>=0</a:t>
              </a:r>
            </a:p>
          </p:txBody>
        </p:sp>
        <p:sp>
          <p:nvSpPr>
            <p:cNvPr id="13329" name="Freeform 48"/>
            <p:cNvSpPr>
              <a:spLocks/>
            </p:cNvSpPr>
            <p:nvPr/>
          </p:nvSpPr>
          <p:spPr bwMode="auto">
            <a:xfrm>
              <a:off x="4695" y="2992"/>
              <a:ext cx="240" cy="336"/>
            </a:xfrm>
            <a:custGeom>
              <a:avLst/>
              <a:gdLst>
                <a:gd name="T0" fmla="*/ 144 w 240"/>
                <a:gd name="T1" fmla="*/ 0 h 336"/>
                <a:gd name="T2" fmla="*/ 0 w 240"/>
                <a:gd name="T3" fmla="*/ 336 h 336"/>
                <a:gd name="T4" fmla="*/ 96 w 240"/>
                <a:gd name="T5" fmla="*/ 336 h 336"/>
                <a:gd name="T6" fmla="*/ 240 w 240"/>
                <a:gd name="T7" fmla="*/ 0 h 336"/>
                <a:gd name="T8" fmla="*/ 144 w 240"/>
                <a:gd name="T9" fmla="*/ 0 h 3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0"/>
                <a:gd name="T16" fmla="*/ 0 h 336"/>
                <a:gd name="T17" fmla="*/ 240 w 240"/>
                <a:gd name="T18" fmla="*/ 336 h 3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0" h="336">
                  <a:moveTo>
                    <a:pt x="144" y="0"/>
                  </a:moveTo>
                  <a:lnTo>
                    <a:pt x="0" y="336"/>
                  </a:lnTo>
                  <a:lnTo>
                    <a:pt x="96" y="336"/>
                  </a:lnTo>
                  <a:lnTo>
                    <a:pt x="240" y="0"/>
                  </a:lnTo>
                  <a:lnTo>
                    <a:pt x="14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330" name="Rectangle 49"/>
            <p:cNvSpPr>
              <a:spLocks noChangeArrowheads="1"/>
            </p:cNvSpPr>
            <p:nvPr/>
          </p:nvSpPr>
          <p:spPr bwMode="auto">
            <a:xfrm>
              <a:off x="5031" y="2932"/>
              <a:ext cx="481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i="1"/>
                <a:t>cap</a:t>
              </a:r>
              <a:r>
                <a:rPr lang="en-US" altLang="en-US" sz="1800">
                  <a:cs typeface="Times New Roman" pitchFamily="18" charset="0"/>
                </a:rPr>
                <a:t>–1</a:t>
              </a:r>
              <a:endParaRPr lang="en-US" altLang="en-US" sz="1800" i="1"/>
            </a:p>
          </p:txBody>
        </p:sp>
      </p:grp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074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Implementation of stacks using arrays </a:t>
            </a:r>
            <a:r>
              <a:rPr lang="en-US" altLang="en-US" sz="3200" i="1" dirty="0"/>
              <a:t>(2)</a:t>
            </a:r>
            <a:endParaRPr lang="en-GB" altLang="en-US" sz="3200" i="1" dirty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dirty="0">
                <a:cs typeface="Times New Roman" pitchFamily="18" charset="0"/>
              </a:rPr>
              <a:t>Java implementation: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class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ArrayStack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&lt;</a:t>
            </a:r>
            <a:r>
              <a:rPr lang="en-US" altLang="en-US" sz="2000" dirty="0">
                <a:solidFill>
                  <a:srgbClr val="CC0099"/>
                </a:solidFill>
                <a:latin typeface="Courier New" pitchFamily="49" charset="0"/>
                <a:cs typeface="Times New Roman" pitchFamily="18" charset="0"/>
              </a:rPr>
              <a:t>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&gt; 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implements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Stack&lt;</a:t>
            </a:r>
            <a:r>
              <a:rPr lang="en-US" altLang="en-US" sz="2000" dirty="0">
                <a:solidFill>
                  <a:srgbClr val="CC0099"/>
                </a:solidFill>
                <a:latin typeface="Courier New" pitchFamily="49" charset="0"/>
                <a:cs typeface="Times New Roman" pitchFamily="18" charset="0"/>
              </a:rPr>
              <a:t>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&gt; {</a:t>
            </a:r>
            <a:endParaRPr lang="en-US" altLang="en-US" sz="2000" dirty="0">
              <a:cs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private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dirty="0">
                <a:solidFill>
                  <a:srgbClr val="CC0099"/>
                </a:solidFill>
                <a:latin typeface="Courier New" pitchFamily="49" charset="0"/>
                <a:cs typeface="Times New Roman" pitchFamily="18" charset="0"/>
              </a:rPr>
              <a:t>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[] 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elems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private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b="1" dirty="0" err="1">
                <a:latin typeface="Courier New" pitchFamily="49" charset="0"/>
                <a:cs typeface="Times New Roman" pitchFamily="18" charset="0"/>
              </a:rPr>
              <a:t>int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size;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/////////////// </a:t>
            </a:r>
            <a:r>
              <a:rPr lang="en-US" altLang="en-US" sz="2000" dirty="0">
                <a:cs typeface="Times New Roman" pitchFamily="18" charset="0"/>
              </a:rPr>
              <a:t>Constructor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///////////////</a:t>
            </a:r>
            <a:endParaRPr lang="en-US" altLang="en-US" sz="2000" dirty="0">
              <a:cs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</a:t>
            </a: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	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b="1">
                <a:latin typeface="Courier New" pitchFamily="49" charset="0"/>
                <a:cs typeface="Times New Roman" pitchFamily="18" charset="0"/>
              </a:rPr>
              <a:t>     public</a:t>
            </a: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ArrayStack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(</a:t>
            </a:r>
            <a:r>
              <a:rPr lang="en-US" altLang="en-US" sz="2000" b="1" dirty="0" err="1">
                <a:latin typeface="Courier New" pitchFamily="49" charset="0"/>
                <a:cs typeface="Times New Roman" pitchFamily="18" charset="0"/>
              </a:rPr>
              <a:t>int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cap) {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elems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= (</a:t>
            </a:r>
            <a:r>
              <a:rPr lang="en-US" altLang="en-US" sz="2000" dirty="0">
                <a:solidFill>
                  <a:srgbClr val="CC0099"/>
                </a:solidFill>
                <a:latin typeface="Courier New" pitchFamily="49" charset="0"/>
                <a:cs typeface="Times New Roman" pitchFamily="18" charset="0"/>
              </a:rPr>
              <a:t>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[]) 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new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Object[cap];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size = 0;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}</a:t>
            </a:r>
            <a:endParaRPr lang="en-US" altLang="en-US" sz="2000" dirty="0">
              <a:latin typeface="Times New Roman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8361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sz="3200" dirty="0"/>
              <a:t>Implementation of stacks using </a:t>
            </a:r>
            <a:r>
              <a:rPr lang="en-US" altLang="en-US" sz="3200"/>
              <a:t>arrays </a:t>
            </a:r>
            <a:br>
              <a:rPr lang="en-US" altLang="en-US" sz="3200"/>
            </a:br>
            <a:r>
              <a:rPr lang="en-US" altLang="en-US" sz="3200" i="1"/>
              <a:t>(</a:t>
            </a:r>
            <a:r>
              <a:rPr lang="en-US" altLang="en-US" sz="3200" i="1" dirty="0"/>
              <a:t>3)</a:t>
            </a:r>
            <a:endParaRPr lang="en-GB" altLang="en-US" sz="3200" i="1" dirty="0"/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dirty="0">
                <a:cs typeface="Times New Roman" pitchFamily="18" charset="0"/>
              </a:rPr>
              <a:t>Java implementation </a:t>
            </a:r>
            <a:r>
              <a:rPr lang="en-US" altLang="en-US" i="1" dirty="0">
                <a:cs typeface="Times New Roman" pitchFamily="18" charset="0"/>
              </a:rPr>
              <a:t>(continued)</a:t>
            </a:r>
            <a:r>
              <a:rPr lang="en-US" altLang="en-US" dirty="0">
                <a:cs typeface="Times New Roman" pitchFamily="18" charset="0"/>
              </a:rPr>
              <a:t>: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/////////////// </a:t>
            </a:r>
            <a:r>
              <a:rPr lang="en-US" altLang="en-US" sz="2000" dirty="0">
                <a:cs typeface="Times New Roman" pitchFamily="18" charset="0"/>
              </a:rPr>
              <a:t>Accessors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///////////////</a:t>
            </a:r>
            <a:endParaRPr lang="en-US" altLang="en-US" sz="2000" dirty="0">
              <a:cs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b="1" err="1">
                <a:latin typeface="Courier New" pitchFamily="49" charset="0"/>
                <a:cs typeface="Times New Roman" pitchFamily="18" charset="0"/>
              </a:rPr>
              <a:t>boolean</a:t>
            </a: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 isEmpty 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() {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return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(size == 0);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}</a:t>
            </a:r>
            <a:endParaRPr lang="en-US" altLang="en-US" sz="2000" dirty="0">
              <a:cs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dirty="0">
                <a:solidFill>
                  <a:srgbClr val="CC0099"/>
                </a:solidFill>
                <a:latin typeface="Courier New" pitchFamily="49" charset="0"/>
                <a:cs typeface="Times New Roman" pitchFamily="18" charset="0"/>
              </a:rPr>
              <a:t>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peek () {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if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(size == 0)  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throw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…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return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elems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[size-1];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}</a:t>
            </a:r>
            <a:endParaRPr lang="en-US" altLang="en-US" sz="2000" dirty="0">
              <a:latin typeface="Times New Roman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2893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Implementation of stacks using arrays </a:t>
            </a:r>
            <a:r>
              <a:rPr lang="en-US" altLang="en-US" sz="3200" i="1" dirty="0"/>
              <a:t>(4)</a:t>
            </a:r>
            <a:endParaRPr lang="en-GB" altLang="en-US" sz="3200" i="1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dirty="0">
                <a:cs typeface="Times New Roman" pitchFamily="18" charset="0"/>
              </a:rPr>
              <a:t>Java implementation </a:t>
            </a:r>
            <a:r>
              <a:rPr lang="en-US" altLang="en-US" i="1" dirty="0">
                <a:cs typeface="Times New Roman" pitchFamily="18" charset="0"/>
              </a:rPr>
              <a:t>(continued)</a:t>
            </a:r>
            <a:r>
              <a:rPr lang="en-US" altLang="en-US" dirty="0">
                <a:cs typeface="Times New Roman" pitchFamily="18" charset="0"/>
              </a:rPr>
              <a:t>: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////////////// </a:t>
            </a:r>
            <a:r>
              <a:rPr lang="en-US" altLang="en-US" sz="2000" dirty="0">
                <a:cs typeface="Times New Roman" pitchFamily="18" charset="0"/>
              </a:rPr>
              <a:t>Transformers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///////////////</a:t>
            </a:r>
            <a:endParaRPr lang="en-US" altLang="en-US" sz="2000" dirty="0">
              <a:cs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void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clear () {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size = 0;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}</a:t>
            </a:r>
            <a:endParaRPr lang="en-US" altLang="en-US" sz="2000" dirty="0">
              <a:cs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void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push (</a:t>
            </a:r>
            <a:r>
              <a:rPr lang="en-US" altLang="en-US" sz="2000" dirty="0">
                <a:solidFill>
                  <a:srgbClr val="CC0099"/>
                </a:solidFill>
                <a:latin typeface="Courier New" pitchFamily="49" charset="0"/>
                <a:cs typeface="Times New Roman" pitchFamily="18" charset="0"/>
              </a:rPr>
              <a:t>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it) {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if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(size == 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elems.length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) 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…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elems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[size++] = it;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}</a:t>
            </a:r>
          </a:p>
          <a:p>
            <a:pPr eaLnBrk="1" hangingPunct="1">
              <a:spcBef>
                <a:spcPts val="900"/>
              </a:spcBef>
              <a:buClr>
                <a:schemeClr val="tx1"/>
              </a:buClr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endParaRPr lang="en-US" altLang="en-US" sz="2000" dirty="0">
              <a:latin typeface="Times New Roman" pitchFamily="18" charset="0"/>
            </a:endParaRPr>
          </a:p>
        </p:txBody>
      </p:sp>
      <p:sp>
        <p:nvSpPr>
          <p:cNvPr id="425989" name="AutoShape 5"/>
          <p:cNvSpPr>
            <a:spLocks/>
          </p:cNvSpPr>
          <p:nvPr/>
        </p:nvSpPr>
        <p:spPr bwMode="auto">
          <a:xfrm>
            <a:off x="5638800" y="4572000"/>
            <a:ext cx="2160588" cy="720725"/>
          </a:xfrm>
          <a:prstGeom prst="callout3">
            <a:avLst>
              <a:gd name="adj1" fmla="val 15861"/>
              <a:gd name="adj2" fmla="val -3764"/>
              <a:gd name="adj3" fmla="val 15861"/>
              <a:gd name="adj4" fmla="val -13019"/>
              <a:gd name="adj5" fmla="val -26653"/>
              <a:gd name="adj6" fmla="val -13019"/>
              <a:gd name="adj7" fmla="val -69824"/>
              <a:gd name="adj8" fmla="val -940"/>
            </a:avLst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GB" altLang="en-US" sz="1800" dirty="0">
                <a:solidFill>
                  <a:schemeClr val="accent1">
                    <a:lumMod val="75000"/>
                  </a:schemeClr>
                </a:solidFill>
              </a:rPr>
              <a:t>The array is full. Expand the array, </a:t>
            </a:r>
            <a:r>
              <a:rPr lang="en-GB" altLang="en-US" sz="1800" i="1" dirty="0">
                <a:solidFill>
                  <a:schemeClr val="accent1">
                    <a:lumMod val="75000"/>
                  </a:schemeClr>
                </a:solidFill>
              </a:rPr>
              <a:t>or</a:t>
            </a:r>
            <a:r>
              <a:rPr lang="en-GB" altLang="en-US" sz="1800" dirty="0">
                <a:solidFill>
                  <a:schemeClr val="accent1">
                    <a:lumMod val="75000"/>
                  </a:schemeClr>
                </a:solidFill>
              </a:rPr>
              <a:t> throw an exception.</a:t>
            </a:r>
            <a:endParaRPr lang="en-US" altLang="en-US" sz="18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202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598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Implementation of stacks using arrays </a:t>
            </a:r>
            <a:r>
              <a:rPr lang="en-US" altLang="en-US" sz="3200" i="1" dirty="0"/>
              <a:t>(5)</a:t>
            </a:r>
            <a:endParaRPr lang="en-GB" altLang="en-US" sz="3200" i="1" dirty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dirty="0">
                <a:cs typeface="Times New Roman" pitchFamily="18" charset="0"/>
              </a:rPr>
              <a:t>Java implementation </a:t>
            </a:r>
            <a:r>
              <a:rPr lang="en-US" altLang="en-US" i="1" dirty="0">
                <a:cs typeface="Times New Roman" pitchFamily="18" charset="0"/>
              </a:rPr>
              <a:t>(continued)</a:t>
            </a:r>
            <a:r>
              <a:rPr lang="en-US" altLang="en-US" dirty="0">
                <a:cs typeface="Times New Roman" pitchFamily="18" charset="0"/>
              </a:rPr>
              <a:t>: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dirty="0">
                <a:solidFill>
                  <a:srgbClr val="CC0099"/>
                </a:solidFill>
                <a:latin typeface="Courier New" pitchFamily="49" charset="0"/>
                <a:cs typeface="Times New Roman" pitchFamily="18" charset="0"/>
              </a:rPr>
              <a:t>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pop () {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if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(size == 0)  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throw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…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dirty="0">
                <a:solidFill>
                  <a:srgbClr val="CC0099"/>
                </a:solidFill>
                <a:latin typeface="Courier New" pitchFamily="49" charset="0"/>
                <a:cs typeface="Times New Roman" pitchFamily="18" charset="0"/>
              </a:rPr>
              <a:t>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topElem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= 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elems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[--size];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elems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[size] = 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null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return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topElem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}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}</a:t>
            </a:r>
          </a:p>
          <a:p>
            <a:pPr eaLnBrk="1" hangingPunct="1"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dirty="0">
                <a:cs typeface="Times New Roman" pitchFamily="18" charset="0"/>
              </a:rPr>
              <a:t>Analysis:</a:t>
            </a:r>
          </a:p>
          <a:p>
            <a:pPr lvl="1" eaLnBrk="1" hangingPunct="1"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dirty="0">
                <a:cs typeface="Times New Roman" pitchFamily="18" charset="0"/>
              </a:rPr>
              <a:t>All operations have time complexity </a:t>
            </a:r>
            <a:r>
              <a:rPr lang="en-US" altLang="en-US" i="1" dirty="0">
                <a:cs typeface="Times New Roman" pitchFamily="18" charset="0"/>
              </a:rPr>
              <a:t>O</a:t>
            </a:r>
            <a:r>
              <a:rPr lang="en-US" altLang="en-US" dirty="0">
                <a:cs typeface="Times New Roman" pitchFamily="18" charset="0"/>
              </a:rPr>
              <a:t>(1).</a:t>
            </a:r>
            <a:endParaRPr lang="en-US" altLang="en-US" sz="1800" dirty="0">
              <a:latin typeface="Times New Roman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3584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Implementation of stacks using SLLs </a:t>
            </a:r>
            <a:r>
              <a:rPr lang="en-US" altLang="en-US" sz="3200" i="1" dirty="0"/>
              <a:t>(1)</a:t>
            </a:r>
            <a:endParaRPr lang="en-GB" altLang="en-US" sz="3200" dirty="0"/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206375" y="1447800"/>
            <a:ext cx="7620000" cy="4800600"/>
          </a:xfrm>
          <a:noFill/>
        </p:spPr>
        <p:txBody>
          <a:bodyPr/>
          <a:lstStyle/>
          <a:p>
            <a:pPr eaLnBrk="1" hangingPunct="1"/>
            <a:r>
              <a:rPr lang="en-US" altLang="en-US" dirty="0">
                <a:cs typeface="Times New Roman" pitchFamily="18" charset="0"/>
              </a:rPr>
              <a:t>Represent an (unbounded) stack by an SLL, such that the first node contains the topmost element.</a:t>
            </a:r>
            <a:endParaRPr lang="en-US" altLang="en-US" dirty="0">
              <a:latin typeface="Times New Roman" pitchFamily="18" charset="0"/>
            </a:endParaRPr>
          </a:p>
        </p:txBody>
      </p:sp>
      <p:grpSp>
        <p:nvGrpSpPr>
          <p:cNvPr id="2" name="Group 32"/>
          <p:cNvGrpSpPr>
            <a:grpSpLocks/>
          </p:cNvGrpSpPr>
          <p:nvPr/>
        </p:nvGrpSpPr>
        <p:grpSpPr bwMode="auto">
          <a:xfrm>
            <a:off x="448273" y="4005263"/>
            <a:ext cx="1639887" cy="457200"/>
            <a:chOff x="1065" y="2523"/>
            <a:chExt cx="1033" cy="288"/>
          </a:xfrm>
        </p:grpSpPr>
        <p:sp>
          <p:nvSpPr>
            <p:cNvPr id="18460" name="Rectangle 17"/>
            <p:cNvSpPr>
              <a:spLocks noChangeArrowheads="1"/>
            </p:cNvSpPr>
            <p:nvPr/>
          </p:nvSpPr>
          <p:spPr bwMode="auto">
            <a:xfrm>
              <a:off x="1065" y="2523"/>
              <a:ext cx="75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000">
                  <a:solidFill>
                    <a:srgbClr val="000000"/>
                  </a:solidFill>
                </a:rPr>
                <a:t>Empty stack:</a:t>
              </a:r>
              <a:endParaRPr lang="en-US" altLang="en-US" sz="2000"/>
            </a:p>
          </p:txBody>
        </p:sp>
        <p:sp>
          <p:nvSpPr>
            <p:cNvPr id="18461" name="Rectangle 18"/>
            <p:cNvSpPr>
              <a:spLocks noChangeArrowheads="1"/>
            </p:cNvSpPr>
            <p:nvPr/>
          </p:nvSpPr>
          <p:spPr bwMode="auto">
            <a:xfrm>
              <a:off x="1906" y="2583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8462" name="Line 19"/>
            <p:cNvSpPr>
              <a:spLocks noChangeShapeType="1"/>
            </p:cNvSpPr>
            <p:nvPr/>
          </p:nvSpPr>
          <p:spPr bwMode="auto">
            <a:xfrm>
              <a:off x="2002" y="2679"/>
              <a:ext cx="0" cy="2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3" name="Group 33"/>
          <p:cNvGrpSpPr>
            <a:grpSpLocks/>
          </p:cNvGrpSpPr>
          <p:nvPr/>
        </p:nvGrpSpPr>
        <p:grpSpPr bwMode="auto">
          <a:xfrm>
            <a:off x="471488" y="4936734"/>
            <a:ext cx="6440487" cy="466725"/>
            <a:chOff x="1065" y="3063"/>
            <a:chExt cx="4057" cy="294"/>
          </a:xfrm>
        </p:grpSpPr>
        <p:sp>
          <p:nvSpPr>
            <p:cNvPr id="18451" name="Rectangle 21"/>
            <p:cNvSpPr>
              <a:spLocks noChangeArrowheads="1"/>
            </p:cNvSpPr>
            <p:nvPr/>
          </p:nvSpPr>
          <p:spPr bwMode="auto">
            <a:xfrm>
              <a:off x="1065" y="3127"/>
              <a:ext cx="79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000">
                  <a:solidFill>
                    <a:srgbClr val="000000"/>
                  </a:solidFill>
                </a:rPr>
                <a:t>Illustration:</a:t>
              </a:r>
              <a:endParaRPr lang="en-US" altLang="en-US" sz="2000"/>
            </a:p>
          </p:txBody>
        </p:sp>
        <p:sp>
          <p:nvSpPr>
            <p:cNvPr id="18452" name="Text Box 22"/>
            <p:cNvSpPr txBox="1">
              <a:spLocks noChangeArrowheads="1"/>
            </p:cNvSpPr>
            <p:nvPr/>
          </p:nvSpPr>
          <p:spPr bwMode="auto">
            <a:xfrm>
              <a:off x="2530" y="3063"/>
              <a:ext cx="576" cy="29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marL="101600"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latin typeface="Times New Roman" pitchFamily="18" charset="0"/>
                </a:rPr>
                <a:t>Rob</a:t>
              </a:r>
              <a:br>
                <a:rPr lang="en-US" altLang="en-US" sz="1800">
                  <a:latin typeface="Times New Roman" pitchFamily="18" charset="0"/>
                </a:rPr>
              </a:br>
              <a:r>
                <a:rPr lang="en-US" altLang="en-US" sz="1800">
                  <a:latin typeface="Times New Roman" pitchFamily="18" charset="0"/>
                </a:rPr>
                <a:t>Roy</a:t>
              </a:r>
              <a:endParaRPr lang="en-GB" altLang="en-US" sz="1800">
                <a:latin typeface="Times New Roman" pitchFamily="18" charset="0"/>
              </a:endParaRPr>
            </a:p>
          </p:txBody>
        </p:sp>
        <p:sp>
          <p:nvSpPr>
            <p:cNvPr id="18453" name="Line 23"/>
            <p:cNvSpPr>
              <a:spLocks noChangeShapeType="1"/>
            </p:cNvSpPr>
            <p:nvPr/>
          </p:nvSpPr>
          <p:spPr bwMode="auto">
            <a:xfrm>
              <a:off x="3038" y="3203"/>
              <a:ext cx="500" cy="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454" name="Text Box 24"/>
            <p:cNvSpPr txBox="1">
              <a:spLocks noChangeArrowheads="1"/>
            </p:cNvSpPr>
            <p:nvPr/>
          </p:nvSpPr>
          <p:spPr bwMode="auto">
            <a:xfrm>
              <a:off x="3538" y="3063"/>
              <a:ext cx="576" cy="29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marL="101600"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ts val="1800"/>
                </a:lnSpc>
                <a:buClrTx/>
                <a:buFontTx/>
                <a:buNone/>
              </a:pPr>
              <a:r>
                <a:rPr lang="en-US" altLang="en-US" sz="1800">
                  <a:latin typeface="Times New Roman" pitchFamily="18" charset="0"/>
                </a:rPr>
                <a:t>War &amp; Peace</a:t>
              </a:r>
              <a:endParaRPr lang="en-GB" altLang="en-US" sz="1800">
                <a:latin typeface="Times New Roman" pitchFamily="18" charset="0"/>
              </a:endParaRPr>
            </a:p>
          </p:txBody>
        </p:sp>
        <p:sp>
          <p:nvSpPr>
            <p:cNvPr id="18455" name="Line 25"/>
            <p:cNvSpPr>
              <a:spLocks noChangeShapeType="1"/>
            </p:cNvSpPr>
            <p:nvPr/>
          </p:nvSpPr>
          <p:spPr bwMode="auto">
            <a:xfrm>
              <a:off x="4059" y="3203"/>
              <a:ext cx="487" cy="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456" name="Text Box 26"/>
            <p:cNvSpPr txBox="1">
              <a:spLocks noChangeArrowheads="1"/>
            </p:cNvSpPr>
            <p:nvPr/>
          </p:nvSpPr>
          <p:spPr bwMode="auto">
            <a:xfrm>
              <a:off x="4546" y="3063"/>
              <a:ext cx="576" cy="29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marL="101600"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ts val="1800"/>
                </a:lnSpc>
                <a:buClrTx/>
                <a:buFontTx/>
                <a:buNone/>
              </a:pPr>
              <a:r>
                <a:rPr lang="en-US" altLang="en-US" sz="1800">
                  <a:latin typeface="Times New Roman" pitchFamily="18" charset="0"/>
                </a:rPr>
                <a:t>Moby Dick</a:t>
              </a:r>
              <a:endParaRPr lang="en-GB" altLang="en-US" sz="1800">
                <a:latin typeface="Times New Roman" pitchFamily="18" charset="0"/>
              </a:endParaRPr>
            </a:p>
          </p:txBody>
        </p:sp>
        <p:sp>
          <p:nvSpPr>
            <p:cNvPr id="18457" name="Line 27"/>
            <p:cNvSpPr>
              <a:spLocks noChangeShapeType="1"/>
            </p:cNvSpPr>
            <p:nvPr/>
          </p:nvSpPr>
          <p:spPr bwMode="auto">
            <a:xfrm>
              <a:off x="5053" y="3207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458" name="Rectangle 28"/>
            <p:cNvSpPr>
              <a:spLocks noChangeArrowheads="1"/>
            </p:cNvSpPr>
            <p:nvPr/>
          </p:nvSpPr>
          <p:spPr bwMode="auto">
            <a:xfrm>
              <a:off x="1906" y="3111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8459" name="Line 29"/>
            <p:cNvSpPr>
              <a:spLocks noChangeShapeType="1"/>
            </p:cNvSpPr>
            <p:nvPr/>
          </p:nvSpPr>
          <p:spPr bwMode="auto">
            <a:xfrm>
              <a:off x="2002" y="3207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4" name="Group 34"/>
          <p:cNvGrpSpPr>
            <a:grpSpLocks/>
          </p:cNvGrpSpPr>
          <p:nvPr/>
        </p:nvGrpSpPr>
        <p:grpSpPr bwMode="auto">
          <a:xfrm>
            <a:off x="471488" y="2665413"/>
            <a:ext cx="7202487" cy="806450"/>
            <a:chOff x="1065" y="1774"/>
            <a:chExt cx="4537" cy="508"/>
          </a:xfrm>
        </p:grpSpPr>
        <p:sp>
          <p:nvSpPr>
            <p:cNvPr id="18439" name="Rectangle 5"/>
            <p:cNvSpPr>
              <a:spLocks noChangeArrowheads="1"/>
            </p:cNvSpPr>
            <p:nvPr/>
          </p:nvSpPr>
          <p:spPr bwMode="auto">
            <a:xfrm>
              <a:off x="1065" y="2103"/>
              <a:ext cx="75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000">
                  <a:solidFill>
                    <a:srgbClr val="000000"/>
                  </a:solidFill>
                </a:rPr>
                <a:t>Invariant:</a:t>
              </a:r>
              <a:endParaRPr lang="en-US" altLang="en-US" sz="2000"/>
            </a:p>
          </p:txBody>
        </p:sp>
        <p:sp>
          <p:nvSpPr>
            <p:cNvPr id="18440" name="Rectangle 6"/>
            <p:cNvSpPr>
              <a:spLocks noChangeArrowheads="1"/>
            </p:cNvSpPr>
            <p:nvPr/>
          </p:nvSpPr>
          <p:spPr bwMode="auto">
            <a:xfrm>
              <a:off x="1906" y="2090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8441" name="Text Box 7"/>
            <p:cNvSpPr txBox="1">
              <a:spLocks noChangeArrowheads="1"/>
            </p:cNvSpPr>
            <p:nvPr/>
          </p:nvSpPr>
          <p:spPr bwMode="auto">
            <a:xfrm>
              <a:off x="2530" y="2090"/>
              <a:ext cx="576" cy="16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buClrTx/>
                <a:buFontTx/>
                <a:buNone/>
              </a:pPr>
              <a:r>
                <a:rPr lang="en-US" altLang="en-US" sz="1600"/>
                <a:t>element</a:t>
              </a:r>
              <a:endParaRPr lang="en-GB" altLang="en-US" sz="1600"/>
            </a:p>
          </p:txBody>
        </p:sp>
        <p:sp>
          <p:nvSpPr>
            <p:cNvPr id="18442" name="Text Box 8"/>
            <p:cNvSpPr txBox="1">
              <a:spLocks noChangeArrowheads="1"/>
            </p:cNvSpPr>
            <p:nvPr/>
          </p:nvSpPr>
          <p:spPr bwMode="auto">
            <a:xfrm>
              <a:off x="4018" y="2090"/>
              <a:ext cx="576" cy="16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buClrTx/>
                <a:buFontTx/>
                <a:buNone/>
              </a:pPr>
              <a:r>
                <a:rPr lang="en-US" altLang="en-US" sz="1600"/>
                <a:t>element</a:t>
              </a:r>
              <a:endParaRPr lang="en-GB" altLang="en-US" sz="1600"/>
            </a:p>
          </p:txBody>
        </p:sp>
        <p:sp>
          <p:nvSpPr>
            <p:cNvPr id="18443" name="Text Box 9"/>
            <p:cNvSpPr txBox="1">
              <a:spLocks noChangeArrowheads="1"/>
            </p:cNvSpPr>
            <p:nvPr/>
          </p:nvSpPr>
          <p:spPr bwMode="auto">
            <a:xfrm>
              <a:off x="5026" y="2090"/>
              <a:ext cx="576" cy="16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buClrTx/>
                <a:buFontTx/>
                <a:buNone/>
              </a:pPr>
              <a:r>
                <a:rPr lang="en-US" altLang="en-US" sz="1600"/>
                <a:t>element</a:t>
              </a:r>
              <a:endParaRPr lang="en-GB" altLang="en-US" sz="1600"/>
            </a:p>
          </p:txBody>
        </p:sp>
        <p:sp>
          <p:nvSpPr>
            <p:cNvPr id="18444" name="Line 10"/>
            <p:cNvSpPr>
              <a:spLocks noChangeShapeType="1"/>
            </p:cNvSpPr>
            <p:nvPr/>
          </p:nvSpPr>
          <p:spPr bwMode="auto">
            <a:xfrm>
              <a:off x="2002" y="2186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445" name="Line 11"/>
            <p:cNvSpPr>
              <a:spLocks noChangeShapeType="1"/>
            </p:cNvSpPr>
            <p:nvPr/>
          </p:nvSpPr>
          <p:spPr bwMode="auto">
            <a:xfrm flipV="1">
              <a:off x="3038" y="2183"/>
              <a:ext cx="38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446" name="Line 12"/>
            <p:cNvSpPr>
              <a:spLocks noChangeShapeType="1"/>
            </p:cNvSpPr>
            <p:nvPr/>
          </p:nvSpPr>
          <p:spPr bwMode="auto">
            <a:xfrm>
              <a:off x="4535" y="2183"/>
              <a:ext cx="491" cy="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447" name="Line 13"/>
            <p:cNvSpPr>
              <a:spLocks noChangeShapeType="1"/>
            </p:cNvSpPr>
            <p:nvPr/>
          </p:nvSpPr>
          <p:spPr bwMode="auto">
            <a:xfrm>
              <a:off x="5533" y="2186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448" name="Line 14"/>
            <p:cNvSpPr>
              <a:spLocks noChangeShapeType="1"/>
            </p:cNvSpPr>
            <p:nvPr/>
          </p:nvSpPr>
          <p:spPr bwMode="auto">
            <a:xfrm>
              <a:off x="3634" y="2183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449" name="Line 15"/>
            <p:cNvSpPr>
              <a:spLocks noChangeShapeType="1"/>
            </p:cNvSpPr>
            <p:nvPr/>
          </p:nvSpPr>
          <p:spPr bwMode="auto">
            <a:xfrm>
              <a:off x="3394" y="2183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450" name="AutoShape 30"/>
            <p:cNvSpPr>
              <a:spLocks/>
            </p:cNvSpPr>
            <p:nvPr/>
          </p:nvSpPr>
          <p:spPr bwMode="auto">
            <a:xfrm>
              <a:off x="3287" y="1774"/>
              <a:ext cx="1226" cy="159"/>
            </a:xfrm>
            <a:prstGeom prst="callout1">
              <a:avLst>
                <a:gd name="adj1" fmla="val 45282"/>
                <a:gd name="adj2" fmla="val -3917"/>
                <a:gd name="adj3" fmla="val 211949"/>
                <a:gd name="adj4" fmla="val -32463"/>
              </a:avLst>
            </a:prstGeom>
            <a:noFill/>
            <a:ln w="9525">
              <a:solidFill>
                <a:schemeClr val="accent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2000" dirty="0">
                  <a:solidFill>
                    <a:schemeClr val="accent1">
                      <a:lumMod val="75000"/>
                    </a:schemeClr>
                  </a:solidFill>
                </a:rPr>
                <a:t>topmost element</a:t>
              </a:r>
              <a:endParaRPr lang="en-GB" altLang="en-US" sz="2000" dirty="0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</a:endParaRPr>
            </a:p>
          </p:txBody>
        </p:sp>
      </p:grp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759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Implementation of stacks using SLLs </a:t>
            </a:r>
            <a:r>
              <a:rPr lang="en-US" altLang="en-US" sz="3200" i="1" dirty="0"/>
              <a:t>(2)</a:t>
            </a:r>
            <a:endParaRPr lang="en-GB" altLang="en-US" sz="3200" i="1" dirty="0"/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4495800"/>
          </a:xfrm>
          <a:noFill/>
        </p:spPr>
        <p:txBody>
          <a:bodyPr/>
          <a:lstStyle/>
          <a:p>
            <a:pPr eaLnBrk="1" hangingPunct="1"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dirty="0">
                <a:cs typeface="Times New Roman" pitchFamily="18" charset="0"/>
              </a:rPr>
              <a:t>Java implementation </a:t>
            </a:r>
            <a:r>
              <a:rPr lang="en-US" altLang="en-US" i="1" dirty="0">
                <a:cs typeface="Times New Roman" pitchFamily="18" charset="0"/>
              </a:rPr>
              <a:t>(continued)</a:t>
            </a:r>
            <a:r>
              <a:rPr lang="en-US" altLang="en-US" dirty="0">
                <a:cs typeface="Times New Roman" pitchFamily="18" charset="0"/>
              </a:rPr>
              <a:t>: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class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LinkedStack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&lt;</a:t>
            </a:r>
            <a:r>
              <a:rPr lang="en-US" altLang="en-US" sz="2000" dirty="0">
                <a:solidFill>
                  <a:srgbClr val="CC0099"/>
                </a:solidFill>
                <a:latin typeface="Courier New" pitchFamily="49" charset="0"/>
                <a:cs typeface="Times New Roman" pitchFamily="18" charset="0"/>
              </a:rPr>
              <a:t>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&gt; 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implements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Stack&lt;</a:t>
            </a:r>
            <a:r>
              <a:rPr lang="en-US" altLang="en-US" sz="2000" dirty="0">
                <a:solidFill>
                  <a:srgbClr val="CC0099"/>
                </a:solidFill>
                <a:latin typeface="Courier New" pitchFamily="49" charset="0"/>
                <a:cs typeface="Times New Roman" pitchFamily="18" charset="0"/>
              </a:rPr>
              <a:t>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&gt; {</a:t>
            </a:r>
            <a:endParaRPr lang="en-US" altLang="en-US" sz="2000" dirty="0">
              <a:cs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private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Node&lt;E&gt; top;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/////////////// </a:t>
            </a:r>
            <a:r>
              <a:rPr lang="en-US" altLang="en-US" sz="2000" dirty="0">
                <a:cs typeface="Times New Roman" pitchFamily="18" charset="0"/>
              </a:rPr>
              <a:t>Inner class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///////////////</a:t>
            </a:r>
            <a:endParaRPr lang="en-US" altLang="en-US" sz="2000" dirty="0">
              <a:cs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private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static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class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Node&lt;E&gt; {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dirty="0">
                <a:solidFill>
                  <a:srgbClr val="CC0099"/>
                </a:solidFill>
                <a:latin typeface="Courier New" pitchFamily="49" charset="0"/>
                <a:cs typeface="Times New Roman" pitchFamily="18" charset="0"/>
              </a:rPr>
              <a:t>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element;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Node&lt;E&gt; next;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endParaRPr lang="en-US" altLang="en-US" sz="2000" dirty="0">
              <a:latin typeface="Courier New" pitchFamily="49" charset="0"/>
              <a:cs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Node (</a:t>
            </a:r>
            <a:r>
              <a:rPr lang="en-US" altLang="en-US" sz="2000" dirty="0">
                <a:solidFill>
                  <a:srgbClr val="CC0099"/>
                </a:solidFill>
                <a:latin typeface="Courier New" pitchFamily="49" charset="0"/>
                <a:cs typeface="Times New Roman" pitchFamily="18" charset="0"/>
              </a:rPr>
              <a:t>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x, Node&lt;E&gt; n) {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	element = x;  next = n;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}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}</a:t>
            </a:r>
            <a:endParaRPr lang="en-US" altLang="en-US" sz="2000" dirty="0">
              <a:latin typeface="Times New Roman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0841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Implementation of stacks using SLLs </a:t>
            </a:r>
            <a:r>
              <a:rPr lang="en-US" altLang="en-US" sz="3200" i="1" dirty="0"/>
              <a:t>(3)</a:t>
            </a:r>
            <a:endParaRPr lang="en-GB" altLang="en-US" sz="3200" i="1" dirty="0"/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>
              <a:lnSpc>
                <a:spcPct val="90000"/>
              </a:lnSpc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dirty="0">
                <a:cs typeface="Times New Roman" pitchFamily="18" charset="0"/>
              </a:rPr>
              <a:t>Java implementation </a:t>
            </a:r>
            <a:r>
              <a:rPr lang="en-US" altLang="en-US" i="1" dirty="0">
                <a:cs typeface="Times New Roman" pitchFamily="18" charset="0"/>
              </a:rPr>
              <a:t>(continued)</a:t>
            </a:r>
            <a:r>
              <a:rPr lang="en-US" altLang="en-US" dirty="0">
                <a:cs typeface="Times New Roman" pitchFamily="18" charset="0"/>
              </a:rPr>
              <a:t>: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/////////////// </a:t>
            </a:r>
            <a:r>
              <a:rPr lang="en-US" altLang="en-US" sz="2000" dirty="0">
                <a:cs typeface="Times New Roman" pitchFamily="18" charset="0"/>
              </a:rPr>
              <a:t>Constructor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///////////////</a:t>
            </a:r>
            <a:endParaRPr lang="en-US" altLang="en-US" sz="2000" dirty="0"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LinkedStack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() {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top = 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null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}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/////////////// </a:t>
            </a:r>
            <a:r>
              <a:rPr lang="en-US" altLang="en-US" sz="2000" dirty="0">
                <a:cs typeface="Times New Roman" pitchFamily="18" charset="0"/>
              </a:rPr>
              <a:t>Accessors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///////////////</a:t>
            </a:r>
            <a:endParaRPr lang="en-US" altLang="en-US" sz="2000" dirty="0"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b="1" err="1">
                <a:latin typeface="Courier New" pitchFamily="49" charset="0"/>
                <a:cs typeface="Times New Roman" pitchFamily="18" charset="0"/>
              </a:rPr>
              <a:t>boolean</a:t>
            </a: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 isEmpty 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() {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return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(top == 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null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);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}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dirty="0">
                <a:solidFill>
                  <a:srgbClr val="CC0099"/>
                </a:solidFill>
                <a:latin typeface="Courier New" pitchFamily="49" charset="0"/>
                <a:cs typeface="Times New Roman" pitchFamily="18" charset="0"/>
              </a:rPr>
              <a:t>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peek () {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if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(top == 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null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)  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throw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…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return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top.element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}</a:t>
            </a:r>
            <a:endParaRPr lang="en-US" altLang="en-US" sz="2000" dirty="0">
              <a:latin typeface="Times New Roman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1027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Implementation of stacks using SLLs </a:t>
            </a:r>
            <a:r>
              <a:rPr lang="en-US" altLang="en-US" sz="3200" i="1" dirty="0"/>
              <a:t>(4)</a:t>
            </a:r>
            <a:endParaRPr lang="en-GB" altLang="en-US" sz="3200" i="1" dirty="0"/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dirty="0">
                <a:cs typeface="Times New Roman" pitchFamily="18" charset="0"/>
              </a:rPr>
              <a:t>Java implementation </a:t>
            </a:r>
            <a:r>
              <a:rPr lang="en-US" altLang="en-US" i="1" dirty="0">
                <a:cs typeface="Times New Roman" pitchFamily="18" charset="0"/>
              </a:rPr>
              <a:t>(continued)</a:t>
            </a:r>
            <a:r>
              <a:rPr lang="en-US" altLang="en-US" dirty="0">
                <a:cs typeface="Times New Roman" pitchFamily="18" charset="0"/>
              </a:rPr>
              <a:t>: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////////////// </a:t>
            </a:r>
            <a:r>
              <a:rPr lang="en-US" altLang="en-US" sz="2000" dirty="0">
                <a:cs typeface="Times New Roman" pitchFamily="18" charset="0"/>
              </a:rPr>
              <a:t>Transformers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///////////////</a:t>
            </a:r>
            <a:endParaRPr lang="en-US" altLang="en-US" sz="2000" dirty="0">
              <a:cs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void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clear () {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top = 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null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}</a:t>
            </a:r>
            <a:endParaRPr lang="en-US" altLang="en-US" sz="2000" dirty="0">
              <a:cs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void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push (</a:t>
            </a:r>
            <a:r>
              <a:rPr lang="en-US" altLang="en-US" sz="2000" dirty="0">
                <a:solidFill>
                  <a:srgbClr val="CC0099"/>
                </a:solidFill>
                <a:latin typeface="Courier New" pitchFamily="49" charset="0"/>
                <a:cs typeface="Times New Roman" pitchFamily="18" charset="0"/>
              </a:rPr>
              <a:t>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it) {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top = 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new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Node&lt;E&gt;(it, top);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}</a:t>
            </a:r>
            <a:endParaRPr lang="en-US" altLang="en-US" sz="2000" dirty="0">
              <a:latin typeface="Times New Roman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3189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Implementation of stacks using SLLs </a:t>
            </a:r>
            <a:r>
              <a:rPr lang="en-US" altLang="en-US" sz="3200" i="1" dirty="0"/>
              <a:t>(5)</a:t>
            </a:r>
            <a:endParaRPr lang="en-GB" altLang="en-US" sz="3200" i="1" dirty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dirty="0">
                <a:cs typeface="Times New Roman" pitchFamily="18" charset="0"/>
              </a:rPr>
              <a:t>Java implementation </a:t>
            </a:r>
            <a:r>
              <a:rPr lang="en-US" altLang="en-US" i="1" dirty="0">
                <a:cs typeface="Times New Roman" pitchFamily="18" charset="0"/>
              </a:rPr>
              <a:t>(continued)</a:t>
            </a:r>
            <a:r>
              <a:rPr lang="en-US" altLang="en-US" dirty="0">
                <a:cs typeface="Times New Roman" pitchFamily="18" charset="0"/>
              </a:rPr>
              <a:t>: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dirty="0">
                <a:solidFill>
                  <a:srgbClr val="CC0099"/>
                </a:solidFill>
                <a:latin typeface="Courier New" pitchFamily="49" charset="0"/>
                <a:cs typeface="Times New Roman" pitchFamily="18" charset="0"/>
              </a:rPr>
              <a:t>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pop () {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if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(top == 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null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)  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throw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…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dirty="0">
                <a:solidFill>
                  <a:srgbClr val="CC0099"/>
                </a:solidFill>
                <a:latin typeface="Courier New" pitchFamily="49" charset="0"/>
                <a:cs typeface="Times New Roman" pitchFamily="18" charset="0"/>
              </a:rPr>
              <a:t>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topElem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= 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top.element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top = 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top.next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return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topElem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}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}</a:t>
            </a:r>
          </a:p>
          <a:p>
            <a:pPr eaLnBrk="1" hangingPunct="1"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dirty="0">
                <a:cs typeface="Times New Roman" pitchFamily="18" charset="0"/>
              </a:rPr>
              <a:t>Analysis:</a:t>
            </a:r>
          </a:p>
          <a:p>
            <a:pPr lvl="1" eaLnBrk="1" hangingPunct="1"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dirty="0">
                <a:cs typeface="Times New Roman" pitchFamily="18" charset="0"/>
              </a:rPr>
              <a:t>All operations have time complexity </a:t>
            </a:r>
            <a:r>
              <a:rPr lang="en-US" altLang="en-US" i="1" dirty="0">
                <a:cs typeface="Times New Roman" pitchFamily="18" charset="0"/>
              </a:rPr>
              <a:t>O</a:t>
            </a:r>
            <a:r>
              <a:rPr lang="en-US" altLang="en-US" dirty="0">
                <a:cs typeface="Times New Roman" pitchFamily="18" charset="0"/>
              </a:rPr>
              <a:t>(1).</a:t>
            </a:r>
            <a:endParaRPr lang="en-US" altLang="en-US" sz="1800" dirty="0">
              <a:latin typeface="Times New Roman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2955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Stacks in the Java class library</a:t>
            </a:r>
            <a:endParaRPr lang="en-GB" altLang="en-US" sz="3200" dirty="0"/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>
                <a:cs typeface="Times New Roman" pitchFamily="18" charset="0"/>
              </a:rPr>
              <a:t>The library class </a:t>
            </a:r>
            <a:r>
              <a:rPr lang="en-US" altLang="en-US">
                <a:latin typeface="Courier New" pitchFamily="49" charset="0"/>
                <a:cs typeface="Times New Roman" pitchFamily="18" charset="0"/>
              </a:rPr>
              <a:t>java.util.Stack&lt;E&gt;</a:t>
            </a:r>
            <a:r>
              <a:rPr lang="en-US" altLang="en-US">
                <a:cs typeface="Times New Roman" pitchFamily="18" charset="0"/>
              </a:rPr>
              <a:t> is similar to the above class </a:t>
            </a:r>
            <a:r>
              <a:rPr lang="en-US" altLang="en-US">
                <a:latin typeface="Courier New" pitchFamily="49" charset="0"/>
                <a:cs typeface="Times New Roman" pitchFamily="18" charset="0"/>
              </a:rPr>
              <a:t>ArrayStack&lt;E&gt;</a:t>
            </a:r>
            <a:r>
              <a:rPr lang="en-US" altLang="en-US">
                <a:cs typeface="Times New Roman" pitchFamily="18" charset="0"/>
              </a:rPr>
              <a:t>.</a:t>
            </a:r>
          </a:p>
          <a:p>
            <a:pPr eaLnBrk="1" hangingPunct="1"/>
            <a:r>
              <a:rPr lang="en-US" altLang="en-US">
                <a:cs typeface="Times New Roman" pitchFamily="18" charset="0"/>
              </a:rPr>
              <a:t>Illustration: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	</a:t>
            </a:r>
            <a:r>
              <a:rPr lang="en-US" altLang="en-US" sz="2000" b="1">
                <a:latin typeface="Courier New" pitchFamily="49" charset="0"/>
                <a:cs typeface="Times New Roman" pitchFamily="18" charset="0"/>
              </a:rPr>
              <a:t>import</a:t>
            </a: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 java.util.*;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	Stack&lt;Book&gt; books = </a:t>
            </a:r>
            <a:r>
              <a:rPr lang="en-US" altLang="en-US" sz="2000" b="1">
                <a:solidFill>
                  <a:srgbClr val="3333CC"/>
                </a:solidFill>
                <a:latin typeface="Courier New" pitchFamily="49" charset="0"/>
                <a:cs typeface="Times New Roman" pitchFamily="18" charset="0"/>
              </a:rPr>
              <a:t>new</a:t>
            </a:r>
            <a:r>
              <a:rPr lang="en-US" altLang="en-US" sz="2000">
                <a:solidFill>
                  <a:srgbClr val="3333CC"/>
                </a:solidFill>
                <a:latin typeface="Courier New" pitchFamily="49" charset="0"/>
                <a:cs typeface="Times New Roman" pitchFamily="18" charset="0"/>
              </a:rPr>
              <a:t> Stack&lt;Book&gt;()</a:t>
            </a: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;</a:t>
            </a:r>
            <a:br>
              <a:rPr lang="en-US" altLang="en-US" sz="200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>
                <a:solidFill>
                  <a:srgbClr val="3333CC"/>
                </a:solidFill>
                <a:latin typeface="Courier New" pitchFamily="49" charset="0"/>
                <a:cs typeface="Times New Roman" pitchFamily="18" charset="0"/>
              </a:rPr>
              <a:t>books.push(moby_dick)</a:t>
            </a: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;</a:t>
            </a:r>
            <a:br>
              <a:rPr lang="en-US" altLang="en-US" sz="200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>
                <a:solidFill>
                  <a:srgbClr val="3333CC"/>
                </a:solidFill>
                <a:latin typeface="Courier New" pitchFamily="49" charset="0"/>
                <a:cs typeface="Times New Roman" pitchFamily="18" charset="0"/>
              </a:rPr>
              <a:t>books.push(war_and_peace)</a:t>
            </a: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;</a:t>
            </a:r>
            <a:br>
              <a:rPr lang="en-US" altLang="en-US" sz="200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>
                <a:solidFill>
                  <a:srgbClr val="3333CC"/>
                </a:solidFill>
                <a:latin typeface="Courier New" pitchFamily="49" charset="0"/>
                <a:cs typeface="Times New Roman" pitchFamily="18" charset="0"/>
              </a:rPr>
              <a:t>books.push(rob_roy)</a:t>
            </a: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;</a:t>
            </a:r>
            <a:br>
              <a:rPr lang="en-US" altLang="en-US" sz="200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Book b = </a:t>
            </a:r>
            <a:r>
              <a:rPr lang="en-US" altLang="en-US" sz="2000">
                <a:solidFill>
                  <a:srgbClr val="3333CC"/>
                </a:solidFill>
                <a:latin typeface="Courier New" pitchFamily="49" charset="0"/>
                <a:cs typeface="Times New Roman" pitchFamily="18" charset="0"/>
              </a:rPr>
              <a:t>books.pop()</a:t>
            </a: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;</a:t>
            </a:r>
            <a:endParaRPr lang="en-US" altLang="en-US" sz="2000">
              <a:latin typeface="Times New Roman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5376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Example: text-file reversal again </a:t>
            </a:r>
            <a:r>
              <a:rPr lang="en-US" altLang="en-US" sz="3200" i="1" dirty="0"/>
              <a:t>(1)</a:t>
            </a:r>
            <a:endParaRPr lang="en-GB" altLang="en-US" sz="3200" i="1" dirty="0"/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>
              <a:lnSpc>
                <a:spcPct val="90000"/>
              </a:lnSpc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dirty="0">
                <a:cs typeface="Times New Roman" pitchFamily="18" charset="0"/>
              </a:rPr>
              <a:t>Implementation of the text-file reversal algorithm: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static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void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reverse (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				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BufferedReader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input,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				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BufferedWriter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output)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	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throws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IOException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{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// </a:t>
            </a:r>
            <a:r>
              <a:rPr lang="en-US" altLang="en-US" sz="2000" dirty="0">
                <a:cs typeface="Times New Roman" pitchFamily="18" charset="0"/>
              </a:rPr>
              <a:t>Make 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output</a:t>
            </a:r>
            <a:r>
              <a:rPr lang="en-US" altLang="en-US" sz="2000" dirty="0">
                <a:cs typeface="Times New Roman" pitchFamily="18" charset="0"/>
              </a:rPr>
              <a:t> contain the lines of 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input</a:t>
            </a:r>
            <a:r>
              <a:rPr lang="en-US" altLang="en-US" sz="2000" dirty="0">
                <a:cs typeface="Times New Roman" pitchFamily="18" charset="0"/>
              </a:rPr>
              <a:t> in reverse 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// </a:t>
            </a:r>
            <a:r>
              <a:rPr lang="en-US" altLang="en-US" sz="2000" dirty="0">
                <a:cs typeface="Times New Roman" pitchFamily="18" charset="0"/>
              </a:rPr>
              <a:t>order.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Stack&lt;String&gt; 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lineStack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= 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	</a:t>
            </a:r>
            <a:r>
              <a:rPr lang="en-US" altLang="en-US" sz="2000" b="1" dirty="0">
                <a:solidFill>
                  <a:srgbClr val="3333CC"/>
                </a:solidFill>
                <a:latin typeface="Courier New" pitchFamily="49" charset="0"/>
                <a:cs typeface="Times New Roman" pitchFamily="18" charset="0"/>
              </a:rPr>
              <a:t>new</a:t>
            </a:r>
            <a:r>
              <a:rPr lang="en-US" altLang="en-US" sz="2000" dirty="0">
                <a:solidFill>
                  <a:srgbClr val="3333CC"/>
                </a:solidFill>
                <a:latin typeface="Courier New" pitchFamily="49" charset="0"/>
                <a:cs typeface="Times New Roman" pitchFamily="18" charset="0"/>
              </a:rPr>
              <a:t> Stack&lt;String&gt;()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for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(;;) {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String line = 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input.readLine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();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if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(line == 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null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)  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break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;  // </a:t>
            </a:r>
            <a:r>
              <a:rPr lang="en-US" altLang="en-US" sz="2000" dirty="0">
                <a:cs typeface="Times New Roman" pitchFamily="18" charset="0"/>
              </a:rPr>
              <a:t>end of input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dirty="0" err="1">
                <a:solidFill>
                  <a:srgbClr val="3333CC"/>
                </a:solidFill>
                <a:latin typeface="Courier New" pitchFamily="49" charset="0"/>
                <a:cs typeface="Times New Roman" pitchFamily="18" charset="0"/>
              </a:rPr>
              <a:t>lineStack.push</a:t>
            </a:r>
            <a:r>
              <a:rPr lang="en-US" altLang="en-US" sz="2000" dirty="0">
                <a:solidFill>
                  <a:srgbClr val="3333CC"/>
                </a:solidFill>
                <a:latin typeface="Courier New" pitchFamily="49" charset="0"/>
                <a:cs typeface="Times New Roman" pitchFamily="18" charset="0"/>
              </a:rPr>
              <a:t>(line)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}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input.close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();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3178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Example: text-file reversal again </a:t>
            </a:r>
            <a:r>
              <a:rPr lang="en-US" altLang="en-US" sz="3200" i="1" dirty="0"/>
              <a:t>(2)</a:t>
            </a:r>
            <a:endParaRPr lang="en-GB" altLang="en-US" sz="3200" i="1" dirty="0"/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2514600"/>
          </a:xfrm>
          <a:noFill/>
        </p:spPr>
        <p:txBody>
          <a:bodyPr>
            <a:normAutofit/>
          </a:bodyPr>
          <a:lstStyle/>
          <a:p>
            <a:pPr eaLnBrk="1" hangingPunct="1"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dirty="0">
                <a:cs typeface="Times New Roman" pitchFamily="18" charset="0"/>
              </a:rPr>
              <a:t>Implementation </a:t>
            </a:r>
            <a:r>
              <a:rPr lang="en-US" altLang="en-US" i="1" dirty="0">
                <a:cs typeface="Times New Roman" pitchFamily="18" charset="0"/>
              </a:rPr>
              <a:t>(continued)</a:t>
            </a:r>
            <a:r>
              <a:rPr lang="en-US" altLang="en-US" dirty="0">
                <a:cs typeface="Times New Roman" pitchFamily="18" charset="0"/>
              </a:rPr>
              <a:t>: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while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(! </a:t>
            </a:r>
            <a:r>
              <a:rPr lang="en-US" altLang="en-US" sz="2000" dirty="0" err="1">
                <a:solidFill>
                  <a:srgbClr val="3333CC"/>
                </a:solidFill>
                <a:latin typeface="Courier New" pitchFamily="49" charset="0"/>
                <a:cs typeface="Times New Roman" pitchFamily="18" charset="0"/>
              </a:rPr>
              <a:t>lineStack.empty</a:t>
            </a:r>
            <a:r>
              <a:rPr lang="en-US" altLang="en-US" sz="2000" dirty="0">
                <a:solidFill>
                  <a:srgbClr val="3333CC"/>
                </a:solidFill>
                <a:latin typeface="Courier New" pitchFamily="49" charset="0"/>
                <a:cs typeface="Times New Roman" pitchFamily="18" charset="0"/>
              </a:rPr>
              <a:t>()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) {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String line = </a:t>
            </a:r>
            <a:r>
              <a:rPr lang="en-US" altLang="en-US" sz="2000" dirty="0" err="1">
                <a:solidFill>
                  <a:srgbClr val="3333CC"/>
                </a:solidFill>
                <a:latin typeface="Courier New" pitchFamily="49" charset="0"/>
                <a:cs typeface="Times New Roman" pitchFamily="18" charset="0"/>
              </a:rPr>
              <a:t>lineStack.pop</a:t>
            </a:r>
            <a:r>
              <a:rPr lang="en-US" altLang="en-US" sz="2000" dirty="0">
                <a:solidFill>
                  <a:srgbClr val="3333CC"/>
                </a:solidFill>
                <a:latin typeface="Courier New" pitchFamily="49" charset="0"/>
                <a:cs typeface="Times New Roman" pitchFamily="18" charset="0"/>
              </a:rPr>
              <a:t>()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output.write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(line + "\n");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}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output.close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();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}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endParaRPr lang="en-US" altLang="en-US" sz="2000" dirty="0">
              <a:latin typeface="Courier New" pitchFamily="49" charset="0"/>
              <a:cs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endParaRPr lang="en-US" altLang="en-US" sz="2000" dirty="0">
              <a:latin typeface="Times New Roman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8229600" cy="646331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See </a:t>
            </a:r>
            <a:r>
              <a:rPr lang="en-GB"/>
              <a:t>code on Moodle. </a:t>
            </a:r>
            <a:r>
              <a:rPr lang="en-GB" dirty="0"/>
              <a:t>Shows how to do this using our own implementation of Stack, rather than Java’s</a:t>
            </a:r>
          </a:p>
        </p:txBody>
      </p:sp>
    </p:spTree>
    <p:extLst>
      <p:ext uri="{BB962C8B-B14F-4D97-AF65-F5344CB8AC3E}">
        <p14:creationId xmlns:p14="http://schemas.microsoft.com/office/powerpoint/2010/main" val="209839727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345</TotalTime>
  <Words>2052</Words>
  <Application>Microsoft Macintosh PowerPoint</Application>
  <PresentationFormat>On-screen Show (4:3)</PresentationFormat>
  <Paragraphs>211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Arial</vt:lpstr>
      <vt:lpstr>Calibri</vt:lpstr>
      <vt:lpstr>Courier New</vt:lpstr>
      <vt:lpstr>Symbol</vt:lpstr>
      <vt:lpstr>Times New Roman</vt:lpstr>
      <vt:lpstr>Wingdings</vt:lpstr>
      <vt:lpstr>Clarity</vt:lpstr>
      <vt:lpstr> 6. Stack ADTs</vt:lpstr>
      <vt:lpstr>Stack concepts</vt:lpstr>
      <vt:lpstr>Example: stack of books</vt:lpstr>
      <vt:lpstr>Stack applications</vt:lpstr>
      <vt:lpstr>Example: text-file reversal</vt:lpstr>
      <vt:lpstr>Example: bracketing (1)</vt:lpstr>
      <vt:lpstr>Example: bracketing (2)</vt:lpstr>
      <vt:lpstr>Stack ADT: requirements</vt:lpstr>
      <vt:lpstr>Stack ADT: contract (1)</vt:lpstr>
      <vt:lpstr>Stack ADT: contract (2)</vt:lpstr>
      <vt:lpstr>Implementation of stacks using arrays  (1)</vt:lpstr>
      <vt:lpstr>Implementation of stacks using arrays (2)</vt:lpstr>
      <vt:lpstr>Implementation of stacks using arrays  (3)</vt:lpstr>
      <vt:lpstr>Implementation of stacks using arrays (4)</vt:lpstr>
      <vt:lpstr>Implementation of stacks using arrays (5)</vt:lpstr>
      <vt:lpstr>Implementation of stacks using SLLs (1)</vt:lpstr>
      <vt:lpstr>Implementation of stacks using SLLs (2)</vt:lpstr>
      <vt:lpstr>Implementation of stacks using SLLs (3)</vt:lpstr>
      <vt:lpstr>Implementation of stacks using SLLs (4)</vt:lpstr>
      <vt:lpstr>Implementation of stacks using SLLs (5)</vt:lpstr>
      <vt:lpstr>Stacks in the Java class library</vt:lpstr>
      <vt:lpstr>Example: text-file reversal again (1)</vt:lpstr>
      <vt:lpstr>Example: text-file reversal again (2)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6. Stack ADTs</dc:title>
  <dc:creator>Alice</dc:creator>
  <cp:lastModifiedBy>Alice Miller</cp:lastModifiedBy>
  <cp:revision>19</cp:revision>
  <dcterms:created xsi:type="dcterms:W3CDTF">2006-08-16T00:00:00Z</dcterms:created>
  <dcterms:modified xsi:type="dcterms:W3CDTF">2021-04-06T15:03:58Z</dcterms:modified>
</cp:coreProperties>
</file>